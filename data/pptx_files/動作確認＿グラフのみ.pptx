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1" r:id="rId4"/>
    <p:sldMasterId id="2147483930" r:id="rId5"/>
  </p:sldMasterIdLst>
  <p:notesMasterIdLst>
    <p:notesMasterId r:id="rId13"/>
  </p:notesMasterIdLst>
  <p:handoutMasterIdLst>
    <p:handoutMasterId r:id="rId14"/>
  </p:handoutMasterIdLst>
  <p:sldIdLst>
    <p:sldId id="2147472341" r:id="rId6"/>
    <p:sldId id="2147474499" r:id="rId7"/>
    <p:sldId id="2147474525" r:id="rId8"/>
    <p:sldId id="2147474526" r:id="rId9"/>
    <p:sldId id="2147474455" r:id="rId10"/>
    <p:sldId id="2147474456" r:id="rId11"/>
    <p:sldId id="2147474459" r:id="rId12"/>
  </p:sldIdLst>
  <p:sldSz cx="9144000" cy="6858000" type="screen4x3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ドラフト" id="{3277C813-6659-4435-8437-D385372AFE3E}">
          <p14:sldIdLst>
            <p14:sldId id="2147472341"/>
            <p14:sldId id="2147474499"/>
            <p14:sldId id="2147474525"/>
            <p14:sldId id="2147474526"/>
            <p14:sldId id="2147474455"/>
            <p14:sldId id="2147474456"/>
            <p14:sldId id="2147474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1CE"/>
    <a:srgbClr val="FFE699"/>
    <a:srgbClr val="CDD9DD"/>
    <a:srgbClr val="FFFFFF"/>
    <a:srgbClr val="7F7F7F"/>
    <a:srgbClr val="F1A46B"/>
    <a:srgbClr val="B4ECFF"/>
    <a:srgbClr val="567783"/>
    <a:srgbClr val="E6ECE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761" autoAdjust="0"/>
  </p:normalViewPr>
  <p:slideViewPr>
    <p:cSldViewPr showGuides="1">
      <p:cViewPr varScale="1">
        <p:scale>
          <a:sx n="112" d="100"/>
          <a:sy n="112" d="100"/>
        </p:scale>
        <p:origin x="1568" y="192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090"/>
    </p:cViewPr>
  </p:sorterViewPr>
  <p:notesViewPr>
    <p:cSldViewPr>
      <p:cViewPr varScale="1">
        <p:scale>
          <a:sx n="65" d="100"/>
          <a:sy n="65" d="100"/>
        </p:scale>
        <p:origin x="1392" y="66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BD337-12C5-45AC-92D7-BF79CCFC277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6BC0A49E-C5C5-43C7-96AE-7967885D97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E392D-78FB-4EBA-9BEE-964E5CD0905C}" type="datetimeFigureOut">
              <a:rPr kumimoji="1" lang="ja-JP" altLang="en-US" smtClean="0"/>
              <a:t>2025/7/30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10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A264C-6953-4F22-AEE6-38CCC8CB2F77}" type="datetimeFigureOut">
              <a:rPr kumimoji="1" lang="ja-JP" altLang="en-US" smtClean="0"/>
              <a:t>2025/7/30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80C04-D137-4757-B814-7DAA94ED84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56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780C04-D137-4757-B814-7DAA94ED848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244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08725" y="5566335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5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00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303300" y="5920205"/>
            <a:ext cx="4318925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1" lang="ja-JP" altLang="en-US" sz="1300" b="1" dirty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A1B3CB4D-6995-4FBD-99A9-97EF836307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725" y="3361113"/>
            <a:ext cx="8531974" cy="16764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　　　　　　　　　　　　　　　　　　　　　　　　　　　　　　　　●複数の会社名やロゴを記載するレイアウトはスライドマスターにあり                          ●写真付きの表紙レイアウト（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種）はスライドマスターにあり                                   </a:t>
            </a:r>
            <a:r>
              <a:rPr kumimoji="1" lang="en-US" altLang="ja-JP" dirty="0"/>
              <a:t>※</a:t>
            </a:r>
            <a:r>
              <a:rPr kumimoji="1" lang="ja-JP" altLang="en-US" dirty="0"/>
              <a:t>スライドマスターの変更は別紙「スライドマスター操作ガイド」をご参照ください</a:t>
            </a:r>
          </a:p>
        </p:txBody>
      </p:sp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CA45DE1-C1B1-4C0E-B123-54EBEE525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3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308725" y="1887960"/>
            <a:ext cx="4312737" cy="113948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28" name="テキスト プレースホルダー 21"/>
          <p:cNvSpPr>
            <a:spLocks noGrp="1"/>
          </p:cNvSpPr>
          <p:nvPr>
            <p:ph type="body" sz="quarter" idx="12" hasCustomPrompt="1"/>
          </p:nvPr>
        </p:nvSpPr>
        <p:spPr>
          <a:xfrm>
            <a:off x="308724" y="3099948"/>
            <a:ext cx="4312737" cy="159067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21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308725" y="5394339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303298" y="5748208"/>
            <a:ext cx="4318164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300" b="1" dirty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sp>
        <p:nvSpPr>
          <p:cNvPr id="31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70D38E8-0DE6-47EE-B224-018031CE46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3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957110"/>
            <a:ext cx="3651504" cy="5187696"/>
          </a:xfrm>
          <a:prstGeom prst="rect">
            <a:avLst/>
          </a:prstGeom>
        </p:spPr>
      </p:pic>
      <p:pic>
        <p:nvPicPr>
          <p:cNvPr id="1029" name="Picture 5" descr="C:\Users\S04\Desktop\名称未設定-2-01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14" y="216547"/>
            <a:ext cx="2964260" cy="51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308725" y="5394339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 userDrawn="1"/>
        </p:nvSpPr>
        <p:spPr>
          <a:xfrm>
            <a:off x="303298" y="5748208"/>
            <a:ext cx="3544643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300" b="1" dirty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308725" y="1887960"/>
            <a:ext cx="3536653" cy="113948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プレースホルダー 21"/>
          <p:cNvSpPr>
            <a:spLocks noGrp="1"/>
          </p:cNvSpPr>
          <p:nvPr>
            <p:ph type="body" sz="quarter" idx="12" hasCustomPrompt="1"/>
          </p:nvPr>
        </p:nvSpPr>
        <p:spPr>
          <a:xfrm>
            <a:off x="308724" y="3099948"/>
            <a:ext cx="3539217" cy="159067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</a:p>
        </p:txBody>
      </p:sp>
      <p:sp>
        <p:nvSpPr>
          <p:cNvPr id="11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A98FA36-DDD8-450D-B9A0-375914A3D8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8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5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9" y="201827"/>
            <a:ext cx="8744712" cy="944860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313840" y="2601912"/>
            <a:ext cx="8632424" cy="577409"/>
          </a:xfrm>
          <a:prstGeom prst="rect">
            <a:avLst/>
          </a:prstGeom>
        </p:spPr>
        <p:txBody>
          <a:bodyPr lIns="95730" tIns="47866" rIns="95730" bIns="47866"/>
          <a:lstStyle>
            <a:lvl1pPr>
              <a:defRPr sz="3139" b="1" baseline="0"/>
            </a:lvl1pPr>
          </a:lstStyle>
          <a:p>
            <a:r>
              <a:rPr kumimoji="1" lang="ja-JP" altLang="en-US" dirty="0"/>
              <a:t>章タイトルテキスト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308736" y="3248720"/>
            <a:ext cx="8632825" cy="1362748"/>
          </a:xfrm>
          <a:prstGeom prst="rect">
            <a:avLst/>
          </a:prstGeom>
        </p:spPr>
        <p:txBody>
          <a:bodyPr lIns="95730" tIns="47866" rIns="95730" bIns="47866"/>
          <a:lstStyle>
            <a:lvl1pPr marL="0" marR="0" indent="0" algn="l" defTabSz="662761" rtl="0" eaLnBrk="1" fontAlgn="auto" latinLnBrk="0" hangingPunct="1">
              <a:lnSpc>
                <a:spcPct val="12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77">
                <a:solidFill>
                  <a:schemeClr val="tx1"/>
                </a:solidFill>
              </a:defRPr>
            </a:lvl1pPr>
          </a:lstStyle>
          <a:p>
            <a:pPr marL="0" marR="0" lvl="0" indent="0" algn="l" defTabSz="662761" rtl="0" eaLnBrk="1" fontAlgn="auto" latinLnBrk="0" hangingPunct="1">
              <a:lnSpc>
                <a:spcPct val="12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</a:t>
            </a:r>
            <a:r>
              <a:rPr kumimoji="1" lang="en-US" altLang="ja-JP" dirty="0"/>
              <a:t>16pt</a:t>
            </a:r>
          </a:p>
        </p:txBody>
      </p:sp>
    </p:spTree>
    <p:extLst>
      <p:ext uri="{BB962C8B-B14F-4D97-AF65-F5344CB8AC3E}">
        <p14:creationId xmlns:p14="http://schemas.microsoft.com/office/powerpoint/2010/main" val="306707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read/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7" y="6408946"/>
            <a:ext cx="8750749" cy="260363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3" y="6348011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4184" rIns="88366" bIns="44184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prstClr val="white"/>
                </a:solidFill>
              </a:rPr>
              <a:t>© 2021 MITSUBISHI HEAVY INDUSTRIES, LTD.  All Rights Reserved.</a:t>
            </a:r>
            <a:endParaRPr lang="ja-JP" altLang="en-US" sz="646" dirty="0">
              <a:solidFill>
                <a:prstClr val="white"/>
              </a:solidFill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4" y="6347104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88366" tIns="44184" rIns="88366" bIns="44184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z="923" smtClean="0"/>
              <a:pPr>
                <a:defRPr/>
              </a:pPr>
              <a:t>‹#›</a:t>
            </a:fld>
            <a:endParaRPr lang="en-US" altLang="ja-JP" sz="923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225317" y="564204"/>
            <a:ext cx="8748517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469" y="136960"/>
            <a:ext cx="1286367" cy="274344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36978"/>
            <a:ext cx="6390090" cy="349961"/>
          </a:xfrm>
          <a:prstGeom prst="rect">
            <a:avLst/>
          </a:prstGeom>
        </p:spPr>
        <p:txBody>
          <a:bodyPr lIns="95730" tIns="47866" rIns="95730" bIns="47866"/>
          <a:lstStyle>
            <a:lvl1pPr>
              <a:defRPr sz="2123" b="1"/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42"/>
            <a:ext cx="6389688" cy="65246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lnSpc>
                <a:spcPct val="120000"/>
              </a:lnSpc>
              <a:buNone/>
              <a:defRPr sz="1477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8588" y="1525209"/>
            <a:ext cx="8081963" cy="838164"/>
          </a:xfrm>
          <a:prstGeom prst="rect">
            <a:avLst/>
          </a:prstGeom>
        </p:spPr>
        <p:txBody>
          <a:bodyPr lIns="95730" tIns="47866" rIns="95730" bIns="47866" numCol="2" spcCol="565333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558588" y="5434206"/>
            <a:ext cx="8081963" cy="838164"/>
          </a:xfrm>
          <a:prstGeom prst="rect">
            <a:avLst/>
          </a:prstGeom>
        </p:spPr>
        <p:txBody>
          <a:bodyPr lIns="95730" tIns="47866" rIns="95730" bIns="47866" numCol="2" spcCol="565333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3" name="コンテンツ プレースホルダー 8"/>
          <p:cNvSpPr>
            <a:spLocks noGrp="1"/>
          </p:cNvSpPr>
          <p:nvPr>
            <p:ph sz="quarter" idx="15" hasCustomPrompt="1"/>
          </p:nvPr>
        </p:nvSpPr>
        <p:spPr>
          <a:xfrm>
            <a:off x="555638" y="2517789"/>
            <a:ext cx="4016375" cy="272891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buNone/>
              <a:defRPr sz="1385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  <p:sp>
        <p:nvSpPr>
          <p:cNvPr id="24" name="コンテンツ プレースホルダー 8"/>
          <p:cNvSpPr>
            <a:spLocks noGrp="1"/>
          </p:cNvSpPr>
          <p:nvPr>
            <p:ph sz="quarter" idx="16" hasCustomPrompt="1"/>
          </p:nvPr>
        </p:nvSpPr>
        <p:spPr>
          <a:xfrm>
            <a:off x="4719676" y="2517789"/>
            <a:ext cx="4016375" cy="272891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buNone/>
              <a:defRPr sz="1385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135021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read/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2" y="6408937"/>
            <a:ext cx="8750749" cy="260363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3" y="6347999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prstClr val="white"/>
                </a:solidFill>
              </a:rPr>
              <a:t>© 2021 MITSUBISHI HEAVY INDUSTRIES, LTD.  All Rights Reserved.</a:t>
            </a:r>
            <a:endParaRPr lang="ja-JP" altLang="en-US" sz="646" dirty="0">
              <a:solidFill>
                <a:prstClr val="white"/>
              </a:solidFill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4" y="6347092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z="923" smtClean="0">
                <a:latin typeface="Arial"/>
              </a:rPr>
              <a:pPr>
                <a:defRPr/>
              </a:pPr>
              <a:t>‹#›</a:t>
            </a:fld>
            <a:endParaRPr lang="en-US" altLang="ja-JP" sz="923" dirty="0">
              <a:latin typeface="Arial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225315" y="564204"/>
            <a:ext cx="8748517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468" y="136960"/>
            <a:ext cx="1286367" cy="274344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36965"/>
            <a:ext cx="6390090" cy="349961"/>
          </a:xfrm>
          <a:prstGeom prst="rect">
            <a:avLst/>
          </a:prstGeom>
        </p:spPr>
        <p:txBody>
          <a:bodyPr/>
          <a:lstStyle>
            <a:lvl1pPr>
              <a:defRPr sz="2031" b="1"/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7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477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8588" y="1525209"/>
            <a:ext cx="8081963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558588" y="5434206"/>
            <a:ext cx="8081963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3" name="コンテンツ プレースホルダー 8"/>
          <p:cNvSpPr>
            <a:spLocks noGrp="1"/>
          </p:cNvSpPr>
          <p:nvPr>
            <p:ph sz="quarter" idx="15" hasCustomPrompt="1"/>
          </p:nvPr>
        </p:nvSpPr>
        <p:spPr>
          <a:xfrm>
            <a:off x="555632" y="2517780"/>
            <a:ext cx="4016375" cy="2728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  <p:sp>
        <p:nvSpPr>
          <p:cNvPr id="24" name="コンテンツ プレースホルダー 8"/>
          <p:cNvSpPr>
            <a:spLocks noGrp="1"/>
          </p:cNvSpPr>
          <p:nvPr>
            <p:ph sz="quarter" idx="16" hasCustomPrompt="1"/>
          </p:nvPr>
        </p:nvSpPr>
        <p:spPr>
          <a:xfrm>
            <a:off x="4719668" y="2517780"/>
            <a:ext cx="4016375" cy="2728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157681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63" y="3258297"/>
            <a:ext cx="6017274" cy="341406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364" y="5805146"/>
            <a:ext cx="1249788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83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08726" y="5566335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7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954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303301" y="5920206"/>
            <a:ext cx="4318925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554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A1B3CB4D-6995-4FBD-99A9-97EF836307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725" y="3361113"/>
            <a:ext cx="8531974" cy="1676400"/>
          </a:xfrm>
          <a:prstGeom prst="rect">
            <a:avLst/>
          </a:prstGeom>
        </p:spPr>
        <p:txBody>
          <a:bodyPr/>
          <a:lstStyle>
            <a:lvl1pPr marL="0" marR="0" indent="0" algn="l" defTabSz="63306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77" baseline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3306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　　　　　　　　　　　　　　　　　　　　　　　　　　　　　　　　●複数の会社名やロゴを記載するレイアウトはスライドマスターにあり                          ●写真付きの表紙レイアウト（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種）はスライドマスターにあり                                   </a:t>
            </a:r>
            <a:r>
              <a:rPr kumimoji="1" lang="en-US" altLang="ja-JP" dirty="0"/>
              <a:t>※</a:t>
            </a:r>
            <a:r>
              <a:rPr kumimoji="1" lang="ja-JP" altLang="en-US" dirty="0"/>
              <a:t>スライドマスターの変更は別紙「スライドマスター操作ガイド」をご参照ください</a:t>
            </a:r>
          </a:p>
        </p:txBody>
      </p:sp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6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646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CA45DE1-C1B1-4C0E-B123-54EBEE525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ロ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S04\Desktop\名称未設定-2-01.jpg">
            <a:extLst>
              <a:ext uri="{FF2B5EF4-FFF2-40B4-BE49-F238E27FC236}">
                <a16:creationId xmlns:a16="http://schemas.microsoft.com/office/drawing/2014/main" id="{F1494654-01F0-42B3-A66A-EAA98DA19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40" y="241201"/>
            <a:ext cx="2964260" cy="51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A43E3EA-FD6B-48AF-B1FE-280D2B3402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920" y="2525034"/>
            <a:ext cx="5286057" cy="1491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484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28798"/>
            <a:ext cx="6390090" cy="3499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 b="1"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1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6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2450" y="1525210"/>
            <a:ext cx="8191500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0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10pt</a:t>
            </a:r>
            <a:endParaRPr kumimoji="1" lang="ja-JP" alt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36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5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00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1718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カラーサンプル　複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5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258555" y="128795"/>
            <a:ext cx="7135022" cy="3499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 b="1"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258555" y="797128"/>
            <a:ext cx="863620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8636208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r>
              <a:rPr lang="ja-JP" altLang="en-US" sz="700" dirty="0">
                <a:solidFill>
                  <a:schemeClr val="bg1"/>
                </a:solidFill>
                <a:latin typeface="+mn-lt"/>
              </a:rPr>
              <a:t>　　　　</a:t>
            </a:r>
            <a:r>
              <a:rPr kumimoji="1" lang="en-US" altLang="ja-JP" sz="700" kern="1200" dirty="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  <a:cs typeface="+mn-cs"/>
              </a:rPr>
              <a:t>© </a:t>
            </a:r>
            <a:r>
              <a:rPr lang="en-US" altLang="ja-JP" sz="700" dirty="0">
                <a:solidFill>
                  <a:schemeClr val="bg1"/>
                </a:solidFill>
                <a:latin typeface="+mj-lt"/>
              </a:rPr>
              <a:t>Mitsubishi Heavy Industries </a:t>
            </a:r>
            <a:r>
              <a:rPr kumimoji="1" lang="en-US" altLang="ja-JP" sz="500" kern="1200" dirty="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  <a:cs typeface="+mn-cs"/>
              </a:rPr>
              <a:t>□□□□</a:t>
            </a:r>
            <a:r>
              <a:rPr lang="en-US" altLang="ja-JP" sz="500" dirty="0">
                <a:solidFill>
                  <a:schemeClr val="bg1"/>
                </a:solidFill>
                <a:latin typeface="+mj-lt"/>
              </a:rPr>
              <a:t>□□□□</a:t>
            </a:r>
            <a:r>
              <a:rPr lang="en-US" altLang="ja-JP" sz="700" dirty="0">
                <a:solidFill>
                  <a:schemeClr val="bg1"/>
                </a:solidFill>
                <a:latin typeface="+mj-lt"/>
              </a:rPr>
              <a:t> Co., Ltd. All Rights Reserved. 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AA88AE6-DD0D-4FAC-B5DD-357B3785BB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31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397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9" y="201827"/>
            <a:ext cx="8744712" cy="944860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313840" y="2601912"/>
            <a:ext cx="8632424" cy="577409"/>
          </a:xfrm>
          <a:prstGeom prst="rect">
            <a:avLst/>
          </a:prstGeom>
        </p:spPr>
        <p:txBody>
          <a:bodyPr lIns="95730" tIns="47866" rIns="95730" bIns="47866"/>
          <a:lstStyle>
            <a:lvl1pPr>
              <a:defRPr sz="3139" b="1" baseline="0"/>
            </a:lvl1pPr>
          </a:lstStyle>
          <a:p>
            <a:r>
              <a:rPr kumimoji="1" lang="ja-JP" altLang="en-US" dirty="0"/>
              <a:t>章タイトルテキスト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308736" y="3248720"/>
            <a:ext cx="8632825" cy="1362748"/>
          </a:xfrm>
          <a:prstGeom prst="rect">
            <a:avLst/>
          </a:prstGeom>
        </p:spPr>
        <p:txBody>
          <a:bodyPr lIns="95730" tIns="47866" rIns="95730" bIns="47866"/>
          <a:lstStyle>
            <a:lvl1pPr marL="0" marR="0" indent="0" algn="l" defTabSz="662761" rtl="0" eaLnBrk="1" fontAlgn="auto" latinLnBrk="0" hangingPunct="1">
              <a:lnSpc>
                <a:spcPct val="12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77">
                <a:solidFill>
                  <a:schemeClr val="tx1"/>
                </a:solidFill>
              </a:defRPr>
            </a:lvl1pPr>
          </a:lstStyle>
          <a:p>
            <a:pPr marL="0" marR="0" lvl="0" indent="0" algn="l" defTabSz="662761" rtl="0" eaLnBrk="1" fontAlgn="auto" latinLnBrk="0" hangingPunct="1">
              <a:lnSpc>
                <a:spcPct val="12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</a:t>
            </a:r>
            <a:r>
              <a:rPr kumimoji="1" lang="en-US" altLang="ja-JP" dirty="0"/>
              <a:t>16pt</a:t>
            </a:r>
          </a:p>
        </p:txBody>
      </p:sp>
    </p:spTree>
    <p:extLst>
      <p:ext uri="{BB962C8B-B14F-4D97-AF65-F5344CB8AC3E}">
        <p14:creationId xmlns:p14="http://schemas.microsoft.com/office/powerpoint/2010/main" val="2448005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read/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7" y="6408946"/>
            <a:ext cx="8750749" cy="260363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3" y="6348011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4184" rIns="88366" bIns="44184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prstClr val="white"/>
                </a:solidFill>
              </a:rPr>
              <a:t>© 2021 MITSUBISHI HEAVY INDUSTRIES, LTD.  All Rights Reserved.</a:t>
            </a:r>
            <a:endParaRPr lang="ja-JP" altLang="en-US" sz="646" dirty="0">
              <a:solidFill>
                <a:prstClr val="white"/>
              </a:solidFill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4" y="6347104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88366" tIns="44184" rIns="88366" bIns="44184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z="923" smtClean="0"/>
              <a:pPr>
                <a:defRPr/>
              </a:pPr>
              <a:t>‹#›</a:t>
            </a:fld>
            <a:endParaRPr lang="en-US" altLang="ja-JP" sz="923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225317" y="564204"/>
            <a:ext cx="8748517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469" y="136960"/>
            <a:ext cx="1286367" cy="274344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36978"/>
            <a:ext cx="6390090" cy="349961"/>
          </a:xfrm>
          <a:prstGeom prst="rect">
            <a:avLst/>
          </a:prstGeom>
        </p:spPr>
        <p:txBody>
          <a:bodyPr lIns="95730" tIns="47866" rIns="95730" bIns="47866"/>
          <a:lstStyle>
            <a:lvl1pPr>
              <a:defRPr sz="2123" b="1"/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42"/>
            <a:ext cx="6389688" cy="65246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lnSpc>
                <a:spcPct val="120000"/>
              </a:lnSpc>
              <a:buNone/>
              <a:defRPr sz="1477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8588" y="1525209"/>
            <a:ext cx="8081963" cy="838164"/>
          </a:xfrm>
          <a:prstGeom prst="rect">
            <a:avLst/>
          </a:prstGeom>
        </p:spPr>
        <p:txBody>
          <a:bodyPr lIns="95730" tIns="47866" rIns="95730" bIns="47866" numCol="2" spcCol="565333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558588" y="5434206"/>
            <a:ext cx="8081963" cy="838164"/>
          </a:xfrm>
          <a:prstGeom prst="rect">
            <a:avLst/>
          </a:prstGeom>
        </p:spPr>
        <p:txBody>
          <a:bodyPr lIns="95730" tIns="47866" rIns="95730" bIns="47866" numCol="2" spcCol="565333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3" name="コンテンツ プレースホルダー 8"/>
          <p:cNvSpPr>
            <a:spLocks noGrp="1"/>
          </p:cNvSpPr>
          <p:nvPr>
            <p:ph sz="quarter" idx="15" hasCustomPrompt="1"/>
          </p:nvPr>
        </p:nvSpPr>
        <p:spPr>
          <a:xfrm>
            <a:off x="555638" y="2517789"/>
            <a:ext cx="4016375" cy="272891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buNone/>
              <a:defRPr sz="1385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  <p:sp>
        <p:nvSpPr>
          <p:cNvPr id="24" name="コンテンツ プレースホルダー 8"/>
          <p:cNvSpPr>
            <a:spLocks noGrp="1"/>
          </p:cNvSpPr>
          <p:nvPr>
            <p:ph sz="quarter" idx="16" hasCustomPrompt="1"/>
          </p:nvPr>
        </p:nvSpPr>
        <p:spPr>
          <a:xfrm>
            <a:off x="4719676" y="2517789"/>
            <a:ext cx="4016375" cy="272891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buNone/>
              <a:defRPr sz="1385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7745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read/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2" y="6408937"/>
            <a:ext cx="8750749" cy="260363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3" y="6347999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prstClr val="white"/>
                </a:solidFill>
              </a:rPr>
              <a:t>© 2021 MITSUBISHI HEAVY INDUSTRIES, LTD.  All Rights Reserved.</a:t>
            </a:r>
            <a:endParaRPr lang="ja-JP" altLang="en-US" sz="646" dirty="0">
              <a:solidFill>
                <a:prstClr val="white"/>
              </a:solidFill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4" y="6347092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z="923" smtClean="0">
                <a:latin typeface="Arial"/>
              </a:rPr>
              <a:pPr>
                <a:defRPr/>
              </a:pPr>
              <a:t>‹#›</a:t>
            </a:fld>
            <a:endParaRPr lang="en-US" altLang="ja-JP" sz="923" dirty="0">
              <a:latin typeface="Arial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225315" y="564204"/>
            <a:ext cx="8748517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468" y="136960"/>
            <a:ext cx="1286367" cy="274344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36965"/>
            <a:ext cx="6390090" cy="349961"/>
          </a:xfrm>
          <a:prstGeom prst="rect">
            <a:avLst/>
          </a:prstGeom>
        </p:spPr>
        <p:txBody>
          <a:bodyPr/>
          <a:lstStyle>
            <a:lvl1pPr>
              <a:defRPr sz="2031" b="1"/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7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477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8588" y="1525209"/>
            <a:ext cx="8081963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558588" y="5434206"/>
            <a:ext cx="8081963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3" name="コンテンツ プレースホルダー 8"/>
          <p:cNvSpPr>
            <a:spLocks noGrp="1"/>
          </p:cNvSpPr>
          <p:nvPr>
            <p:ph sz="quarter" idx="15" hasCustomPrompt="1"/>
          </p:nvPr>
        </p:nvSpPr>
        <p:spPr>
          <a:xfrm>
            <a:off x="555632" y="2517780"/>
            <a:ext cx="4016375" cy="2728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  <p:sp>
        <p:nvSpPr>
          <p:cNvPr id="24" name="コンテンツ プレースホルダー 8"/>
          <p:cNvSpPr>
            <a:spLocks noGrp="1"/>
          </p:cNvSpPr>
          <p:nvPr>
            <p:ph sz="quarter" idx="16" hasCustomPrompt="1"/>
          </p:nvPr>
        </p:nvSpPr>
        <p:spPr>
          <a:xfrm>
            <a:off x="4719668" y="2517780"/>
            <a:ext cx="4016375" cy="2728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606045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63" y="3258297"/>
            <a:ext cx="6017274" cy="341406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364" y="5805146"/>
            <a:ext cx="1249788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1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08726" y="5566335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7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954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303301" y="5920206"/>
            <a:ext cx="4318925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554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A1B3CB4D-6995-4FBD-99A9-97EF836307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725" y="3361113"/>
            <a:ext cx="8531974" cy="1676400"/>
          </a:xfrm>
          <a:prstGeom prst="rect">
            <a:avLst/>
          </a:prstGeom>
        </p:spPr>
        <p:txBody>
          <a:bodyPr/>
          <a:lstStyle>
            <a:lvl1pPr marL="0" marR="0" indent="0" algn="l" defTabSz="63306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77" baseline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3306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　　　　　　　　　　　　　　　　　　　　　　　　　　　　　　　　●複数の会社名やロゴを記載するレイアウトはスライドマスターにあり                          ●写真付きの表紙レイアウト（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種）はスライドマスターにあり                                   </a:t>
            </a:r>
            <a:r>
              <a:rPr kumimoji="1" lang="en-US" altLang="ja-JP" dirty="0"/>
              <a:t>※</a:t>
            </a:r>
            <a:r>
              <a:rPr kumimoji="1" lang="ja-JP" altLang="en-US" dirty="0"/>
              <a:t>スライドマスターの変更は別紙「スライドマスター操作ガイド」をご参照ください</a:t>
            </a:r>
          </a:p>
        </p:txBody>
      </p:sp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6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646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CA45DE1-C1B1-4C0E-B123-54EBEE525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00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ロ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S04\Desktop\名称未設定-2-01.jpg">
            <a:extLst>
              <a:ext uri="{FF2B5EF4-FFF2-40B4-BE49-F238E27FC236}">
                <a16:creationId xmlns:a16="http://schemas.microsoft.com/office/drawing/2014/main" id="{F1494654-01F0-42B3-A66A-EAA98DA19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40" y="241201"/>
            <a:ext cx="2964260" cy="51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A43E3EA-FD6B-48AF-B1FE-280D2B3402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920" y="2525034"/>
            <a:ext cx="5286057" cy="1491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3202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28798"/>
            <a:ext cx="6390090" cy="3499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 b="1"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1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6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2450" y="1525210"/>
            <a:ext cx="8191500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0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10pt</a:t>
            </a:r>
            <a:endParaRPr kumimoji="1" lang="ja-JP" alt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47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8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8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10" r:id="rId2"/>
    <p:sldLayoutId id="2147483712" r:id="rId3"/>
    <p:sldLayoutId id="2147483706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8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70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</p:sldLayoutIdLst>
  <p:hf sldNum="0" hdr="0" ftr="0" dt="0"/>
  <p:txStyles>
    <p:titleStyle>
      <a:lvl1pPr algn="l" defTabSz="662761" rtl="0" eaLnBrk="1" latinLnBrk="0" hangingPunct="1">
        <a:lnSpc>
          <a:spcPct val="90000"/>
        </a:lnSpc>
        <a:spcBef>
          <a:spcPct val="0"/>
        </a:spcBef>
        <a:buNone/>
        <a:defRPr kumimoji="1" sz="31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5692" indent="-165692" algn="l" defTabSz="662761" rtl="0" eaLnBrk="1" latinLnBrk="0" hangingPunct="1">
        <a:lnSpc>
          <a:spcPct val="90000"/>
        </a:lnSpc>
        <a:spcBef>
          <a:spcPts val="726"/>
        </a:spcBef>
        <a:buFont typeface="Arial" panose="020B0604020202020204" pitchFamily="34" charset="0"/>
        <a:buChar char="•"/>
        <a:defRPr kumimoji="1" sz="2031" kern="1200">
          <a:solidFill>
            <a:schemeClr val="tx1"/>
          </a:solidFill>
          <a:latin typeface="+mn-lt"/>
          <a:ea typeface="+mn-ea"/>
          <a:cs typeface="+mn-cs"/>
        </a:defRPr>
      </a:lvl1pPr>
      <a:lvl2pPr marL="497071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28451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159832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91215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822595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3975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485355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16736" indent="-165692" algn="l" defTabSz="662761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31381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662761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994144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325522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656905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1988284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19665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51046" algn="l" defTabSz="662761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9F29D48-BA55-E2FC-4B6C-D775F774D285}"/>
              </a:ext>
            </a:extLst>
          </p:cNvPr>
          <p:cNvSpPr/>
          <p:nvPr/>
        </p:nvSpPr>
        <p:spPr>
          <a:xfrm>
            <a:off x="468431" y="3014367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BA75102-2838-66A6-F463-1E2E4EE43861}"/>
              </a:ext>
            </a:extLst>
          </p:cNvPr>
          <p:cNvSpPr/>
          <p:nvPr/>
        </p:nvSpPr>
        <p:spPr>
          <a:xfrm>
            <a:off x="971446" y="3022757"/>
            <a:ext cx="318783" cy="3261719"/>
          </a:xfrm>
          <a:prstGeom prst="roundRect">
            <a:avLst/>
          </a:prstGeom>
          <a:solidFill>
            <a:srgbClr val="DC691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6268B2F-F59F-14FC-6D33-2BE2E0D0591E}"/>
              </a:ext>
            </a:extLst>
          </p:cNvPr>
          <p:cNvSpPr/>
          <p:nvPr/>
        </p:nvSpPr>
        <p:spPr>
          <a:xfrm>
            <a:off x="1717787" y="3039535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6B467B5-940D-3A4A-7142-7041637260F4}"/>
              </a:ext>
            </a:extLst>
          </p:cNvPr>
          <p:cNvSpPr/>
          <p:nvPr/>
        </p:nvSpPr>
        <p:spPr>
          <a:xfrm>
            <a:off x="2228472" y="3031146"/>
            <a:ext cx="318783" cy="3261719"/>
          </a:xfrm>
          <a:prstGeom prst="roundRect">
            <a:avLst/>
          </a:prstGeom>
          <a:solidFill>
            <a:srgbClr val="DC691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81B0DB-E02F-11F3-A297-7D1CB2BC21C5}"/>
              </a:ext>
            </a:extLst>
          </p:cNvPr>
          <p:cNvSpPr/>
          <p:nvPr/>
        </p:nvSpPr>
        <p:spPr>
          <a:xfrm>
            <a:off x="2982912" y="3031146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120CE63-9D6B-2F1A-95AC-23FECA9AA641}"/>
              </a:ext>
            </a:extLst>
          </p:cNvPr>
          <p:cNvSpPr/>
          <p:nvPr/>
        </p:nvSpPr>
        <p:spPr>
          <a:xfrm>
            <a:off x="3496199" y="3022757"/>
            <a:ext cx="318783" cy="3261719"/>
          </a:xfrm>
          <a:prstGeom prst="roundRect">
            <a:avLst/>
          </a:prstGeom>
          <a:solidFill>
            <a:srgbClr val="DC691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847A86A-B913-1518-E47C-E2EDE1FC861E}"/>
              </a:ext>
            </a:extLst>
          </p:cNvPr>
          <p:cNvSpPr/>
          <p:nvPr/>
        </p:nvSpPr>
        <p:spPr>
          <a:xfrm>
            <a:off x="4232734" y="3022757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F5B81C1-7571-DEDD-71A1-3B08E5825F79}"/>
              </a:ext>
            </a:extLst>
          </p:cNvPr>
          <p:cNvSpPr/>
          <p:nvPr/>
        </p:nvSpPr>
        <p:spPr>
          <a:xfrm>
            <a:off x="4769928" y="3031146"/>
            <a:ext cx="318783" cy="3261719"/>
          </a:xfrm>
          <a:prstGeom prst="roundRect">
            <a:avLst/>
          </a:prstGeom>
          <a:solidFill>
            <a:srgbClr val="DC691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725D107-505A-69C9-939F-675F3D1AD2D3}"/>
              </a:ext>
            </a:extLst>
          </p:cNvPr>
          <p:cNvSpPr/>
          <p:nvPr/>
        </p:nvSpPr>
        <p:spPr>
          <a:xfrm>
            <a:off x="5466513" y="3039535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1DFC580-2A0E-256B-1E09-EB98AB3D59E7}"/>
              </a:ext>
            </a:extLst>
          </p:cNvPr>
          <p:cNvSpPr/>
          <p:nvPr/>
        </p:nvSpPr>
        <p:spPr>
          <a:xfrm>
            <a:off x="6028857" y="3039535"/>
            <a:ext cx="318783" cy="3261719"/>
          </a:xfrm>
          <a:prstGeom prst="roundRect">
            <a:avLst/>
          </a:prstGeom>
          <a:solidFill>
            <a:srgbClr val="DC691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92798B2-969A-3F9A-FF57-F9C2D4E1C8A5}"/>
              </a:ext>
            </a:extLst>
          </p:cNvPr>
          <p:cNvSpPr/>
          <p:nvPr/>
        </p:nvSpPr>
        <p:spPr>
          <a:xfrm>
            <a:off x="6757157" y="3039535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7C44C140-FFB9-A026-9A8D-534D57D853A5}"/>
              </a:ext>
            </a:extLst>
          </p:cNvPr>
          <p:cNvSpPr/>
          <p:nvPr/>
        </p:nvSpPr>
        <p:spPr>
          <a:xfrm>
            <a:off x="7283981" y="3022757"/>
            <a:ext cx="318783" cy="3261719"/>
          </a:xfrm>
          <a:prstGeom prst="roundRect">
            <a:avLst/>
          </a:prstGeom>
          <a:solidFill>
            <a:srgbClr val="DC691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A623827-D528-D6EE-01DF-BCA2534B7D67}"/>
              </a:ext>
            </a:extLst>
          </p:cNvPr>
          <p:cNvSpPr/>
          <p:nvPr/>
        </p:nvSpPr>
        <p:spPr>
          <a:xfrm>
            <a:off x="8012281" y="3031146"/>
            <a:ext cx="318783" cy="3261719"/>
          </a:xfrm>
          <a:prstGeom prst="roundRect">
            <a:avLst/>
          </a:prstGeom>
          <a:solidFill>
            <a:srgbClr val="006487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pic>
        <p:nvPicPr>
          <p:cNvPr id="16" name="図 1">
            <a:extLst>
              <a:ext uri="{FF2B5EF4-FFF2-40B4-BE49-F238E27FC236}">
                <a16:creationId xmlns:a16="http://schemas.microsoft.com/office/drawing/2014/main" id="{88D4D46B-23D2-1258-F8E5-FDE091C7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-35145" y="2537795"/>
            <a:ext cx="9130542" cy="3797015"/>
          </a:xfrm>
          <a:prstGeom prst="rect">
            <a:avLst/>
          </a:prstGeom>
        </p:spPr>
      </p:pic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6EBCAC8D-CDF5-FC18-5E59-35BA66A7FB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64949" y="3888655"/>
            <a:ext cx="1548764" cy="30801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223F4B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D87220E1-8CD7-E0F0-B730-0A23E699C90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6310" y="4304004"/>
            <a:ext cx="2419741" cy="34828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223F4B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タイトル 1">
            <a:extLst>
              <a:ext uri="{FF2B5EF4-FFF2-40B4-BE49-F238E27FC236}">
                <a16:creationId xmlns:a16="http://schemas.microsoft.com/office/drawing/2014/main" id="{5AB9856E-F825-81BC-4F40-6A5246D843C1}"/>
              </a:ext>
            </a:extLst>
          </p:cNvPr>
          <p:cNvSpPr txBox="1">
            <a:spLocks/>
          </p:cNvSpPr>
          <p:nvPr/>
        </p:nvSpPr>
        <p:spPr>
          <a:xfrm>
            <a:off x="164350" y="121785"/>
            <a:ext cx="7134225" cy="350837"/>
          </a:xfrm>
          <a:prstGeom prst="rect">
            <a:avLst/>
          </a:prstGeom>
        </p:spPr>
        <p:txBody>
          <a:bodyPr/>
          <a:lstStyle>
            <a:lvl1pPr algn="l" defTabSz="6627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13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/>
              <a:t>４－１．顧客ランクに応じた営業活動：具体例</a:t>
            </a:r>
          </a:p>
        </p:txBody>
      </p:sp>
    </p:spTree>
    <p:extLst>
      <p:ext uri="{BB962C8B-B14F-4D97-AF65-F5344CB8AC3E}">
        <p14:creationId xmlns:p14="http://schemas.microsoft.com/office/powerpoint/2010/main" val="2762391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3855DB5-3E35-4601-B3A3-471FB844A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916832"/>
            <a:ext cx="4393153" cy="424188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AE38C0-9E4A-5811-18CE-D84FB6883691}"/>
              </a:ext>
            </a:extLst>
          </p:cNvPr>
          <p:cNvSpPr txBox="1"/>
          <p:nvPr/>
        </p:nvSpPr>
        <p:spPr>
          <a:xfrm>
            <a:off x="246720" y="113188"/>
            <a:ext cx="7358743" cy="369332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defTabSz="685800">
              <a:lnSpc>
                <a:spcPct val="90000"/>
              </a:lnSpc>
              <a:spcBef>
                <a:spcPct val="0"/>
              </a:spcBef>
              <a:buNone/>
              <a:defRPr b="1">
                <a:latin typeface="+mj-ea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5-2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．遂行（設計）業務の整流化・効率化：対象①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j-cs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62F69D0-A3AF-1D86-F46D-1380DDB31078}"/>
              </a:ext>
            </a:extLst>
          </p:cNvPr>
          <p:cNvSpPr/>
          <p:nvPr/>
        </p:nvSpPr>
        <p:spPr>
          <a:xfrm>
            <a:off x="729801" y="1628800"/>
            <a:ext cx="828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小口</a:t>
            </a:r>
            <a:endParaRPr kumimoji="1" lang="ja-JP" altLang="en-US" sz="16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3CE6AE8-C40B-4225-B69C-AA4F1231DE49}"/>
              </a:ext>
            </a:extLst>
          </p:cNvPr>
          <p:cNvSpPr/>
          <p:nvPr/>
        </p:nvSpPr>
        <p:spPr>
          <a:xfrm>
            <a:off x="1968012" y="1614416"/>
            <a:ext cx="72008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大口</a:t>
            </a:r>
            <a:endParaRPr kumimoji="1" lang="ja-JP" altLang="en-US" sz="16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8A74EFF-A01E-4F9A-8BD2-1F02E7606025}"/>
              </a:ext>
            </a:extLst>
          </p:cNvPr>
          <p:cNvSpPr/>
          <p:nvPr/>
        </p:nvSpPr>
        <p:spPr>
          <a:xfrm>
            <a:off x="3048132" y="1614416"/>
            <a:ext cx="900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dirty="0">
                <a:solidFill>
                  <a:sysClr val="windowText" lastClr="000000"/>
                </a:solidFill>
                <a:latin typeface="Arial"/>
                <a:ea typeface="メイリオ"/>
              </a:rPr>
              <a:t>大型改造</a:t>
            </a:r>
            <a:endParaRPr kumimoji="1" lang="ja-JP" altLang="en-US" sz="16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468E928-5A0A-409F-AF5F-1A72719F8E10}"/>
              </a:ext>
            </a:extLst>
          </p:cNvPr>
          <p:cNvSpPr/>
          <p:nvPr/>
        </p:nvSpPr>
        <p:spPr>
          <a:xfrm>
            <a:off x="323528" y="1916832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161kH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700C468-4351-43CE-8700-368886478F07}"/>
              </a:ext>
            </a:extLst>
          </p:cNvPr>
          <p:cNvSpPr/>
          <p:nvPr/>
        </p:nvSpPr>
        <p:spPr>
          <a:xfrm>
            <a:off x="1475656" y="2420888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139kH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DBEB506-4C6A-4E9F-859A-1438441D7313}"/>
              </a:ext>
            </a:extLst>
          </p:cNvPr>
          <p:cNvSpPr/>
          <p:nvPr/>
        </p:nvSpPr>
        <p:spPr>
          <a:xfrm>
            <a:off x="2699896" y="4653136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4.7</a:t>
            </a:r>
            <a:r>
              <a:rPr lang="ja-JP" altLang="en-US" sz="1200" dirty="0">
                <a:solidFill>
                  <a:sysClr val="windowText" lastClr="000000"/>
                </a:solidFill>
                <a:latin typeface="+mn-ea"/>
              </a:rPr>
              <a:t>万</a:t>
            </a: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H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1B74889-FF3B-4196-B2BB-E16242D5944D}"/>
              </a:ext>
            </a:extLst>
          </p:cNvPr>
          <p:cNvSpPr/>
          <p:nvPr/>
        </p:nvSpPr>
        <p:spPr>
          <a:xfrm>
            <a:off x="971704" y="3933056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134.7</a:t>
            </a:r>
            <a:r>
              <a:rPr kumimoji="1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億円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FD9FE21-7859-449D-93FF-6406DFC8E907}"/>
              </a:ext>
            </a:extLst>
          </p:cNvPr>
          <p:cNvSpPr/>
          <p:nvPr/>
        </p:nvSpPr>
        <p:spPr>
          <a:xfrm>
            <a:off x="2123832" y="1916832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285.8</a:t>
            </a:r>
            <a:r>
              <a:rPr kumimoji="1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億円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8C1573-49BB-4F72-975C-730600F5261A}"/>
              </a:ext>
            </a:extLst>
          </p:cNvPr>
          <p:cNvSpPr/>
          <p:nvPr/>
        </p:nvSpPr>
        <p:spPr>
          <a:xfrm>
            <a:off x="3275856" y="4149080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121.1</a:t>
            </a:r>
            <a:r>
              <a:rPr kumimoji="1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億円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8329B42-4B42-452B-BAAC-F6596D133F3E}"/>
              </a:ext>
            </a:extLst>
          </p:cNvPr>
          <p:cNvSpPr/>
          <p:nvPr/>
        </p:nvSpPr>
        <p:spPr>
          <a:xfrm>
            <a:off x="323528" y="5050915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69kH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42.7%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B99E5F8-9A87-493D-95DA-F8E024B86B2D}"/>
              </a:ext>
            </a:extLst>
          </p:cNvPr>
          <p:cNvSpPr/>
          <p:nvPr/>
        </p:nvSpPr>
        <p:spPr>
          <a:xfrm>
            <a:off x="1547664" y="5373216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40kH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28</a:t>
            </a: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.4%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B249547-3C0B-43D5-9212-A541690363D2}"/>
              </a:ext>
            </a:extLst>
          </p:cNvPr>
          <p:cNvSpPr/>
          <p:nvPr/>
        </p:nvSpPr>
        <p:spPr>
          <a:xfrm>
            <a:off x="2699792" y="5733256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10kH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20</a:t>
            </a: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.6%</a:t>
            </a:r>
            <a:endParaRPr kumimoji="1" lang="ja-JP" altLang="en-US" sz="1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C77DBC1-33FB-418E-83FB-D5A6A6B37054}"/>
              </a:ext>
            </a:extLst>
          </p:cNvPr>
          <p:cNvSpPr/>
          <p:nvPr/>
        </p:nvSpPr>
        <p:spPr>
          <a:xfrm>
            <a:off x="659904" y="6165304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2,379</a:t>
            </a:r>
            <a:r>
              <a:rPr lang="ja-JP" altLang="en-US" sz="1200" dirty="0">
                <a:solidFill>
                  <a:sysClr val="windowText" lastClr="000000"/>
                </a:solidFill>
                <a:latin typeface="+mn-ea"/>
              </a:rPr>
              <a:t>件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2B49EF0-FF22-4EB5-A610-E820B33D0D6F}"/>
              </a:ext>
            </a:extLst>
          </p:cNvPr>
          <p:cNvSpPr/>
          <p:nvPr/>
        </p:nvSpPr>
        <p:spPr>
          <a:xfrm>
            <a:off x="1775976" y="6165304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176</a:t>
            </a:r>
            <a:r>
              <a:rPr lang="ja-JP" altLang="en-US" sz="1200" dirty="0">
                <a:solidFill>
                  <a:sysClr val="windowText" lastClr="000000"/>
                </a:solidFill>
                <a:latin typeface="+mn-ea"/>
              </a:rPr>
              <a:t>件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837BE78-7E77-417B-88B0-6B26DD5A92CF}"/>
              </a:ext>
            </a:extLst>
          </p:cNvPr>
          <p:cNvSpPr/>
          <p:nvPr/>
        </p:nvSpPr>
        <p:spPr>
          <a:xfrm>
            <a:off x="2987928" y="6165304"/>
            <a:ext cx="93600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ysClr val="windowText" lastClr="000000"/>
                </a:solidFill>
                <a:latin typeface="+mn-ea"/>
              </a:rPr>
              <a:t>10</a:t>
            </a:r>
            <a:r>
              <a:rPr lang="ja-JP" altLang="en-US" sz="1200" dirty="0">
                <a:solidFill>
                  <a:sysClr val="windowText" lastClr="000000"/>
                </a:solidFill>
                <a:latin typeface="+mn-ea"/>
              </a:rPr>
              <a:t>件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CE9FE3D-BD2F-4105-9352-B8CAB7543537}"/>
              </a:ext>
            </a:extLst>
          </p:cNvPr>
          <p:cNvSpPr/>
          <p:nvPr/>
        </p:nvSpPr>
        <p:spPr>
          <a:xfrm>
            <a:off x="-108520" y="6165304"/>
            <a:ext cx="69631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solidFill>
                  <a:sysClr val="windowText" lastClr="000000"/>
                </a:solidFill>
                <a:latin typeface="+mn-ea"/>
              </a:rPr>
              <a:t>件数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AB4AC20-F8CA-45BE-BB52-594FF8096A48}"/>
              </a:ext>
            </a:extLst>
          </p:cNvPr>
          <p:cNvSpPr/>
          <p:nvPr/>
        </p:nvSpPr>
        <p:spPr>
          <a:xfrm>
            <a:off x="5197549" y="2861482"/>
            <a:ext cx="3705530" cy="2680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24706D6-F876-4CC6-BC2E-AE3EE1A99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25"/>
          <a:stretch/>
        </p:blipFill>
        <p:spPr>
          <a:xfrm>
            <a:off x="4572000" y="1651895"/>
            <a:ext cx="828000" cy="98121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869223C-D105-41E6-87B7-4B523796A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066" y="1651895"/>
            <a:ext cx="809738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図 27">
            <a:extLst>
              <a:ext uri="{FF2B5EF4-FFF2-40B4-BE49-F238E27FC236}">
                <a16:creationId xmlns:a16="http://schemas.microsoft.com/office/drawing/2014/main" id="{067CEAD9-B4EB-41A7-8AF4-C9A0301C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73" y="1964685"/>
            <a:ext cx="3888000" cy="3689824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E433848C-52FA-4A2B-B359-A7B9253ED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09" y="1988840"/>
            <a:ext cx="3888000" cy="370128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AE38C0-9E4A-5811-18CE-D84FB6883691}"/>
              </a:ext>
            </a:extLst>
          </p:cNvPr>
          <p:cNvSpPr txBox="1"/>
          <p:nvPr/>
        </p:nvSpPr>
        <p:spPr>
          <a:xfrm>
            <a:off x="246720" y="113188"/>
            <a:ext cx="7358743" cy="369332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defTabSz="685800">
              <a:lnSpc>
                <a:spcPct val="90000"/>
              </a:lnSpc>
              <a:spcBef>
                <a:spcPct val="0"/>
              </a:spcBef>
              <a:buNone/>
              <a:defRPr b="1">
                <a:latin typeface="+mj-ea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5-2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．遂行（設計）業務の整流化・効率化：対象②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j-cs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7D03170-935B-4FDE-A63C-73C5E7BF849F}"/>
              </a:ext>
            </a:extLst>
          </p:cNvPr>
          <p:cNvSpPr/>
          <p:nvPr/>
        </p:nvSpPr>
        <p:spPr>
          <a:xfrm>
            <a:off x="6342043" y="5589240"/>
            <a:ext cx="719536" cy="36630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売上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7D8C59E-ECF8-4BFA-9107-9546B1B9AD36}"/>
              </a:ext>
            </a:extLst>
          </p:cNvPr>
          <p:cNvSpPr/>
          <p:nvPr/>
        </p:nvSpPr>
        <p:spPr>
          <a:xfrm>
            <a:off x="4397827" y="3140968"/>
            <a:ext cx="431254" cy="100811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合計工数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5181F27-A5F9-43B2-97B4-3070B9FBD7B4}"/>
              </a:ext>
            </a:extLst>
          </p:cNvPr>
          <p:cNvSpPr/>
          <p:nvPr/>
        </p:nvSpPr>
        <p:spPr>
          <a:xfrm>
            <a:off x="4496638" y="1604685"/>
            <a:ext cx="3888000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小口案件プロット</a:t>
            </a:r>
            <a:b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（関係部による色分け）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C5053AB-877F-4E7F-84EB-0376C0A69C0E}"/>
              </a:ext>
            </a:extLst>
          </p:cNvPr>
          <p:cNvSpPr/>
          <p:nvPr/>
        </p:nvSpPr>
        <p:spPr>
          <a:xfrm>
            <a:off x="256845" y="1604685"/>
            <a:ext cx="3888000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小口案件プロット</a:t>
            </a:r>
            <a:b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（関係する技術部内の課数による色分け）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24BE4DD-A4A8-42C1-A4BB-8113FFC38657}"/>
              </a:ext>
            </a:extLst>
          </p:cNvPr>
          <p:cNvSpPr/>
          <p:nvPr/>
        </p:nvSpPr>
        <p:spPr>
          <a:xfrm>
            <a:off x="2166123" y="5589240"/>
            <a:ext cx="719536" cy="36630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売上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8C802CB-8CE9-405C-AD42-CCB048B194FA}"/>
              </a:ext>
            </a:extLst>
          </p:cNvPr>
          <p:cNvSpPr/>
          <p:nvPr/>
        </p:nvSpPr>
        <p:spPr>
          <a:xfrm>
            <a:off x="96265" y="3140968"/>
            <a:ext cx="431254" cy="100811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合計工数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E4E78B4E-31A8-4AC2-A6DA-426BDFCAB4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38"/>
          <a:stretch/>
        </p:blipFill>
        <p:spPr>
          <a:xfrm>
            <a:off x="3553097" y="2024467"/>
            <a:ext cx="628706" cy="685896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2A1FFD49-1FC2-4AC8-B261-19CAE5E75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206" y="1870980"/>
            <a:ext cx="1424633" cy="1049730"/>
          </a:xfrm>
          <a:prstGeom prst="rect">
            <a:avLst/>
          </a:prstGeom>
        </p:spPr>
      </p:pic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FF0B573-B2E5-46CB-8379-D1ECFF83EC39}"/>
              </a:ext>
            </a:extLst>
          </p:cNvPr>
          <p:cNvCxnSpPr/>
          <p:nvPr/>
        </p:nvCxnSpPr>
        <p:spPr>
          <a:xfrm flipV="1">
            <a:off x="5045105" y="3429000"/>
            <a:ext cx="3528392" cy="1872208"/>
          </a:xfrm>
          <a:prstGeom prst="line">
            <a:avLst/>
          </a:prstGeom>
          <a:ln w="38100">
            <a:solidFill>
              <a:srgbClr val="F28E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0BDC62C-4482-4BF9-A685-C315E5272572}"/>
              </a:ext>
            </a:extLst>
          </p:cNvPr>
          <p:cNvSpPr/>
          <p:nvPr/>
        </p:nvSpPr>
        <p:spPr>
          <a:xfrm>
            <a:off x="7781409" y="3141008"/>
            <a:ext cx="1111071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28E2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技術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F28E2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×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28E2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建設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F28E2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C03CBD1-6455-44DD-AC66-093BA4F2C363}"/>
              </a:ext>
            </a:extLst>
          </p:cNvPr>
          <p:cNvCxnSpPr>
            <a:cxnSpLocks/>
          </p:cNvCxnSpPr>
          <p:nvPr/>
        </p:nvCxnSpPr>
        <p:spPr>
          <a:xfrm flipV="1">
            <a:off x="4973891" y="4093029"/>
            <a:ext cx="3639913" cy="1064163"/>
          </a:xfrm>
          <a:prstGeom prst="line">
            <a:avLst/>
          </a:prstGeom>
          <a:ln w="38100">
            <a:solidFill>
              <a:srgbClr val="76B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32D0474-EEF4-4CE6-9639-77835E71C1A5}"/>
              </a:ext>
            </a:extLst>
          </p:cNvPr>
          <p:cNvCxnSpPr>
            <a:cxnSpLocks/>
          </p:cNvCxnSpPr>
          <p:nvPr/>
        </p:nvCxnSpPr>
        <p:spPr>
          <a:xfrm flipV="1">
            <a:off x="5004798" y="4423954"/>
            <a:ext cx="3609006" cy="873020"/>
          </a:xfrm>
          <a:prstGeom prst="line">
            <a:avLst/>
          </a:prstGeom>
          <a:ln w="38100">
            <a:solidFill>
              <a:srgbClr val="4E79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6B81F44D-5089-4824-933C-DF3C3FAA0D42}"/>
              </a:ext>
            </a:extLst>
          </p:cNvPr>
          <p:cNvCxnSpPr>
            <a:cxnSpLocks/>
          </p:cNvCxnSpPr>
          <p:nvPr/>
        </p:nvCxnSpPr>
        <p:spPr>
          <a:xfrm flipV="1">
            <a:off x="5004798" y="4720046"/>
            <a:ext cx="3617715" cy="567844"/>
          </a:xfrm>
          <a:prstGeom prst="line">
            <a:avLst/>
          </a:prstGeom>
          <a:ln w="38100">
            <a:solidFill>
              <a:srgbClr val="E1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D1D8B53-7D64-4045-AB3C-540260C4332B}"/>
              </a:ext>
            </a:extLst>
          </p:cNvPr>
          <p:cNvSpPr/>
          <p:nvPr/>
        </p:nvSpPr>
        <p:spPr>
          <a:xfrm>
            <a:off x="7596336" y="3789040"/>
            <a:ext cx="1687135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6B7B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技術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76B7B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×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6B7B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製造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76B7B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×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6B7B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建設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76B7B2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A5E57C4D-71E7-4D73-8702-A273AA3C59AA}"/>
              </a:ext>
            </a:extLst>
          </p:cNvPr>
          <p:cNvCxnSpPr>
            <a:cxnSpLocks/>
          </p:cNvCxnSpPr>
          <p:nvPr/>
        </p:nvCxnSpPr>
        <p:spPr>
          <a:xfrm flipV="1">
            <a:off x="4996089" y="4813069"/>
            <a:ext cx="3617715" cy="474822"/>
          </a:xfrm>
          <a:prstGeom prst="line">
            <a:avLst/>
          </a:prstGeom>
          <a:ln w="38100">
            <a:solidFill>
              <a:srgbClr val="ECC5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703970F-ACC3-450C-8DEC-9D82675E228C}"/>
              </a:ext>
            </a:extLst>
          </p:cNvPr>
          <p:cNvCxnSpPr>
            <a:cxnSpLocks/>
          </p:cNvCxnSpPr>
          <p:nvPr/>
        </p:nvCxnSpPr>
        <p:spPr>
          <a:xfrm flipV="1">
            <a:off x="4951331" y="4919783"/>
            <a:ext cx="3622166" cy="356715"/>
          </a:xfrm>
          <a:prstGeom prst="line">
            <a:avLst/>
          </a:prstGeom>
          <a:ln w="38100">
            <a:solidFill>
              <a:srgbClr val="59A1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2B9CEAC-07B2-40B3-8866-A2E81379B49F}"/>
              </a:ext>
            </a:extLst>
          </p:cNvPr>
          <p:cNvSpPr/>
          <p:nvPr/>
        </p:nvSpPr>
        <p:spPr>
          <a:xfrm>
            <a:off x="8038490" y="4461707"/>
            <a:ext cx="1105510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0505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技術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0505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×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05052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製造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05052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43F4C21-76F2-47F3-8C4B-6CDB558B9939}"/>
              </a:ext>
            </a:extLst>
          </p:cNvPr>
          <p:cNvSpPr/>
          <p:nvPr/>
        </p:nvSpPr>
        <p:spPr>
          <a:xfrm>
            <a:off x="8147010" y="4941208"/>
            <a:ext cx="1105510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9A14F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技術</a:t>
            </a:r>
            <a:r>
              <a:rPr lang="ja-JP" altLang="en-US" sz="1400" b="1" dirty="0">
                <a:solidFill>
                  <a:srgbClr val="59A14F"/>
                </a:solidFill>
                <a:latin typeface="Arial"/>
                <a:ea typeface="メイリオ"/>
              </a:rPr>
              <a:t>のみ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59A14F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E341669D-7BFB-4A19-9A7F-DB5CB137406D}"/>
              </a:ext>
            </a:extLst>
          </p:cNvPr>
          <p:cNvCxnSpPr>
            <a:cxnSpLocks/>
          </p:cNvCxnSpPr>
          <p:nvPr/>
        </p:nvCxnSpPr>
        <p:spPr>
          <a:xfrm flipV="1">
            <a:off x="661538" y="2852936"/>
            <a:ext cx="3591479" cy="2434954"/>
          </a:xfrm>
          <a:prstGeom prst="line">
            <a:avLst/>
          </a:prstGeom>
          <a:ln w="38100">
            <a:solidFill>
              <a:srgbClr val="E1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EBA9B54-F34E-490F-B7BA-1D1ACC1A6EFB}"/>
              </a:ext>
            </a:extLst>
          </p:cNvPr>
          <p:cNvCxnSpPr>
            <a:cxnSpLocks/>
          </p:cNvCxnSpPr>
          <p:nvPr/>
        </p:nvCxnSpPr>
        <p:spPr>
          <a:xfrm flipV="1">
            <a:off x="672329" y="4119154"/>
            <a:ext cx="3560037" cy="1157344"/>
          </a:xfrm>
          <a:prstGeom prst="line">
            <a:avLst/>
          </a:prstGeom>
          <a:ln w="38100">
            <a:solidFill>
              <a:srgbClr val="F28E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5917D870-C3A4-4ABF-9E50-E0FD78DF51D5}"/>
              </a:ext>
            </a:extLst>
          </p:cNvPr>
          <p:cNvCxnSpPr>
            <a:cxnSpLocks/>
          </p:cNvCxnSpPr>
          <p:nvPr/>
        </p:nvCxnSpPr>
        <p:spPr>
          <a:xfrm flipV="1">
            <a:off x="638978" y="4537166"/>
            <a:ext cx="3593388" cy="823154"/>
          </a:xfrm>
          <a:prstGeom prst="line">
            <a:avLst/>
          </a:prstGeom>
          <a:ln w="38100">
            <a:solidFill>
              <a:srgbClr val="4E79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6E36326-B52E-461F-B185-5A191A9D5314}"/>
              </a:ext>
            </a:extLst>
          </p:cNvPr>
          <p:cNvSpPr/>
          <p:nvPr/>
        </p:nvSpPr>
        <p:spPr>
          <a:xfrm>
            <a:off x="3065643" y="2850846"/>
            <a:ext cx="851698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15759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3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15759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課以上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15759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43FD135-97EA-4393-9B1A-2E58CCE40639}"/>
              </a:ext>
            </a:extLst>
          </p:cNvPr>
          <p:cNvSpPr/>
          <p:nvPr/>
        </p:nvSpPr>
        <p:spPr>
          <a:xfrm>
            <a:off x="3917340" y="3834114"/>
            <a:ext cx="485197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F28E2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28E2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課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F28E2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CAE2F56-771E-43C9-BE09-5DEAEC02A3A4}"/>
              </a:ext>
            </a:extLst>
          </p:cNvPr>
          <p:cNvSpPr/>
          <p:nvPr/>
        </p:nvSpPr>
        <p:spPr>
          <a:xfrm>
            <a:off x="3912630" y="4236877"/>
            <a:ext cx="485197" cy="360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 b="1" dirty="0">
                <a:solidFill>
                  <a:srgbClr val="4E79A7"/>
                </a:solidFill>
                <a:latin typeface="Arial"/>
                <a:ea typeface="メイリオ"/>
              </a:rPr>
              <a:t>1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E79A7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課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4E79A7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71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図 37">
            <a:extLst>
              <a:ext uri="{FF2B5EF4-FFF2-40B4-BE49-F238E27FC236}">
                <a16:creationId xmlns:a16="http://schemas.microsoft.com/office/drawing/2014/main" id="{427D758B-B289-432E-89C6-D6762D74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04" y="2376495"/>
            <a:ext cx="3132344" cy="244675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46B7C4B-2B2A-40A8-B4BC-DF305F393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18" y="2451508"/>
            <a:ext cx="2932738" cy="22736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8A9AB4-8EC0-4203-9916-3A79071407DA}"/>
              </a:ext>
            </a:extLst>
          </p:cNvPr>
          <p:cNvSpPr txBox="1"/>
          <p:nvPr/>
        </p:nvSpPr>
        <p:spPr>
          <a:xfrm>
            <a:off x="278327" y="188640"/>
            <a:ext cx="735874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 dirty="0">
                <a:solidFill>
                  <a:srgbClr val="000000"/>
                </a:solidFill>
                <a:latin typeface="メイリオ"/>
                <a:ea typeface="メイリオ"/>
              </a:rPr>
              <a:t>５－３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</a:rPr>
              <a:t>．複数課関与案件における工数計上のパターン</a:t>
            </a:r>
            <a:endParaRPr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DA84140-0248-47C5-830F-1B3AE98EE490}"/>
              </a:ext>
            </a:extLst>
          </p:cNvPr>
          <p:cNvSpPr/>
          <p:nvPr/>
        </p:nvSpPr>
        <p:spPr>
          <a:xfrm>
            <a:off x="302901" y="2050909"/>
            <a:ext cx="4167644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</a:rPr>
              <a:t>部ごと工数推移（部品内製＋現地工事あり）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48B8C4D-9B8E-4E20-9B2E-8D93C83D4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7" y="5436453"/>
            <a:ext cx="4253343" cy="93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52B973A-154F-4866-B6BB-6C898C43F3AB}"/>
              </a:ext>
            </a:extLst>
          </p:cNvPr>
          <p:cNvSpPr/>
          <p:nvPr/>
        </p:nvSpPr>
        <p:spPr>
          <a:xfrm>
            <a:off x="287941" y="5620926"/>
            <a:ext cx="4293673" cy="256346"/>
          </a:xfrm>
          <a:prstGeom prst="rect">
            <a:avLst/>
          </a:prstGeom>
          <a:solidFill>
            <a:schemeClr val="accent3">
              <a:lumMod val="40000"/>
              <a:lumOff val="60000"/>
              <a:alpha val="32157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ja-JP" altLang="en-US" sz="1200" b="1" dirty="0">
                <a:solidFill>
                  <a:srgbClr val="FF0000"/>
                </a:solidFill>
                <a:latin typeface="+mn-ea"/>
              </a:rPr>
              <a:t>技術</a:t>
            </a:r>
            <a:r>
              <a:rPr kumimoji="1" lang="ja-JP" altLang="en-US" sz="1200" b="1" dirty="0">
                <a:solidFill>
                  <a:srgbClr val="FF0000"/>
                </a:solidFill>
                <a:latin typeface="+mn-ea"/>
              </a:rPr>
              <a:t>部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0A2255E-8004-4710-A76E-D361EC761302}"/>
              </a:ext>
            </a:extLst>
          </p:cNvPr>
          <p:cNvSpPr/>
          <p:nvPr/>
        </p:nvSpPr>
        <p:spPr>
          <a:xfrm>
            <a:off x="3182988" y="5661248"/>
            <a:ext cx="216000" cy="144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EE955CC-D0BF-413D-AAC2-945335FAEB2B}"/>
              </a:ext>
            </a:extLst>
          </p:cNvPr>
          <p:cNvSpPr/>
          <p:nvPr/>
        </p:nvSpPr>
        <p:spPr>
          <a:xfrm>
            <a:off x="3934641" y="5661248"/>
            <a:ext cx="216000" cy="144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2D37D9A-63A1-4579-84D0-5FBDE58D403D}"/>
              </a:ext>
            </a:extLst>
          </p:cNvPr>
          <p:cNvSpPr/>
          <p:nvPr/>
        </p:nvSpPr>
        <p:spPr>
          <a:xfrm>
            <a:off x="2494481" y="5661248"/>
            <a:ext cx="216000" cy="144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0D16170-785F-457D-A477-B09FB078355B}"/>
              </a:ext>
            </a:extLst>
          </p:cNvPr>
          <p:cNvCxnSpPr/>
          <p:nvPr/>
        </p:nvCxnSpPr>
        <p:spPr>
          <a:xfrm>
            <a:off x="2596139" y="5805264"/>
            <a:ext cx="0" cy="28800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93E46FB-3E01-43B7-B68A-5492C79789CF}"/>
              </a:ext>
            </a:extLst>
          </p:cNvPr>
          <p:cNvCxnSpPr/>
          <p:nvPr/>
        </p:nvCxnSpPr>
        <p:spPr>
          <a:xfrm>
            <a:off x="3298872" y="5805264"/>
            <a:ext cx="0" cy="43200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A894F2D-ECD6-4438-91E6-C05660EF4C37}"/>
              </a:ext>
            </a:extLst>
          </p:cNvPr>
          <p:cNvCxnSpPr/>
          <p:nvPr/>
        </p:nvCxnSpPr>
        <p:spPr>
          <a:xfrm>
            <a:off x="4052405" y="5805264"/>
            <a:ext cx="0" cy="43200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FFD8180-67E2-4367-A2DC-719F18BC9C51}"/>
              </a:ext>
            </a:extLst>
          </p:cNvPr>
          <p:cNvCxnSpPr>
            <a:cxnSpLocks/>
          </p:cNvCxnSpPr>
          <p:nvPr/>
        </p:nvCxnSpPr>
        <p:spPr>
          <a:xfrm flipV="1">
            <a:off x="2709015" y="5363842"/>
            <a:ext cx="719400" cy="2826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568C2CC-1E59-4D88-B9C5-38E45C7F8764}"/>
              </a:ext>
            </a:extLst>
          </p:cNvPr>
          <p:cNvSpPr/>
          <p:nvPr/>
        </p:nvSpPr>
        <p:spPr>
          <a:xfrm>
            <a:off x="2280749" y="5157224"/>
            <a:ext cx="2376000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フローに現れない調整業務</a:t>
            </a:r>
            <a:endParaRPr lang="en-US" altLang="ja-JP" sz="1400" dirty="0">
              <a:solidFill>
                <a:srgbClr val="FF0000"/>
              </a:solidFill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34CC9F9-8104-4D6F-9618-F77FF7ECD550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290988" y="5374288"/>
            <a:ext cx="208781" cy="2869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6DBB249-6702-49C8-96D1-70611D6953E0}"/>
              </a:ext>
            </a:extLst>
          </p:cNvPr>
          <p:cNvCxnSpPr>
            <a:cxnSpLocks/>
          </p:cNvCxnSpPr>
          <p:nvPr/>
        </p:nvCxnSpPr>
        <p:spPr>
          <a:xfrm flipH="1" flipV="1">
            <a:off x="3541681" y="5374288"/>
            <a:ext cx="445698" cy="2722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8145078-CF10-44A1-9668-DA39E191DFE1}"/>
              </a:ext>
            </a:extLst>
          </p:cNvPr>
          <p:cNvSpPr/>
          <p:nvPr/>
        </p:nvSpPr>
        <p:spPr>
          <a:xfrm>
            <a:off x="230893" y="5114362"/>
            <a:ext cx="1440000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</a:rPr>
              <a:t>＜業務フロー＞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8D833C5-641F-4AFC-94D8-5F8A5D35715F}"/>
              </a:ext>
            </a:extLst>
          </p:cNvPr>
          <p:cNvSpPr/>
          <p:nvPr/>
        </p:nvSpPr>
        <p:spPr>
          <a:xfrm>
            <a:off x="2757793" y="4665375"/>
            <a:ext cx="719536" cy="252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年月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02AC073-5644-4763-90F1-E5CF529973D2}"/>
              </a:ext>
            </a:extLst>
          </p:cNvPr>
          <p:cNvSpPr/>
          <p:nvPr/>
        </p:nvSpPr>
        <p:spPr>
          <a:xfrm>
            <a:off x="55086" y="2913865"/>
            <a:ext cx="431254" cy="100811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合計工数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28545F6-0A2E-4A23-9885-04AA3A8DB7B6}"/>
              </a:ext>
            </a:extLst>
          </p:cNvPr>
          <p:cNvSpPr/>
          <p:nvPr/>
        </p:nvSpPr>
        <p:spPr>
          <a:xfrm>
            <a:off x="2933991" y="2998134"/>
            <a:ext cx="1710017" cy="57488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</a:rPr>
              <a:t>オーダ名：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「関電赤穂</a:t>
            </a:r>
            <a:r>
              <a:rPr lang="en-US" altLang="ja-JP" sz="1200" dirty="0">
                <a:solidFill>
                  <a:schemeClr val="tx1"/>
                </a:solidFill>
              </a:rPr>
              <a:t>PS1</a:t>
            </a:r>
            <a:r>
              <a:rPr lang="ja-JP" altLang="en-US" sz="1200" dirty="0">
                <a:solidFill>
                  <a:schemeClr val="tx1"/>
                </a:solidFill>
              </a:rPr>
              <a:t>号</a:t>
            </a:r>
            <a:r>
              <a:rPr lang="en-US" altLang="ja-JP" sz="1200" dirty="0">
                <a:solidFill>
                  <a:schemeClr val="tx1"/>
                </a:solidFill>
              </a:rPr>
              <a:t>/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再熱器出口管寄せ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貫通部伸縮継手購入」</a:t>
            </a:r>
            <a:endParaRPr lang="en-US" altLang="ja-JP" sz="1200" dirty="0">
              <a:solidFill>
                <a:schemeClr val="tx1"/>
              </a:solidFill>
            </a:endParaRPr>
          </a:p>
          <a:p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受注金額：</a:t>
            </a:r>
            <a:r>
              <a:rPr lang="en-US" altLang="ja-JP" sz="1200" dirty="0">
                <a:solidFill>
                  <a:schemeClr val="tx1"/>
                </a:solidFill>
              </a:rPr>
              <a:t>19.8</a:t>
            </a:r>
            <a:r>
              <a:rPr lang="ja-JP" altLang="en-US" sz="1200" dirty="0">
                <a:solidFill>
                  <a:schemeClr val="tx1"/>
                </a:solidFill>
              </a:rPr>
              <a:t>百万円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3" name="矢印: 上下 32">
            <a:extLst>
              <a:ext uri="{FF2B5EF4-FFF2-40B4-BE49-F238E27FC236}">
                <a16:creationId xmlns:a16="http://schemas.microsoft.com/office/drawing/2014/main" id="{841B62C6-F9FB-495A-8455-C4D9D4624E24}"/>
              </a:ext>
            </a:extLst>
          </p:cNvPr>
          <p:cNvSpPr/>
          <p:nvPr/>
        </p:nvSpPr>
        <p:spPr>
          <a:xfrm>
            <a:off x="2018131" y="4941200"/>
            <a:ext cx="216000" cy="288000"/>
          </a:xfrm>
          <a:prstGeom prst="upDownArrow">
            <a:avLst/>
          </a:prstGeom>
          <a:solidFill>
            <a:schemeClr val="bg2">
              <a:lumMod val="75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64A0E348-AE5C-42BB-A7B5-4E6ED9C01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394" y="5445224"/>
            <a:ext cx="2744014" cy="93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E230D70-DE28-4811-8C01-6EC36C4A7597}"/>
              </a:ext>
            </a:extLst>
          </p:cNvPr>
          <p:cNvSpPr/>
          <p:nvPr/>
        </p:nvSpPr>
        <p:spPr>
          <a:xfrm>
            <a:off x="5510580" y="5627412"/>
            <a:ext cx="2736000" cy="252000"/>
          </a:xfrm>
          <a:prstGeom prst="rect">
            <a:avLst/>
          </a:prstGeom>
          <a:solidFill>
            <a:schemeClr val="accent3">
              <a:lumMod val="40000"/>
              <a:lumOff val="60000"/>
              <a:alpha val="32157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ja-JP" altLang="en-US" sz="1200" b="1" dirty="0">
                <a:solidFill>
                  <a:srgbClr val="FF0000"/>
                </a:solidFill>
                <a:latin typeface="+mn-ea"/>
              </a:rPr>
              <a:t>技術</a:t>
            </a:r>
            <a:r>
              <a:rPr kumimoji="1" lang="ja-JP" altLang="en-US" sz="1200" b="1" dirty="0">
                <a:solidFill>
                  <a:srgbClr val="FF0000"/>
                </a:solidFill>
                <a:latin typeface="+mn-ea"/>
              </a:rPr>
              <a:t>部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CD25295-9181-46BA-B6C8-65072C3BD477}"/>
              </a:ext>
            </a:extLst>
          </p:cNvPr>
          <p:cNvSpPr/>
          <p:nvPr/>
        </p:nvSpPr>
        <p:spPr>
          <a:xfrm>
            <a:off x="7668368" y="5611500"/>
            <a:ext cx="216000" cy="144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18DBFBDE-9062-4EE4-AE71-D3606A32993A}"/>
              </a:ext>
            </a:extLst>
          </p:cNvPr>
          <p:cNvCxnSpPr/>
          <p:nvPr/>
        </p:nvCxnSpPr>
        <p:spPr>
          <a:xfrm>
            <a:off x="7770026" y="5755516"/>
            <a:ext cx="0" cy="28800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C4211E4-74CA-4685-A57E-9BDAD862882D}"/>
              </a:ext>
            </a:extLst>
          </p:cNvPr>
          <p:cNvSpPr/>
          <p:nvPr/>
        </p:nvSpPr>
        <p:spPr>
          <a:xfrm>
            <a:off x="6804512" y="5157224"/>
            <a:ext cx="2376000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フローに現れない調整業務</a:t>
            </a:r>
            <a:endParaRPr lang="en-US" altLang="ja-JP" sz="1400" dirty="0">
              <a:solidFill>
                <a:srgbClr val="FF0000"/>
              </a:solidFill>
            </a:endParaRP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CFCC46F-6B77-4FD9-BE24-B671D4CAB18A}"/>
              </a:ext>
            </a:extLst>
          </p:cNvPr>
          <p:cNvCxnSpPr>
            <a:cxnSpLocks/>
          </p:cNvCxnSpPr>
          <p:nvPr/>
        </p:nvCxnSpPr>
        <p:spPr>
          <a:xfrm flipV="1">
            <a:off x="7770026" y="5402362"/>
            <a:ext cx="114342" cy="209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7E039CB-5E13-4EFB-A183-8A1346F8F1DB}"/>
              </a:ext>
            </a:extLst>
          </p:cNvPr>
          <p:cNvSpPr/>
          <p:nvPr/>
        </p:nvSpPr>
        <p:spPr>
          <a:xfrm>
            <a:off x="7440490" y="2708920"/>
            <a:ext cx="1710017" cy="8570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</a:rPr>
              <a:t>オーダ名：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「常盤共火勿来</a:t>
            </a:r>
            <a:r>
              <a:rPr lang="en-US" altLang="ja-JP" sz="1200" dirty="0">
                <a:solidFill>
                  <a:schemeClr val="tx1"/>
                </a:solidFill>
              </a:rPr>
              <a:t>7</a:t>
            </a:r>
            <a:r>
              <a:rPr lang="ja-JP" altLang="en-US" sz="1200" dirty="0">
                <a:solidFill>
                  <a:schemeClr val="tx1"/>
                </a:solidFill>
              </a:rPr>
              <a:t>号</a:t>
            </a:r>
            <a:r>
              <a:rPr lang="en-US" altLang="ja-JP" sz="1200" dirty="0">
                <a:solidFill>
                  <a:schemeClr val="tx1"/>
                </a:solidFill>
              </a:rPr>
              <a:t>./</a:t>
            </a:r>
            <a:r>
              <a:rPr lang="ja-JP" altLang="en-US" sz="1200" dirty="0">
                <a:solidFill>
                  <a:schemeClr val="tx1"/>
                </a:solidFill>
              </a:rPr>
              <a:t>バーナー部品」</a:t>
            </a:r>
            <a:br>
              <a:rPr lang="en-US" altLang="ja-JP" sz="1200" dirty="0">
                <a:solidFill>
                  <a:schemeClr val="tx1"/>
                </a:solidFill>
              </a:rPr>
            </a:b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受注金額：</a:t>
            </a:r>
            <a:r>
              <a:rPr lang="en-US" altLang="ja-JP" sz="1200" dirty="0">
                <a:solidFill>
                  <a:schemeClr val="tx1"/>
                </a:solidFill>
              </a:rPr>
              <a:t>34.1</a:t>
            </a:r>
            <a:r>
              <a:rPr lang="ja-JP" altLang="en-US" sz="1200" dirty="0">
                <a:solidFill>
                  <a:schemeClr val="tx1"/>
                </a:solidFill>
              </a:rPr>
              <a:t>百万円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47" name="矢印: 上下 46">
            <a:extLst>
              <a:ext uri="{FF2B5EF4-FFF2-40B4-BE49-F238E27FC236}">
                <a16:creationId xmlns:a16="http://schemas.microsoft.com/office/drawing/2014/main" id="{B7EEDD6F-6059-4AC2-A05C-842FC68AFA4A}"/>
              </a:ext>
            </a:extLst>
          </p:cNvPr>
          <p:cNvSpPr/>
          <p:nvPr/>
        </p:nvSpPr>
        <p:spPr>
          <a:xfrm>
            <a:off x="6858432" y="4941200"/>
            <a:ext cx="216000" cy="288000"/>
          </a:xfrm>
          <a:prstGeom prst="upDownArrow">
            <a:avLst/>
          </a:prstGeom>
          <a:solidFill>
            <a:schemeClr val="bg2">
              <a:lumMod val="75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EBC917D-CF1B-439F-86FD-0D4DA212B881}"/>
              </a:ext>
            </a:extLst>
          </p:cNvPr>
          <p:cNvSpPr/>
          <p:nvPr/>
        </p:nvSpPr>
        <p:spPr>
          <a:xfrm>
            <a:off x="8006741" y="4753433"/>
            <a:ext cx="719536" cy="252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年月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3DC6306-E902-450C-9BE8-5E90562BDDD1}"/>
              </a:ext>
            </a:extLst>
          </p:cNvPr>
          <p:cNvSpPr/>
          <p:nvPr/>
        </p:nvSpPr>
        <p:spPr>
          <a:xfrm>
            <a:off x="5195398" y="2982011"/>
            <a:ext cx="431254" cy="100811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合計工数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5D10748A-0FE0-4BB9-8B6E-1B0EB82D1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68" y="2738783"/>
            <a:ext cx="638264" cy="1047896"/>
          </a:xfrm>
          <a:prstGeom prst="rect">
            <a:avLst/>
          </a:prstGeom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8D658A1-3C96-4DA3-951C-B133E7F6B8A4}"/>
              </a:ext>
            </a:extLst>
          </p:cNvPr>
          <p:cNvCxnSpPr/>
          <p:nvPr/>
        </p:nvCxnSpPr>
        <p:spPr>
          <a:xfrm>
            <a:off x="604442" y="3820199"/>
            <a:ext cx="648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B375BE5-E55D-4E8A-8A6A-C115F6FFB98C}"/>
              </a:ext>
            </a:extLst>
          </p:cNvPr>
          <p:cNvSpPr/>
          <p:nvPr/>
        </p:nvSpPr>
        <p:spPr>
          <a:xfrm>
            <a:off x="5257790" y="2050909"/>
            <a:ext cx="3755444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</a:rPr>
              <a:t>部ごと工数推移（部品内製＋現地工事なし）　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0ECF179-280A-471C-9087-82ACF9A1EF0C}"/>
              </a:ext>
            </a:extLst>
          </p:cNvPr>
          <p:cNvSpPr/>
          <p:nvPr/>
        </p:nvSpPr>
        <p:spPr>
          <a:xfrm>
            <a:off x="15140" y="2450783"/>
            <a:ext cx="545601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120h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7A9603A-330C-49DC-ABB6-569BD5F231B1}"/>
              </a:ext>
            </a:extLst>
          </p:cNvPr>
          <p:cNvCxnSpPr/>
          <p:nvPr/>
        </p:nvCxnSpPr>
        <p:spPr>
          <a:xfrm>
            <a:off x="486340" y="2600936"/>
            <a:ext cx="2696648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BC6B24B-6700-4490-B0D6-88006A70DE94}"/>
              </a:ext>
            </a:extLst>
          </p:cNvPr>
          <p:cNvSpPr/>
          <p:nvPr/>
        </p:nvSpPr>
        <p:spPr>
          <a:xfrm>
            <a:off x="5195398" y="2384912"/>
            <a:ext cx="528730" cy="288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40h</a:t>
            </a: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5110D644-5FC0-4CF5-AB4D-A57F532F2D91}"/>
              </a:ext>
            </a:extLst>
          </p:cNvPr>
          <p:cNvCxnSpPr/>
          <p:nvPr/>
        </p:nvCxnSpPr>
        <p:spPr>
          <a:xfrm>
            <a:off x="5580112" y="2528928"/>
            <a:ext cx="2696648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50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4">
            <a:extLst>
              <a:ext uri="{FF2B5EF4-FFF2-40B4-BE49-F238E27FC236}">
                <a16:creationId xmlns:a16="http://schemas.microsoft.com/office/drawing/2014/main" id="{0032E6D5-3DD9-404A-0B8F-12CF6602C31D}"/>
              </a:ext>
            </a:extLst>
          </p:cNvPr>
          <p:cNvSpPr txBox="1">
            <a:spLocks/>
          </p:cNvSpPr>
          <p:nvPr/>
        </p:nvSpPr>
        <p:spPr>
          <a:xfrm>
            <a:off x="248234" y="135110"/>
            <a:ext cx="7439508" cy="34996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srgbClr val="000000"/>
                </a:solidFill>
                <a:latin typeface="Arial"/>
                <a:ea typeface="メイリオ"/>
              </a:rPr>
              <a:t>４－２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j-cs"/>
              </a:rPr>
              <a:t>．②引合費実績のダッシュボード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j-cs"/>
              </a:rPr>
              <a:t>1/2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212C9DA-3337-BC71-07D2-183D2117C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05" y="692696"/>
            <a:ext cx="8437368" cy="568863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673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4">
            <a:extLst>
              <a:ext uri="{FF2B5EF4-FFF2-40B4-BE49-F238E27FC236}">
                <a16:creationId xmlns:a16="http://schemas.microsoft.com/office/drawing/2014/main" id="{0032E6D5-3DD9-404A-0B8F-12CF6602C31D}"/>
              </a:ext>
            </a:extLst>
          </p:cNvPr>
          <p:cNvSpPr txBox="1">
            <a:spLocks/>
          </p:cNvSpPr>
          <p:nvPr/>
        </p:nvSpPr>
        <p:spPr>
          <a:xfrm>
            <a:off x="248234" y="135110"/>
            <a:ext cx="7439508" cy="34996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srgbClr val="000000"/>
                </a:solidFill>
                <a:latin typeface="Arial"/>
                <a:ea typeface="メイリオ"/>
              </a:rPr>
              <a:t>４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j-cs"/>
              </a:rPr>
              <a:t>－２．②引合費実績のダッシュボード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j-cs"/>
              </a:rPr>
              <a:t>2/2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BF942E-736D-E113-A58D-DB59D915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7488832" cy="568239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898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224B88C-7640-D702-C0C3-A347B2B2F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76" y="662610"/>
            <a:ext cx="7254869" cy="6134632"/>
          </a:xfrm>
          <a:prstGeom prst="rect">
            <a:avLst/>
          </a:prstGeom>
        </p:spPr>
      </p:pic>
      <p:sp>
        <p:nvSpPr>
          <p:cNvPr id="11" name="タイトル 4">
            <a:extLst>
              <a:ext uri="{FF2B5EF4-FFF2-40B4-BE49-F238E27FC236}">
                <a16:creationId xmlns:a16="http://schemas.microsoft.com/office/drawing/2014/main" id="{0032E6D5-3DD9-404A-0B8F-12CF6602C31D}"/>
              </a:ext>
            </a:extLst>
          </p:cNvPr>
          <p:cNvSpPr txBox="1">
            <a:spLocks/>
          </p:cNvSpPr>
          <p:nvPr/>
        </p:nvSpPr>
        <p:spPr>
          <a:xfrm>
            <a:off x="248234" y="135110"/>
            <a:ext cx="7439508" cy="34996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srgbClr val="000000"/>
                </a:solidFill>
                <a:latin typeface="Arial"/>
                <a:ea typeface="メイリオ"/>
              </a:rPr>
              <a:t>４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j-cs"/>
              </a:rPr>
              <a:t>－２．④直接作業比率のダッシュボード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j-cs"/>
              </a:rPr>
              <a:t>(2/2)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747278C-B186-46E3-32DC-32E3ABE3F156}"/>
              </a:ext>
            </a:extLst>
          </p:cNvPr>
          <p:cNvSpPr/>
          <p:nvPr/>
        </p:nvSpPr>
        <p:spPr>
          <a:xfrm>
            <a:off x="4031940" y="5661248"/>
            <a:ext cx="1080120" cy="262053"/>
          </a:xfrm>
          <a:prstGeom prst="roundRect">
            <a:avLst/>
          </a:prstGeom>
          <a:solidFill>
            <a:srgbClr val="FFFF00"/>
          </a:solidFill>
          <a:ln w="952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ysClr val="windowText" lastClr="000000"/>
                </a:solidFill>
                <a:latin typeface="+mn-ea"/>
              </a:rPr>
              <a:t>月別推移</a:t>
            </a:r>
            <a:endParaRPr kumimoji="1" lang="en-US" altLang="ja-JP" sz="1200" b="1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7336889"/>
      </p:ext>
    </p:extLst>
  </p:cSld>
  <p:clrMapOvr>
    <a:masterClrMapping/>
  </p:clrMapOvr>
</p:sld>
</file>

<file path=ppt/theme/theme1.xml><?xml version="1.0" encoding="utf-8"?>
<a:theme xmlns:a="http://schemas.openxmlformats.org/drawingml/2006/main" name="MHI PPT 4:3_単独会社用">
  <a:themeElements>
    <a:clrScheme name="MHI">
      <a:dk1>
        <a:srgbClr val="000000"/>
      </a:dk1>
      <a:lt1>
        <a:srgbClr val="FFFFFF"/>
      </a:lt1>
      <a:dk2>
        <a:srgbClr val="567783"/>
      </a:dk2>
      <a:lt2>
        <a:srgbClr val="82A0AA"/>
      </a:lt2>
      <a:accent1>
        <a:srgbClr val="223F4B"/>
      </a:accent1>
      <a:accent2>
        <a:srgbClr val="006487"/>
      </a:accent2>
      <a:accent3>
        <a:srgbClr val="DC6914"/>
      </a:accent3>
      <a:accent4>
        <a:srgbClr val="647D2D"/>
      </a:accent4>
      <a:accent5>
        <a:srgbClr val="E31F26"/>
      </a:accent5>
      <a:accent6>
        <a:srgbClr val="6E1E4B"/>
      </a:accent6>
      <a:hlink>
        <a:srgbClr val="000000"/>
      </a:hlink>
      <a:folHlink>
        <a:srgbClr val="000000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9525" cmpd="sng">
          <a:solidFill>
            <a:schemeClr val="accent1"/>
          </a:solidFill>
        </a:ln>
      </a:spPr>
      <a:bodyPr rtlCol="0" anchor="ctr"/>
      <a:lstStyle>
        <a:defPPr algn="l">
          <a:defRPr sz="1200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I_ppt_color" id="{8714110F-2F40-4E20-B9EF-82653DE22CAC}" vid="{2E728569-002A-49DD-A6AB-1E30B9D445FA}"/>
    </a:ext>
  </a:extLst>
</a:theme>
</file>

<file path=ppt/theme/theme2.xml><?xml version="1.0" encoding="utf-8"?>
<a:theme xmlns:a="http://schemas.openxmlformats.org/drawingml/2006/main" name="3_MHI_ppt_color">
  <a:themeElements>
    <a:clrScheme name="mitsubishi_hi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3144"/>
      </a:accent1>
      <a:accent2>
        <a:srgbClr val="82A0AA"/>
      </a:accent2>
      <a:accent3>
        <a:srgbClr val="CDA11B"/>
      </a:accent3>
      <a:accent4>
        <a:srgbClr val="2B5831"/>
      </a:accent4>
      <a:accent5>
        <a:srgbClr val="E31F26"/>
      </a:accent5>
      <a:accent6>
        <a:srgbClr val="502D69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90000"/>
            <a:lumOff val="10000"/>
          </a:schemeClr>
        </a:solidFill>
        <a:ln>
          <a:noFill/>
        </a:ln>
      </a:spPr>
      <a:bodyPr rtlCol="0" anchor="ctr"/>
      <a:lstStyle>
        <a:defPPr algn="ctr">
          <a:defRPr kumimoji="1" sz="1600" b="1" dirty="0" smtClean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HI_ppt_color" id="{8714110F-2F40-4E20-B9EF-82653DE22CAC}" vid="{2E728569-002A-49DD-A6AB-1E30B9D445F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940f77-d365-459b-bf39-a7ce20e2f4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674434C8CD87942B621FE3F405220AB" ma:contentTypeVersion="18" ma:contentTypeDescription="新しいドキュメントを作成します。" ma:contentTypeScope="" ma:versionID="2579ad3b725bf88e1e7d97d794197cbd">
  <xsd:schema xmlns:xsd="http://www.w3.org/2001/XMLSchema" xmlns:xs="http://www.w3.org/2001/XMLSchema" xmlns:p="http://schemas.microsoft.com/office/2006/metadata/properties" xmlns:ns3="4be3366d-21a3-4603-8428-6e96dbf00bff" xmlns:ns4="f9940f77-d365-459b-bf39-a7ce20e2f4c1" targetNamespace="http://schemas.microsoft.com/office/2006/metadata/properties" ma:root="true" ma:fieldsID="36dfe823dcd705952f016c8dfdb38475" ns3:_="" ns4:_="">
    <xsd:import namespace="4be3366d-21a3-4603-8428-6e96dbf00bff"/>
    <xsd:import namespace="f9940f77-d365-459b-bf39-a7ce20e2f4c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e3366d-21a3-4603-8428-6e96dbf00b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共有のヒントのハッシュ" ma:internalName="SharingHintHash" ma:readOnly="true">
      <xsd:simpleType>
        <xsd:restriction base="dms:Text"/>
      </xsd:simpleType>
    </xsd:element>
    <xsd:element name="SharedWithDetails" ma:index="10" nillable="true" ma:displayName="共有相手の詳細情報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940f77-d365-459b-bf39-a7ce20e2f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1A80E4-DCF6-4CD4-809A-29EF4C67AE54}">
  <ds:schemaRefs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f9940f77-d365-459b-bf39-a7ce20e2f4c1"/>
    <ds:schemaRef ds:uri="4be3366d-21a3-4603-8428-6e96dbf00bf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33AFEC4-F9FD-4611-B9EC-A58A56EE7F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e3366d-21a3-4603-8428-6e96dbf00bff"/>
    <ds:schemaRef ds:uri="f9940f77-d365-459b-bf39-a7ce20e2f4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EEF13C-56DD-4EB2-8749-EF3B745016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</Words>
  <Application>Microsoft Macintosh PowerPoint</Application>
  <PresentationFormat>On-screen Show (4:3)</PresentationFormat>
  <Paragraphs>57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メイリオ</vt:lpstr>
      <vt:lpstr>游ゴシック</vt:lpstr>
      <vt:lpstr>Arial</vt:lpstr>
      <vt:lpstr>Calibri</vt:lpstr>
      <vt:lpstr>MHI PPT 4:3_単独会社用</vt:lpstr>
      <vt:lpstr>3_MHI_ppt_color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WPプロジェクト</dc:title>
  <dc:creator/>
  <cp:lastModifiedBy/>
  <cp:revision>28</cp:revision>
  <dcterms:created xsi:type="dcterms:W3CDTF">2023-12-19T23:18:23Z</dcterms:created>
  <dcterms:modified xsi:type="dcterms:W3CDTF">2025-07-30T05:53:51Z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0x0101009674434C8CD87942B621FE3F405220AB</vt:lpwstr>
  </property>
</Properties>
</file>