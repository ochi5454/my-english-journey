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4.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5.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6.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7.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8.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9.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10.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11.xml" ContentType="application/vnd.openxmlformats-officedocument.theme+xml"/>
  <Override PartName="/ppt/tags/tag1.xml" ContentType="application/vnd.openxmlformats-officedocument.presentationml.tags+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12.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13.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14.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99" r:id="rId4"/>
    <p:sldMasterId id="2147483971" r:id="rId5"/>
    <p:sldMasterId id="2147483975" r:id="rId6"/>
    <p:sldMasterId id="2147483989" r:id="rId7"/>
    <p:sldMasterId id="2147484001" r:id="rId8"/>
    <p:sldMasterId id="2147483962" r:id="rId9"/>
    <p:sldMasterId id="2147483908" r:id="rId10"/>
    <p:sldMasterId id="2147483852" r:id="rId11"/>
    <p:sldMasterId id="2147484021" r:id="rId12"/>
    <p:sldMasterId id="2147484028" r:id="rId13"/>
    <p:sldMasterId id="2147484039" r:id="rId14"/>
    <p:sldMasterId id="2147484054" r:id="rId15"/>
    <p:sldMasterId id="2147484058" r:id="rId16"/>
    <p:sldMasterId id="2147484063" r:id="rId17"/>
    <p:sldMasterId id="2147484070" r:id="rId18"/>
  </p:sldMasterIdLst>
  <p:notesMasterIdLst>
    <p:notesMasterId r:id="rId46"/>
  </p:notesMasterIdLst>
  <p:handoutMasterIdLst>
    <p:handoutMasterId r:id="rId47"/>
  </p:handoutMasterIdLst>
  <p:sldIdLst>
    <p:sldId id="288" r:id="rId19"/>
    <p:sldId id="2147474179" r:id="rId20"/>
    <p:sldId id="2147474304" r:id="rId21"/>
    <p:sldId id="2147474305" r:id="rId22"/>
    <p:sldId id="2147474302" r:id="rId23"/>
    <p:sldId id="2147474303" r:id="rId24"/>
    <p:sldId id="2147474306" r:id="rId25"/>
    <p:sldId id="2147474008" r:id="rId26"/>
    <p:sldId id="2147474006" r:id="rId27"/>
    <p:sldId id="2147474307" r:id="rId28"/>
    <p:sldId id="2147474180" r:id="rId29"/>
    <p:sldId id="2147474189" r:id="rId30"/>
    <p:sldId id="2147474198" r:id="rId31"/>
    <p:sldId id="2147473986" r:id="rId32"/>
    <p:sldId id="2147472305" r:id="rId33"/>
    <p:sldId id="2147472323" r:id="rId34"/>
    <p:sldId id="2147472324" r:id="rId35"/>
    <p:sldId id="2147472325" r:id="rId36"/>
    <p:sldId id="2147474181" r:id="rId37"/>
    <p:sldId id="2147474308" r:id="rId38"/>
    <p:sldId id="2147473984" r:id="rId39"/>
    <p:sldId id="2147474182" r:id="rId40"/>
    <p:sldId id="2147474183" r:id="rId41"/>
    <p:sldId id="2147474184" r:id="rId42"/>
    <p:sldId id="2147473981" r:id="rId43"/>
    <p:sldId id="282" r:id="rId44"/>
    <p:sldId id="2147474005" r:id="rId4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成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FF00"/>
        </p14:laserClr>
      </p:ext>
      <p:ext uri="{2FDB2607-1784-4EEB-B798-7EB5836EED8A}">
        <p14:showMediaCtrls xmlns:p14="http://schemas.microsoft.com/office/powerpoint/2010/main" val="1"/>
      </p:ext>
    </p:extLst>
  </p:showPr>
  <p:clrMru>
    <a:srgbClr val="E6FEEC"/>
    <a:srgbClr val="FFF2CC"/>
    <a:srgbClr val="DEE5F2"/>
    <a:srgbClr val="CBD2DD"/>
    <a:srgbClr val="FFE697"/>
    <a:srgbClr val="DFF2FF"/>
    <a:srgbClr val="FDD7F7"/>
    <a:srgbClr val="CFDAE2"/>
    <a:srgbClr val="005B9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6C9775-01FC-4C82-8E6D-4CBCB397A2D1}" v="2" dt="2024-04-12T03:55:01.716"/>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422" autoAdjust="0"/>
    <p:restoredTop sz="96048" autoAdjust="0"/>
  </p:normalViewPr>
  <p:slideViewPr>
    <p:cSldViewPr snapToGrid="0">
      <p:cViewPr varScale="1">
        <p:scale>
          <a:sx n="99" d="100"/>
          <a:sy n="99" d="100"/>
        </p:scale>
        <p:origin x="88" y="10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Master" Target="slideMasters/slideMaster15.xml"/><Relationship Id="rId26" Type="http://schemas.openxmlformats.org/officeDocument/2006/relationships/slide" Target="slides/slide8.xml"/><Relationship Id="rId39" Type="http://schemas.openxmlformats.org/officeDocument/2006/relationships/slide" Target="slides/slide21.xml"/><Relationship Id="rId21" Type="http://schemas.openxmlformats.org/officeDocument/2006/relationships/slide" Target="slides/slide3.xml"/><Relationship Id="rId34" Type="http://schemas.openxmlformats.org/officeDocument/2006/relationships/slide" Target="slides/slide16.xml"/><Relationship Id="rId42" Type="http://schemas.openxmlformats.org/officeDocument/2006/relationships/slide" Target="slides/slide24.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Master" Target="slideMasters/slideMaster13.xml"/><Relationship Id="rId29" Type="http://schemas.openxmlformats.org/officeDocument/2006/relationships/slide" Target="slides/slide11.xml"/><Relationship Id="rId11" Type="http://schemas.openxmlformats.org/officeDocument/2006/relationships/slideMaster" Target="slideMasters/slideMaster8.xml"/><Relationship Id="rId24" Type="http://schemas.openxmlformats.org/officeDocument/2006/relationships/slide" Target="slides/slide6.xml"/><Relationship Id="rId32" Type="http://schemas.openxmlformats.org/officeDocument/2006/relationships/slide" Target="slides/slide14.xml"/><Relationship Id="rId37" Type="http://schemas.openxmlformats.org/officeDocument/2006/relationships/slide" Target="slides/slide19.xml"/><Relationship Id="rId40" Type="http://schemas.openxmlformats.org/officeDocument/2006/relationships/slide" Target="slides/slide22.xml"/><Relationship Id="rId45" Type="http://schemas.openxmlformats.org/officeDocument/2006/relationships/slide" Target="slides/slide27.xml"/><Relationship Id="rId53" Type="http://schemas.microsoft.com/office/2016/11/relationships/changesInfo" Target="changesInfos/changesInfo1.xml"/><Relationship Id="rId5" Type="http://schemas.openxmlformats.org/officeDocument/2006/relationships/slideMaster" Target="slideMasters/slideMaster2.xml"/><Relationship Id="rId10" Type="http://schemas.openxmlformats.org/officeDocument/2006/relationships/slideMaster" Target="slideMasters/slideMaster7.xml"/><Relationship Id="rId19" Type="http://schemas.openxmlformats.org/officeDocument/2006/relationships/slide" Target="slides/slide1.xml"/><Relationship Id="rId31" Type="http://schemas.openxmlformats.org/officeDocument/2006/relationships/slide" Target="slides/slide13.xml"/><Relationship Id="rId44" Type="http://schemas.openxmlformats.org/officeDocument/2006/relationships/slide" Target="slides/slide26.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4.xml"/><Relationship Id="rId27" Type="http://schemas.openxmlformats.org/officeDocument/2006/relationships/slide" Target="slides/slide9.xml"/><Relationship Id="rId30" Type="http://schemas.openxmlformats.org/officeDocument/2006/relationships/slide" Target="slides/slide12.xml"/><Relationship Id="rId35" Type="http://schemas.openxmlformats.org/officeDocument/2006/relationships/slide" Target="slides/slide17.xml"/><Relationship Id="rId43" Type="http://schemas.openxmlformats.org/officeDocument/2006/relationships/slide" Target="slides/slide25.xml"/><Relationship Id="rId48" Type="http://schemas.openxmlformats.org/officeDocument/2006/relationships/commentAuthors" Target="commentAuthors.xml"/><Relationship Id="rId8" Type="http://schemas.openxmlformats.org/officeDocument/2006/relationships/slideMaster" Target="slideMasters/slideMaster5.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7.xml"/><Relationship Id="rId33" Type="http://schemas.openxmlformats.org/officeDocument/2006/relationships/slide" Target="slides/slide15.xml"/><Relationship Id="rId38" Type="http://schemas.openxmlformats.org/officeDocument/2006/relationships/slide" Target="slides/slide20.xml"/><Relationship Id="rId46" Type="http://schemas.openxmlformats.org/officeDocument/2006/relationships/notesMaster" Target="notesMasters/notesMaster1.xml"/><Relationship Id="rId20" Type="http://schemas.openxmlformats.org/officeDocument/2006/relationships/slide" Target="slides/slide2.xml"/><Relationship Id="rId41" Type="http://schemas.openxmlformats.org/officeDocument/2006/relationships/slide" Target="slides/slide23.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Master" Target="slideMasters/slideMaster12.xml"/><Relationship Id="rId23" Type="http://schemas.openxmlformats.org/officeDocument/2006/relationships/slide" Target="slides/slide5.xml"/><Relationship Id="rId28" Type="http://schemas.openxmlformats.org/officeDocument/2006/relationships/slide" Target="slides/slide10.xml"/><Relationship Id="rId36" Type="http://schemas.openxmlformats.org/officeDocument/2006/relationships/slide" Target="slides/slide18.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1 山本 周平/Yamamoto, Shuhei (NTT DATA)" userId="c28436aa-2040-4f21-aa7b-8e5f2bedb523" providerId="ADAL" clId="{926C9775-01FC-4C82-8E6D-4CBCB397A2D1}"/>
    <pc:docChg chg="modSld">
      <pc:chgData name="IS1 山本 周平/Yamamoto, Shuhei (NTT DATA)" userId="c28436aa-2040-4f21-aa7b-8e5f2bedb523" providerId="ADAL" clId="{926C9775-01FC-4C82-8E6D-4CBCB397A2D1}" dt="2024-04-12T03:55:10.532" v="198" actId="20577"/>
      <pc:docMkLst>
        <pc:docMk/>
      </pc:docMkLst>
      <pc:sldChg chg="addSp modSp mod">
        <pc:chgData name="IS1 山本 周平/Yamamoto, Shuhei (NTT DATA)" userId="c28436aa-2040-4f21-aa7b-8e5f2bedb523" providerId="ADAL" clId="{926C9775-01FC-4C82-8E6D-4CBCB397A2D1}" dt="2024-04-12T03:55:10.532" v="198" actId="20577"/>
        <pc:sldMkLst>
          <pc:docMk/>
          <pc:sldMk cId="4197723831" sldId="2147474302"/>
        </pc:sldMkLst>
        <pc:spChg chg="add mod">
          <ac:chgData name="IS1 山本 周平/Yamamoto, Shuhei (NTT DATA)" userId="c28436aa-2040-4f21-aa7b-8e5f2bedb523" providerId="ADAL" clId="{926C9775-01FC-4C82-8E6D-4CBCB397A2D1}" dt="2024-04-12T03:38:59.502" v="124" actId="20577"/>
          <ac:spMkLst>
            <pc:docMk/>
            <pc:sldMk cId="4197723831" sldId="2147474302"/>
            <ac:spMk id="7" creationId="{30F7AD60-91C7-91B7-8D43-40048BD1C836}"/>
          </ac:spMkLst>
        </pc:spChg>
        <pc:spChg chg="add mod">
          <ac:chgData name="IS1 山本 周平/Yamamoto, Shuhei (NTT DATA)" userId="c28436aa-2040-4f21-aa7b-8e5f2bedb523" providerId="ADAL" clId="{926C9775-01FC-4C82-8E6D-4CBCB397A2D1}" dt="2024-04-12T03:43:34.045" v="177" actId="6549"/>
          <ac:spMkLst>
            <pc:docMk/>
            <pc:sldMk cId="4197723831" sldId="2147474302"/>
            <ac:spMk id="10" creationId="{D4E747A4-E9C5-026E-9CC8-41AAE2AEFDC9}"/>
          </ac:spMkLst>
        </pc:spChg>
        <pc:spChg chg="add mod">
          <ac:chgData name="IS1 山本 周平/Yamamoto, Shuhei (NTT DATA)" userId="c28436aa-2040-4f21-aa7b-8e5f2bedb523" providerId="ADAL" clId="{926C9775-01FC-4C82-8E6D-4CBCB397A2D1}" dt="2024-04-12T03:55:10.532" v="198" actId="20577"/>
          <ac:spMkLst>
            <pc:docMk/>
            <pc:sldMk cId="4197723831" sldId="2147474302"/>
            <ac:spMk id="17" creationId="{88097B7D-98E7-006A-43AA-450A3FE4176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latin typeface="+mn-ea"/>
            </a:endParaRPr>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7BDCB57-7B26-864A-85AB-1FE6E8A71097}" type="datetimeFigureOut">
              <a:rPr kumimoji="1" lang="ja-JP" altLang="en-US" smtClean="0">
                <a:latin typeface="+mn-ea"/>
              </a:rPr>
              <a:t>2024/4/12</a:t>
            </a:fld>
            <a:endParaRPr kumimoji="1" lang="ja-JP" altLang="en-US">
              <a:latin typeface="+mn-ea"/>
            </a:endParaRPr>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latin typeface="+mn-ea"/>
            </a:endParaRPr>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741B73B-8F91-6845-8B45-1448A7A46D6E}" type="slidenum">
              <a:rPr kumimoji="1" lang="ja-JP" altLang="en-US" smtClean="0">
                <a:latin typeface="+mn-ea"/>
              </a:rPr>
              <a:t>‹#›</a:t>
            </a:fld>
            <a:endParaRPr kumimoji="1" lang="ja-JP" altLang="en-US">
              <a:latin typeface="+mn-ea"/>
            </a:endParaRPr>
          </a:p>
        </p:txBody>
      </p:sp>
    </p:spTree>
    <p:extLst>
      <p:ext uri="{BB962C8B-B14F-4D97-AF65-F5344CB8AC3E}">
        <p14:creationId xmlns:p14="http://schemas.microsoft.com/office/powerpoint/2010/main" val="177408550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7B8588-1665-0A4A-AD47-68FFFFC620D1}" type="datetimeFigureOut">
              <a:rPr kumimoji="1" lang="ja-JP" altLang="en-US" smtClean="0"/>
              <a:t>2024/4/12</a:t>
            </a:fld>
            <a:endParaRPr kumimoji="1" lang="ja-JP" altLang="en-US"/>
          </a:p>
        </p:txBody>
      </p:sp>
      <p:sp>
        <p:nvSpPr>
          <p:cNvPr id="4" name="スライド イメージ プレースホルダー 3"/>
          <p:cNvSpPr>
            <a:spLocks noGrp="1" noRot="1" noChangeAspect="1"/>
          </p:cNvSpPr>
          <p:nvPr>
            <p:ph type="sldImg" idx="2"/>
          </p:nvPr>
        </p:nvSpPr>
        <p:spPr>
          <a:xfrm>
            <a:off x="685800" y="630237"/>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3887785"/>
            <a:ext cx="5486400" cy="4625977"/>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9AAED7-EB68-B44B-A29A-E9CFE7A1147D}" type="slidenum">
              <a:rPr kumimoji="1" lang="ja-JP" altLang="en-US" smtClean="0"/>
              <a:t>‹#›</a:t>
            </a:fld>
            <a:endParaRPr kumimoji="1" lang="ja-JP" altLang="en-US"/>
          </a:p>
        </p:txBody>
      </p:sp>
    </p:spTree>
    <p:extLst>
      <p:ext uri="{BB962C8B-B14F-4D97-AF65-F5344CB8AC3E}">
        <p14:creationId xmlns:p14="http://schemas.microsoft.com/office/powerpoint/2010/main" val="24139408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mn-ea"/>
        <a:ea typeface="+mn-ea"/>
        <a:cs typeface="+mn-cs"/>
      </a:defRPr>
    </a:lvl1pPr>
    <a:lvl2pPr marL="457200" algn="l" defTabSz="914400" rtl="0" eaLnBrk="1" latinLnBrk="0" hangingPunct="1">
      <a:defRPr kumimoji="1" sz="1200" kern="1200">
        <a:solidFill>
          <a:schemeClr val="tx1"/>
        </a:solidFill>
        <a:latin typeface="+mn-ea"/>
        <a:ea typeface="+mn-ea"/>
        <a:cs typeface="+mn-cs"/>
      </a:defRPr>
    </a:lvl2pPr>
    <a:lvl3pPr marL="914400" algn="l" defTabSz="914400" rtl="0" eaLnBrk="1" latinLnBrk="0" hangingPunct="1">
      <a:defRPr kumimoji="1" sz="1200" kern="1200">
        <a:solidFill>
          <a:schemeClr val="tx1"/>
        </a:solidFill>
        <a:latin typeface="+mn-ea"/>
        <a:ea typeface="+mn-ea"/>
        <a:cs typeface="+mn-cs"/>
      </a:defRPr>
    </a:lvl3pPr>
    <a:lvl4pPr marL="1371600" algn="l" defTabSz="914400" rtl="0" eaLnBrk="1" latinLnBrk="0" hangingPunct="1">
      <a:defRPr kumimoji="1" sz="1200" kern="1200">
        <a:solidFill>
          <a:schemeClr val="tx1"/>
        </a:solidFill>
        <a:latin typeface="+mn-ea"/>
        <a:ea typeface="+mn-ea"/>
        <a:cs typeface="+mn-cs"/>
      </a:defRPr>
    </a:lvl4pPr>
    <a:lvl5pPr marL="1828800" algn="l" defTabSz="914400" rtl="0" eaLnBrk="1" latinLnBrk="0" hangingPunct="1">
      <a:defRPr kumimoji="1" sz="1200" kern="1200">
        <a:solidFill>
          <a:schemeClr val="tx1"/>
        </a:solidFill>
        <a:latin typeface="+mn-ea"/>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jpeg"/><Relationship Id="rId1" Type="http://schemas.openxmlformats.org/officeDocument/2006/relationships/slideMaster" Target="../slideMasters/slideMaster5.xml"/><Relationship Id="rId4" Type="http://schemas.openxmlformats.org/officeDocument/2006/relationships/image" Target="../media/image9.gif"/></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4.jpeg"/><Relationship Id="rId1" Type="http://schemas.openxmlformats.org/officeDocument/2006/relationships/slideMaster" Target="../slideMasters/slideMaster5.xml"/><Relationship Id="rId4" Type="http://schemas.openxmlformats.org/officeDocument/2006/relationships/image" Target="../media/image11.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4.jpeg"/><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eg"/><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eg"/><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eg"/><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Master" Target="../slideMasters/slideMaster8.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4.jpeg"/><Relationship Id="rId1" Type="http://schemas.openxmlformats.org/officeDocument/2006/relationships/slideMaster" Target="../slideMasters/slideMaster8.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9.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9.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g"/><Relationship Id="rId1" Type="http://schemas.openxmlformats.org/officeDocument/2006/relationships/slideMaster" Target="../slideMasters/slideMaster9.xml"/><Relationship Id="rId4" Type="http://schemas.openxmlformats.org/officeDocument/2006/relationships/image" Target="../media/image14.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g"/><Relationship Id="rId1" Type="http://schemas.openxmlformats.org/officeDocument/2006/relationships/slideMaster" Target="../slideMasters/slideMaster9.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jpeg"/><Relationship Id="rId1" Type="http://schemas.openxmlformats.org/officeDocument/2006/relationships/slideMaster" Target="../slideMasters/slideMaster9.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Master" Target="../slideMasters/slideMaster10.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jpeg"/><Relationship Id="rId1" Type="http://schemas.openxmlformats.org/officeDocument/2006/relationships/slideMaster" Target="../slideMasters/slideMaster10.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22.png"/><Relationship Id="rId1" Type="http://schemas.openxmlformats.org/officeDocument/2006/relationships/slideMaster" Target="../slideMasters/slideMaster1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10.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1.jpeg"/><Relationship Id="rId1" Type="http://schemas.openxmlformats.org/officeDocument/2006/relationships/slideMaster" Target="../slideMasters/slideMaster10.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1.jpeg"/><Relationship Id="rId1" Type="http://schemas.openxmlformats.org/officeDocument/2006/relationships/slideMaster" Target="../slideMasters/slideMaster10.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Master" Target="../slideMasters/slideMaster10.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1.jpeg"/><Relationship Id="rId1" Type="http://schemas.openxmlformats.org/officeDocument/2006/relationships/slideMaster" Target="../slideMasters/slideMaster10.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1.jpeg"/><Relationship Id="rId1" Type="http://schemas.openxmlformats.org/officeDocument/2006/relationships/slideMaster" Target="../slideMasters/slideMaster10.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8.png"/><Relationship Id="rId1" Type="http://schemas.openxmlformats.org/officeDocument/2006/relationships/slideMaster" Target="../slideMasters/slideMaster10.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Master" Target="../slideMasters/slideMaster11.xml"/><Relationship Id="rId4" Type="http://schemas.openxmlformats.org/officeDocument/2006/relationships/image" Target="../media/image32.sv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Master" Target="../slideMasters/slideMaster11.xml"/><Relationship Id="rId4" Type="http://schemas.openxmlformats.org/officeDocument/2006/relationships/image" Target="../media/image32.sv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Master" Target="../slideMasters/slideMaster11.xml"/><Relationship Id="rId4" Type="http://schemas.openxmlformats.org/officeDocument/2006/relationships/image" Target="../media/image32.sv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3.jpeg"/><Relationship Id="rId1" Type="http://schemas.openxmlformats.org/officeDocument/2006/relationships/slideMaster" Target="../slideMasters/slideMaster11.xml"/><Relationship Id="rId4" Type="http://schemas.openxmlformats.org/officeDocument/2006/relationships/image" Target="../media/image32.sv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Master" Target="../slideMasters/slideMaster11.xml"/><Relationship Id="rId4" Type="http://schemas.openxmlformats.org/officeDocument/2006/relationships/image" Target="../media/image34.sv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Master" Target="../slideMasters/slideMaster11.xml"/><Relationship Id="rId4" Type="http://schemas.openxmlformats.org/officeDocument/2006/relationships/image" Target="../media/image34.sv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30.jpeg"/><Relationship Id="rId1" Type="http://schemas.openxmlformats.org/officeDocument/2006/relationships/slideMaster" Target="../slideMasters/slideMaster1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30.jpeg"/><Relationship Id="rId1" Type="http://schemas.openxmlformats.org/officeDocument/2006/relationships/slideMaster" Target="../slideMasters/slideMaster11.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30.jpeg"/><Relationship Id="rId1" Type="http://schemas.openxmlformats.org/officeDocument/2006/relationships/slideMaster" Target="../slideMasters/slideMaster1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19.jpeg"/><Relationship Id="rId1" Type="http://schemas.openxmlformats.org/officeDocument/2006/relationships/slideMaster" Target="../slideMasters/slideMaster1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1.jpeg"/><Relationship Id="rId1" Type="http://schemas.openxmlformats.org/officeDocument/2006/relationships/slideMaster" Target="../slideMasters/slideMaster1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png"/><Relationship Id="rId1" Type="http://schemas.openxmlformats.org/officeDocument/2006/relationships/slideMaster" Target="../slideMasters/slideMaster1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4.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4.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g"/><Relationship Id="rId1" Type="http://schemas.openxmlformats.org/officeDocument/2006/relationships/slideMaster" Target="../slideMasters/slideMaster14.xml"/><Relationship Id="rId4" Type="http://schemas.openxmlformats.org/officeDocument/2006/relationships/image" Target="../media/image14.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g"/><Relationship Id="rId1" Type="http://schemas.openxmlformats.org/officeDocument/2006/relationships/slideMaster" Target="../slideMasters/slideMaster14.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eg"/><Relationship Id="rId1" Type="http://schemas.openxmlformats.org/officeDocument/2006/relationships/slideMaster" Target="../slideMasters/slideMaster15.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eg"/><Relationship Id="rId1" Type="http://schemas.openxmlformats.org/officeDocument/2006/relationships/slideMaster" Target="../slideMasters/slideMaster1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5.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eg"/><Relationship Id="rId1" Type="http://schemas.openxmlformats.org/officeDocument/2006/relationships/slideMaster" Target="../slideMasters/slideMaster1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4.jpeg"/><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pic>
        <p:nvPicPr>
          <p:cNvPr id="9" name="Innovation Curve">
            <a:extLst>
              <a:ext uri="{FF2B5EF4-FFF2-40B4-BE49-F238E27FC236}">
                <a16:creationId xmlns:a16="http://schemas.microsoft.com/office/drawing/2014/main" id="{C7D758E2-2981-8964-2DBD-5E4C29B7658D}"/>
              </a:ext>
              <a:ext uri="{C183D7F6-B498-43B3-948B-1728B52AA6E4}">
                <adec:decorative xmlns:adec="http://schemas.microsoft.com/office/drawing/2017/decorative" val="1"/>
              </a:ext>
            </a:extLst>
          </p:cNvPr>
          <p:cNvPicPr/>
          <p:nvPr userDrawn="1"/>
        </p:nvPicPr>
        <p:blipFill>
          <a:blip r:embed="rId2" cstate="screen">
            <a:alphaModFix amt="3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a:xfrm>
            <a:off x="5316000" y="0"/>
            <a:ext cx="6876000" cy="6876000"/>
          </a:xfrm>
          <a:prstGeom prst="rect">
            <a:avLst/>
          </a:prstGeom>
        </p:spPr>
      </p:pic>
      <p:sp>
        <p:nvSpPr>
          <p:cNvPr id="3" name="タイトル 2">
            <a:extLst>
              <a:ext uri="{FF2B5EF4-FFF2-40B4-BE49-F238E27FC236}">
                <a16:creationId xmlns:a16="http://schemas.microsoft.com/office/drawing/2014/main" id="{28E88A40-63CF-7644-EB56-0F82D8E1B9A2}"/>
              </a:ext>
            </a:extLst>
          </p:cNvPr>
          <p:cNvSpPr>
            <a:spLocks noGrp="1"/>
          </p:cNvSpPr>
          <p:nvPr>
            <p:ph type="title" hasCustomPrompt="1"/>
          </p:nvPr>
        </p:nvSpPr>
        <p:spPr>
          <a:xfrm>
            <a:off x="381600" y="864000"/>
            <a:ext cx="4842000" cy="795600"/>
          </a:xfrm>
          <a:prstGeom prst="rect">
            <a:avLst/>
          </a:prstGeom>
        </p:spPr>
        <p:txBody>
          <a:bodyPr lIns="0" rIns="0" anchor="b" anchorCtr="0"/>
          <a:lstStyle/>
          <a:p>
            <a:pPr lvl="0"/>
            <a:r>
              <a:rPr kumimoji="1" lang="ja-JP" altLang="en-US"/>
              <a:t>○○○○御中</a:t>
            </a:r>
          </a:p>
        </p:txBody>
      </p:sp>
      <p:sp>
        <p:nvSpPr>
          <p:cNvPr id="6" name="テキスト プレースホルダー 6">
            <a:extLst>
              <a:ext uri="{FF2B5EF4-FFF2-40B4-BE49-F238E27FC236}">
                <a16:creationId xmlns:a16="http://schemas.microsoft.com/office/drawing/2014/main" id="{F1A176CE-1C9E-473C-DA2D-5CF9AA7285F5}"/>
              </a:ext>
            </a:extLst>
          </p:cNvPr>
          <p:cNvSpPr>
            <a:spLocks noGrp="1"/>
          </p:cNvSpPr>
          <p:nvPr>
            <p:ph type="body" sz="quarter" idx="12" hasCustomPrompt="1"/>
          </p:nvPr>
        </p:nvSpPr>
        <p:spPr>
          <a:xfrm>
            <a:off x="381600" y="2188800"/>
            <a:ext cx="4842000" cy="2412000"/>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a:t>［タイトル］</a:t>
            </a:r>
          </a:p>
        </p:txBody>
      </p:sp>
      <p:sp>
        <p:nvSpPr>
          <p:cNvPr id="8" name="テキスト プレースホルダー 10">
            <a:extLst>
              <a:ext uri="{FF2B5EF4-FFF2-40B4-BE49-F238E27FC236}">
                <a16:creationId xmlns:a16="http://schemas.microsoft.com/office/drawing/2014/main" id="{93FE156B-F772-D01E-4372-4120E52784D7}"/>
              </a:ext>
            </a:extLst>
          </p:cNvPr>
          <p:cNvSpPr>
            <a:spLocks noGrp="1"/>
          </p:cNvSpPr>
          <p:nvPr>
            <p:ph type="body" sz="quarter" idx="14" hasCustomPrompt="1"/>
          </p:nvPr>
        </p:nvSpPr>
        <p:spPr>
          <a:xfrm>
            <a:off x="381600" y="5191200"/>
            <a:ext cx="4842000" cy="1119600"/>
          </a:xfrm>
          <a:prstGeom prst="rect">
            <a:avLst/>
          </a:prstGeom>
        </p:spPr>
        <p:txBody>
          <a:bodyPr lIns="0" tIns="46800" rIns="0" anchor="b"/>
          <a:lstStyle>
            <a:lvl1pPr>
              <a:defRPr>
                <a:solidFill>
                  <a:schemeClr val="accent1"/>
                </a:solidFill>
              </a:defRPr>
            </a:lvl1pPr>
            <a:lvl5pPr marL="2438216" indent="0">
              <a:buNone/>
              <a:defRPr/>
            </a:lvl5pPr>
          </a:lstStyle>
          <a:p>
            <a:pPr lvl="0"/>
            <a:r>
              <a:rPr kumimoji="1" lang="en-US" altLang="ja-JP"/>
              <a:t>2023</a:t>
            </a:r>
            <a:r>
              <a:rPr kumimoji="1" lang="ja-JP" altLang="en-US"/>
              <a:t>年〇月〇日</a:t>
            </a:r>
            <a:endParaRPr kumimoji="1" lang="en-US" altLang="ja-JP"/>
          </a:p>
          <a:p>
            <a:pPr lvl="0"/>
            <a:r>
              <a:rPr kumimoji="1" lang="ja-JP" altLang="en-US"/>
              <a:t>株式会社</a:t>
            </a:r>
            <a:r>
              <a:rPr kumimoji="1" lang="en-US" altLang="ja-JP"/>
              <a:t>NTT</a:t>
            </a:r>
            <a:r>
              <a:rPr kumimoji="1" lang="ja-JP" altLang="en-US"/>
              <a:t>データ ○○○○○○</a:t>
            </a:r>
          </a:p>
          <a:p>
            <a:pPr lvl="0"/>
            <a:r>
              <a:rPr kumimoji="1" lang="ja-JP" altLang="en-US"/>
              <a:t>○○○○○○○○○○○○○○</a:t>
            </a:r>
          </a:p>
        </p:txBody>
      </p:sp>
    </p:spTree>
    <p:extLst>
      <p:ext uri="{BB962C8B-B14F-4D97-AF65-F5344CB8AC3E}">
        <p14:creationId xmlns:p14="http://schemas.microsoft.com/office/powerpoint/2010/main" val="1676540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イノベーションカーブ一部">
    <p:spTree>
      <p:nvGrpSpPr>
        <p:cNvPr id="1" name=""/>
        <p:cNvGrpSpPr/>
        <p:nvPr/>
      </p:nvGrpSpPr>
      <p:grpSpPr>
        <a:xfrm>
          <a:off x="0" y="0"/>
          <a:ext cx="0" cy="0"/>
          <a:chOff x="0" y="0"/>
          <a:chExt cx="0" cy="0"/>
        </a:xfrm>
      </p:grpSpPr>
      <p:sp>
        <p:nvSpPr>
          <p:cNvPr id="9" name="タイトル 2">
            <a:extLst>
              <a:ext uri="{FF2B5EF4-FFF2-40B4-BE49-F238E27FC236}">
                <a16:creationId xmlns:a16="http://schemas.microsoft.com/office/drawing/2014/main" id="{27DE0808-0ED8-A79F-3641-F6EE9429DF97}"/>
              </a:ext>
            </a:extLst>
          </p:cNvPr>
          <p:cNvSpPr>
            <a:spLocks noGrp="1"/>
          </p:cNvSpPr>
          <p:nvPr>
            <p:ph type="title" hasCustomPrompt="1"/>
          </p:nvPr>
        </p:nvSpPr>
        <p:spPr>
          <a:xfrm>
            <a:off x="381600" y="1450800"/>
            <a:ext cx="7185600" cy="795600"/>
          </a:xfrm>
          <a:prstGeom prst="rect">
            <a:avLst/>
          </a:prstGeom>
        </p:spPr>
        <p:txBody>
          <a:bodyPr lIns="0" rIns="0" anchor="b" anchorCtr="0"/>
          <a:lstStyle/>
          <a:p>
            <a:pPr lvl="0"/>
            <a:r>
              <a:rPr kumimoji="1" lang="ja-JP" altLang="en-US"/>
              <a:t>○○○○御中</a:t>
            </a:r>
          </a:p>
        </p:txBody>
      </p:sp>
      <p:sp>
        <p:nvSpPr>
          <p:cNvPr id="5" name="テキスト プレースホルダー 6">
            <a:extLst>
              <a:ext uri="{FF2B5EF4-FFF2-40B4-BE49-F238E27FC236}">
                <a16:creationId xmlns:a16="http://schemas.microsoft.com/office/drawing/2014/main" id="{C2C070B2-9499-0BB6-29F4-690002F8C381}"/>
              </a:ext>
            </a:extLst>
          </p:cNvPr>
          <p:cNvSpPr>
            <a:spLocks noGrp="1"/>
          </p:cNvSpPr>
          <p:nvPr>
            <p:ph type="body" sz="quarter" idx="11" hasCustomPrompt="1"/>
          </p:nvPr>
        </p:nvSpPr>
        <p:spPr>
          <a:xfrm>
            <a:off x="381600" y="2246399"/>
            <a:ext cx="7185600" cy="2346865"/>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a:t>［タイトル］</a:t>
            </a:r>
          </a:p>
        </p:txBody>
      </p:sp>
      <p:sp>
        <p:nvSpPr>
          <p:cNvPr id="7" name="テキスト プレースホルダー 10">
            <a:extLst>
              <a:ext uri="{FF2B5EF4-FFF2-40B4-BE49-F238E27FC236}">
                <a16:creationId xmlns:a16="http://schemas.microsoft.com/office/drawing/2014/main" id="{009BF352-2699-13FB-9385-B1041D550802}"/>
              </a:ext>
            </a:extLst>
          </p:cNvPr>
          <p:cNvSpPr>
            <a:spLocks noGrp="1"/>
          </p:cNvSpPr>
          <p:nvPr>
            <p:ph type="body" sz="quarter" idx="13" hasCustomPrompt="1"/>
          </p:nvPr>
        </p:nvSpPr>
        <p:spPr>
          <a:xfrm>
            <a:off x="381600" y="5191200"/>
            <a:ext cx="7185600" cy="1119600"/>
          </a:xfrm>
          <a:prstGeom prst="rect">
            <a:avLst/>
          </a:prstGeom>
        </p:spPr>
        <p:txBody>
          <a:bodyPr lIns="0" tIns="46800" rIns="0" anchor="b"/>
          <a:lstStyle>
            <a:lvl1pPr>
              <a:defRPr>
                <a:solidFill>
                  <a:schemeClr val="accent1"/>
                </a:solidFill>
              </a:defRPr>
            </a:lvl1pPr>
            <a:lvl5pPr marL="2438216" indent="0">
              <a:buNone/>
              <a:defRPr/>
            </a:lvl5pPr>
          </a:lstStyle>
          <a:p>
            <a:pPr lvl="0"/>
            <a:r>
              <a:rPr kumimoji="1" lang="en-US" altLang="ja-JP"/>
              <a:t>2023</a:t>
            </a:r>
            <a:r>
              <a:rPr kumimoji="1" lang="ja-JP" altLang="en-US"/>
              <a:t>年〇月〇日</a:t>
            </a:r>
            <a:endParaRPr kumimoji="1" lang="en-US" altLang="ja-JP"/>
          </a:p>
          <a:p>
            <a:pPr lvl="0"/>
            <a:r>
              <a:rPr kumimoji="1" lang="ja-JP" altLang="en-US"/>
              <a:t>株式会社</a:t>
            </a:r>
            <a:r>
              <a:rPr kumimoji="1" lang="en-US" altLang="ja-JP"/>
              <a:t>NTT</a:t>
            </a:r>
            <a:r>
              <a:rPr kumimoji="1" lang="ja-JP" altLang="en-US"/>
              <a:t>データ ○○○○○○</a:t>
            </a:r>
          </a:p>
          <a:p>
            <a:pPr lvl="0"/>
            <a:r>
              <a:rPr kumimoji="1" lang="ja-JP" altLang="en-US"/>
              <a:t>○○○○○○○○○○○○○○</a:t>
            </a:r>
          </a:p>
        </p:txBody>
      </p:sp>
      <p:pic>
        <p:nvPicPr>
          <p:cNvPr id="3" name="Innovation Curve">
            <a:extLst>
              <a:ext uri="{FF2B5EF4-FFF2-40B4-BE49-F238E27FC236}">
                <a16:creationId xmlns:a16="http://schemas.microsoft.com/office/drawing/2014/main" id="{EAAB32FC-8847-D6EB-B4CF-97DB854F7966}"/>
              </a:ext>
              <a:ext uri="{C183D7F6-B498-43B3-948B-1728B52AA6E4}">
                <adec:decorative xmlns:adec="http://schemas.microsoft.com/office/drawing/2017/decorative" val="1"/>
              </a:ext>
            </a:extLst>
          </p:cNvPr>
          <p:cNvPicPr/>
          <p:nvPr userDrawn="1"/>
        </p:nvPicPr>
        <p:blipFill>
          <a:blip r:embed="rId2" cstate="screen">
            <a:alphaModFix amt="20000"/>
            <a:extLst>
              <a:ext uri="{28A0092B-C50C-407E-A947-70E740481C1C}">
                <a14:useLocalDpi xmlns:a14="http://schemas.microsoft.com/office/drawing/2010/main"/>
              </a:ext>
            </a:extLst>
          </a:blip>
          <a:stretch>
            <a:fillRect/>
          </a:stretch>
        </p:blipFill>
        <p:spPr>
          <a:xfrm>
            <a:off x="7616952" y="0"/>
            <a:ext cx="4602549" cy="6876288"/>
          </a:xfrm>
          <a:prstGeom prst="rect">
            <a:avLst/>
          </a:prstGeom>
        </p:spPr>
      </p:pic>
    </p:spTree>
    <p:extLst>
      <p:ext uri="{BB962C8B-B14F-4D97-AF65-F5344CB8AC3E}">
        <p14:creationId xmlns:p14="http://schemas.microsoft.com/office/powerpoint/2010/main" val="668788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イノベーションカーブなし">
    <p:spTree>
      <p:nvGrpSpPr>
        <p:cNvPr id="1" name=""/>
        <p:cNvGrpSpPr/>
        <p:nvPr/>
      </p:nvGrpSpPr>
      <p:grpSpPr>
        <a:xfrm>
          <a:off x="0" y="0"/>
          <a:ext cx="0" cy="0"/>
          <a:chOff x="0" y="0"/>
          <a:chExt cx="0" cy="0"/>
        </a:xfrm>
      </p:grpSpPr>
      <p:sp>
        <p:nvSpPr>
          <p:cNvPr id="8" name="タイトル 2">
            <a:extLst>
              <a:ext uri="{FF2B5EF4-FFF2-40B4-BE49-F238E27FC236}">
                <a16:creationId xmlns:a16="http://schemas.microsoft.com/office/drawing/2014/main" id="{A3D5047C-C1BE-4A97-3D30-4818BC0783BA}"/>
              </a:ext>
            </a:extLst>
          </p:cNvPr>
          <p:cNvSpPr>
            <a:spLocks noGrp="1"/>
          </p:cNvSpPr>
          <p:nvPr>
            <p:ph type="title" hasCustomPrompt="1"/>
          </p:nvPr>
        </p:nvSpPr>
        <p:spPr>
          <a:xfrm>
            <a:off x="381600" y="1450800"/>
            <a:ext cx="11440800" cy="795600"/>
          </a:xfrm>
          <a:prstGeom prst="rect">
            <a:avLst/>
          </a:prstGeom>
        </p:spPr>
        <p:txBody>
          <a:bodyPr lIns="0" rIns="0" anchor="b" anchorCtr="0"/>
          <a:lstStyle/>
          <a:p>
            <a:pPr lvl="0"/>
            <a:r>
              <a:rPr kumimoji="1" lang="ja-JP" altLang="en-US"/>
              <a:t>○○○○御中</a:t>
            </a:r>
          </a:p>
        </p:txBody>
      </p:sp>
      <p:sp>
        <p:nvSpPr>
          <p:cNvPr id="4" name="テキスト プレースホルダー 6">
            <a:extLst>
              <a:ext uri="{FF2B5EF4-FFF2-40B4-BE49-F238E27FC236}">
                <a16:creationId xmlns:a16="http://schemas.microsoft.com/office/drawing/2014/main" id="{180CAA48-C9FC-9FB9-00D4-FB6ED53D8DB3}"/>
              </a:ext>
            </a:extLst>
          </p:cNvPr>
          <p:cNvSpPr>
            <a:spLocks noGrp="1"/>
          </p:cNvSpPr>
          <p:nvPr>
            <p:ph type="body" sz="quarter" idx="11" hasCustomPrompt="1"/>
          </p:nvPr>
        </p:nvSpPr>
        <p:spPr>
          <a:xfrm>
            <a:off x="381600" y="2246400"/>
            <a:ext cx="11440800" cy="1562400"/>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a:t>［タイトル］</a:t>
            </a:r>
          </a:p>
        </p:txBody>
      </p:sp>
      <p:sp>
        <p:nvSpPr>
          <p:cNvPr id="6" name="テキスト プレースホルダー 10">
            <a:extLst>
              <a:ext uri="{FF2B5EF4-FFF2-40B4-BE49-F238E27FC236}">
                <a16:creationId xmlns:a16="http://schemas.microsoft.com/office/drawing/2014/main" id="{68E6879D-7AAE-B9F3-790D-BB85BE746EB6}"/>
              </a:ext>
            </a:extLst>
          </p:cNvPr>
          <p:cNvSpPr>
            <a:spLocks noGrp="1"/>
          </p:cNvSpPr>
          <p:nvPr>
            <p:ph type="body" sz="quarter" idx="13" hasCustomPrompt="1"/>
          </p:nvPr>
        </p:nvSpPr>
        <p:spPr>
          <a:xfrm>
            <a:off x="381600" y="5191200"/>
            <a:ext cx="11440800" cy="1119600"/>
          </a:xfrm>
          <a:prstGeom prst="rect">
            <a:avLst/>
          </a:prstGeom>
        </p:spPr>
        <p:txBody>
          <a:bodyPr lIns="0" tIns="46800" rIns="0" anchor="b"/>
          <a:lstStyle>
            <a:lvl1pPr>
              <a:defRPr>
                <a:solidFill>
                  <a:schemeClr val="accent1"/>
                </a:solidFill>
              </a:defRPr>
            </a:lvl1pPr>
            <a:lvl5pPr marL="2438216" indent="0">
              <a:buNone/>
              <a:defRPr/>
            </a:lvl5pPr>
          </a:lstStyle>
          <a:p>
            <a:pPr lvl="0"/>
            <a:r>
              <a:rPr kumimoji="1" lang="en-US" altLang="ja-JP"/>
              <a:t>2023</a:t>
            </a:r>
            <a:r>
              <a:rPr kumimoji="1" lang="ja-JP" altLang="en-US"/>
              <a:t>年〇月〇日</a:t>
            </a:r>
            <a:endParaRPr kumimoji="1" lang="en-US" altLang="ja-JP"/>
          </a:p>
          <a:p>
            <a:pPr lvl="0"/>
            <a:r>
              <a:rPr kumimoji="1" lang="ja-JP" altLang="en-US"/>
              <a:t>株式会社</a:t>
            </a:r>
            <a:r>
              <a:rPr kumimoji="1" lang="en-US" altLang="ja-JP"/>
              <a:t>NTT</a:t>
            </a:r>
            <a:r>
              <a:rPr kumimoji="1" lang="ja-JP" altLang="en-US"/>
              <a:t>データ ○○○○○○</a:t>
            </a:r>
          </a:p>
          <a:p>
            <a:pPr lvl="0"/>
            <a:r>
              <a:rPr kumimoji="1" lang="ja-JP" altLang="en-US"/>
              <a:t>○○○○○○○○○○○○○○</a:t>
            </a:r>
          </a:p>
        </p:txBody>
      </p:sp>
    </p:spTree>
    <p:extLst>
      <p:ext uri="{BB962C8B-B14F-4D97-AF65-F5344CB8AC3E}">
        <p14:creationId xmlns:p14="http://schemas.microsoft.com/office/powerpoint/2010/main" val="665905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pic>
        <p:nvPicPr>
          <p:cNvPr id="7" name="図プレースホルダー 11">
            <a:extLst>
              <a:ext uri="{FF2B5EF4-FFF2-40B4-BE49-F238E27FC236}">
                <a16:creationId xmlns:a16="http://schemas.microsoft.com/office/drawing/2014/main" id="{FB7B2A75-74AE-F062-439F-A95954EBE583}"/>
              </a:ext>
            </a:extLst>
          </p:cNvPr>
          <p:cNvPicPr>
            <a:picLocks noChangeAspect="1"/>
          </p:cNvPicPr>
          <p:nvPr userDrawn="1"/>
        </p:nvPicPr>
        <p:blipFill rotWithShape="1">
          <a:blip r:embed="rId2"/>
          <a:srcRect l="21608" t="8744" r="2060" b="52192"/>
          <a:stretch/>
        </p:blipFill>
        <p:spPr>
          <a:xfrm>
            <a:off x="0" y="3351600"/>
            <a:ext cx="12193200" cy="3510000"/>
          </a:xfrm>
          <a:prstGeom prst="rect">
            <a:avLst/>
          </a:prstGeom>
        </p:spPr>
      </p:pic>
      <p:sp>
        <p:nvSpPr>
          <p:cNvPr id="8" name="タイトル 2">
            <a:extLst>
              <a:ext uri="{FF2B5EF4-FFF2-40B4-BE49-F238E27FC236}">
                <a16:creationId xmlns:a16="http://schemas.microsoft.com/office/drawing/2014/main" id="{D5207BED-C451-AA8A-BEC8-1DBBC55EB27E}"/>
              </a:ext>
            </a:extLst>
          </p:cNvPr>
          <p:cNvSpPr>
            <a:spLocks noGrp="1"/>
          </p:cNvSpPr>
          <p:nvPr>
            <p:ph type="title" hasCustomPrompt="1"/>
          </p:nvPr>
        </p:nvSpPr>
        <p:spPr>
          <a:xfrm>
            <a:off x="370800" y="752400"/>
            <a:ext cx="11440800" cy="396000"/>
          </a:xfrm>
          <a:prstGeom prst="rect">
            <a:avLst/>
          </a:prstGeom>
        </p:spPr>
        <p:txBody>
          <a:bodyPr lIns="0" rIns="0" anchor="b" anchorCtr="0"/>
          <a:lstStyle/>
          <a:p>
            <a:pPr lvl="0"/>
            <a:r>
              <a:rPr kumimoji="1" lang="ja-JP" altLang="en-US"/>
              <a:t>○○○○御中</a:t>
            </a:r>
          </a:p>
        </p:txBody>
      </p:sp>
      <p:sp>
        <p:nvSpPr>
          <p:cNvPr id="4" name="テキスト プレースホルダー 6">
            <a:extLst>
              <a:ext uri="{FF2B5EF4-FFF2-40B4-BE49-F238E27FC236}">
                <a16:creationId xmlns:a16="http://schemas.microsoft.com/office/drawing/2014/main" id="{6D1013E2-8F90-20CA-6004-C9D6A65332FD}"/>
              </a:ext>
            </a:extLst>
          </p:cNvPr>
          <p:cNvSpPr>
            <a:spLocks noGrp="1"/>
          </p:cNvSpPr>
          <p:nvPr>
            <p:ph type="body" sz="quarter" idx="11" hasCustomPrompt="1"/>
          </p:nvPr>
        </p:nvSpPr>
        <p:spPr>
          <a:xfrm>
            <a:off x="370800" y="1143727"/>
            <a:ext cx="11440800" cy="1422244"/>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a:t>［タイトル］</a:t>
            </a:r>
          </a:p>
        </p:txBody>
      </p:sp>
      <p:sp>
        <p:nvSpPr>
          <p:cNvPr id="6" name="テキスト プレースホルダー 10">
            <a:extLst>
              <a:ext uri="{FF2B5EF4-FFF2-40B4-BE49-F238E27FC236}">
                <a16:creationId xmlns:a16="http://schemas.microsoft.com/office/drawing/2014/main" id="{5B0EF5B0-BD1D-106F-C4E1-D30AB815AAC8}"/>
              </a:ext>
            </a:extLst>
          </p:cNvPr>
          <p:cNvSpPr>
            <a:spLocks noGrp="1"/>
          </p:cNvSpPr>
          <p:nvPr>
            <p:ph type="body" sz="quarter" idx="13" hasCustomPrompt="1"/>
          </p:nvPr>
        </p:nvSpPr>
        <p:spPr>
          <a:xfrm>
            <a:off x="370800" y="2565971"/>
            <a:ext cx="11440800" cy="375900"/>
          </a:xfrm>
          <a:prstGeom prst="rect">
            <a:avLst/>
          </a:prstGeom>
        </p:spPr>
        <p:txBody>
          <a:bodyPr lIns="0" tIns="46800" rIns="0"/>
          <a:lstStyle>
            <a:lvl1pPr>
              <a:defRPr>
                <a:solidFill>
                  <a:schemeClr val="accent1"/>
                </a:solidFill>
              </a:defRPr>
            </a:lvl1pPr>
            <a:lvl5pPr marL="2438216" indent="0">
              <a:buNone/>
              <a:defRPr/>
            </a:lvl5pPr>
          </a:lstStyle>
          <a:p>
            <a:pPr lvl="0"/>
            <a:r>
              <a:rPr kumimoji="1" lang="en-US" altLang="ja-JP"/>
              <a:t>2023</a:t>
            </a:r>
            <a:r>
              <a:rPr kumimoji="1" lang="ja-JP" altLang="en-US"/>
              <a:t>年〇月〇日　株式会社</a:t>
            </a:r>
            <a:r>
              <a:rPr kumimoji="1" lang="en-US" altLang="ja-JP"/>
              <a:t>NTT</a:t>
            </a:r>
            <a:r>
              <a:rPr kumimoji="1" lang="ja-JP" altLang="en-US"/>
              <a:t>データ ○○○○○○</a:t>
            </a:r>
          </a:p>
        </p:txBody>
      </p:sp>
      <p:pic>
        <p:nvPicPr>
          <p:cNvPr id="9" name="図 8">
            <a:extLst>
              <a:ext uri="{FF2B5EF4-FFF2-40B4-BE49-F238E27FC236}">
                <a16:creationId xmlns:a16="http://schemas.microsoft.com/office/drawing/2014/main" id="{57B54130-C13B-014A-F9F3-0C8FCD6D2437}"/>
              </a:ext>
            </a:extLst>
          </p:cNvPr>
          <p:cNvPicPr>
            <a:picLocks noChangeAspect="1"/>
          </p:cNvPicPr>
          <p:nvPr userDrawn="1"/>
        </p:nvPicPr>
        <p:blipFill>
          <a:blip r:embed="rId3"/>
          <a:stretch>
            <a:fillRect/>
          </a:stretch>
        </p:blipFill>
        <p:spPr>
          <a:xfrm>
            <a:off x="9068400" y="3733200"/>
            <a:ext cx="2743200" cy="2743200"/>
          </a:xfrm>
          <a:prstGeom prst="rect">
            <a:avLst/>
          </a:prstGeom>
        </p:spPr>
      </p:pic>
      <p:sp>
        <p:nvSpPr>
          <p:cNvPr id="11" name="テキスト ボックス 10">
            <a:extLst>
              <a:ext uri="{FF2B5EF4-FFF2-40B4-BE49-F238E27FC236}">
                <a16:creationId xmlns:a16="http://schemas.microsoft.com/office/drawing/2014/main" id="{4D9542F4-2785-BB77-7E12-1225021C408C}"/>
              </a:ext>
            </a:extLst>
          </p:cNvPr>
          <p:cNvSpPr txBox="1"/>
          <p:nvPr userDrawn="1"/>
        </p:nvSpPr>
        <p:spPr>
          <a:xfrm>
            <a:off x="370800" y="31464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rgbClr val="6B6B6B"/>
                </a:solidFill>
              </a:rPr>
              <a:t>© 2024 NTT DATA Japan Corporation</a:t>
            </a:r>
          </a:p>
        </p:txBody>
      </p:sp>
    </p:spTree>
    <p:extLst>
      <p:ext uri="{BB962C8B-B14F-4D97-AF65-F5344CB8AC3E}">
        <p14:creationId xmlns:p14="http://schemas.microsoft.com/office/powerpoint/2010/main" val="1320633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279E55B6-184B-9445-3C84-3C51FFA63D1B}"/>
              </a:ext>
            </a:extLst>
          </p:cNvPr>
          <p:cNvPicPr>
            <a:picLocks noChangeAspect="1"/>
          </p:cNvPicPr>
          <p:nvPr userDrawn="1"/>
        </p:nvPicPr>
        <p:blipFill rotWithShape="1">
          <a:blip r:embed="rId2"/>
          <a:srcRect l="58440" r="8440"/>
          <a:stretch/>
        </p:blipFill>
        <p:spPr>
          <a:xfrm>
            <a:off x="0" y="-1"/>
            <a:ext cx="4037999" cy="6857999"/>
          </a:xfrm>
          <a:prstGeom prst="rect">
            <a:avLst/>
          </a:prstGeom>
        </p:spPr>
      </p:pic>
      <p:sp>
        <p:nvSpPr>
          <p:cNvPr id="2" name="タイトル 1">
            <a:extLst>
              <a:ext uri="{FF2B5EF4-FFF2-40B4-BE49-F238E27FC236}">
                <a16:creationId xmlns:a16="http://schemas.microsoft.com/office/drawing/2014/main" id="{D8C3003A-1C0D-B582-B3BE-CA14C4D8AE89}"/>
              </a:ext>
            </a:extLst>
          </p:cNvPr>
          <p:cNvSpPr>
            <a:spLocks noGrp="1"/>
          </p:cNvSpPr>
          <p:nvPr>
            <p:ph type="title" hasCustomPrompt="1"/>
          </p:nvPr>
        </p:nvSpPr>
        <p:spPr>
          <a:xfrm>
            <a:off x="4496400" y="687600"/>
            <a:ext cx="7315200" cy="1447199"/>
          </a:xfrm>
          <a:prstGeom prst="rect">
            <a:avLst/>
          </a:prstGeom>
        </p:spPr>
        <p:txBody>
          <a:bodyPr/>
          <a:lstStyle/>
          <a:p>
            <a:r>
              <a:rPr kumimoji="1" lang="en-US" altLang="ja-JP"/>
              <a:t>01</a:t>
            </a:r>
            <a:endParaRPr kumimoji="1" lang="ja-JP" altLang="en-US"/>
          </a:p>
        </p:txBody>
      </p:sp>
      <p:sp>
        <p:nvSpPr>
          <p:cNvPr id="5" name="テキスト プレースホルダー 8">
            <a:extLst>
              <a:ext uri="{FF2B5EF4-FFF2-40B4-BE49-F238E27FC236}">
                <a16:creationId xmlns:a16="http://schemas.microsoft.com/office/drawing/2014/main" id="{FFDB246B-7466-9829-C733-D7C8F366017A}"/>
              </a:ext>
            </a:extLst>
          </p:cNvPr>
          <p:cNvSpPr>
            <a:spLocks noGrp="1"/>
          </p:cNvSpPr>
          <p:nvPr>
            <p:ph type="body" sz="quarter" idx="16" hasCustomPrompt="1"/>
          </p:nvPr>
        </p:nvSpPr>
        <p:spPr>
          <a:xfrm>
            <a:off x="4496400" y="2286000"/>
            <a:ext cx="7315200" cy="3952800"/>
          </a:xfrm>
          <a:prstGeom prst="rect">
            <a:avLst/>
          </a:prstGeom>
        </p:spPr>
        <p:txBody>
          <a:bodyPr lIns="0" tIns="0" rIns="0" bIns="0"/>
          <a:lstStyle>
            <a:lvl1pPr>
              <a:defRPr sz="4800" b="1">
                <a:solidFill>
                  <a:schemeClr val="accent1"/>
                </a:solidFill>
              </a:defRPr>
            </a:lvl1pPr>
          </a:lstStyle>
          <a:p>
            <a:pPr lvl="0"/>
            <a:r>
              <a:rPr kumimoji="1" lang="ja-JP" altLang="en-US"/>
              <a:t>中扉タイトル</a:t>
            </a:r>
          </a:p>
        </p:txBody>
      </p:sp>
      <p:sp>
        <p:nvSpPr>
          <p:cNvPr id="9" name="テキスト ボックス 8">
            <a:extLst>
              <a:ext uri="{FF2B5EF4-FFF2-40B4-BE49-F238E27FC236}">
                <a16:creationId xmlns:a16="http://schemas.microsoft.com/office/drawing/2014/main" id="{4E856B16-CC7F-D18A-5F95-82F6F68027FD}"/>
              </a:ext>
            </a:extLst>
          </p:cNvPr>
          <p:cNvSpPr txBox="1"/>
          <p:nvPr userDrawn="1"/>
        </p:nvSpPr>
        <p:spPr>
          <a:xfrm>
            <a:off x="77760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
        <p:nvSpPr>
          <p:cNvPr id="7" name="正方形/長方形 6">
            <a:extLst>
              <a:ext uri="{FF2B5EF4-FFF2-40B4-BE49-F238E27FC236}">
                <a16:creationId xmlns:a16="http://schemas.microsoft.com/office/drawing/2014/main" id="{B78BC61F-DFF6-D0AA-091E-65340A8F721F}"/>
              </a:ext>
            </a:extLst>
          </p:cNvPr>
          <p:cNvSpPr/>
          <p:nvPr userDrawn="1"/>
        </p:nvSpPr>
        <p:spPr>
          <a:xfrm>
            <a:off x="-1201"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10" name="テキスト ボックス 9">
            <a:extLst>
              <a:ext uri="{FF2B5EF4-FFF2-40B4-BE49-F238E27FC236}">
                <a16:creationId xmlns:a16="http://schemas.microsoft.com/office/drawing/2014/main" id="{D5163610-4754-0AB2-758B-6FFD6261400E}"/>
              </a:ext>
            </a:extLst>
          </p:cNvPr>
          <p:cNvSpPr txBox="1"/>
          <p:nvPr userDrawn="1"/>
        </p:nvSpPr>
        <p:spPr>
          <a:xfrm>
            <a:off x="4496400" y="6562800"/>
            <a:ext cx="32040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rgbClr val="6B6B6B"/>
                </a:solidFill>
              </a:rPr>
              <a:t>© 2024 NTT DATA Japan Corporation</a:t>
            </a:r>
          </a:p>
        </p:txBody>
      </p:sp>
    </p:spTree>
    <p:extLst>
      <p:ext uri="{BB962C8B-B14F-4D97-AF65-F5344CB8AC3E}">
        <p14:creationId xmlns:p14="http://schemas.microsoft.com/office/powerpoint/2010/main" val="1845279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E0E3DF-D30F-67F3-1120-4D08EF0597DA}"/>
              </a:ext>
            </a:extLst>
          </p:cNvPr>
          <p:cNvSpPr>
            <a:spLocks noGrp="1"/>
          </p:cNvSpPr>
          <p:nvPr>
            <p:ph type="title" hasCustomPrompt="1"/>
          </p:nvPr>
        </p:nvSpPr>
        <p:spPr>
          <a:xfrm>
            <a:off x="370798" y="687601"/>
            <a:ext cx="7315200" cy="1447199"/>
          </a:xfrm>
          <a:prstGeom prst="rect">
            <a:avLst/>
          </a:prstGeom>
        </p:spPr>
        <p:txBody>
          <a:bodyPr/>
          <a:lstStyle/>
          <a:p>
            <a:r>
              <a:rPr kumimoji="1" lang="en-US" altLang="ja-JP"/>
              <a:t>01</a:t>
            </a:r>
            <a:endParaRPr kumimoji="1" lang="ja-JP" altLang="en-US"/>
          </a:p>
        </p:txBody>
      </p:sp>
      <p:sp>
        <p:nvSpPr>
          <p:cNvPr id="3" name="テキスト プレースホルダー 8">
            <a:extLst>
              <a:ext uri="{FF2B5EF4-FFF2-40B4-BE49-F238E27FC236}">
                <a16:creationId xmlns:a16="http://schemas.microsoft.com/office/drawing/2014/main" id="{14339CF7-9CA0-A841-448E-67A663E55CF3}"/>
              </a:ext>
            </a:extLst>
          </p:cNvPr>
          <p:cNvSpPr>
            <a:spLocks noGrp="1"/>
          </p:cNvSpPr>
          <p:nvPr>
            <p:ph type="body" sz="quarter" idx="16" hasCustomPrompt="1"/>
          </p:nvPr>
        </p:nvSpPr>
        <p:spPr>
          <a:xfrm>
            <a:off x="370800" y="2286000"/>
            <a:ext cx="7315200" cy="3888000"/>
          </a:xfrm>
          <a:prstGeom prst="rect">
            <a:avLst/>
          </a:prstGeom>
        </p:spPr>
        <p:txBody>
          <a:bodyPr lIns="0" tIns="0" rIns="0" bIns="0"/>
          <a:lstStyle>
            <a:lvl1pPr>
              <a:defRPr sz="4000" b="1">
                <a:solidFill>
                  <a:schemeClr val="accent1"/>
                </a:solidFill>
              </a:defRPr>
            </a:lvl1pPr>
          </a:lstStyle>
          <a:p>
            <a:pPr lvl="0"/>
            <a:r>
              <a:rPr kumimoji="1" lang="ja-JP" altLang="en-US"/>
              <a:t>中扉タイトル</a:t>
            </a:r>
          </a:p>
        </p:txBody>
      </p:sp>
      <p:pic>
        <p:nvPicPr>
          <p:cNvPr id="4" name="Picture 6">
            <a:extLst>
              <a:ext uri="{FF2B5EF4-FFF2-40B4-BE49-F238E27FC236}">
                <a16:creationId xmlns:a16="http://schemas.microsoft.com/office/drawing/2014/main" id="{EB864475-214E-676F-1057-8A4E44927EF7}"/>
              </a:ext>
            </a:extLst>
          </p:cNvPr>
          <p:cNvPicPr>
            <a:picLocks noChangeAspect="1"/>
          </p:cNvPicPr>
          <p:nvPr userDrawn="1"/>
        </p:nvPicPr>
        <p:blipFill>
          <a:blip r:embed="rId2" cstate="screen">
            <a:alphaModFix amt="30000"/>
            <a:extLst>
              <a:ext uri="{28A0092B-C50C-407E-A947-70E740481C1C}">
                <a14:useLocalDpi xmlns:a14="http://schemas.microsoft.com/office/drawing/2010/main"/>
              </a:ext>
            </a:extLst>
          </a:blip>
          <a:stretch>
            <a:fillRect/>
          </a:stretch>
        </p:blipFill>
        <p:spPr>
          <a:xfrm>
            <a:off x="8070773" y="2431973"/>
            <a:ext cx="3740227" cy="3740227"/>
          </a:xfrm>
          <a:prstGeom prst="rect">
            <a:avLst/>
          </a:prstGeom>
        </p:spPr>
      </p:pic>
      <p:sp>
        <p:nvSpPr>
          <p:cNvPr id="5" name="テキスト ボックス 4">
            <a:extLst>
              <a:ext uri="{FF2B5EF4-FFF2-40B4-BE49-F238E27FC236}">
                <a16:creationId xmlns:a16="http://schemas.microsoft.com/office/drawing/2014/main" id="{442CEE08-CDC8-97A0-0539-B8FAF99A176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1412629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写真入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01CCA0-7E92-7FFB-2532-8D8D86CBBF3B}"/>
              </a:ext>
            </a:extLst>
          </p:cNvPr>
          <p:cNvSpPr>
            <a:spLocks noGrp="1"/>
          </p:cNvSpPr>
          <p:nvPr>
            <p:ph type="title" hasCustomPrompt="1"/>
          </p:nvPr>
        </p:nvSpPr>
        <p:spPr>
          <a:xfrm>
            <a:off x="4496400" y="687600"/>
            <a:ext cx="7315200" cy="1447199"/>
          </a:xfrm>
          <a:prstGeom prst="rect">
            <a:avLst/>
          </a:prstGeom>
        </p:spPr>
        <p:txBody>
          <a:bodyPr/>
          <a:lstStyle/>
          <a:p>
            <a:r>
              <a:rPr kumimoji="1" lang="en-US" altLang="ja-JP"/>
              <a:t>01</a:t>
            </a:r>
            <a:endParaRPr kumimoji="1" lang="ja-JP" altLang="en-US"/>
          </a:p>
        </p:txBody>
      </p:sp>
      <p:pic>
        <p:nvPicPr>
          <p:cNvPr id="3" name="Picture 6">
            <a:extLst>
              <a:ext uri="{FF2B5EF4-FFF2-40B4-BE49-F238E27FC236}">
                <a16:creationId xmlns:a16="http://schemas.microsoft.com/office/drawing/2014/main" id="{38FD529D-5FF6-E828-CE3E-B79F0DF6878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94575" y="2447060"/>
            <a:ext cx="3718800" cy="3718800"/>
          </a:xfrm>
          <a:prstGeom prst="rect">
            <a:avLst/>
          </a:prstGeom>
        </p:spPr>
      </p:pic>
      <p:sp>
        <p:nvSpPr>
          <p:cNvPr id="5" name="テキスト プレースホルダー 8">
            <a:extLst>
              <a:ext uri="{FF2B5EF4-FFF2-40B4-BE49-F238E27FC236}">
                <a16:creationId xmlns:a16="http://schemas.microsoft.com/office/drawing/2014/main" id="{E10C1EF1-42DC-CE53-8902-8E322B4352D3}"/>
              </a:ext>
            </a:extLst>
          </p:cNvPr>
          <p:cNvSpPr>
            <a:spLocks noGrp="1"/>
          </p:cNvSpPr>
          <p:nvPr>
            <p:ph type="body" sz="quarter" idx="16" hasCustomPrompt="1"/>
          </p:nvPr>
        </p:nvSpPr>
        <p:spPr>
          <a:xfrm>
            <a:off x="4496400" y="2433600"/>
            <a:ext cx="7315200" cy="3740400"/>
          </a:xfrm>
          <a:prstGeom prst="rect">
            <a:avLst/>
          </a:prstGeom>
        </p:spPr>
        <p:txBody>
          <a:bodyPr lIns="0" tIns="0" rIns="0" bIns="0"/>
          <a:lstStyle>
            <a:lvl1pPr>
              <a:defRPr sz="4000" b="1">
                <a:solidFill>
                  <a:schemeClr val="accent1"/>
                </a:solidFill>
              </a:defRPr>
            </a:lvl1pPr>
          </a:lstStyle>
          <a:p>
            <a:pPr lvl="0"/>
            <a:r>
              <a:rPr kumimoji="1" lang="ja-JP" altLang="en-US"/>
              <a:t>中扉タイトル</a:t>
            </a:r>
          </a:p>
        </p:txBody>
      </p:sp>
      <p:sp>
        <p:nvSpPr>
          <p:cNvPr id="6" name="テキスト ボックス 5">
            <a:extLst>
              <a:ext uri="{FF2B5EF4-FFF2-40B4-BE49-F238E27FC236}">
                <a16:creationId xmlns:a16="http://schemas.microsoft.com/office/drawing/2014/main" id="{53785BB8-9BEF-6511-73A0-EFF55EDD2267}"/>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pic>
        <p:nvPicPr>
          <p:cNvPr id="8" name="図プレースホルダー 15">
            <a:extLst>
              <a:ext uri="{FF2B5EF4-FFF2-40B4-BE49-F238E27FC236}">
                <a16:creationId xmlns:a16="http://schemas.microsoft.com/office/drawing/2014/main" id="{7A73D8A7-ECC3-BBC6-EF06-B230921C7B4E}"/>
              </a:ext>
            </a:extLst>
          </p:cNvPr>
          <p:cNvPicPr>
            <a:picLocks noChangeAspect="1"/>
          </p:cNvPicPr>
          <p:nvPr userDrawn="1"/>
        </p:nvPicPr>
        <p:blipFill rotWithShape="1">
          <a:blip r:embed="rId3"/>
          <a:srcRect l="40504" r="3246"/>
          <a:stretch/>
        </p:blipFill>
        <p:spPr>
          <a:xfrm>
            <a:off x="371475" y="2447060"/>
            <a:ext cx="3718800" cy="3718800"/>
          </a:xfrm>
          <a:custGeom>
            <a:avLst/>
            <a:gdLst>
              <a:gd name="connsiteX0" fmla="*/ 1704548 w 5267271"/>
              <a:gd name="connsiteY0" fmla="*/ 0 h 5272719"/>
              <a:gd name="connsiteX1" fmla="*/ 3527745 w 5267271"/>
              <a:gd name="connsiteY1" fmla="*/ 1774521 h 5272719"/>
              <a:gd name="connsiteX2" fmla="*/ 5267271 w 5267271"/>
              <a:gd name="connsiteY2" fmla="*/ 5269498 h 5272719"/>
              <a:gd name="connsiteX3" fmla="*/ 3509088 w 5267271"/>
              <a:gd name="connsiteY3" fmla="*/ 5269044 h 5272719"/>
              <a:gd name="connsiteX4" fmla="*/ 1794302 w 5267271"/>
              <a:gd name="connsiteY4" fmla="*/ 1858626 h 5272719"/>
              <a:gd name="connsiteX5" fmla="*/ 1794667 w 5267271"/>
              <a:gd name="connsiteY5" fmla="*/ 5270472 h 5272719"/>
              <a:gd name="connsiteX6" fmla="*/ 0 w 5267271"/>
              <a:gd name="connsiteY6" fmla="*/ 5272719 h 5272719"/>
              <a:gd name="connsiteX7" fmla="*/ 3384 w 5267271"/>
              <a:gd name="connsiteY7" fmla="*/ 1714773 h 5272719"/>
              <a:gd name="connsiteX8" fmla="*/ 569360 w 5267271"/>
              <a:gd name="connsiteY8" fmla="*/ 333790 h 5272719"/>
              <a:gd name="connsiteX9" fmla="*/ 1704548 w 5267271"/>
              <a:gd name="connsiteY9" fmla="*/ 0 h 527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67271" h="5272719">
                <a:moveTo>
                  <a:pt x="1704548" y="0"/>
                </a:moveTo>
                <a:cubicBezTo>
                  <a:pt x="2442328" y="19929"/>
                  <a:pt x="2925708" y="438914"/>
                  <a:pt x="3527745" y="1774521"/>
                </a:cubicBezTo>
                <a:lnTo>
                  <a:pt x="5267271" y="5269498"/>
                </a:lnTo>
                <a:lnTo>
                  <a:pt x="3509088" y="5269044"/>
                </a:lnTo>
                <a:cubicBezTo>
                  <a:pt x="2932089" y="4085847"/>
                  <a:pt x="2376159" y="3052885"/>
                  <a:pt x="1794302" y="1858626"/>
                </a:cubicBezTo>
                <a:cubicBezTo>
                  <a:pt x="1800510" y="2806405"/>
                  <a:pt x="1797959" y="3550976"/>
                  <a:pt x="1794667" y="5270472"/>
                </a:cubicBezTo>
                <a:lnTo>
                  <a:pt x="0" y="5272719"/>
                </a:lnTo>
                <a:cubicBezTo>
                  <a:pt x="6041" y="3933998"/>
                  <a:pt x="-2660" y="3106972"/>
                  <a:pt x="3384" y="1714773"/>
                </a:cubicBezTo>
                <a:cubicBezTo>
                  <a:pt x="20552" y="931022"/>
                  <a:pt x="285832" y="562108"/>
                  <a:pt x="569360" y="333790"/>
                </a:cubicBezTo>
                <a:cubicBezTo>
                  <a:pt x="852888" y="105472"/>
                  <a:pt x="1272212" y="9538"/>
                  <a:pt x="1704548" y="0"/>
                </a:cubicBezTo>
                <a:close/>
              </a:path>
            </a:pathLst>
          </a:custGeom>
        </p:spPr>
      </p:pic>
    </p:spTree>
    <p:extLst>
      <p:ext uri="{BB962C8B-B14F-4D97-AF65-F5344CB8AC3E}">
        <p14:creationId xmlns:p14="http://schemas.microsoft.com/office/powerpoint/2010/main" val="1310426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テキスト ボックス 4">
            <a:extLst>
              <a:ext uri="{FF2B5EF4-FFF2-40B4-BE49-F238E27FC236}">
                <a16:creationId xmlns:a16="http://schemas.microsoft.com/office/drawing/2014/main" id="{16A1EA45-BF6A-8E89-F9CE-BFA62AF363CC}"/>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308251914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タイトルと1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4" y="1038386"/>
            <a:ext cx="1144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D3BB6FD-8126-0BC5-CD78-240E479EB67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3992902305"/>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タイトルと２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550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コンテンツ プレースホルダー 4">
            <a:extLst>
              <a:ext uri="{FF2B5EF4-FFF2-40B4-BE49-F238E27FC236}">
                <a16:creationId xmlns:a16="http://schemas.microsoft.com/office/drawing/2014/main" id="{EF021ACE-2CF5-4B31-D043-4FF4199CE0CE}"/>
              </a:ext>
            </a:extLst>
          </p:cNvPr>
          <p:cNvSpPr>
            <a:spLocks noGrp="1"/>
          </p:cNvSpPr>
          <p:nvPr>
            <p:ph sz="quarter" idx="11"/>
          </p:nvPr>
        </p:nvSpPr>
        <p:spPr>
          <a:xfrm>
            <a:off x="6310800" y="1038386"/>
            <a:ext cx="550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テキスト ボックス 2">
            <a:extLst>
              <a:ext uri="{FF2B5EF4-FFF2-40B4-BE49-F238E27FC236}">
                <a16:creationId xmlns:a16="http://schemas.microsoft.com/office/drawing/2014/main" id="{E00132AB-F8CC-E986-3454-C51AAC0E95E8}"/>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3083363173"/>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タイトルと３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コンテンツ プレースホルダー 4">
            <a:extLst>
              <a:ext uri="{FF2B5EF4-FFF2-40B4-BE49-F238E27FC236}">
                <a16:creationId xmlns:a16="http://schemas.microsoft.com/office/drawing/2014/main" id="{58228A74-29BB-7D83-4FBF-D4C78D0E8273}"/>
              </a:ext>
            </a:extLst>
          </p:cNvPr>
          <p:cNvSpPr>
            <a:spLocks noGrp="1"/>
          </p:cNvSpPr>
          <p:nvPr>
            <p:ph sz="quarter" idx="11"/>
          </p:nvPr>
        </p:nvSpPr>
        <p:spPr>
          <a:xfrm>
            <a:off x="4266000"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4">
            <a:extLst>
              <a:ext uri="{FF2B5EF4-FFF2-40B4-BE49-F238E27FC236}">
                <a16:creationId xmlns:a16="http://schemas.microsoft.com/office/drawing/2014/main" id="{1B772862-BD3C-7869-DB09-5C7C67173F27}"/>
              </a:ext>
            </a:extLst>
          </p:cNvPr>
          <p:cNvSpPr>
            <a:spLocks noGrp="1"/>
          </p:cNvSpPr>
          <p:nvPr>
            <p:ph sz="quarter" idx="12"/>
          </p:nvPr>
        </p:nvSpPr>
        <p:spPr>
          <a:xfrm>
            <a:off x="8162929"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659282D-E203-D490-4B15-F802032603A3}"/>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2179678630"/>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サブタイトル有">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400110"/>
          </a:xfrm>
        </p:spPr>
        <p:txBody>
          <a:bodyPr tIns="0" bIns="0">
            <a:spAutoFit/>
          </a:bodyPr>
          <a:lstStyle>
            <a:lvl1pPr>
              <a:defRPr sz="2600">
                <a:solidFill>
                  <a:schemeClr val="accent1"/>
                </a:solidFill>
              </a:defRPr>
            </a:lvl1pPr>
          </a:lstStyle>
          <a:p>
            <a:r>
              <a:rPr kumimoji="1" lang="ja-JP" altLang="en-US"/>
              <a:t>［タイトル］</a:t>
            </a:r>
          </a:p>
        </p:txBody>
      </p:sp>
      <p:sp>
        <p:nvSpPr>
          <p:cNvPr id="3" name="テキスト プレースホルダー 2">
            <a:extLst>
              <a:ext uri="{FF2B5EF4-FFF2-40B4-BE49-F238E27FC236}">
                <a16:creationId xmlns:a16="http://schemas.microsoft.com/office/drawing/2014/main" id="{922FFA65-3599-E725-9F45-9CF39BF996EE}"/>
              </a:ext>
            </a:extLst>
          </p:cNvPr>
          <p:cNvSpPr>
            <a:spLocks noGrp="1"/>
          </p:cNvSpPr>
          <p:nvPr>
            <p:ph type="body" sz="quarter" idx="10" hasCustomPrompt="1"/>
          </p:nvPr>
        </p:nvSpPr>
        <p:spPr>
          <a:xfrm>
            <a:off x="371474" y="727200"/>
            <a:ext cx="11448000" cy="288000"/>
          </a:xfrm>
        </p:spPr>
        <p:txBody>
          <a:bodyPr>
            <a:noAutofit/>
          </a:bodyPr>
          <a:lstStyle>
            <a:lvl1pPr>
              <a:defRPr b="1">
                <a:solidFill>
                  <a:schemeClr val="accent2"/>
                </a:solidFill>
              </a:defRPr>
            </a:lvl1pPr>
          </a:lstStyle>
          <a:p>
            <a:pPr lvl="0"/>
            <a:r>
              <a:rPr kumimoji="1" lang="ja-JP" altLang="en-US"/>
              <a:t>［サブタイトル］</a:t>
            </a:r>
          </a:p>
        </p:txBody>
      </p:sp>
      <p:sp>
        <p:nvSpPr>
          <p:cNvPr id="4" name="コンテンツ プレースホルダー 4">
            <a:extLst>
              <a:ext uri="{FF2B5EF4-FFF2-40B4-BE49-F238E27FC236}">
                <a16:creationId xmlns:a16="http://schemas.microsoft.com/office/drawing/2014/main" id="{FE40B33C-3077-F325-8EA7-EEDBA1AD5E20}"/>
              </a:ext>
            </a:extLst>
          </p:cNvPr>
          <p:cNvSpPr>
            <a:spLocks noGrp="1"/>
          </p:cNvSpPr>
          <p:nvPr>
            <p:ph sz="quarter" idx="11"/>
          </p:nvPr>
        </p:nvSpPr>
        <p:spPr>
          <a:xfrm>
            <a:off x="371474" y="1411200"/>
            <a:ext cx="11448000" cy="4824000"/>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ボックス 4">
            <a:extLst>
              <a:ext uri="{FF2B5EF4-FFF2-40B4-BE49-F238E27FC236}">
                <a16:creationId xmlns:a16="http://schemas.microsoft.com/office/drawing/2014/main" id="{0A1A7CDA-C0AA-A8AC-8808-09E8B9AA91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3350789134"/>
      </p:ext>
    </p:extLst>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66189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白紙（フッター有）">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21C562A-25AB-8415-C9E5-F862FADD5F01}"/>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35613631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全面画像">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F524A762-DD3D-0F30-6F39-0BAD647C733D}"/>
              </a:ext>
            </a:extLst>
          </p:cNvPr>
          <p:cNvPicPr>
            <a:picLocks noChangeAspect="1"/>
          </p:cNvPicPr>
          <p:nvPr userDrawn="1"/>
        </p:nvPicPr>
        <p:blipFill>
          <a:blip r:embed="rId2"/>
          <a:srcRect/>
          <a:stretch/>
        </p:blipFill>
        <p:spPr>
          <a:xfrm>
            <a:off x="1" y="-1"/>
            <a:ext cx="12191998" cy="6857998"/>
          </a:xfrm>
          <a:prstGeom prst="rect">
            <a:avLst/>
          </a:prstGeom>
        </p:spPr>
      </p:pic>
      <p:sp>
        <p:nvSpPr>
          <p:cNvPr id="6" name="正方形/長方形 5">
            <a:extLst>
              <a:ext uri="{FF2B5EF4-FFF2-40B4-BE49-F238E27FC236}">
                <a16:creationId xmlns:a16="http://schemas.microsoft.com/office/drawing/2014/main" id="{5E3F105C-816B-C4B5-FF44-9C78401DC345}"/>
              </a:ext>
            </a:extLst>
          </p:cNvPr>
          <p:cNvSpPr/>
          <p:nvPr userDrawn="1"/>
        </p:nvSpPr>
        <p:spPr>
          <a:xfrm>
            <a:off x="0" y="5202000"/>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2" name="タイトル 1">
            <a:extLst>
              <a:ext uri="{FF2B5EF4-FFF2-40B4-BE49-F238E27FC236}">
                <a16:creationId xmlns:a16="http://schemas.microsoft.com/office/drawing/2014/main" id="{B1265E79-47D9-4B17-A967-60D543C5CD4E}"/>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pic>
        <p:nvPicPr>
          <p:cNvPr id="7" name="図 6">
            <a:extLst>
              <a:ext uri="{FF2B5EF4-FFF2-40B4-BE49-F238E27FC236}">
                <a16:creationId xmlns:a16="http://schemas.microsoft.com/office/drawing/2014/main" id="{E6A7D226-AA1D-4565-296E-260FC63988D9}"/>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11" name="テキスト ボックス 10">
            <a:extLst>
              <a:ext uri="{FF2B5EF4-FFF2-40B4-BE49-F238E27FC236}">
                <a16:creationId xmlns:a16="http://schemas.microsoft.com/office/drawing/2014/main" id="{25F7EA9B-E085-E004-36B4-F14995B03396}"/>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2024 NTT DATA Japan Corporation</a:t>
            </a:r>
          </a:p>
        </p:txBody>
      </p:sp>
      <p:sp>
        <p:nvSpPr>
          <p:cNvPr id="12" name="テキスト ボックス 11">
            <a:extLst>
              <a:ext uri="{FF2B5EF4-FFF2-40B4-BE49-F238E27FC236}">
                <a16:creationId xmlns:a16="http://schemas.microsoft.com/office/drawing/2014/main" id="{C56F1922-EBFD-0984-2464-4DD07C5D3F5B}"/>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Tree>
    <p:extLst>
      <p:ext uri="{BB962C8B-B14F-4D97-AF65-F5344CB8AC3E}">
        <p14:creationId xmlns:p14="http://schemas.microsoft.com/office/powerpoint/2010/main" val="3400063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右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BA8380C3-23D1-332E-5763-4E45DE28D8B2}"/>
              </a:ext>
            </a:extLst>
          </p:cNvPr>
          <p:cNvPicPr>
            <a:picLocks noChangeAspect="1"/>
          </p:cNvPicPr>
          <p:nvPr userDrawn="1"/>
        </p:nvPicPr>
        <p:blipFill rotWithShape="1">
          <a:blip r:embed="rId2"/>
          <a:srcRect l="58440" r="8440"/>
          <a:stretch/>
        </p:blipFill>
        <p:spPr>
          <a:xfrm>
            <a:off x="815340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74808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
        <p:nvSpPr>
          <p:cNvPr id="9" name="正方形/長方形 8">
            <a:extLst>
              <a:ext uri="{FF2B5EF4-FFF2-40B4-BE49-F238E27FC236}">
                <a16:creationId xmlns:a16="http://schemas.microsoft.com/office/drawing/2014/main" id="{CA853D6E-6D9F-5F51-58ED-3ED1FABFD06D}"/>
              </a:ext>
            </a:extLst>
          </p:cNvPr>
          <p:cNvSpPr/>
          <p:nvPr userDrawn="1"/>
        </p:nvSpPr>
        <p:spPr>
          <a:xfrm>
            <a:off x="8152800"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10" name="図 9">
            <a:extLst>
              <a:ext uri="{FF2B5EF4-FFF2-40B4-BE49-F238E27FC236}">
                <a16:creationId xmlns:a16="http://schemas.microsoft.com/office/drawing/2014/main" id="{231878D8-FF4D-F5B8-7D51-A27150395E67}"/>
              </a:ext>
            </a:extLst>
          </p:cNvPr>
          <p:cNvPicPr>
            <a:picLocks noChangeAspect="1"/>
          </p:cNvPicPr>
          <p:nvPr userDrawn="1"/>
        </p:nvPicPr>
        <p:blipFill>
          <a:blip r:embed="rId3"/>
          <a:srcRect/>
          <a:stretch/>
        </p:blipFill>
        <p:spPr>
          <a:xfrm>
            <a:off x="10743026" y="6425921"/>
            <a:ext cx="1148891" cy="292658"/>
          </a:xfrm>
          <a:prstGeom prst="rect">
            <a:avLst/>
          </a:prstGeom>
        </p:spPr>
      </p:pic>
    </p:spTree>
    <p:extLst>
      <p:ext uri="{BB962C8B-B14F-4D97-AF65-F5344CB8AC3E}">
        <p14:creationId xmlns:p14="http://schemas.microsoft.com/office/powerpoint/2010/main" val="40721690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左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12BB1B84-3873-592B-346A-382DA695B2B2}"/>
              </a:ext>
            </a:extLst>
          </p:cNvPr>
          <p:cNvPicPr>
            <a:picLocks noChangeAspect="1"/>
          </p:cNvPicPr>
          <p:nvPr userDrawn="1"/>
        </p:nvPicPr>
        <p:blipFill rotWithShape="1">
          <a:blip r:embed="rId2"/>
          <a:srcRect l="58440" r="8440"/>
          <a:stretch/>
        </p:blipFill>
        <p:spPr>
          <a:xfrm>
            <a:off x="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4586400" y="334800"/>
            <a:ext cx="7232400" cy="412538"/>
          </a:xfrm>
        </p:spPr>
        <p:txBody>
          <a:bodyPr tIns="0" bIns="0">
            <a:noAutofit/>
          </a:bodyPr>
          <a:lstStyle>
            <a:lvl1pPr>
              <a:defRPr sz="2600"/>
            </a:lvl1pPr>
          </a:lstStyle>
          <a:p>
            <a:r>
              <a:rPr kumimoji="1" lang="ja-JP" altLang="en-US"/>
              <a:t>［タイトル］</a:t>
            </a:r>
          </a:p>
        </p:txBody>
      </p:sp>
      <p:sp>
        <p:nvSpPr>
          <p:cNvPr id="8" name="テキスト ボックス 7">
            <a:extLst>
              <a:ext uri="{FF2B5EF4-FFF2-40B4-BE49-F238E27FC236}">
                <a16:creationId xmlns:a16="http://schemas.microsoft.com/office/drawing/2014/main" id="{F2A10DC3-739F-B3F0-BA1B-B970F3916583}"/>
              </a:ext>
            </a:extLst>
          </p:cNvPr>
          <p:cNvSpPr txBox="1"/>
          <p:nvPr userDrawn="1"/>
        </p:nvSpPr>
        <p:spPr>
          <a:xfrm>
            <a:off x="77760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
        <p:nvSpPr>
          <p:cNvPr id="4" name="正方形/長方形 3">
            <a:extLst>
              <a:ext uri="{FF2B5EF4-FFF2-40B4-BE49-F238E27FC236}">
                <a16:creationId xmlns:a16="http://schemas.microsoft.com/office/drawing/2014/main" id="{6F909204-40F4-08DA-5F77-8CD9CC767A5B}"/>
              </a:ext>
            </a:extLst>
          </p:cNvPr>
          <p:cNvSpPr/>
          <p:nvPr userDrawn="1"/>
        </p:nvSpPr>
        <p:spPr>
          <a:xfrm>
            <a:off x="-1201"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9" name="テキスト ボックス 8">
            <a:extLst>
              <a:ext uri="{FF2B5EF4-FFF2-40B4-BE49-F238E27FC236}">
                <a16:creationId xmlns:a16="http://schemas.microsoft.com/office/drawing/2014/main" id="{DF1F4A7B-797E-8774-7A15-00748447B4EA}"/>
              </a:ext>
            </a:extLst>
          </p:cNvPr>
          <p:cNvSpPr txBox="1"/>
          <p:nvPr userDrawn="1"/>
        </p:nvSpPr>
        <p:spPr>
          <a:xfrm>
            <a:off x="4496400" y="6562800"/>
            <a:ext cx="32040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rgbClr val="6B6B6B"/>
                </a:solidFill>
              </a:rPr>
              <a:t>© 2024 NTT DATA Japan Corporation</a:t>
            </a:r>
          </a:p>
        </p:txBody>
      </p:sp>
    </p:spTree>
    <p:extLst>
      <p:ext uri="{BB962C8B-B14F-4D97-AF65-F5344CB8AC3E}">
        <p14:creationId xmlns:p14="http://schemas.microsoft.com/office/powerpoint/2010/main" val="4935579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下に画像">
    <p:spTree>
      <p:nvGrpSpPr>
        <p:cNvPr id="1" name=""/>
        <p:cNvGrpSpPr/>
        <p:nvPr/>
      </p:nvGrpSpPr>
      <p:grpSpPr>
        <a:xfrm>
          <a:off x="0" y="0"/>
          <a:ext cx="0" cy="0"/>
          <a:chOff x="0" y="0"/>
          <a:chExt cx="0" cy="0"/>
        </a:xfrm>
      </p:grpSpPr>
      <p:pic>
        <p:nvPicPr>
          <p:cNvPr id="7" name="図プレースホルダー 11">
            <a:extLst>
              <a:ext uri="{FF2B5EF4-FFF2-40B4-BE49-F238E27FC236}">
                <a16:creationId xmlns:a16="http://schemas.microsoft.com/office/drawing/2014/main" id="{C2044BA7-36F7-9477-3C85-FA967B223BAA}"/>
              </a:ext>
            </a:extLst>
          </p:cNvPr>
          <p:cNvPicPr>
            <a:picLocks noChangeAspect="1"/>
          </p:cNvPicPr>
          <p:nvPr userDrawn="1"/>
        </p:nvPicPr>
        <p:blipFill>
          <a:blip r:embed="rId2"/>
          <a:srcRect t="24412" b="24412"/>
          <a:stretch/>
        </p:blipFill>
        <p:spPr>
          <a:xfrm>
            <a:off x="0" y="3351600"/>
            <a:ext cx="12193200" cy="3510000"/>
          </a:xfrm>
          <a:prstGeom prst="rect">
            <a:avLst/>
          </a:prstGeom>
        </p:spPr>
      </p:pic>
      <p:sp>
        <p:nvSpPr>
          <p:cNvPr id="6" name="正方形/長方形 5">
            <a:extLst>
              <a:ext uri="{FF2B5EF4-FFF2-40B4-BE49-F238E27FC236}">
                <a16:creationId xmlns:a16="http://schemas.microsoft.com/office/drawing/2014/main" id="{9C900E81-5532-6F3F-3DCC-003C90BA5ECB}"/>
              </a:ext>
            </a:extLst>
          </p:cNvPr>
          <p:cNvSpPr/>
          <p:nvPr userDrawn="1"/>
        </p:nvSpPr>
        <p:spPr>
          <a:xfrm>
            <a:off x="0" y="5202000"/>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9" name="図 8">
            <a:extLst>
              <a:ext uri="{FF2B5EF4-FFF2-40B4-BE49-F238E27FC236}">
                <a16:creationId xmlns:a16="http://schemas.microsoft.com/office/drawing/2014/main" id="{AE17DA24-7E4F-696A-F536-1C16C913B80D}"/>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3" name="タイトル 1">
            <a:extLst>
              <a:ext uri="{FF2B5EF4-FFF2-40B4-BE49-F238E27FC236}">
                <a16:creationId xmlns:a16="http://schemas.microsoft.com/office/drawing/2014/main" id="{90F45524-EB8E-A1DF-361B-8D78281B5E74}"/>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sp>
        <p:nvSpPr>
          <p:cNvPr id="12" name="テキスト ボックス 11">
            <a:extLst>
              <a:ext uri="{FF2B5EF4-FFF2-40B4-BE49-F238E27FC236}">
                <a16:creationId xmlns:a16="http://schemas.microsoft.com/office/drawing/2014/main" id="{6A05FF2A-BCBB-15AB-3787-FE03495E6FCB}"/>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2024 NTT DATA Japan Corporation</a:t>
            </a:r>
          </a:p>
        </p:txBody>
      </p:sp>
      <p:sp>
        <p:nvSpPr>
          <p:cNvPr id="13" name="テキスト ボックス 12">
            <a:extLst>
              <a:ext uri="{FF2B5EF4-FFF2-40B4-BE49-F238E27FC236}">
                <a16:creationId xmlns:a16="http://schemas.microsoft.com/office/drawing/2014/main" id="{8BBC1440-FAD9-794A-1B15-7B7A16143951}"/>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Tree>
    <p:extLst>
      <p:ext uri="{BB962C8B-B14F-4D97-AF65-F5344CB8AC3E}">
        <p14:creationId xmlns:p14="http://schemas.microsoft.com/office/powerpoint/2010/main" val="41681474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画像3枚">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114480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
        <p:nvSpPr>
          <p:cNvPr id="5" name="Picture Placeholder 6">
            <a:extLst>
              <a:ext uri="{FF2B5EF4-FFF2-40B4-BE49-F238E27FC236}">
                <a16:creationId xmlns:a16="http://schemas.microsoft.com/office/drawing/2014/main" id="{8D8BF745-92BD-988C-34D0-74B4D7534C7D}"/>
              </a:ext>
            </a:extLst>
          </p:cNvPr>
          <p:cNvSpPr>
            <a:spLocks noGrp="1"/>
          </p:cNvSpPr>
          <p:nvPr>
            <p:ph type="pic" sz="quarter" idx="13" hasCustomPrompt="1"/>
          </p:nvPr>
        </p:nvSpPr>
        <p:spPr bwMode="gray">
          <a:xfrm>
            <a:off x="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
        <p:nvSpPr>
          <p:cNvPr id="2" name="Picture Placeholder 6">
            <a:extLst>
              <a:ext uri="{FF2B5EF4-FFF2-40B4-BE49-F238E27FC236}">
                <a16:creationId xmlns:a16="http://schemas.microsoft.com/office/drawing/2014/main" id="{149F5F7A-6BC4-C06C-9C1E-4B267B2B2FE9}"/>
              </a:ext>
            </a:extLst>
          </p:cNvPr>
          <p:cNvSpPr>
            <a:spLocks noGrp="1"/>
          </p:cNvSpPr>
          <p:nvPr>
            <p:ph type="pic" sz="quarter" idx="14" hasCustomPrompt="1"/>
          </p:nvPr>
        </p:nvSpPr>
        <p:spPr bwMode="gray">
          <a:xfrm>
            <a:off x="408960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
        <p:nvSpPr>
          <p:cNvPr id="8" name="Picture Placeholder 6">
            <a:extLst>
              <a:ext uri="{FF2B5EF4-FFF2-40B4-BE49-F238E27FC236}">
                <a16:creationId xmlns:a16="http://schemas.microsoft.com/office/drawing/2014/main" id="{A67C5164-A259-C81F-D67B-6539C0BBF790}"/>
              </a:ext>
            </a:extLst>
          </p:cNvPr>
          <p:cNvSpPr>
            <a:spLocks noGrp="1"/>
          </p:cNvSpPr>
          <p:nvPr>
            <p:ph type="pic" sz="quarter" idx="15" hasCustomPrompt="1"/>
          </p:nvPr>
        </p:nvSpPr>
        <p:spPr bwMode="gray">
          <a:xfrm>
            <a:off x="817560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Tree>
    <p:extLst>
      <p:ext uri="{BB962C8B-B14F-4D97-AF65-F5344CB8AC3E}">
        <p14:creationId xmlns:p14="http://schemas.microsoft.com/office/powerpoint/2010/main" val="5360333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写真集">
    <p:spTree>
      <p:nvGrpSpPr>
        <p:cNvPr id="1" name=""/>
        <p:cNvGrpSpPr/>
        <p:nvPr/>
      </p:nvGrpSpPr>
      <p:grpSpPr>
        <a:xfrm>
          <a:off x="0" y="0"/>
          <a:ext cx="0" cy="0"/>
          <a:chOff x="0" y="0"/>
          <a:chExt cx="0" cy="0"/>
        </a:xfrm>
      </p:grpSpPr>
      <p:sp>
        <p:nvSpPr>
          <p:cNvPr id="5" name="図プレースホルダー 4">
            <a:extLst>
              <a:ext uri="{FF2B5EF4-FFF2-40B4-BE49-F238E27FC236}">
                <a16:creationId xmlns:a16="http://schemas.microsoft.com/office/drawing/2014/main" id="{AF36B133-36B0-B253-B7D4-C28F41A61059}"/>
              </a:ext>
            </a:extLst>
          </p:cNvPr>
          <p:cNvSpPr>
            <a:spLocks noGrp="1"/>
          </p:cNvSpPr>
          <p:nvPr>
            <p:ph type="pic" sz="quarter" idx="11" hasCustomPrompt="1"/>
          </p:nvPr>
        </p:nvSpPr>
        <p:spPr>
          <a:xfrm>
            <a:off x="370800" y="334800"/>
            <a:ext cx="4420800" cy="3546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2" name="タイトル 1">
            <a:extLst>
              <a:ext uri="{FF2B5EF4-FFF2-40B4-BE49-F238E27FC236}">
                <a16:creationId xmlns:a16="http://schemas.microsoft.com/office/drawing/2014/main" id="{760F00A5-A022-0540-F2CC-D4AA03AB45B3}"/>
              </a:ext>
            </a:extLst>
          </p:cNvPr>
          <p:cNvSpPr>
            <a:spLocks noGrp="1"/>
          </p:cNvSpPr>
          <p:nvPr>
            <p:ph type="title" hasCustomPrompt="1"/>
          </p:nvPr>
        </p:nvSpPr>
        <p:spPr>
          <a:xfrm>
            <a:off x="370800" y="2422800"/>
            <a:ext cx="4420800" cy="1458000"/>
          </a:xfrm>
        </p:spPr>
        <p:txBody>
          <a:bodyPr>
            <a:noAutofit/>
          </a:bodyPr>
          <a:lstStyle>
            <a:lvl1pPr algn="ctr">
              <a:defRPr sz="2130" b="0">
                <a:solidFill>
                  <a:schemeClr val="bg1"/>
                </a:solidFill>
              </a:defRPr>
            </a:lvl1pPr>
          </a:lstStyle>
          <a:p>
            <a:r>
              <a:rPr kumimoji="1" lang="ja-JP" altLang="en-US"/>
              <a:t>マスター テキストの書式設定</a:t>
            </a:r>
          </a:p>
        </p:txBody>
      </p:sp>
      <p:sp>
        <p:nvSpPr>
          <p:cNvPr id="7" name="テキスト プレースホルダー 6">
            <a:extLst>
              <a:ext uri="{FF2B5EF4-FFF2-40B4-BE49-F238E27FC236}">
                <a16:creationId xmlns:a16="http://schemas.microsoft.com/office/drawing/2014/main" id="{786AAEE8-9706-2A45-5CC0-A6743ACE48DC}"/>
              </a:ext>
            </a:extLst>
          </p:cNvPr>
          <p:cNvSpPr>
            <a:spLocks noGrp="1"/>
          </p:cNvSpPr>
          <p:nvPr>
            <p:ph type="body" sz="quarter" idx="12"/>
          </p:nvPr>
        </p:nvSpPr>
        <p:spPr>
          <a:xfrm>
            <a:off x="370800" y="3988800"/>
            <a:ext cx="3420000" cy="2250000"/>
          </a:xfrm>
          <a:solidFill>
            <a:schemeClr val="accent6"/>
          </a:solidFill>
        </p:spPr>
        <p:txBody>
          <a:bodyPr anchor="ctr"/>
          <a:lstStyle>
            <a:lvl1pPr algn="l">
              <a:defRPr sz="2670" b="1"/>
            </a:lvl1pPr>
          </a:lstStyle>
          <a:p>
            <a:pPr lvl="0"/>
            <a:r>
              <a:rPr kumimoji="1" lang="ja-JP" altLang="en-US"/>
              <a:t>マスター テキストの書式設定</a:t>
            </a:r>
          </a:p>
        </p:txBody>
      </p:sp>
      <p:sp>
        <p:nvSpPr>
          <p:cNvPr id="9" name="テキスト プレースホルダー 8">
            <a:extLst>
              <a:ext uri="{FF2B5EF4-FFF2-40B4-BE49-F238E27FC236}">
                <a16:creationId xmlns:a16="http://schemas.microsoft.com/office/drawing/2014/main" id="{47250683-2213-51C3-F47C-D3BB0C13BFD4}"/>
              </a:ext>
            </a:extLst>
          </p:cNvPr>
          <p:cNvSpPr>
            <a:spLocks noGrp="1"/>
          </p:cNvSpPr>
          <p:nvPr>
            <p:ph type="body" sz="quarter" idx="13"/>
          </p:nvPr>
        </p:nvSpPr>
        <p:spPr>
          <a:xfrm>
            <a:off x="4903200" y="334800"/>
            <a:ext cx="4348800" cy="3556800"/>
          </a:xfrm>
          <a:solidFill>
            <a:schemeClr val="accent1"/>
          </a:solidFill>
        </p:spPr>
        <p:txBody>
          <a:bodyPr anchor="ctr"/>
          <a:lstStyle>
            <a:lvl1pPr algn="l">
              <a:defRPr sz="3200" b="1">
                <a:solidFill>
                  <a:schemeClr val="bg1"/>
                </a:solidFill>
              </a:defRPr>
            </a:lvl1pPr>
          </a:lstStyle>
          <a:p>
            <a:pPr lvl="0"/>
            <a:r>
              <a:rPr kumimoji="1" lang="ja-JP" altLang="en-US"/>
              <a:t>マスター テキストの書式設定</a:t>
            </a:r>
          </a:p>
        </p:txBody>
      </p:sp>
      <p:sp>
        <p:nvSpPr>
          <p:cNvPr id="11" name="図プレースホルダー 10">
            <a:extLst>
              <a:ext uri="{FF2B5EF4-FFF2-40B4-BE49-F238E27FC236}">
                <a16:creationId xmlns:a16="http://schemas.microsoft.com/office/drawing/2014/main" id="{D127BBDB-D025-FD8A-C85D-A801D42BDD16}"/>
              </a:ext>
            </a:extLst>
          </p:cNvPr>
          <p:cNvSpPr>
            <a:spLocks noGrp="1"/>
          </p:cNvSpPr>
          <p:nvPr>
            <p:ph type="pic" sz="quarter" idx="14" hasCustomPrompt="1"/>
          </p:nvPr>
        </p:nvSpPr>
        <p:spPr>
          <a:xfrm>
            <a:off x="3877200" y="3988800"/>
            <a:ext cx="5371200" cy="2249487"/>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3" name="テキスト プレースホルダー 12">
            <a:extLst>
              <a:ext uri="{FF2B5EF4-FFF2-40B4-BE49-F238E27FC236}">
                <a16:creationId xmlns:a16="http://schemas.microsoft.com/office/drawing/2014/main" id="{A7430A91-EF7E-38AA-26AE-08F2AE017756}"/>
              </a:ext>
            </a:extLst>
          </p:cNvPr>
          <p:cNvSpPr>
            <a:spLocks noGrp="1"/>
          </p:cNvSpPr>
          <p:nvPr>
            <p:ph type="body" sz="quarter" idx="15"/>
          </p:nvPr>
        </p:nvSpPr>
        <p:spPr>
          <a:xfrm>
            <a:off x="3877200" y="5400000"/>
            <a:ext cx="5371200" cy="838800"/>
          </a:xfrm>
        </p:spPr>
        <p:txBody>
          <a:bodyPr anchor="t" anchorCtr="0"/>
          <a:lstStyle>
            <a:lvl1pPr algn="ctr">
              <a:defRPr>
                <a:solidFill>
                  <a:schemeClr val="bg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kumimoji="1" lang="ja-JP" altLang="en-US"/>
              <a:t>マスター テキストの書式設定</a:t>
            </a:r>
          </a:p>
        </p:txBody>
      </p:sp>
      <p:sp>
        <p:nvSpPr>
          <p:cNvPr id="15" name="テキスト プレースホルダー 14">
            <a:extLst>
              <a:ext uri="{FF2B5EF4-FFF2-40B4-BE49-F238E27FC236}">
                <a16:creationId xmlns:a16="http://schemas.microsoft.com/office/drawing/2014/main" id="{8E3F89E9-9AFA-9CD7-A1FE-3F17B7226957}"/>
              </a:ext>
            </a:extLst>
          </p:cNvPr>
          <p:cNvSpPr>
            <a:spLocks noGrp="1"/>
          </p:cNvSpPr>
          <p:nvPr>
            <p:ph type="body" sz="quarter" idx="16"/>
          </p:nvPr>
        </p:nvSpPr>
        <p:spPr>
          <a:xfrm>
            <a:off x="9360000" y="334800"/>
            <a:ext cx="2473200" cy="1699200"/>
          </a:xfrm>
          <a:solidFill>
            <a:schemeClr val="accent6"/>
          </a:solidFill>
        </p:spPr>
        <p:txBody>
          <a:bodyPr anchor="ct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17" name="図プレースホルダー 16">
            <a:extLst>
              <a:ext uri="{FF2B5EF4-FFF2-40B4-BE49-F238E27FC236}">
                <a16:creationId xmlns:a16="http://schemas.microsoft.com/office/drawing/2014/main" id="{36D62073-F3ED-902D-ABDD-53B579CEBC66}"/>
              </a:ext>
            </a:extLst>
          </p:cNvPr>
          <p:cNvSpPr>
            <a:spLocks noGrp="1"/>
          </p:cNvSpPr>
          <p:nvPr>
            <p:ph type="pic" sz="quarter" idx="17" hasCustomPrompt="1"/>
          </p:nvPr>
        </p:nvSpPr>
        <p:spPr>
          <a:xfrm>
            <a:off x="9349200" y="2138400"/>
            <a:ext cx="2484000" cy="2682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9" name="テキスト プレースホルダー 18">
            <a:extLst>
              <a:ext uri="{FF2B5EF4-FFF2-40B4-BE49-F238E27FC236}">
                <a16:creationId xmlns:a16="http://schemas.microsoft.com/office/drawing/2014/main" id="{4A8E1685-4EC8-2142-116E-6C7F07537E72}"/>
              </a:ext>
            </a:extLst>
          </p:cNvPr>
          <p:cNvSpPr>
            <a:spLocks noGrp="1"/>
          </p:cNvSpPr>
          <p:nvPr>
            <p:ph type="body" sz="quarter" idx="18"/>
          </p:nvPr>
        </p:nvSpPr>
        <p:spPr>
          <a:xfrm>
            <a:off x="9360000" y="3744000"/>
            <a:ext cx="2473200" cy="1076400"/>
          </a:xfrm>
        </p:spPr>
        <p:txBody>
          <a:bodyP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21" name="テキスト プレースホルダー 20">
            <a:extLst>
              <a:ext uri="{FF2B5EF4-FFF2-40B4-BE49-F238E27FC236}">
                <a16:creationId xmlns:a16="http://schemas.microsoft.com/office/drawing/2014/main" id="{A9A8FCD4-EB65-F684-B13F-80CED75EC550}"/>
              </a:ext>
            </a:extLst>
          </p:cNvPr>
          <p:cNvSpPr>
            <a:spLocks noGrp="1"/>
          </p:cNvSpPr>
          <p:nvPr>
            <p:ph type="body" sz="quarter" idx="19"/>
          </p:nvPr>
        </p:nvSpPr>
        <p:spPr>
          <a:xfrm>
            <a:off x="9349200" y="4928400"/>
            <a:ext cx="2469600" cy="1310400"/>
          </a:xfrm>
          <a:solidFill>
            <a:schemeClr val="accent2"/>
          </a:solidFill>
        </p:spPr>
        <p:txBody>
          <a:bodyPr anchor="ctr"/>
          <a:lstStyle>
            <a:lvl1pPr algn="ctr">
              <a:defRPr sz="2130">
                <a:solidFill>
                  <a:schemeClr val="bg1"/>
                </a:solidFill>
              </a:defRPr>
            </a:lvl1pPr>
          </a:lstStyle>
          <a:p>
            <a:pPr lvl="0"/>
            <a:r>
              <a:rPr kumimoji="1" lang="ja-JP" altLang="en-US"/>
              <a:t>マスター テキストの書式設定</a:t>
            </a:r>
          </a:p>
        </p:txBody>
      </p:sp>
      <p:sp>
        <p:nvSpPr>
          <p:cNvPr id="8" name="テキスト ボックス 7">
            <a:extLst>
              <a:ext uri="{FF2B5EF4-FFF2-40B4-BE49-F238E27FC236}">
                <a16:creationId xmlns:a16="http://schemas.microsoft.com/office/drawing/2014/main" id="{C76A7A10-7575-DD29-07D8-321ECD75E9AA}"/>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32738338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白背景">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D5407A4A-3DB7-4C09-9159-4E2F57E6F3A7}"/>
              </a:ext>
            </a:extLst>
          </p:cNvPr>
          <p:cNvPicPr>
            <a:picLocks noChangeAspect="1"/>
          </p:cNvPicPr>
          <p:nvPr userDrawn="1"/>
        </p:nvPicPr>
        <p:blipFill>
          <a:blip r:embed="rId2"/>
          <a:srcRect/>
          <a:stretch/>
        </p:blipFill>
        <p:spPr>
          <a:xfrm>
            <a:off x="3877768" y="2865911"/>
            <a:ext cx="4436464" cy="1126177"/>
          </a:xfrm>
          <a:prstGeom prst="rect">
            <a:avLst/>
          </a:prstGeom>
        </p:spPr>
      </p:pic>
    </p:spTree>
    <p:extLst>
      <p:ext uri="{BB962C8B-B14F-4D97-AF65-F5344CB8AC3E}">
        <p14:creationId xmlns:p14="http://schemas.microsoft.com/office/powerpoint/2010/main" val="11673992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写真背景">
    <p:bg>
      <p:bgRef idx="1001">
        <a:schemeClr val="bg1"/>
      </p:bgRef>
    </p:bg>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32BAA3C9-E6D9-AE11-A16C-34CC9C76E6A5}"/>
              </a:ext>
            </a:extLst>
          </p:cNvPr>
          <p:cNvPicPr>
            <a:picLocks noChangeAspect="1"/>
          </p:cNvPicPr>
          <p:nvPr userDrawn="1"/>
        </p:nvPicPr>
        <p:blipFill>
          <a:blip r:embed="rId2"/>
          <a:srcRect/>
          <a:stretch/>
        </p:blipFill>
        <p:spPr>
          <a:xfrm>
            <a:off x="1" y="-1"/>
            <a:ext cx="12191998" cy="6857999"/>
          </a:xfrm>
          <a:prstGeom prst="rect">
            <a:avLst/>
          </a:prstGeom>
        </p:spPr>
      </p:pic>
      <p:sp>
        <p:nvSpPr>
          <p:cNvPr id="11" name="正方形/長方形 10">
            <a:extLst>
              <a:ext uri="{FF2B5EF4-FFF2-40B4-BE49-F238E27FC236}">
                <a16:creationId xmlns:a16="http://schemas.microsoft.com/office/drawing/2014/main" id="{4EB59AC5-1B60-A021-8B7D-DF59CBAD3A75}"/>
              </a:ext>
            </a:extLst>
          </p:cNvPr>
          <p:cNvSpPr/>
          <p:nvPr userDrawn="1"/>
        </p:nvSpPr>
        <p:spPr>
          <a:xfrm>
            <a:off x="0" y="2"/>
            <a:ext cx="12192000" cy="6857998"/>
          </a:xfrm>
          <a:prstGeom prst="rect">
            <a:avLst/>
          </a:prstGeom>
          <a:solidFill>
            <a:srgbClr val="050D24">
              <a:alpha val="58367"/>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12" name="図 11">
            <a:extLst>
              <a:ext uri="{FF2B5EF4-FFF2-40B4-BE49-F238E27FC236}">
                <a16:creationId xmlns:a16="http://schemas.microsoft.com/office/drawing/2014/main" id="{CB41749C-507D-C7F2-AA9C-DC270B029338}"/>
              </a:ext>
            </a:extLst>
          </p:cNvPr>
          <p:cNvPicPr>
            <a:picLocks noChangeAspect="1"/>
          </p:cNvPicPr>
          <p:nvPr userDrawn="1"/>
        </p:nvPicPr>
        <p:blipFill>
          <a:blip r:embed="rId3"/>
          <a:srcRect/>
          <a:stretch/>
        </p:blipFill>
        <p:spPr>
          <a:xfrm>
            <a:off x="3885475" y="2865911"/>
            <a:ext cx="4421049" cy="1126177"/>
          </a:xfrm>
          <a:prstGeom prst="rect">
            <a:avLst/>
          </a:prstGeom>
        </p:spPr>
      </p:pic>
    </p:spTree>
    <p:extLst>
      <p:ext uri="{BB962C8B-B14F-4D97-AF65-F5344CB8AC3E}">
        <p14:creationId xmlns:p14="http://schemas.microsoft.com/office/powerpoint/2010/main" val="3348986222"/>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914A62E0-557E-B957-9899-5EBF45E3EA8C}"/>
              </a:ext>
            </a:extLst>
          </p:cNvPr>
          <p:cNvPicPr>
            <a:picLocks noChangeAspect="1"/>
          </p:cNvPicPr>
          <p:nvPr userDrawn="1"/>
        </p:nvPicPr>
        <p:blipFill>
          <a:blip r:embed="rId2"/>
          <a:srcRect/>
          <a:stretch/>
        </p:blipFill>
        <p:spPr>
          <a:xfrm>
            <a:off x="1" y="-1"/>
            <a:ext cx="12191998" cy="6857999"/>
          </a:xfrm>
          <a:prstGeom prst="rect">
            <a:avLst/>
          </a:prstGeom>
        </p:spPr>
      </p:pic>
      <p:sp>
        <p:nvSpPr>
          <p:cNvPr id="15" name="正方形/長方形 14">
            <a:extLst>
              <a:ext uri="{FF2B5EF4-FFF2-40B4-BE49-F238E27FC236}">
                <a16:creationId xmlns:a16="http://schemas.microsoft.com/office/drawing/2014/main" id="{B21D845A-6F22-B3AA-CB2B-CE570ECB54DA}"/>
              </a:ext>
            </a:extLst>
          </p:cNvPr>
          <p:cNvSpPr/>
          <p:nvPr userDrawn="1"/>
        </p:nvSpPr>
        <p:spPr>
          <a:xfrm>
            <a:off x="0" y="0"/>
            <a:ext cx="12187500"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14" name="図 13">
            <a:extLst>
              <a:ext uri="{FF2B5EF4-FFF2-40B4-BE49-F238E27FC236}">
                <a16:creationId xmlns:a16="http://schemas.microsoft.com/office/drawing/2014/main" id="{293D96B2-6F5E-EE7E-9F24-93B0B654C8F0}"/>
              </a:ext>
            </a:extLst>
          </p:cNvPr>
          <p:cNvPicPr>
            <a:picLocks noChangeAspect="1"/>
          </p:cNvPicPr>
          <p:nvPr userDrawn="1"/>
        </p:nvPicPr>
        <p:blipFill>
          <a:blip r:embed="rId3"/>
          <a:stretch>
            <a:fillRect/>
          </a:stretch>
        </p:blipFill>
        <p:spPr>
          <a:xfrm>
            <a:off x="5354200" y="0"/>
            <a:ext cx="6837800" cy="6876000"/>
          </a:xfrm>
          <a:prstGeom prst="rect">
            <a:avLst/>
          </a:prstGeom>
        </p:spPr>
      </p:pic>
      <p:pic>
        <p:nvPicPr>
          <p:cNvPr id="7" name="図 6">
            <a:extLst>
              <a:ext uri="{FF2B5EF4-FFF2-40B4-BE49-F238E27FC236}">
                <a16:creationId xmlns:a16="http://schemas.microsoft.com/office/drawing/2014/main" id="{306268F2-28E0-79B7-DA6F-57A7B640AE86}"/>
              </a:ext>
            </a:extLst>
          </p:cNvPr>
          <p:cNvPicPr>
            <a:picLocks noChangeAspect="1"/>
          </p:cNvPicPr>
          <p:nvPr userDrawn="1"/>
        </p:nvPicPr>
        <p:blipFill>
          <a:blip r:embed="rId4"/>
          <a:srcRect/>
          <a:stretch/>
        </p:blipFill>
        <p:spPr>
          <a:xfrm>
            <a:off x="231864" y="191534"/>
            <a:ext cx="2237123" cy="569864"/>
          </a:xfrm>
          <a:prstGeom prst="rect">
            <a:avLst/>
          </a:prstGeom>
        </p:spPr>
      </p:pic>
      <p:sp>
        <p:nvSpPr>
          <p:cNvPr id="17" name="テキスト ボックス 16">
            <a:extLst>
              <a:ext uri="{FF2B5EF4-FFF2-40B4-BE49-F238E27FC236}">
                <a16:creationId xmlns:a16="http://schemas.microsoft.com/office/drawing/2014/main" id="{638584A2-F12B-7FC9-C3A1-97D2EFB00B41}"/>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2024 NTT DATA Japan Corporation</a:t>
            </a:r>
          </a:p>
        </p:txBody>
      </p:sp>
      <p:sp>
        <p:nvSpPr>
          <p:cNvPr id="2" name="タイトル 2">
            <a:extLst>
              <a:ext uri="{FF2B5EF4-FFF2-40B4-BE49-F238E27FC236}">
                <a16:creationId xmlns:a16="http://schemas.microsoft.com/office/drawing/2014/main" id="{9FFE2739-2E04-47EE-56DD-BB294EDAFE24}"/>
              </a:ext>
            </a:extLst>
          </p:cNvPr>
          <p:cNvSpPr>
            <a:spLocks noGrp="1"/>
          </p:cNvSpPr>
          <p:nvPr>
            <p:ph type="title" hasCustomPrompt="1"/>
          </p:nvPr>
        </p:nvSpPr>
        <p:spPr>
          <a:xfrm>
            <a:off x="381600" y="864000"/>
            <a:ext cx="4842000" cy="795600"/>
          </a:xfrm>
          <a:prstGeom prst="rect">
            <a:avLst/>
          </a:prstGeom>
        </p:spPr>
        <p:txBody>
          <a:bodyPr lIns="0" rIns="0" anchor="b" anchorCtr="0"/>
          <a:lstStyle>
            <a:lvl1pPr>
              <a:defRPr>
                <a:solidFill>
                  <a:schemeClr val="bg1"/>
                </a:solidFill>
              </a:defRPr>
            </a:lvl1pPr>
          </a:lstStyle>
          <a:p>
            <a:pPr lvl="0"/>
            <a:r>
              <a:rPr kumimoji="1" lang="ja-JP" altLang="en-US"/>
              <a:t>○○○○御中</a:t>
            </a:r>
          </a:p>
        </p:txBody>
      </p:sp>
      <p:sp>
        <p:nvSpPr>
          <p:cNvPr id="9" name="テキスト プレースホルダー 6">
            <a:extLst>
              <a:ext uri="{FF2B5EF4-FFF2-40B4-BE49-F238E27FC236}">
                <a16:creationId xmlns:a16="http://schemas.microsoft.com/office/drawing/2014/main" id="{F837CDFA-F63F-E633-A624-CDB5B06CAF47}"/>
              </a:ext>
            </a:extLst>
          </p:cNvPr>
          <p:cNvSpPr>
            <a:spLocks noGrp="1"/>
          </p:cNvSpPr>
          <p:nvPr>
            <p:ph type="body" sz="quarter" idx="12" hasCustomPrompt="1"/>
          </p:nvPr>
        </p:nvSpPr>
        <p:spPr>
          <a:xfrm>
            <a:off x="381600" y="2188800"/>
            <a:ext cx="4842000" cy="2412000"/>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a:t>［タイトル］</a:t>
            </a:r>
          </a:p>
        </p:txBody>
      </p:sp>
      <p:sp>
        <p:nvSpPr>
          <p:cNvPr id="10" name="テキスト プレースホルダー 10">
            <a:extLst>
              <a:ext uri="{FF2B5EF4-FFF2-40B4-BE49-F238E27FC236}">
                <a16:creationId xmlns:a16="http://schemas.microsoft.com/office/drawing/2014/main" id="{C902823D-1000-9AD4-A5D1-BC7E7F7ABDBA}"/>
              </a:ext>
            </a:extLst>
          </p:cNvPr>
          <p:cNvSpPr>
            <a:spLocks noGrp="1"/>
          </p:cNvSpPr>
          <p:nvPr>
            <p:ph type="body" sz="quarter" idx="14" hasCustomPrompt="1"/>
          </p:nvPr>
        </p:nvSpPr>
        <p:spPr>
          <a:xfrm>
            <a:off x="381600" y="5191200"/>
            <a:ext cx="4842000" cy="1119600"/>
          </a:xfrm>
          <a:prstGeom prst="rect">
            <a:avLst/>
          </a:prstGeom>
        </p:spPr>
        <p:txBody>
          <a:bodyPr lIns="0" tIns="46800" rIns="0" anchor="b"/>
          <a:lstStyle>
            <a:lvl1pPr>
              <a:defRPr>
                <a:solidFill>
                  <a:schemeClr val="bg1"/>
                </a:solidFill>
              </a:defRPr>
            </a:lvl1pPr>
            <a:lvl5pPr marL="2438216" indent="0">
              <a:buNone/>
              <a:defRPr/>
            </a:lvl5pPr>
          </a:lstStyle>
          <a:p>
            <a:pPr lvl="0"/>
            <a:r>
              <a:rPr kumimoji="1" lang="en-US" altLang="ja-JP"/>
              <a:t>2023</a:t>
            </a:r>
            <a:r>
              <a:rPr kumimoji="1" lang="ja-JP" altLang="en-US"/>
              <a:t>年〇月〇日</a:t>
            </a:r>
            <a:endParaRPr kumimoji="1" lang="en-US" altLang="ja-JP"/>
          </a:p>
          <a:p>
            <a:pPr lvl="0"/>
            <a:r>
              <a:rPr kumimoji="1" lang="ja-JP" altLang="en-US"/>
              <a:t>株式会社</a:t>
            </a:r>
            <a:r>
              <a:rPr kumimoji="1" lang="en-US" altLang="ja-JP"/>
              <a:t>NTT</a:t>
            </a:r>
            <a:r>
              <a:rPr kumimoji="1" lang="ja-JP" altLang="en-US"/>
              <a:t>データ ○○○○○○</a:t>
            </a:r>
          </a:p>
          <a:p>
            <a:pPr lvl="0"/>
            <a:r>
              <a:rPr kumimoji="1" lang="ja-JP" altLang="en-US"/>
              <a:t>○○○○○○○○○○○○○○</a:t>
            </a:r>
          </a:p>
        </p:txBody>
      </p:sp>
    </p:spTree>
    <p:extLst>
      <p:ext uri="{BB962C8B-B14F-4D97-AF65-F5344CB8AC3E}">
        <p14:creationId xmlns:p14="http://schemas.microsoft.com/office/powerpoint/2010/main" val="34610233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イノベーションカーブ一部">
    <p:spTree>
      <p:nvGrpSpPr>
        <p:cNvPr id="1" name=""/>
        <p:cNvGrpSpPr/>
        <p:nvPr/>
      </p:nvGrpSpPr>
      <p:grpSpPr>
        <a:xfrm>
          <a:off x="0" y="0"/>
          <a:ext cx="0" cy="0"/>
          <a:chOff x="0" y="0"/>
          <a:chExt cx="0" cy="0"/>
        </a:xfrm>
      </p:grpSpPr>
      <p:pic>
        <p:nvPicPr>
          <p:cNvPr id="3" name="Picture Placeholder 8">
            <a:extLst>
              <a:ext uri="{FF2B5EF4-FFF2-40B4-BE49-F238E27FC236}">
                <a16:creationId xmlns:a16="http://schemas.microsoft.com/office/drawing/2014/main" id="{135D64F4-1CA0-56CF-8C07-767DED8AAB1A}"/>
              </a:ext>
            </a:extLst>
          </p:cNvPr>
          <p:cNvPicPr>
            <a:picLocks noChangeAspect="1"/>
          </p:cNvPicPr>
          <p:nvPr userDrawn="1"/>
        </p:nvPicPr>
        <p:blipFill>
          <a:blip r:embed="rId2"/>
          <a:srcRect/>
          <a:stretch/>
        </p:blipFill>
        <p:spPr>
          <a:xfrm>
            <a:off x="1" y="-1"/>
            <a:ext cx="12191998" cy="6857999"/>
          </a:xfrm>
          <a:prstGeom prst="rect">
            <a:avLst/>
          </a:prstGeom>
        </p:spPr>
      </p:pic>
      <p:sp>
        <p:nvSpPr>
          <p:cNvPr id="8" name="正方形/長方形 7">
            <a:extLst>
              <a:ext uri="{FF2B5EF4-FFF2-40B4-BE49-F238E27FC236}">
                <a16:creationId xmlns:a16="http://schemas.microsoft.com/office/drawing/2014/main" id="{297923DD-A187-436F-BFDF-933B5E40DE59}"/>
              </a:ext>
            </a:extLst>
          </p:cNvPr>
          <p:cNvSpPr/>
          <p:nvPr userDrawn="1"/>
        </p:nvSpPr>
        <p:spPr>
          <a:xfrm>
            <a:off x="0" y="0"/>
            <a:ext cx="12187500"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5" name="図 4">
            <a:extLst>
              <a:ext uri="{FF2B5EF4-FFF2-40B4-BE49-F238E27FC236}">
                <a16:creationId xmlns:a16="http://schemas.microsoft.com/office/drawing/2014/main" id="{1F0B3FE2-7046-025F-1030-28927CDF7940}"/>
              </a:ext>
            </a:extLst>
          </p:cNvPr>
          <p:cNvPicPr>
            <a:picLocks noChangeAspect="1"/>
          </p:cNvPicPr>
          <p:nvPr userDrawn="1"/>
        </p:nvPicPr>
        <p:blipFill>
          <a:blip r:embed="rId3"/>
          <a:srcRect/>
          <a:stretch/>
        </p:blipFill>
        <p:spPr>
          <a:xfrm>
            <a:off x="231864" y="191534"/>
            <a:ext cx="2237123" cy="569864"/>
          </a:xfrm>
          <a:prstGeom prst="rect">
            <a:avLst/>
          </a:prstGeom>
        </p:spPr>
      </p:pic>
      <p:pic>
        <p:nvPicPr>
          <p:cNvPr id="7" name="図 6">
            <a:extLst>
              <a:ext uri="{FF2B5EF4-FFF2-40B4-BE49-F238E27FC236}">
                <a16:creationId xmlns:a16="http://schemas.microsoft.com/office/drawing/2014/main" id="{C26356CC-4A55-00B4-4C29-4C4FF9AC3E50}"/>
              </a:ext>
            </a:extLst>
          </p:cNvPr>
          <p:cNvPicPr>
            <a:picLocks noChangeAspect="1"/>
          </p:cNvPicPr>
          <p:nvPr userDrawn="1"/>
        </p:nvPicPr>
        <p:blipFill>
          <a:blip r:embed="rId4"/>
          <a:stretch>
            <a:fillRect/>
          </a:stretch>
        </p:blipFill>
        <p:spPr>
          <a:xfrm>
            <a:off x="7628966" y="0"/>
            <a:ext cx="4558534" cy="6876000"/>
          </a:xfrm>
          <a:prstGeom prst="rect">
            <a:avLst/>
          </a:prstGeom>
        </p:spPr>
      </p:pic>
      <p:sp>
        <p:nvSpPr>
          <p:cNvPr id="10" name="テキスト ボックス 9">
            <a:extLst>
              <a:ext uri="{FF2B5EF4-FFF2-40B4-BE49-F238E27FC236}">
                <a16:creationId xmlns:a16="http://schemas.microsoft.com/office/drawing/2014/main" id="{253D2BDA-26EA-370D-2084-F7F1C3809C6A}"/>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2024 NTT DATA Japan Corporation</a:t>
            </a:r>
          </a:p>
        </p:txBody>
      </p:sp>
      <p:sp>
        <p:nvSpPr>
          <p:cNvPr id="2" name="タイトル 2">
            <a:extLst>
              <a:ext uri="{FF2B5EF4-FFF2-40B4-BE49-F238E27FC236}">
                <a16:creationId xmlns:a16="http://schemas.microsoft.com/office/drawing/2014/main" id="{FDC3CA59-45BD-B018-FE26-B50D0990128D}"/>
              </a:ext>
            </a:extLst>
          </p:cNvPr>
          <p:cNvSpPr>
            <a:spLocks noGrp="1"/>
          </p:cNvSpPr>
          <p:nvPr>
            <p:ph type="title" hasCustomPrompt="1"/>
          </p:nvPr>
        </p:nvSpPr>
        <p:spPr>
          <a:xfrm>
            <a:off x="381600" y="1450800"/>
            <a:ext cx="7185600" cy="795600"/>
          </a:xfrm>
          <a:prstGeom prst="rect">
            <a:avLst/>
          </a:prstGeom>
        </p:spPr>
        <p:txBody>
          <a:bodyPr lIns="0" rIns="0" anchor="b" anchorCtr="0"/>
          <a:lstStyle>
            <a:lvl1pPr>
              <a:defRPr>
                <a:solidFill>
                  <a:schemeClr val="bg1"/>
                </a:solidFill>
              </a:defRPr>
            </a:lvl1pPr>
          </a:lstStyle>
          <a:p>
            <a:pPr lvl="0"/>
            <a:r>
              <a:rPr kumimoji="1" lang="ja-JP" altLang="en-US"/>
              <a:t>○○○○御中</a:t>
            </a:r>
          </a:p>
        </p:txBody>
      </p:sp>
      <p:sp>
        <p:nvSpPr>
          <p:cNvPr id="12" name="テキスト プレースホルダー 6">
            <a:extLst>
              <a:ext uri="{FF2B5EF4-FFF2-40B4-BE49-F238E27FC236}">
                <a16:creationId xmlns:a16="http://schemas.microsoft.com/office/drawing/2014/main" id="{2704D472-D7F1-5C17-D2C9-89CA9C7E6E83}"/>
              </a:ext>
            </a:extLst>
          </p:cNvPr>
          <p:cNvSpPr>
            <a:spLocks noGrp="1"/>
          </p:cNvSpPr>
          <p:nvPr>
            <p:ph type="body" sz="quarter" idx="11" hasCustomPrompt="1"/>
          </p:nvPr>
        </p:nvSpPr>
        <p:spPr>
          <a:xfrm>
            <a:off x="381600" y="2246399"/>
            <a:ext cx="7185600" cy="2346865"/>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a:t>［タイトル］</a:t>
            </a:r>
          </a:p>
        </p:txBody>
      </p:sp>
      <p:sp>
        <p:nvSpPr>
          <p:cNvPr id="13" name="テキスト プレースホルダー 10">
            <a:extLst>
              <a:ext uri="{FF2B5EF4-FFF2-40B4-BE49-F238E27FC236}">
                <a16:creationId xmlns:a16="http://schemas.microsoft.com/office/drawing/2014/main" id="{FF2F9E31-F480-6E30-B7CC-0D2A360E0E4D}"/>
              </a:ext>
            </a:extLst>
          </p:cNvPr>
          <p:cNvSpPr>
            <a:spLocks noGrp="1"/>
          </p:cNvSpPr>
          <p:nvPr>
            <p:ph type="body" sz="quarter" idx="13" hasCustomPrompt="1"/>
          </p:nvPr>
        </p:nvSpPr>
        <p:spPr>
          <a:xfrm>
            <a:off x="381600" y="5191200"/>
            <a:ext cx="7185600" cy="1119600"/>
          </a:xfrm>
          <a:prstGeom prst="rect">
            <a:avLst/>
          </a:prstGeom>
        </p:spPr>
        <p:txBody>
          <a:bodyPr lIns="0" tIns="46800" rIns="0" anchor="b"/>
          <a:lstStyle>
            <a:lvl1pPr>
              <a:defRPr>
                <a:solidFill>
                  <a:schemeClr val="bg1"/>
                </a:solidFill>
              </a:defRPr>
            </a:lvl1pPr>
            <a:lvl5pPr marL="2438216" indent="0">
              <a:buNone/>
              <a:defRPr/>
            </a:lvl5pPr>
          </a:lstStyle>
          <a:p>
            <a:pPr lvl="0"/>
            <a:r>
              <a:rPr kumimoji="1" lang="en-US" altLang="ja-JP"/>
              <a:t>2023</a:t>
            </a:r>
            <a:r>
              <a:rPr kumimoji="1" lang="ja-JP" altLang="en-US"/>
              <a:t>年〇月〇日</a:t>
            </a:r>
            <a:endParaRPr kumimoji="1" lang="en-US" altLang="ja-JP"/>
          </a:p>
          <a:p>
            <a:pPr lvl="0"/>
            <a:r>
              <a:rPr kumimoji="1" lang="ja-JP" altLang="en-US"/>
              <a:t>株式会社</a:t>
            </a:r>
            <a:r>
              <a:rPr kumimoji="1" lang="en-US" altLang="ja-JP"/>
              <a:t>NTT</a:t>
            </a:r>
            <a:r>
              <a:rPr kumimoji="1" lang="ja-JP" altLang="en-US"/>
              <a:t>データ ○○○○○○</a:t>
            </a:r>
          </a:p>
          <a:p>
            <a:pPr lvl="0"/>
            <a:r>
              <a:rPr kumimoji="1" lang="ja-JP" altLang="en-US"/>
              <a:t>○○○○○○○○○○○○○○</a:t>
            </a:r>
          </a:p>
        </p:txBody>
      </p:sp>
    </p:spTree>
    <p:extLst>
      <p:ext uri="{BB962C8B-B14F-4D97-AF65-F5344CB8AC3E}">
        <p14:creationId xmlns:p14="http://schemas.microsoft.com/office/powerpoint/2010/main" val="350587651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イノベーションカーブなし">
    <p:spTree>
      <p:nvGrpSpPr>
        <p:cNvPr id="1" name=""/>
        <p:cNvGrpSpPr/>
        <p:nvPr/>
      </p:nvGrpSpPr>
      <p:grpSpPr>
        <a:xfrm>
          <a:off x="0" y="0"/>
          <a:ext cx="0" cy="0"/>
          <a:chOff x="0" y="0"/>
          <a:chExt cx="0" cy="0"/>
        </a:xfrm>
      </p:grpSpPr>
      <p:pic>
        <p:nvPicPr>
          <p:cNvPr id="2" name="Picture Placeholder 8">
            <a:extLst>
              <a:ext uri="{FF2B5EF4-FFF2-40B4-BE49-F238E27FC236}">
                <a16:creationId xmlns:a16="http://schemas.microsoft.com/office/drawing/2014/main" id="{10AAF6A0-9426-1792-5BF0-ADD639497155}"/>
              </a:ext>
            </a:extLst>
          </p:cNvPr>
          <p:cNvPicPr>
            <a:picLocks noChangeAspect="1"/>
          </p:cNvPicPr>
          <p:nvPr userDrawn="1"/>
        </p:nvPicPr>
        <p:blipFill>
          <a:blip r:embed="rId2"/>
          <a:srcRect/>
          <a:stretch/>
        </p:blipFill>
        <p:spPr>
          <a:xfrm>
            <a:off x="1" y="-1"/>
            <a:ext cx="12191998" cy="6857999"/>
          </a:xfrm>
          <a:prstGeom prst="rect">
            <a:avLst/>
          </a:prstGeom>
        </p:spPr>
      </p:pic>
      <p:sp>
        <p:nvSpPr>
          <p:cNvPr id="4" name="正方形/長方形 3">
            <a:extLst>
              <a:ext uri="{FF2B5EF4-FFF2-40B4-BE49-F238E27FC236}">
                <a16:creationId xmlns:a16="http://schemas.microsoft.com/office/drawing/2014/main" id="{770D6933-50FC-7553-7845-69CEDA1C00C5}"/>
              </a:ext>
            </a:extLst>
          </p:cNvPr>
          <p:cNvSpPr/>
          <p:nvPr userDrawn="1"/>
        </p:nvSpPr>
        <p:spPr>
          <a:xfrm>
            <a:off x="0" y="0"/>
            <a:ext cx="12187500"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3" name="図 2">
            <a:extLst>
              <a:ext uri="{FF2B5EF4-FFF2-40B4-BE49-F238E27FC236}">
                <a16:creationId xmlns:a16="http://schemas.microsoft.com/office/drawing/2014/main" id="{14FF15F3-493A-8C15-9F64-F0766961604A}"/>
              </a:ext>
            </a:extLst>
          </p:cNvPr>
          <p:cNvPicPr>
            <a:picLocks noChangeAspect="1"/>
          </p:cNvPicPr>
          <p:nvPr userDrawn="1"/>
        </p:nvPicPr>
        <p:blipFill>
          <a:blip r:embed="rId3"/>
          <a:srcRect/>
          <a:stretch/>
        </p:blipFill>
        <p:spPr>
          <a:xfrm>
            <a:off x="231864" y="191534"/>
            <a:ext cx="2237123" cy="569864"/>
          </a:xfrm>
          <a:prstGeom prst="rect">
            <a:avLst/>
          </a:prstGeom>
        </p:spPr>
      </p:pic>
      <p:sp>
        <p:nvSpPr>
          <p:cNvPr id="6" name="テキスト ボックス 5">
            <a:extLst>
              <a:ext uri="{FF2B5EF4-FFF2-40B4-BE49-F238E27FC236}">
                <a16:creationId xmlns:a16="http://schemas.microsoft.com/office/drawing/2014/main" id="{E6AA3F11-2310-C251-1D68-4B8F48D50146}"/>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2024 NTT DATA Japan Corporation</a:t>
            </a:r>
          </a:p>
        </p:txBody>
      </p:sp>
      <p:sp>
        <p:nvSpPr>
          <p:cNvPr id="7" name="タイトル 2">
            <a:extLst>
              <a:ext uri="{FF2B5EF4-FFF2-40B4-BE49-F238E27FC236}">
                <a16:creationId xmlns:a16="http://schemas.microsoft.com/office/drawing/2014/main" id="{8D564593-F08C-BEC6-7F51-ED1F5CE1271B}"/>
              </a:ext>
            </a:extLst>
          </p:cNvPr>
          <p:cNvSpPr>
            <a:spLocks noGrp="1"/>
          </p:cNvSpPr>
          <p:nvPr>
            <p:ph type="title" hasCustomPrompt="1"/>
          </p:nvPr>
        </p:nvSpPr>
        <p:spPr>
          <a:xfrm>
            <a:off x="381600" y="1450800"/>
            <a:ext cx="11440800" cy="795600"/>
          </a:xfrm>
          <a:prstGeom prst="rect">
            <a:avLst/>
          </a:prstGeom>
        </p:spPr>
        <p:txBody>
          <a:bodyPr lIns="0" rIns="0" anchor="b" anchorCtr="0"/>
          <a:lstStyle>
            <a:lvl1pPr>
              <a:defRPr>
                <a:solidFill>
                  <a:schemeClr val="bg1"/>
                </a:solidFill>
              </a:defRPr>
            </a:lvl1pPr>
          </a:lstStyle>
          <a:p>
            <a:pPr lvl="0"/>
            <a:r>
              <a:rPr kumimoji="1" lang="ja-JP" altLang="en-US"/>
              <a:t>○○○○御中</a:t>
            </a:r>
          </a:p>
        </p:txBody>
      </p:sp>
      <p:sp>
        <p:nvSpPr>
          <p:cNvPr id="11" name="テキスト プレースホルダー 6">
            <a:extLst>
              <a:ext uri="{FF2B5EF4-FFF2-40B4-BE49-F238E27FC236}">
                <a16:creationId xmlns:a16="http://schemas.microsoft.com/office/drawing/2014/main" id="{0B4BDF00-A209-76C8-BB25-F0D0D8A5CF53}"/>
              </a:ext>
            </a:extLst>
          </p:cNvPr>
          <p:cNvSpPr>
            <a:spLocks noGrp="1"/>
          </p:cNvSpPr>
          <p:nvPr>
            <p:ph type="body" sz="quarter" idx="11" hasCustomPrompt="1"/>
          </p:nvPr>
        </p:nvSpPr>
        <p:spPr>
          <a:xfrm>
            <a:off x="381600" y="2246400"/>
            <a:ext cx="11440800" cy="1562400"/>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a:t>［タイトル］</a:t>
            </a:r>
          </a:p>
        </p:txBody>
      </p:sp>
      <p:sp>
        <p:nvSpPr>
          <p:cNvPr id="12" name="テキスト プレースホルダー 10">
            <a:extLst>
              <a:ext uri="{FF2B5EF4-FFF2-40B4-BE49-F238E27FC236}">
                <a16:creationId xmlns:a16="http://schemas.microsoft.com/office/drawing/2014/main" id="{07CC41DA-AB1D-B096-5118-CDEB9ED3AACC}"/>
              </a:ext>
            </a:extLst>
          </p:cNvPr>
          <p:cNvSpPr>
            <a:spLocks noGrp="1"/>
          </p:cNvSpPr>
          <p:nvPr>
            <p:ph type="body" sz="quarter" idx="13" hasCustomPrompt="1"/>
          </p:nvPr>
        </p:nvSpPr>
        <p:spPr>
          <a:xfrm>
            <a:off x="381600" y="5191200"/>
            <a:ext cx="11440800" cy="1119600"/>
          </a:xfrm>
          <a:prstGeom prst="rect">
            <a:avLst/>
          </a:prstGeom>
        </p:spPr>
        <p:txBody>
          <a:bodyPr lIns="0" tIns="46800" rIns="0" anchor="b"/>
          <a:lstStyle>
            <a:lvl1pPr>
              <a:defRPr>
                <a:solidFill>
                  <a:schemeClr val="bg1"/>
                </a:solidFill>
              </a:defRPr>
            </a:lvl1pPr>
            <a:lvl5pPr marL="2438216" indent="0">
              <a:buNone/>
              <a:defRPr/>
            </a:lvl5pPr>
          </a:lstStyle>
          <a:p>
            <a:pPr lvl="0"/>
            <a:r>
              <a:rPr kumimoji="1" lang="en-US" altLang="ja-JP"/>
              <a:t>2023</a:t>
            </a:r>
            <a:r>
              <a:rPr kumimoji="1" lang="ja-JP" altLang="en-US"/>
              <a:t>年〇月〇日</a:t>
            </a:r>
            <a:endParaRPr kumimoji="1" lang="en-US" altLang="ja-JP"/>
          </a:p>
          <a:p>
            <a:pPr lvl="0"/>
            <a:r>
              <a:rPr kumimoji="1" lang="ja-JP" altLang="en-US"/>
              <a:t>株式会社</a:t>
            </a:r>
            <a:r>
              <a:rPr kumimoji="1" lang="en-US" altLang="ja-JP"/>
              <a:t>NTT</a:t>
            </a:r>
            <a:r>
              <a:rPr kumimoji="1" lang="ja-JP" altLang="en-US"/>
              <a:t>データ ○○○○○○</a:t>
            </a:r>
          </a:p>
          <a:p>
            <a:pPr lvl="0"/>
            <a:r>
              <a:rPr kumimoji="1" lang="ja-JP" altLang="en-US"/>
              <a:t>○○○○○○○○○○○○○○</a:t>
            </a:r>
          </a:p>
        </p:txBody>
      </p:sp>
    </p:spTree>
    <p:extLst>
      <p:ext uri="{BB962C8B-B14F-4D97-AF65-F5344CB8AC3E}">
        <p14:creationId xmlns:p14="http://schemas.microsoft.com/office/powerpoint/2010/main" val="10336534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pic>
        <p:nvPicPr>
          <p:cNvPr id="5" name="図プレースホルダー 11">
            <a:extLst>
              <a:ext uri="{FF2B5EF4-FFF2-40B4-BE49-F238E27FC236}">
                <a16:creationId xmlns:a16="http://schemas.microsoft.com/office/drawing/2014/main" id="{A3393BEA-233F-245F-0129-ADDB8158110C}"/>
              </a:ext>
            </a:extLst>
          </p:cNvPr>
          <p:cNvPicPr>
            <a:picLocks noChangeAspect="1"/>
          </p:cNvPicPr>
          <p:nvPr userDrawn="1"/>
        </p:nvPicPr>
        <p:blipFill rotWithShape="1">
          <a:blip r:embed="rId2"/>
          <a:srcRect l="21608" t="8744" r="2060" b="52192"/>
          <a:stretch/>
        </p:blipFill>
        <p:spPr>
          <a:xfrm>
            <a:off x="0" y="3351600"/>
            <a:ext cx="12193200" cy="3510000"/>
          </a:xfrm>
          <a:prstGeom prst="rect">
            <a:avLst/>
          </a:prstGeom>
        </p:spPr>
      </p:pic>
      <p:pic>
        <p:nvPicPr>
          <p:cNvPr id="10" name="図 9">
            <a:extLst>
              <a:ext uri="{FF2B5EF4-FFF2-40B4-BE49-F238E27FC236}">
                <a16:creationId xmlns:a16="http://schemas.microsoft.com/office/drawing/2014/main" id="{4E76937A-BEA1-17BD-51FF-75828A894647}"/>
              </a:ext>
            </a:extLst>
          </p:cNvPr>
          <p:cNvPicPr>
            <a:picLocks noChangeAspect="1"/>
          </p:cNvPicPr>
          <p:nvPr userDrawn="1"/>
        </p:nvPicPr>
        <p:blipFill>
          <a:blip r:embed="rId3"/>
          <a:stretch>
            <a:fillRect/>
          </a:stretch>
        </p:blipFill>
        <p:spPr>
          <a:xfrm>
            <a:off x="9068400" y="3733200"/>
            <a:ext cx="2743200" cy="2743200"/>
          </a:xfrm>
          <a:prstGeom prst="rect">
            <a:avLst/>
          </a:prstGeom>
        </p:spPr>
      </p:pic>
      <p:sp>
        <p:nvSpPr>
          <p:cNvPr id="12" name="テキスト ボックス 11">
            <a:extLst>
              <a:ext uri="{FF2B5EF4-FFF2-40B4-BE49-F238E27FC236}">
                <a16:creationId xmlns:a16="http://schemas.microsoft.com/office/drawing/2014/main" id="{CC6F50BD-6D4E-93A3-94F5-CD0A6C075F68}"/>
              </a:ext>
            </a:extLst>
          </p:cNvPr>
          <p:cNvSpPr txBox="1"/>
          <p:nvPr userDrawn="1"/>
        </p:nvSpPr>
        <p:spPr>
          <a:xfrm>
            <a:off x="370800" y="31464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2024 NTT DATA Japan Corporation</a:t>
            </a:r>
          </a:p>
        </p:txBody>
      </p:sp>
      <p:sp>
        <p:nvSpPr>
          <p:cNvPr id="2" name="タイトル 2">
            <a:extLst>
              <a:ext uri="{FF2B5EF4-FFF2-40B4-BE49-F238E27FC236}">
                <a16:creationId xmlns:a16="http://schemas.microsoft.com/office/drawing/2014/main" id="{F5B93878-EB0F-DF28-452A-99587B3CF9AF}"/>
              </a:ext>
            </a:extLst>
          </p:cNvPr>
          <p:cNvSpPr>
            <a:spLocks noGrp="1"/>
          </p:cNvSpPr>
          <p:nvPr>
            <p:ph type="title" hasCustomPrompt="1"/>
          </p:nvPr>
        </p:nvSpPr>
        <p:spPr>
          <a:xfrm>
            <a:off x="370800" y="752400"/>
            <a:ext cx="11440800" cy="396000"/>
          </a:xfrm>
          <a:prstGeom prst="rect">
            <a:avLst/>
          </a:prstGeom>
        </p:spPr>
        <p:txBody>
          <a:bodyPr lIns="0" rIns="0" anchor="b" anchorCtr="0"/>
          <a:lstStyle>
            <a:lvl1pPr>
              <a:defRPr>
                <a:solidFill>
                  <a:schemeClr val="bg1"/>
                </a:solidFill>
              </a:defRPr>
            </a:lvl1pPr>
          </a:lstStyle>
          <a:p>
            <a:pPr lvl="0"/>
            <a:r>
              <a:rPr kumimoji="1" lang="ja-JP" altLang="en-US"/>
              <a:t>○○○○御中</a:t>
            </a:r>
          </a:p>
        </p:txBody>
      </p:sp>
      <p:sp>
        <p:nvSpPr>
          <p:cNvPr id="3" name="テキスト プレースホルダー 6">
            <a:extLst>
              <a:ext uri="{FF2B5EF4-FFF2-40B4-BE49-F238E27FC236}">
                <a16:creationId xmlns:a16="http://schemas.microsoft.com/office/drawing/2014/main" id="{5893501C-E04B-3D7E-860E-2A66FEF8D7C9}"/>
              </a:ext>
            </a:extLst>
          </p:cNvPr>
          <p:cNvSpPr>
            <a:spLocks noGrp="1"/>
          </p:cNvSpPr>
          <p:nvPr>
            <p:ph type="body" sz="quarter" idx="11" hasCustomPrompt="1"/>
          </p:nvPr>
        </p:nvSpPr>
        <p:spPr>
          <a:xfrm>
            <a:off x="370800" y="1143727"/>
            <a:ext cx="11440800" cy="1422244"/>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a:t>［タイトル］</a:t>
            </a:r>
          </a:p>
        </p:txBody>
      </p:sp>
      <p:sp>
        <p:nvSpPr>
          <p:cNvPr id="4" name="テキスト プレースホルダー 10">
            <a:extLst>
              <a:ext uri="{FF2B5EF4-FFF2-40B4-BE49-F238E27FC236}">
                <a16:creationId xmlns:a16="http://schemas.microsoft.com/office/drawing/2014/main" id="{8ADA0CC1-B34F-2866-9154-43C9EABF8BF5}"/>
              </a:ext>
            </a:extLst>
          </p:cNvPr>
          <p:cNvSpPr>
            <a:spLocks noGrp="1"/>
          </p:cNvSpPr>
          <p:nvPr>
            <p:ph type="body" sz="quarter" idx="13" hasCustomPrompt="1"/>
          </p:nvPr>
        </p:nvSpPr>
        <p:spPr>
          <a:xfrm>
            <a:off x="370800" y="2565971"/>
            <a:ext cx="11440800" cy="375900"/>
          </a:xfrm>
          <a:prstGeom prst="rect">
            <a:avLst/>
          </a:prstGeom>
        </p:spPr>
        <p:txBody>
          <a:bodyPr lIns="0" tIns="46800" rIns="0"/>
          <a:lstStyle>
            <a:lvl1pPr>
              <a:defRPr>
                <a:solidFill>
                  <a:schemeClr val="bg1"/>
                </a:solidFill>
              </a:defRPr>
            </a:lvl1pPr>
            <a:lvl5pPr marL="2438216" indent="0">
              <a:buNone/>
              <a:defRPr/>
            </a:lvl5pPr>
          </a:lstStyle>
          <a:p>
            <a:pPr lvl="0"/>
            <a:r>
              <a:rPr kumimoji="1" lang="en-US" altLang="ja-JP"/>
              <a:t>2023</a:t>
            </a:r>
            <a:r>
              <a:rPr kumimoji="1" lang="ja-JP" altLang="en-US"/>
              <a:t>年〇月〇日　株式会社</a:t>
            </a:r>
            <a:r>
              <a:rPr kumimoji="1" lang="en-US" altLang="ja-JP"/>
              <a:t>NTT</a:t>
            </a:r>
            <a:r>
              <a:rPr kumimoji="1" lang="ja-JP" altLang="en-US"/>
              <a:t>データ ○○○○○○</a:t>
            </a:r>
          </a:p>
        </p:txBody>
      </p:sp>
    </p:spTree>
    <p:extLst>
      <p:ext uri="{BB962C8B-B14F-4D97-AF65-F5344CB8AC3E}">
        <p14:creationId xmlns:p14="http://schemas.microsoft.com/office/powerpoint/2010/main" val="8006712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pic>
        <p:nvPicPr>
          <p:cNvPr id="4" name="Picture Placeholder 8">
            <a:extLst>
              <a:ext uri="{FF2B5EF4-FFF2-40B4-BE49-F238E27FC236}">
                <a16:creationId xmlns:a16="http://schemas.microsoft.com/office/drawing/2014/main" id="{4CF74755-19E7-052E-D6BE-AE04C9B65B9E}"/>
              </a:ext>
            </a:extLst>
          </p:cNvPr>
          <p:cNvPicPr>
            <a:picLocks noChangeAspect="1"/>
          </p:cNvPicPr>
          <p:nvPr userDrawn="1"/>
        </p:nvPicPr>
        <p:blipFill rotWithShape="1">
          <a:blip r:embed="rId2"/>
          <a:srcRect l="58440" r="8440"/>
          <a:stretch/>
        </p:blipFill>
        <p:spPr>
          <a:xfrm>
            <a:off x="0" y="-1"/>
            <a:ext cx="4037999" cy="6857999"/>
          </a:xfrm>
          <a:prstGeom prst="rect">
            <a:avLst/>
          </a:prstGeom>
        </p:spPr>
      </p:pic>
      <p:sp>
        <p:nvSpPr>
          <p:cNvPr id="2" name="タイトル 1">
            <a:extLst>
              <a:ext uri="{FF2B5EF4-FFF2-40B4-BE49-F238E27FC236}">
                <a16:creationId xmlns:a16="http://schemas.microsoft.com/office/drawing/2014/main" id="{D8C3003A-1C0D-B582-B3BE-CA14C4D8AE89}"/>
              </a:ext>
            </a:extLst>
          </p:cNvPr>
          <p:cNvSpPr>
            <a:spLocks noGrp="1"/>
          </p:cNvSpPr>
          <p:nvPr>
            <p:ph type="title" hasCustomPrompt="1"/>
          </p:nvPr>
        </p:nvSpPr>
        <p:spPr>
          <a:xfrm>
            <a:off x="4496400" y="687600"/>
            <a:ext cx="7315200" cy="1447199"/>
          </a:xfrm>
          <a:prstGeom prst="rect">
            <a:avLst/>
          </a:prstGeom>
        </p:spPr>
        <p:txBody>
          <a:bodyPr/>
          <a:lstStyle/>
          <a:p>
            <a:r>
              <a:rPr kumimoji="1" lang="en-US" altLang="ja-JP"/>
              <a:t>01</a:t>
            </a:r>
            <a:endParaRPr kumimoji="1" lang="ja-JP" altLang="en-US"/>
          </a:p>
        </p:txBody>
      </p:sp>
      <p:sp>
        <p:nvSpPr>
          <p:cNvPr id="5" name="テキスト プレースホルダー 8">
            <a:extLst>
              <a:ext uri="{FF2B5EF4-FFF2-40B4-BE49-F238E27FC236}">
                <a16:creationId xmlns:a16="http://schemas.microsoft.com/office/drawing/2014/main" id="{FFDB246B-7466-9829-C733-D7C8F366017A}"/>
              </a:ext>
            </a:extLst>
          </p:cNvPr>
          <p:cNvSpPr>
            <a:spLocks noGrp="1"/>
          </p:cNvSpPr>
          <p:nvPr>
            <p:ph type="body" sz="quarter" idx="16" hasCustomPrompt="1"/>
          </p:nvPr>
        </p:nvSpPr>
        <p:spPr>
          <a:xfrm>
            <a:off x="4496400" y="2286000"/>
            <a:ext cx="7315200" cy="3952800"/>
          </a:xfrm>
          <a:prstGeom prst="rect">
            <a:avLst/>
          </a:prstGeom>
        </p:spPr>
        <p:txBody>
          <a:bodyPr lIns="0" tIns="0" rIns="0" bIns="0"/>
          <a:lstStyle>
            <a:lvl1pPr>
              <a:defRPr sz="4800" b="1">
                <a:solidFill>
                  <a:schemeClr val="bg1"/>
                </a:solidFill>
              </a:defRPr>
            </a:lvl1pPr>
          </a:lstStyle>
          <a:p>
            <a:pPr lvl="0"/>
            <a:r>
              <a:rPr kumimoji="1" lang="ja-JP" altLang="en-US"/>
              <a:t>中扉タイトル</a:t>
            </a:r>
          </a:p>
        </p:txBody>
      </p:sp>
      <p:sp>
        <p:nvSpPr>
          <p:cNvPr id="9" name="テキスト ボックス 8">
            <a:extLst>
              <a:ext uri="{FF2B5EF4-FFF2-40B4-BE49-F238E27FC236}">
                <a16:creationId xmlns:a16="http://schemas.microsoft.com/office/drawing/2014/main" id="{CBB76971-86FF-83F8-9E8E-FF04E7792ABB}"/>
              </a:ext>
            </a:extLst>
          </p:cNvPr>
          <p:cNvSpPr txBox="1"/>
          <p:nvPr userDrawn="1"/>
        </p:nvSpPr>
        <p:spPr>
          <a:xfrm>
            <a:off x="77760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
        <p:nvSpPr>
          <p:cNvPr id="7" name="正方形/長方形 6">
            <a:extLst>
              <a:ext uri="{FF2B5EF4-FFF2-40B4-BE49-F238E27FC236}">
                <a16:creationId xmlns:a16="http://schemas.microsoft.com/office/drawing/2014/main" id="{9CFA8725-4E9D-1A8D-75CB-0BBF9E663993}"/>
              </a:ext>
            </a:extLst>
          </p:cNvPr>
          <p:cNvSpPr/>
          <p:nvPr userDrawn="1"/>
        </p:nvSpPr>
        <p:spPr>
          <a:xfrm>
            <a:off x="-1201"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10" name="テキスト ボックス 9">
            <a:extLst>
              <a:ext uri="{FF2B5EF4-FFF2-40B4-BE49-F238E27FC236}">
                <a16:creationId xmlns:a16="http://schemas.microsoft.com/office/drawing/2014/main" id="{CA9355A0-2A70-15E3-7B93-39F5C7005529}"/>
              </a:ext>
            </a:extLst>
          </p:cNvPr>
          <p:cNvSpPr txBox="1"/>
          <p:nvPr userDrawn="1"/>
        </p:nvSpPr>
        <p:spPr>
          <a:xfrm>
            <a:off x="4496400" y="6562800"/>
            <a:ext cx="32040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2024 NTT DATA Japan Corporation</a:t>
            </a:r>
          </a:p>
        </p:txBody>
      </p:sp>
    </p:spTree>
    <p:extLst>
      <p:ext uri="{BB962C8B-B14F-4D97-AF65-F5344CB8AC3E}">
        <p14:creationId xmlns:p14="http://schemas.microsoft.com/office/powerpoint/2010/main" val="753095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E0E3DF-D30F-67F3-1120-4D08EF0597DA}"/>
              </a:ext>
            </a:extLst>
          </p:cNvPr>
          <p:cNvSpPr>
            <a:spLocks noGrp="1"/>
          </p:cNvSpPr>
          <p:nvPr>
            <p:ph type="title" hasCustomPrompt="1"/>
          </p:nvPr>
        </p:nvSpPr>
        <p:spPr>
          <a:xfrm>
            <a:off x="370798" y="687601"/>
            <a:ext cx="7315200" cy="1447199"/>
          </a:xfrm>
          <a:prstGeom prst="rect">
            <a:avLst/>
          </a:prstGeom>
        </p:spPr>
        <p:txBody>
          <a:bodyPr/>
          <a:lstStyle/>
          <a:p>
            <a:r>
              <a:rPr kumimoji="1" lang="en-US" altLang="ja-JP"/>
              <a:t>01</a:t>
            </a:r>
            <a:endParaRPr kumimoji="1" lang="ja-JP" altLang="en-US"/>
          </a:p>
        </p:txBody>
      </p:sp>
      <p:sp>
        <p:nvSpPr>
          <p:cNvPr id="3" name="テキスト プレースホルダー 8">
            <a:extLst>
              <a:ext uri="{FF2B5EF4-FFF2-40B4-BE49-F238E27FC236}">
                <a16:creationId xmlns:a16="http://schemas.microsoft.com/office/drawing/2014/main" id="{14339CF7-9CA0-A841-448E-67A663E55CF3}"/>
              </a:ext>
            </a:extLst>
          </p:cNvPr>
          <p:cNvSpPr>
            <a:spLocks noGrp="1"/>
          </p:cNvSpPr>
          <p:nvPr>
            <p:ph type="body" sz="quarter" idx="16" hasCustomPrompt="1"/>
          </p:nvPr>
        </p:nvSpPr>
        <p:spPr>
          <a:xfrm>
            <a:off x="370800" y="2286000"/>
            <a:ext cx="7315200" cy="3888000"/>
          </a:xfrm>
          <a:prstGeom prst="rect">
            <a:avLst/>
          </a:prstGeom>
        </p:spPr>
        <p:txBody>
          <a:bodyPr lIns="0" tIns="0" rIns="0" bIns="0"/>
          <a:lstStyle>
            <a:lvl1pPr>
              <a:defRPr sz="4000" b="1">
                <a:solidFill>
                  <a:schemeClr val="bg1"/>
                </a:solidFill>
              </a:defRPr>
            </a:lvl1pPr>
          </a:lstStyle>
          <a:p>
            <a:pPr lvl="0"/>
            <a:r>
              <a:rPr kumimoji="1" lang="ja-JP" altLang="en-US"/>
              <a:t>中扉タイトル</a:t>
            </a:r>
          </a:p>
        </p:txBody>
      </p:sp>
      <p:pic>
        <p:nvPicPr>
          <p:cNvPr id="6" name="Innovationcurve">
            <a:extLst>
              <a:ext uri="{FF2B5EF4-FFF2-40B4-BE49-F238E27FC236}">
                <a16:creationId xmlns:a16="http://schemas.microsoft.com/office/drawing/2014/main" id="{7CF64CB9-660F-8471-3C6F-4FD9FD6E3B9E}"/>
              </a:ext>
            </a:extLst>
          </p:cNvPr>
          <p:cNvPicPr>
            <a:picLocks noChangeAspect="1"/>
          </p:cNvPicPr>
          <p:nvPr userDrawn="1"/>
        </p:nvPicPr>
        <p:blipFill>
          <a:blip r:embed="rId2"/>
          <a:stretch>
            <a:fillRect/>
          </a:stretch>
        </p:blipFill>
        <p:spPr>
          <a:xfrm>
            <a:off x="8091600" y="2433600"/>
            <a:ext cx="3729600" cy="3739975"/>
          </a:xfrm>
          <a:prstGeom prst="rect">
            <a:avLst/>
          </a:prstGeom>
        </p:spPr>
      </p:pic>
      <p:sp>
        <p:nvSpPr>
          <p:cNvPr id="8" name="テキスト ボックス 7">
            <a:extLst>
              <a:ext uri="{FF2B5EF4-FFF2-40B4-BE49-F238E27FC236}">
                <a16:creationId xmlns:a16="http://schemas.microsoft.com/office/drawing/2014/main" id="{943F721B-F20E-EF98-7C7E-D4DD73191926}"/>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Tree>
    <p:extLst>
      <p:ext uri="{BB962C8B-B14F-4D97-AF65-F5344CB8AC3E}">
        <p14:creationId xmlns:p14="http://schemas.microsoft.com/office/powerpoint/2010/main" val="26173633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写真入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01CCA0-7E92-7FFB-2532-8D8D86CBBF3B}"/>
              </a:ext>
            </a:extLst>
          </p:cNvPr>
          <p:cNvSpPr>
            <a:spLocks noGrp="1"/>
          </p:cNvSpPr>
          <p:nvPr>
            <p:ph type="title" hasCustomPrompt="1"/>
          </p:nvPr>
        </p:nvSpPr>
        <p:spPr>
          <a:xfrm>
            <a:off x="4496400" y="687600"/>
            <a:ext cx="7315200" cy="1447199"/>
          </a:xfrm>
          <a:prstGeom prst="rect">
            <a:avLst/>
          </a:prstGeom>
        </p:spPr>
        <p:txBody>
          <a:bodyPr/>
          <a:lstStyle/>
          <a:p>
            <a:r>
              <a:rPr kumimoji="1" lang="en-US" altLang="ja-JP"/>
              <a:t>01</a:t>
            </a:r>
            <a:endParaRPr kumimoji="1" lang="ja-JP" altLang="en-US"/>
          </a:p>
        </p:txBody>
      </p:sp>
      <p:pic>
        <p:nvPicPr>
          <p:cNvPr id="3" name="Picture 6">
            <a:extLst>
              <a:ext uri="{FF2B5EF4-FFF2-40B4-BE49-F238E27FC236}">
                <a16:creationId xmlns:a16="http://schemas.microsoft.com/office/drawing/2014/main" id="{38FD529D-5FF6-E828-CE3E-B79F0DF6878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94575" y="2447060"/>
            <a:ext cx="3718800" cy="3718800"/>
          </a:xfrm>
          <a:prstGeom prst="rect">
            <a:avLst/>
          </a:prstGeom>
        </p:spPr>
      </p:pic>
      <p:sp>
        <p:nvSpPr>
          <p:cNvPr id="5" name="テキスト プレースホルダー 8">
            <a:extLst>
              <a:ext uri="{FF2B5EF4-FFF2-40B4-BE49-F238E27FC236}">
                <a16:creationId xmlns:a16="http://schemas.microsoft.com/office/drawing/2014/main" id="{E10C1EF1-42DC-CE53-8902-8E322B4352D3}"/>
              </a:ext>
            </a:extLst>
          </p:cNvPr>
          <p:cNvSpPr>
            <a:spLocks noGrp="1"/>
          </p:cNvSpPr>
          <p:nvPr>
            <p:ph type="body" sz="quarter" idx="16" hasCustomPrompt="1"/>
          </p:nvPr>
        </p:nvSpPr>
        <p:spPr>
          <a:xfrm>
            <a:off x="4496400" y="2433600"/>
            <a:ext cx="7315200" cy="3740400"/>
          </a:xfrm>
          <a:prstGeom prst="rect">
            <a:avLst/>
          </a:prstGeom>
        </p:spPr>
        <p:txBody>
          <a:bodyPr lIns="0" tIns="0" rIns="0" bIns="0"/>
          <a:lstStyle>
            <a:lvl1pPr>
              <a:defRPr sz="4000" b="1">
                <a:solidFill>
                  <a:schemeClr val="bg1"/>
                </a:solidFill>
              </a:defRPr>
            </a:lvl1pPr>
          </a:lstStyle>
          <a:p>
            <a:pPr lvl="0"/>
            <a:r>
              <a:rPr kumimoji="1" lang="ja-JP" altLang="en-US"/>
              <a:t>中扉タイトル</a:t>
            </a:r>
          </a:p>
        </p:txBody>
      </p:sp>
      <p:sp>
        <p:nvSpPr>
          <p:cNvPr id="6" name="テキスト ボックス 5">
            <a:extLst>
              <a:ext uri="{FF2B5EF4-FFF2-40B4-BE49-F238E27FC236}">
                <a16:creationId xmlns:a16="http://schemas.microsoft.com/office/drawing/2014/main" id="{53785BB8-9BEF-6511-73A0-EFF55EDD2267}"/>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pic>
        <p:nvPicPr>
          <p:cNvPr id="7" name="図プレースホルダー 15">
            <a:extLst>
              <a:ext uri="{FF2B5EF4-FFF2-40B4-BE49-F238E27FC236}">
                <a16:creationId xmlns:a16="http://schemas.microsoft.com/office/drawing/2014/main" id="{B62A01C9-0B30-0082-9D00-73A4244F836E}"/>
              </a:ext>
            </a:extLst>
          </p:cNvPr>
          <p:cNvPicPr>
            <a:picLocks noChangeAspect="1"/>
          </p:cNvPicPr>
          <p:nvPr userDrawn="1"/>
        </p:nvPicPr>
        <p:blipFill rotWithShape="1">
          <a:blip r:embed="rId3"/>
          <a:srcRect l="40504" r="3246"/>
          <a:stretch/>
        </p:blipFill>
        <p:spPr>
          <a:xfrm>
            <a:off x="371475" y="2447060"/>
            <a:ext cx="3718800" cy="3718800"/>
          </a:xfrm>
          <a:custGeom>
            <a:avLst/>
            <a:gdLst>
              <a:gd name="connsiteX0" fmla="*/ 1704548 w 5267271"/>
              <a:gd name="connsiteY0" fmla="*/ 0 h 5272719"/>
              <a:gd name="connsiteX1" fmla="*/ 3527745 w 5267271"/>
              <a:gd name="connsiteY1" fmla="*/ 1774521 h 5272719"/>
              <a:gd name="connsiteX2" fmla="*/ 5267271 w 5267271"/>
              <a:gd name="connsiteY2" fmla="*/ 5269498 h 5272719"/>
              <a:gd name="connsiteX3" fmla="*/ 3509088 w 5267271"/>
              <a:gd name="connsiteY3" fmla="*/ 5269044 h 5272719"/>
              <a:gd name="connsiteX4" fmla="*/ 1794302 w 5267271"/>
              <a:gd name="connsiteY4" fmla="*/ 1858626 h 5272719"/>
              <a:gd name="connsiteX5" fmla="*/ 1794667 w 5267271"/>
              <a:gd name="connsiteY5" fmla="*/ 5270472 h 5272719"/>
              <a:gd name="connsiteX6" fmla="*/ 0 w 5267271"/>
              <a:gd name="connsiteY6" fmla="*/ 5272719 h 5272719"/>
              <a:gd name="connsiteX7" fmla="*/ 3384 w 5267271"/>
              <a:gd name="connsiteY7" fmla="*/ 1714773 h 5272719"/>
              <a:gd name="connsiteX8" fmla="*/ 569360 w 5267271"/>
              <a:gd name="connsiteY8" fmla="*/ 333790 h 5272719"/>
              <a:gd name="connsiteX9" fmla="*/ 1704548 w 5267271"/>
              <a:gd name="connsiteY9" fmla="*/ 0 h 527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67271" h="5272719">
                <a:moveTo>
                  <a:pt x="1704548" y="0"/>
                </a:moveTo>
                <a:cubicBezTo>
                  <a:pt x="2442328" y="19929"/>
                  <a:pt x="2925708" y="438914"/>
                  <a:pt x="3527745" y="1774521"/>
                </a:cubicBezTo>
                <a:lnTo>
                  <a:pt x="5267271" y="5269498"/>
                </a:lnTo>
                <a:lnTo>
                  <a:pt x="3509088" y="5269044"/>
                </a:lnTo>
                <a:cubicBezTo>
                  <a:pt x="2932089" y="4085847"/>
                  <a:pt x="2376159" y="3052885"/>
                  <a:pt x="1794302" y="1858626"/>
                </a:cubicBezTo>
                <a:cubicBezTo>
                  <a:pt x="1800510" y="2806405"/>
                  <a:pt x="1797959" y="3550976"/>
                  <a:pt x="1794667" y="5270472"/>
                </a:cubicBezTo>
                <a:lnTo>
                  <a:pt x="0" y="5272719"/>
                </a:lnTo>
                <a:cubicBezTo>
                  <a:pt x="6041" y="3933998"/>
                  <a:pt x="-2660" y="3106972"/>
                  <a:pt x="3384" y="1714773"/>
                </a:cubicBezTo>
                <a:cubicBezTo>
                  <a:pt x="20552" y="931022"/>
                  <a:pt x="285832" y="562108"/>
                  <a:pt x="569360" y="333790"/>
                </a:cubicBezTo>
                <a:cubicBezTo>
                  <a:pt x="852888" y="105472"/>
                  <a:pt x="1272212" y="9538"/>
                  <a:pt x="1704548" y="0"/>
                </a:cubicBezTo>
                <a:close/>
              </a:path>
            </a:pathLst>
          </a:custGeom>
        </p:spPr>
      </p:pic>
    </p:spTree>
    <p:extLst>
      <p:ext uri="{BB962C8B-B14F-4D97-AF65-F5344CB8AC3E}">
        <p14:creationId xmlns:p14="http://schemas.microsoft.com/office/powerpoint/2010/main" val="28711666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bg1"/>
                </a:solidFill>
              </a:defRPr>
            </a:lvl1pPr>
          </a:lstStyle>
          <a:p>
            <a:r>
              <a:rPr kumimoji="1" lang="ja-JP" altLang="en-US"/>
              <a:t>［タイトル］</a:t>
            </a:r>
          </a:p>
        </p:txBody>
      </p:sp>
      <p:sp>
        <p:nvSpPr>
          <p:cNvPr id="5" name="テキスト ボックス 4">
            <a:extLst>
              <a:ext uri="{FF2B5EF4-FFF2-40B4-BE49-F238E27FC236}">
                <a16:creationId xmlns:a16="http://schemas.microsoft.com/office/drawing/2014/main" id="{16A1EA45-BF6A-8E89-F9CE-BFA62AF363CC}"/>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Tree>
    <p:extLst>
      <p:ext uri="{BB962C8B-B14F-4D97-AF65-F5344CB8AC3E}">
        <p14:creationId xmlns:p14="http://schemas.microsoft.com/office/powerpoint/2010/main" val="2751758589"/>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タイトルと1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bg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4" y="1038386"/>
            <a:ext cx="114480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D3BB6FD-8126-0BC5-CD78-240E479EB67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Tree>
    <p:extLst>
      <p:ext uri="{BB962C8B-B14F-4D97-AF65-F5344CB8AC3E}">
        <p14:creationId xmlns:p14="http://schemas.microsoft.com/office/powerpoint/2010/main" val="4055790626"/>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タイトルと２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bg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55080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コンテンツ プレースホルダー 4">
            <a:extLst>
              <a:ext uri="{FF2B5EF4-FFF2-40B4-BE49-F238E27FC236}">
                <a16:creationId xmlns:a16="http://schemas.microsoft.com/office/drawing/2014/main" id="{EF021ACE-2CF5-4B31-D043-4FF4199CE0CE}"/>
              </a:ext>
            </a:extLst>
          </p:cNvPr>
          <p:cNvSpPr>
            <a:spLocks noGrp="1"/>
          </p:cNvSpPr>
          <p:nvPr>
            <p:ph sz="quarter" idx="11"/>
          </p:nvPr>
        </p:nvSpPr>
        <p:spPr>
          <a:xfrm>
            <a:off x="6310800" y="1038386"/>
            <a:ext cx="55080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テキスト ボックス 2">
            <a:extLst>
              <a:ext uri="{FF2B5EF4-FFF2-40B4-BE49-F238E27FC236}">
                <a16:creationId xmlns:a16="http://schemas.microsoft.com/office/drawing/2014/main" id="{E00132AB-F8CC-E986-3454-C51AAC0E95E8}"/>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Tree>
    <p:extLst>
      <p:ext uri="{BB962C8B-B14F-4D97-AF65-F5344CB8AC3E}">
        <p14:creationId xmlns:p14="http://schemas.microsoft.com/office/powerpoint/2010/main" val="769733175"/>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タイトルと３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bg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36576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コンテンツ プレースホルダー 4">
            <a:extLst>
              <a:ext uri="{FF2B5EF4-FFF2-40B4-BE49-F238E27FC236}">
                <a16:creationId xmlns:a16="http://schemas.microsoft.com/office/drawing/2014/main" id="{58228A74-29BB-7D83-4FBF-D4C78D0E8273}"/>
              </a:ext>
            </a:extLst>
          </p:cNvPr>
          <p:cNvSpPr>
            <a:spLocks noGrp="1"/>
          </p:cNvSpPr>
          <p:nvPr>
            <p:ph sz="quarter" idx="11"/>
          </p:nvPr>
        </p:nvSpPr>
        <p:spPr>
          <a:xfrm>
            <a:off x="4266000" y="1038386"/>
            <a:ext cx="36576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4">
            <a:extLst>
              <a:ext uri="{FF2B5EF4-FFF2-40B4-BE49-F238E27FC236}">
                <a16:creationId xmlns:a16="http://schemas.microsoft.com/office/drawing/2014/main" id="{1B772862-BD3C-7869-DB09-5C7C67173F27}"/>
              </a:ext>
            </a:extLst>
          </p:cNvPr>
          <p:cNvSpPr>
            <a:spLocks noGrp="1"/>
          </p:cNvSpPr>
          <p:nvPr>
            <p:ph sz="quarter" idx="12"/>
          </p:nvPr>
        </p:nvSpPr>
        <p:spPr>
          <a:xfrm>
            <a:off x="8162929" y="1038386"/>
            <a:ext cx="36576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659282D-E203-D490-4B15-F802032603A3}"/>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Tree>
    <p:extLst>
      <p:ext uri="{BB962C8B-B14F-4D97-AF65-F5344CB8AC3E}">
        <p14:creationId xmlns:p14="http://schemas.microsoft.com/office/powerpoint/2010/main" val="10419515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サブタイトル有">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400110"/>
          </a:xfrm>
        </p:spPr>
        <p:txBody>
          <a:bodyPr tIns="0" bIns="0">
            <a:noAutofit/>
          </a:bodyPr>
          <a:lstStyle>
            <a:lvl1pPr>
              <a:defRPr sz="2600">
                <a:solidFill>
                  <a:schemeClr val="bg1"/>
                </a:solidFill>
              </a:defRPr>
            </a:lvl1pPr>
          </a:lstStyle>
          <a:p>
            <a:r>
              <a:rPr kumimoji="1" lang="ja-JP" altLang="en-US"/>
              <a:t>［タイトル］</a:t>
            </a:r>
          </a:p>
        </p:txBody>
      </p:sp>
      <p:sp>
        <p:nvSpPr>
          <p:cNvPr id="3" name="テキスト プレースホルダー 2">
            <a:extLst>
              <a:ext uri="{FF2B5EF4-FFF2-40B4-BE49-F238E27FC236}">
                <a16:creationId xmlns:a16="http://schemas.microsoft.com/office/drawing/2014/main" id="{922FFA65-3599-E725-9F45-9CF39BF996EE}"/>
              </a:ext>
            </a:extLst>
          </p:cNvPr>
          <p:cNvSpPr>
            <a:spLocks noGrp="1"/>
          </p:cNvSpPr>
          <p:nvPr>
            <p:ph type="body" sz="quarter" idx="10" hasCustomPrompt="1"/>
          </p:nvPr>
        </p:nvSpPr>
        <p:spPr>
          <a:xfrm>
            <a:off x="371474" y="727200"/>
            <a:ext cx="11448000" cy="288000"/>
          </a:xfrm>
        </p:spPr>
        <p:txBody>
          <a:bodyPr>
            <a:noAutofit/>
          </a:bodyPr>
          <a:lstStyle>
            <a:lvl1pPr>
              <a:defRPr b="1">
                <a:solidFill>
                  <a:schemeClr val="bg2"/>
                </a:solidFill>
              </a:defRPr>
            </a:lvl1pPr>
          </a:lstStyle>
          <a:p>
            <a:pPr lvl="0"/>
            <a:r>
              <a:rPr kumimoji="1" lang="ja-JP" altLang="en-US"/>
              <a:t>［サブタイトル］</a:t>
            </a:r>
          </a:p>
        </p:txBody>
      </p:sp>
      <p:sp>
        <p:nvSpPr>
          <p:cNvPr id="4" name="コンテンツ プレースホルダー 4">
            <a:extLst>
              <a:ext uri="{FF2B5EF4-FFF2-40B4-BE49-F238E27FC236}">
                <a16:creationId xmlns:a16="http://schemas.microsoft.com/office/drawing/2014/main" id="{FE40B33C-3077-F325-8EA7-EEDBA1AD5E20}"/>
              </a:ext>
            </a:extLst>
          </p:cNvPr>
          <p:cNvSpPr>
            <a:spLocks noGrp="1"/>
          </p:cNvSpPr>
          <p:nvPr>
            <p:ph sz="quarter" idx="11"/>
          </p:nvPr>
        </p:nvSpPr>
        <p:spPr>
          <a:xfrm>
            <a:off x="371474" y="1411200"/>
            <a:ext cx="11448000" cy="4824000"/>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ボックス 4">
            <a:extLst>
              <a:ext uri="{FF2B5EF4-FFF2-40B4-BE49-F238E27FC236}">
                <a16:creationId xmlns:a16="http://schemas.microsoft.com/office/drawing/2014/main" id="{0A1A7CDA-C0AA-A8AC-8808-09E8B9AA91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Tree>
    <p:extLst>
      <p:ext uri="{BB962C8B-B14F-4D97-AF65-F5344CB8AC3E}">
        <p14:creationId xmlns:p14="http://schemas.microsoft.com/office/powerpoint/2010/main" val="4119084297"/>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117535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白紙（フッター有）">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21C562A-25AB-8415-C9E5-F862FADD5F01}"/>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Tree>
    <p:extLst>
      <p:ext uri="{BB962C8B-B14F-4D97-AF65-F5344CB8AC3E}">
        <p14:creationId xmlns:p14="http://schemas.microsoft.com/office/powerpoint/2010/main" val="21335728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全面画像">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284A47DF-598D-4484-FC4C-BB3F7796E5E5}"/>
              </a:ext>
            </a:extLst>
          </p:cNvPr>
          <p:cNvPicPr>
            <a:picLocks noChangeAspect="1"/>
          </p:cNvPicPr>
          <p:nvPr userDrawn="1"/>
        </p:nvPicPr>
        <p:blipFill>
          <a:blip r:embed="rId2"/>
          <a:srcRect/>
          <a:stretch/>
        </p:blipFill>
        <p:spPr>
          <a:xfrm>
            <a:off x="1" y="-1"/>
            <a:ext cx="12191998" cy="6857998"/>
          </a:xfrm>
          <a:prstGeom prst="rect">
            <a:avLst/>
          </a:prstGeom>
        </p:spPr>
      </p:pic>
      <p:sp>
        <p:nvSpPr>
          <p:cNvPr id="6" name="正方形/長方形 5">
            <a:extLst>
              <a:ext uri="{FF2B5EF4-FFF2-40B4-BE49-F238E27FC236}">
                <a16:creationId xmlns:a16="http://schemas.microsoft.com/office/drawing/2014/main" id="{17BFC142-EE3C-1097-DFF9-406290BF82E8}"/>
              </a:ext>
            </a:extLst>
          </p:cNvPr>
          <p:cNvSpPr/>
          <p:nvPr userDrawn="1"/>
        </p:nvSpPr>
        <p:spPr>
          <a:xfrm>
            <a:off x="0" y="5202000"/>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2" name="タイトル 1">
            <a:extLst>
              <a:ext uri="{FF2B5EF4-FFF2-40B4-BE49-F238E27FC236}">
                <a16:creationId xmlns:a16="http://schemas.microsoft.com/office/drawing/2014/main" id="{B1265E79-47D9-4B17-A967-60D543C5CD4E}"/>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pic>
        <p:nvPicPr>
          <p:cNvPr id="7" name="図 6">
            <a:extLst>
              <a:ext uri="{FF2B5EF4-FFF2-40B4-BE49-F238E27FC236}">
                <a16:creationId xmlns:a16="http://schemas.microsoft.com/office/drawing/2014/main" id="{53006D64-E6DC-EC14-0869-CFFA4F407720}"/>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10" name="テキスト ボックス 9">
            <a:extLst>
              <a:ext uri="{FF2B5EF4-FFF2-40B4-BE49-F238E27FC236}">
                <a16:creationId xmlns:a16="http://schemas.microsoft.com/office/drawing/2014/main" id="{982FFD09-936A-AF7C-CD3D-13DA700D6B37}"/>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2024 NTT DATA Japan Corporation</a:t>
            </a:r>
          </a:p>
        </p:txBody>
      </p:sp>
      <p:sp>
        <p:nvSpPr>
          <p:cNvPr id="11" name="テキスト ボックス 10">
            <a:extLst>
              <a:ext uri="{FF2B5EF4-FFF2-40B4-BE49-F238E27FC236}">
                <a16:creationId xmlns:a16="http://schemas.microsoft.com/office/drawing/2014/main" id="{F630E21C-D3DA-C1C9-6335-53E0F302CA3F}"/>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Tree>
    <p:extLst>
      <p:ext uri="{BB962C8B-B14F-4D97-AF65-F5344CB8AC3E}">
        <p14:creationId xmlns:p14="http://schemas.microsoft.com/office/powerpoint/2010/main" val="36142673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右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364C7304-EA79-3047-AAB3-5F36CE9C49DE}"/>
              </a:ext>
            </a:extLst>
          </p:cNvPr>
          <p:cNvPicPr>
            <a:picLocks noChangeAspect="1"/>
          </p:cNvPicPr>
          <p:nvPr userDrawn="1"/>
        </p:nvPicPr>
        <p:blipFill rotWithShape="1">
          <a:blip r:embed="rId2"/>
          <a:srcRect l="58440" r="8440"/>
          <a:stretch/>
        </p:blipFill>
        <p:spPr>
          <a:xfrm>
            <a:off x="815280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74808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
        <p:nvSpPr>
          <p:cNvPr id="9" name="正方形/長方形 8">
            <a:extLst>
              <a:ext uri="{FF2B5EF4-FFF2-40B4-BE49-F238E27FC236}">
                <a16:creationId xmlns:a16="http://schemas.microsoft.com/office/drawing/2014/main" id="{7B12F8C5-0E88-DAD9-ABAF-0068EAED006A}"/>
              </a:ext>
            </a:extLst>
          </p:cNvPr>
          <p:cNvSpPr/>
          <p:nvPr userDrawn="1"/>
        </p:nvSpPr>
        <p:spPr>
          <a:xfrm>
            <a:off x="8152800"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10" name="図 9">
            <a:extLst>
              <a:ext uri="{FF2B5EF4-FFF2-40B4-BE49-F238E27FC236}">
                <a16:creationId xmlns:a16="http://schemas.microsoft.com/office/drawing/2014/main" id="{1511AB2B-344F-4945-B779-70D998A016D8}"/>
              </a:ext>
            </a:extLst>
          </p:cNvPr>
          <p:cNvPicPr>
            <a:picLocks noChangeAspect="1"/>
          </p:cNvPicPr>
          <p:nvPr userDrawn="1"/>
        </p:nvPicPr>
        <p:blipFill>
          <a:blip r:embed="rId3"/>
          <a:srcRect/>
          <a:stretch/>
        </p:blipFill>
        <p:spPr>
          <a:xfrm>
            <a:off x="10743026" y="6425921"/>
            <a:ext cx="1148891" cy="292658"/>
          </a:xfrm>
          <a:prstGeom prst="rect">
            <a:avLst/>
          </a:prstGeom>
        </p:spPr>
      </p:pic>
    </p:spTree>
    <p:extLst>
      <p:ext uri="{BB962C8B-B14F-4D97-AF65-F5344CB8AC3E}">
        <p14:creationId xmlns:p14="http://schemas.microsoft.com/office/powerpoint/2010/main" val="65310701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左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A5C280F5-C8A3-ED0C-C7A4-8D18EBF140D0}"/>
              </a:ext>
            </a:extLst>
          </p:cNvPr>
          <p:cNvPicPr>
            <a:picLocks noChangeAspect="1"/>
          </p:cNvPicPr>
          <p:nvPr userDrawn="1"/>
        </p:nvPicPr>
        <p:blipFill rotWithShape="1">
          <a:blip r:embed="rId2"/>
          <a:srcRect l="58440" r="8440"/>
          <a:stretch/>
        </p:blipFill>
        <p:spPr>
          <a:xfrm>
            <a:off x="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4586400" y="334800"/>
            <a:ext cx="7232400" cy="412538"/>
          </a:xfrm>
        </p:spPr>
        <p:txBody>
          <a:bodyPr tIns="0" bIns="0">
            <a:noAutofit/>
          </a:bodyPr>
          <a:lstStyle>
            <a:lvl1pPr>
              <a:defRPr sz="2600"/>
            </a:lvl1pPr>
          </a:lstStyle>
          <a:p>
            <a:r>
              <a:rPr kumimoji="1" lang="ja-JP" altLang="en-US"/>
              <a:t>［タイトル］</a:t>
            </a:r>
          </a:p>
        </p:txBody>
      </p:sp>
      <p:sp>
        <p:nvSpPr>
          <p:cNvPr id="9" name="テキスト ボックス 8">
            <a:extLst>
              <a:ext uri="{FF2B5EF4-FFF2-40B4-BE49-F238E27FC236}">
                <a16:creationId xmlns:a16="http://schemas.microsoft.com/office/drawing/2014/main" id="{7B9BBD56-FDC8-781A-F41D-9973F313B293}"/>
              </a:ext>
            </a:extLst>
          </p:cNvPr>
          <p:cNvSpPr txBox="1"/>
          <p:nvPr userDrawn="1"/>
        </p:nvSpPr>
        <p:spPr>
          <a:xfrm>
            <a:off x="77760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
        <p:nvSpPr>
          <p:cNvPr id="4" name="正方形/長方形 3">
            <a:extLst>
              <a:ext uri="{FF2B5EF4-FFF2-40B4-BE49-F238E27FC236}">
                <a16:creationId xmlns:a16="http://schemas.microsoft.com/office/drawing/2014/main" id="{D3B0CE17-A075-1981-B937-98723C53A715}"/>
              </a:ext>
            </a:extLst>
          </p:cNvPr>
          <p:cNvSpPr/>
          <p:nvPr userDrawn="1"/>
        </p:nvSpPr>
        <p:spPr>
          <a:xfrm>
            <a:off x="-1201"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8" name="テキスト ボックス 7">
            <a:extLst>
              <a:ext uri="{FF2B5EF4-FFF2-40B4-BE49-F238E27FC236}">
                <a16:creationId xmlns:a16="http://schemas.microsoft.com/office/drawing/2014/main" id="{7CCDB277-94A0-134B-3BE0-C7631A608D43}"/>
              </a:ext>
            </a:extLst>
          </p:cNvPr>
          <p:cNvSpPr txBox="1"/>
          <p:nvPr userDrawn="1"/>
        </p:nvSpPr>
        <p:spPr>
          <a:xfrm>
            <a:off x="4496400" y="6562800"/>
            <a:ext cx="32040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2024 NTT DATA Japan Corporation</a:t>
            </a:r>
          </a:p>
        </p:txBody>
      </p:sp>
    </p:spTree>
    <p:extLst>
      <p:ext uri="{BB962C8B-B14F-4D97-AF65-F5344CB8AC3E}">
        <p14:creationId xmlns:p14="http://schemas.microsoft.com/office/powerpoint/2010/main" val="36514606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下に画像">
    <p:spTree>
      <p:nvGrpSpPr>
        <p:cNvPr id="1" name=""/>
        <p:cNvGrpSpPr/>
        <p:nvPr/>
      </p:nvGrpSpPr>
      <p:grpSpPr>
        <a:xfrm>
          <a:off x="0" y="0"/>
          <a:ext cx="0" cy="0"/>
          <a:chOff x="0" y="0"/>
          <a:chExt cx="0" cy="0"/>
        </a:xfrm>
      </p:grpSpPr>
      <p:pic>
        <p:nvPicPr>
          <p:cNvPr id="2" name="図プレースホルダー 11">
            <a:extLst>
              <a:ext uri="{FF2B5EF4-FFF2-40B4-BE49-F238E27FC236}">
                <a16:creationId xmlns:a16="http://schemas.microsoft.com/office/drawing/2014/main" id="{9A370874-D6E7-8236-0AEC-2B707CC0DA41}"/>
              </a:ext>
            </a:extLst>
          </p:cNvPr>
          <p:cNvPicPr>
            <a:picLocks noChangeAspect="1"/>
          </p:cNvPicPr>
          <p:nvPr userDrawn="1"/>
        </p:nvPicPr>
        <p:blipFill>
          <a:blip r:embed="rId2"/>
          <a:srcRect t="24412" b="24412"/>
          <a:stretch/>
        </p:blipFill>
        <p:spPr>
          <a:xfrm>
            <a:off x="0" y="3351600"/>
            <a:ext cx="12193200" cy="3510000"/>
          </a:xfrm>
          <a:prstGeom prst="rect">
            <a:avLst/>
          </a:prstGeom>
        </p:spPr>
      </p:pic>
      <p:sp>
        <p:nvSpPr>
          <p:cNvPr id="7" name="正方形/長方形 6">
            <a:extLst>
              <a:ext uri="{FF2B5EF4-FFF2-40B4-BE49-F238E27FC236}">
                <a16:creationId xmlns:a16="http://schemas.microsoft.com/office/drawing/2014/main" id="{C3712D3F-0A14-B965-583E-18E6FCE4A735}"/>
              </a:ext>
            </a:extLst>
          </p:cNvPr>
          <p:cNvSpPr/>
          <p:nvPr userDrawn="1"/>
        </p:nvSpPr>
        <p:spPr>
          <a:xfrm>
            <a:off x="1200" y="5205601"/>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8" name="図 7">
            <a:extLst>
              <a:ext uri="{FF2B5EF4-FFF2-40B4-BE49-F238E27FC236}">
                <a16:creationId xmlns:a16="http://schemas.microsoft.com/office/drawing/2014/main" id="{84D7E9EC-CF46-317F-6A0E-F6BDEEB785B0}"/>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3" name="タイトル 1">
            <a:extLst>
              <a:ext uri="{FF2B5EF4-FFF2-40B4-BE49-F238E27FC236}">
                <a16:creationId xmlns:a16="http://schemas.microsoft.com/office/drawing/2014/main" id="{90F45524-EB8E-A1DF-361B-8D78281B5E74}"/>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sp>
        <p:nvSpPr>
          <p:cNvPr id="12" name="テキスト ボックス 11">
            <a:extLst>
              <a:ext uri="{FF2B5EF4-FFF2-40B4-BE49-F238E27FC236}">
                <a16:creationId xmlns:a16="http://schemas.microsoft.com/office/drawing/2014/main" id="{EFD602CA-4EF9-5AA1-3EE4-33973263E246}"/>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2024 NTT DATA Japan Corporation</a:t>
            </a:r>
          </a:p>
        </p:txBody>
      </p:sp>
      <p:sp>
        <p:nvSpPr>
          <p:cNvPr id="13" name="テキスト ボックス 12">
            <a:extLst>
              <a:ext uri="{FF2B5EF4-FFF2-40B4-BE49-F238E27FC236}">
                <a16:creationId xmlns:a16="http://schemas.microsoft.com/office/drawing/2014/main" id="{AE93AE18-67FE-0AB9-197B-5A29BB657E46}"/>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Tree>
    <p:extLst>
      <p:ext uri="{BB962C8B-B14F-4D97-AF65-F5344CB8AC3E}">
        <p14:creationId xmlns:p14="http://schemas.microsoft.com/office/powerpoint/2010/main" val="101176592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画像3枚">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114480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
        <p:nvSpPr>
          <p:cNvPr id="5" name="Picture Placeholder 6">
            <a:extLst>
              <a:ext uri="{FF2B5EF4-FFF2-40B4-BE49-F238E27FC236}">
                <a16:creationId xmlns:a16="http://schemas.microsoft.com/office/drawing/2014/main" id="{8D8BF745-92BD-988C-34D0-74B4D7534C7D}"/>
              </a:ext>
            </a:extLst>
          </p:cNvPr>
          <p:cNvSpPr>
            <a:spLocks noGrp="1"/>
          </p:cNvSpPr>
          <p:nvPr>
            <p:ph type="pic" sz="quarter" idx="13" hasCustomPrompt="1"/>
          </p:nvPr>
        </p:nvSpPr>
        <p:spPr bwMode="gray">
          <a:xfrm>
            <a:off x="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
        <p:nvSpPr>
          <p:cNvPr id="2" name="Picture Placeholder 6">
            <a:extLst>
              <a:ext uri="{FF2B5EF4-FFF2-40B4-BE49-F238E27FC236}">
                <a16:creationId xmlns:a16="http://schemas.microsoft.com/office/drawing/2014/main" id="{149F5F7A-6BC4-C06C-9C1E-4B267B2B2FE9}"/>
              </a:ext>
            </a:extLst>
          </p:cNvPr>
          <p:cNvSpPr>
            <a:spLocks noGrp="1"/>
          </p:cNvSpPr>
          <p:nvPr>
            <p:ph type="pic" sz="quarter" idx="14" hasCustomPrompt="1"/>
          </p:nvPr>
        </p:nvSpPr>
        <p:spPr bwMode="gray">
          <a:xfrm>
            <a:off x="408960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
        <p:nvSpPr>
          <p:cNvPr id="8" name="Picture Placeholder 6">
            <a:extLst>
              <a:ext uri="{FF2B5EF4-FFF2-40B4-BE49-F238E27FC236}">
                <a16:creationId xmlns:a16="http://schemas.microsoft.com/office/drawing/2014/main" id="{A67C5164-A259-C81F-D67B-6539C0BBF790}"/>
              </a:ext>
            </a:extLst>
          </p:cNvPr>
          <p:cNvSpPr>
            <a:spLocks noGrp="1"/>
          </p:cNvSpPr>
          <p:nvPr>
            <p:ph type="pic" sz="quarter" idx="15" hasCustomPrompt="1"/>
          </p:nvPr>
        </p:nvSpPr>
        <p:spPr bwMode="gray">
          <a:xfrm>
            <a:off x="817560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Tree>
    <p:extLst>
      <p:ext uri="{BB962C8B-B14F-4D97-AF65-F5344CB8AC3E}">
        <p14:creationId xmlns:p14="http://schemas.microsoft.com/office/powerpoint/2010/main" val="15742990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写真集">
    <p:spTree>
      <p:nvGrpSpPr>
        <p:cNvPr id="1" name=""/>
        <p:cNvGrpSpPr/>
        <p:nvPr/>
      </p:nvGrpSpPr>
      <p:grpSpPr>
        <a:xfrm>
          <a:off x="0" y="0"/>
          <a:ext cx="0" cy="0"/>
          <a:chOff x="0" y="0"/>
          <a:chExt cx="0" cy="0"/>
        </a:xfrm>
      </p:grpSpPr>
      <p:sp>
        <p:nvSpPr>
          <p:cNvPr id="5" name="図プレースホルダー 4">
            <a:extLst>
              <a:ext uri="{FF2B5EF4-FFF2-40B4-BE49-F238E27FC236}">
                <a16:creationId xmlns:a16="http://schemas.microsoft.com/office/drawing/2014/main" id="{AF36B133-36B0-B253-B7D4-C28F41A61059}"/>
              </a:ext>
            </a:extLst>
          </p:cNvPr>
          <p:cNvSpPr>
            <a:spLocks noGrp="1"/>
          </p:cNvSpPr>
          <p:nvPr>
            <p:ph type="pic" sz="quarter" idx="11" hasCustomPrompt="1"/>
          </p:nvPr>
        </p:nvSpPr>
        <p:spPr>
          <a:xfrm>
            <a:off x="370800" y="334800"/>
            <a:ext cx="4420800" cy="3546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2" name="タイトル 1">
            <a:extLst>
              <a:ext uri="{FF2B5EF4-FFF2-40B4-BE49-F238E27FC236}">
                <a16:creationId xmlns:a16="http://schemas.microsoft.com/office/drawing/2014/main" id="{760F00A5-A022-0540-F2CC-D4AA03AB45B3}"/>
              </a:ext>
            </a:extLst>
          </p:cNvPr>
          <p:cNvSpPr>
            <a:spLocks noGrp="1"/>
          </p:cNvSpPr>
          <p:nvPr>
            <p:ph type="title" hasCustomPrompt="1"/>
          </p:nvPr>
        </p:nvSpPr>
        <p:spPr>
          <a:xfrm>
            <a:off x="370800" y="2422800"/>
            <a:ext cx="4420800" cy="1458000"/>
          </a:xfrm>
        </p:spPr>
        <p:txBody>
          <a:bodyPr>
            <a:noAutofit/>
          </a:bodyPr>
          <a:lstStyle>
            <a:lvl1pPr algn="ctr">
              <a:defRPr sz="2130" b="0">
                <a:solidFill>
                  <a:schemeClr val="bg1"/>
                </a:solidFill>
              </a:defRPr>
            </a:lvl1pPr>
          </a:lstStyle>
          <a:p>
            <a:r>
              <a:rPr kumimoji="1" lang="ja-JP" altLang="en-US"/>
              <a:t>マスター テキストの書式設定</a:t>
            </a:r>
          </a:p>
        </p:txBody>
      </p:sp>
      <p:sp>
        <p:nvSpPr>
          <p:cNvPr id="7" name="テキスト プレースホルダー 6">
            <a:extLst>
              <a:ext uri="{FF2B5EF4-FFF2-40B4-BE49-F238E27FC236}">
                <a16:creationId xmlns:a16="http://schemas.microsoft.com/office/drawing/2014/main" id="{786AAEE8-9706-2A45-5CC0-A6743ACE48DC}"/>
              </a:ext>
            </a:extLst>
          </p:cNvPr>
          <p:cNvSpPr>
            <a:spLocks noGrp="1"/>
          </p:cNvSpPr>
          <p:nvPr>
            <p:ph type="body" sz="quarter" idx="12"/>
          </p:nvPr>
        </p:nvSpPr>
        <p:spPr>
          <a:xfrm>
            <a:off x="370800" y="3988800"/>
            <a:ext cx="3420000" cy="2250000"/>
          </a:xfrm>
          <a:solidFill>
            <a:schemeClr val="accent6"/>
          </a:solidFill>
        </p:spPr>
        <p:txBody>
          <a:bodyPr anchor="ctr"/>
          <a:lstStyle>
            <a:lvl1pPr algn="l">
              <a:defRPr sz="2670" b="1"/>
            </a:lvl1pPr>
          </a:lstStyle>
          <a:p>
            <a:pPr lvl="0"/>
            <a:r>
              <a:rPr kumimoji="1" lang="ja-JP" altLang="en-US"/>
              <a:t>マスター テキストの書式設定</a:t>
            </a:r>
          </a:p>
        </p:txBody>
      </p:sp>
      <p:sp>
        <p:nvSpPr>
          <p:cNvPr id="9" name="テキスト プレースホルダー 8">
            <a:extLst>
              <a:ext uri="{FF2B5EF4-FFF2-40B4-BE49-F238E27FC236}">
                <a16:creationId xmlns:a16="http://schemas.microsoft.com/office/drawing/2014/main" id="{47250683-2213-51C3-F47C-D3BB0C13BFD4}"/>
              </a:ext>
            </a:extLst>
          </p:cNvPr>
          <p:cNvSpPr>
            <a:spLocks noGrp="1"/>
          </p:cNvSpPr>
          <p:nvPr>
            <p:ph type="body" sz="quarter" idx="13"/>
          </p:nvPr>
        </p:nvSpPr>
        <p:spPr>
          <a:xfrm>
            <a:off x="4903200" y="334800"/>
            <a:ext cx="4348800" cy="3556800"/>
          </a:xfrm>
          <a:solidFill>
            <a:schemeClr val="accent1"/>
          </a:solidFill>
        </p:spPr>
        <p:txBody>
          <a:bodyPr anchor="ctr"/>
          <a:lstStyle>
            <a:lvl1pPr algn="l">
              <a:defRPr sz="3200" b="1">
                <a:solidFill>
                  <a:schemeClr val="bg1"/>
                </a:solidFill>
              </a:defRPr>
            </a:lvl1pPr>
          </a:lstStyle>
          <a:p>
            <a:pPr lvl="0"/>
            <a:r>
              <a:rPr kumimoji="1" lang="ja-JP" altLang="en-US"/>
              <a:t>マスター テキストの書式設定</a:t>
            </a:r>
          </a:p>
        </p:txBody>
      </p:sp>
      <p:sp>
        <p:nvSpPr>
          <p:cNvPr id="11" name="図プレースホルダー 10">
            <a:extLst>
              <a:ext uri="{FF2B5EF4-FFF2-40B4-BE49-F238E27FC236}">
                <a16:creationId xmlns:a16="http://schemas.microsoft.com/office/drawing/2014/main" id="{D127BBDB-D025-FD8A-C85D-A801D42BDD16}"/>
              </a:ext>
            </a:extLst>
          </p:cNvPr>
          <p:cNvSpPr>
            <a:spLocks noGrp="1"/>
          </p:cNvSpPr>
          <p:nvPr>
            <p:ph type="pic" sz="quarter" idx="14" hasCustomPrompt="1"/>
          </p:nvPr>
        </p:nvSpPr>
        <p:spPr>
          <a:xfrm>
            <a:off x="3877200" y="3988800"/>
            <a:ext cx="5371200" cy="2249487"/>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3" name="テキスト プレースホルダー 12">
            <a:extLst>
              <a:ext uri="{FF2B5EF4-FFF2-40B4-BE49-F238E27FC236}">
                <a16:creationId xmlns:a16="http://schemas.microsoft.com/office/drawing/2014/main" id="{A7430A91-EF7E-38AA-26AE-08F2AE017756}"/>
              </a:ext>
            </a:extLst>
          </p:cNvPr>
          <p:cNvSpPr>
            <a:spLocks noGrp="1"/>
          </p:cNvSpPr>
          <p:nvPr>
            <p:ph type="body" sz="quarter" idx="15"/>
          </p:nvPr>
        </p:nvSpPr>
        <p:spPr>
          <a:xfrm>
            <a:off x="3877200" y="5400000"/>
            <a:ext cx="5371200" cy="838800"/>
          </a:xfrm>
        </p:spPr>
        <p:txBody>
          <a:bodyPr anchor="t" anchorCtr="0"/>
          <a:lstStyle>
            <a:lvl1pPr algn="ctr">
              <a:defRPr>
                <a:solidFill>
                  <a:schemeClr val="bg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kumimoji="1" lang="ja-JP" altLang="en-US"/>
              <a:t>マスター テキストの書式設定</a:t>
            </a:r>
          </a:p>
        </p:txBody>
      </p:sp>
      <p:sp>
        <p:nvSpPr>
          <p:cNvPr id="15" name="テキスト プレースホルダー 14">
            <a:extLst>
              <a:ext uri="{FF2B5EF4-FFF2-40B4-BE49-F238E27FC236}">
                <a16:creationId xmlns:a16="http://schemas.microsoft.com/office/drawing/2014/main" id="{8E3F89E9-9AFA-9CD7-A1FE-3F17B7226957}"/>
              </a:ext>
            </a:extLst>
          </p:cNvPr>
          <p:cNvSpPr>
            <a:spLocks noGrp="1"/>
          </p:cNvSpPr>
          <p:nvPr>
            <p:ph type="body" sz="quarter" idx="16"/>
          </p:nvPr>
        </p:nvSpPr>
        <p:spPr>
          <a:xfrm>
            <a:off x="9360000" y="334800"/>
            <a:ext cx="2473200" cy="1699200"/>
          </a:xfrm>
          <a:solidFill>
            <a:schemeClr val="accent6"/>
          </a:solidFill>
        </p:spPr>
        <p:txBody>
          <a:bodyPr anchor="ct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17" name="図プレースホルダー 16">
            <a:extLst>
              <a:ext uri="{FF2B5EF4-FFF2-40B4-BE49-F238E27FC236}">
                <a16:creationId xmlns:a16="http://schemas.microsoft.com/office/drawing/2014/main" id="{36D62073-F3ED-902D-ABDD-53B579CEBC66}"/>
              </a:ext>
            </a:extLst>
          </p:cNvPr>
          <p:cNvSpPr>
            <a:spLocks noGrp="1"/>
          </p:cNvSpPr>
          <p:nvPr>
            <p:ph type="pic" sz="quarter" idx="17" hasCustomPrompt="1"/>
          </p:nvPr>
        </p:nvSpPr>
        <p:spPr>
          <a:xfrm>
            <a:off x="9349200" y="2138400"/>
            <a:ext cx="2484000" cy="2682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9" name="テキスト プレースホルダー 18">
            <a:extLst>
              <a:ext uri="{FF2B5EF4-FFF2-40B4-BE49-F238E27FC236}">
                <a16:creationId xmlns:a16="http://schemas.microsoft.com/office/drawing/2014/main" id="{4A8E1685-4EC8-2142-116E-6C7F07537E72}"/>
              </a:ext>
            </a:extLst>
          </p:cNvPr>
          <p:cNvSpPr>
            <a:spLocks noGrp="1"/>
          </p:cNvSpPr>
          <p:nvPr>
            <p:ph type="body" sz="quarter" idx="18"/>
          </p:nvPr>
        </p:nvSpPr>
        <p:spPr>
          <a:xfrm>
            <a:off x="9360000" y="3744000"/>
            <a:ext cx="2473200" cy="1076400"/>
          </a:xfrm>
        </p:spPr>
        <p:txBody>
          <a:bodyP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21" name="テキスト プレースホルダー 20">
            <a:extLst>
              <a:ext uri="{FF2B5EF4-FFF2-40B4-BE49-F238E27FC236}">
                <a16:creationId xmlns:a16="http://schemas.microsoft.com/office/drawing/2014/main" id="{A9A8FCD4-EB65-F684-B13F-80CED75EC550}"/>
              </a:ext>
            </a:extLst>
          </p:cNvPr>
          <p:cNvSpPr>
            <a:spLocks noGrp="1"/>
          </p:cNvSpPr>
          <p:nvPr>
            <p:ph type="body" sz="quarter" idx="19"/>
          </p:nvPr>
        </p:nvSpPr>
        <p:spPr>
          <a:xfrm>
            <a:off x="9349200" y="4928400"/>
            <a:ext cx="2469600" cy="1310400"/>
          </a:xfrm>
          <a:solidFill>
            <a:schemeClr val="accent2"/>
          </a:solidFill>
        </p:spPr>
        <p:txBody>
          <a:bodyPr anchor="ctr"/>
          <a:lstStyle>
            <a:lvl1pPr algn="ctr">
              <a:defRPr sz="2130">
                <a:solidFill>
                  <a:schemeClr val="bg1"/>
                </a:solidFill>
              </a:defRPr>
            </a:lvl1pPr>
          </a:lstStyle>
          <a:p>
            <a:pPr lvl="0"/>
            <a:r>
              <a:rPr kumimoji="1" lang="ja-JP" altLang="en-US"/>
              <a:t>マスター テキストの書式設定</a:t>
            </a:r>
          </a:p>
        </p:txBody>
      </p:sp>
      <p:sp>
        <p:nvSpPr>
          <p:cNvPr id="6" name="テキスト ボックス 5">
            <a:extLst>
              <a:ext uri="{FF2B5EF4-FFF2-40B4-BE49-F238E27FC236}">
                <a16:creationId xmlns:a16="http://schemas.microsoft.com/office/drawing/2014/main" id="{9BE84247-9F18-8E6D-E1A4-05326A6BB13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Tree>
    <p:extLst>
      <p:ext uri="{BB962C8B-B14F-4D97-AF65-F5344CB8AC3E}">
        <p14:creationId xmlns:p14="http://schemas.microsoft.com/office/powerpoint/2010/main" val="36639927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白背景">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D5407A4A-3DB7-4C09-9159-4E2F57E6F3A7}"/>
              </a:ext>
            </a:extLst>
          </p:cNvPr>
          <p:cNvPicPr>
            <a:picLocks noChangeAspect="1"/>
          </p:cNvPicPr>
          <p:nvPr userDrawn="1"/>
        </p:nvPicPr>
        <p:blipFill>
          <a:blip r:embed="rId2"/>
          <a:srcRect/>
          <a:stretch/>
        </p:blipFill>
        <p:spPr>
          <a:xfrm>
            <a:off x="3885475" y="2865911"/>
            <a:ext cx="4421049" cy="1126177"/>
          </a:xfrm>
          <a:prstGeom prst="rect">
            <a:avLst/>
          </a:prstGeom>
        </p:spPr>
      </p:pic>
    </p:spTree>
    <p:extLst>
      <p:ext uri="{BB962C8B-B14F-4D97-AF65-F5344CB8AC3E}">
        <p14:creationId xmlns:p14="http://schemas.microsoft.com/office/powerpoint/2010/main" val="14759751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写真背景">
    <p:bg>
      <p:bgRef idx="1001">
        <a:schemeClr val="bg1"/>
      </p:bgRef>
    </p:bg>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32BAA3C9-E6D9-AE11-A16C-34CC9C76E6A5}"/>
              </a:ext>
            </a:extLst>
          </p:cNvPr>
          <p:cNvPicPr>
            <a:picLocks noChangeAspect="1"/>
          </p:cNvPicPr>
          <p:nvPr userDrawn="1"/>
        </p:nvPicPr>
        <p:blipFill>
          <a:blip r:embed="rId2"/>
          <a:srcRect/>
          <a:stretch/>
        </p:blipFill>
        <p:spPr>
          <a:xfrm>
            <a:off x="1" y="-1"/>
            <a:ext cx="12191998" cy="6857999"/>
          </a:xfrm>
          <a:prstGeom prst="rect">
            <a:avLst/>
          </a:prstGeom>
        </p:spPr>
      </p:pic>
      <p:sp>
        <p:nvSpPr>
          <p:cNvPr id="11" name="正方形/長方形 10">
            <a:extLst>
              <a:ext uri="{FF2B5EF4-FFF2-40B4-BE49-F238E27FC236}">
                <a16:creationId xmlns:a16="http://schemas.microsoft.com/office/drawing/2014/main" id="{4EB59AC5-1B60-A021-8B7D-DF59CBAD3A75}"/>
              </a:ext>
            </a:extLst>
          </p:cNvPr>
          <p:cNvSpPr/>
          <p:nvPr userDrawn="1"/>
        </p:nvSpPr>
        <p:spPr>
          <a:xfrm>
            <a:off x="0" y="-1"/>
            <a:ext cx="12192000" cy="6857998"/>
          </a:xfrm>
          <a:prstGeom prst="rect">
            <a:avLst/>
          </a:prstGeom>
          <a:solidFill>
            <a:srgbClr val="050D24">
              <a:alpha val="58367"/>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12" name="図 11">
            <a:extLst>
              <a:ext uri="{FF2B5EF4-FFF2-40B4-BE49-F238E27FC236}">
                <a16:creationId xmlns:a16="http://schemas.microsoft.com/office/drawing/2014/main" id="{CB41749C-507D-C7F2-AA9C-DC270B029338}"/>
              </a:ext>
            </a:extLst>
          </p:cNvPr>
          <p:cNvPicPr>
            <a:picLocks noChangeAspect="1"/>
          </p:cNvPicPr>
          <p:nvPr userDrawn="1"/>
        </p:nvPicPr>
        <p:blipFill>
          <a:blip r:embed="rId3"/>
          <a:srcRect/>
          <a:stretch/>
        </p:blipFill>
        <p:spPr>
          <a:xfrm>
            <a:off x="3885475" y="2865911"/>
            <a:ext cx="4421049" cy="1126177"/>
          </a:xfrm>
          <a:prstGeom prst="rect">
            <a:avLst/>
          </a:prstGeom>
        </p:spPr>
      </p:pic>
    </p:spTree>
    <p:extLst>
      <p:ext uri="{BB962C8B-B14F-4D97-AF65-F5344CB8AC3E}">
        <p14:creationId xmlns:p14="http://schemas.microsoft.com/office/powerpoint/2010/main" val="1469859458"/>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表紙1">
    <p:spTree>
      <p:nvGrpSpPr>
        <p:cNvPr id="1" name=""/>
        <p:cNvGrpSpPr/>
        <p:nvPr/>
      </p:nvGrpSpPr>
      <p:grpSpPr>
        <a:xfrm>
          <a:off x="0" y="0"/>
          <a:ext cx="0" cy="0"/>
          <a:chOff x="0" y="0"/>
          <a:chExt cx="0" cy="0"/>
        </a:xfrm>
      </p:grpSpPr>
      <p:sp>
        <p:nvSpPr>
          <p:cNvPr id="6" name="テキスト プレースホルダー 5"/>
          <p:cNvSpPr>
            <a:spLocks noGrp="1"/>
          </p:cNvSpPr>
          <p:nvPr>
            <p:ph type="body" sz="quarter" idx="10" hasCustomPrompt="1"/>
          </p:nvPr>
        </p:nvSpPr>
        <p:spPr>
          <a:xfrm>
            <a:off x="411634" y="5566335"/>
            <a:ext cx="3182799" cy="351288"/>
          </a:xfrm>
          <a:prstGeom prst="rect">
            <a:avLst/>
          </a:prstGeom>
        </p:spPr>
        <p:txBody>
          <a:bodyPr anchor="ctr"/>
          <a:lstStyle>
            <a:lvl1pPr marL="0" indent="0">
              <a:lnSpc>
                <a:spcPct val="100000"/>
              </a:lnSpc>
              <a:spcBef>
                <a:spcPts val="0"/>
              </a:spcBef>
              <a:buNone/>
              <a:defRPr sz="1300">
                <a:latin typeface="+mn-ea"/>
                <a:ea typeface="+mn-ea"/>
                <a:cs typeface="メイリオ" pitchFamily="50" charset="-128"/>
              </a:defRPr>
            </a:lvl1pPr>
          </a:lstStyle>
          <a:p>
            <a:pPr lvl="0"/>
            <a:r>
              <a:rPr kumimoji="1" lang="en-US" altLang="ja-JP" dirty="0"/>
              <a:t>0000/00/00</a:t>
            </a:r>
            <a:endParaRPr kumimoji="1" lang="ja-JP" altLang="en-US" dirty="0"/>
          </a:p>
        </p:txBody>
      </p:sp>
      <p:sp>
        <p:nvSpPr>
          <p:cNvPr id="16" name="タイトル 2"/>
          <p:cNvSpPr>
            <a:spLocks noGrp="1"/>
          </p:cNvSpPr>
          <p:nvPr>
            <p:ph type="title" hasCustomPrompt="1"/>
          </p:nvPr>
        </p:nvSpPr>
        <p:spPr>
          <a:xfrm>
            <a:off x="411634" y="2699386"/>
            <a:ext cx="11375965" cy="585575"/>
          </a:xfrm>
          <a:prstGeom prst="rect">
            <a:avLst/>
          </a:prstGeom>
        </p:spPr>
        <p:txBody>
          <a:bodyPr/>
          <a:lstStyle>
            <a:lvl1pPr>
              <a:lnSpc>
                <a:spcPct val="100000"/>
              </a:lnSpc>
              <a:spcBef>
                <a:spcPts val="0"/>
              </a:spcBef>
              <a:defRPr sz="3200" b="1" baseline="0">
                <a:solidFill>
                  <a:schemeClr val="tx1"/>
                </a:solidFill>
                <a:latin typeface="+mj-ea"/>
                <a:ea typeface="+mj-ea"/>
                <a:cs typeface="メイリオ" pitchFamily="50" charset="-128"/>
              </a:defRPr>
            </a:lvl1pPr>
          </a:lstStyle>
          <a:p>
            <a:r>
              <a:rPr kumimoji="1" lang="ja-JP" altLang="en-US" dirty="0"/>
              <a:t>表紙タイトル </a:t>
            </a:r>
            <a:r>
              <a:rPr kumimoji="1" lang="en-US" altLang="ja-JP" dirty="0"/>
              <a:t>32pt</a:t>
            </a:r>
            <a:endParaRPr kumimoji="1" lang="ja-JP" altLang="en-US" dirty="0"/>
          </a:p>
        </p:txBody>
      </p:sp>
      <p:sp>
        <p:nvSpPr>
          <p:cNvPr id="18" name="テキスト ボックス 17"/>
          <p:cNvSpPr txBox="1"/>
          <p:nvPr userDrawn="1"/>
        </p:nvSpPr>
        <p:spPr>
          <a:xfrm>
            <a:off x="404401" y="5920205"/>
            <a:ext cx="5758567" cy="292388"/>
          </a:xfrm>
          <a:prstGeom prst="rect">
            <a:avLst/>
          </a:prstGeom>
          <a:noFill/>
        </p:spPr>
        <p:txBody>
          <a:bodyPr wrap="square" rtlCol="0" anchor="t">
            <a:spAutoFit/>
          </a:bodyPr>
          <a:lstStyle/>
          <a:p>
            <a:pPr>
              <a:spcBef>
                <a:spcPts val="0"/>
              </a:spcBef>
              <a:spcAft>
                <a:spcPts val="600"/>
              </a:spcAft>
            </a:pPr>
            <a:r>
              <a:rPr kumimoji="1" lang="ja-JP" altLang="en-US" sz="1300" b="1" dirty="0">
                <a:solidFill>
                  <a:schemeClr val="tx1"/>
                </a:solidFill>
                <a:latin typeface="+mn-ea"/>
                <a:ea typeface="+mn-ea"/>
                <a:cs typeface="メイリオ" pitchFamily="50" charset="-128"/>
              </a:rPr>
              <a:t>三菱重工業株式会社</a:t>
            </a:r>
          </a:p>
        </p:txBody>
      </p:sp>
      <p:pic>
        <p:nvPicPr>
          <p:cNvPr id="11" name="図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1916" y="201827"/>
            <a:ext cx="11659616" cy="944880"/>
          </a:xfrm>
          <a:prstGeom prst="rect">
            <a:avLst/>
          </a:prstGeom>
        </p:spPr>
      </p:pic>
      <p:sp>
        <p:nvSpPr>
          <p:cNvPr id="10" name="テキスト プレースホルダー 21">
            <a:extLst>
              <a:ext uri="{FF2B5EF4-FFF2-40B4-BE49-F238E27FC236}">
                <a16:creationId xmlns:a16="http://schemas.microsoft.com/office/drawing/2014/main" id="{A1B3CB4D-6995-4FBD-99A9-97EF83630755}"/>
              </a:ext>
            </a:extLst>
          </p:cNvPr>
          <p:cNvSpPr>
            <a:spLocks noGrp="1"/>
          </p:cNvSpPr>
          <p:nvPr>
            <p:ph type="body" sz="quarter" idx="14" hasCustomPrompt="1"/>
          </p:nvPr>
        </p:nvSpPr>
        <p:spPr>
          <a:xfrm>
            <a:off x="411634" y="3361113"/>
            <a:ext cx="11375965" cy="1676400"/>
          </a:xfrm>
          <a:prstGeom prst="rect">
            <a:avLst/>
          </a:prstGeom>
        </p:spPr>
        <p:txBody>
          <a:bodyPr/>
          <a:lstStyle>
            <a:lvl1pPr marL="0" marR="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sz="1600" baseline="0">
                <a:solidFill>
                  <a:schemeClr val="tx1"/>
                </a:solidFill>
                <a:latin typeface="+mn-ea"/>
                <a:ea typeface="+mn-ea"/>
                <a:cs typeface="メイリオ" pitchFamily="50" charset="-128"/>
              </a:defRPr>
            </a:lvl1pPr>
          </a:lstStyle>
          <a:p>
            <a:pPr marL="0" marR="0" lvl="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dirty="0"/>
              <a:t>サブタイトル </a:t>
            </a:r>
            <a:r>
              <a:rPr kumimoji="1" lang="en-US" altLang="ja-JP" dirty="0"/>
              <a:t>16pt</a:t>
            </a:r>
            <a:r>
              <a:rPr kumimoji="1" lang="ja-JP" altLang="en-US" dirty="0"/>
              <a:t>　　　　　　　　　　　　　　　　　　　　　　　　　　　　　　　　●複数の会社名やロゴを記載するレイアウトはスライドマスターにあり                          ●写真付きの表紙レイアウト（</a:t>
            </a:r>
            <a:r>
              <a:rPr kumimoji="1" lang="en-US" altLang="ja-JP" dirty="0"/>
              <a:t>2</a:t>
            </a:r>
            <a:r>
              <a:rPr kumimoji="1" lang="ja-JP" altLang="en-US" dirty="0"/>
              <a:t>種）はスライドマスターにあり                                   </a:t>
            </a:r>
            <a:r>
              <a:rPr kumimoji="1" lang="en-US" altLang="ja-JP" dirty="0"/>
              <a:t>※</a:t>
            </a:r>
            <a:r>
              <a:rPr kumimoji="1" lang="ja-JP" altLang="en-US" dirty="0"/>
              <a:t>スライドマスターの変更は別紙「スライドマスター操作ガイド」をご参照ください</a:t>
            </a:r>
          </a:p>
        </p:txBody>
      </p:sp>
      <p:sp>
        <p:nvSpPr>
          <p:cNvPr id="9" name="日付プレースホルダー 32"/>
          <p:cNvSpPr txBox="1">
            <a:spLocks/>
          </p:cNvSpPr>
          <p:nvPr userDrawn="1"/>
        </p:nvSpPr>
        <p:spPr>
          <a:xfrm>
            <a:off x="261916" y="6370975"/>
            <a:ext cx="7203141"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dirty="0">
                <a:solidFill>
                  <a:schemeClr val="tx1"/>
                </a:solidFill>
                <a:latin typeface="+mn-lt"/>
              </a:rPr>
              <a:t>© Mitsubishi Heavy Industries, Ltd.  All Rights Reserved.</a:t>
            </a:r>
            <a:endParaRPr lang="ja-JP" altLang="en-US" sz="700" dirty="0">
              <a:solidFill>
                <a:schemeClr val="tx1"/>
              </a:solidFill>
              <a:latin typeface="+mn-lt"/>
            </a:endParaRPr>
          </a:p>
        </p:txBody>
      </p:sp>
      <p:pic>
        <p:nvPicPr>
          <p:cNvPr id="12" name="図 11">
            <a:extLst>
              <a:ext uri="{FF2B5EF4-FFF2-40B4-BE49-F238E27FC236}">
                <a16:creationId xmlns:a16="http://schemas.microsoft.com/office/drawing/2014/main" id="{9CA45DE1-C1B1-4C0E-B123-54EBEE5258C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06773" y="6421555"/>
            <a:ext cx="1584000" cy="230108"/>
          </a:xfrm>
          <a:prstGeom prst="rect">
            <a:avLst/>
          </a:prstGeom>
        </p:spPr>
      </p:pic>
    </p:spTree>
    <p:extLst>
      <p:ext uri="{BB962C8B-B14F-4D97-AF65-F5344CB8AC3E}">
        <p14:creationId xmlns:p14="http://schemas.microsoft.com/office/powerpoint/2010/main" val="349733655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表紙2">
    <p:spTree>
      <p:nvGrpSpPr>
        <p:cNvPr id="1" name=""/>
        <p:cNvGrpSpPr/>
        <p:nvPr/>
      </p:nvGrpSpPr>
      <p:grpSpPr>
        <a:xfrm>
          <a:off x="0" y="0"/>
          <a:ext cx="0" cy="0"/>
          <a:chOff x="0" y="0"/>
          <a:chExt cx="0" cy="0"/>
        </a:xfrm>
      </p:grpSpPr>
      <p:sp>
        <p:nvSpPr>
          <p:cNvPr id="27" name="タイトル 1"/>
          <p:cNvSpPr>
            <a:spLocks noGrp="1"/>
          </p:cNvSpPr>
          <p:nvPr>
            <p:ph type="title" hasCustomPrompt="1"/>
          </p:nvPr>
        </p:nvSpPr>
        <p:spPr>
          <a:xfrm>
            <a:off x="411634" y="1887961"/>
            <a:ext cx="5750316" cy="1139483"/>
          </a:xfrm>
          <a:prstGeom prst="rect">
            <a:avLst/>
          </a:prstGeom>
        </p:spPr>
        <p:txBody>
          <a:bodyPr/>
          <a:lstStyle>
            <a:lvl1pPr>
              <a:lnSpc>
                <a:spcPct val="100000"/>
              </a:lnSpc>
              <a:defRPr sz="3200" b="1">
                <a:solidFill>
                  <a:schemeClr val="bg1"/>
                </a:solidFill>
                <a:latin typeface="+mj-ea"/>
                <a:ea typeface="+mj-ea"/>
                <a:cs typeface="メイリオ" pitchFamily="50" charset="-128"/>
              </a:defRPr>
            </a:lvl1pPr>
          </a:lstStyle>
          <a:p>
            <a:r>
              <a:rPr kumimoji="1" lang="ja-JP" altLang="en-US" dirty="0"/>
              <a:t>表紙タイトル </a:t>
            </a:r>
            <a:r>
              <a:rPr kumimoji="1" lang="en-US" altLang="ja-JP" dirty="0"/>
              <a:t>32pt</a:t>
            </a:r>
            <a:endParaRPr kumimoji="1" lang="ja-JP" altLang="en-US" dirty="0"/>
          </a:p>
        </p:txBody>
      </p:sp>
      <p:sp>
        <p:nvSpPr>
          <p:cNvPr id="28" name="テキスト プレースホルダー 21"/>
          <p:cNvSpPr>
            <a:spLocks noGrp="1"/>
          </p:cNvSpPr>
          <p:nvPr>
            <p:ph type="body" sz="quarter" idx="12" hasCustomPrompt="1"/>
          </p:nvPr>
        </p:nvSpPr>
        <p:spPr>
          <a:xfrm>
            <a:off x="411633" y="3099948"/>
            <a:ext cx="5750316" cy="1590674"/>
          </a:xfrm>
          <a:prstGeom prst="rect">
            <a:avLst/>
          </a:prstGeom>
        </p:spPr>
        <p:txBody>
          <a:bodyPr/>
          <a:lstStyle>
            <a:lvl1pPr marL="0" marR="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sz="1600" baseline="0">
                <a:solidFill>
                  <a:schemeClr val="bg1"/>
                </a:solidFill>
                <a:latin typeface="+mn-ea"/>
                <a:ea typeface="+mn-ea"/>
                <a:cs typeface="メイリオ" pitchFamily="50" charset="-128"/>
              </a:defRPr>
            </a:lvl1pPr>
          </a:lstStyle>
          <a:p>
            <a:pPr marL="0" marR="0" lvl="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dirty="0"/>
              <a:t>サブタイトル </a:t>
            </a:r>
            <a:r>
              <a:rPr kumimoji="1" lang="en-US" altLang="ja-JP" dirty="0"/>
              <a:t>16pt</a:t>
            </a:r>
          </a:p>
        </p:txBody>
      </p:sp>
      <p:pic>
        <p:nvPicPr>
          <p:cNvPr id="9" name="図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1916" y="201827"/>
            <a:ext cx="11659616" cy="944880"/>
          </a:xfrm>
          <a:prstGeom prst="rect">
            <a:avLst/>
          </a:prstGeom>
        </p:spPr>
      </p:pic>
      <p:sp>
        <p:nvSpPr>
          <p:cNvPr id="21" name="テキスト プレースホルダー 5"/>
          <p:cNvSpPr>
            <a:spLocks noGrp="1"/>
          </p:cNvSpPr>
          <p:nvPr>
            <p:ph type="body" sz="quarter" idx="13" hasCustomPrompt="1"/>
          </p:nvPr>
        </p:nvSpPr>
        <p:spPr>
          <a:xfrm>
            <a:off x="411634" y="5394339"/>
            <a:ext cx="3182799" cy="351288"/>
          </a:xfrm>
          <a:prstGeom prst="rect">
            <a:avLst/>
          </a:prstGeom>
        </p:spPr>
        <p:txBody>
          <a:bodyPr anchor="ctr"/>
          <a:lstStyle>
            <a:lvl1pPr marL="0" indent="0">
              <a:lnSpc>
                <a:spcPct val="100000"/>
              </a:lnSpc>
              <a:spcBef>
                <a:spcPts val="0"/>
              </a:spcBef>
              <a:buNone/>
              <a:defRPr sz="1300">
                <a:solidFill>
                  <a:schemeClr val="bg1"/>
                </a:solidFill>
                <a:latin typeface="+mn-ea"/>
                <a:ea typeface="+mn-ea"/>
                <a:cs typeface="メイリオ" pitchFamily="50" charset="-128"/>
              </a:defRPr>
            </a:lvl1pPr>
          </a:lstStyle>
          <a:p>
            <a:pPr lvl="0"/>
            <a:r>
              <a:rPr kumimoji="1" lang="en-US" altLang="ja-JP" dirty="0"/>
              <a:t>0000/00/00</a:t>
            </a:r>
            <a:endParaRPr kumimoji="1" lang="ja-JP" altLang="en-US" dirty="0"/>
          </a:p>
        </p:txBody>
      </p:sp>
      <p:sp>
        <p:nvSpPr>
          <p:cNvPr id="24" name="テキスト ボックス 23"/>
          <p:cNvSpPr txBox="1"/>
          <p:nvPr userDrawn="1"/>
        </p:nvSpPr>
        <p:spPr>
          <a:xfrm>
            <a:off x="404397" y="5748208"/>
            <a:ext cx="5757552" cy="292388"/>
          </a:xfrm>
          <a:prstGeom prst="rect">
            <a:avLst/>
          </a:prstGeom>
          <a:noFill/>
        </p:spPr>
        <p:txBody>
          <a:bodyPr wrap="square" rtlCol="0" anchor="t">
            <a:spAutoFit/>
          </a:bodyPr>
          <a:lstStyle/>
          <a:p>
            <a:pPr>
              <a:spcAft>
                <a:spcPts val="600"/>
              </a:spcAft>
            </a:pPr>
            <a:r>
              <a:rPr kumimoji="1" lang="ja-JP" altLang="en-US" sz="1300" b="1" dirty="0">
                <a:solidFill>
                  <a:schemeClr val="bg1"/>
                </a:solidFill>
                <a:latin typeface="+mn-ea"/>
                <a:ea typeface="+mn-ea"/>
                <a:cs typeface="メイリオ" pitchFamily="50" charset="-128"/>
              </a:rPr>
              <a:t>三菱重工業株式会社</a:t>
            </a:r>
          </a:p>
        </p:txBody>
      </p:sp>
      <p:sp>
        <p:nvSpPr>
          <p:cNvPr id="31" name="日付プレースホルダー 32"/>
          <p:cNvSpPr txBox="1">
            <a:spLocks/>
          </p:cNvSpPr>
          <p:nvPr userDrawn="1"/>
        </p:nvSpPr>
        <p:spPr>
          <a:xfrm>
            <a:off x="261916" y="6370975"/>
            <a:ext cx="7203141"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dirty="0">
                <a:solidFill>
                  <a:schemeClr val="tx1"/>
                </a:solidFill>
                <a:latin typeface="+mn-lt"/>
              </a:rPr>
              <a:t>© Mitsubishi Heavy Industries, Ltd.  All Rights Reserved.</a:t>
            </a:r>
            <a:endParaRPr lang="ja-JP" altLang="en-US" sz="700" dirty="0">
              <a:solidFill>
                <a:schemeClr val="tx1"/>
              </a:solidFill>
              <a:latin typeface="+mn-lt"/>
            </a:endParaRPr>
          </a:p>
        </p:txBody>
      </p:sp>
      <p:pic>
        <p:nvPicPr>
          <p:cNvPr id="11" name="図 10">
            <a:extLst>
              <a:ext uri="{FF2B5EF4-FFF2-40B4-BE49-F238E27FC236}">
                <a16:creationId xmlns:a16="http://schemas.microsoft.com/office/drawing/2014/main" id="{C70D38E8-0DE6-47EE-B224-018031CE46D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06773" y="6421555"/>
            <a:ext cx="1584000" cy="230108"/>
          </a:xfrm>
          <a:prstGeom prst="rect">
            <a:avLst/>
          </a:prstGeom>
        </p:spPr>
      </p:pic>
    </p:spTree>
    <p:extLst>
      <p:ext uri="{BB962C8B-B14F-4D97-AF65-F5344CB8AC3E}">
        <p14:creationId xmlns:p14="http://schemas.microsoft.com/office/powerpoint/2010/main" val="6374744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表紙3">
    <p:spTree>
      <p:nvGrpSpPr>
        <p:cNvPr id="1" name=""/>
        <p:cNvGrpSpPr/>
        <p:nvPr/>
      </p:nvGrpSpPr>
      <p:grpSpPr>
        <a:xfrm>
          <a:off x="0" y="0"/>
          <a:ext cx="0" cy="0"/>
          <a:chOff x="0" y="0"/>
          <a:chExt cx="0" cy="0"/>
        </a:xfrm>
      </p:grpSpPr>
      <p:pic>
        <p:nvPicPr>
          <p:cNvPr id="4" name="図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1916" y="957110"/>
            <a:ext cx="4868672" cy="5187696"/>
          </a:xfrm>
          <a:prstGeom prst="rect">
            <a:avLst/>
          </a:prstGeom>
        </p:spPr>
      </p:pic>
      <p:pic>
        <p:nvPicPr>
          <p:cNvPr id="1029" name="Picture 5" descr="C:\Users\S04\Desktop\名称未設定-2-01.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964952" y="216547"/>
            <a:ext cx="3952347" cy="516959"/>
          </a:xfrm>
          <a:prstGeom prst="rect">
            <a:avLst/>
          </a:prstGeom>
          <a:noFill/>
          <a:extLst>
            <a:ext uri="{909E8E84-426E-40DD-AFC4-6F175D3DCCD1}">
              <a14:hiddenFill xmlns:a14="http://schemas.microsoft.com/office/drawing/2010/main">
                <a:solidFill>
                  <a:srgbClr val="FFFFFF"/>
                </a:solidFill>
              </a14:hiddenFill>
            </a:ext>
          </a:extLst>
        </p:spPr>
      </p:pic>
      <p:sp>
        <p:nvSpPr>
          <p:cNvPr id="16" name="テキスト プレースホルダー 5"/>
          <p:cNvSpPr>
            <a:spLocks noGrp="1"/>
          </p:cNvSpPr>
          <p:nvPr>
            <p:ph type="body" sz="quarter" idx="13" hasCustomPrompt="1"/>
          </p:nvPr>
        </p:nvSpPr>
        <p:spPr>
          <a:xfrm>
            <a:off x="411634" y="5394339"/>
            <a:ext cx="3182799" cy="351288"/>
          </a:xfrm>
          <a:prstGeom prst="rect">
            <a:avLst/>
          </a:prstGeom>
        </p:spPr>
        <p:txBody>
          <a:bodyPr anchor="ctr"/>
          <a:lstStyle>
            <a:lvl1pPr marL="0" indent="0">
              <a:lnSpc>
                <a:spcPct val="100000"/>
              </a:lnSpc>
              <a:spcBef>
                <a:spcPts val="0"/>
              </a:spcBef>
              <a:buNone/>
              <a:defRPr sz="1300">
                <a:solidFill>
                  <a:schemeClr val="bg1"/>
                </a:solidFill>
                <a:latin typeface="+mn-ea"/>
                <a:ea typeface="+mn-ea"/>
                <a:cs typeface="メイリオ" pitchFamily="50" charset="-128"/>
              </a:defRPr>
            </a:lvl1pPr>
          </a:lstStyle>
          <a:p>
            <a:pPr lvl="0"/>
            <a:r>
              <a:rPr kumimoji="1" lang="en-US" altLang="ja-JP" dirty="0"/>
              <a:t>0000/00/00</a:t>
            </a:r>
            <a:endParaRPr kumimoji="1" lang="ja-JP" altLang="en-US" dirty="0"/>
          </a:p>
        </p:txBody>
      </p:sp>
      <p:sp>
        <p:nvSpPr>
          <p:cNvPr id="17" name="テキスト ボックス 16"/>
          <p:cNvSpPr txBox="1"/>
          <p:nvPr userDrawn="1"/>
        </p:nvSpPr>
        <p:spPr>
          <a:xfrm>
            <a:off x="404398" y="5748208"/>
            <a:ext cx="4726191" cy="292388"/>
          </a:xfrm>
          <a:prstGeom prst="rect">
            <a:avLst/>
          </a:prstGeom>
          <a:noFill/>
        </p:spPr>
        <p:txBody>
          <a:bodyPr wrap="square" rtlCol="0" anchor="t">
            <a:spAutoFit/>
          </a:bodyPr>
          <a:lstStyle/>
          <a:p>
            <a:pPr>
              <a:spcAft>
                <a:spcPts val="600"/>
              </a:spcAft>
            </a:pPr>
            <a:r>
              <a:rPr kumimoji="1" lang="ja-JP" altLang="en-US" sz="1300" b="1" dirty="0">
                <a:solidFill>
                  <a:schemeClr val="bg1"/>
                </a:solidFill>
                <a:latin typeface="+mn-ea"/>
                <a:ea typeface="+mn-ea"/>
                <a:cs typeface="メイリオ" pitchFamily="50" charset="-128"/>
              </a:rPr>
              <a:t>三菱重工業株式会社</a:t>
            </a:r>
          </a:p>
        </p:txBody>
      </p:sp>
      <p:sp>
        <p:nvSpPr>
          <p:cNvPr id="12" name="タイトル 1"/>
          <p:cNvSpPr>
            <a:spLocks noGrp="1"/>
          </p:cNvSpPr>
          <p:nvPr>
            <p:ph type="title" hasCustomPrompt="1"/>
          </p:nvPr>
        </p:nvSpPr>
        <p:spPr>
          <a:xfrm>
            <a:off x="411634" y="1887961"/>
            <a:ext cx="4715537" cy="1139483"/>
          </a:xfrm>
          <a:prstGeom prst="rect">
            <a:avLst/>
          </a:prstGeom>
        </p:spPr>
        <p:txBody>
          <a:bodyPr/>
          <a:lstStyle>
            <a:lvl1pPr>
              <a:lnSpc>
                <a:spcPct val="100000"/>
              </a:lnSpc>
              <a:defRPr sz="3200" b="1">
                <a:solidFill>
                  <a:schemeClr val="bg1"/>
                </a:solidFill>
                <a:latin typeface="+mj-ea"/>
                <a:ea typeface="+mj-ea"/>
                <a:cs typeface="メイリオ" pitchFamily="50" charset="-128"/>
              </a:defRPr>
            </a:lvl1pPr>
          </a:lstStyle>
          <a:p>
            <a:r>
              <a:rPr kumimoji="1" lang="ja-JP" altLang="en-US" dirty="0"/>
              <a:t>表紙タイトル </a:t>
            </a:r>
            <a:r>
              <a:rPr kumimoji="1" lang="en-US" altLang="ja-JP" dirty="0"/>
              <a:t>32pt</a:t>
            </a:r>
            <a:endParaRPr kumimoji="1" lang="ja-JP" altLang="en-US" dirty="0"/>
          </a:p>
        </p:txBody>
      </p:sp>
      <p:sp>
        <p:nvSpPr>
          <p:cNvPr id="18" name="テキスト プレースホルダー 21"/>
          <p:cNvSpPr>
            <a:spLocks noGrp="1"/>
          </p:cNvSpPr>
          <p:nvPr>
            <p:ph type="body" sz="quarter" idx="12" hasCustomPrompt="1"/>
          </p:nvPr>
        </p:nvSpPr>
        <p:spPr>
          <a:xfrm>
            <a:off x="411633" y="3099948"/>
            <a:ext cx="4718956" cy="1590674"/>
          </a:xfrm>
          <a:prstGeom prst="rect">
            <a:avLst/>
          </a:prstGeom>
        </p:spPr>
        <p:txBody>
          <a:bodyPr/>
          <a:lstStyle>
            <a:lvl1pPr marL="0" marR="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sz="1600" baseline="0">
                <a:solidFill>
                  <a:schemeClr val="bg1"/>
                </a:solidFill>
                <a:latin typeface="+mn-ea"/>
                <a:ea typeface="+mn-ea"/>
                <a:cs typeface="メイリオ" pitchFamily="50" charset="-128"/>
              </a:defRPr>
            </a:lvl1pPr>
          </a:lstStyle>
          <a:p>
            <a:pPr marL="0" marR="0" lvl="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dirty="0"/>
              <a:t>サブタイトル </a:t>
            </a:r>
            <a:r>
              <a:rPr kumimoji="1" lang="en-US" altLang="ja-JP" dirty="0"/>
              <a:t>16pt</a:t>
            </a:r>
          </a:p>
        </p:txBody>
      </p:sp>
      <p:sp>
        <p:nvSpPr>
          <p:cNvPr id="11" name="日付プレースホルダー 32"/>
          <p:cNvSpPr txBox="1">
            <a:spLocks/>
          </p:cNvSpPr>
          <p:nvPr userDrawn="1"/>
        </p:nvSpPr>
        <p:spPr>
          <a:xfrm>
            <a:off x="261916" y="6370975"/>
            <a:ext cx="7203141"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dirty="0">
                <a:solidFill>
                  <a:schemeClr val="tx1"/>
                </a:solidFill>
                <a:latin typeface="+mn-lt"/>
              </a:rPr>
              <a:t>© Mitsubishi Heavy Industries, Ltd.  All Rights Reserved.</a:t>
            </a:r>
            <a:endParaRPr lang="ja-JP" altLang="en-US" sz="700" dirty="0">
              <a:solidFill>
                <a:schemeClr val="tx1"/>
              </a:solidFill>
              <a:latin typeface="+mn-lt"/>
            </a:endParaRPr>
          </a:p>
        </p:txBody>
      </p:sp>
      <p:pic>
        <p:nvPicPr>
          <p:cNvPr id="15" name="図 14">
            <a:extLst>
              <a:ext uri="{FF2B5EF4-FFF2-40B4-BE49-F238E27FC236}">
                <a16:creationId xmlns:a16="http://schemas.microsoft.com/office/drawing/2014/main" id="{FA98FA36-DDD8-450D-B9A0-375914A3D8D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206773" y="6421555"/>
            <a:ext cx="1584000" cy="230108"/>
          </a:xfrm>
          <a:prstGeom prst="rect">
            <a:avLst/>
          </a:prstGeom>
        </p:spPr>
      </p:pic>
    </p:spTree>
    <p:extLst>
      <p:ext uri="{BB962C8B-B14F-4D97-AF65-F5344CB8AC3E}">
        <p14:creationId xmlns:p14="http://schemas.microsoft.com/office/powerpoint/2010/main" val="226499080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カラーサンプル">
    <p:spTree>
      <p:nvGrpSpPr>
        <p:cNvPr id="1" name=""/>
        <p:cNvGrpSpPr/>
        <p:nvPr/>
      </p:nvGrpSpPr>
      <p:grpSpPr>
        <a:xfrm>
          <a:off x="0" y="0"/>
          <a:ext cx="0" cy="0"/>
          <a:chOff x="0" y="0"/>
          <a:chExt cx="0" cy="0"/>
        </a:xfrm>
      </p:grpSpPr>
      <p:pic>
        <p:nvPicPr>
          <p:cNvPr id="2" name="図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4160" y="6407161"/>
            <a:ext cx="11663680" cy="262128"/>
          </a:xfrm>
          <a:prstGeom prst="rect">
            <a:avLst/>
          </a:prstGeom>
        </p:spPr>
      </p:pic>
      <p:sp>
        <p:nvSpPr>
          <p:cNvPr id="4" name="日付プレースホルダー 32"/>
          <p:cNvSpPr txBox="1">
            <a:spLocks/>
          </p:cNvSpPr>
          <p:nvPr userDrawn="1"/>
        </p:nvSpPr>
        <p:spPr>
          <a:xfrm>
            <a:off x="412896" y="6357513"/>
            <a:ext cx="7203141"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dirty="0">
                <a:solidFill>
                  <a:schemeClr val="bg1"/>
                </a:solidFill>
                <a:latin typeface="+mn-lt"/>
              </a:rPr>
              <a:t>© Mitsubishi Heavy Industries, Ltd.  All Rights Reserved.</a:t>
            </a:r>
            <a:endParaRPr lang="ja-JP" altLang="en-US" sz="700" dirty="0">
              <a:solidFill>
                <a:schemeClr val="bg1"/>
              </a:solidFill>
              <a:latin typeface="+mn-lt"/>
            </a:endParaRPr>
          </a:p>
        </p:txBody>
      </p:sp>
      <p:sp>
        <p:nvSpPr>
          <p:cNvPr id="7" name="スライド番号プレースホルダー 5"/>
          <p:cNvSpPr txBox="1">
            <a:spLocks/>
          </p:cNvSpPr>
          <p:nvPr userDrawn="1"/>
        </p:nvSpPr>
        <p:spPr>
          <a:xfrm>
            <a:off x="11165417" y="6356608"/>
            <a:ext cx="694267"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smtClean="0">
                <a:latin typeface="Arial"/>
              </a:rPr>
              <a:pPr>
                <a:defRPr/>
              </a:pPr>
              <a:t>‹#›</a:t>
            </a:fld>
            <a:endParaRPr lang="en-US" altLang="ja-JP" sz="1000" dirty="0">
              <a:latin typeface="Arial"/>
            </a:endParaRPr>
          </a:p>
        </p:txBody>
      </p:sp>
      <p:cxnSp>
        <p:nvCxnSpPr>
          <p:cNvPr id="21" name="直線コネクタ 20"/>
          <p:cNvCxnSpPr/>
          <p:nvPr userDrawn="1"/>
        </p:nvCxnSpPr>
        <p:spPr>
          <a:xfrm>
            <a:off x="261916" y="564204"/>
            <a:ext cx="116596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図 9">
            <a:extLst>
              <a:ext uri="{FF2B5EF4-FFF2-40B4-BE49-F238E27FC236}">
                <a16:creationId xmlns:a16="http://schemas.microsoft.com/office/drawing/2014/main" id="{1CBBDA9B-E97E-4157-8C9B-E181F614B24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05688" y="169645"/>
            <a:ext cx="1584000" cy="230108"/>
          </a:xfrm>
          <a:prstGeom prst="rect">
            <a:avLst/>
          </a:prstGeom>
        </p:spPr>
      </p:pic>
    </p:spTree>
    <p:extLst>
      <p:ext uri="{BB962C8B-B14F-4D97-AF65-F5344CB8AC3E}">
        <p14:creationId xmlns:p14="http://schemas.microsoft.com/office/powerpoint/2010/main" val="382816333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ロゴ">
    <p:spTree>
      <p:nvGrpSpPr>
        <p:cNvPr id="1" name=""/>
        <p:cNvGrpSpPr/>
        <p:nvPr/>
      </p:nvGrpSpPr>
      <p:grpSpPr>
        <a:xfrm>
          <a:off x="0" y="0"/>
          <a:ext cx="0" cy="0"/>
          <a:chOff x="0" y="0"/>
          <a:chExt cx="0" cy="0"/>
        </a:xfrm>
      </p:grpSpPr>
      <p:pic>
        <p:nvPicPr>
          <p:cNvPr id="4" name="Picture 5" descr="C:\Users\S04\Desktop\名称未設定-2-01.jpg">
            <a:extLst>
              <a:ext uri="{FF2B5EF4-FFF2-40B4-BE49-F238E27FC236}">
                <a16:creationId xmlns:a16="http://schemas.microsoft.com/office/drawing/2014/main" id="{F1494654-01F0-42B3-A66A-EAA98DA1965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18053" y="241201"/>
            <a:ext cx="3952347" cy="516959"/>
          </a:xfrm>
          <a:prstGeom prst="rect">
            <a:avLst/>
          </a:prstGeom>
          <a:noFill/>
          <a:extLst>
            <a:ext uri="{909E8E84-426E-40DD-AFC4-6F175D3DCCD1}">
              <a14:hiddenFill xmlns:a14="http://schemas.microsoft.com/office/drawing/2010/main">
                <a:solidFill>
                  <a:srgbClr val="FFFFFF"/>
                </a:solidFill>
              </a14:hiddenFill>
            </a:ext>
          </a:extLst>
        </p:spPr>
      </p:pic>
      <p:pic>
        <p:nvPicPr>
          <p:cNvPr id="7" name="図 6">
            <a:extLst>
              <a:ext uri="{FF2B5EF4-FFF2-40B4-BE49-F238E27FC236}">
                <a16:creationId xmlns:a16="http://schemas.microsoft.com/office/drawing/2014/main" id="{3A43E3EA-FD6B-48AF-B1FE-280D2B3402F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501226" y="2525033"/>
            <a:ext cx="7048076" cy="1491755"/>
          </a:xfrm>
          <a:prstGeom prst="rect">
            <a:avLst/>
          </a:prstGeom>
          <a:noFill/>
          <a:ln>
            <a:noFill/>
          </a:ln>
        </p:spPr>
      </p:pic>
    </p:spTree>
    <p:extLst>
      <p:ext uri="{BB962C8B-B14F-4D97-AF65-F5344CB8AC3E}">
        <p14:creationId xmlns:p14="http://schemas.microsoft.com/office/powerpoint/2010/main" val="385924300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表紙1">
    <p:spTree>
      <p:nvGrpSpPr>
        <p:cNvPr id="1" name=""/>
        <p:cNvGrpSpPr/>
        <p:nvPr/>
      </p:nvGrpSpPr>
      <p:grpSpPr>
        <a:xfrm>
          <a:off x="0" y="0"/>
          <a:ext cx="0" cy="0"/>
          <a:chOff x="0" y="0"/>
          <a:chExt cx="0" cy="0"/>
        </a:xfrm>
      </p:grpSpPr>
      <p:pic>
        <p:nvPicPr>
          <p:cNvPr id="8" name="図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1611" y="202145"/>
            <a:ext cx="11658905" cy="944562"/>
          </a:xfrm>
          <a:prstGeom prst="rect">
            <a:avLst/>
          </a:prstGeom>
        </p:spPr>
      </p:pic>
      <p:sp>
        <p:nvSpPr>
          <p:cNvPr id="6" name="テキスト プレースホルダー 5"/>
          <p:cNvSpPr>
            <a:spLocks noGrp="1"/>
          </p:cNvSpPr>
          <p:nvPr>
            <p:ph type="body" sz="quarter" idx="10" hasCustomPrompt="1"/>
          </p:nvPr>
        </p:nvSpPr>
        <p:spPr>
          <a:xfrm>
            <a:off x="376465" y="5566335"/>
            <a:ext cx="3182798" cy="351288"/>
          </a:xfrm>
          <a:prstGeom prst="rect">
            <a:avLst/>
          </a:prstGeom>
        </p:spPr>
        <p:txBody>
          <a:bodyPr lIns="103903" tIns="51952" rIns="103903" bIns="51952" anchor="ctr"/>
          <a:lstStyle>
            <a:lvl1pPr marL="0" indent="0">
              <a:lnSpc>
                <a:spcPct val="100000"/>
              </a:lnSpc>
              <a:spcBef>
                <a:spcPts val="0"/>
              </a:spcBef>
              <a:buNone/>
              <a:defRPr sz="1300">
                <a:latin typeface="+mn-ea"/>
                <a:ea typeface="+mn-ea"/>
                <a:cs typeface="メイリオ" pitchFamily="50" charset="-128"/>
              </a:defRPr>
            </a:lvl1pPr>
          </a:lstStyle>
          <a:p>
            <a:pPr lvl="0"/>
            <a:r>
              <a:rPr kumimoji="1" lang="en-US" altLang="ja-JP"/>
              <a:t>0000/00/00</a:t>
            </a:r>
            <a:endParaRPr kumimoji="1" lang="ja-JP" altLang="en-US"/>
          </a:p>
        </p:txBody>
      </p:sp>
      <p:sp>
        <p:nvSpPr>
          <p:cNvPr id="16" name="タイトル 2"/>
          <p:cNvSpPr>
            <a:spLocks noGrp="1"/>
          </p:cNvSpPr>
          <p:nvPr>
            <p:ph type="title" hasCustomPrompt="1"/>
          </p:nvPr>
        </p:nvSpPr>
        <p:spPr>
          <a:xfrm>
            <a:off x="376466" y="2699387"/>
            <a:ext cx="11442242" cy="585575"/>
          </a:xfrm>
          <a:prstGeom prst="rect">
            <a:avLst/>
          </a:prstGeom>
        </p:spPr>
        <p:txBody>
          <a:bodyPr lIns="103903" tIns="51952" rIns="103903" bIns="51952"/>
          <a:lstStyle>
            <a:lvl1pPr>
              <a:lnSpc>
                <a:spcPct val="100000"/>
              </a:lnSpc>
              <a:spcBef>
                <a:spcPts val="0"/>
              </a:spcBef>
              <a:defRPr sz="3199" b="1" baseline="0">
                <a:solidFill>
                  <a:schemeClr val="tx1"/>
                </a:solidFill>
                <a:latin typeface="+mj-ea"/>
                <a:ea typeface="+mj-ea"/>
                <a:cs typeface="メイリオ" pitchFamily="50" charset="-128"/>
              </a:defRPr>
            </a:lvl1pPr>
          </a:lstStyle>
          <a:p>
            <a:r>
              <a:rPr kumimoji="1" lang="ja-JP" altLang="en-US"/>
              <a:t>表紙タイトル </a:t>
            </a:r>
            <a:r>
              <a:rPr kumimoji="1" lang="en-US" altLang="ja-JP"/>
              <a:t>32pt</a:t>
            </a:r>
            <a:endParaRPr kumimoji="1" lang="ja-JP" altLang="en-US"/>
          </a:p>
        </p:txBody>
      </p:sp>
      <p:sp>
        <p:nvSpPr>
          <p:cNvPr id="18" name="テキスト ボックス 17"/>
          <p:cNvSpPr txBox="1"/>
          <p:nvPr userDrawn="1"/>
        </p:nvSpPr>
        <p:spPr>
          <a:xfrm>
            <a:off x="369232" y="5920206"/>
            <a:ext cx="5758567" cy="304902"/>
          </a:xfrm>
          <a:prstGeom prst="rect">
            <a:avLst/>
          </a:prstGeom>
          <a:noFill/>
        </p:spPr>
        <p:txBody>
          <a:bodyPr wrap="square" lIns="103879" tIns="51940" rIns="103879" bIns="51940" rtlCol="0" anchor="t">
            <a:spAutoFit/>
          </a:bodyPr>
          <a:lstStyle/>
          <a:p>
            <a:pPr>
              <a:spcBef>
                <a:spcPts val="0"/>
              </a:spcBef>
              <a:spcAft>
                <a:spcPts val="682"/>
              </a:spcAft>
            </a:pPr>
            <a:r>
              <a:rPr kumimoji="1" lang="ja-JP" altLang="en-US" sz="1300" b="1">
                <a:solidFill>
                  <a:schemeClr val="tx1"/>
                </a:solidFill>
                <a:latin typeface="+mn-ea"/>
                <a:ea typeface="+mn-ea"/>
                <a:cs typeface="メイリオ" pitchFamily="50" charset="-128"/>
              </a:rPr>
              <a:t>三菱重工業株式会社</a:t>
            </a:r>
          </a:p>
        </p:txBody>
      </p:sp>
      <p:sp>
        <p:nvSpPr>
          <p:cNvPr id="10" name="テキスト プレースホルダー 21">
            <a:extLst>
              <a:ext uri="{FF2B5EF4-FFF2-40B4-BE49-F238E27FC236}">
                <a16:creationId xmlns:a16="http://schemas.microsoft.com/office/drawing/2014/main" id="{A1B3CB4D-6995-4FBD-99A9-97EF83630755}"/>
              </a:ext>
            </a:extLst>
          </p:cNvPr>
          <p:cNvSpPr>
            <a:spLocks noGrp="1"/>
          </p:cNvSpPr>
          <p:nvPr>
            <p:ph type="body" sz="quarter" idx="14" hasCustomPrompt="1"/>
          </p:nvPr>
        </p:nvSpPr>
        <p:spPr>
          <a:xfrm>
            <a:off x="376466" y="3361113"/>
            <a:ext cx="11442242" cy="1676400"/>
          </a:xfrm>
          <a:prstGeom prst="rect">
            <a:avLst/>
          </a:prstGeom>
        </p:spPr>
        <p:txBody>
          <a:bodyPr lIns="103903" tIns="51952" rIns="103903" bIns="51952"/>
          <a:lstStyle>
            <a:lvl1pPr marL="0" marR="0" indent="0" algn="l" defTabSz="779119" rtl="0" eaLnBrk="1" fontAlgn="auto" latinLnBrk="0" hangingPunct="1">
              <a:lnSpc>
                <a:spcPct val="120000"/>
              </a:lnSpc>
              <a:spcBef>
                <a:spcPts val="0"/>
              </a:spcBef>
              <a:spcAft>
                <a:spcPts val="0"/>
              </a:spcAft>
              <a:buClrTx/>
              <a:buSzTx/>
              <a:buFont typeface="Arial" panose="020B0604020202020204" pitchFamily="34" charset="0"/>
              <a:buNone/>
              <a:tabLst/>
              <a:defRPr sz="1600" baseline="0">
                <a:solidFill>
                  <a:schemeClr val="tx1"/>
                </a:solidFill>
                <a:latin typeface="+mn-ea"/>
                <a:ea typeface="+mn-ea"/>
                <a:cs typeface="メイリオ" pitchFamily="50" charset="-128"/>
              </a:defRPr>
            </a:lvl1pPr>
          </a:lstStyle>
          <a:p>
            <a:pPr marL="0" marR="0" lvl="0" indent="0" algn="l" defTabSz="779119"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a:t>サブタイトル </a:t>
            </a:r>
            <a:r>
              <a:rPr kumimoji="1" lang="en-US" altLang="ja-JP"/>
              <a:t>16pt</a:t>
            </a:r>
            <a:r>
              <a:rPr kumimoji="1" lang="ja-JP" altLang="en-US"/>
              <a:t>　　　　　　　　　　　　　　　　　　　　　　　　　　　　　　　　　　　　　　　　　　　　　　●複数の会社名やロゴを記載するレイアウトはスライドマスターにあり　　　　　　　　　　　　　　　　　　　　　　　●写真付きの表紙レイアウト（</a:t>
            </a:r>
            <a:r>
              <a:rPr kumimoji="1" lang="en-US" altLang="ja-JP"/>
              <a:t>2</a:t>
            </a:r>
            <a:r>
              <a:rPr kumimoji="1" lang="ja-JP" altLang="en-US"/>
              <a:t>種）はスライドマスターにあり　　　　　　　　　　　　　　　　　　　　　　　　　　　　</a:t>
            </a:r>
            <a:r>
              <a:rPr kumimoji="1" lang="en-US" altLang="ja-JP"/>
              <a:t>※</a:t>
            </a:r>
            <a:r>
              <a:rPr kumimoji="1" lang="ja-JP" altLang="en-US"/>
              <a:t>スライドマスターの変更は別紙「スライドマスター操作ガイド」をご参照ください</a:t>
            </a:r>
          </a:p>
        </p:txBody>
      </p:sp>
      <p:sp>
        <p:nvSpPr>
          <p:cNvPr id="11" name="日付プレースホルダー 32"/>
          <p:cNvSpPr txBox="1">
            <a:spLocks/>
          </p:cNvSpPr>
          <p:nvPr userDrawn="1"/>
        </p:nvSpPr>
        <p:spPr>
          <a:xfrm>
            <a:off x="261612" y="6370978"/>
            <a:ext cx="7203141" cy="365125"/>
          </a:xfrm>
          <a:prstGeom prst="rect">
            <a:avLst/>
          </a:prstGeom>
          <a:ln>
            <a:noFill/>
          </a:ln>
        </p:spPr>
        <p:txBody>
          <a:bodyPr vert="horz" wrap="square" lIns="0" tIns="51940" rIns="103879" bIns="5194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tx1"/>
                </a:solidFill>
                <a:latin typeface="+mn-lt"/>
              </a:rPr>
              <a:t>© Mitsubishi Heavy Industries, Ltd.  All Rights Reserved.</a:t>
            </a:r>
            <a:endParaRPr lang="ja-JP" altLang="en-US" sz="700">
              <a:solidFill>
                <a:schemeClr val="tx1"/>
              </a:solidFill>
              <a:latin typeface="+mn-lt"/>
            </a:endParaRPr>
          </a:p>
        </p:txBody>
      </p:sp>
      <p:pic>
        <p:nvPicPr>
          <p:cNvPr id="13" name="図 12">
            <a:extLst>
              <a:ext uri="{FF2B5EF4-FFF2-40B4-BE49-F238E27FC236}">
                <a16:creationId xmlns:a16="http://schemas.microsoft.com/office/drawing/2014/main" id="{E1D5730D-F7B8-43CB-A4F1-C6D9B15F12C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98424" y="6298909"/>
            <a:ext cx="1872967" cy="382183"/>
          </a:xfrm>
          <a:prstGeom prst="rect">
            <a:avLst/>
          </a:prstGeom>
        </p:spPr>
      </p:pic>
    </p:spTree>
    <p:extLst>
      <p:ext uri="{BB962C8B-B14F-4D97-AF65-F5344CB8AC3E}">
        <p14:creationId xmlns:p14="http://schemas.microsoft.com/office/powerpoint/2010/main" val="157818308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カラーサンプル">
    <p:spTree>
      <p:nvGrpSpPr>
        <p:cNvPr id="1" name=""/>
        <p:cNvGrpSpPr/>
        <p:nvPr/>
      </p:nvGrpSpPr>
      <p:grpSpPr>
        <a:xfrm>
          <a:off x="0" y="0"/>
          <a:ext cx="0" cy="0"/>
          <a:chOff x="0" y="0"/>
          <a:chExt cx="0" cy="0"/>
        </a:xfrm>
      </p:grpSpPr>
      <p:pic>
        <p:nvPicPr>
          <p:cNvPr id="13" name="図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6349" y="6407265"/>
            <a:ext cx="11655183" cy="262024"/>
          </a:xfrm>
          <a:prstGeom prst="rect">
            <a:avLst/>
          </a:prstGeom>
        </p:spPr>
      </p:pic>
      <p:sp>
        <p:nvSpPr>
          <p:cNvPr id="4" name="日付プレースホルダー 32"/>
          <p:cNvSpPr txBox="1">
            <a:spLocks/>
          </p:cNvSpPr>
          <p:nvPr userDrawn="1"/>
        </p:nvSpPr>
        <p:spPr>
          <a:xfrm>
            <a:off x="412896" y="6357513"/>
            <a:ext cx="7203141" cy="365125"/>
          </a:xfrm>
          <a:prstGeom prst="rect">
            <a:avLst/>
          </a:prstGeom>
          <a:ln>
            <a:noFill/>
          </a:ln>
        </p:spPr>
        <p:txBody>
          <a:bodyPr vert="horz" wrap="square" lIns="0" tIns="51940" rIns="103879" bIns="5194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bg1"/>
                </a:solidFill>
                <a:latin typeface="+mn-lt"/>
              </a:rPr>
              <a:t>© Mitsubishi Heavy Industries, Ltd.  All Rights Reserved.</a:t>
            </a:r>
            <a:endParaRPr lang="ja-JP" altLang="en-US" sz="700">
              <a:solidFill>
                <a:schemeClr val="bg1"/>
              </a:solidFill>
              <a:latin typeface="+mn-lt"/>
            </a:endParaRPr>
          </a:p>
        </p:txBody>
      </p:sp>
      <p:sp>
        <p:nvSpPr>
          <p:cNvPr id="7" name="スライド番号プレースホルダー 5"/>
          <p:cNvSpPr txBox="1">
            <a:spLocks/>
          </p:cNvSpPr>
          <p:nvPr userDrawn="1"/>
        </p:nvSpPr>
        <p:spPr>
          <a:xfrm>
            <a:off x="11165417" y="6356608"/>
            <a:ext cx="694267" cy="365125"/>
          </a:xfrm>
          <a:prstGeom prst="rect">
            <a:avLst/>
          </a:prstGeom>
          <a:ln>
            <a:noFill/>
          </a:ln>
        </p:spPr>
        <p:txBody>
          <a:bodyPr vert="horz" wrap="square" lIns="103879" tIns="51940" rIns="103879" bIns="5194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smtClean="0">
                <a:latin typeface="Arial"/>
              </a:rPr>
              <a:pPr>
                <a:defRPr/>
              </a:pPr>
              <a:t>‹#›</a:t>
            </a:fld>
            <a:endParaRPr lang="en-US" altLang="ja-JP" sz="1000">
              <a:latin typeface="Arial"/>
            </a:endParaRPr>
          </a:p>
        </p:txBody>
      </p:sp>
      <p:cxnSp>
        <p:nvCxnSpPr>
          <p:cNvPr id="21" name="直線コネクタ 20"/>
          <p:cNvCxnSpPr/>
          <p:nvPr userDrawn="1"/>
        </p:nvCxnSpPr>
        <p:spPr>
          <a:xfrm>
            <a:off x="261916" y="564204"/>
            <a:ext cx="116596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タイトル 1"/>
          <p:cNvSpPr>
            <a:spLocks noGrp="1"/>
          </p:cNvSpPr>
          <p:nvPr>
            <p:ph type="title" hasCustomPrompt="1"/>
          </p:nvPr>
        </p:nvSpPr>
        <p:spPr>
          <a:xfrm>
            <a:off x="552523" y="128798"/>
            <a:ext cx="8708212" cy="349961"/>
          </a:xfrm>
          <a:prstGeom prst="rect">
            <a:avLst/>
          </a:prstGeom>
        </p:spPr>
        <p:txBody>
          <a:bodyPr lIns="103903" tIns="51952" rIns="103903" bIns="51952"/>
          <a:lstStyle>
            <a:lvl1pPr>
              <a:lnSpc>
                <a:spcPct val="100000"/>
              </a:lnSpc>
              <a:defRPr sz="2200" b="1">
                <a:latin typeface="+mj-ea"/>
                <a:ea typeface="+mj-ea"/>
                <a:cs typeface="メイリオ" pitchFamily="50" charset="-128"/>
              </a:defRPr>
            </a:lvl1pPr>
          </a:lstStyle>
          <a:p>
            <a:r>
              <a:rPr kumimoji="1" lang="ja-JP" altLang="en-US"/>
              <a:t>ページタイトル </a:t>
            </a:r>
            <a:r>
              <a:rPr kumimoji="1" lang="en-US" altLang="ja-JP"/>
              <a:t>22pt</a:t>
            </a:r>
            <a:endParaRPr kumimoji="1" lang="ja-JP" altLang="en-US"/>
          </a:p>
        </p:txBody>
      </p:sp>
      <p:sp>
        <p:nvSpPr>
          <p:cNvPr id="11" name="テキスト プレースホルダー 9"/>
          <p:cNvSpPr>
            <a:spLocks noGrp="1"/>
          </p:cNvSpPr>
          <p:nvPr>
            <p:ph type="body" sz="quarter" idx="10" hasCustomPrompt="1"/>
          </p:nvPr>
        </p:nvSpPr>
        <p:spPr>
          <a:xfrm>
            <a:off x="552523" y="797131"/>
            <a:ext cx="8707896" cy="652463"/>
          </a:xfrm>
          <a:prstGeom prst="rect">
            <a:avLst/>
          </a:prstGeom>
        </p:spPr>
        <p:txBody>
          <a:bodyPr lIns="103903" tIns="51952" rIns="103903" bIns="51952"/>
          <a:lstStyle>
            <a:lvl1pPr marL="0" marR="0" indent="0" algn="l" defTabSz="779119" rtl="0" eaLnBrk="1" fontAlgn="auto" latinLnBrk="0" hangingPunct="1">
              <a:lnSpc>
                <a:spcPct val="120000"/>
              </a:lnSpc>
              <a:spcBef>
                <a:spcPts val="852"/>
              </a:spcBef>
              <a:spcAft>
                <a:spcPts val="0"/>
              </a:spcAft>
              <a:buClrTx/>
              <a:buSzTx/>
              <a:buFont typeface="Arial" panose="020B0604020202020204" pitchFamily="34" charset="0"/>
              <a:buNone/>
              <a:tabLst/>
              <a:defRPr sz="1600">
                <a:latin typeface="+mn-ea"/>
                <a:ea typeface="+mn-ea"/>
                <a:cs typeface="メイリオ" pitchFamily="50" charset="-128"/>
              </a:defRPr>
            </a:lvl1pPr>
          </a:lstStyle>
          <a:p>
            <a:pPr marL="0" marR="0" lvl="0" indent="0" algn="l" defTabSz="779119" rtl="0" eaLnBrk="1" fontAlgn="auto" latinLnBrk="0" hangingPunct="1">
              <a:lnSpc>
                <a:spcPct val="120000"/>
              </a:lnSpc>
              <a:spcBef>
                <a:spcPts val="852"/>
              </a:spcBef>
              <a:spcAft>
                <a:spcPts val="0"/>
              </a:spcAft>
              <a:buClrTx/>
              <a:buSzTx/>
              <a:buFont typeface="Arial" panose="020B0604020202020204" pitchFamily="34" charset="0"/>
              <a:buNone/>
              <a:tabLst/>
              <a:defRPr/>
            </a:pPr>
            <a:r>
              <a:rPr kumimoji="1" lang="ja-JP" altLang="en-US"/>
              <a:t>テキスト </a:t>
            </a:r>
            <a:r>
              <a:rPr kumimoji="1" lang="en-US" altLang="ja-JP"/>
              <a:t>16pt</a:t>
            </a:r>
            <a:endParaRPr kumimoji="1" lang="ja-JP" altLang="en-US"/>
          </a:p>
        </p:txBody>
      </p:sp>
      <p:sp>
        <p:nvSpPr>
          <p:cNvPr id="14" name="テキスト プレースホルダー 18"/>
          <p:cNvSpPr>
            <a:spLocks noGrp="1"/>
          </p:cNvSpPr>
          <p:nvPr>
            <p:ph type="body" sz="quarter" idx="13" hasCustomPrompt="1"/>
          </p:nvPr>
        </p:nvSpPr>
        <p:spPr>
          <a:xfrm>
            <a:off x="552522" y="1525210"/>
            <a:ext cx="11106079" cy="838164"/>
          </a:xfrm>
          <a:prstGeom prst="rect">
            <a:avLst/>
          </a:prstGeom>
        </p:spPr>
        <p:txBody>
          <a:bodyPr lIns="103903" tIns="51952" rIns="103903" bIns="51952" numCol="2" spcCol="613602"/>
          <a:lstStyle>
            <a:lvl1pPr marL="0" indent="0">
              <a:lnSpc>
                <a:spcPct val="120000"/>
              </a:lnSpc>
              <a:spcBef>
                <a:spcPts val="852"/>
              </a:spcBef>
              <a:buNone/>
              <a:defRPr sz="1000">
                <a:latin typeface="+mn-ea"/>
                <a:ea typeface="+mn-ea"/>
                <a:cs typeface="メイリオ" pitchFamily="50" charset="-128"/>
              </a:defRPr>
            </a:lvl1pPr>
          </a:lstStyle>
          <a:p>
            <a:pPr lvl="0"/>
            <a:r>
              <a:rPr kumimoji="1" lang="ja-JP" altLang="en-US"/>
              <a:t>テキスト </a:t>
            </a:r>
            <a:r>
              <a:rPr kumimoji="1" lang="en-US" altLang="ja-JP"/>
              <a:t>10pt</a:t>
            </a:r>
            <a:endParaRPr kumimoji="1" lang="ja-JP" altLang="en-US"/>
          </a:p>
        </p:txBody>
      </p:sp>
      <p:pic>
        <p:nvPicPr>
          <p:cNvPr id="12" name="図 11">
            <a:extLst>
              <a:ext uri="{FF2B5EF4-FFF2-40B4-BE49-F238E27FC236}">
                <a16:creationId xmlns:a16="http://schemas.microsoft.com/office/drawing/2014/main" id="{DB554B49-A860-451E-9ECA-BDD09B87F9F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98424" y="96577"/>
            <a:ext cx="1872967" cy="382183"/>
          </a:xfrm>
          <a:prstGeom prst="rect">
            <a:avLst/>
          </a:prstGeom>
        </p:spPr>
      </p:pic>
    </p:spTree>
    <p:extLst>
      <p:ext uri="{BB962C8B-B14F-4D97-AF65-F5344CB8AC3E}">
        <p14:creationId xmlns:p14="http://schemas.microsoft.com/office/powerpoint/2010/main" val="391349852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タグライン">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B8DDB378-41C0-49EF-9C46-F2D2F6B959D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90398" y="2856108"/>
            <a:ext cx="5615158" cy="1145785"/>
          </a:xfrm>
          <a:prstGeom prst="rect">
            <a:avLst/>
          </a:prstGeom>
        </p:spPr>
      </p:pic>
      <p:pic>
        <p:nvPicPr>
          <p:cNvPr id="3" name="Picture 5" descr="C:\Users\S04\Desktop\名称未設定-2-01.jpg">
            <a:extLst>
              <a:ext uri="{FF2B5EF4-FFF2-40B4-BE49-F238E27FC236}">
                <a16:creationId xmlns:a16="http://schemas.microsoft.com/office/drawing/2014/main" id="{2B999817-C5F9-4894-BCAE-E68C54E6BDAE}"/>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903578" y="241892"/>
            <a:ext cx="2964646" cy="5168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86627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タグライン">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02A595BB-DA66-4420-BCB6-586C4179A71D}"/>
              </a:ext>
            </a:extLst>
          </p:cNvPr>
          <p:cNvSpPr/>
          <p:nvPr userDrawn="1"/>
        </p:nvSpPr>
        <p:spPr>
          <a:xfrm>
            <a:off x="-1" y="2"/>
            <a:ext cx="12192000" cy="6856411"/>
          </a:xfrm>
          <a:prstGeom prst="rect">
            <a:avLst/>
          </a:prstGeom>
          <a:solidFill>
            <a:schemeClr val="tx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pic>
        <p:nvPicPr>
          <p:cNvPr id="4" name="図 3">
            <a:extLst>
              <a:ext uri="{FF2B5EF4-FFF2-40B4-BE49-F238E27FC236}">
                <a16:creationId xmlns:a16="http://schemas.microsoft.com/office/drawing/2014/main" id="{4B8EE446-36BF-4B0B-89A9-671C840E35A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89208" y="2855314"/>
            <a:ext cx="5615158" cy="1145785"/>
          </a:xfrm>
          <a:prstGeom prst="rect">
            <a:avLst/>
          </a:prstGeom>
        </p:spPr>
      </p:pic>
      <p:pic>
        <p:nvPicPr>
          <p:cNvPr id="6" name="図 5">
            <a:extLst>
              <a:ext uri="{FF2B5EF4-FFF2-40B4-BE49-F238E27FC236}">
                <a16:creationId xmlns:a16="http://schemas.microsoft.com/office/drawing/2014/main" id="{0CFD8C00-D3D6-4445-ABE6-7E027A45259D}"/>
              </a:ext>
            </a:extLst>
          </p:cNvPr>
          <p:cNvPicPr>
            <a:picLocks noChangeAspect="1"/>
          </p:cNvPicPr>
          <p:nvPr userDrawn="1"/>
        </p:nvPicPr>
        <p:blipFill>
          <a:blip r:embed="rId3"/>
          <a:stretch>
            <a:fillRect/>
          </a:stretch>
        </p:blipFill>
        <p:spPr>
          <a:xfrm>
            <a:off x="8834620" y="172157"/>
            <a:ext cx="3094139" cy="656307"/>
          </a:xfrm>
          <a:prstGeom prst="rect">
            <a:avLst/>
          </a:prstGeom>
        </p:spPr>
      </p:pic>
    </p:spTree>
    <p:extLst>
      <p:ext uri="{BB962C8B-B14F-4D97-AF65-F5344CB8AC3E}">
        <p14:creationId xmlns:p14="http://schemas.microsoft.com/office/powerpoint/2010/main" val="414107776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コンテンツ">
    <p:spTree>
      <p:nvGrpSpPr>
        <p:cNvPr id="1" name=""/>
        <p:cNvGrpSpPr/>
        <p:nvPr/>
      </p:nvGrpSpPr>
      <p:grpSpPr>
        <a:xfrm>
          <a:off x="0" y="0"/>
          <a:ext cx="0" cy="0"/>
          <a:chOff x="0" y="0"/>
          <a:chExt cx="0" cy="0"/>
        </a:xfrm>
      </p:grpSpPr>
      <p:pic>
        <p:nvPicPr>
          <p:cNvPr id="3" name="図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6349" y="6407265"/>
            <a:ext cx="11655183" cy="262024"/>
          </a:xfrm>
          <a:prstGeom prst="rect">
            <a:avLst/>
          </a:prstGeom>
        </p:spPr>
      </p:pic>
      <p:sp>
        <p:nvSpPr>
          <p:cNvPr id="4" name="日付プレースホルダー 32"/>
          <p:cNvSpPr txBox="1">
            <a:spLocks/>
          </p:cNvSpPr>
          <p:nvPr userDrawn="1"/>
        </p:nvSpPr>
        <p:spPr>
          <a:xfrm>
            <a:off x="412896" y="6357513"/>
            <a:ext cx="7203141" cy="365125"/>
          </a:xfrm>
          <a:prstGeom prst="rect">
            <a:avLst/>
          </a:prstGeom>
          <a:ln>
            <a:noFill/>
          </a:ln>
        </p:spPr>
        <p:txBody>
          <a:bodyPr vert="horz" wrap="square" lIns="0" tIns="51940" rIns="103879" bIns="5194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bg1"/>
                </a:solidFill>
                <a:latin typeface="+mn-lt"/>
              </a:rPr>
              <a:t>© MITSUBISHI HEAVY INDUSTRIES, LTD.  All Rights Reserved.</a:t>
            </a:r>
            <a:endParaRPr lang="ja-JP" altLang="en-US" sz="700">
              <a:solidFill>
                <a:schemeClr val="bg1"/>
              </a:solidFill>
              <a:latin typeface="+mn-lt"/>
            </a:endParaRPr>
          </a:p>
        </p:txBody>
      </p:sp>
      <p:sp>
        <p:nvSpPr>
          <p:cNvPr id="7" name="スライド番号プレースホルダー 5"/>
          <p:cNvSpPr txBox="1">
            <a:spLocks/>
          </p:cNvSpPr>
          <p:nvPr userDrawn="1"/>
        </p:nvSpPr>
        <p:spPr>
          <a:xfrm>
            <a:off x="11165417" y="6356608"/>
            <a:ext cx="694267" cy="365125"/>
          </a:xfrm>
          <a:prstGeom prst="rect">
            <a:avLst/>
          </a:prstGeom>
          <a:ln>
            <a:noFill/>
          </a:ln>
        </p:spPr>
        <p:txBody>
          <a:bodyPr vert="horz" wrap="square" lIns="103879" tIns="51940" rIns="103879" bIns="5194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smtClean="0">
                <a:latin typeface="Arial"/>
              </a:rPr>
              <a:pPr>
                <a:defRPr/>
              </a:pPr>
              <a:t>‹#›</a:t>
            </a:fld>
            <a:endParaRPr lang="en-US" altLang="ja-JP" sz="1000">
              <a:latin typeface="Arial"/>
            </a:endParaRPr>
          </a:p>
        </p:txBody>
      </p:sp>
      <p:sp>
        <p:nvSpPr>
          <p:cNvPr id="15" name="タイトル 1"/>
          <p:cNvSpPr>
            <a:spLocks noGrp="1"/>
          </p:cNvSpPr>
          <p:nvPr>
            <p:ph type="title" hasCustomPrompt="1"/>
          </p:nvPr>
        </p:nvSpPr>
        <p:spPr>
          <a:xfrm>
            <a:off x="552523" y="128798"/>
            <a:ext cx="8708212" cy="349961"/>
          </a:xfrm>
          <a:prstGeom prst="rect">
            <a:avLst/>
          </a:prstGeom>
        </p:spPr>
        <p:txBody>
          <a:bodyPr lIns="103903" tIns="51952" rIns="103903" bIns="51952"/>
          <a:lstStyle>
            <a:lvl1pPr>
              <a:lnSpc>
                <a:spcPct val="100000"/>
              </a:lnSpc>
              <a:defRPr sz="2200" b="1">
                <a:latin typeface="+mj-ea"/>
                <a:ea typeface="+mj-ea"/>
                <a:cs typeface="メイリオ" pitchFamily="50" charset="-128"/>
              </a:defRPr>
            </a:lvl1pPr>
          </a:lstStyle>
          <a:p>
            <a:r>
              <a:rPr kumimoji="1" lang="ja-JP" altLang="en-US"/>
              <a:t>ページタイトル </a:t>
            </a:r>
            <a:r>
              <a:rPr kumimoji="1" lang="en-US" altLang="ja-JP"/>
              <a:t>22pt</a:t>
            </a:r>
            <a:endParaRPr kumimoji="1" lang="ja-JP" altLang="en-US"/>
          </a:p>
        </p:txBody>
      </p:sp>
      <p:sp>
        <p:nvSpPr>
          <p:cNvPr id="17" name="テキスト プレースホルダー 9"/>
          <p:cNvSpPr>
            <a:spLocks noGrp="1"/>
          </p:cNvSpPr>
          <p:nvPr>
            <p:ph type="body" sz="quarter" idx="10" hasCustomPrompt="1"/>
          </p:nvPr>
        </p:nvSpPr>
        <p:spPr>
          <a:xfrm>
            <a:off x="552523" y="797131"/>
            <a:ext cx="8707896" cy="652463"/>
          </a:xfrm>
          <a:prstGeom prst="rect">
            <a:avLst/>
          </a:prstGeom>
        </p:spPr>
        <p:txBody>
          <a:bodyPr lIns="103903" tIns="51952" rIns="103903" bIns="51952"/>
          <a:lstStyle>
            <a:lvl1pPr marL="0" marR="0" indent="0" algn="l" defTabSz="779119" rtl="0" eaLnBrk="1" fontAlgn="auto" latinLnBrk="0" hangingPunct="1">
              <a:lnSpc>
                <a:spcPct val="120000"/>
              </a:lnSpc>
              <a:spcBef>
                <a:spcPts val="852"/>
              </a:spcBef>
              <a:spcAft>
                <a:spcPts val="0"/>
              </a:spcAft>
              <a:buClrTx/>
              <a:buSzTx/>
              <a:buFont typeface="Arial" panose="020B0604020202020204" pitchFamily="34" charset="0"/>
              <a:buNone/>
              <a:tabLst/>
              <a:defRPr sz="1600">
                <a:latin typeface="+mn-ea"/>
                <a:ea typeface="+mn-ea"/>
                <a:cs typeface="メイリオ" pitchFamily="50" charset="-128"/>
              </a:defRPr>
            </a:lvl1pPr>
          </a:lstStyle>
          <a:p>
            <a:pPr marL="0" marR="0" lvl="0" indent="0" algn="l" defTabSz="779119" rtl="0" eaLnBrk="1" fontAlgn="auto" latinLnBrk="0" hangingPunct="1">
              <a:lnSpc>
                <a:spcPct val="120000"/>
              </a:lnSpc>
              <a:spcBef>
                <a:spcPts val="852"/>
              </a:spcBef>
              <a:spcAft>
                <a:spcPts val="0"/>
              </a:spcAft>
              <a:buClrTx/>
              <a:buSzTx/>
              <a:buFont typeface="Arial" panose="020B0604020202020204" pitchFamily="34" charset="0"/>
              <a:buNone/>
              <a:tabLst/>
              <a:defRPr/>
            </a:pPr>
            <a:r>
              <a:rPr kumimoji="1" lang="ja-JP" altLang="en-US"/>
              <a:t>テキスト </a:t>
            </a:r>
            <a:r>
              <a:rPr kumimoji="1" lang="en-US" altLang="ja-JP"/>
              <a:t>16pt</a:t>
            </a:r>
            <a:endParaRPr kumimoji="1" lang="ja-JP" altLang="en-US"/>
          </a:p>
        </p:txBody>
      </p:sp>
      <p:sp>
        <p:nvSpPr>
          <p:cNvPr id="18" name="テキスト プレースホルダー 18"/>
          <p:cNvSpPr>
            <a:spLocks noGrp="1"/>
          </p:cNvSpPr>
          <p:nvPr>
            <p:ph type="body" sz="quarter" idx="13" hasCustomPrompt="1"/>
          </p:nvPr>
        </p:nvSpPr>
        <p:spPr>
          <a:xfrm>
            <a:off x="552522" y="1525210"/>
            <a:ext cx="11106079" cy="838164"/>
          </a:xfrm>
          <a:prstGeom prst="rect">
            <a:avLst/>
          </a:prstGeom>
        </p:spPr>
        <p:txBody>
          <a:bodyPr lIns="103903" tIns="51952" rIns="103903" bIns="51952" numCol="2" spcCol="613602"/>
          <a:lstStyle>
            <a:lvl1pPr marL="0" indent="0">
              <a:lnSpc>
                <a:spcPct val="120000"/>
              </a:lnSpc>
              <a:spcBef>
                <a:spcPts val="852"/>
              </a:spcBef>
              <a:buNone/>
              <a:defRPr sz="1000">
                <a:latin typeface="+mn-ea"/>
                <a:ea typeface="+mn-ea"/>
                <a:cs typeface="メイリオ" pitchFamily="50" charset="-128"/>
              </a:defRPr>
            </a:lvl1pPr>
          </a:lstStyle>
          <a:p>
            <a:pPr lvl="0"/>
            <a:r>
              <a:rPr kumimoji="1" lang="ja-JP" altLang="en-US"/>
              <a:t>テキスト </a:t>
            </a:r>
            <a:r>
              <a:rPr kumimoji="1" lang="en-US" altLang="ja-JP"/>
              <a:t>10pt</a:t>
            </a:r>
            <a:endParaRPr kumimoji="1" lang="ja-JP" altLang="en-US"/>
          </a:p>
        </p:txBody>
      </p:sp>
      <p:sp>
        <p:nvSpPr>
          <p:cNvPr id="22" name="テキスト プレースホルダー 18"/>
          <p:cNvSpPr>
            <a:spLocks noGrp="1"/>
          </p:cNvSpPr>
          <p:nvPr>
            <p:ph type="body" sz="quarter" idx="14" hasCustomPrompt="1"/>
          </p:nvPr>
        </p:nvSpPr>
        <p:spPr>
          <a:xfrm>
            <a:off x="552523" y="5434207"/>
            <a:ext cx="11106080" cy="838164"/>
          </a:xfrm>
          <a:prstGeom prst="rect">
            <a:avLst/>
          </a:prstGeom>
        </p:spPr>
        <p:txBody>
          <a:bodyPr lIns="103903" tIns="51952" rIns="103903" bIns="51952" numCol="2" spcCol="613602"/>
          <a:lstStyle>
            <a:lvl1pPr marL="0" indent="0">
              <a:lnSpc>
                <a:spcPct val="100000"/>
              </a:lnSpc>
              <a:spcBef>
                <a:spcPts val="0"/>
              </a:spcBef>
              <a:buNone/>
              <a:defRPr sz="1000">
                <a:latin typeface="+mn-ea"/>
                <a:ea typeface="+mn-ea"/>
                <a:cs typeface="メイリオ" pitchFamily="50" charset="-128"/>
              </a:defRPr>
            </a:lvl1pPr>
          </a:lstStyle>
          <a:p>
            <a:pPr lvl="0"/>
            <a:r>
              <a:rPr kumimoji="1" lang="ja-JP" altLang="en-US"/>
              <a:t>テキスト </a:t>
            </a:r>
            <a:r>
              <a:rPr kumimoji="1" lang="en-US" altLang="ja-JP"/>
              <a:t>10pt</a:t>
            </a:r>
            <a:endParaRPr kumimoji="1" lang="ja-JP" altLang="en-US"/>
          </a:p>
        </p:txBody>
      </p:sp>
      <p:sp>
        <p:nvSpPr>
          <p:cNvPr id="23" name="コンテンツ プレースホルダー 8"/>
          <p:cNvSpPr>
            <a:spLocks noGrp="1"/>
          </p:cNvSpPr>
          <p:nvPr>
            <p:ph sz="quarter" idx="15" hasCustomPrompt="1"/>
          </p:nvPr>
        </p:nvSpPr>
        <p:spPr>
          <a:xfrm>
            <a:off x="552523" y="2517780"/>
            <a:ext cx="5543482" cy="2728913"/>
          </a:xfrm>
          <a:prstGeom prst="rect">
            <a:avLst/>
          </a:prstGeom>
        </p:spPr>
        <p:txBody>
          <a:bodyPr lIns="103903" tIns="51952" rIns="103903" bIns="51952"/>
          <a:lstStyle>
            <a:lvl1pPr marL="0" indent="0">
              <a:lnSpc>
                <a:spcPct val="100000"/>
              </a:lnSpc>
              <a:spcBef>
                <a:spcPts val="0"/>
              </a:spcBef>
              <a:buNone/>
              <a:defRPr sz="1400">
                <a:latin typeface="+mn-ea"/>
                <a:ea typeface="+mn-ea"/>
                <a:cs typeface="メイリオ" pitchFamily="50" charset="-128"/>
              </a:defRPr>
            </a:lvl1pPr>
          </a:lstStyle>
          <a:p>
            <a:pPr lvl="0"/>
            <a:r>
              <a:rPr kumimoji="1" lang="ja-JP" altLang="en-US"/>
              <a:t>オブジェクト</a:t>
            </a:r>
          </a:p>
        </p:txBody>
      </p:sp>
      <p:sp>
        <p:nvSpPr>
          <p:cNvPr id="24" name="コンテンツ プレースホルダー 8"/>
          <p:cNvSpPr>
            <a:spLocks noGrp="1"/>
          </p:cNvSpPr>
          <p:nvPr>
            <p:ph sz="quarter" idx="16" hasCustomPrompt="1"/>
          </p:nvPr>
        </p:nvSpPr>
        <p:spPr>
          <a:xfrm>
            <a:off x="6292888" y="2517780"/>
            <a:ext cx="5355167" cy="2728913"/>
          </a:xfrm>
          <a:prstGeom prst="rect">
            <a:avLst/>
          </a:prstGeom>
        </p:spPr>
        <p:txBody>
          <a:bodyPr lIns="103903" tIns="51952" rIns="103903" bIns="51952"/>
          <a:lstStyle>
            <a:lvl1pPr marL="0" indent="0">
              <a:lnSpc>
                <a:spcPct val="100000"/>
              </a:lnSpc>
              <a:spcBef>
                <a:spcPts val="0"/>
              </a:spcBef>
              <a:buNone/>
              <a:defRPr sz="1400">
                <a:latin typeface="+mn-ea"/>
                <a:ea typeface="+mn-ea"/>
                <a:cs typeface="メイリオ" pitchFamily="50" charset="-128"/>
              </a:defRPr>
            </a:lvl1pPr>
          </a:lstStyle>
          <a:p>
            <a:pPr lvl="0"/>
            <a:r>
              <a:rPr kumimoji="1" lang="ja-JP" altLang="en-US"/>
              <a:t>オブジェクト</a:t>
            </a:r>
          </a:p>
        </p:txBody>
      </p:sp>
      <p:cxnSp>
        <p:nvCxnSpPr>
          <p:cNvPr id="21" name="直線コネクタ 20"/>
          <p:cNvCxnSpPr/>
          <p:nvPr userDrawn="1"/>
        </p:nvCxnSpPr>
        <p:spPr>
          <a:xfrm>
            <a:off x="261916" y="564204"/>
            <a:ext cx="116596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6" name="Picture 2" descr="\\S-server2-pc\l\1805_MHI_PPTテンプレート修正\FromDOS\180514\MHI_PPTテンプレート_0514\PPT用ロゴデータ_0514\三菱重工（念のため）\JP01\Fullcolor\Positive\MHI_JP01_FC_POS_RGB.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674317" y="86739"/>
            <a:ext cx="1324764" cy="374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795721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コンテンツ_フリー">
    <p:spTree>
      <p:nvGrpSpPr>
        <p:cNvPr id="1" name=""/>
        <p:cNvGrpSpPr/>
        <p:nvPr/>
      </p:nvGrpSpPr>
      <p:grpSpPr>
        <a:xfrm>
          <a:off x="0" y="0"/>
          <a:ext cx="0" cy="0"/>
          <a:chOff x="0" y="0"/>
          <a:chExt cx="0" cy="0"/>
        </a:xfrm>
      </p:grpSpPr>
      <p:pic>
        <p:nvPicPr>
          <p:cNvPr id="13" name="図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6349" y="6367519"/>
            <a:ext cx="11655183" cy="262024"/>
          </a:xfrm>
          <a:prstGeom prst="rect">
            <a:avLst/>
          </a:prstGeom>
        </p:spPr>
      </p:pic>
      <p:sp>
        <p:nvSpPr>
          <p:cNvPr id="4" name="日付プレースホルダー 32"/>
          <p:cNvSpPr txBox="1">
            <a:spLocks/>
          </p:cNvSpPr>
          <p:nvPr userDrawn="1"/>
        </p:nvSpPr>
        <p:spPr>
          <a:xfrm>
            <a:off x="412896" y="6317767"/>
            <a:ext cx="7203141" cy="365125"/>
          </a:xfrm>
          <a:prstGeom prst="rect">
            <a:avLst/>
          </a:prstGeom>
          <a:ln>
            <a:noFill/>
          </a:ln>
        </p:spPr>
        <p:txBody>
          <a:bodyPr vert="horz" wrap="square" lIns="0" tIns="51940" rIns="103879" bIns="5194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dirty="0">
                <a:solidFill>
                  <a:schemeClr val="bg1"/>
                </a:solidFill>
                <a:latin typeface="+mn-lt"/>
              </a:rPr>
              <a:t>© Mitsubishi Heavy Industries, Ltd.  All Rights Reserved.</a:t>
            </a:r>
            <a:endParaRPr lang="ja-JP" altLang="en-US" sz="700" dirty="0">
              <a:solidFill>
                <a:schemeClr val="bg1"/>
              </a:solidFill>
              <a:latin typeface="+mn-lt"/>
            </a:endParaRPr>
          </a:p>
        </p:txBody>
      </p:sp>
      <p:sp>
        <p:nvSpPr>
          <p:cNvPr id="7" name="スライド番号プレースホルダー 5"/>
          <p:cNvSpPr txBox="1">
            <a:spLocks/>
          </p:cNvSpPr>
          <p:nvPr userDrawn="1"/>
        </p:nvSpPr>
        <p:spPr>
          <a:xfrm>
            <a:off x="11165417" y="6316863"/>
            <a:ext cx="694267" cy="365125"/>
          </a:xfrm>
          <a:prstGeom prst="rect">
            <a:avLst/>
          </a:prstGeom>
          <a:ln>
            <a:noFill/>
          </a:ln>
        </p:spPr>
        <p:txBody>
          <a:bodyPr vert="horz" wrap="square" lIns="103879" tIns="51940" rIns="103879" bIns="5194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smtClean="0">
                <a:latin typeface="Arial"/>
              </a:rPr>
              <a:pPr>
                <a:defRPr/>
              </a:pPr>
              <a:t>‹#›</a:t>
            </a:fld>
            <a:endParaRPr lang="en-US" altLang="ja-JP" sz="1000" dirty="0">
              <a:latin typeface="Arial"/>
            </a:endParaRPr>
          </a:p>
        </p:txBody>
      </p:sp>
      <p:cxnSp>
        <p:nvCxnSpPr>
          <p:cNvPr id="21" name="直線コネクタ 20"/>
          <p:cNvCxnSpPr/>
          <p:nvPr userDrawn="1"/>
        </p:nvCxnSpPr>
        <p:spPr>
          <a:xfrm>
            <a:off x="261916" y="564204"/>
            <a:ext cx="116596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タイトル 1"/>
          <p:cNvSpPr>
            <a:spLocks noGrp="1"/>
          </p:cNvSpPr>
          <p:nvPr>
            <p:ph type="title" hasCustomPrompt="1"/>
          </p:nvPr>
        </p:nvSpPr>
        <p:spPr>
          <a:xfrm>
            <a:off x="552523" y="128798"/>
            <a:ext cx="8708212" cy="349961"/>
          </a:xfrm>
          <a:prstGeom prst="rect">
            <a:avLst/>
          </a:prstGeom>
        </p:spPr>
        <p:txBody>
          <a:bodyPr lIns="103903" tIns="51952" rIns="103903" bIns="51952"/>
          <a:lstStyle>
            <a:lvl1pPr>
              <a:lnSpc>
                <a:spcPct val="100000"/>
              </a:lnSpc>
              <a:defRPr sz="2200" b="1">
                <a:latin typeface="+mj-ea"/>
                <a:ea typeface="+mj-ea"/>
                <a:cs typeface="メイリオ" pitchFamily="50" charset="-128"/>
              </a:defRPr>
            </a:lvl1pPr>
          </a:lstStyle>
          <a:p>
            <a:r>
              <a:rPr kumimoji="1" lang="ja-JP" altLang="en-US" dirty="0"/>
              <a:t>ページタイトル </a:t>
            </a:r>
            <a:r>
              <a:rPr kumimoji="1" lang="en-US" altLang="ja-JP" dirty="0"/>
              <a:t>22pt</a:t>
            </a:r>
            <a:endParaRPr kumimoji="1" lang="ja-JP" altLang="en-US" dirty="0"/>
          </a:p>
        </p:txBody>
      </p:sp>
      <p:pic>
        <p:nvPicPr>
          <p:cNvPr id="12" name="図 11">
            <a:extLst>
              <a:ext uri="{FF2B5EF4-FFF2-40B4-BE49-F238E27FC236}">
                <a16:creationId xmlns:a16="http://schemas.microsoft.com/office/drawing/2014/main" id="{46242C57-6280-4F29-A16F-F11DFE1D384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20269" y="119450"/>
            <a:ext cx="1801263" cy="367552"/>
          </a:xfrm>
          <a:prstGeom prst="rect">
            <a:avLst/>
          </a:prstGeom>
        </p:spPr>
      </p:pic>
    </p:spTree>
    <p:extLst>
      <p:ext uri="{BB962C8B-B14F-4D97-AF65-F5344CB8AC3E}">
        <p14:creationId xmlns:p14="http://schemas.microsoft.com/office/powerpoint/2010/main" val="400335561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4_Spread/chart page">
    <p:spTree>
      <p:nvGrpSpPr>
        <p:cNvPr id="1" name=""/>
        <p:cNvGrpSpPr/>
        <p:nvPr/>
      </p:nvGrpSpPr>
      <p:grpSpPr>
        <a:xfrm>
          <a:off x="0" y="0"/>
          <a:ext cx="0" cy="0"/>
          <a:chOff x="0" y="0"/>
          <a:chExt cx="0" cy="0"/>
        </a:xfrm>
      </p:grpSpPr>
      <p:pic>
        <p:nvPicPr>
          <p:cNvPr id="14" name="図 13" descr="160830_MHI_PPT_En_2-04.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1494" y="6408927"/>
            <a:ext cx="11684000" cy="252984"/>
          </a:xfrm>
          <a:prstGeom prst="rect">
            <a:avLst/>
          </a:prstGeom>
        </p:spPr>
      </p:pic>
      <p:pic>
        <p:nvPicPr>
          <p:cNvPr id="3" name="図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32503" y="136959"/>
            <a:ext cx="1332611" cy="274344"/>
          </a:xfrm>
          <a:prstGeom prst="rect">
            <a:avLst/>
          </a:prstGeom>
        </p:spPr>
      </p:pic>
      <p:sp>
        <p:nvSpPr>
          <p:cNvPr id="2" name="タイトル 1"/>
          <p:cNvSpPr>
            <a:spLocks noGrp="1"/>
          </p:cNvSpPr>
          <p:nvPr>
            <p:ph type="title" hasCustomPrompt="1"/>
          </p:nvPr>
        </p:nvSpPr>
        <p:spPr>
          <a:xfrm>
            <a:off x="300417" y="214279"/>
            <a:ext cx="8520121" cy="349961"/>
          </a:xfrm>
          <a:prstGeom prst="rect">
            <a:avLst/>
          </a:prstGeom>
        </p:spPr>
        <p:txBody>
          <a:bodyPr>
            <a:noAutofit/>
          </a:bodyPr>
          <a:lstStyle>
            <a:lvl1pPr algn="l">
              <a:defRPr sz="2000" b="0">
                <a:latin typeface="HGP創英角ｺﾞｼｯｸUB" panose="020B0900000000000000" pitchFamily="50" charset="-128"/>
                <a:ea typeface="HGP創英角ｺﾞｼｯｸUB" panose="020B0900000000000000" pitchFamily="50" charset="-128"/>
              </a:defRPr>
            </a:lvl1pPr>
          </a:lstStyle>
          <a:p>
            <a:r>
              <a:rPr kumimoji="1" lang="ja-JP" altLang="en-US"/>
              <a:t>ページタイトル </a:t>
            </a:r>
            <a:r>
              <a:rPr kumimoji="1" lang="en-US" altLang="ja-JP"/>
              <a:t>22pt</a:t>
            </a:r>
            <a:endParaRPr kumimoji="1" lang="ja-JP" altLang="en-US"/>
          </a:p>
        </p:txBody>
      </p:sp>
      <p:cxnSp>
        <p:nvCxnSpPr>
          <p:cNvPr id="8" name="直線コネクタ 7"/>
          <p:cNvCxnSpPr/>
          <p:nvPr userDrawn="1"/>
        </p:nvCxnSpPr>
        <p:spPr>
          <a:xfrm>
            <a:off x="300418" y="564204"/>
            <a:ext cx="1166469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日付プレースホルダー 32"/>
          <p:cNvSpPr txBox="1">
            <a:spLocks/>
          </p:cNvSpPr>
          <p:nvPr userDrawn="1"/>
        </p:nvSpPr>
        <p:spPr>
          <a:xfrm>
            <a:off x="412897" y="6348220"/>
            <a:ext cx="7203141" cy="365125"/>
          </a:xfrm>
          <a:prstGeom prst="rect">
            <a:avLst/>
          </a:prstGeom>
          <a:ln>
            <a:noFill/>
          </a:ln>
        </p:spPr>
        <p:txBody>
          <a:bodyPr vert="horz" wrap="square" lIns="0" tIns="45703" rIns="91407" bIns="45703"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prstClr val="white"/>
                </a:solidFill>
              </a:rPr>
              <a:t>© MITSUBISHI HEAVY INDUSTRIES, LTD.  All Rights Reserved.</a:t>
            </a:r>
            <a:endParaRPr lang="ja-JP" altLang="en-US" sz="700">
              <a:solidFill>
                <a:prstClr val="white"/>
              </a:solidFill>
            </a:endParaRPr>
          </a:p>
        </p:txBody>
      </p:sp>
      <p:sp>
        <p:nvSpPr>
          <p:cNvPr id="7" name="スライド番号プレースホルダー 5"/>
          <p:cNvSpPr txBox="1">
            <a:spLocks/>
          </p:cNvSpPr>
          <p:nvPr userDrawn="1"/>
        </p:nvSpPr>
        <p:spPr>
          <a:xfrm>
            <a:off x="11165420" y="6345457"/>
            <a:ext cx="694267" cy="365125"/>
          </a:xfrm>
          <a:prstGeom prst="rect">
            <a:avLst/>
          </a:prstGeom>
          <a:ln>
            <a:noFill/>
          </a:ln>
        </p:spPr>
        <p:txBody>
          <a:bodyPr vert="horz" wrap="square" lIns="91407" tIns="45703" rIns="91407" bIns="45703"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smtClean="0"/>
              <a:pPr>
                <a:defRPr/>
              </a:pPr>
              <a:t>‹#›</a:t>
            </a:fld>
            <a:endParaRPr lang="en-US" altLang="ja-JP" sz="1000"/>
          </a:p>
        </p:txBody>
      </p:sp>
    </p:spTree>
    <p:extLst>
      <p:ext uri="{BB962C8B-B14F-4D97-AF65-F5344CB8AC3E}">
        <p14:creationId xmlns:p14="http://schemas.microsoft.com/office/powerpoint/2010/main" val="314477158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2_カラーサンプル">
    <p:spTree>
      <p:nvGrpSpPr>
        <p:cNvPr id="1" name=""/>
        <p:cNvGrpSpPr/>
        <p:nvPr/>
      </p:nvGrpSpPr>
      <p:grpSpPr>
        <a:xfrm>
          <a:off x="0" y="0"/>
          <a:ext cx="0" cy="0"/>
          <a:chOff x="0" y="0"/>
          <a:chExt cx="0" cy="0"/>
        </a:xfrm>
      </p:grpSpPr>
      <p:pic>
        <p:nvPicPr>
          <p:cNvPr id="13" name="図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6350" y="6407265"/>
            <a:ext cx="11655183" cy="262024"/>
          </a:xfrm>
          <a:prstGeom prst="rect">
            <a:avLst/>
          </a:prstGeom>
        </p:spPr>
      </p:pic>
      <p:sp>
        <p:nvSpPr>
          <p:cNvPr id="4" name="日付プレースホルダー 32"/>
          <p:cNvSpPr txBox="1">
            <a:spLocks/>
          </p:cNvSpPr>
          <p:nvPr userDrawn="1"/>
        </p:nvSpPr>
        <p:spPr>
          <a:xfrm>
            <a:off x="412896" y="6357514"/>
            <a:ext cx="7203142" cy="365125"/>
          </a:xfrm>
          <a:prstGeom prst="rect">
            <a:avLst/>
          </a:prstGeom>
          <a:ln>
            <a:noFill/>
          </a:ln>
        </p:spPr>
        <p:txBody>
          <a:bodyPr vert="horz" wrap="square" lIns="0" tIns="38955" rIns="77909" bIns="38955"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525">
                <a:solidFill>
                  <a:schemeClr val="bg1"/>
                </a:solidFill>
                <a:latin typeface="+mn-lt"/>
              </a:rPr>
              <a:t>© Mitsubishi Heavy Industries, Ltd.  All Rights Reserved.</a:t>
            </a:r>
            <a:endParaRPr lang="ja-JP" altLang="en-US" sz="525">
              <a:solidFill>
                <a:schemeClr val="bg1"/>
              </a:solidFill>
              <a:latin typeface="+mn-lt"/>
            </a:endParaRPr>
          </a:p>
        </p:txBody>
      </p:sp>
      <p:sp>
        <p:nvSpPr>
          <p:cNvPr id="7" name="スライド番号プレースホルダー 5"/>
          <p:cNvSpPr txBox="1">
            <a:spLocks/>
          </p:cNvSpPr>
          <p:nvPr userDrawn="1"/>
        </p:nvSpPr>
        <p:spPr>
          <a:xfrm>
            <a:off x="11165418" y="6356609"/>
            <a:ext cx="694266" cy="365125"/>
          </a:xfrm>
          <a:prstGeom prst="rect">
            <a:avLst/>
          </a:prstGeom>
          <a:ln>
            <a:noFill/>
          </a:ln>
        </p:spPr>
        <p:txBody>
          <a:bodyPr vert="horz" wrap="square" lIns="77909" tIns="38955" rIns="77909" bIns="38955"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750" smtClean="0">
                <a:latin typeface="Arial"/>
              </a:rPr>
              <a:pPr>
                <a:defRPr/>
              </a:pPr>
              <a:t>‹#›</a:t>
            </a:fld>
            <a:endParaRPr lang="en-US" altLang="ja-JP" sz="750">
              <a:latin typeface="Arial"/>
            </a:endParaRPr>
          </a:p>
        </p:txBody>
      </p:sp>
      <p:cxnSp>
        <p:nvCxnSpPr>
          <p:cNvPr id="21" name="直線コネクタ 20"/>
          <p:cNvCxnSpPr/>
          <p:nvPr userDrawn="1"/>
        </p:nvCxnSpPr>
        <p:spPr>
          <a:xfrm>
            <a:off x="261916" y="564204"/>
            <a:ext cx="116596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タイトル 1"/>
          <p:cNvSpPr>
            <a:spLocks noGrp="1"/>
          </p:cNvSpPr>
          <p:nvPr>
            <p:ph type="title" hasCustomPrompt="1"/>
          </p:nvPr>
        </p:nvSpPr>
        <p:spPr>
          <a:xfrm>
            <a:off x="552524" y="128799"/>
            <a:ext cx="8708212" cy="349961"/>
          </a:xfrm>
          <a:prstGeom prst="rect">
            <a:avLst/>
          </a:prstGeom>
        </p:spPr>
        <p:txBody>
          <a:bodyPr lIns="103903" tIns="51952" rIns="103903" bIns="51952"/>
          <a:lstStyle>
            <a:lvl1pPr>
              <a:lnSpc>
                <a:spcPct val="100000"/>
              </a:lnSpc>
              <a:defRPr sz="1650" b="1">
                <a:latin typeface="+mj-ea"/>
                <a:ea typeface="+mj-ea"/>
                <a:cs typeface="メイリオ" pitchFamily="50" charset="-128"/>
              </a:defRPr>
            </a:lvl1pPr>
          </a:lstStyle>
          <a:p>
            <a:r>
              <a:rPr kumimoji="1" lang="ja-JP" altLang="en-US"/>
              <a:t>ページタイトル </a:t>
            </a:r>
            <a:r>
              <a:rPr kumimoji="1" lang="en-US" altLang="ja-JP"/>
              <a:t>22pt</a:t>
            </a:r>
            <a:endParaRPr kumimoji="1" lang="ja-JP" altLang="en-US"/>
          </a:p>
        </p:txBody>
      </p:sp>
      <p:pic>
        <p:nvPicPr>
          <p:cNvPr id="15" name="図 14">
            <a:extLst>
              <a:ext uri="{FF2B5EF4-FFF2-40B4-BE49-F238E27FC236}">
                <a16:creationId xmlns:a16="http://schemas.microsoft.com/office/drawing/2014/main" id="{E3933B8B-1206-4E1F-B3BA-49588288791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19409" y="166199"/>
            <a:ext cx="1188155" cy="230055"/>
          </a:xfrm>
          <a:prstGeom prst="rect">
            <a:avLst/>
          </a:prstGeom>
        </p:spPr>
      </p:pic>
    </p:spTree>
    <p:extLst>
      <p:ext uri="{BB962C8B-B14F-4D97-AF65-F5344CB8AC3E}">
        <p14:creationId xmlns:p14="http://schemas.microsoft.com/office/powerpoint/2010/main" val="44677733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カラーサンプル">
    <p:spTree>
      <p:nvGrpSpPr>
        <p:cNvPr id="1" name=""/>
        <p:cNvGrpSpPr/>
        <p:nvPr/>
      </p:nvGrpSpPr>
      <p:grpSpPr>
        <a:xfrm>
          <a:off x="0" y="0"/>
          <a:ext cx="0" cy="0"/>
          <a:chOff x="0" y="0"/>
          <a:chExt cx="0" cy="0"/>
        </a:xfrm>
      </p:grpSpPr>
      <p:pic>
        <p:nvPicPr>
          <p:cNvPr id="13" name="図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6350" y="6407265"/>
            <a:ext cx="11655183" cy="262024"/>
          </a:xfrm>
          <a:prstGeom prst="rect">
            <a:avLst/>
          </a:prstGeom>
        </p:spPr>
      </p:pic>
      <p:sp>
        <p:nvSpPr>
          <p:cNvPr id="4" name="日付プレースホルダー 32"/>
          <p:cNvSpPr txBox="1">
            <a:spLocks/>
          </p:cNvSpPr>
          <p:nvPr userDrawn="1"/>
        </p:nvSpPr>
        <p:spPr>
          <a:xfrm>
            <a:off x="412896" y="6357514"/>
            <a:ext cx="7203142" cy="365125"/>
          </a:xfrm>
          <a:prstGeom prst="rect">
            <a:avLst/>
          </a:prstGeom>
          <a:ln>
            <a:noFill/>
          </a:ln>
        </p:spPr>
        <p:txBody>
          <a:bodyPr vert="horz" wrap="square" lIns="0" tIns="38955" rIns="77909" bIns="38955"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525">
                <a:solidFill>
                  <a:schemeClr val="bg1"/>
                </a:solidFill>
                <a:latin typeface="+mn-lt"/>
              </a:rPr>
              <a:t>© Mitsubishi Heavy Industries, Ltd.  All Rights Reserved.</a:t>
            </a:r>
            <a:endParaRPr lang="ja-JP" altLang="en-US" sz="525">
              <a:solidFill>
                <a:schemeClr val="bg1"/>
              </a:solidFill>
              <a:latin typeface="+mn-lt"/>
            </a:endParaRPr>
          </a:p>
        </p:txBody>
      </p:sp>
      <p:sp>
        <p:nvSpPr>
          <p:cNvPr id="7" name="スライド番号プレースホルダー 5"/>
          <p:cNvSpPr txBox="1">
            <a:spLocks/>
          </p:cNvSpPr>
          <p:nvPr userDrawn="1"/>
        </p:nvSpPr>
        <p:spPr>
          <a:xfrm>
            <a:off x="11165418" y="6356609"/>
            <a:ext cx="694266" cy="365125"/>
          </a:xfrm>
          <a:prstGeom prst="rect">
            <a:avLst/>
          </a:prstGeom>
          <a:ln>
            <a:noFill/>
          </a:ln>
        </p:spPr>
        <p:txBody>
          <a:bodyPr vert="horz" wrap="square" lIns="77909" tIns="38955" rIns="77909" bIns="38955"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750" smtClean="0">
                <a:latin typeface="Arial"/>
              </a:rPr>
              <a:pPr>
                <a:defRPr/>
              </a:pPr>
              <a:t>‹#›</a:t>
            </a:fld>
            <a:endParaRPr lang="en-US" altLang="ja-JP" sz="750">
              <a:latin typeface="Arial"/>
            </a:endParaRPr>
          </a:p>
        </p:txBody>
      </p:sp>
      <p:cxnSp>
        <p:nvCxnSpPr>
          <p:cNvPr id="21" name="直線コネクタ 20"/>
          <p:cNvCxnSpPr/>
          <p:nvPr userDrawn="1"/>
        </p:nvCxnSpPr>
        <p:spPr>
          <a:xfrm>
            <a:off x="261916" y="564204"/>
            <a:ext cx="116596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タイトル 1"/>
          <p:cNvSpPr>
            <a:spLocks noGrp="1"/>
          </p:cNvSpPr>
          <p:nvPr>
            <p:ph type="title" hasCustomPrompt="1"/>
          </p:nvPr>
        </p:nvSpPr>
        <p:spPr>
          <a:xfrm>
            <a:off x="552524" y="128799"/>
            <a:ext cx="8708212" cy="349961"/>
          </a:xfrm>
          <a:prstGeom prst="rect">
            <a:avLst/>
          </a:prstGeom>
        </p:spPr>
        <p:txBody>
          <a:bodyPr lIns="103903" tIns="51952" rIns="103903" bIns="51952"/>
          <a:lstStyle>
            <a:lvl1pPr>
              <a:lnSpc>
                <a:spcPct val="100000"/>
              </a:lnSpc>
              <a:defRPr sz="1650" b="1">
                <a:latin typeface="+mj-ea"/>
                <a:ea typeface="+mj-ea"/>
                <a:cs typeface="メイリオ" pitchFamily="50" charset="-128"/>
              </a:defRPr>
            </a:lvl1pPr>
          </a:lstStyle>
          <a:p>
            <a:r>
              <a:rPr kumimoji="1" lang="ja-JP" altLang="en-US"/>
              <a:t>ページタイトル </a:t>
            </a:r>
            <a:r>
              <a:rPr kumimoji="1" lang="en-US" altLang="ja-JP"/>
              <a:t>22pt</a:t>
            </a:r>
            <a:endParaRPr kumimoji="1" lang="ja-JP" altLang="en-US"/>
          </a:p>
        </p:txBody>
      </p:sp>
      <p:pic>
        <p:nvPicPr>
          <p:cNvPr id="15" name="図 14">
            <a:extLst>
              <a:ext uri="{FF2B5EF4-FFF2-40B4-BE49-F238E27FC236}">
                <a16:creationId xmlns:a16="http://schemas.microsoft.com/office/drawing/2014/main" id="{E3933B8B-1206-4E1F-B3BA-49588288791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19409" y="166199"/>
            <a:ext cx="1188155" cy="230055"/>
          </a:xfrm>
          <a:prstGeom prst="rect">
            <a:avLst/>
          </a:prstGeom>
        </p:spPr>
      </p:pic>
      <p:sp>
        <p:nvSpPr>
          <p:cNvPr id="12" name="テキスト プレースホルダー 2">
            <a:extLst>
              <a:ext uri="{FF2B5EF4-FFF2-40B4-BE49-F238E27FC236}">
                <a16:creationId xmlns:a16="http://schemas.microsoft.com/office/drawing/2014/main" id="{29162514-6102-4991-9764-2EAFA2460981}"/>
              </a:ext>
            </a:extLst>
          </p:cNvPr>
          <p:cNvSpPr>
            <a:spLocks noGrp="1"/>
          </p:cNvSpPr>
          <p:nvPr>
            <p:ph type="body" sz="quarter" idx="14"/>
          </p:nvPr>
        </p:nvSpPr>
        <p:spPr>
          <a:xfrm>
            <a:off x="552523" y="575868"/>
            <a:ext cx="11106079" cy="257369"/>
          </a:xfrm>
          <a:prstGeom prst="rect">
            <a:avLst/>
          </a:prstGeom>
        </p:spPr>
        <p:txBody>
          <a:bodyPr wrap="square" lIns="36000" tIns="36000" rIns="36000" bIns="36000">
            <a:spAutoFit/>
          </a:bodyPr>
          <a:lstStyle>
            <a:lvl1pPr marL="0" indent="0">
              <a:lnSpc>
                <a:spcPct val="100000"/>
              </a:lnSpc>
              <a:spcBef>
                <a:spcPts val="0"/>
              </a:spcBef>
              <a:buNone/>
              <a:defRPr sz="1200">
                <a:latin typeface="+mn-ea"/>
                <a:ea typeface="+mn-ea"/>
              </a:defRPr>
            </a:lvl1pPr>
            <a:lvl2pPr>
              <a:defRPr sz="1108">
                <a:latin typeface="+mn-ea"/>
                <a:ea typeface="+mn-ea"/>
              </a:defRPr>
            </a:lvl2pPr>
            <a:lvl3pPr>
              <a:defRPr sz="1108">
                <a:latin typeface="+mn-ea"/>
                <a:ea typeface="+mn-ea"/>
              </a:defRPr>
            </a:lvl3pPr>
            <a:lvl4pPr>
              <a:defRPr sz="1108">
                <a:latin typeface="+mn-ea"/>
                <a:ea typeface="+mn-ea"/>
              </a:defRPr>
            </a:lvl4pPr>
            <a:lvl5pPr>
              <a:defRPr sz="1108">
                <a:latin typeface="+mn-ea"/>
                <a:ea typeface="+mn-ea"/>
              </a:defRPr>
            </a:lvl5pPr>
          </a:lstStyle>
          <a:p>
            <a:pPr lvl="0"/>
            <a:r>
              <a:rPr kumimoji="1" lang="ja-JP" altLang="en-US"/>
              <a:t>マスター テキストの書式設定</a:t>
            </a:r>
          </a:p>
        </p:txBody>
      </p:sp>
    </p:spTree>
    <p:extLst>
      <p:ext uri="{BB962C8B-B14F-4D97-AF65-F5344CB8AC3E}">
        <p14:creationId xmlns:p14="http://schemas.microsoft.com/office/powerpoint/2010/main" val="403650279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写真入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01CCA0-7E92-7FFB-2532-8D8D86CBBF3B}"/>
              </a:ext>
            </a:extLst>
          </p:cNvPr>
          <p:cNvSpPr>
            <a:spLocks noGrp="1"/>
          </p:cNvSpPr>
          <p:nvPr>
            <p:ph type="title" hasCustomPrompt="1"/>
          </p:nvPr>
        </p:nvSpPr>
        <p:spPr>
          <a:xfrm>
            <a:off x="4496400" y="687600"/>
            <a:ext cx="7315200" cy="1447199"/>
          </a:xfrm>
          <a:prstGeom prst="rect">
            <a:avLst/>
          </a:prstGeom>
        </p:spPr>
        <p:txBody>
          <a:bodyPr/>
          <a:lstStyle/>
          <a:p>
            <a:r>
              <a:rPr kumimoji="1" lang="en-US" altLang="ja-JP"/>
              <a:t>01</a:t>
            </a:r>
            <a:endParaRPr kumimoji="1" lang="ja-JP" altLang="en-US"/>
          </a:p>
        </p:txBody>
      </p:sp>
      <p:pic>
        <p:nvPicPr>
          <p:cNvPr id="3" name="Picture 6">
            <a:extLst>
              <a:ext uri="{FF2B5EF4-FFF2-40B4-BE49-F238E27FC236}">
                <a16:creationId xmlns:a16="http://schemas.microsoft.com/office/drawing/2014/main" id="{38FD529D-5FF6-E828-CE3E-B79F0DF6878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94575" y="2447060"/>
            <a:ext cx="3718800" cy="3718800"/>
          </a:xfrm>
          <a:prstGeom prst="rect">
            <a:avLst/>
          </a:prstGeom>
        </p:spPr>
      </p:pic>
      <p:sp>
        <p:nvSpPr>
          <p:cNvPr id="5" name="テキスト プレースホルダー 8">
            <a:extLst>
              <a:ext uri="{FF2B5EF4-FFF2-40B4-BE49-F238E27FC236}">
                <a16:creationId xmlns:a16="http://schemas.microsoft.com/office/drawing/2014/main" id="{E10C1EF1-42DC-CE53-8902-8E322B4352D3}"/>
              </a:ext>
            </a:extLst>
          </p:cNvPr>
          <p:cNvSpPr>
            <a:spLocks noGrp="1"/>
          </p:cNvSpPr>
          <p:nvPr>
            <p:ph type="body" sz="quarter" idx="16" hasCustomPrompt="1"/>
          </p:nvPr>
        </p:nvSpPr>
        <p:spPr>
          <a:xfrm>
            <a:off x="4496400" y="2433600"/>
            <a:ext cx="7315200" cy="3740400"/>
          </a:xfrm>
          <a:prstGeom prst="rect">
            <a:avLst/>
          </a:prstGeom>
        </p:spPr>
        <p:txBody>
          <a:bodyPr lIns="0" tIns="0" rIns="0" bIns="0"/>
          <a:lstStyle>
            <a:lvl1pPr>
              <a:defRPr sz="4000" b="1">
                <a:solidFill>
                  <a:schemeClr val="accent1"/>
                </a:solidFill>
              </a:defRPr>
            </a:lvl1pPr>
          </a:lstStyle>
          <a:p>
            <a:pPr lvl="0"/>
            <a:r>
              <a:rPr kumimoji="1" lang="ja-JP" altLang="en-US"/>
              <a:t>中扉タイトル</a:t>
            </a:r>
          </a:p>
        </p:txBody>
      </p:sp>
      <p:sp>
        <p:nvSpPr>
          <p:cNvPr id="6" name="テキスト ボックス 5">
            <a:extLst>
              <a:ext uri="{FF2B5EF4-FFF2-40B4-BE49-F238E27FC236}">
                <a16:creationId xmlns:a16="http://schemas.microsoft.com/office/drawing/2014/main" id="{53785BB8-9BEF-6511-73A0-EFF55EDD2267}"/>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pic>
        <p:nvPicPr>
          <p:cNvPr id="8" name="図プレースホルダー 15">
            <a:extLst>
              <a:ext uri="{FF2B5EF4-FFF2-40B4-BE49-F238E27FC236}">
                <a16:creationId xmlns:a16="http://schemas.microsoft.com/office/drawing/2014/main" id="{7A73D8A7-ECC3-BBC6-EF06-B230921C7B4E}"/>
              </a:ext>
            </a:extLst>
          </p:cNvPr>
          <p:cNvPicPr>
            <a:picLocks noChangeAspect="1"/>
          </p:cNvPicPr>
          <p:nvPr userDrawn="1"/>
        </p:nvPicPr>
        <p:blipFill rotWithShape="1">
          <a:blip r:embed="rId3"/>
          <a:srcRect l="40504" r="3246"/>
          <a:stretch/>
        </p:blipFill>
        <p:spPr>
          <a:xfrm>
            <a:off x="371475" y="2447060"/>
            <a:ext cx="3718800" cy="3718800"/>
          </a:xfrm>
          <a:custGeom>
            <a:avLst/>
            <a:gdLst>
              <a:gd name="connsiteX0" fmla="*/ 1704548 w 5267271"/>
              <a:gd name="connsiteY0" fmla="*/ 0 h 5272719"/>
              <a:gd name="connsiteX1" fmla="*/ 3527745 w 5267271"/>
              <a:gd name="connsiteY1" fmla="*/ 1774521 h 5272719"/>
              <a:gd name="connsiteX2" fmla="*/ 5267271 w 5267271"/>
              <a:gd name="connsiteY2" fmla="*/ 5269498 h 5272719"/>
              <a:gd name="connsiteX3" fmla="*/ 3509088 w 5267271"/>
              <a:gd name="connsiteY3" fmla="*/ 5269044 h 5272719"/>
              <a:gd name="connsiteX4" fmla="*/ 1794302 w 5267271"/>
              <a:gd name="connsiteY4" fmla="*/ 1858626 h 5272719"/>
              <a:gd name="connsiteX5" fmla="*/ 1794667 w 5267271"/>
              <a:gd name="connsiteY5" fmla="*/ 5270472 h 5272719"/>
              <a:gd name="connsiteX6" fmla="*/ 0 w 5267271"/>
              <a:gd name="connsiteY6" fmla="*/ 5272719 h 5272719"/>
              <a:gd name="connsiteX7" fmla="*/ 3384 w 5267271"/>
              <a:gd name="connsiteY7" fmla="*/ 1714773 h 5272719"/>
              <a:gd name="connsiteX8" fmla="*/ 569360 w 5267271"/>
              <a:gd name="connsiteY8" fmla="*/ 333790 h 5272719"/>
              <a:gd name="connsiteX9" fmla="*/ 1704548 w 5267271"/>
              <a:gd name="connsiteY9" fmla="*/ 0 h 527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67271" h="5272719">
                <a:moveTo>
                  <a:pt x="1704548" y="0"/>
                </a:moveTo>
                <a:cubicBezTo>
                  <a:pt x="2442328" y="19929"/>
                  <a:pt x="2925708" y="438914"/>
                  <a:pt x="3527745" y="1774521"/>
                </a:cubicBezTo>
                <a:lnTo>
                  <a:pt x="5267271" y="5269498"/>
                </a:lnTo>
                <a:lnTo>
                  <a:pt x="3509088" y="5269044"/>
                </a:lnTo>
                <a:cubicBezTo>
                  <a:pt x="2932089" y="4085847"/>
                  <a:pt x="2376159" y="3052885"/>
                  <a:pt x="1794302" y="1858626"/>
                </a:cubicBezTo>
                <a:cubicBezTo>
                  <a:pt x="1800510" y="2806405"/>
                  <a:pt x="1797959" y="3550976"/>
                  <a:pt x="1794667" y="5270472"/>
                </a:cubicBezTo>
                <a:lnTo>
                  <a:pt x="0" y="5272719"/>
                </a:lnTo>
                <a:cubicBezTo>
                  <a:pt x="6041" y="3933998"/>
                  <a:pt x="-2660" y="3106972"/>
                  <a:pt x="3384" y="1714773"/>
                </a:cubicBezTo>
                <a:cubicBezTo>
                  <a:pt x="20552" y="931022"/>
                  <a:pt x="285832" y="562108"/>
                  <a:pt x="569360" y="333790"/>
                </a:cubicBezTo>
                <a:cubicBezTo>
                  <a:pt x="852888" y="105472"/>
                  <a:pt x="1272212" y="9538"/>
                  <a:pt x="1704548" y="0"/>
                </a:cubicBezTo>
                <a:close/>
              </a:path>
            </a:pathLst>
          </a:custGeom>
        </p:spPr>
      </p:pic>
    </p:spTree>
    <p:extLst>
      <p:ext uri="{BB962C8B-B14F-4D97-AF65-F5344CB8AC3E}">
        <p14:creationId xmlns:p14="http://schemas.microsoft.com/office/powerpoint/2010/main" val="96395779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標準">
    <p:spTree>
      <p:nvGrpSpPr>
        <p:cNvPr id="1" name=""/>
        <p:cNvGrpSpPr/>
        <p:nvPr/>
      </p:nvGrpSpPr>
      <p:grpSpPr>
        <a:xfrm>
          <a:off x="0" y="0"/>
          <a:ext cx="0" cy="0"/>
          <a:chOff x="0" y="0"/>
          <a:chExt cx="0" cy="0"/>
        </a:xfrm>
      </p:grpSpPr>
      <p:pic>
        <p:nvPicPr>
          <p:cNvPr id="11" name="図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6349" y="6407161"/>
            <a:ext cx="11659303" cy="262128"/>
          </a:xfrm>
          <a:prstGeom prst="rect">
            <a:avLst/>
          </a:prstGeom>
        </p:spPr>
      </p:pic>
      <p:sp>
        <p:nvSpPr>
          <p:cNvPr id="4" name="日付プレースホルダー 32"/>
          <p:cNvSpPr txBox="1">
            <a:spLocks/>
          </p:cNvSpPr>
          <p:nvPr userDrawn="1"/>
        </p:nvSpPr>
        <p:spPr>
          <a:xfrm>
            <a:off x="412896" y="6357514"/>
            <a:ext cx="7203141"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bg1"/>
                </a:solidFill>
                <a:latin typeface="+mn-lt"/>
              </a:rPr>
              <a:t>© MITSUBISHI HEAVY INDUSTRIES, LTD.  All Rights Reserved.</a:t>
            </a:r>
            <a:endParaRPr lang="ja-JP" altLang="en-US" sz="700">
              <a:solidFill>
                <a:schemeClr val="bg1"/>
              </a:solidFill>
              <a:latin typeface="+mn-lt"/>
            </a:endParaRPr>
          </a:p>
        </p:txBody>
      </p:sp>
      <p:sp>
        <p:nvSpPr>
          <p:cNvPr id="7" name="スライド番号プレースホルダー 5"/>
          <p:cNvSpPr txBox="1">
            <a:spLocks/>
          </p:cNvSpPr>
          <p:nvPr userDrawn="1"/>
        </p:nvSpPr>
        <p:spPr>
          <a:xfrm>
            <a:off x="11165417" y="6356609"/>
            <a:ext cx="694267"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smtClean="0">
                <a:latin typeface="Arial"/>
              </a:rPr>
              <a:pPr>
                <a:defRPr/>
              </a:pPr>
              <a:t>‹#›</a:t>
            </a:fld>
            <a:endParaRPr lang="en-US" altLang="ja-JP" sz="1000">
              <a:latin typeface="Arial"/>
            </a:endParaRPr>
          </a:p>
        </p:txBody>
      </p:sp>
      <p:sp>
        <p:nvSpPr>
          <p:cNvPr id="15" name="タイトル 1"/>
          <p:cNvSpPr>
            <a:spLocks noGrp="1"/>
          </p:cNvSpPr>
          <p:nvPr>
            <p:ph type="title" hasCustomPrompt="1"/>
          </p:nvPr>
        </p:nvSpPr>
        <p:spPr>
          <a:xfrm>
            <a:off x="679939" y="128799"/>
            <a:ext cx="8580794"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a:t>ページタイトル </a:t>
            </a:r>
            <a:r>
              <a:rPr kumimoji="1" lang="en-US" altLang="ja-JP"/>
              <a:t>22pt</a:t>
            </a:r>
            <a:endParaRPr kumimoji="1" lang="ja-JP" altLang="en-US"/>
          </a:p>
        </p:txBody>
      </p:sp>
      <p:sp>
        <p:nvSpPr>
          <p:cNvPr id="17" name="テキスト プレースホルダー 9"/>
          <p:cNvSpPr>
            <a:spLocks noGrp="1"/>
          </p:cNvSpPr>
          <p:nvPr>
            <p:ph type="body" sz="quarter" idx="10" hasCustomPrompt="1"/>
          </p:nvPr>
        </p:nvSpPr>
        <p:spPr>
          <a:xfrm>
            <a:off x="679939" y="797132"/>
            <a:ext cx="10984523" cy="652463"/>
          </a:xfrm>
          <a:prstGeom prst="rect">
            <a:avLst/>
          </a:prstGeom>
        </p:spPr>
        <p:txBody>
          <a:bodyPr/>
          <a:lstStyle>
            <a:lvl1pPr marL="0" indent="0">
              <a:lnSpc>
                <a:spcPct val="120000"/>
              </a:lnSpc>
              <a:spcBef>
                <a:spcPts val="750"/>
              </a:spcBef>
              <a:buNone/>
              <a:defRPr sz="1600">
                <a:latin typeface="+mn-ea"/>
                <a:ea typeface="+mn-ea"/>
                <a:cs typeface="メイリオ" pitchFamily="50" charset="-128"/>
              </a:defRPr>
            </a:lvl1pPr>
          </a:lstStyle>
          <a:p>
            <a:pPr lvl="0"/>
            <a:r>
              <a:rPr kumimoji="1" lang="ja-JP" altLang="en-US"/>
              <a:t>テキスト </a:t>
            </a:r>
            <a:r>
              <a:rPr kumimoji="1" lang="en-US" altLang="ja-JP"/>
              <a:t>16pt</a:t>
            </a:r>
            <a:endParaRPr kumimoji="1" lang="ja-JP" altLang="en-US"/>
          </a:p>
        </p:txBody>
      </p:sp>
      <p:sp>
        <p:nvSpPr>
          <p:cNvPr id="18" name="テキスト プレースホルダー 18"/>
          <p:cNvSpPr>
            <a:spLocks noGrp="1"/>
          </p:cNvSpPr>
          <p:nvPr>
            <p:ph type="body" sz="quarter" idx="13" hasCustomPrompt="1"/>
          </p:nvPr>
        </p:nvSpPr>
        <p:spPr>
          <a:xfrm>
            <a:off x="679940" y="1525210"/>
            <a:ext cx="10978661" cy="838164"/>
          </a:xfrm>
          <a:prstGeom prst="rect">
            <a:avLst/>
          </a:prstGeom>
        </p:spPr>
        <p:txBody>
          <a:bodyPr numCol="2" spcCol="540000"/>
          <a:lstStyle>
            <a:lvl1pPr marL="0" indent="0">
              <a:lnSpc>
                <a:spcPct val="120000"/>
              </a:lnSpc>
              <a:spcBef>
                <a:spcPts val="750"/>
              </a:spcBef>
              <a:buNone/>
              <a:defRPr sz="1000">
                <a:latin typeface="+mn-ea"/>
                <a:ea typeface="+mn-ea"/>
                <a:cs typeface="メイリオ" pitchFamily="50" charset="-128"/>
              </a:defRPr>
            </a:lvl1pPr>
          </a:lstStyle>
          <a:p>
            <a:pPr lvl="0"/>
            <a:r>
              <a:rPr kumimoji="1" lang="ja-JP" altLang="en-US"/>
              <a:t>テキスト </a:t>
            </a:r>
            <a:r>
              <a:rPr kumimoji="1" lang="en-US" altLang="ja-JP"/>
              <a:t>10pt</a:t>
            </a:r>
            <a:endParaRPr kumimoji="1" lang="ja-JP" altLang="en-US"/>
          </a:p>
        </p:txBody>
      </p:sp>
      <p:cxnSp>
        <p:nvCxnSpPr>
          <p:cNvPr id="21" name="直線コネクタ 20"/>
          <p:cNvCxnSpPr/>
          <p:nvPr userDrawn="1"/>
        </p:nvCxnSpPr>
        <p:spPr>
          <a:xfrm>
            <a:off x="261916" y="564204"/>
            <a:ext cx="116596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グラフィックス 2">
            <a:extLst>
              <a:ext uri="{FF2B5EF4-FFF2-40B4-BE49-F238E27FC236}">
                <a16:creationId xmlns:a16="http://schemas.microsoft.com/office/drawing/2014/main" id="{62F75424-44AE-040C-0CAC-ACEA5E8A5A6D}"/>
              </a:ext>
            </a:extLst>
          </p:cNvPr>
          <p:cNvPicPr>
            <a:picLocks noChangeAspect="1"/>
          </p:cNvPicPr>
          <p:nvPr userDrawn="1"/>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68808" y="158695"/>
            <a:ext cx="1179491" cy="227572"/>
          </a:xfrm>
          <a:prstGeom prst="rect">
            <a:avLst/>
          </a:prstGeom>
        </p:spPr>
      </p:pic>
    </p:spTree>
    <p:extLst>
      <p:ext uri="{BB962C8B-B14F-4D97-AF65-F5344CB8AC3E}">
        <p14:creationId xmlns:p14="http://schemas.microsoft.com/office/powerpoint/2010/main" val="263221050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下付け">
    <p:spTree>
      <p:nvGrpSpPr>
        <p:cNvPr id="1" name=""/>
        <p:cNvGrpSpPr/>
        <p:nvPr/>
      </p:nvGrpSpPr>
      <p:grpSpPr>
        <a:xfrm>
          <a:off x="0" y="0"/>
          <a:ext cx="0" cy="0"/>
          <a:chOff x="0" y="0"/>
          <a:chExt cx="0" cy="0"/>
        </a:xfrm>
      </p:grpSpPr>
      <p:pic>
        <p:nvPicPr>
          <p:cNvPr id="11" name="図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6349" y="6540511"/>
            <a:ext cx="11659303" cy="262128"/>
          </a:xfrm>
          <a:prstGeom prst="rect">
            <a:avLst/>
          </a:prstGeom>
        </p:spPr>
      </p:pic>
      <p:sp>
        <p:nvSpPr>
          <p:cNvPr id="4" name="日付プレースホルダー 32"/>
          <p:cNvSpPr txBox="1">
            <a:spLocks/>
          </p:cNvSpPr>
          <p:nvPr userDrawn="1"/>
        </p:nvSpPr>
        <p:spPr>
          <a:xfrm>
            <a:off x="412896" y="6490864"/>
            <a:ext cx="7203141"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bg1"/>
                </a:solidFill>
                <a:latin typeface="+mn-lt"/>
              </a:rPr>
              <a:t>© MITSUBISHI HEAVY INDUSTRIES, LTD.  All Rights Reserved.</a:t>
            </a:r>
            <a:endParaRPr lang="ja-JP" altLang="en-US" sz="700">
              <a:solidFill>
                <a:schemeClr val="bg1"/>
              </a:solidFill>
              <a:latin typeface="+mn-lt"/>
            </a:endParaRPr>
          </a:p>
        </p:txBody>
      </p:sp>
      <p:sp>
        <p:nvSpPr>
          <p:cNvPr id="7" name="スライド番号プレースホルダー 5"/>
          <p:cNvSpPr txBox="1">
            <a:spLocks/>
          </p:cNvSpPr>
          <p:nvPr userDrawn="1"/>
        </p:nvSpPr>
        <p:spPr>
          <a:xfrm>
            <a:off x="11165417" y="6489959"/>
            <a:ext cx="694267"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smtClean="0">
                <a:latin typeface="Arial"/>
              </a:rPr>
              <a:pPr>
                <a:defRPr/>
              </a:pPr>
              <a:t>‹#›</a:t>
            </a:fld>
            <a:endParaRPr lang="en-US" altLang="ja-JP" sz="1000">
              <a:latin typeface="Arial"/>
            </a:endParaRPr>
          </a:p>
        </p:txBody>
      </p:sp>
      <p:sp>
        <p:nvSpPr>
          <p:cNvPr id="15" name="タイトル 1"/>
          <p:cNvSpPr>
            <a:spLocks noGrp="1"/>
          </p:cNvSpPr>
          <p:nvPr>
            <p:ph type="title" hasCustomPrompt="1"/>
          </p:nvPr>
        </p:nvSpPr>
        <p:spPr>
          <a:xfrm>
            <a:off x="679939" y="128799"/>
            <a:ext cx="8580794"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a:t>ページタイトル </a:t>
            </a:r>
            <a:r>
              <a:rPr kumimoji="1" lang="en-US" altLang="ja-JP"/>
              <a:t>22pt</a:t>
            </a:r>
            <a:endParaRPr kumimoji="1" lang="ja-JP" altLang="en-US"/>
          </a:p>
        </p:txBody>
      </p:sp>
      <p:sp>
        <p:nvSpPr>
          <p:cNvPr id="17" name="テキスト プレースホルダー 9"/>
          <p:cNvSpPr>
            <a:spLocks noGrp="1"/>
          </p:cNvSpPr>
          <p:nvPr>
            <p:ph type="body" sz="quarter" idx="10" hasCustomPrompt="1"/>
          </p:nvPr>
        </p:nvSpPr>
        <p:spPr>
          <a:xfrm>
            <a:off x="679939" y="797132"/>
            <a:ext cx="8580479" cy="652463"/>
          </a:xfrm>
          <a:prstGeom prst="rect">
            <a:avLst/>
          </a:prstGeom>
        </p:spPr>
        <p:txBody>
          <a:bodyPr/>
          <a:lstStyle>
            <a:lvl1pPr marL="0" indent="0">
              <a:lnSpc>
                <a:spcPct val="120000"/>
              </a:lnSpc>
              <a:spcBef>
                <a:spcPts val="750"/>
              </a:spcBef>
              <a:buNone/>
              <a:defRPr sz="1600">
                <a:latin typeface="+mn-ea"/>
                <a:ea typeface="+mn-ea"/>
                <a:cs typeface="メイリオ" pitchFamily="50" charset="-128"/>
              </a:defRPr>
            </a:lvl1pPr>
          </a:lstStyle>
          <a:p>
            <a:pPr lvl="0"/>
            <a:r>
              <a:rPr kumimoji="1" lang="ja-JP" altLang="en-US"/>
              <a:t>テキスト </a:t>
            </a:r>
            <a:r>
              <a:rPr kumimoji="1" lang="en-US" altLang="ja-JP"/>
              <a:t>16pt</a:t>
            </a:r>
            <a:endParaRPr kumimoji="1" lang="ja-JP" altLang="en-US"/>
          </a:p>
        </p:txBody>
      </p:sp>
      <p:sp>
        <p:nvSpPr>
          <p:cNvPr id="18" name="テキスト プレースホルダー 18"/>
          <p:cNvSpPr>
            <a:spLocks noGrp="1"/>
          </p:cNvSpPr>
          <p:nvPr>
            <p:ph type="body" sz="quarter" idx="13" hasCustomPrompt="1"/>
          </p:nvPr>
        </p:nvSpPr>
        <p:spPr>
          <a:xfrm>
            <a:off x="679940" y="1525210"/>
            <a:ext cx="10978661" cy="838164"/>
          </a:xfrm>
          <a:prstGeom prst="rect">
            <a:avLst/>
          </a:prstGeom>
        </p:spPr>
        <p:txBody>
          <a:bodyPr numCol="2" spcCol="540000"/>
          <a:lstStyle>
            <a:lvl1pPr marL="0" indent="0">
              <a:lnSpc>
                <a:spcPct val="120000"/>
              </a:lnSpc>
              <a:spcBef>
                <a:spcPts val="750"/>
              </a:spcBef>
              <a:buNone/>
              <a:defRPr sz="1000">
                <a:latin typeface="+mn-ea"/>
                <a:ea typeface="+mn-ea"/>
                <a:cs typeface="メイリオ" pitchFamily="50" charset="-128"/>
              </a:defRPr>
            </a:lvl1pPr>
          </a:lstStyle>
          <a:p>
            <a:pPr lvl="0"/>
            <a:r>
              <a:rPr kumimoji="1" lang="ja-JP" altLang="en-US"/>
              <a:t>テキスト </a:t>
            </a:r>
            <a:r>
              <a:rPr kumimoji="1" lang="en-US" altLang="ja-JP"/>
              <a:t>10pt</a:t>
            </a:r>
            <a:endParaRPr kumimoji="1" lang="ja-JP" altLang="en-US"/>
          </a:p>
        </p:txBody>
      </p:sp>
      <p:cxnSp>
        <p:nvCxnSpPr>
          <p:cNvPr id="21" name="直線コネクタ 20"/>
          <p:cNvCxnSpPr/>
          <p:nvPr userDrawn="1"/>
        </p:nvCxnSpPr>
        <p:spPr>
          <a:xfrm>
            <a:off x="261916" y="564204"/>
            <a:ext cx="116596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グラフィックス 1">
            <a:extLst>
              <a:ext uri="{FF2B5EF4-FFF2-40B4-BE49-F238E27FC236}">
                <a16:creationId xmlns:a16="http://schemas.microsoft.com/office/drawing/2014/main" id="{F1B5BA27-A010-B743-F0EB-28BEFAC5F136}"/>
              </a:ext>
            </a:extLst>
          </p:cNvPr>
          <p:cNvPicPr>
            <a:picLocks noChangeAspect="1"/>
          </p:cNvPicPr>
          <p:nvPr userDrawn="1"/>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68808" y="158695"/>
            <a:ext cx="1179491" cy="227572"/>
          </a:xfrm>
          <a:prstGeom prst="rect">
            <a:avLst/>
          </a:prstGeom>
        </p:spPr>
      </p:pic>
    </p:spTree>
    <p:extLst>
      <p:ext uri="{BB962C8B-B14F-4D97-AF65-F5344CB8AC3E}">
        <p14:creationId xmlns:p14="http://schemas.microsoft.com/office/powerpoint/2010/main" val="83283875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下付け">
    <p:spTree>
      <p:nvGrpSpPr>
        <p:cNvPr id="1" name=""/>
        <p:cNvGrpSpPr/>
        <p:nvPr/>
      </p:nvGrpSpPr>
      <p:grpSpPr>
        <a:xfrm>
          <a:off x="0" y="0"/>
          <a:ext cx="0" cy="0"/>
          <a:chOff x="0" y="0"/>
          <a:chExt cx="0" cy="0"/>
        </a:xfrm>
      </p:grpSpPr>
      <p:pic>
        <p:nvPicPr>
          <p:cNvPr id="11" name="図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6349" y="6540511"/>
            <a:ext cx="11659303" cy="262128"/>
          </a:xfrm>
          <a:prstGeom prst="rect">
            <a:avLst/>
          </a:prstGeom>
        </p:spPr>
      </p:pic>
      <p:sp>
        <p:nvSpPr>
          <p:cNvPr id="4" name="日付プレースホルダー 32"/>
          <p:cNvSpPr txBox="1">
            <a:spLocks/>
          </p:cNvSpPr>
          <p:nvPr userDrawn="1"/>
        </p:nvSpPr>
        <p:spPr>
          <a:xfrm>
            <a:off x="412896" y="6490864"/>
            <a:ext cx="7203141"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bg1"/>
                </a:solidFill>
                <a:latin typeface="+mn-lt"/>
              </a:rPr>
              <a:t>© MITSUBISHI HEAVY INDUSTRIES, LTD.  All Rights Reserved.</a:t>
            </a:r>
            <a:endParaRPr lang="ja-JP" altLang="en-US" sz="700">
              <a:solidFill>
                <a:schemeClr val="bg1"/>
              </a:solidFill>
              <a:latin typeface="+mn-lt"/>
            </a:endParaRPr>
          </a:p>
        </p:txBody>
      </p:sp>
      <p:sp>
        <p:nvSpPr>
          <p:cNvPr id="7" name="スライド番号プレースホルダー 5"/>
          <p:cNvSpPr txBox="1">
            <a:spLocks/>
          </p:cNvSpPr>
          <p:nvPr userDrawn="1"/>
        </p:nvSpPr>
        <p:spPr>
          <a:xfrm>
            <a:off x="11165417" y="6489959"/>
            <a:ext cx="694267"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smtClean="0">
                <a:latin typeface="Arial"/>
              </a:rPr>
              <a:pPr>
                <a:defRPr/>
              </a:pPr>
              <a:t>‹#›</a:t>
            </a:fld>
            <a:endParaRPr lang="en-US" altLang="ja-JP" sz="1000">
              <a:latin typeface="Arial"/>
            </a:endParaRPr>
          </a:p>
        </p:txBody>
      </p:sp>
      <p:sp>
        <p:nvSpPr>
          <p:cNvPr id="15" name="タイトル 1"/>
          <p:cNvSpPr>
            <a:spLocks noGrp="1"/>
          </p:cNvSpPr>
          <p:nvPr>
            <p:ph type="title" hasCustomPrompt="1"/>
          </p:nvPr>
        </p:nvSpPr>
        <p:spPr>
          <a:xfrm>
            <a:off x="679939" y="128799"/>
            <a:ext cx="8580794"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a:t>ページタイトル </a:t>
            </a:r>
            <a:r>
              <a:rPr kumimoji="1" lang="en-US" altLang="ja-JP"/>
              <a:t>22pt</a:t>
            </a:r>
            <a:endParaRPr kumimoji="1" lang="ja-JP" altLang="en-US"/>
          </a:p>
        </p:txBody>
      </p:sp>
      <p:sp>
        <p:nvSpPr>
          <p:cNvPr id="17" name="テキスト プレースホルダー 9"/>
          <p:cNvSpPr>
            <a:spLocks noGrp="1"/>
          </p:cNvSpPr>
          <p:nvPr>
            <p:ph type="body" sz="quarter" idx="10" hasCustomPrompt="1"/>
          </p:nvPr>
        </p:nvSpPr>
        <p:spPr>
          <a:xfrm>
            <a:off x="679939" y="797132"/>
            <a:ext cx="8580479" cy="652463"/>
          </a:xfrm>
          <a:prstGeom prst="rect">
            <a:avLst/>
          </a:prstGeom>
        </p:spPr>
        <p:txBody>
          <a:bodyPr/>
          <a:lstStyle>
            <a:lvl1pPr marL="0" indent="0">
              <a:lnSpc>
                <a:spcPct val="120000"/>
              </a:lnSpc>
              <a:spcBef>
                <a:spcPts val="750"/>
              </a:spcBef>
              <a:buNone/>
              <a:defRPr sz="1600">
                <a:latin typeface="+mn-ea"/>
                <a:ea typeface="+mn-ea"/>
                <a:cs typeface="メイリオ" pitchFamily="50" charset="-128"/>
              </a:defRPr>
            </a:lvl1pPr>
          </a:lstStyle>
          <a:p>
            <a:pPr lvl="0"/>
            <a:r>
              <a:rPr kumimoji="1" lang="ja-JP" altLang="en-US"/>
              <a:t>テキスト </a:t>
            </a:r>
            <a:r>
              <a:rPr kumimoji="1" lang="en-US" altLang="ja-JP"/>
              <a:t>16pt</a:t>
            </a:r>
            <a:endParaRPr kumimoji="1" lang="ja-JP" altLang="en-US"/>
          </a:p>
        </p:txBody>
      </p:sp>
      <p:sp>
        <p:nvSpPr>
          <p:cNvPr id="18" name="テキスト プレースホルダー 18"/>
          <p:cNvSpPr>
            <a:spLocks noGrp="1"/>
          </p:cNvSpPr>
          <p:nvPr>
            <p:ph type="body" sz="quarter" idx="13" hasCustomPrompt="1"/>
          </p:nvPr>
        </p:nvSpPr>
        <p:spPr>
          <a:xfrm>
            <a:off x="679940" y="1525210"/>
            <a:ext cx="10978661" cy="838164"/>
          </a:xfrm>
          <a:prstGeom prst="rect">
            <a:avLst/>
          </a:prstGeom>
        </p:spPr>
        <p:txBody>
          <a:bodyPr numCol="2" spcCol="540000"/>
          <a:lstStyle>
            <a:lvl1pPr marL="0" indent="0">
              <a:lnSpc>
                <a:spcPct val="120000"/>
              </a:lnSpc>
              <a:spcBef>
                <a:spcPts val="750"/>
              </a:spcBef>
              <a:buNone/>
              <a:defRPr sz="1000">
                <a:latin typeface="+mn-ea"/>
                <a:ea typeface="+mn-ea"/>
                <a:cs typeface="メイリオ" pitchFamily="50" charset="-128"/>
              </a:defRPr>
            </a:lvl1pPr>
          </a:lstStyle>
          <a:p>
            <a:pPr lvl="0"/>
            <a:r>
              <a:rPr kumimoji="1" lang="ja-JP" altLang="en-US"/>
              <a:t>テキスト </a:t>
            </a:r>
            <a:r>
              <a:rPr kumimoji="1" lang="en-US" altLang="ja-JP"/>
              <a:t>10pt</a:t>
            </a:r>
            <a:endParaRPr kumimoji="1" lang="ja-JP" altLang="en-US"/>
          </a:p>
        </p:txBody>
      </p:sp>
      <p:cxnSp>
        <p:nvCxnSpPr>
          <p:cNvPr id="21" name="直線コネクタ 20"/>
          <p:cNvCxnSpPr/>
          <p:nvPr userDrawn="1"/>
        </p:nvCxnSpPr>
        <p:spPr>
          <a:xfrm>
            <a:off x="261916" y="564204"/>
            <a:ext cx="116596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グラフィックス 2">
            <a:extLst>
              <a:ext uri="{FF2B5EF4-FFF2-40B4-BE49-F238E27FC236}">
                <a16:creationId xmlns:a16="http://schemas.microsoft.com/office/drawing/2014/main" id="{7CD0B0C2-A1C6-969B-5BEA-6BDB4D1F3FFF}"/>
              </a:ext>
            </a:extLst>
          </p:cNvPr>
          <p:cNvPicPr>
            <a:picLocks noChangeAspect="1"/>
          </p:cNvPicPr>
          <p:nvPr userDrawn="1"/>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68808" y="158695"/>
            <a:ext cx="1179491" cy="227572"/>
          </a:xfrm>
          <a:prstGeom prst="rect">
            <a:avLst/>
          </a:prstGeom>
        </p:spPr>
      </p:pic>
    </p:spTree>
    <p:extLst>
      <p:ext uri="{BB962C8B-B14F-4D97-AF65-F5344CB8AC3E}">
        <p14:creationId xmlns:p14="http://schemas.microsoft.com/office/powerpoint/2010/main" val="332144431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表紙1">
    <p:spTree>
      <p:nvGrpSpPr>
        <p:cNvPr id="1" name=""/>
        <p:cNvGrpSpPr/>
        <p:nvPr/>
      </p:nvGrpSpPr>
      <p:grpSpPr>
        <a:xfrm>
          <a:off x="0" y="0"/>
          <a:ext cx="0" cy="0"/>
          <a:chOff x="0" y="0"/>
          <a:chExt cx="0" cy="0"/>
        </a:xfrm>
      </p:grpSpPr>
      <p:pic>
        <p:nvPicPr>
          <p:cNvPr id="2" name="Picture 2" descr="C:\Users\S04\Desktop\180613_PPTヘッダ帯_header のコピー.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1917" y="202145"/>
            <a:ext cx="11658599" cy="944562"/>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プレースホルダー 5"/>
          <p:cNvSpPr>
            <a:spLocks noGrp="1"/>
          </p:cNvSpPr>
          <p:nvPr>
            <p:ph type="body" sz="quarter" idx="10" hasCustomPrompt="1"/>
          </p:nvPr>
        </p:nvSpPr>
        <p:spPr>
          <a:xfrm>
            <a:off x="376465" y="5566335"/>
            <a:ext cx="3182799" cy="351288"/>
          </a:xfrm>
          <a:prstGeom prst="rect">
            <a:avLst/>
          </a:prstGeom>
        </p:spPr>
        <p:txBody>
          <a:bodyPr anchor="ctr"/>
          <a:lstStyle>
            <a:lvl1pPr marL="0" indent="0">
              <a:lnSpc>
                <a:spcPct val="100000"/>
              </a:lnSpc>
              <a:spcBef>
                <a:spcPts val="0"/>
              </a:spcBef>
              <a:buNone/>
              <a:defRPr sz="1300">
                <a:latin typeface="+mn-ea"/>
                <a:ea typeface="+mn-ea"/>
                <a:cs typeface="メイリオ" pitchFamily="50" charset="-128"/>
              </a:defRPr>
            </a:lvl1pPr>
          </a:lstStyle>
          <a:p>
            <a:pPr lvl="0"/>
            <a:r>
              <a:rPr kumimoji="1" lang="en-US" altLang="ja-JP"/>
              <a:t>2019.6.5</a:t>
            </a:r>
            <a:endParaRPr kumimoji="1" lang="ja-JP" altLang="en-US"/>
          </a:p>
        </p:txBody>
      </p:sp>
      <p:sp>
        <p:nvSpPr>
          <p:cNvPr id="16" name="タイトル 2"/>
          <p:cNvSpPr>
            <a:spLocks noGrp="1"/>
          </p:cNvSpPr>
          <p:nvPr>
            <p:ph type="title" hasCustomPrompt="1"/>
          </p:nvPr>
        </p:nvSpPr>
        <p:spPr>
          <a:xfrm>
            <a:off x="376465" y="2699387"/>
            <a:ext cx="11442242" cy="585575"/>
          </a:xfrm>
          <a:prstGeom prst="rect">
            <a:avLst/>
          </a:prstGeom>
        </p:spPr>
        <p:txBody>
          <a:bodyPr/>
          <a:lstStyle>
            <a:lvl1pPr>
              <a:lnSpc>
                <a:spcPct val="100000"/>
              </a:lnSpc>
              <a:spcBef>
                <a:spcPts val="0"/>
              </a:spcBef>
              <a:defRPr sz="3200" b="1" baseline="0">
                <a:solidFill>
                  <a:schemeClr val="tx1"/>
                </a:solidFill>
                <a:latin typeface="+mj-ea"/>
                <a:ea typeface="+mj-ea"/>
                <a:cs typeface="メイリオ" pitchFamily="50" charset="-128"/>
              </a:defRPr>
            </a:lvl1pPr>
          </a:lstStyle>
          <a:p>
            <a:r>
              <a:rPr kumimoji="1" lang="ja-JP" altLang="en-US"/>
              <a:t>表紙タイトル </a:t>
            </a:r>
            <a:r>
              <a:rPr kumimoji="1" lang="en-US" altLang="ja-JP"/>
              <a:t>32pt</a:t>
            </a:r>
            <a:endParaRPr kumimoji="1" lang="ja-JP" altLang="en-US"/>
          </a:p>
        </p:txBody>
      </p:sp>
      <p:sp>
        <p:nvSpPr>
          <p:cNvPr id="18" name="テキスト ボックス 17"/>
          <p:cNvSpPr txBox="1"/>
          <p:nvPr userDrawn="1"/>
        </p:nvSpPr>
        <p:spPr>
          <a:xfrm>
            <a:off x="369233" y="5920205"/>
            <a:ext cx="5758566" cy="292388"/>
          </a:xfrm>
          <a:prstGeom prst="rect">
            <a:avLst/>
          </a:prstGeom>
          <a:noFill/>
        </p:spPr>
        <p:txBody>
          <a:bodyPr wrap="square" rtlCol="0" anchor="t">
            <a:spAutoFit/>
          </a:bodyPr>
          <a:lstStyle/>
          <a:p>
            <a:pPr>
              <a:spcBef>
                <a:spcPts val="0"/>
              </a:spcBef>
              <a:spcAft>
                <a:spcPts val="600"/>
              </a:spcAft>
            </a:pPr>
            <a:r>
              <a:rPr kumimoji="1" lang="ja-JP" altLang="en-US" sz="1300" b="1">
                <a:solidFill>
                  <a:schemeClr val="tx1"/>
                </a:solidFill>
                <a:latin typeface="+mn-ea"/>
                <a:ea typeface="+mn-ea"/>
                <a:cs typeface="メイリオ" pitchFamily="50" charset="-128"/>
              </a:rPr>
              <a:t>三菱重工業株式会社</a:t>
            </a:r>
          </a:p>
        </p:txBody>
      </p:sp>
      <p:sp>
        <p:nvSpPr>
          <p:cNvPr id="10" name="テキスト プレースホルダー 21">
            <a:extLst>
              <a:ext uri="{FF2B5EF4-FFF2-40B4-BE49-F238E27FC236}">
                <a16:creationId xmlns:a16="http://schemas.microsoft.com/office/drawing/2014/main" id="{A1B3CB4D-6995-4FBD-99A9-97EF83630755}"/>
              </a:ext>
            </a:extLst>
          </p:cNvPr>
          <p:cNvSpPr>
            <a:spLocks noGrp="1"/>
          </p:cNvSpPr>
          <p:nvPr>
            <p:ph type="body" sz="quarter" idx="14" hasCustomPrompt="1"/>
          </p:nvPr>
        </p:nvSpPr>
        <p:spPr>
          <a:xfrm>
            <a:off x="376465" y="3361113"/>
            <a:ext cx="11442242" cy="1676400"/>
          </a:xfrm>
          <a:prstGeom prst="rect">
            <a:avLst/>
          </a:prstGeom>
        </p:spPr>
        <p:txBody>
          <a:bodyPr/>
          <a:lstStyle>
            <a:lvl1pPr marL="0" marR="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sz="1600" baseline="0">
                <a:solidFill>
                  <a:schemeClr val="tx1"/>
                </a:solidFill>
                <a:latin typeface="+mn-ea"/>
                <a:ea typeface="+mn-ea"/>
                <a:cs typeface="メイリオ" pitchFamily="50" charset="-128"/>
              </a:defRPr>
            </a:lvl1pPr>
          </a:lstStyle>
          <a:p>
            <a:pPr marL="0" marR="0" lvl="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a:t>サブタイトル </a:t>
            </a:r>
            <a:r>
              <a:rPr kumimoji="1" lang="en-US" altLang="ja-JP"/>
              <a:t>16pt</a:t>
            </a:r>
            <a:r>
              <a:rPr kumimoji="1" lang="ja-JP" altLang="en-US"/>
              <a:t>　　　　　　　　　　　　　　　　　　　　　　　　　　　　　　　　              ●複数の会社名やロゴを記載するレイアウトはスライドマスターにあり                                     ●写真付きの表紙レイアウト（</a:t>
            </a:r>
            <a:r>
              <a:rPr kumimoji="1" lang="en-US" altLang="ja-JP"/>
              <a:t>2</a:t>
            </a:r>
            <a:r>
              <a:rPr kumimoji="1" lang="ja-JP" altLang="en-US"/>
              <a:t>種）はスライドマスターにあり                                              </a:t>
            </a:r>
            <a:r>
              <a:rPr kumimoji="1" lang="en-US" altLang="ja-JP"/>
              <a:t>※</a:t>
            </a:r>
            <a:r>
              <a:rPr kumimoji="1" lang="ja-JP" altLang="en-US"/>
              <a:t>スライドマスターの変更は別紙「スライドマスター操作ガイド」をご参照ください</a:t>
            </a:r>
          </a:p>
        </p:txBody>
      </p:sp>
      <p:sp>
        <p:nvSpPr>
          <p:cNvPr id="11" name="日付プレースホルダー 32"/>
          <p:cNvSpPr txBox="1">
            <a:spLocks/>
          </p:cNvSpPr>
          <p:nvPr userDrawn="1"/>
        </p:nvSpPr>
        <p:spPr>
          <a:xfrm>
            <a:off x="261918" y="6370976"/>
            <a:ext cx="7203141"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tx1"/>
                </a:solidFill>
                <a:latin typeface="+mn-lt"/>
              </a:rPr>
              <a:t>© MITSUBISHI HEAVY INDUSTRIES, LTD.  All Rights Reserved.</a:t>
            </a:r>
            <a:endParaRPr lang="ja-JP" altLang="en-US" sz="700">
              <a:solidFill>
                <a:schemeClr val="tx1"/>
              </a:solidFill>
              <a:latin typeface="+mn-lt"/>
            </a:endParaRPr>
          </a:p>
        </p:txBody>
      </p:sp>
      <p:pic>
        <p:nvPicPr>
          <p:cNvPr id="5" name="グラフィックス 4">
            <a:extLst>
              <a:ext uri="{FF2B5EF4-FFF2-40B4-BE49-F238E27FC236}">
                <a16:creationId xmlns:a16="http://schemas.microsoft.com/office/drawing/2014/main" id="{1D982E42-B5EC-BAB5-C0A3-A45F7116902A}"/>
              </a:ext>
            </a:extLst>
          </p:cNvPr>
          <p:cNvPicPr>
            <a:picLocks noChangeAspect="1"/>
          </p:cNvPicPr>
          <p:nvPr userDrawn="1"/>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71175" y="6363641"/>
            <a:ext cx="1179491" cy="227572"/>
          </a:xfrm>
          <a:prstGeom prst="rect">
            <a:avLst/>
          </a:prstGeom>
        </p:spPr>
      </p:pic>
    </p:spTree>
    <p:extLst>
      <p:ext uri="{BB962C8B-B14F-4D97-AF65-F5344CB8AC3E}">
        <p14:creationId xmlns:p14="http://schemas.microsoft.com/office/powerpoint/2010/main" val="383144377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3_下付け">
    <p:spTree>
      <p:nvGrpSpPr>
        <p:cNvPr id="1" name=""/>
        <p:cNvGrpSpPr/>
        <p:nvPr/>
      </p:nvGrpSpPr>
      <p:grpSpPr>
        <a:xfrm>
          <a:off x="0" y="0"/>
          <a:ext cx="0" cy="0"/>
          <a:chOff x="0" y="0"/>
          <a:chExt cx="0" cy="0"/>
        </a:xfrm>
      </p:grpSpPr>
      <p:pic>
        <p:nvPicPr>
          <p:cNvPr id="11" name="図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6349" y="6540511"/>
            <a:ext cx="11659303" cy="262128"/>
          </a:xfrm>
          <a:prstGeom prst="rect">
            <a:avLst/>
          </a:prstGeom>
        </p:spPr>
      </p:pic>
      <p:sp>
        <p:nvSpPr>
          <p:cNvPr id="4" name="日付プレースホルダー 32"/>
          <p:cNvSpPr txBox="1">
            <a:spLocks/>
          </p:cNvSpPr>
          <p:nvPr userDrawn="1"/>
        </p:nvSpPr>
        <p:spPr>
          <a:xfrm>
            <a:off x="412896" y="6490864"/>
            <a:ext cx="7203141"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bg1"/>
                </a:solidFill>
                <a:latin typeface="+mn-lt"/>
              </a:rPr>
              <a:t>© MITSUBISHI HEAVY INDUSTRIES, LTD.  All Rights Reserved.</a:t>
            </a:r>
            <a:endParaRPr lang="ja-JP" altLang="en-US" sz="700">
              <a:solidFill>
                <a:schemeClr val="bg1"/>
              </a:solidFill>
              <a:latin typeface="+mn-lt"/>
            </a:endParaRPr>
          </a:p>
        </p:txBody>
      </p:sp>
      <p:sp>
        <p:nvSpPr>
          <p:cNvPr id="7" name="スライド番号プレースホルダー 5"/>
          <p:cNvSpPr txBox="1">
            <a:spLocks/>
          </p:cNvSpPr>
          <p:nvPr userDrawn="1"/>
        </p:nvSpPr>
        <p:spPr>
          <a:xfrm>
            <a:off x="11165417" y="6489959"/>
            <a:ext cx="694267"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smtClean="0">
                <a:latin typeface="Arial"/>
              </a:rPr>
              <a:pPr>
                <a:defRPr/>
              </a:pPr>
              <a:t>‹#›</a:t>
            </a:fld>
            <a:endParaRPr lang="en-US" altLang="ja-JP" sz="1000">
              <a:latin typeface="Arial"/>
            </a:endParaRPr>
          </a:p>
        </p:txBody>
      </p:sp>
      <p:sp>
        <p:nvSpPr>
          <p:cNvPr id="15" name="タイトル 1"/>
          <p:cNvSpPr>
            <a:spLocks noGrp="1"/>
          </p:cNvSpPr>
          <p:nvPr>
            <p:ph type="title" hasCustomPrompt="1"/>
          </p:nvPr>
        </p:nvSpPr>
        <p:spPr>
          <a:xfrm>
            <a:off x="679939" y="128799"/>
            <a:ext cx="8580794"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a:t>ページタイトル </a:t>
            </a:r>
            <a:r>
              <a:rPr kumimoji="1" lang="en-US" altLang="ja-JP"/>
              <a:t>22pt</a:t>
            </a:r>
            <a:endParaRPr kumimoji="1" lang="ja-JP" altLang="en-US"/>
          </a:p>
        </p:txBody>
      </p:sp>
      <p:sp>
        <p:nvSpPr>
          <p:cNvPr id="17" name="テキスト プレースホルダー 9"/>
          <p:cNvSpPr>
            <a:spLocks noGrp="1"/>
          </p:cNvSpPr>
          <p:nvPr>
            <p:ph type="body" sz="quarter" idx="10" hasCustomPrompt="1"/>
          </p:nvPr>
        </p:nvSpPr>
        <p:spPr>
          <a:xfrm>
            <a:off x="679939" y="797132"/>
            <a:ext cx="8580479" cy="652463"/>
          </a:xfrm>
          <a:prstGeom prst="rect">
            <a:avLst/>
          </a:prstGeom>
        </p:spPr>
        <p:txBody>
          <a:bodyPr/>
          <a:lstStyle>
            <a:lvl1pPr marL="0" indent="0">
              <a:lnSpc>
                <a:spcPct val="120000"/>
              </a:lnSpc>
              <a:spcBef>
                <a:spcPts val="750"/>
              </a:spcBef>
              <a:buNone/>
              <a:defRPr sz="1600">
                <a:latin typeface="+mn-ea"/>
                <a:ea typeface="+mn-ea"/>
                <a:cs typeface="メイリオ" pitchFamily="50" charset="-128"/>
              </a:defRPr>
            </a:lvl1pPr>
          </a:lstStyle>
          <a:p>
            <a:pPr lvl="0"/>
            <a:r>
              <a:rPr kumimoji="1" lang="ja-JP" altLang="en-US"/>
              <a:t>テキスト </a:t>
            </a:r>
            <a:r>
              <a:rPr kumimoji="1" lang="en-US" altLang="ja-JP"/>
              <a:t>16pt</a:t>
            </a:r>
            <a:endParaRPr kumimoji="1" lang="ja-JP" altLang="en-US"/>
          </a:p>
        </p:txBody>
      </p:sp>
      <p:sp>
        <p:nvSpPr>
          <p:cNvPr id="18" name="テキスト プレースホルダー 18"/>
          <p:cNvSpPr>
            <a:spLocks noGrp="1"/>
          </p:cNvSpPr>
          <p:nvPr>
            <p:ph type="body" sz="quarter" idx="13" hasCustomPrompt="1"/>
          </p:nvPr>
        </p:nvSpPr>
        <p:spPr>
          <a:xfrm>
            <a:off x="679940" y="1525210"/>
            <a:ext cx="10978661" cy="838164"/>
          </a:xfrm>
          <a:prstGeom prst="rect">
            <a:avLst/>
          </a:prstGeom>
        </p:spPr>
        <p:txBody>
          <a:bodyPr numCol="2" spcCol="540000"/>
          <a:lstStyle>
            <a:lvl1pPr marL="0" indent="0">
              <a:lnSpc>
                <a:spcPct val="120000"/>
              </a:lnSpc>
              <a:spcBef>
                <a:spcPts val="750"/>
              </a:spcBef>
              <a:buNone/>
              <a:defRPr sz="1000">
                <a:latin typeface="+mn-ea"/>
                <a:ea typeface="+mn-ea"/>
                <a:cs typeface="メイリオ" pitchFamily="50" charset="-128"/>
              </a:defRPr>
            </a:lvl1pPr>
          </a:lstStyle>
          <a:p>
            <a:pPr lvl="0"/>
            <a:r>
              <a:rPr kumimoji="1" lang="ja-JP" altLang="en-US"/>
              <a:t>テキスト </a:t>
            </a:r>
            <a:r>
              <a:rPr kumimoji="1" lang="en-US" altLang="ja-JP"/>
              <a:t>10pt</a:t>
            </a:r>
            <a:endParaRPr kumimoji="1" lang="ja-JP" altLang="en-US"/>
          </a:p>
        </p:txBody>
      </p:sp>
      <p:cxnSp>
        <p:nvCxnSpPr>
          <p:cNvPr id="21" name="直線コネクタ 20"/>
          <p:cNvCxnSpPr/>
          <p:nvPr userDrawn="1"/>
        </p:nvCxnSpPr>
        <p:spPr>
          <a:xfrm>
            <a:off x="261916" y="564204"/>
            <a:ext cx="116596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グラフィックス 1">
            <a:extLst>
              <a:ext uri="{FF2B5EF4-FFF2-40B4-BE49-F238E27FC236}">
                <a16:creationId xmlns:a16="http://schemas.microsoft.com/office/drawing/2014/main" id="{F1B5BA27-A010-B743-F0EB-28BEFAC5F136}"/>
              </a:ext>
            </a:extLst>
          </p:cNvPr>
          <p:cNvPicPr>
            <a:picLocks noChangeAspect="1"/>
          </p:cNvPicPr>
          <p:nvPr userDrawn="1"/>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68808" y="158695"/>
            <a:ext cx="1179491" cy="227572"/>
          </a:xfrm>
          <a:prstGeom prst="rect">
            <a:avLst/>
          </a:prstGeom>
        </p:spPr>
      </p:pic>
    </p:spTree>
    <p:extLst>
      <p:ext uri="{BB962C8B-B14F-4D97-AF65-F5344CB8AC3E}">
        <p14:creationId xmlns:p14="http://schemas.microsoft.com/office/powerpoint/2010/main" val="384458938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6_下付け">
    <p:spTree>
      <p:nvGrpSpPr>
        <p:cNvPr id="1" name=""/>
        <p:cNvGrpSpPr/>
        <p:nvPr/>
      </p:nvGrpSpPr>
      <p:grpSpPr>
        <a:xfrm>
          <a:off x="0" y="0"/>
          <a:ext cx="0" cy="0"/>
          <a:chOff x="0" y="0"/>
          <a:chExt cx="0" cy="0"/>
        </a:xfrm>
      </p:grpSpPr>
      <p:pic>
        <p:nvPicPr>
          <p:cNvPr id="11" name="図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6349" y="6540511"/>
            <a:ext cx="11659303" cy="262128"/>
          </a:xfrm>
          <a:prstGeom prst="rect">
            <a:avLst/>
          </a:prstGeom>
        </p:spPr>
      </p:pic>
      <p:sp>
        <p:nvSpPr>
          <p:cNvPr id="4" name="日付プレースホルダー 32"/>
          <p:cNvSpPr txBox="1">
            <a:spLocks/>
          </p:cNvSpPr>
          <p:nvPr userDrawn="1"/>
        </p:nvSpPr>
        <p:spPr>
          <a:xfrm>
            <a:off x="412896" y="6490864"/>
            <a:ext cx="7203141"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bg1"/>
                </a:solidFill>
                <a:latin typeface="+mn-lt"/>
              </a:rPr>
              <a:t>© MITSUBISHI HEAVY INDUSTRIES, LTD.  All Rights Reserved.</a:t>
            </a:r>
            <a:endParaRPr lang="ja-JP" altLang="en-US" sz="700">
              <a:solidFill>
                <a:schemeClr val="bg1"/>
              </a:solidFill>
              <a:latin typeface="+mn-lt"/>
            </a:endParaRPr>
          </a:p>
        </p:txBody>
      </p:sp>
      <p:sp>
        <p:nvSpPr>
          <p:cNvPr id="7" name="スライド番号プレースホルダー 5"/>
          <p:cNvSpPr txBox="1">
            <a:spLocks/>
          </p:cNvSpPr>
          <p:nvPr userDrawn="1"/>
        </p:nvSpPr>
        <p:spPr>
          <a:xfrm>
            <a:off x="11165417" y="6489959"/>
            <a:ext cx="694267"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smtClean="0">
                <a:latin typeface="Arial"/>
              </a:rPr>
              <a:pPr>
                <a:defRPr/>
              </a:pPr>
              <a:t>‹#›</a:t>
            </a:fld>
            <a:endParaRPr lang="en-US" altLang="ja-JP" sz="1000">
              <a:latin typeface="Arial"/>
            </a:endParaRPr>
          </a:p>
        </p:txBody>
      </p:sp>
      <p:sp>
        <p:nvSpPr>
          <p:cNvPr id="15" name="タイトル 1"/>
          <p:cNvSpPr>
            <a:spLocks noGrp="1"/>
          </p:cNvSpPr>
          <p:nvPr>
            <p:ph type="title" hasCustomPrompt="1"/>
          </p:nvPr>
        </p:nvSpPr>
        <p:spPr>
          <a:xfrm>
            <a:off x="679939" y="128799"/>
            <a:ext cx="8580794"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a:t>ページタイトル </a:t>
            </a:r>
            <a:r>
              <a:rPr kumimoji="1" lang="en-US" altLang="ja-JP"/>
              <a:t>22pt</a:t>
            </a:r>
            <a:endParaRPr kumimoji="1" lang="ja-JP" altLang="en-US"/>
          </a:p>
        </p:txBody>
      </p:sp>
      <p:sp>
        <p:nvSpPr>
          <p:cNvPr id="17" name="テキスト プレースホルダー 9"/>
          <p:cNvSpPr>
            <a:spLocks noGrp="1"/>
          </p:cNvSpPr>
          <p:nvPr>
            <p:ph type="body" sz="quarter" idx="10" hasCustomPrompt="1"/>
          </p:nvPr>
        </p:nvSpPr>
        <p:spPr>
          <a:xfrm>
            <a:off x="679939" y="797132"/>
            <a:ext cx="8580479" cy="652463"/>
          </a:xfrm>
          <a:prstGeom prst="rect">
            <a:avLst/>
          </a:prstGeom>
        </p:spPr>
        <p:txBody>
          <a:bodyPr/>
          <a:lstStyle>
            <a:lvl1pPr marL="0" indent="0">
              <a:lnSpc>
                <a:spcPct val="120000"/>
              </a:lnSpc>
              <a:spcBef>
                <a:spcPts val="750"/>
              </a:spcBef>
              <a:buNone/>
              <a:defRPr sz="1600">
                <a:latin typeface="+mn-ea"/>
                <a:ea typeface="+mn-ea"/>
                <a:cs typeface="メイリオ" pitchFamily="50" charset="-128"/>
              </a:defRPr>
            </a:lvl1pPr>
          </a:lstStyle>
          <a:p>
            <a:pPr lvl="0"/>
            <a:r>
              <a:rPr kumimoji="1" lang="ja-JP" altLang="en-US"/>
              <a:t>テキスト </a:t>
            </a:r>
            <a:r>
              <a:rPr kumimoji="1" lang="en-US" altLang="ja-JP"/>
              <a:t>16pt</a:t>
            </a:r>
            <a:endParaRPr kumimoji="1" lang="ja-JP" altLang="en-US"/>
          </a:p>
        </p:txBody>
      </p:sp>
      <p:sp>
        <p:nvSpPr>
          <p:cNvPr id="18" name="テキスト プレースホルダー 18"/>
          <p:cNvSpPr>
            <a:spLocks noGrp="1"/>
          </p:cNvSpPr>
          <p:nvPr>
            <p:ph type="body" sz="quarter" idx="13" hasCustomPrompt="1"/>
          </p:nvPr>
        </p:nvSpPr>
        <p:spPr>
          <a:xfrm>
            <a:off x="679940" y="1525210"/>
            <a:ext cx="10978661" cy="838164"/>
          </a:xfrm>
          <a:prstGeom prst="rect">
            <a:avLst/>
          </a:prstGeom>
        </p:spPr>
        <p:txBody>
          <a:bodyPr numCol="2" spcCol="540000"/>
          <a:lstStyle>
            <a:lvl1pPr marL="0" indent="0">
              <a:lnSpc>
                <a:spcPct val="120000"/>
              </a:lnSpc>
              <a:spcBef>
                <a:spcPts val="750"/>
              </a:spcBef>
              <a:buNone/>
              <a:defRPr sz="1000">
                <a:latin typeface="+mn-ea"/>
                <a:ea typeface="+mn-ea"/>
                <a:cs typeface="メイリオ" pitchFamily="50" charset="-128"/>
              </a:defRPr>
            </a:lvl1pPr>
          </a:lstStyle>
          <a:p>
            <a:pPr lvl="0"/>
            <a:r>
              <a:rPr kumimoji="1" lang="ja-JP" altLang="en-US"/>
              <a:t>テキスト </a:t>
            </a:r>
            <a:r>
              <a:rPr kumimoji="1" lang="en-US" altLang="ja-JP"/>
              <a:t>10pt</a:t>
            </a:r>
            <a:endParaRPr kumimoji="1" lang="ja-JP" altLang="en-US"/>
          </a:p>
        </p:txBody>
      </p:sp>
      <p:cxnSp>
        <p:nvCxnSpPr>
          <p:cNvPr id="21" name="直線コネクタ 20"/>
          <p:cNvCxnSpPr/>
          <p:nvPr userDrawn="1"/>
        </p:nvCxnSpPr>
        <p:spPr>
          <a:xfrm>
            <a:off x="261916" y="564204"/>
            <a:ext cx="116596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グラフィックス 2">
            <a:extLst>
              <a:ext uri="{FF2B5EF4-FFF2-40B4-BE49-F238E27FC236}">
                <a16:creationId xmlns:a16="http://schemas.microsoft.com/office/drawing/2014/main" id="{7CD0B0C2-A1C6-969B-5BEA-6BDB4D1F3FFF}"/>
              </a:ext>
            </a:extLst>
          </p:cNvPr>
          <p:cNvPicPr>
            <a:picLocks noChangeAspect="1"/>
          </p:cNvPicPr>
          <p:nvPr userDrawn="1"/>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68808" y="158695"/>
            <a:ext cx="1179491" cy="227572"/>
          </a:xfrm>
          <a:prstGeom prst="rect">
            <a:avLst/>
          </a:prstGeom>
        </p:spPr>
      </p:pic>
    </p:spTree>
    <p:extLst>
      <p:ext uri="{BB962C8B-B14F-4D97-AF65-F5344CB8AC3E}">
        <p14:creationId xmlns:p14="http://schemas.microsoft.com/office/powerpoint/2010/main" val="417637814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標準">
    <p:spTree>
      <p:nvGrpSpPr>
        <p:cNvPr id="1" name=""/>
        <p:cNvGrpSpPr/>
        <p:nvPr/>
      </p:nvGrpSpPr>
      <p:grpSpPr>
        <a:xfrm>
          <a:off x="0" y="0"/>
          <a:ext cx="0" cy="0"/>
          <a:chOff x="0" y="0"/>
          <a:chExt cx="0" cy="0"/>
        </a:xfrm>
      </p:grpSpPr>
      <p:pic>
        <p:nvPicPr>
          <p:cNvPr id="11" name="図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6349" y="6407161"/>
            <a:ext cx="11659303" cy="262128"/>
          </a:xfrm>
          <a:prstGeom prst="rect">
            <a:avLst/>
          </a:prstGeom>
        </p:spPr>
      </p:pic>
      <p:sp>
        <p:nvSpPr>
          <p:cNvPr id="4" name="日付プレースホルダー 32"/>
          <p:cNvSpPr txBox="1">
            <a:spLocks/>
          </p:cNvSpPr>
          <p:nvPr userDrawn="1"/>
        </p:nvSpPr>
        <p:spPr>
          <a:xfrm>
            <a:off x="412896" y="6357514"/>
            <a:ext cx="7203141"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bg1"/>
                </a:solidFill>
                <a:latin typeface="+mn-lt"/>
              </a:rPr>
              <a:t>© MITSUBISHI HEAVY INDUSTRIES, LTD.  All Rights Reserved.</a:t>
            </a:r>
            <a:endParaRPr lang="ja-JP" altLang="en-US" sz="700">
              <a:solidFill>
                <a:schemeClr val="bg1"/>
              </a:solidFill>
              <a:latin typeface="+mn-lt"/>
            </a:endParaRPr>
          </a:p>
        </p:txBody>
      </p:sp>
      <p:sp>
        <p:nvSpPr>
          <p:cNvPr id="7" name="スライド番号プレースホルダー 5"/>
          <p:cNvSpPr txBox="1">
            <a:spLocks/>
          </p:cNvSpPr>
          <p:nvPr userDrawn="1"/>
        </p:nvSpPr>
        <p:spPr>
          <a:xfrm>
            <a:off x="11165417" y="6356609"/>
            <a:ext cx="694267"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smtClean="0">
                <a:latin typeface="Arial"/>
              </a:rPr>
              <a:pPr>
                <a:defRPr/>
              </a:pPr>
              <a:t>‹#›</a:t>
            </a:fld>
            <a:endParaRPr lang="en-US" altLang="ja-JP" sz="1000">
              <a:latin typeface="Arial"/>
            </a:endParaRPr>
          </a:p>
        </p:txBody>
      </p:sp>
      <p:sp>
        <p:nvSpPr>
          <p:cNvPr id="15" name="タイトル 1"/>
          <p:cNvSpPr>
            <a:spLocks noGrp="1"/>
          </p:cNvSpPr>
          <p:nvPr>
            <p:ph type="title" hasCustomPrompt="1"/>
          </p:nvPr>
        </p:nvSpPr>
        <p:spPr>
          <a:xfrm>
            <a:off x="679939" y="128799"/>
            <a:ext cx="8580794"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a:t>ページタイトル </a:t>
            </a:r>
            <a:r>
              <a:rPr kumimoji="1" lang="en-US" altLang="ja-JP"/>
              <a:t>22pt</a:t>
            </a:r>
            <a:endParaRPr kumimoji="1" lang="ja-JP" altLang="en-US"/>
          </a:p>
        </p:txBody>
      </p:sp>
      <p:sp>
        <p:nvSpPr>
          <p:cNvPr id="17" name="テキスト プレースホルダー 9"/>
          <p:cNvSpPr>
            <a:spLocks noGrp="1"/>
          </p:cNvSpPr>
          <p:nvPr>
            <p:ph type="body" sz="quarter" idx="10" hasCustomPrompt="1"/>
          </p:nvPr>
        </p:nvSpPr>
        <p:spPr>
          <a:xfrm>
            <a:off x="679939" y="797132"/>
            <a:ext cx="10984523" cy="652463"/>
          </a:xfrm>
          <a:prstGeom prst="rect">
            <a:avLst/>
          </a:prstGeom>
        </p:spPr>
        <p:txBody>
          <a:bodyPr/>
          <a:lstStyle>
            <a:lvl1pPr marL="0" indent="0">
              <a:lnSpc>
                <a:spcPct val="120000"/>
              </a:lnSpc>
              <a:spcBef>
                <a:spcPts val="750"/>
              </a:spcBef>
              <a:buNone/>
              <a:defRPr sz="1600">
                <a:latin typeface="+mn-ea"/>
                <a:ea typeface="+mn-ea"/>
                <a:cs typeface="メイリオ" pitchFamily="50" charset="-128"/>
              </a:defRPr>
            </a:lvl1pPr>
          </a:lstStyle>
          <a:p>
            <a:pPr lvl="0"/>
            <a:r>
              <a:rPr kumimoji="1" lang="ja-JP" altLang="en-US"/>
              <a:t>テキスト </a:t>
            </a:r>
            <a:r>
              <a:rPr kumimoji="1" lang="en-US" altLang="ja-JP"/>
              <a:t>16pt</a:t>
            </a:r>
            <a:endParaRPr kumimoji="1" lang="ja-JP" altLang="en-US"/>
          </a:p>
        </p:txBody>
      </p:sp>
      <p:sp>
        <p:nvSpPr>
          <p:cNvPr id="18" name="テキスト プレースホルダー 18"/>
          <p:cNvSpPr>
            <a:spLocks noGrp="1"/>
          </p:cNvSpPr>
          <p:nvPr>
            <p:ph type="body" sz="quarter" idx="13" hasCustomPrompt="1"/>
          </p:nvPr>
        </p:nvSpPr>
        <p:spPr>
          <a:xfrm>
            <a:off x="679940" y="1525210"/>
            <a:ext cx="10978661" cy="838164"/>
          </a:xfrm>
          <a:prstGeom prst="rect">
            <a:avLst/>
          </a:prstGeom>
        </p:spPr>
        <p:txBody>
          <a:bodyPr numCol="2" spcCol="540000"/>
          <a:lstStyle>
            <a:lvl1pPr marL="0" indent="0">
              <a:lnSpc>
                <a:spcPct val="120000"/>
              </a:lnSpc>
              <a:spcBef>
                <a:spcPts val="750"/>
              </a:spcBef>
              <a:buNone/>
              <a:defRPr sz="1000">
                <a:latin typeface="+mn-ea"/>
                <a:ea typeface="+mn-ea"/>
                <a:cs typeface="メイリオ" pitchFamily="50" charset="-128"/>
              </a:defRPr>
            </a:lvl1pPr>
          </a:lstStyle>
          <a:p>
            <a:pPr lvl="0"/>
            <a:r>
              <a:rPr kumimoji="1" lang="ja-JP" altLang="en-US"/>
              <a:t>テキスト </a:t>
            </a:r>
            <a:r>
              <a:rPr kumimoji="1" lang="en-US" altLang="ja-JP"/>
              <a:t>10pt</a:t>
            </a:r>
            <a:endParaRPr kumimoji="1" lang="ja-JP" altLang="en-US"/>
          </a:p>
        </p:txBody>
      </p:sp>
      <p:cxnSp>
        <p:nvCxnSpPr>
          <p:cNvPr id="21" name="直線コネクタ 20"/>
          <p:cNvCxnSpPr/>
          <p:nvPr userDrawn="1"/>
        </p:nvCxnSpPr>
        <p:spPr>
          <a:xfrm>
            <a:off x="261916" y="564204"/>
            <a:ext cx="116596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Picture 2" descr="\\S-server2-pc\l\1805_MHI_PPTテンプレート修正\FromDOS\180514\MHI_PPTテンプレート_0514\PPT用ロゴデータ_0514\三菱重工（念のため）\JP01\Fullcolor\Positive\MHI_JP01_FC_POS_RGB.jpg">
            <a:extLst>
              <a:ext uri="{FF2B5EF4-FFF2-40B4-BE49-F238E27FC236}">
                <a16:creationId xmlns:a16="http://schemas.microsoft.com/office/drawing/2014/main" id="{AC6AE582-088B-7229-735D-847FD34E1475}"/>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696063" y="86760"/>
            <a:ext cx="1325880" cy="3740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72379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8_下付け">
    <p:spTree>
      <p:nvGrpSpPr>
        <p:cNvPr id="1" name=""/>
        <p:cNvGrpSpPr/>
        <p:nvPr/>
      </p:nvGrpSpPr>
      <p:grpSpPr>
        <a:xfrm>
          <a:off x="0" y="0"/>
          <a:ext cx="0" cy="0"/>
          <a:chOff x="0" y="0"/>
          <a:chExt cx="0" cy="0"/>
        </a:xfrm>
      </p:grpSpPr>
      <p:pic>
        <p:nvPicPr>
          <p:cNvPr id="11" name="図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6349" y="6540511"/>
            <a:ext cx="11659303" cy="262128"/>
          </a:xfrm>
          <a:prstGeom prst="rect">
            <a:avLst/>
          </a:prstGeom>
        </p:spPr>
      </p:pic>
      <p:sp>
        <p:nvSpPr>
          <p:cNvPr id="4" name="日付プレースホルダー 32"/>
          <p:cNvSpPr txBox="1">
            <a:spLocks/>
          </p:cNvSpPr>
          <p:nvPr userDrawn="1"/>
        </p:nvSpPr>
        <p:spPr>
          <a:xfrm>
            <a:off x="412896" y="6490864"/>
            <a:ext cx="7203141"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bg1"/>
                </a:solidFill>
                <a:latin typeface="+mn-lt"/>
              </a:rPr>
              <a:t>© MITSUBISHI HEAVY INDUSTRIES, LTD.  All Rights Reserved.</a:t>
            </a:r>
            <a:endParaRPr lang="ja-JP" altLang="en-US" sz="700">
              <a:solidFill>
                <a:schemeClr val="bg1"/>
              </a:solidFill>
              <a:latin typeface="+mn-lt"/>
            </a:endParaRPr>
          </a:p>
        </p:txBody>
      </p:sp>
      <p:sp>
        <p:nvSpPr>
          <p:cNvPr id="7" name="スライド番号プレースホルダー 5"/>
          <p:cNvSpPr txBox="1">
            <a:spLocks/>
          </p:cNvSpPr>
          <p:nvPr userDrawn="1"/>
        </p:nvSpPr>
        <p:spPr>
          <a:xfrm>
            <a:off x="11165417" y="6489959"/>
            <a:ext cx="694267"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smtClean="0">
                <a:latin typeface="Arial"/>
              </a:rPr>
              <a:pPr>
                <a:defRPr/>
              </a:pPr>
              <a:t>‹#›</a:t>
            </a:fld>
            <a:endParaRPr lang="en-US" altLang="ja-JP" sz="1000">
              <a:latin typeface="Arial"/>
            </a:endParaRPr>
          </a:p>
        </p:txBody>
      </p:sp>
      <p:sp>
        <p:nvSpPr>
          <p:cNvPr id="15" name="タイトル 1"/>
          <p:cNvSpPr>
            <a:spLocks noGrp="1"/>
          </p:cNvSpPr>
          <p:nvPr>
            <p:ph type="title" hasCustomPrompt="1"/>
          </p:nvPr>
        </p:nvSpPr>
        <p:spPr>
          <a:xfrm>
            <a:off x="679939" y="128799"/>
            <a:ext cx="8580794"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a:t>ページタイトル </a:t>
            </a:r>
            <a:r>
              <a:rPr kumimoji="1" lang="en-US" altLang="ja-JP"/>
              <a:t>22pt</a:t>
            </a:r>
            <a:endParaRPr kumimoji="1" lang="ja-JP" altLang="en-US"/>
          </a:p>
        </p:txBody>
      </p:sp>
      <p:sp>
        <p:nvSpPr>
          <p:cNvPr id="17" name="テキスト プレースホルダー 9"/>
          <p:cNvSpPr>
            <a:spLocks noGrp="1"/>
          </p:cNvSpPr>
          <p:nvPr>
            <p:ph type="body" sz="quarter" idx="10" hasCustomPrompt="1"/>
          </p:nvPr>
        </p:nvSpPr>
        <p:spPr>
          <a:xfrm>
            <a:off x="679939" y="797132"/>
            <a:ext cx="8580479" cy="652463"/>
          </a:xfrm>
          <a:prstGeom prst="rect">
            <a:avLst/>
          </a:prstGeom>
        </p:spPr>
        <p:txBody>
          <a:bodyPr/>
          <a:lstStyle>
            <a:lvl1pPr marL="0" indent="0">
              <a:lnSpc>
                <a:spcPct val="120000"/>
              </a:lnSpc>
              <a:spcBef>
                <a:spcPts val="750"/>
              </a:spcBef>
              <a:buNone/>
              <a:defRPr sz="1600">
                <a:latin typeface="+mn-ea"/>
                <a:ea typeface="+mn-ea"/>
                <a:cs typeface="メイリオ" pitchFamily="50" charset="-128"/>
              </a:defRPr>
            </a:lvl1pPr>
          </a:lstStyle>
          <a:p>
            <a:pPr lvl="0"/>
            <a:r>
              <a:rPr kumimoji="1" lang="ja-JP" altLang="en-US"/>
              <a:t>テキスト </a:t>
            </a:r>
            <a:r>
              <a:rPr kumimoji="1" lang="en-US" altLang="ja-JP"/>
              <a:t>16pt</a:t>
            </a:r>
            <a:endParaRPr kumimoji="1" lang="ja-JP" altLang="en-US"/>
          </a:p>
        </p:txBody>
      </p:sp>
      <p:sp>
        <p:nvSpPr>
          <p:cNvPr id="18" name="テキスト プレースホルダー 18"/>
          <p:cNvSpPr>
            <a:spLocks noGrp="1"/>
          </p:cNvSpPr>
          <p:nvPr>
            <p:ph type="body" sz="quarter" idx="13" hasCustomPrompt="1"/>
          </p:nvPr>
        </p:nvSpPr>
        <p:spPr>
          <a:xfrm>
            <a:off x="679940" y="1525210"/>
            <a:ext cx="10978661" cy="838164"/>
          </a:xfrm>
          <a:prstGeom prst="rect">
            <a:avLst/>
          </a:prstGeom>
        </p:spPr>
        <p:txBody>
          <a:bodyPr numCol="2" spcCol="540000"/>
          <a:lstStyle>
            <a:lvl1pPr marL="0" indent="0">
              <a:lnSpc>
                <a:spcPct val="120000"/>
              </a:lnSpc>
              <a:spcBef>
                <a:spcPts val="750"/>
              </a:spcBef>
              <a:buNone/>
              <a:defRPr sz="1000">
                <a:latin typeface="+mn-ea"/>
                <a:ea typeface="+mn-ea"/>
                <a:cs typeface="メイリオ" pitchFamily="50" charset="-128"/>
              </a:defRPr>
            </a:lvl1pPr>
          </a:lstStyle>
          <a:p>
            <a:pPr lvl="0"/>
            <a:r>
              <a:rPr kumimoji="1" lang="ja-JP" altLang="en-US"/>
              <a:t>テキスト </a:t>
            </a:r>
            <a:r>
              <a:rPr kumimoji="1" lang="en-US" altLang="ja-JP"/>
              <a:t>10pt</a:t>
            </a:r>
            <a:endParaRPr kumimoji="1" lang="ja-JP" altLang="en-US"/>
          </a:p>
        </p:txBody>
      </p:sp>
      <p:cxnSp>
        <p:nvCxnSpPr>
          <p:cNvPr id="21" name="直線コネクタ 20"/>
          <p:cNvCxnSpPr/>
          <p:nvPr userDrawn="1"/>
        </p:nvCxnSpPr>
        <p:spPr>
          <a:xfrm>
            <a:off x="261916" y="564204"/>
            <a:ext cx="116596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Picture 2" descr="\\S-server2-pc\l\1805_MHI_PPTテンプレート修正\FromDOS\180514\MHI_PPTテンプレート_0514\PPT用ロゴデータ_0514\三菱重工（念のため）\JP01\Fullcolor\Positive\MHI_JP01_FC_POS_RGB.jpg">
            <a:extLst>
              <a:ext uri="{FF2B5EF4-FFF2-40B4-BE49-F238E27FC236}">
                <a16:creationId xmlns:a16="http://schemas.microsoft.com/office/drawing/2014/main" id="{92FAF3A8-7387-FF80-2CF0-D96CEFC8A6C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696063" y="86760"/>
            <a:ext cx="1325880" cy="3740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236533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9_下付け">
    <p:spTree>
      <p:nvGrpSpPr>
        <p:cNvPr id="1" name=""/>
        <p:cNvGrpSpPr/>
        <p:nvPr/>
      </p:nvGrpSpPr>
      <p:grpSpPr>
        <a:xfrm>
          <a:off x="0" y="0"/>
          <a:ext cx="0" cy="0"/>
          <a:chOff x="0" y="0"/>
          <a:chExt cx="0" cy="0"/>
        </a:xfrm>
      </p:grpSpPr>
      <p:pic>
        <p:nvPicPr>
          <p:cNvPr id="11" name="図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6349" y="6540511"/>
            <a:ext cx="11659303" cy="262128"/>
          </a:xfrm>
          <a:prstGeom prst="rect">
            <a:avLst/>
          </a:prstGeom>
        </p:spPr>
      </p:pic>
      <p:sp>
        <p:nvSpPr>
          <p:cNvPr id="4" name="日付プレースホルダー 32"/>
          <p:cNvSpPr txBox="1">
            <a:spLocks/>
          </p:cNvSpPr>
          <p:nvPr userDrawn="1"/>
        </p:nvSpPr>
        <p:spPr>
          <a:xfrm>
            <a:off x="412896" y="6490864"/>
            <a:ext cx="7203141"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bg1"/>
                </a:solidFill>
                <a:latin typeface="+mn-lt"/>
              </a:rPr>
              <a:t>© MITSUBISHI HEAVY INDUSTRIES, LTD.  All Rights Reserved.</a:t>
            </a:r>
            <a:endParaRPr lang="ja-JP" altLang="en-US" sz="700">
              <a:solidFill>
                <a:schemeClr val="bg1"/>
              </a:solidFill>
              <a:latin typeface="+mn-lt"/>
            </a:endParaRPr>
          </a:p>
        </p:txBody>
      </p:sp>
      <p:sp>
        <p:nvSpPr>
          <p:cNvPr id="7" name="スライド番号プレースホルダー 5"/>
          <p:cNvSpPr txBox="1">
            <a:spLocks/>
          </p:cNvSpPr>
          <p:nvPr userDrawn="1"/>
        </p:nvSpPr>
        <p:spPr>
          <a:xfrm>
            <a:off x="11165417" y="6489959"/>
            <a:ext cx="694267"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smtClean="0">
                <a:latin typeface="Arial"/>
              </a:rPr>
              <a:pPr>
                <a:defRPr/>
              </a:pPr>
              <a:t>‹#›</a:t>
            </a:fld>
            <a:endParaRPr lang="en-US" altLang="ja-JP" sz="1000">
              <a:latin typeface="Arial"/>
            </a:endParaRPr>
          </a:p>
        </p:txBody>
      </p:sp>
      <p:sp>
        <p:nvSpPr>
          <p:cNvPr id="15" name="タイトル 1"/>
          <p:cNvSpPr>
            <a:spLocks noGrp="1"/>
          </p:cNvSpPr>
          <p:nvPr>
            <p:ph type="title" hasCustomPrompt="1"/>
          </p:nvPr>
        </p:nvSpPr>
        <p:spPr>
          <a:xfrm>
            <a:off x="679939" y="128799"/>
            <a:ext cx="8580794"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a:t>ページタイトル </a:t>
            </a:r>
            <a:r>
              <a:rPr kumimoji="1" lang="en-US" altLang="ja-JP"/>
              <a:t>22pt</a:t>
            </a:r>
            <a:endParaRPr kumimoji="1" lang="ja-JP" altLang="en-US"/>
          </a:p>
        </p:txBody>
      </p:sp>
      <p:sp>
        <p:nvSpPr>
          <p:cNvPr id="17" name="テキスト プレースホルダー 9"/>
          <p:cNvSpPr>
            <a:spLocks noGrp="1"/>
          </p:cNvSpPr>
          <p:nvPr>
            <p:ph type="body" sz="quarter" idx="10" hasCustomPrompt="1"/>
          </p:nvPr>
        </p:nvSpPr>
        <p:spPr>
          <a:xfrm>
            <a:off x="679939" y="797132"/>
            <a:ext cx="8580479" cy="652463"/>
          </a:xfrm>
          <a:prstGeom prst="rect">
            <a:avLst/>
          </a:prstGeom>
        </p:spPr>
        <p:txBody>
          <a:bodyPr/>
          <a:lstStyle>
            <a:lvl1pPr marL="0" indent="0">
              <a:lnSpc>
                <a:spcPct val="120000"/>
              </a:lnSpc>
              <a:spcBef>
                <a:spcPts val="750"/>
              </a:spcBef>
              <a:buNone/>
              <a:defRPr sz="1600">
                <a:latin typeface="+mn-ea"/>
                <a:ea typeface="+mn-ea"/>
                <a:cs typeface="メイリオ" pitchFamily="50" charset="-128"/>
              </a:defRPr>
            </a:lvl1pPr>
          </a:lstStyle>
          <a:p>
            <a:pPr lvl="0"/>
            <a:r>
              <a:rPr kumimoji="1" lang="ja-JP" altLang="en-US"/>
              <a:t>テキスト </a:t>
            </a:r>
            <a:r>
              <a:rPr kumimoji="1" lang="en-US" altLang="ja-JP"/>
              <a:t>16pt</a:t>
            </a:r>
            <a:endParaRPr kumimoji="1" lang="ja-JP" altLang="en-US"/>
          </a:p>
        </p:txBody>
      </p:sp>
      <p:sp>
        <p:nvSpPr>
          <p:cNvPr id="18" name="テキスト プレースホルダー 18"/>
          <p:cNvSpPr>
            <a:spLocks noGrp="1"/>
          </p:cNvSpPr>
          <p:nvPr>
            <p:ph type="body" sz="quarter" idx="13" hasCustomPrompt="1"/>
          </p:nvPr>
        </p:nvSpPr>
        <p:spPr>
          <a:xfrm>
            <a:off x="679940" y="1525210"/>
            <a:ext cx="10978661" cy="838164"/>
          </a:xfrm>
          <a:prstGeom prst="rect">
            <a:avLst/>
          </a:prstGeom>
        </p:spPr>
        <p:txBody>
          <a:bodyPr numCol="2" spcCol="540000"/>
          <a:lstStyle>
            <a:lvl1pPr marL="0" indent="0">
              <a:lnSpc>
                <a:spcPct val="120000"/>
              </a:lnSpc>
              <a:spcBef>
                <a:spcPts val="750"/>
              </a:spcBef>
              <a:buNone/>
              <a:defRPr sz="1000">
                <a:latin typeface="+mn-ea"/>
                <a:ea typeface="+mn-ea"/>
                <a:cs typeface="メイリオ" pitchFamily="50" charset="-128"/>
              </a:defRPr>
            </a:lvl1pPr>
          </a:lstStyle>
          <a:p>
            <a:pPr lvl="0"/>
            <a:r>
              <a:rPr kumimoji="1" lang="ja-JP" altLang="en-US"/>
              <a:t>テキスト </a:t>
            </a:r>
            <a:r>
              <a:rPr kumimoji="1" lang="en-US" altLang="ja-JP"/>
              <a:t>10pt</a:t>
            </a:r>
            <a:endParaRPr kumimoji="1" lang="ja-JP" altLang="en-US"/>
          </a:p>
        </p:txBody>
      </p:sp>
      <p:cxnSp>
        <p:nvCxnSpPr>
          <p:cNvPr id="21" name="直線コネクタ 20"/>
          <p:cNvCxnSpPr/>
          <p:nvPr userDrawn="1"/>
        </p:nvCxnSpPr>
        <p:spPr>
          <a:xfrm>
            <a:off x="261916" y="564204"/>
            <a:ext cx="116596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Picture 2" descr="\\S-server2-pc\l\1805_MHI_PPTテンプレート修正\FromDOS\180514\MHI_PPTテンプレート_0514\PPT用ロゴデータ_0514\三菱重工（念のため）\JP01\Fullcolor\Positive\MHI_JP01_FC_POS_RGB.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391676" y="86759"/>
            <a:ext cx="1630267" cy="374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742300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Title and Contents A">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E04D40BD-0FA0-4FFA-8024-ACC5B30BC532}"/>
              </a:ext>
            </a:extLst>
          </p:cNvPr>
          <p:cNvSpPr>
            <a:spLocks noGrp="1"/>
          </p:cNvSpPr>
          <p:nvPr>
            <p:ph type="body" sz="quarter" idx="11" hasCustomPrompt="1"/>
          </p:nvPr>
        </p:nvSpPr>
        <p:spPr>
          <a:xfrm>
            <a:off x="457200" y="764704"/>
            <a:ext cx="11474189" cy="1791260"/>
          </a:xfrm>
          <a:prstGeom prst="rect">
            <a:avLst/>
          </a:prstGeom>
        </p:spPr>
        <p:txBody>
          <a:bodyPr wrap="square">
            <a:spAutoFit/>
          </a:bodyPr>
          <a:lstStyle>
            <a:lvl1pPr marL="0" marR="0" indent="0" algn="l" defTabSz="534566" rtl="0" eaLnBrk="1" fontAlgn="base" latinLnBrk="0" hangingPunct="1">
              <a:lnSpc>
                <a:spcPct val="100000"/>
              </a:lnSpc>
              <a:spcBef>
                <a:spcPct val="20000"/>
              </a:spcBef>
              <a:spcAft>
                <a:spcPct val="0"/>
              </a:spcAft>
              <a:buClrTx/>
              <a:buSzTx/>
              <a:buFont typeface="Arial" pitchFamily="34" charset="0"/>
              <a:buNone/>
              <a:tabLst/>
              <a:defRPr lang="ja-JP" altLang="en-US" sz="2400" baseline="0" dirty="0">
                <a:latin typeface="+mn-lt"/>
              </a:defRPr>
            </a:lvl1pPr>
            <a:lvl2pPr>
              <a:defRPr lang="ja-JP" altLang="en-US" sz="1800" baseline="0" dirty="0">
                <a:latin typeface="+mn-lt"/>
              </a:defRPr>
            </a:lvl2pPr>
            <a:lvl3pPr>
              <a:defRPr lang="ja-JP" altLang="en-US" sz="1800" baseline="0" dirty="0">
                <a:latin typeface="+mn-lt"/>
              </a:defRPr>
            </a:lvl3pPr>
            <a:lvl4pPr>
              <a:defRPr lang="ja-JP" altLang="en-US" sz="1800" baseline="0" dirty="0">
                <a:latin typeface="+mn-lt"/>
              </a:defRPr>
            </a:lvl4pPr>
            <a:lvl5pPr>
              <a:defRPr lang="ja-JP" altLang="en-US" sz="1800" baseline="0" dirty="0">
                <a:latin typeface="+mn-lt"/>
              </a:defRPr>
            </a:lvl5pPr>
          </a:lstStyle>
          <a:p>
            <a:pPr marL="0" marR="0" lvl="0" indent="0" algn="l" defTabSz="534566" rtl="0" eaLnBrk="1" fontAlgn="base" latinLnBrk="0" hangingPunct="1">
              <a:lnSpc>
                <a:spcPct val="100000"/>
              </a:lnSpc>
              <a:spcBef>
                <a:spcPct val="20000"/>
              </a:spcBef>
              <a:spcAft>
                <a:spcPct val="0"/>
              </a:spcAft>
              <a:buClrTx/>
              <a:buSzTx/>
              <a:buFont typeface="Arial" pitchFamily="34" charset="0"/>
              <a:buNone/>
              <a:tabLst/>
              <a:defRPr/>
            </a:pPr>
            <a:r>
              <a:rPr kumimoji="1" lang="en-US" altLang="ja-JP"/>
              <a:t>Click and enter text.</a:t>
            </a:r>
            <a:endParaRPr kumimoji="1" lang="ja-JP" altLang="en-US"/>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9" name="タイトル 1"/>
          <p:cNvSpPr>
            <a:spLocks noGrp="1"/>
          </p:cNvSpPr>
          <p:nvPr>
            <p:ph type="title" hasCustomPrompt="1"/>
          </p:nvPr>
        </p:nvSpPr>
        <p:spPr>
          <a:xfrm>
            <a:off x="457200" y="67142"/>
            <a:ext cx="11543816" cy="553549"/>
          </a:xfrm>
          <a:prstGeom prst="rect">
            <a:avLst/>
          </a:prstGeom>
        </p:spPr>
        <p:txBody>
          <a:bodyPr tIns="108000" anchor="ctr" anchorCtr="0">
            <a:normAutofit/>
          </a:bodyPr>
          <a:lstStyle>
            <a:lvl1pPr>
              <a:defRPr lang="en-US" altLang="ja-JP" sz="2400" b="1" spc="0" baseline="0" dirty="0" smtClean="0">
                <a:solidFill>
                  <a:schemeClr val="accent1">
                    <a:lumMod val="50000"/>
                  </a:schemeClr>
                </a:solidFill>
                <a:latin typeface="+mj-lt"/>
                <a:ea typeface="+mj-ea"/>
                <a:cs typeface="Arial"/>
              </a:defRPr>
            </a:lvl1pPr>
          </a:lstStyle>
          <a:p>
            <a:pPr marL="226474" marR="0" lvl="0" indent="-226474" defTabSz="609570" latinLnBrk="0">
              <a:lnSpc>
                <a:spcPct val="100000"/>
              </a:lnSpc>
              <a:spcBef>
                <a:spcPct val="20000"/>
              </a:spcBef>
              <a:buClrTx/>
              <a:buSzTx/>
              <a:buFont typeface="+mj-lt"/>
              <a:buNone/>
              <a:tabLst/>
            </a:pPr>
            <a:r>
              <a:rPr kumimoji="1" lang="en-US" altLang="ja-JP"/>
              <a:t>[Title]</a:t>
            </a:r>
          </a:p>
        </p:txBody>
      </p:sp>
      <p:cxnSp>
        <p:nvCxnSpPr>
          <p:cNvPr id="3" name="直線コネクタ 2"/>
          <p:cNvCxnSpPr/>
          <p:nvPr userDrawn="1"/>
        </p:nvCxnSpPr>
        <p:spPr>
          <a:xfrm>
            <a:off x="211924" y="620688"/>
            <a:ext cx="11980076" cy="0"/>
          </a:xfrm>
          <a:prstGeom prst="line">
            <a:avLst/>
          </a:prstGeom>
          <a:ln>
            <a:solidFill>
              <a:schemeClr val="accent1">
                <a:lumMod val="5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385312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表紙1">
    <p:spTree>
      <p:nvGrpSpPr>
        <p:cNvPr id="1" name=""/>
        <p:cNvGrpSpPr/>
        <p:nvPr/>
      </p:nvGrpSpPr>
      <p:grpSpPr>
        <a:xfrm>
          <a:off x="0" y="0"/>
          <a:ext cx="0" cy="0"/>
          <a:chOff x="0" y="0"/>
          <a:chExt cx="0" cy="0"/>
        </a:xfrm>
      </p:grpSpPr>
      <p:pic>
        <p:nvPicPr>
          <p:cNvPr id="8" name="図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1611" y="202145"/>
            <a:ext cx="11658905" cy="944562"/>
          </a:xfrm>
          <a:prstGeom prst="rect">
            <a:avLst/>
          </a:prstGeom>
        </p:spPr>
      </p:pic>
      <p:sp>
        <p:nvSpPr>
          <p:cNvPr id="6" name="テキスト プレースホルダー 5"/>
          <p:cNvSpPr>
            <a:spLocks noGrp="1"/>
          </p:cNvSpPr>
          <p:nvPr>
            <p:ph type="body" sz="quarter" idx="10" hasCustomPrompt="1"/>
          </p:nvPr>
        </p:nvSpPr>
        <p:spPr>
          <a:xfrm>
            <a:off x="376465" y="5566335"/>
            <a:ext cx="3182798" cy="351288"/>
          </a:xfrm>
          <a:prstGeom prst="rect">
            <a:avLst/>
          </a:prstGeom>
        </p:spPr>
        <p:txBody>
          <a:bodyPr lIns="103903" tIns="51952" rIns="103903" bIns="51952" anchor="ctr"/>
          <a:lstStyle>
            <a:lvl1pPr marL="0" indent="0">
              <a:lnSpc>
                <a:spcPct val="100000"/>
              </a:lnSpc>
              <a:spcBef>
                <a:spcPts val="0"/>
              </a:spcBef>
              <a:buNone/>
              <a:defRPr sz="1300">
                <a:latin typeface="+mn-ea"/>
                <a:ea typeface="+mn-ea"/>
                <a:cs typeface="メイリオ" pitchFamily="50" charset="-128"/>
              </a:defRPr>
            </a:lvl1pPr>
          </a:lstStyle>
          <a:p>
            <a:pPr lvl="0"/>
            <a:r>
              <a:rPr kumimoji="1" lang="en-US" altLang="ja-JP"/>
              <a:t>2018.7.1</a:t>
            </a:r>
            <a:endParaRPr kumimoji="1" lang="ja-JP" altLang="en-US"/>
          </a:p>
        </p:txBody>
      </p:sp>
      <p:sp>
        <p:nvSpPr>
          <p:cNvPr id="16" name="タイトル 2"/>
          <p:cNvSpPr>
            <a:spLocks noGrp="1"/>
          </p:cNvSpPr>
          <p:nvPr>
            <p:ph type="title" hasCustomPrompt="1"/>
          </p:nvPr>
        </p:nvSpPr>
        <p:spPr>
          <a:xfrm>
            <a:off x="376466" y="2699387"/>
            <a:ext cx="11442242" cy="585575"/>
          </a:xfrm>
          <a:prstGeom prst="rect">
            <a:avLst/>
          </a:prstGeom>
        </p:spPr>
        <p:txBody>
          <a:bodyPr lIns="103903" tIns="51952" rIns="103903" bIns="51952"/>
          <a:lstStyle>
            <a:lvl1pPr>
              <a:lnSpc>
                <a:spcPct val="100000"/>
              </a:lnSpc>
              <a:spcBef>
                <a:spcPts val="0"/>
              </a:spcBef>
              <a:defRPr sz="3199" b="1" baseline="0">
                <a:solidFill>
                  <a:schemeClr val="tx1"/>
                </a:solidFill>
                <a:latin typeface="+mj-ea"/>
                <a:ea typeface="+mj-ea"/>
                <a:cs typeface="メイリオ" pitchFamily="50" charset="-128"/>
              </a:defRPr>
            </a:lvl1pPr>
          </a:lstStyle>
          <a:p>
            <a:r>
              <a:rPr kumimoji="1" lang="ja-JP" altLang="en-US"/>
              <a:t>表紙タイトル </a:t>
            </a:r>
            <a:r>
              <a:rPr kumimoji="1" lang="en-US" altLang="ja-JP"/>
              <a:t>32pt</a:t>
            </a:r>
            <a:endParaRPr kumimoji="1" lang="ja-JP" altLang="en-US"/>
          </a:p>
        </p:txBody>
      </p:sp>
      <p:sp>
        <p:nvSpPr>
          <p:cNvPr id="10" name="テキスト プレースホルダー 21">
            <a:extLst>
              <a:ext uri="{FF2B5EF4-FFF2-40B4-BE49-F238E27FC236}">
                <a16:creationId xmlns:a16="http://schemas.microsoft.com/office/drawing/2014/main" id="{A1B3CB4D-6995-4FBD-99A9-97EF83630755}"/>
              </a:ext>
            </a:extLst>
          </p:cNvPr>
          <p:cNvSpPr>
            <a:spLocks noGrp="1"/>
          </p:cNvSpPr>
          <p:nvPr>
            <p:ph type="body" sz="quarter" idx="14" hasCustomPrompt="1"/>
          </p:nvPr>
        </p:nvSpPr>
        <p:spPr>
          <a:xfrm>
            <a:off x="376466" y="3361113"/>
            <a:ext cx="11442242" cy="1676400"/>
          </a:xfrm>
          <a:prstGeom prst="rect">
            <a:avLst/>
          </a:prstGeom>
        </p:spPr>
        <p:txBody>
          <a:bodyPr lIns="103903" tIns="51952" rIns="103903" bIns="51952"/>
          <a:lstStyle>
            <a:lvl1pPr marL="0" marR="0" indent="0" algn="l" defTabSz="779119" rtl="0" eaLnBrk="1" fontAlgn="auto" latinLnBrk="0" hangingPunct="1">
              <a:lnSpc>
                <a:spcPct val="120000"/>
              </a:lnSpc>
              <a:spcBef>
                <a:spcPts val="0"/>
              </a:spcBef>
              <a:spcAft>
                <a:spcPts val="0"/>
              </a:spcAft>
              <a:buClrTx/>
              <a:buSzTx/>
              <a:buFont typeface="Arial" panose="020B0604020202020204" pitchFamily="34" charset="0"/>
              <a:buNone/>
              <a:tabLst/>
              <a:defRPr sz="1600" baseline="0">
                <a:solidFill>
                  <a:schemeClr val="tx1"/>
                </a:solidFill>
                <a:latin typeface="+mn-ea"/>
                <a:ea typeface="+mn-ea"/>
                <a:cs typeface="メイリオ" pitchFamily="50" charset="-128"/>
              </a:defRPr>
            </a:lvl1pPr>
          </a:lstStyle>
          <a:p>
            <a:pPr marL="0" marR="0" lvl="0" indent="0" algn="l" defTabSz="779119"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a:t>サブタイトル </a:t>
            </a:r>
            <a:r>
              <a:rPr kumimoji="1" lang="en-US" altLang="ja-JP"/>
              <a:t>16pt</a:t>
            </a:r>
            <a:r>
              <a:rPr kumimoji="1" lang="ja-JP" altLang="en-US"/>
              <a:t>　　　　　　　　　　　　　　　　　　　　　　　　　　　　　　　　　　　　　　　　　　　　　　●複数の会社名やロゴを記載するレイアウトはスライドマスターにあり　　　　　　　　　　　　　　　　　　　　　　　</a:t>
            </a:r>
          </a:p>
        </p:txBody>
      </p:sp>
      <p:pic>
        <p:nvPicPr>
          <p:cNvPr id="9" name="Picture 2" descr="\\S-server2-pc\l\1805_MHI_PPTテンプレート修正\FromDOS\180514\MHI_PPTテンプレート_0514\PPT用ロゴデータ_0514\三菱重工（念のため）\JP01\Fullcolor\Positive\MHI_JP01_FC_POS_RGB.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646626" y="6290712"/>
            <a:ext cx="1324764" cy="374657"/>
          </a:xfrm>
          <a:prstGeom prst="rect">
            <a:avLst/>
          </a:prstGeom>
          <a:noFill/>
          <a:extLst>
            <a:ext uri="{909E8E84-426E-40DD-AFC4-6F175D3DCCD1}">
              <a14:hiddenFill xmlns:a14="http://schemas.microsoft.com/office/drawing/2010/main">
                <a:solidFill>
                  <a:srgbClr val="FFFFFF"/>
                </a:solidFill>
              </a14:hiddenFill>
            </a:ext>
          </a:extLst>
        </p:spPr>
      </p:pic>
      <p:sp>
        <p:nvSpPr>
          <p:cNvPr id="11" name="日付プレースホルダー 32"/>
          <p:cNvSpPr txBox="1">
            <a:spLocks/>
          </p:cNvSpPr>
          <p:nvPr userDrawn="1"/>
        </p:nvSpPr>
        <p:spPr>
          <a:xfrm>
            <a:off x="261612" y="6370978"/>
            <a:ext cx="7203141" cy="365125"/>
          </a:xfrm>
          <a:prstGeom prst="rect">
            <a:avLst/>
          </a:prstGeom>
          <a:ln>
            <a:noFill/>
          </a:ln>
        </p:spPr>
        <p:txBody>
          <a:bodyPr vert="horz" wrap="square" lIns="0" tIns="51940" rIns="103879" bIns="5194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tx1"/>
                </a:solidFill>
                <a:latin typeface="+mn-lt"/>
              </a:rPr>
              <a:t>© MITSUBISHI HEAVY INDUSTRIES, LTD.  All Rights Reserved.</a:t>
            </a:r>
            <a:endParaRPr lang="ja-JP" altLang="en-US" sz="700">
              <a:solidFill>
                <a:schemeClr val="tx1"/>
              </a:solidFill>
              <a:latin typeface="+mn-lt"/>
            </a:endParaRPr>
          </a:p>
        </p:txBody>
      </p:sp>
    </p:spTree>
    <p:extLst>
      <p:ext uri="{BB962C8B-B14F-4D97-AF65-F5344CB8AC3E}">
        <p14:creationId xmlns:p14="http://schemas.microsoft.com/office/powerpoint/2010/main" val="249999634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カラーサンプル">
    <p:spTree>
      <p:nvGrpSpPr>
        <p:cNvPr id="1" name=""/>
        <p:cNvGrpSpPr/>
        <p:nvPr/>
      </p:nvGrpSpPr>
      <p:grpSpPr>
        <a:xfrm>
          <a:off x="0" y="0"/>
          <a:ext cx="0" cy="0"/>
          <a:chOff x="0" y="0"/>
          <a:chExt cx="0" cy="0"/>
        </a:xfrm>
      </p:grpSpPr>
      <p:pic>
        <p:nvPicPr>
          <p:cNvPr id="13" name="図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6349" y="6407265"/>
            <a:ext cx="11655183" cy="262024"/>
          </a:xfrm>
          <a:prstGeom prst="rect">
            <a:avLst/>
          </a:prstGeom>
        </p:spPr>
      </p:pic>
      <p:sp>
        <p:nvSpPr>
          <p:cNvPr id="4" name="日付プレースホルダー 32"/>
          <p:cNvSpPr txBox="1">
            <a:spLocks/>
          </p:cNvSpPr>
          <p:nvPr userDrawn="1"/>
        </p:nvSpPr>
        <p:spPr>
          <a:xfrm>
            <a:off x="412896" y="6357513"/>
            <a:ext cx="7203141" cy="365125"/>
          </a:xfrm>
          <a:prstGeom prst="rect">
            <a:avLst/>
          </a:prstGeom>
          <a:ln>
            <a:noFill/>
          </a:ln>
        </p:spPr>
        <p:txBody>
          <a:bodyPr vert="horz" wrap="square" lIns="0" tIns="51940" rIns="103879" bIns="5194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bg1"/>
                </a:solidFill>
                <a:latin typeface="+mn-lt"/>
              </a:rPr>
              <a:t>© MITSUBISHI HEAVY INDUSTRIES, LTD.  All Rights Reserved.</a:t>
            </a:r>
            <a:endParaRPr lang="ja-JP" altLang="en-US" sz="700">
              <a:solidFill>
                <a:schemeClr val="bg1"/>
              </a:solidFill>
              <a:latin typeface="+mn-lt"/>
            </a:endParaRPr>
          </a:p>
        </p:txBody>
      </p:sp>
      <p:sp>
        <p:nvSpPr>
          <p:cNvPr id="7" name="スライド番号プレースホルダー 5"/>
          <p:cNvSpPr txBox="1">
            <a:spLocks/>
          </p:cNvSpPr>
          <p:nvPr userDrawn="1"/>
        </p:nvSpPr>
        <p:spPr>
          <a:xfrm>
            <a:off x="11165417" y="6356608"/>
            <a:ext cx="694267" cy="365125"/>
          </a:xfrm>
          <a:prstGeom prst="rect">
            <a:avLst/>
          </a:prstGeom>
          <a:ln>
            <a:noFill/>
          </a:ln>
        </p:spPr>
        <p:txBody>
          <a:bodyPr vert="horz" wrap="square" lIns="103879" tIns="51940" rIns="103879" bIns="5194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smtClean="0">
                <a:latin typeface="Arial"/>
              </a:rPr>
              <a:pPr>
                <a:defRPr/>
              </a:pPr>
              <a:t>‹#›</a:t>
            </a:fld>
            <a:endParaRPr lang="en-US" altLang="ja-JP" sz="1000">
              <a:latin typeface="Arial"/>
            </a:endParaRPr>
          </a:p>
        </p:txBody>
      </p:sp>
      <p:cxnSp>
        <p:nvCxnSpPr>
          <p:cNvPr id="21" name="直線コネクタ 20"/>
          <p:cNvCxnSpPr/>
          <p:nvPr userDrawn="1"/>
        </p:nvCxnSpPr>
        <p:spPr>
          <a:xfrm>
            <a:off x="261916" y="564204"/>
            <a:ext cx="116596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2" name="Picture 2" descr="\\S-server2-pc\l\1805_MHI_PPTテンプレート修正\FromDOS\180514\MHI_PPTテンプレート_0514\PPT用ロゴデータ_0514\三菱重工（念のため）\JP01\Fullcolor\Positive\MHI_JP01_FC_POS_RGB.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674317" y="86739"/>
            <a:ext cx="1324764" cy="374657"/>
          </a:xfrm>
          <a:prstGeom prst="rect">
            <a:avLst/>
          </a:prstGeom>
          <a:noFill/>
          <a:extLst>
            <a:ext uri="{909E8E84-426E-40DD-AFC4-6F175D3DCCD1}">
              <a14:hiddenFill xmlns:a14="http://schemas.microsoft.com/office/drawing/2010/main">
                <a:solidFill>
                  <a:srgbClr val="FFFFFF"/>
                </a:solidFill>
              </a14:hiddenFill>
            </a:ext>
          </a:extLst>
        </p:spPr>
      </p:pic>
      <p:sp>
        <p:nvSpPr>
          <p:cNvPr id="10" name="タイトル 1"/>
          <p:cNvSpPr>
            <a:spLocks noGrp="1"/>
          </p:cNvSpPr>
          <p:nvPr>
            <p:ph type="title" hasCustomPrompt="1"/>
          </p:nvPr>
        </p:nvSpPr>
        <p:spPr>
          <a:xfrm>
            <a:off x="552523" y="128798"/>
            <a:ext cx="8708212" cy="349961"/>
          </a:xfrm>
          <a:prstGeom prst="rect">
            <a:avLst/>
          </a:prstGeom>
        </p:spPr>
        <p:txBody>
          <a:bodyPr lIns="103903" tIns="51952" rIns="103903" bIns="51952"/>
          <a:lstStyle>
            <a:lvl1pPr>
              <a:lnSpc>
                <a:spcPct val="100000"/>
              </a:lnSpc>
              <a:defRPr sz="2200" b="1">
                <a:latin typeface="+mj-ea"/>
                <a:ea typeface="+mj-ea"/>
                <a:cs typeface="メイリオ" pitchFamily="50" charset="-128"/>
              </a:defRPr>
            </a:lvl1pPr>
          </a:lstStyle>
          <a:p>
            <a:r>
              <a:rPr kumimoji="1" lang="ja-JP" altLang="en-US"/>
              <a:t>ページタイトル </a:t>
            </a:r>
            <a:r>
              <a:rPr kumimoji="1" lang="en-US" altLang="ja-JP"/>
              <a:t>22pt</a:t>
            </a:r>
            <a:endParaRPr kumimoji="1" lang="ja-JP" altLang="en-US"/>
          </a:p>
        </p:txBody>
      </p:sp>
      <p:sp>
        <p:nvSpPr>
          <p:cNvPr id="11" name="テキスト プレースホルダー 9"/>
          <p:cNvSpPr>
            <a:spLocks noGrp="1"/>
          </p:cNvSpPr>
          <p:nvPr>
            <p:ph type="body" sz="quarter" idx="10" hasCustomPrompt="1"/>
          </p:nvPr>
        </p:nvSpPr>
        <p:spPr>
          <a:xfrm>
            <a:off x="552523" y="797131"/>
            <a:ext cx="8707896" cy="652463"/>
          </a:xfrm>
          <a:prstGeom prst="rect">
            <a:avLst/>
          </a:prstGeom>
        </p:spPr>
        <p:txBody>
          <a:bodyPr lIns="103903" tIns="51952" rIns="103903" bIns="51952"/>
          <a:lstStyle>
            <a:lvl1pPr marL="0" marR="0" indent="0" algn="l" defTabSz="779119" rtl="0" eaLnBrk="1" fontAlgn="auto" latinLnBrk="0" hangingPunct="1">
              <a:lnSpc>
                <a:spcPct val="120000"/>
              </a:lnSpc>
              <a:spcBef>
                <a:spcPts val="852"/>
              </a:spcBef>
              <a:spcAft>
                <a:spcPts val="0"/>
              </a:spcAft>
              <a:buClrTx/>
              <a:buSzTx/>
              <a:buFont typeface="Arial" panose="020B0604020202020204" pitchFamily="34" charset="0"/>
              <a:buNone/>
              <a:tabLst/>
              <a:defRPr sz="1600">
                <a:latin typeface="+mn-ea"/>
                <a:ea typeface="+mn-ea"/>
                <a:cs typeface="メイリオ" pitchFamily="50" charset="-128"/>
              </a:defRPr>
            </a:lvl1pPr>
          </a:lstStyle>
          <a:p>
            <a:pPr marL="0" marR="0" lvl="0" indent="0" algn="l" defTabSz="779119" rtl="0" eaLnBrk="1" fontAlgn="auto" latinLnBrk="0" hangingPunct="1">
              <a:lnSpc>
                <a:spcPct val="120000"/>
              </a:lnSpc>
              <a:spcBef>
                <a:spcPts val="852"/>
              </a:spcBef>
              <a:spcAft>
                <a:spcPts val="0"/>
              </a:spcAft>
              <a:buClrTx/>
              <a:buSzTx/>
              <a:buFont typeface="Arial" panose="020B0604020202020204" pitchFamily="34" charset="0"/>
              <a:buNone/>
              <a:tabLst/>
              <a:defRPr/>
            </a:pPr>
            <a:r>
              <a:rPr kumimoji="1" lang="ja-JP" altLang="en-US"/>
              <a:t>テキスト </a:t>
            </a:r>
            <a:r>
              <a:rPr kumimoji="1" lang="en-US" altLang="ja-JP"/>
              <a:t>16pt</a:t>
            </a:r>
            <a:endParaRPr kumimoji="1" lang="ja-JP" altLang="en-US"/>
          </a:p>
        </p:txBody>
      </p:sp>
      <p:sp>
        <p:nvSpPr>
          <p:cNvPr id="14" name="テキスト プレースホルダー 18"/>
          <p:cNvSpPr>
            <a:spLocks noGrp="1"/>
          </p:cNvSpPr>
          <p:nvPr>
            <p:ph type="body" sz="quarter" idx="13" hasCustomPrompt="1"/>
          </p:nvPr>
        </p:nvSpPr>
        <p:spPr>
          <a:xfrm>
            <a:off x="552522" y="1525210"/>
            <a:ext cx="11106079" cy="838164"/>
          </a:xfrm>
          <a:prstGeom prst="rect">
            <a:avLst/>
          </a:prstGeom>
        </p:spPr>
        <p:txBody>
          <a:bodyPr lIns="103903" tIns="51952" rIns="103903" bIns="51952" numCol="2" spcCol="613602"/>
          <a:lstStyle>
            <a:lvl1pPr marL="0" indent="0">
              <a:lnSpc>
                <a:spcPct val="120000"/>
              </a:lnSpc>
              <a:spcBef>
                <a:spcPts val="852"/>
              </a:spcBef>
              <a:buNone/>
              <a:defRPr sz="1000">
                <a:latin typeface="+mn-ea"/>
                <a:ea typeface="+mn-ea"/>
                <a:cs typeface="メイリオ" pitchFamily="50" charset="-128"/>
              </a:defRPr>
            </a:lvl1pPr>
          </a:lstStyle>
          <a:p>
            <a:pPr lvl="0"/>
            <a:r>
              <a:rPr kumimoji="1" lang="ja-JP" altLang="en-US"/>
              <a:t>テキスト </a:t>
            </a:r>
            <a:r>
              <a:rPr kumimoji="1" lang="en-US" altLang="ja-JP"/>
              <a:t>10pt</a:t>
            </a:r>
            <a:endParaRPr kumimoji="1" lang="ja-JP" altLang="en-US"/>
          </a:p>
        </p:txBody>
      </p:sp>
    </p:spTree>
    <p:extLst>
      <p:ext uri="{BB962C8B-B14F-4D97-AF65-F5344CB8AC3E}">
        <p14:creationId xmlns:p14="http://schemas.microsoft.com/office/powerpoint/2010/main" val="208120485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タイトルと1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4" y="1038386"/>
            <a:ext cx="1144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D3BB6FD-8126-0BC5-CD78-240E479EB67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2013716213"/>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サブタイトル有">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400110"/>
          </a:xfrm>
        </p:spPr>
        <p:txBody>
          <a:bodyPr tIns="0" bIns="0">
            <a:spAutoFit/>
          </a:bodyPr>
          <a:lstStyle>
            <a:lvl1pPr>
              <a:defRPr sz="2600">
                <a:solidFill>
                  <a:schemeClr val="accent1"/>
                </a:solidFill>
              </a:defRPr>
            </a:lvl1pPr>
          </a:lstStyle>
          <a:p>
            <a:r>
              <a:rPr kumimoji="1" lang="ja-JP" altLang="en-US"/>
              <a:t>［タイトル］</a:t>
            </a:r>
          </a:p>
        </p:txBody>
      </p:sp>
      <p:sp>
        <p:nvSpPr>
          <p:cNvPr id="3" name="テキスト プレースホルダー 2">
            <a:extLst>
              <a:ext uri="{FF2B5EF4-FFF2-40B4-BE49-F238E27FC236}">
                <a16:creationId xmlns:a16="http://schemas.microsoft.com/office/drawing/2014/main" id="{922FFA65-3599-E725-9F45-9CF39BF996EE}"/>
              </a:ext>
            </a:extLst>
          </p:cNvPr>
          <p:cNvSpPr>
            <a:spLocks noGrp="1"/>
          </p:cNvSpPr>
          <p:nvPr>
            <p:ph type="body" sz="quarter" idx="10" hasCustomPrompt="1"/>
          </p:nvPr>
        </p:nvSpPr>
        <p:spPr>
          <a:xfrm>
            <a:off x="371474" y="727200"/>
            <a:ext cx="11448000" cy="288000"/>
          </a:xfrm>
        </p:spPr>
        <p:txBody>
          <a:bodyPr>
            <a:noAutofit/>
          </a:bodyPr>
          <a:lstStyle>
            <a:lvl1pPr>
              <a:defRPr b="1">
                <a:solidFill>
                  <a:schemeClr val="accent2"/>
                </a:solidFill>
              </a:defRPr>
            </a:lvl1pPr>
          </a:lstStyle>
          <a:p>
            <a:pPr lvl="0"/>
            <a:r>
              <a:rPr kumimoji="1" lang="ja-JP" altLang="en-US"/>
              <a:t>［サブタイトル］</a:t>
            </a:r>
          </a:p>
        </p:txBody>
      </p:sp>
      <p:sp>
        <p:nvSpPr>
          <p:cNvPr id="4" name="コンテンツ プレースホルダー 4">
            <a:extLst>
              <a:ext uri="{FF2B5EF4-FFF2-40B4-BE49-F238E27FC236}">
                <a16:creationId xmlns:a16="http://schemas.microsoft.com/office/drawing/2014/main" id="{FE40B33C-3077-F325-8EA7-EEDBA1AD5E20}"/>
              </a:ext>
            </a:extLst>
          </p:cNvPr>
          <p:cNvSpPr>
            <a:spLocks noGrp="1"/>
          </p:cNvSpPr>
          <p:nvPr>
            <p:ph sz="quarter" idx="11"/>
          </p:nvPr>
        </p:nvSpPr>
        <p:spPr>
          <a:xfrm>
            <a:off x="371474" y="1411200"/>
            <a:ext cx="11448000" cy="4824000"/>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ボックス 4">
            <a:extLst>
              <a:ext uri="{FF2B5EF4-FFF2-40B4-BE49-F238E27FC236}">
                <a16:creationId xmlns:a16="http://schemas.microsoft.com/office/drawing/2014/main" id="{0A1A7CDA-C0AA-A8AC-8808-09E8B9AA91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18176223"/>
      </p:ext>
    </p:extLst>
  </p:cSld>
  <p:clrMapOvr>
    <a:masterClrMapping/>
  </p:clrMapOvr>
  <p:extLst>
    <p:ext uri="{DCECCB84-F9BA-43D5-87BE-67443E8EF086}">
      <p15:sldGuideLst xmlns:p15="http://schemas.microsoft.com/office/powerpoint/2012/main">
        <p15:guide id="1" orient="horz" pos="89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userDrawn="1">
  <p:cSld name="3-2_タイトルとコンテンツ_アウトライン無">
    <p:spTree>
      <p:nvGrpSpPr>
        <p:cNvPr id="1" name=""/>
        <p:cNvGrpSpPr/>
        <p:nvPr/>
      </p:nvGrpSpPr>
      <p:grpSpPr>
        <a:xfrm>
          <a:off x="0" y="0"/>
          <a:ext cx="0" cy="0"/>
          <a:chOff x="0" y="0"/>
          <a:chExt cx="0" cy="0"/>
        </a:xfrm>
      </p:grpSpPr>
      <p:sp>
        <p:nvSpPr>
          <p:cNvPr id="7" name="Rectangle 8"/>
          <p:cNvSpPr>
            <a:spLocks noGrp="1" noChangeArrowheads="1"/>
          </p:cNvSpPr>
          <p:nvPr>
            <p:ph type="title"/>
          </p:nvPr>
        </p:nvSpPr>
        <p:spPr bwMode="auto">
          <a:xfrm>
            <a:off x="443080" y="0"/>
            <a:ext cx="10084673"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defRPr baseline="0">
                <a:solidFill>
                  <a:schemeClr val="tx1"/>
                </a:solidFill>
                <a:latin typeface="Meiryo UI" panose="020B0604030504040204" pitchFamily="50" charset="-128"/>
                <a:ea typeface="Meiryo UI" panose="020B0604030504040204" pitchFamily="50" charset="-128"/>
              </a:defRPr>
            </a:lvl1pPr>
          </a:lstStyle>
          <a:p>
            <a:pPr lvl="0"/>
            <a:r>
              <a:rPr lang="ja-JP" altLang="en-US" dirty="0"/>
              <a:t>マスタ</a:t>
            </a:r>
            <a:r>
              <a:rPr lang="en-US" altLang="ja-JP" dirty="0"/>
              <a:t> </a:t>
            </a:r>
            <a:r>
              <a:rPr lang="ja-JP" altLang="en-US" dirty="0"/>
              <a:t>タイトルの書式設定</a:t>
            </a:r>
          </a:p>
        </p:txBody>
      </p:sp>
      <p:sp>
        <p:nvSpPr>
          <p:cNvPr id="10" name="テキスト プレースホルダー 12"/>
          <p:cNvSpPr>
            <a:spLocks noGrp="1"/>
          </p:cNvSpPr>
          <p:nvPr>
            <p:ph type="body" sz="quarter" idx="10"/>
          </p:nvPr>
        </p:nvSpPr>
        <p:spPr>
          <a:xfrm>
            <a:off x="443077" y="1015200"/>
            <a:ext cx="11324938" cy="5356800"/>
          </a:xfrm>
          <a:prstGeom prst="rect">
            <a:avLst/>
          </a:prstGeom>
        </p:spPr>
        <p:txBody>
          <a:bodyPr/>
          <a:lstStyle>
            <a:lvl1pPr marL="0" indent="0">
              <a:buClr>
                <a:schemeClr val="accent1"/>
              </a:buClr>
              <a:buFont typeface="Wingdings" panose="05000000000000000000" pitchFamily="2" charset="2"/>
              <a:buNone/>
              <a:defRPr sz="1600" baseline="0">
                <a:solidFill>
                  <a:schemeClr val="tx1"/>
                </a:solidFill>
                <a:latin typeface="Meiryo UI" panose="020B0604030504040204" pitchFamily="50" charset="-128"/>
                <a:ea typeface="Meiryo UI" panose="020B0604030504040204" pitchFamily="50" charset="-128"/>
              </a:defRPr>
            </a:lvl1pPr>
            <a:lvl2pPr marL="742987" indent="-285764">
              <a:buFont typeface="Wingdings" panose="05000000000000000000" pitchFamily="2" charset="2"/>
              <a:buChar char="n"/>
              <a:defRPr sz="1600">
                <a:solidFill>
                  <a:schemeClr val="tx1"/>
                </a:solidFill>
                <a:latin typeface="游ゴシック" panose="020B0400000000000000" pitchFamily="50" charset="-128"/>
                <a:ea typeface="游ゴシック" panose="020B0400000000000000" pitchFamily="50" charset="-128"/>
              </a:defRPr>
            </a:lvl2pPr>
            <a:lvl3pPr marL="1143057" indent="-228612">
              <a:buFont typeface="Wingdings" panose="05000000000000000000" pitchFamily="2" charset="2"/>
              <a:buChar char="n"/>
              <a:defRPr sz="1400">
                <a:solidFill>
                  <a:schemeClr val="tx1"/>
                </a:solidFill>
                <a:latin typeface="游ゴシック" panose="020B0400000000000000" pitchFamily="50" charset="-128"/>
                <a:ea typeface="游ゴシック" panose="020B0400000000000000" pitchFamily="50" charset="-128"/>
              </a:defRPr>
            </a:lvl3pPr>
            <a:lvl4pPr marL="1543128" indent="-171459">
              <a:buFont typeface="Wingdings" panose="05000000000000000000" pitchFamily="2" charset="2"/>
              <a:buChar char="n"/>
              <a:defRPr sz="1200">
                <a:solidFill>
                  <a:schemeClr val="tx1"/>
                </a:solidFill>
              </a:defRPr>
            </a:lvl4pPr>
            <a:lvl5pPr marL="2000350" indent="-171459">
              <a:buFont typeface="Wingdings" panose="05000000000000000000" pitchFamily="2" charset="2"/>
              <a:buChar char="n"/>
              <a:defRPr sz="1000">
                <a:solidFill>
                  <a:schemeClr val="tx1"/>
                </a:solidFill>
              </a:defRPr>
            </a:lvl5pPr>
          </a:lstStyle>
          <a:p>
            <a:pPr lvl="0"/>
            <a:endParaRPr kumimoji="1" lang="en-GB" dirty="0"/>
          </a:p>
        </p:txBody>
      </p:sp>
      <p:sp>
        <p:nvSpPr>
          <p:cNvPr id="18" name="Rectangle 2"/>
          <p:cNvSpPr>
            <a:spLocks noChangeArrowheads="1"/>
          </p:cNvSpPr>
          <p:nvPr userDrawn="1"/>
        </p:nvSpPr>
        <p:spPr bwMode="auto">
          <a:xfrm>
            <a:off x="0" y="6553200"/>
            <a:ext cx="1219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nchor="ctr"/>
          <a:lstStyle>
            <a:lvl1pPr eaLnBrk="0" hangingPunct="0">
              <a:defRPr kumimoji="1" sz="2400">
                <a:solidFill>
                  <a:schemeClr val="tx1"/>
                </a:solidFill>
                <a:latin typeface="Arial" charset="0"/>
                <a:ea typeface="ＭＳ Ｐゴシック" pitchFamily="50" charset="-128"/>
              </a:defRPr>
            </a:lvl1pPr>
            <a:lvl2pPr marL="742950" indent="-285750" eaLnBrk="0" hangingPunct="0">
              <a:defRPr kumimoji="1" sz="2400">
                <a:solidFill>
                  <a:schemeClr val="tx1"/>
                </a:solidFill>
                <a:latin typeface="Arial" charset="0"/>
                <a:ea typeface="ＭＳ Ｐゴシック" pitchFamily="50" charset="-128"/>
              </a:defRPr>
            </a:lvl2pPr>
            <a:lvl3pPr marL="1143000" indent="-228600" eaLnBrk="0" hangingPunct="0">
              <a:defRPr kumimoji="1" sz="2400">
                <a:solidFill>
                  <a:schemeClr val="tx1"/>
                </a:solidFill>
                <a:latin typeface="Arial" charset="0"/>
                <a:ea typeface="ＭＳ Ｐゴシック" pitchFamily="50" charset="-128"/>
              </a:defRPr>
            </a:lvl3pPr>
            <a:lvl4pPr marL="1600200" indent="-228600" eaLnBrk="0" hangingPunct="0">
              <a:defRPr kumimoji="1" sz="2400">
                <a:solidFill>
                  <a:schemeClr val="tx1"/>
                </a:solidFill>
                <a:latin typeface="Arial" charset="0"/>
                <a:ea typeface="ＭＳ Ｐゴシック" pitchFamily="50" charset="-128"/>
              </a:defRPr>
            </a:lvl4pPr>
            <a:lvl5pPr marL="2057400" indent="-228600" eaLnBrk="0" hangingPunct="0">
              <a:defRPr kumimoji="1" sz="2400">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Arial" charset="0"/>
                <a:ea typeface="ＭＳ Ｐゴシック" pitchFamily="50" charset="-128"/>
              </a:defRPr>
            </a:lvl9pPr>
          </a:lstStyle>
          <a:p>
            <a:pPr algn="ctr" eaLnBrk="1" hangingPunct="1">
              <a:defRPr/>
            </a:pPr>
            <a:endParaRPr lang="ja-JP" altLang="en-US" sz="2400"/>
          </a:p>
        </p:txBody>
      </p:sp>
      <p:pic>
        <p:nvPicPr>
          <p:cNvPr id="20" name="Picture 24">
            <a:extLst>
              <a:ext uri="{FF2B5EF4-FFF2-40B4-BE49-F238E27FC236}">
                <a16:creationId xmlns:a16="http://schemas.microsoft.com/office/drawing/2014/main" id="{E6473067-3548-4731-AB8C-455CBE241D66}"/>
              </a:ext>
            </a:extLst>
          </p:cNvPr>
          <p:cNvPicPr>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772398"/>
            <a:ext cx="9792000" cy="3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正方形/長方形 21">
            <a:extLst>
              <a:ext uri="{FF2B5EF4-FFF2-40B4-BE49-F238E27FC236}">
                <a16:creationId xmlns:a16="http://schemas.microsoft.com/office/drawing/2014/main" id="{CB91900F-0D98-44AD-AC04-60BEFC23AB32}"/>
              </a:ext>
            </a:extLst>
          </p:cNvPr>
          <p:cNvSpPr/>
          <p:nvPr userDrawn="1"/>
        </p:nvSpPr>
        <p:spPr>
          <a:xfrm>
            <a:off x="0" y="6642000"/>
            <a:ext cx="12193477" cy="216000"/>
          </a:xfrm>
          <a:prstGeom prst="rect">
            <a:avLst/>
          </a:prstGeom>
          <a:solidFill>
            <a:srgbClr val="824BB0"/>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defRPr/>
            </a:pPr>
            <a:endParaRPr lang="ja-JP" altLang="en-US" sz="2400" dirty="0"/>
          </a:p>
        </p:txBody>
      </p:sp>
      <p:sp>
        <p:nvSpPr>
          <p:cNvPr id="23" name="Text Box 6">
            <a:extLst>
              <a:ext uri="{FF2B5EF4-FFF2-40B4-BE49-F238E27FC236}">
                <a16:creationId xmlns:a16="http://schemas.microsoft.com/office/drawing/2014/main" id="{2A6DD924-7E88-49F3-A6C6-B87744B18750}"/>
              </a:ext>
            </a:extLst>
          </p:cNvPr>
          <p:cNvSpPr txBox="1">
            <a:spLocks noChangeArrowheads="1"/>
          </p:cNvSpPr>
          <p:nvPr userDrawn="1"/>
        </p:nvSpPr>
        <p:spPr bwMode="gray">
          <a:xfrm>
            <a:off x="11443679" y="6642000"/>
            <a:ext cx="685799" cy="2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3" tIns="45712" rIns="91423" bIns="45712" anchor="ctr"/>
          <a:lstStyle>
            <a:lvl1pPr>
              <a:defRPr kumimoji="1" sz="2400">
                <a:solidFill>
                  <a:schemeClr val="tx1"/>
                </a:solidFill>
                <a:latin typeface="Arial" panose="020B0604020202020204" pitchFamily="34" charset="0"/>
                <a:ea typeface="ＭＳ Ｐゴシック" panose="020B0600070205080204" pitchFamily="50" charset="-128"/>
              </a:defRPr>
            </a:lvl1pPr>
            <a:lvl2pPr marL="742950" indent="-285750">
              <a:defRPr kumimoji="1" sz="2400">
                <a:solidFill>
                  <a:schemeClr val="tx1"/>
                </a:solidFill>
                <a:latin typeface="Arial" panose="020B0604020202020204" pitchFamily="34" charset="0"/>
                <a:ea typeface="ＭＳ Ｐゴシック" panose="020B0600070205080204" pitchFamily="50" charset="-128"/>
              </a:defRPr>
            </a:lvl2pPr>
            <a:lvl3pPr marL="1143000" indent="-228600">
              <a:defRPr kumimoji="1" sz="2400">
                <a:solidFill>
                  <a:schemeClr val="tx1"/>
                </a:solidFill>
                <a:latin typeface="Arial" panose="020B0604020202020204" pitchFamily="34" charset="0"/>
                <a:ea typeface="ＭＳ Ｐゴシック" panose="020B0600070205080204" pitchFamily="50" charset="-128"/>
              </a:defRPr>
            </a:lvl3pPr>
            <a:lvl4pPr marL="1600200" indent="-228600">
              <a:defRPr kumimoji="1" sz="2400">
                <a:solidFill>
                  <a:schemeClr val="tx1"/>
                </a:solidFill>
                <a:latin typeface="Arial" panose="020B0604020202020204" pitchFamily="34" charset="0"/>
                <a:ea typeface="ＭＳ Ｐゴシック" panose="020B0600070205080204" pitchFamily="50" charset="-128"/>
              </a:defRPr>
            </a:lvl4pPr>
            <a:lvl5pPr marL="2057400" indent="-228600">
              <a:defRPr kumimoji="1" sz="24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9pPr>
          </a:lstStyle>
          <a:p>
            <a:pPr algn="r">
              <a:defRPr/>
            </a:pPr>
            <a:fld id="{7BA39346-5418-4557-88DC-5BA1990113E6}" type="slidenum">
              <a:rPr kumimoji="0" lang="en-US" altLang="ja-JP" sz="1000" smtClean="0">
                <a:solidFill>
                  <a:schemeClr val="bg1"/>
                </a:solidFill>
                <a:latin typeface="Meiryo UI" panose="020B0604030504040204" pitchFamily="50" charset="-128"/>
                <a:ea typeface="Meiryo UI" panose="020B0604030504040204" pitchFamily="50" charset="-128"/>
              </a:rPr>
              <a:pPr algn="r">
                <a:defRPr/>
              </a:pPr>
              <a:t>‹#›</a:t>
            </a:fld>
            <a:endParaRPr kumimoji="0" lang="en-US" altLang="ja-JP" sz="1400" b="1" dirty="0">
              <a:solidFill>
                <a:schemeClr val="bg1"/>
              </a:solidFill>
              <a:latin typeface="Meiryo UI" panose="020B0604030504040204" pitchFamily="50" charset="-128"/>
              <a:ea typeface="Meiryo UI" panose="020B0604030504040204" pitchFamily="50" charset="-128"/>
            </a:endParaRPr>
          </a:p>
        </p:txBody>
      </p:sp>
      <p:sp>
        <p:nvSpPr>
          <p:cNvPr id="24" name="テキスト ボックス 23">
            <a:extLst>
              <a:ext uri="{FF2B5EF4-FFF2-40B4-BE49-F238E27FC236}">
                <a16:creationId xmlns:a16="http://schemas.microsoft.com/office/drawing/2014/main" id="{A2CAA65C-A983-4121-BE56-71844B616AFA}"/>
              </a:ext>
            </a:extLst>
          </p:cNvPr>
          <p:cNvSpPr txBox="1"/>
          <p:nvPr userDrawn="1"/>
        </p:nvSpPr>
        <p:spPr bwMode="auto">
          <a:xfrm>
            <a:off x="0" y="6642000"/>
            <a:ext cx="3223648" cy="2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nchor="ctr">
            <a:noAutofit/>
          </a:bodyPr>
          <a:lstStyle/>
          <a:p>
            <a:pPr eaLnBrk="1" hangingPunct="1">
              <a:spcBef>
                <a:spcPct val="50000"/>
              </a:spcBef>
            </a:pPr>
            <a:r>
              <a:rPr kumimoji="1" lang="en-US" altLang="ja-JP" sz="800" dirty="0">
                <a:solidFill>
                  <a:schemeClr val="bg1"/>
                </a:solidFill>
                <a:latin typeface="Meiryo UI" panose="020B0604030504040204" pitchFamily="50" charset="-128"/>
                <a:ea typeface="Meiryo UI" panose="020B0604030504040204" pitchFamily="50" charset="-128"/>
                <a:cs typeface="Arial" panose="020B0604020202020204" pitchFamily="34" charset="0"/>
              </a:rPr>
              <a:t>© 2023  QUNIE CORPORATION</a:t>
            </a:r>
            <a:endParaRPr kumimoji="1" lang="ja-JP" altLang="en-US" sz="800" dirty="0">
              <a:solidFill>
                <a:schemeClr val="bg1"/>
              </a:solidFill>
              <a:latin typeface="Meiryo UI" panose="020B0604030504040204" pitchFamily="50" charset="-128"/>
              <a:ea typeface="Meiryo UI" panose="020B0604030504040204" pitchFamily="50" charset="-128"/>
              <a:cs typeface="Arial" panose="020B0604020202020204" pitchFamily="34" charset="0"/>
            </a:endParaRPr>
          </a:p>
        </p:txBody>
      </p:sp>
      <p:pic>
        <p:nvPicPr>
          <p:cNvPr id="11" name="図 10">
            <a:extLst>
              <a:ext uri="{FF2B5EF4-FFF2-40B4-BE49-F238E27FC236}">
                <a16:creationId xmlns:a16="http://schemas.microsoft.com/office/drawing/2014/main" id="{0EDA1F72-6E1F-4C1B-82AE-32FF677AF28F}"/>
              </a:ext>
            </a:extLst>
          </p:cNvPr>
          <p:cNvPicPr>
            <a:picLocks noChangeAspect="1"/>
          </p:cNvPicPr>
          <p:nvPr userDrawn="1"/>
        </p:nvPicPr>
        <p:blipFill>
          <a:blip r:embed="rId3"/>
          <a:stretch>
            <a:fillRect/>
          </a:stretch>
        </p:blipFill>
        <p:spPr>
          <a:xfrm>
            <a:off x="10779390" y="0"/>
            <a:ext cx="1412614" cy="810000"/>
          </a:xfrm>
          <a:prstGeom prst="rect">
            <a:avLst/>
          </a:prstGeom>
        </p:spPr>
      </p:pic>
    </p:spTree>
    <p:extLst>
      <p:ext uri="{BB962C8B-B14F-4D97-AF65-F5344CB8AC3E}">
        <p14:creationId xmlns:p14="http://schemas.microsoft.com/office/powerpoint/2010/main" val="8792662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30C47BE-A8A0-A19F-F7A7-A888F6075CAE}"/>
              </a:ext>
            </a:extLst>
          </p:cNvPr>
          <p:cNvSpPr>
            <a:spLocks noGrp="1"/>
          </p:cNvSpPr>
          <p:nvPr>
            <p:ph type="dt" sz="half" idx="10"/>
          </p:nvPr>
        </p:nvSpPr>
        <p:spPr/>
        <p:txBody>
          <a:bodyPr/>
          <a:lstStyle/>
          <a:p>
            <a:fld id="{18F2F17A-996D-49AA-8235-D9D67C0544BC}" type="datetimeFigureOut">
              <a:rPr kumimoji="1" lang="ja-JP" altLang="en-US" smtClean="0"/>
              <a:t>2024/4/12</a:t>
            </a:fld>
            <a:endParaRPr kumimoji="1" lang="ja-JP" altLang="en-US"/>
          </a:p>
        </p:txBody>
      </p:sp>
      <p:sp>
        <p:nvSpPr>
          <p:cNvPr id="3" name="フッター プレースホルダー 2">
            <a:extLst>
              <a:ext uri="{FF2B5EF4-FFF2-40B4-BE49-F238E27FC236}">
                <a16:creationId xmlns:a16="http://schemas.microsoft.com/office/drawing/2014/main" id="{E783EAFF-0E88-E336-5431-23ACBE20B01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4A93280-C1DD-498E-2D01-323D54182F29}"/>
              </a:ext>
            </a:extLst>
          </p:cNvPr>
          <p:cNvSpPr>
            <a:spLocks noGrp="1"/>
          </p:cNvSpPr>
          <p:nvPr>
            <p:ph type="sldNum" sz="quarter" idx="12"/>
          </p:nvPr>
        </p:nvSpPr>
        <p:spPr/>
        <p:txBody>
          <a:bodyPr/>
          <a:lstStyle/>
          <a:p>
            <a:fld id="{39259FEB-CF19-4D7B-98DF-6A2B66B0321E}" type="slidenum">
              <a:rPr kumimoji="1" lang="ja-JP" altLang="en-US" smtClean="0"/>
              <a:t>‹#›</a:t>
            </a:fld>
            <a:endParaRPr kumimoji="1" lang="ja-JP" altLang="en-US"/>
          </a:p>
        </p:txBody>
      </p:sp>
    </p:spTree>
    <p:extLst>
      <p:ext uri="{BB962C8B-B14F-4D97-AF65-F5344CB8AC3E}">
        <p14:creationId xmlns:p14="http://schemas.microsoft.com/office/powerpoint/2010/main" val="90942255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表紙1">
    <p:spTree>
      <p:nvGrpSpPr>
        <p:cNvPr id="1" name=""/>
        <p:cNvGrpSpPr/>
        <p:nvPr/>
      </p:nvGrpSpPr>
      <p:grpSpPr>
        <a:xfrm>
          <a:off x="0" y="0"/>
          <a:ext cx="0" cy="0"/>
          <a:chOff x="0" y="0"/>
          <a:chExt cx="0" cy="0"/>
        </a:xfrm>
      </p:grpSpPr>
      <p:sp>
        <p:nvSpPr>
          <p:cNvPr id="6" name="テキスト プレースホルダー 5"/>
          <p:cNvSpPr>
            <a:spLocks noGrp="1"/>
          </p:cNvSpPr>
          <p:nvPr>
            <p:ph type="body" sz="quarter" idx="10" hasCustomPrompt="1"/>
          </p:nvPr>
        </p:nvSpPr>
        <p:spPr>
          <a:xfrm>
            <a:off x="411634" y="5566335"/>
            <a:ext cx="3182799" cy="351288"/>
          </a:xfrm>
          <a:prstGeom prst="rect">
            <a:avLst/>
          </a:prstGeom>
        </p:spPr>
        <p:txBody>
          <a:bodyPr anchor="ctr"/>
          <a:lstStyle>
            <a:lvl1pPr marL="0" indent="0">
              <a:lnSpc>
                <a:spcPct val="100000"/>
              </a:lnSpc>
              <a:spcBef>
                <a:spcPts val="0"/>
              </a:spcBef>
              <a:buNone/>
              <a:defRPr sz="1300">
                <a:latin typeface="+mn-ea"/>
                <a:ea typeface="+mn-ea"/>
                <a:cs typeface="メイリオ" pitchFamily="50" charset="-128"/>
              </a:defRPr>
            </a:lvl1pPr>
          </a:lstStyle>
          <a:p>
            <a:pPr lvl="0"/>
            <a:r>
              <a:rPr kumimoji="1" lang="en-US" altLang="ja-JP" dirty="0"/>
              <a:t>0000/00/00</a:t>
            </a:r>
            <a:endParaRPr kumimoji="1" lang="ja-JP" altLang="en-US" dirty="0"/>
          </a:p>
        </p:txBody>
      </p:sp>
      <p:sp>
        <p:nvSpPr>
          <p:cNvPr id="16" name="タイトル 2"/>
          <p:cNvSpPr>
            <a:spLocks noGrp="1"/>
          </p:cNvSpPr>
          <p:nvPr>
            <p:ph type="title" hasCustomPrompt="1"/>
          </p:nvPr>
        </p:nvSpPr>
        <p:spPr>
          <a:xfrm>
            <a:off x="411634" y="2699386"/>
            <a:ext cx="11375965" cy="585575"/>
          </a:xfrm>
          <a:prstGeom prst="rect">
            <a:avLst/>
          </a:prstGeom>
        </p:spPr>
        <p:txBody>
          <a:bodyPr/>
          <a:lstStyle>
            <a:lvl1pPr>
              <a:lnSpc>
                <a:spcPct val="100000"/>
              </a:lnSpc>
              <a:spcBef>
                <a:spcPts val="0"/>
              </a:spcBef>
              <a:defRPr sz="3200" b="1" baseline="0">
                <a:solidFill>
                  <a:schemeClr val="tx1"/>
                </a:solidFill>
                <a:latin typeface="+mj-ea"/>
                <a:ea typeface="+mj-ea"/>
                <a:cs typeface="メイリオ" pitchFamily="50" charset="-128"/>
              </a:defRPr>
            </a:lvl1pPr>
          </a:lstStyle>
          <a:p>
            <a:r>
              <a:rPr kumimoji="1" lang="ja-JP" altLang="en-US" dirty="0"/>
              <a:t>表紙タイトル </a:t>
            </a:r>
            <a:r>
              <a:rPr kumimoji="1" lang="en-US" altLang="ja-JP" dirty="0"/>
              <a:t>32pt</a:t>
            </a:r>
            <a:endParaRPr kumimoji="1" lang="ja-JP" altLang="en-US" dirty="0"/>
          </a:p>
        </p:txBody>
      </p:sp>
      <p:sp>
        <p:nvSpPr>
          <p:cNvPr id="18" name="テキスト ボックス 17"/>
          <p:cNvSpPr txBox="1"/>
          <p:nvPr userDrawn="1"/>
        </p:nvSpPr>
        <p:spPr>
          <a:xfrm>
            <a:off x="404401" y="5920205"/>
            <a:ext cx="5758567" cy="292388"/>
          </a:xfrm>
          <a:prstGeom prst="rect">
            <a:avLst/>
          </a:prstGeom>
          <a:noFill/>
        </p:spPr>
        <p:txBody>
          <a:bodyPr wrap="square" rtlCol="0" anchor="t">
            <a:spAutoFit/>
          </a:bodyPr>
          <a:lstStyle/>
          <a:p>
            <a:pPr>
              <a:spcBef>
                <a:spcPts val="0"/>
              </a:spcBef>
              <a:spcAft>
                <a:spcPts val="600"/>
              </a:spcAft>
            </a:pPr>
            <a:r>
              <a:rPr kumimoji="1" lang="ja-JP" altLang="en-US" sz="1300" b="1" dirty="0">
                <a:solidFill>
                  <a:schemeClr val="tx1"/>
                </a:solidFill>
                <a:latin typeface="+mn-ea"/>
                <a:ea typeface="+mn-ea"/>
                <a:cs typeface="メイリオ" pitchFamily="50" charset="-128"/>
              </a:rPr>
              <a:t>三菱重工業株式会社</a:t>
            </a:r>
          </a:p>
        </p:txBody>
      </p:sp>
      <p:pic>
        <p:nvPicPr>
          <p:cNvPr id="11" name="図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1916" y="201827"/>
            <a:ext cx="11659616" cy="944880"/>
          </a:xfrm>
          <a:prstGeom prst="rect">
            <a:avLst/>
          </a:prstGeom>
        </p:spPr>
      </p:pic>
      <p:sp>
        <p:nvSpPr>
          <p:cNvPr id="10" name="テキスト プレースホルダー 21">
            <a:extLst>
              <a:ext uri="{FF2B5EF4-FFF2-40B4-BE49-F238E27FC236}">
                <a16:creationId xmlns:a16="http://schemas.microsoft.com/office/drawing/2014/main" id="{A1B3CB4D-6995-4FBD-99A9-97EF83630755}"/>
              </a:ext>
            </a:extLst>
          </p:cNvPr>
          <p:cNvSpPr>
            <a:spLocks noGrp="1"/>
          </p:cNvSpPr>
          <p:nvPr>
            <p:ph type="body" sz="quarter" idx="14" hasCustomPrompt="1"/>
          </p:nvPr>
        </p:nvSpPr>
        <p:spPr>
          <a:xfrm>
            <a:off x="411634" y="3361113"/>
            <a:ext cx="11375965" cy="1676400"/>
          </a:xfrm>
          <a:prstGeom prst="rect">
            <a:avLst/>
          </a:prstGeom>
        </p:spPr>
        <p:txBody>
          <a:bodyPr/>
          <a:lstStyle>
            <a:lvl1pPr marL="0" marR="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sz="1600" baseline="0">
                <a:solidFill>
                  <a:schemeClr val="tx1"/>
                </a:solidFill>
                <a:latin typeface="+mn-ea"/>
                <a:ea typeface="+mn-ea"/>
                <a:cs typeface="メイリオ" pitchFamily="50" charset="-128"/>
              </a:defRPr>
            </a:lvl1pPr>
          </a:lstStyle>
          <a:p>
            <a:pPr marL="0" marR="0" lvl="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dirty="0"/>
              <a:t>サブタイトル </a:t>
            </a:r>
            <a:r>
              <a:rPr kumimoji="1" lang="en-US" altLang="ja-JP" dirty="0"/>
              <a:t>16pt</a:t>
            </a:r>
            <a:r>
              <a:rPr kumimoji="1" lang="ja-JP" altLang="en-US" dirty="0"/>
              <a:t>　　　　　　　　　　　　　　　　　　　　　　　　　　　　　　　　●複数の会社名やロゴを記載するレイアウトはスライドマスターにあり                          ●写真付きの表紙レイアウト（</a:t>
            </a:r>
            <a:r>
              <a:rPr kumimoji="1" lang="en-US" altLang="ja-JP" dirty="0"/>
              <a:t>2</a:t>
            </a:r>
            <a:r>
              <a:rPr kumimoji="1" lang="ja-JP" altLang="en-US" dirty="0"/>
              <a:t>種）はスライドマスターにあり                                   </a:t>
            </a:r>
            <a:r>
              <a:rPr kumimoji="1" lang="en-US" altLang="ja-JP" dirty="0"/>
              <a:t>※</a:t>
            </a:r>
            <a:r>
              <a:rPr kumimoji="1" lang="ja-JP" altLang="en-US" dirty="0"/>
              <a:t>スライドマスターの変更は別紙「スライドマスター操作ガイド」をご参照ください</a:t>
            </a:r>
          </a:p>
        </p:txBody>
      </p:sp>
      <p:sp>
        <p:nvSpPr>
          <p:cNvPr id="9" name="日付プレースホルダー 32"/>
          <p:cNvSpPr txBox="1">
            <a:spLocks/>
          </p:cNvSpPr>
          <p:nvPr userDrawn="1"/>
        </p:nvSpPr>
        <p:spPr>
          <a:xfrm>
            <a:off x="261916" y="6370975"/>
            <a:ext cx="7203141"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dirty="0">
                <a:solidFill>
                  <a:schemeClr val="tx1"/>
                </a:solidFill>
                <a:latin typeface="+mn-lt"/>
              </a:rPr>
              <a:t>© Mitsubishi Heavy Industries, Ltd.  All Rights Reserved.</a:t>
            </a:r>
            <a:endParaRPr lang="ja-JP" altLang="en-US" sz="700" dirty="0">
              <a:solidFill>
                <a:schemeClr val="tx1"/>
              </a:solidFill>
              <a:latin typeface="+mn-lt"/>
            </a:endParaRPr>
          </a:p>
        </p:txBody>
      </p:sp>
      <p:pic>
        <p:nvPicPr>
          <p:cNvPr id="12" name="図 11">
            <a:extLst>
              <a:ext uri="{FF2B5EF4-FFF2-40B4-BE49-F238E27FC236}">
                <a16:creationId xmlns:a16="http://schemas.microsoft.com/office/drawing/2014/main" id="{9CA45DE1-C1B1-4C0E-B123-54EBEE5258C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06773" y="6421555"/>
            <a:ext cx="1584000" cy="230108"/>
          </a:xfrm>
          <a:prstGeom prst="rect">
            <a:avLst/>
          </a:prstGeom>
        </p:spPr>
      </p:pic>
    </p:spTree>
    <p:extLst>
      <p:ext uri="{BB962C8B-B14F-4D97-AF65-F5344CB8AC3E}">
        <p14:creationId xmlns:p14="http://schemas.microsoft.com/office/powerpoint/2010/main" val="241230330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表紙2">
    <p:spTree>
      <p:nvGrpSpPr>
        <p:cNvPr id="1" name=""/>
        <p:cNvGrpSpPr/>
        <p:nvPr/>
      </p:nvGrpSpPr>
      <p:grpSpPr>
        <a:xfrm>
          <a:off x="0" y="0"/>
          <a:ext cx="0" cy="0"/>
          <a:chOff x="0" y="0"/>
          <a:chExt cx="0" cy="0"/>
        </a:xfrm>
      </p:grpSpPr>
      <p:sp>
        <p:nvSpPr>
          <p:cNvPr id="27" name="タイトル 1"/>
          <p:cNvSpPr>
            <a:spLocks noGrp="1"/>
          </p:cNvSpPr>
          <p:nvPr>
            <p:ph type="title" hasCustomPrompt="1"/>
          </p:nvPr>
        </p:nvSpPr>
        <p:spPr>
          <a:xfrm>
            <a:off x="411634" y="1887961"/>
            <a:ext cx="5750316" cy="1139483"/>
          </a:xfrm>
          <a:prstGeom prst="rect">
            <a:avLst/>
          </a:prstGeom>
        </p:spPr>
        <p:txBody>
          <a:bodyPr/>
          <a:lstStyle>
            <a:lvl1pPr>
              <a:lnSpc>
                <a:spcPct val="100000"/>
              </a:lnSpc>
              <a:defRPr sz="3200" b="1">
                <a:solidFill>
                  <a:schemeClr val="bg1"/>
                </a:solidFill>
                <a:latin typeface="+mj-ea"/>
                <a:ea typeface="+mj-ea"/>
                <a:cs typeface="メイリオ" pitchFamily="50" charset="-128"/>
              </a:defRPr>
            </a:lvl1pPr>
          </a:lstStyle>
          <a:p>
            <a:r>
              <a:rPr kumimoji="1" lang="ja-JP" altLang="en-US" dirty="0"/>
              <a:t>表紙タイトル </a:t>
            </a:r>
            <a:r>
              <a:rPr kumimoji="1" lang="en-US" altLang="ja-JP" dirty="0"/>
              <a:t>32pt</a:t>
            </a:r>
            <a:endParaRPr kumimoji="1" lang="ja-JP" altLang="en-US" dirty="0"/>
          </a:p>
        </p:txBody>
      </p:sp>
      <p:sp>
        <p:nvSpPr>
          <p:cNvPr id="28" name="テキスト プレースホルダー 21"/>
          <p:cNvSpPr>
            <a:spLocks noGrp="1"/>
          </p:cNvSpPr>
          <p:nvPr>
            <p:ph type="body" sz="quarter" idx="12" hasCustomPrompt="1"/>
          </p:nvPr>
        </p:nvSpPr>
        <p:spPr>
          <a:xfrm>
            <a:off x="411633" y="3099948"/>
            <a:ext cx="5750316" cy="1590674"/>
          </a:xfrm>
          <a:prstGeom prst="rect">
            <a:avLst/>
          </a:prstGeom>
        </p:spPr>
        <p:txBody>
          <a:bodyPr/>
          <a:lstStyle>
            <a:lvl1pPr marL="0" marR="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sz="1600" baseline="0">
                <a:solidFill>
                  <a:schemeClr val="bg1"/>
                </a:solidFill>
                <a:latin typeface="+mn-ea"/>
                <a:ea typeface="+mn-ea"/>
                <a:cs typeface="メイリオ" pitchFamily="50" charset="-128"/>
              </a:defRPr>
            </a:lvl1pPr>
          </a:lstStyle>
          <a:p>
            <a:pPr marL="0" marR="0" lvl="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dirty="0"/>
              <a:t>サブタイトル </a:t>
            </a:r>
            <a:r>
              <a:rPr kumimoji="1" lang="en-US" altLang="ja-JP" dirty="0"/>
              <a:t>16pt</a:t>
            </a:r>
          </a:p>
        </p:txBody>
      </p:sp>
      <p:pic>
        <p:nvPicPr>
          <p:cNvPr id="9" name="図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1916" y="201827"/>
            <a:ext cx="11659616" cy="944880"/>
          </a:xfrm>
          <a:prstGeom prst="rect">
            <a:avLst/>
          </a:prstGeom>
        </p:spPr>
      </p:pic>
      <p:sp>
        <p:nvSpPr>
          <p:cNvPr id="21" name="テキスト プレースホルダー 5"/>
          <p:cNvSpPr>
            <a:spLocks noGrp="1"/>
          </p:cNvSpPr>
          <p:nvPr>
            <p:ph type="body" sz="quarter" idx="13" hasCustomPrompt="1"/>
          </p:nvPr>
        </p:nvSpPr>
        <p:spPr>
          <a:xfrm>
            <a:off x="411634" y="5394339"/>
            <a:ext cx="3182799" cy="351288"/>
          </a:xfrm>
          <a:prstGeom prst="rect">
            <a:avLst/>
          </a:prstGeom>
        </p:spPr>
        <p:txBody>
          <a:bodyPr anchor="ctr"/>
          <a:lstStyle>
            <a:lvl1pPr marL="0" indent="0">
              <a:lnSpc>
                <a:spcPct val="100000"/>
              </a:lnSpc>
              <a:spcBef>
                <a:spcPts val="0"/>
              </a:spcBef>
              <a:buNone/>
              <a:defRPr sz="1300">
                <a:solidFill>
                  <a:schemeClr val="bg1"/>
                </a:solidFill>
                <a:latin typeface="+mn-ea"/>
                <a:ea typeface="+mn-ea"/>
                <a:cs typeface="メイリオ" pitchFamily="50" charset="-128"/>
              </a:defRPr>
            </a:lvl1pPr>
          </a:lstStyle>
          <a:p>
            <a:pPr lvl="0"/>
            <a:r>
              <a:rPr kumimoji="1" lang="en-US" altLang="ja-JP" dirty="0"/>
              <a:t>0000/00/00</a:t>
            </a:r>
            <a:endParaRPr kumimoji="1" lang="ja-JP" altLang="en-US" dirty="0"/>
          </a:p>
        </p:txBody>
      </p:sp>
      <p:sp>
        <p:nvSpPr>
          <p:cNvPr id="24" name="テキスト ボックス 23"/>
          <p:cNvSpPr txBox="1"/>
          <p:nvPr userDrawn="1"/>
        </p:nvSpPr>
        <p:spPr>
          <a:xfrm>
            <a:off x="404397" y="5748208"/>
            <a:ext cx="5757552" cy="292388"/>
          </a:xfrm>
          <a:prstGeom prst="rect">
            <a:avLst/>
          </a:prstGeom>
          <a:noFill/>
        </p:spPr>
        <p:txBody>
          <a:bodyPr wrap="square" rtlCol="0" anchor="t">
            <a:spAutoFit/>
          </a:bodyPr>
          <a:lstStyle/>
          <a:p>
            <a:pPr>
              <a:spcAft>
                <a:spcPts val="600"/>
              </a:spcAft>
            </a:pPr>
            <a:r>
              <a:rPr kumimoji="1" lang="ja-JP" altLang="en-US" sz="1300" b="1" dirty="0">
                <a:solidFill>
                  <a:schemeClr val="bg1"/>
                </a:solidFill>
                <a:latin typeface="+mn-ea"/>
                <a:ea typeface="+mn-ea"/>
                <a:cs typeface="メイリオ" pitchFamily="50" charset="-128"/>
              </a:rPr>
              <a:t>三菱重工業株式会社</a:t>
            </a:r>
          </a:p>
        </p:txBody>
      </p:sp>
      <p:sp>
        <p:nvSpPr>
          <p:cNvPr id="31" name="日付プレースホルダー 32"/>
          <p:cNvSpPr txBox="1">
            <a:spLocks/>
          </p:cNvSpPr>
          <p:nvPr userDrawn="1"/>
        </p:nvSpPr>
        <p:spPr>
          <a:xfrm>
            <a:off x="261916" y="6370975"/>
            <a:ext cx="7203141"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dirty="0">
                <a:solidFill>
                  <a:schemeClr val="tx1"/>
                </a:solidFill>
                <a:latin typeface="+mn-lt"/>
              </a:rPr>
              <a:t>© Mitsubishi Heavy Industries, Ltd.  All Rights Reserved.</a:t>
            </a:r>
            <a:endParaRPr lang="ja-JP" altLang="en-US" sz="700" dirty="0">
              <a:solidFill>
                <a:schemeClr val="tx1"/>
              </a:solidFill>
              <a:latin typeface="+mn-lt"/>
            </a:endParaRPr>
          </a:p>
        </p:txBody>
      </p:sp>
      <p:pic>
        <p:nvPicPr>
          <p:cNvPr id="11" name="図 10">
            <a:extLst>
              <a:ext uri="{FF2B5EF4-FFF2-40B4-BE49-F238E27FC236}">
                <a16:creationId xmlns:a16="http://schemas.microsoft.com/office/drawing/2014/main" id="{C70D38E8-0DE6-47EE-B224-018031CE46D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06773" y="6421555"/>
            <a:ext cx="1584000" cy="230108"/>
          </a:xfrm>
          <a:prstGeom prst="rect">
            <a:avLst/>
          </a:prstGeom>
        </p:spPr>
      </p:pic>
    </p:spTree>
    <p:extLst>
      <p:ext uri="{BB962C8B-B14F-4D97-AF65-F5344CB8AC3E}">
        <p14:creationId xmlns:p14="http://schemas.microsoft.com/office/powerpoint/2010/main" val="386709993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表紙3">
    <p:spTree>
      <p:nvGrpSpPr>
        <p:cNvPr id="1" name=""/>
        <p:cNvGrpSpPr/>
        <p:nvPr/>
      </p:nvGrpSpPr>
      <p:grpSpPr>
        <a:xfrm>
          <a:off x="0" y="0"/>
          <a:ext cx="0" cy="0"/>
          <a:chOff x="0" y="0"/>
          <a:chExt cx="0" cy="0"/>
        </a:xfrm>
      </p:grpSpPr>
      <p:pic>
        <p:nvPicPr>
          <p:cNvPr id="4" name="図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1916" y="957110"/>
            <a:ext cx="4868672" cy="5187696"/>
          </a:xfrm>
          <a:prstGeom prst="rect">
            <a:avLst/>
          </a:prstGeom>
        </p:spPr>
      </p:pic>
      <p:pic>
        <p:nvPicPr>
          <p:cNvPr id="1029" name="Picture 5" descr="C:\Users\S04\Desktop\名称未設定-2-01.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964952" y="216547"/>
            <a:ext cx="3952347" cy="516959"/>
          </a:xfrm>
          <a:prstGeom prst="rect">
            <a:avLst/>
          </a:prstGeom>
          <a:noFill/>
          <a:extLst>
            <a:ext uri="{909E8E84-426E-40DD-AFC4-6F175D3DCCD1}">
              <a14:hiddenFill xmlns:a14="http://schemas.microsoft.com/office/drawing/2010/main">
                <a:solidFill>
                  <a:srgbClr val="FFFFFF"/>
                </a:solidFill>
              </a14:hiddenFill>
            </a:ext>
          </a:extLst>
        </p:spPr>
      </p:pic>
      <p:sp>
        <p:nvSpPr>
          <p:cNvPr id="16" name="テキスト プレースホルダー 5"/>
          <p:cNvSpPr>
            <a:spLocks noGrp="1"/>
          </p:cNvSpPr>
          <p:nvPr>
            <p:ph type="body" sz="quarter" idx="13" hasCustomPrompt="1"/>
          </p:nvPr>
        </p:nvSpPr>
        <p:spPr>
          <a:xfrm>
            <a:off x="411634" y="5394339"/>
            <a:ext cx="3182799" cy="351288"/>
          </a:xfrm>
          <a:prstGeom prst="rect">
            <a:avLst/>
          </a:prstGeom>
        </p:spPr>
        <p:txBody>
          <a:bodyPr anchor="ctr"/>
          <a:lstStyle>
            <a:lvl1pPr marL="0" indent="0">
              <a:lnSpc>
                <a:spcPct val="100000"/>
              </a:lnSpc>
              <a:spcBef>
                <a:spcPts val="0"/>
              </a:spcBef>
              <a:buNone/>
              <a:defRPr sz="1300">
                <a:solidFill>
                  <a:schemeClr val="bg1"/>
                </a:solidFill>
                <a:latin typeface="+mn-ea"/>
                <a:ea typeface="+mn-ea"/>
                <a:cs typeface="メイリオ" pitchFamily="50" charset="-128"/>
              </a:defRPr>
            </a:lvl1pPr>
          </a:lstStyle>
          <a:p>
            <a:pPr lvl="0"/>
            <a:r>
              <a:rPr kumimoji="1" lang="en-US" altLang="ja-JP" dirty="0"/>
              <a:t>0000/00/00</a:t>
            </a:r>
            <a:endParaRPr kumimoji="1" lang="ja-JP" altLang="en-US" dirty="0"/>
          </a:p>
        </p:txBody>
      </p:sp>
      <p:sp>
        <p:nvSpPr>
          <p:cNvPr id="17" name="テキスト ボックス 16"/>
          <p:cNvSpPr txBox="1"/>
          <p:nvPr userDrawn="1"/>
        </p:nvSpPr>
        <p:spPr>
          <a:xfrm>
            <a:off x="404398" y="5748208"/>
            <a:ext cx="4726191" cy="292388"/>
          </a:xfrm>
          <a:prstGeom prst="rect">
            <a:avLst/>
          </a:prstGeom>
          <a:noFill/>
        </p:spPr>
        <p:txBody>
          <a:bodyPr wrap="square" rtlCol="0" anchor="t">
            <a:spAutoFit/>
          </a:bodyPr>
          <a:lstStyle/>
          <a:p>
            <a:pPr>
              <a:spcAft>
                <a:spcPts val="600"/>
              </a:spcAft>
            </a:pPr>
            <a:r>
              <a:rPr kumimoji="1" lang="ja-JP" altLang="en-US" sz="1300" b="1" dirty="0">
                <a:solidFill>
                  <a:schemeClr val="bg1"/>
                </a:solidFill>
                <a:latin typeface="+mn-ea"/>
                <a:ea typeface="+mn-ea"/>
                <a:cs typeface="メイリオ" pitchFamily="50" charset="-128"/>
              </a:rPr>
              <a:t>三菱重工業株式会社</a:t>
            </a:r>
          </a:p>
        </p:txBody>
      </p:sp>
      <p:sp>
        <p:nvSpPr>
          <p:cNvPr id="12" name="タイトル 1"/>
          <p:cNvSpPr>
            <a:spLocks noGrp="1"/>
          </p:cNvSpPr>
          <p:nvPr>
            <p:ph type="title" hasCustomPrompt="1"/>
          </p:nvPr>
        </p:nvSpPr>
        <p:spPr>
          <a:xfrm>
            <a:off x="411634" y="1887961"/>
            <a:ext cx="4715537" cy="1139483"/>
          </a:xfrm>
          <a:prstGeom prst="rect">
            <a:avLst/>
          </a:prstGeom>
        </p:spPr>
        <p:txBody>
          <a:bodyPr/>
          <a:lstStyle>
            <a:lvl1pPr>
              <a:lnSpc>
                <a:spcPct val="100000"/>
              </a:lnSpc>
              <a:defRPr sz="3200" b="1">
                <a:solidFill>
                  <a:schemeClr val="bg1"/>
                </a:solidFill>
                <a:latin typeface="+mj-ea"/>
                <a:ea typeface="+mj-ea"/>
                <a:cs typeface="メイリオ" pitchFamily="50" charset="-128"/>
              </a:defRPr>
            </a:lvl1pPr>
          </a:lstStyle>
          <a:p>
            <a:r>
              <a:rPr kumimoji="1" lang="ja-JP" altLang="en-US" dirty="0"/>
              <a:t>表紙タイトル </a:t>
            </a:r>
            <a:r>
              <a:rPr kumimoji="1" lang="en-US" altLang="ja-JP" dirty="0"/>
              <a:t>32pt</a:t>
            </a:r>
            <a:endParaRPr kumimoji="1" lang="ja-JP" altLang="en-US" dirty="0"/>
          </a:p>
        </p:txBody>
      </p:sp>
      <p:sp>
        <p:nvSpPr>
          <p:cNvPr id="18" name="テキスト プレースホルダー 21"/>
          <p:cNvSpPr>
            <a:spLocks noGrp="1"/>
          </p:cNvSpPr>
          <p:nvPr>
            <p:ph type="body" sz="quarter" idx="12" hasCustomPrompt="1"/>
          </p:nvPr>
        </p:nvSpPr>
        <p:spPr>
          <a:xfrm>
            <a:off x="411633" y="3099948"/>
            <a:ext cx="4718956" cy="1590674"/>
          </a:xfrm>
          <a:prstGeom prst="rect">
            <a:avLst/>
          </a:prstGeom>
        </p:spPr>
        <p:txBody>
          <a:bodyPr/>
          <a:lstStyle>
            <a:lvl1pPr marL="0" marR="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sz="1600" baseline="0">
                <a:solidFill>
                  <a:schemeClr val="bg1"/>
                </a:solidFill>
                <a:latin typeface="+mn-ea"/>
                <a:ea typeface="+mn-ea"/>
                <a:cs typeface="メイリオ" pitchFamily="50" charset="-128"/>
              </a:defRPr>
            </a:lvl1pPr>
          </a:lstStyle>
          <a:p>
            <a:pPr marL="0" marR="0" lvl="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dirty="0"/>
              <a:t>サブタイトル </a:t>
            </a:r>
            <a:r>
              <a:rPr kumimoji="1" lang="en-US" altLang="ja-JP" dirty="0"/>
              <a:t>16pt</a:t>
            </a:r>
          </a:p>
        </p:txBody>
      </p:sp>
      <p:sp>
        <p:nvSpPr>
          <p:cNvPr id="11" name="日付プレースホルダー 32"/>
          <p:cNvSpPr txBox="1">
            <a:spLocks/>
          </p:cNvSpPr>
          <p:nvPr userDrawn="1"/>
        </p:nvSpPr>
        <p:spPr>
          <a:xfrm>
            <a:off x="261916" y="6370975"/>
            <a:ext cx="7203141"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dirty="0">
                <a:solidFill>
                  <a:schemeClr val="tx1"/>
                </a:solidFill>
                <a:latin typeface="+mn-lt"/>
              </a:rPr>
              <a:t>© Mitsubishi Heavy Industries, Ltd.  All Rights Reserved.</a:t>
            </a:r>
            <a:endParaRPr lang="ja-JP" altLang="en-US" sz="700" dirty="0">
              <a:solidFill>
                <a:schemeClr val="tx1"/>
              </a:solidFill>
              <a:latin typeface="+mn-lt"/>
            </a:endParaRPr>
          </a:p>
        </p:txBody>
      </p:sp>
      <p:pic>
        <p:nvPicPr>
          <p:cNvPr id="15" name="図 14">
            <a:extLst>
              <a:ext uri="{FF2B5EF4-FFF2-40B4-BE49-F238E27FC236}">
                <a16:creationId xmlns:a16="http://schemas.microsoft.com/office/drawing/2014/main" id="{FA98FA36-DDD8-450D-B9A0-375914A3D8D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206773" y="6421555"/>
            <a:ext cx="1584000" cy="230108"/>
          </a:xfrm>
          <a:prstGeom prst="rect">
            <a:avLst/>
          </a:prstGeom>
        </p:spPr>
      </p:pic>
    </p:spTree>
    <p:extLst>
      <p:ext uri="{BB962C8B-B14F-4D97-AF65-F5344CB8AC3E}">
        <p14:creationId xmlns:p14="http://schemas.microsoft.com/office/powerpoint/2010/main" val="189981368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カラーサンプル">
    <p:spTree>
      <p:nvGrpSpPr>
        <p:cNvPr id="1" name=""/>
        <p:cNvGrpSpPr/>
        <p:nvPr/>
      </p:nvGrpSpPr>
      <p:grpSpPr>
        <a:xfrm>
          <a:off x="0" y="0"/>
          <a:ext cx="0" cy="0"/>
          <a:chOff x="0" y="0"/>
          <a:chExt cx="0" cy="0"/>
        </a:xfrm>
      </p:grpSpPr>
      <p:pic>
        <p:nvPicPr>
          <p:cNvPr id="2" name="図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4160" y="6407161"/>
            <a:ext cx="11663680" cy="262128"/>
          </a:xfrm>
          <a:prstGeom prst="rect">
            <a:avLst/>
          </a:prstGeom>
        </p:spPr>
      </p:pic>
      <p:sp>
        <p:nvSpPr>
          <p:cNvPr id="4" name="日付プレースホルダー 32"/>
          <p:cNvSpPr txBox="1">
            <a:spLocks/>
          </p:cNvSpPr>
          <p:nvPr userDrawn="1"/>
        </p:nvSpPr>
        <p:spPr>
          <a:xfrm>
            <a:off x="412896" y="6357513"/>
            <a:ext cx="7203141"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dirty="0">
                <a:solidFill>
                  <a:schemeClr val="bg1"/>
                </a:solidFill>
                <a:latin typeface="+mn-lt"/>
              </a:rPr>
              <a:t>© Mitsubishi Heavy Industries, Ltd.  All Rights Reserved.</a:t>
            </a:r>
            <a:endParaRPr lang="ja-JP" altLang="en-US" sz="700" dirty="0">
              <a:solidFill>
                <a:schemeClr val="bg1"/>
              </a:solidFill>
              <a:latin typeface="+mn-lt"/>
            </a:endParaRPr>
          </a:p>
        </p:txBody>
      </p:sp>
      <p:sp>
        <p:nvSpPr>
          <p:cNvPr id="7" name="スライド番号プレースホルダー 5"/>
          <p:cNvSpPr txBox="1">
            <a:spLocks/>
          </p:cNvSpPr>
          <p:nvPr userDrawn="1"/>
        </p:nvSpPr>
        <p:spPr>
          <a:xfrm>
            <a:off x="11165417" y="6356608"/>
            <a:ext cx="694267"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smtClean="0">
                <a:latin typeface="Arial"/>
              </a:rPr>
              <a:pPr>
                <a:defRPr/>
              </a:pPr>
              <a:t>‹#›</a:t>
            </a:fld>
            <a:endParaRPr lang="en-US" altLang="ja-JP" sz="1000" dirty="0">
              <a:latin typeface="Arial"/>
            </a:endParaRPr>
          </a:p>
        </p:txBody>
      </p:sp>
      <p:sp>
        <p:nvSpPr>
          <p:cNvPr id="15" name="タイトル 1"/>
          <p:cNvSpPr>
            <a:spLocks noGrp="1"/>
          </p:cNvSpPr>
          <p:nvPr>
            <p:ph type="title" hasCustomPrompt="1"/>
          </p:nvPr>
        </p:nvSpPr>
        <p:spPr>
          <a:xfrm>
            <a:off x="740612" y="128799"/>
            <a:ext cx="8520120"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dirty="0"/>
              <a:t>ページタイトル </a:t>
            </a:r>
            <a:r>
              <a:rPr kumimoji="1" lang="en-US" altLang="ja-JP" dirty="0"/>
              <a:t>22pt</a:t>
            </a:r>
            <a:endParaRPr kumimoji="1" lang="ja-JP" altLang="en-US" dirty="0"/>
          </a:p>
        </p:txBody>
      </p:sp>
      <p:sp>
        <p:nvSpPr>
          <p:cNvPr id="17" name="テキスト プレースホルダー 9"/>
          <p:cNvSpPr>
            <a:spLocks noGrp="1"/>
          </p:cNvSpPr>
          <p:nvPr>
            <p:ph type="body" sz="quarter" idx="10" hasCustomPrompt="1"/>
          </p:nvPr>
        </p:nvSpPr>
        <p:spPr>
          <a:xfrm>
            <a:off x="740833" y="797132"/>
            <a:ext cx="8519584" cy="652463"/>
          </a:xfrm>
          <a:prstGeom prst="rect">
            <a:avLst/>
          </a:prstGeom>
        </p:spPr>
        <p:txBody>
          <a:bodyPr/>
          <a:lstStyle>
            <a:lvl1pPr marL="0" indent="0">
              <a:lnSpc>
                <a:spcPct val="120000"/>
              </a:lnSpc>
              <a:spcBef>
                <a:spcPts val="750"/>
              </a:spcBef>
              <a:buNone/>
              <a:defRPr sz="1600">
                <a:latin typeface="+mn-ea"/>
                <a:ea typeface="+mn-ea"/>
                <a:cs typeface="メイリオ" pitchFamily="50" charset="-128"/>
              </a:defRPr>
            </a:lvl1pPr>
          </a:lstStyle>
          <a:p>
            <a:pPr lvl="0"/>
            <a:r>
              <a:rPr kumimoji="1" lang="ja-JP" altLang="en-US" dirty="0"/>
              <a:t>テキスト </a:t>
            </a:r>
            <a:r>
              <a:rPr kumimoji="1" lang="en-US" altLang="ja-JP" dirty="0"/>
              <a:t>16pt</a:t>
            </a:r>
            <a:endParaRPr kumimoji="1" lang="ja-JP" altLang="en-US" dirty="0"/>
          </a:p>
        </p:txBody>
      </p:sp>
      <p:sp>
        <p:nvSpPr>
          <p:cNvPr id="18" name="テキスト プレースホルダー 18"/>
          <p:cNvSpPr>
            <a:spLocks noGrp="1"/>
          </p:cNvSpPr>
          <p:nvPr>
            <p:ph type="body" sz="quarter" idx="13" hasCustomPrompt="1"/>
          </p:nvPr>
        </p:nvSpPr>
        <p:spPr>
          <a:xfrm>
            <a:off x="736600" y="1525210"/>
            <a:ext cx="10922000" cy="838164"/>
          </a:xfrm>
          <a:prstGeom prst="rect">
            <a:avLst/>
          </a:prstGeom>
        </p:spPr>
        <p:txBody>
          <a:bodyPr numCol="2" spcCol="540000"/>
          <a:lstStyle>
            <a:lvl1pPr marL="0" indent="0">
              <a:lnSpc>
                <a:spcPct val="120000"/>
              </a:lnSpc>
              <a:spcBef>
                <a:spcPts val="750"/>
              </a:spcBef>
              <a:buNone/>
              <a:defRPr sz="1000">
                <a:latin typeface="+mn-ea"/>
                <a:ea typeface="+mn-ea"/>
                <a:cs typeface="メイリオ" pitchFamily="50" charset="-128"/>
              </a:defRPr>
            </a:lvl1pPr>
          </a:lstStyle>
          <a:p>
            <a:pPr lvl="0"/>
            <a:r>
              <a:rPr kumimoji="1" lang="ja-JP" altLang="en-US" dirty="0"/>
              <a:t>テキスト </a:t>
            </a:r>
            <a:r>
              <a:rPr kumimoji="1" lang="en-US" altLang="ja-JP" dirty="0"/>
              <a:t>10pt</a:t>
            </a:r>
            <a:endParaRPr kumimoji="1" lang="ja-JP" altLang="en-US" dirty="0"/>
          </a:p>
        </p:txBody>
      </p:sp>
      <p:cxnSp>
        <p:nvCxnSpPr>
          <p:cNvPr id="21" name="直線コネクタ 20"/>
          <p:cNvCxnSpPr/>
          <p:nvPr userDrawn="1"/>
        </p:nvCxnSpPr>
        <p:spPr>
          <a:xfrm>
            <a:off x="261916" y="564204"/>
            <a:ext cx="116596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図 9">
            <a:extLst>
              <a:ext uri="{FF2B5EF4-FFF2-40B4-BE49-F238E27FC236}">
                <a16:creationId xmlns:a16="http://schemas.microsoft.com/office/drawing/2014/main" id="{1CBBDA9B-E97E-4157-8C9B-E181F614B24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05688" y="169645"/>
            <a:ext cx="1584000" cy="230108"/>
          </a:xfrm>
          <a:prstGeom prst="rect">
            <a:avLst/>
          </a:prstGeom>
        </p:spPr>
      </p:pic>
    </p:spTree>
    <p:extLst>
      <p:ext uri="{BB962C8B-B14F-4D97-AF65-F5344CB8AC3E}">
        <p14:creationId xmlns:p14="http://schemas.microsoft.com/office/powerpoint/2010/main" val="57193879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_表紙1">
    <p:spTree>
      <p:nvGrpSpPr>
        <p:cNvPr id="1" name=""/>
        <p:cNvGrpSpPr/>
        <p:nvPr/>
      </p:nvGrpSpPr>
      <p:grpSpPr>
        <a:xfrm>
          <a:off x="0" y="0"/>
          <a:ext cx="0" cy="0"/>
          <a:chOff x="0" y="0"/>
          <a:chExt cx="0" cy="0"/>
        </a:xfrm>
      </p:grpSpPr>
      <p:sp>
        <p:nvSpPr>
          <p:cNvPr id="16" name="タイトル 2"/>
          <p:cNvSpPr>
            <a:spLocks noGrp="1"/>
          </p:cNvSpPr>
          <p:nvPr>
            <p:ph type="title" hasCustomPrompt="1"/>
          </p:nvPr>
        </p:nvSpPr>
        <p:spPr>
          <a:xfrm>
            <a:off x="411634" y="2699386"/>
            <a:ext cx="11375965" cy="585575"/>
          </a:xfrm>
          <a:prstGeom prst="rect">
            <a:avLst/>
          </a:prstGeom>
        </p:spPr>
        <p:txBody>
          <a:bodyPr/>
          <a:lstStyle>
            <a:lvl1pPr>
              <a:lnSpc>
                <a:spcPct val="100000"/>
              </a:lnSpc>
              <a:spcBef>
                <a:spcPts val="0"/>
              </a:spcBef>
              <a:defRPr sz="3200" b="1" baseline="0">
                <a:solidFill>
                  <a:schemeClr val="tx1"/>
                </a:solidFill>
                <a:latin typeface="+mj-ea"/>
                <a:ea typeface="+mj-ea"/>
                <a:cs typeface="メイリオ" pitchFamily="50" charset="-128"/>
              </a:defRPr>
            </a:lvl1pPr>
          </a:lstStyle>
          <a:p>
            <a:r>
              <a:rPr kumimoji="1" lang="ja-JP" altLang="en-US" dirty="0"/>
              <a:t>表紙タイトル </a:t>
            </a:r>
            <a:r>
              <a:rPr kumimoji="1" lang="en-US" altLang="ja-JP" dirty="0"/>
              <a:t>32pt</a:t>
            </a:r>
            <a:endParaRPr kumimoji="1" lang="ja-JP" altLang="en-US" dirty="0"/>
          </a:p>
        </p:txBody>
      </p:sp>
      <p:pic>
        <p:nvPicPr>
          <p:cNvPr id="11" name="図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1916" y="201827"/>
            <a:ext cx="11659616" cy="944880"/>
          </a:xfrm>
          <a:prstGeom prst="rect">
            <a:avLst/>
          </a:prstGeom>
        </p:spPr>
      </p:pic>
      <p:sp>
        <p:nvSpPr>
          <p:cNvPr id="9" name="日付プレースホルダー 32"/>
          <p:cNvSpPr txBox="1">
            <a:spLocks/>
          </p:cNvSpPr>
          <p:nvPr userDrawn="1"/>
        </p:nvSpPr>
        <p:spPr>
          <a:xfrm>
            <a:off x="261916" y="6370975"/>
            <a:ext cx="7203141"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dirty="0">
                <a:solidFill>
                  <a:schemeClr val="tx1"/>
                </a:solidFill>
                <a:latin typeface="+mn-lt"/>
              </a:rPr>
              <a:t>© Mitsubishi Heavy Industries, Ltd.  All Rights Reserved.</a:t>
            </a:r>
            <a:endParaRPr lang="ja-JP" altLang="en-US" sz="700" dirty="0">
              <a:solidFill>
                <a:schemeClr val="tx1"/>
              </a:solidFill>
              <a:latin typeface="+mn-lt"/>
            </a:endParaRPr>
          </a:p>
        </p:txBody>
      </p:sp>
    </p:spTree>
    <p:extLst>
      <p:ext uri="{BB962C8B-B14F-4D97-AF65-F5344CB8AC3E}">
        <p14:creationId xmlns:p14="http://schemas.microsoft.com/office/powerpoint/2010/main" val="178414551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テキスト ボックス 4">
            <a:extLst>
              <a:ext uri="{FF2B5EF4-FFF2-40B4-BE49-F238E27FC236}">
                <a16:creationId xmlns:a16="http://schemas.microsoft.com/office/drawing/2014/main" id="{16A1EA45-BF6A-8E89-F9CE-BFA62AF363CC}"/>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403363085"/>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タイトルと1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4" y="1038386"/>
            <a:ext cx="1144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D3BB6FD-8126-0BC5-CD78-240E479EB67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2115625168"/>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タイトルと２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550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コンテンツ プレースホルダー 4">
            <a:extLst>
              <a:ext uri="{FF2B5EF4-FFF2-40B4-BE49-F238E27FC236}">
                <a16:creationId xmlns:a16="http://schemas.microsoft.com/office/drawing/2014/main" id="{EF021ACE-2CF5-4B31-D043-4FF4199CE0CE}"/>
              </a:ext>
            </a:extLst>
          </p:cNvPr>
          <p:cNvSpPr>
            <a:spLocks noGrp="1"/>
          </p:cNvSpPr>
          <p:nvPr>
            <p:ph sz="quarter" idx="11"/>
          </p:nvPr>
        </p:nvSpPr>
        <p:spPr>
          <a:xfrm>
            <a:off x="6310800" y="1038386"/>
            <a:ext cx="550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テキスト ボックス 2">
            <a:extLst>
              <a:ext uri="{FF2B5EF4-FFF2-40B4-BE49-F238E27FC236}">
                <a16:creationId xmlns:a16="http://schemas.microsoft.com/office/drawing/2014/main" id="{E00132AB-F8CC-E986-3454-C51AAC0E95E8}"/>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827021927"/>
      </p:ext>
    </p:extLst>
  </p:cSld>
  <p:clrMapOvr>
    <a:masterClrMapping/>
  </p:clrMapOvr>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タイトルと３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コンテンツ プレースホルダー 4">
            <a:extLst>
              <a:ext uri="{FF2B5EF4-FFF2-40B4-BE49-F238E27FC236}">
                <a16:creationId xmlns:a16="http://schemas.microsoft.com/office/drawing/2014/main" id="{58228A74-29BB-7D83-4FBF-D4C78D0E8273}"/>
              </a:ext>
            </a:extLst>
          </p:cNvPr>
          <p:cNvSpPr>
            <a:spLocks noGrp="1"/>
          </p:cNvSpPr>
          <p:nvPr>
            <p:ph sz="quarter" idx="11"/>
          </p:nvPr>
        </p:nvSpPr>
        <p:spPr>
          <a:xfrm>
            <a:off x="4266000"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4">
            <a:extLst>
              <a:ext uri="{FF2B5EF4-FFF2-40B4-BE49-F238E27FC236}">
                <a16:creationId xmlns:a16="http://schemas.microsoft.com/office/drawing/2014/main" id="{1B772862-BD3C-7869-DB09-5C7C67173F27}"/>
              </a:ext>
            </a:extLst>
          </p:cNvPr>
          <p:cNvSpPr>
            <a:spLocks noGrp="1"/>
          </p:cNvSpPr>
          <p:nvPr>
            <p:ph sz="quarter" idx="12"/>
          </p:nvPr>
        </p:nvSpPr>
        <p:spPr>
          <a:xfrm>
            <a:off x="8162929"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659282D-E203-D490-4B15-F802032603A3}"/>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716690639"/>
      </p:ext>
    </p:extLst>
  </p:cSld>
  <p:clrMapOvr>
    <a:masterClrMapping/>
  </p:clrMapOvr>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サブタイトル有">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400110"/>
          </a:xfrm>
        </p:spPr>
        <p:txBody>
          <a:bodyPr tIns="0" bIns="0">
            <a:spAutoFit/>
          </a:bodyPr>
          <a:lstStyle>
            <a:lvl1pPr>
              <a:defRPr sz="2600">
                <a:solidFill>
                  <a:schemeClr val="accent1"/>
                </a:solidFill>
              </a:defRPr>
            </a:lvl1pPr>
          </a:lstStyle>
          <a:p>
            <a:r>
              <a:rPr kumimoji="1" lang="ja-JP" altLang="en-US"/>
              <a:t>［タイトル］</a:t>
            </a:r>
          </a:p>
        </p:txBody>
      </p:sp>
      <p:sp>
        <p:nvSpPr>
          <p:cNvPr id="3" name="テキスト プレースホルダー 2">
            <a:extLst>
              <a:ext uri="{FF2B5EF4-FFF2-40B4-BE49-F238E27FC236}">
                <a16:creationId xmlns:a16="http://schemas.microsoft.com/office/drawing/2014/main" id="{922FFA65-3599-E725-9F45-9CF39BF996EE}"/>
              </a:ext>
            </a:extLst>
          </p:cNvPr>
          <p:cNvSpPr>
            <a:spLocks noGrp="1"/>
          </p:cNvSpPr>
          <p:nvPr>
            <p:ph type="body" sz="quarter" idx="10" hasCustomPrompt="1"/>
          </p:nvPr>
        </p:nvSpPr>
        <p:spPr>
          <a:xfrm>
            <a:off x="371474" y="727200"/>
            <a:ext cx="11448000" cy="288000"/>
          </a:xfrm>
        </p:spPr>
        <p:txBody>
          <a:bodyPr>
            <a:noAutofit/>
          </a:bodyPr>
          <a:lstStyle>
            <a:lvl1pPr>
              <a:defRPr b="1">
                <a:solidFill>
                  <a:schemeClr val="accent2"/>
                </a:solidFill>
              </a:defRPr>
            </a:lvl1pPr>
          </a:lstStyle>
          <a:p>
            <a:pPr lvl="0"/>
            <a:r>
              <a:rPr kumimoji="1" lang="ja-JP" altLang="en-US"/>
              <a:t>［サブタイトル］</a:t>
            </a:r>
          </a:p>
        </p:txBody>
      </p:sp>
      <p:sp>
        <p:nvSpPr>
          <p:cNvPr id="4" name="コンテンツ プレースホルダー 4">
            <a:extLst>
              <a:ext uri="{FF2B5EF4-FFF2-40B4-BE49-F238E27FC236}">
                <a16:creationId xmlns:a16="http://schemas.microsoft.com/office/drawing/2014/main" id="{FE40B33C-3077-F325-8EA7-EEDBA1AD5E20}"/>
              </a:ext>
            </a:extLst>
          </p:cNvPr>
          <p:cNvSpPr>
            <a:spLocks noGrp="1"/>
          </p:cNvSpPr>
          <p:nvPr>
            <p:ph sz="quarter" idx="11"/>
          </p:nvPr>
        </p:nvSpPr>
        <p:spPr>
          <a:xfrm>
            <a:off x="371474" y="1411200"/>
            <a:ext cx="11448000" cy="4824000"/>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ボックス 4">
            <a:extLst>
              <a:ext uri="{FF2B5EF4-FFF2-40B4-BE49-F238E27FC236}">
                <a16:creationId xmlns:a16="http://schemas.microsoft.com/office/drawing/2014/main" id="{0A1A7CDA-C0AA-A8AC-8808-09E8B9AA91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1579946122"/>
      </p:ext>
    </p:extLst>
  </p:cSld>
  <p:clrMapOvr>
    <a:masterClrMapping/>
  </p:clrMapOvr>
  <p:extLst>
    <p:ext uri="{DCECCB84-F9BA-43D5-87BE-67443E8EF086}">
      <p15:sldGuideLst xmlns:p15="http://schemas.microsoft.com/office/powerpoint/2012/main">
        <p15:guide id="1" orient="horz" pos="89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455031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白紙（フッター有）">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21C562A-25AB-8415-C9E5-F862FADD5F01}"/>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353001920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全面画像">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F524A762-DD3D-0F30-6F39-0BAD647C733D}"/>
              </a:ext>
            </a:extLst>
          </p:cNvPr>
          <p:cNvPicPr>
            <a:picLocks noChangeAspect="1"/>
          </p:cNvPicPr>
          <p:nvPr userDrawn="1"/>
        </p:nvPicPr>
        <p:blipFill>
          <a:blip r:embed="rId2"/>
          <a:srcRect/>
          <a:stretch/>
        </p:blipFill>
        <p:spPr>
          <a:xfrm>
            <a:off x="1" y="-1"/>
            <a:ext cx="12191998" cy="6857998"/>
          </a:xfrm>
          <a:prstGeom prst="rect">
            <a:avLst/>
          </a:prstGeom>
        </p:spPr>
      </p:pic>
      <p:sp>
        <p:nvSpPr>
          <p:cNvPr id="6" name="正方形/長方形 5">
            <a:extLst>
              <a:ext uri="{FF2B5EF4-FFF2-40B4-BE49-F238E27FC236}">
                <a16:creationId xmlns:a16="http://schemas.microsoft.com/office/drawing/2014/main" id="{5E3F105C-816B-C4B5-FF44-9C78401DC345}"/>
              </a:ext>
            </a:extLst>
          </p:cNvPr>
          <p:cNvSpPr/>
          <p:nvPr userDrawn="1"/>
        </p:nvSpPr>
        <p:spPr>
          <a:xfrm>
            <a:off x="0" y="5202000"/>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2" name="タイトル 1">
            <a:extLst>
              <a:ext uri="{FF2B5EF4-FFF2-40B4-BE49-F238E27FC236}">
                <a16:creationId xmlns:a16="http://schemas.microsoft.com/office/drawing/2014/main" id="{B1265E79-47D9-4B17-A967-60D543C5CD4E}"/>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pic>
        <p:nvPicPr>
          <p:cNvPr id="7" name="図 6">
            <a:extLst>
              <a:ext uri="{FF2B5EF4-FFF2-40B4-BE49-F238E27FC236}">
                <a16:creationId xmlns:a16="http://schemas.microsoft.com/office/drawing/2014/main" id="{E6A7D226-AA1D-4565-296E-260FC63988D9}"/>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11" name="テキスト ボックス 10">
            <a:extLst>
              <a:ext uri="{FF2B5EF4-FFF2-40B4-BE49-F238E27FC236}">
                <a16:creationId xmlns:a16="http://schemas.microsoft.com/office/drawing/2014/main" id="{25F7EA9B-E085-E004-36B4-F14995B03396}"/>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2024 NTT DATA Japan Corporation</a:t>
            </a:r>
          </a:p>
        </p:txBody>
      </p:sp>
      <p:sp>
        <p:nvSpPr>
          <p:cNvPr id="12" name="テキスト ボックス 11">
            <a:extLst>
              <a:ext uri="{FF2B5EF4-FFF2-40B4-BE49-F238E27FC236}">
                <a16:creationId xmlns:a16="http://schemas.microsoft.com/office/drawing/2014/main" id="{C56F1922-EBFD-0984-2464-4DD07C5D3F5B}"/>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Tree>
    <p:extLst>
      <p:ext uri="{BB962C8B-B14F-4D97-AF65-F5344CB8AC3E}">
        <p14:creationId xmlns:p14="http://schemas.microsoft.com/office/powerpoint/2010/main" val="381538265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右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BA8380C3-23D1-332E-5763-4E45DE28D8B2}"/>
              </a:ext>
            </a:extLst>
          </p:cNvPr>
          <p:cNvPicPr>
            <a:picLocks noChangeAspect="1"/>
          </p:cNvPicPr>
          <p:nvPr userDrawn="1"/>
        </p:nvPicPr>
        <p:blipFill rotWithShape="1">
          <a:blip r:embed="rId2"/>
          <a:srcRect l="58440" r="8440"/>
          <a:stretch/>
        </p:blipFill>
        <p:spPr>
          <a:xfrm>
            <a:off x="815340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74808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
        <p:nvSpPr>
          <p:cNvPr id="9" name="正方形/長方形 8">
            <a:extLst>
              <a:ext uri="{FF2B5EF4-FFF2-40B4-BE49-F238E27FC236}">
                <a16:creationId xmlns:a16="http://schemas.microsoft.com/office/drawing/2014/main" id="{CA853D6E-6D9F-5F51-58ED-3ED1FABFD06D}"/>
              </a:ext>
            </a:extLst>
          </p:cNvPr>
          <p:cNvSpPr/>
          <p:nvPr userDrawn="1"/>
        </p:nvSpPr>
        <p:spPr>
          <a:xfrm>
            <a:off x="8152800"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10" name="図 9">
            <a:extLst>
              <a:ext uri="{FF2B5EF4-FFF2-40B4-BE49-F238E27FC236}">
                <a16:creationId xmlns:a16="http://schemas.microsoft.com/office/drawing/2014/main" id="{231878D8-FF4D-F5B8-7D51-A27150395E67}"/>
              </a:ext>
            </a:extLst>
          </p:cNvPr>
          <p:cNvPicPr>
            <a:picLocks noChangeAspect="1"/>
          </p:cNvPicPr>
          <p:nvPr userDrawn="1"/>
        </p:nvPicPr>
        <p:blipFill>
          <a:blip r:embed="rId3"/>
          <a:srcRect/>
          <a:stretch/>
        </p:blipFill>
        <p:spPr>
          <a:xfrm>
            <a:off x="10743026" y="6425921"/>
            <a:ext cx="1148891" cy="292658"/>
          </a:xfrm>
          <a:prstGeom prst="rect">
            <a:avLst/>
          </a:prstGeom>
        </p:spPr>
      </p:pic>
    </p:spTree>
    <p:extLst>
      <p:ext uri="{BB962C8B-B14F-4D97-AF65-F5344CB8AC3E}">
        <p14:creationId xmlns:p14="http://schemas.microsoft.com/office/powerpoint/2010/main" val="199455512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左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12BB1B84-3873-592B-346A-382DA695B2B2}"/>
              </a:ext>
            </a:extLst>
          </p:cNvPr>
          <p:cNvPicPr>
            <a:picLocks noChangeAspect="1"/>
          </p:cNvPicPr>
          <p:nvPr userDrawn="1"/>
        </p:nvPicPr>
        <p:blipFill rotWithShape="1">
          <a:blip r:embed="rId2"/>
          <a:srcRect l="58440" r="8440"/>
          <a:stretch/>
        </p:blipFill>
        <p:spPr>
          <a:xfrm>
            <a:off x="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4586400" y="334800"/>
            <a:ext cx="7232400" cy="412538"/>
          </a:xfrm>
        </p:spPr>
        <p:txBody>
          <a:bodyPr tIns="0" bIns="0">
            <a:noAutofit/>
          </a:bodyPr>
          <a:lstStyle>
            <a:lvl1pPr>
              <a:defRPr sz="2600"/>
            </a:lvl1pPr>
          </a:lstStyle>
          <a:p>
            <a:r>
              <a:rPr kumimoji="1" lang="ja-JP" altLang="en-US"/>
              <a:t>［タイトル］</a:t>
            </a:r>
          </a:p>
        </p:txBody>
      </p:sp>
      <p:sp>
        <p:nvSpPr>
          <p:cNvPr id="8" name="テキスト ボックス 7">
            <a:extLst>
              <a:ext uri="{FF2B5EF4-FFF2-40B4-BE49-F238E27FC236}">
                <a16:creationId xmlns:a16="http://schemas.microsoft.com/office/drawing/2014/main" id="{F2A10DC3-739F-B3F0-BA1B-B970F3916583}"/>
              </a:ext>
            </a:extLst>
          </p:cNvPr>
          <p:cNvSpPr txBox="1"/>
          <p:nvPr userDrawn="1"/>
        </p:nvSpPr>
        <p:spPr>
          <a:xfrm>
            <a:off x="77760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
        <p:nvSpPr>
          <p:cNvPr id="4" name="正方形/長方形 3">
            <a:extLst>
              <a:ext uri="{FF2B5EF4-FFF2-40B4-BE49-F238E27FC236}">
                <a16:creationId xmlns:a16="http://schemas.microsoft.com/office/drawing/2014/main" id="{6F909204-40F4-08DA-5F77-8CD9CC767A5B}"/>
              </a:ext>
            </a:extLst>
          </p:cNvPr>
          <p:cNvSpPr/>
          <p:nvPr userDrawn="1"/>
        </p:nvSpPr>
        <p:spPr>
          <a:xfrm>
            <a:off x="-1201"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9" name="テキスト ボックス 8">
            <a:extLst>
              <a:ext uri="{FF2B5EF4-FFF2-40B4-BE49-F238E27FC236}">
                <a16:creationId xmlns:a16="http://schemas.microsoft.com/office/drawing/2014/main" id="{DF1F4A7B-797E-8774-7A15-00748447B4EA}"/>
              </a:ext>
            </a:extLst>
          </p:cNvPr>
          <p:cNvSpPr txBox="1"/>
          <p:nvPr userDrawn="1"/>
        </p:nvSpPr>
        <p:spPr>
          <a:xfrm>
            <a:off x="4496400" y="6562800"/>
            <a:ext cx="32040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rgbClr val="6B6B6B"/>
                </a:solidFill>
              </a:rPr>
              <a:t>© 2024 NTT DATA Japan Corporation</a:t>
            </a:r>
          </a:p>
        </p:txBody>
      </p:sp>
    </p:spTree>
    <p:extLst>
      <p:ext uri="{BB962C8B-B14F-4D97-AF65-F5344CB8AC3E}">
        <p14:creationId xmlns:p14="http://schemas.microsoft.com/office/powerpoint/2010/main" val="127124826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下に画像">
    <p:spTree>
      <p:nvGrpSpPr>
        <p:cNvPr id="1" name=""/>
        <p:cNvGrpSpPr/>
        <p:nvPr/>
      </p:nvGrpSpPr>
      <p:grpSpPr>
        <a:xfrm>
          <a:off x="0" y="0"/>
          <a:ext cx="0" cy="0"/>
          <a:chOff x="0" y="0"/>
          <a:chExt cx="0" cy="0"/>
        </a:xfrm>
      </p:grpSpPr>
      <p:pic>
        <p:nvPicPr>
          <p:cNvPr id="7" name="図プレースホルダー 11">
            <a:extLst>
              <a:ext uri="{FF2B5EF4-FFF2-40B4-BE49-F238E27FC236}">
                <a16:creationId xmlns:a16="http://schemas.microsoft.com/office/drawing/2014/main" id="{C2044BA7-36F7-9477-3C85-FA967B223BAA}"/>
              </a:ext>
            </a:extLst>
          </p:cNvPr>
          <p:cNvPicPr>
            <a:picLocks noChangeAspect="1"/>
          </p:cNvPicPr>
          <p:nvPr userDrawn="1"/>
        </p:nvPicPr>
        <p:blipFill>
          <a:blip r:embed="rId2"/>
          <a:srcRect t="24412" b="24412"/>
          <a:stretch/>
        </p:blipFill>
        <p:spPr>
          <a:xfrm>
            <a:off x="0" y="3351600"/>
            <a:ext cx="12193200" cy="3510000"/>
          </a:xfrm>
          <a:prstGeom prst="rect">
            <a:avLst/>
          </a:prstGeom>
        </p:spPr>
      </p:pic>
      <p:sp>
        <p:nvSpPr>
          <p:cNvPr id="6" name="正方形/長方形 5">
            <a:extLst>
              <a:ext uri="{FF2B5EF4-FFF2-40B4-BE49-F238E27FC236}">
                <a16:creationId xmlns:a16="http://schemas.microsoft.com/office/drawing/2014/main" id="{9C900E81-5532-6F3F-3DCC-003C90BA5ECB}"/>
              </a:ext>
            </a:extLst>
          </p:cNvPr>
          <p:cNvSpPr/>
          <p:nvPr userDrawn="1"/>
        </p:nvSpPr>
        <p:spPr>
          <a:xfrm>
            <a:off x="0" y="5202000"/>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9" name="図 8">
            <a:extLst>
              <a:ext uri="{FF2B5EF4-FFF2-40B4-BE49-F238E27FC236}">
                <a16:creationId xmlns:a16="http://schemas.microsoft.com/office/drawing/2014/main" id="{AE17DA24-7E4F-696A-F536-1C16C913B80D}"/>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3" name="タイトル 1">
            <a:extLst>
              <a:ext uri="{FF2B5EF4-FFF2-40B4-BE49-F238E27FC236}">
                <a16:creationId xmlns:a16="http://schemas.microsoft.com/office/drawing/2014/main" id="{90F45524-EB8E-A1DF-361B-8D78281B5E74}"/>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sp>
        <p:nvSpPr>
          <p:cNvPr id="12" name="テキスト ボックス 11">
            <a:extLst>
              <a:ext uri="{FF2B5EF4-FFF2-40B4-BE49-F238E27FC236}">
                <a16:creationId xmlns:a16="http://schemas.microsoft.com/office/drawing/2014/main" id="{6A05FF2A-BCBB-15AB-3787-FE03495E6FCB}"/>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2024 NTT DATA Japan Corporation</a:t>
            </a:r>
          </a:p>
        </p:txBody>
      </p:sp>
      <p:sp>
        <p:nvSpPr>
          <p:cNvPr id="13" name="テキスト ボックス 12">
            <a:extLst>
              <a:ext uri="{FF2B5EF4-FFF2-40B4-BE49-F238E27FC236}">
                <a16:creationId xmlns:a16="http://schemas.microsoft.com/office/drawing/2014/main" id="{8BBC1440-FAD9-794A-1B15-7B7A16143951}"/>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Tree>
    <p:extLst>
      <p:ext uri="{BB962C8B-B14F-4D97-AF65-F5344CB8AC3E}">
        <p14:creationId xmlns:p14="http://schemas.microsoft.com/office/powerpoint/2010/main" val="19119006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画像3枚">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114480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
        <p:nvSpPr>
          <p:cNvPr id="5" name="Picture Placeholder 6">
            <a:extLst>
              <a:ext uri="{FF2B5EF4-FFF2-40B4-BE49-F238E27FC236}">
                <a16:creationId xmlns:a16="http://schemas.microsoft.com/office/drawing/2014/main" id="{8D8BF745-92BD-988C-34D0-74B4D7534C7D}"/>
              </a:ext>
            </a:extLst>
          </p:cNvPr>
          <p:cNvSpPr>
            <a:spLocks noGrp="1"/>
          </p:cNvSpPr>
          <p:nvPr>
            <p:ph type="pic" sz="quarter" idx="13" hasCustomPrompt="1"/>
          </p:nvPr>
        </p:nvSpPr>
        <p:spPr bwMode="gray">
          <a:xfrm>
            <a:off x="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
        <p:nvSpPr>
          <p:cNvPr id="2" name="Picture Placeholder 6">
            <a:extLst>
              <a:ext uri="{FF2B5EF4-FFF2-40B4-BE49-F238E27FC236}">
                <a16:creationId xmlns:a16="http://schemas.microsoft.com/office/drawing/2014/main" id="{149F5F7A-6BC4-C06C-9C1E-4B267B2B2FE9}"/>
              </a:ext>
            </a:extLst>
          </p:cNvPr>
          <p:cNvSpPr>
            <a:spLocks noGrp="1"/>
          </p:cNvSpPr>
          <p:nvPr>
            <p:ph type="pic" sz="quarter" idx="14" hasCustomPrompt="1"/>
          </p:nvPr>
        </p:nvSpPr>
        <p:spPr bwMode="gray">
          <a:xfrm>
            <a:off x="408960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
        <p:nvSpPr>
          <p:cNvPr id="8" name="Picture Placeholder 6">
            <a:extLst>
              <a:ext uri="{FF2B5EF4-FFF2-40B4-BE49-F238E27FC236}">
                <a16:creationId xmlns:a16="http://schemas.microsoft.com/office/drawing/2014/main" id="{A67C5164-A259-C81F-D67B-6539C0BBF790}"/>
              </a:ext>
            </a:extLst>
          </p:cNvPr>
          <p:cNvSpPr>
            <a:spLocks noGrp="1"/>
          </p:cNvSpPr>
          <p:nvPr>
            <p:ph type="pic" sz="quarter" idx="15" hasCustomPrompt="1"/>
          </p:nvPr>
        </p:nvSpPr>
        <p:spPr bwMode="gray">
          <a:xfrm>
            <a:off x="817560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Tree>
    <p:extLst>
      <p:ext uri="{BB962C8B-B14F-4D97-AF65-F5344CB8AC3E}">
        <p14:creationId xmlns:p14="http://schemas.microsoft.com/office/powerpoint/2010/main" val="258669297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写真集">
    <p:spTree>
      <p:nvGrpSpPr>
        <p:cNvPr id="1" name=""/>
        <p:cNvGrpSpPr/>
        <p:nvPr/>
      </p:nvGrpSpPr>
      <p:grpSpPr>
        <a:xfrm>
          <a:off x="0" y="0"/>
          <a:ext cx="0" cy="0"/>
          <a:chOff x="0" y="0"/>
          <a:chExt cx="0" cy="0"/>
        </a:xfrm>
      </p:grpSpPr>
      <p:sp>
        <p:nvSpPr>
          <p:cNvPr id="5" name="図プレースホルダー 4">
            <a:extLst>
              <a:ext uri="{FF2B5EF4-FFF2-40B4-BE49-F238E27FC236}">
                <a16:creationId xmlns:a16="http://schemas.microsoft.com/office/drawing/2014/main" id="{AF36B133-36B0-B253-B7D4-C28F41A61059}"/>
              </a:ext>
            </a:extLst>
          </p:cNvPr>
          <p:cNvSpPr>
            <a:spLocks noGrp="1"/>
          </p:cNvSpPr>
          <p:nvPr>
            <p:ph type="pic" sz="quarter" idx="11" hasCustomPrompt="1"/>
          </p:nvPr>
        </p:nvSpPr>
        <p:spPr>
          <a:xfrm>
            <a:off x="370800" y="334800"/>
            <a:ext cx="4420800" cy="3546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2" name="タイトル 1">
            <a:extLst>
              <a:ext uri="{FF2B5EF4-FFF2-40B4-BE49-F238E27FC236}">
                <a16:creationId xmlns:a16="http://schemas.microsoft.com/office/drawing/2014/main" id="{760F00A5-A022-0540-F2CC-D4AA03AB45B3}"/>
              </a:ext>
            </a:extLst>
          </p:cNvPr>
          <p:cNvSpPr>
            <a:spLocks noGrp="1"/>
          </p:cNvSpPr>
          <p:nvPr>
            <p:ph type="title" hasCustomPrompt="1"/>
          </p:nvPr>
        </p:nvSpPr>
        <p:spPr>
          <a:xfrm>
            <a:off x="370800" y="2422800"/>
            <a:ext cx="4420800" cy="1458000"/>
          </a:xfrm>
        </p:spPr>
        <p:txBody>
          <a:bodyPr>
            <a:noAutofit/>
          </a:bodyPr>
          <a:lstStyle>
            <a:lvl1pPr algn="ctr">
              <a:defRPr sz="2130" b="0">
                <a:solidFill>
                  <a:schemeClr val="bg1"/>
                </a:solidFill>
              </a:defRPr>
            </a:lvl1pPr>
          </a:lstStyle>
          <a:p>
            <a:r>
              <a:rPr kumimoji="1" lang="ja-JP" altLang="en-US"/>
              <a:t>マスター テキストの書式設定</a:t>
            </a:r>
          </a:p>
        </p:txBody>
      </p:sp>
      <p:sp>
        <p:nvSpPr>
          <p:cNvPr id="7" name="テキスト プレースホルダー 6">
            <a:extLst>
              <a:ext uri="{FF2B5EF4-FFF2-40B4-BE49-F238E27FC236}">
                <a16:creationId xmlns:a16="http://schemas.microsoft.com/office/drawing/2014/main" id="{786AAEE8-9706-2A45-5CC0-A6743ACE48DC}"/>
              </a:ext>
            </a:extLst>
          </p:cNvPr>
          <p:cNvSpPr>
            <a:spLocks noGrp="1"/>
          </p:cNvSpPr>
          <p:nvPr>
            <p:ph type="body" sz="quarter" idx="12"/>
          </p:nvPr>
        </p:nvSpPr>
        <p:spPr>
          <a:xfrm>
            <a:off x="370800" y="3988800"/>
            <a:ext cx="3420000" cy="2250000"/>
          </a:xfrm>
          <a:solidFill>
            <a:schemeClr val="accent6"/>
          </a:solidFill>
        </p:spPr>
        <p:txBody>
          <a:bodyPr anchor="ctr"/>
          <a:lstStyle>
            <a:lvl1pPr algn="l">
              <a:defRPr sz="2670" b="1"/>
            </a:lvl1pPr>
          </a:lstStyle>
          <a:p>
            <a:pPr lvl="0"/>
            <a:r>
              <a:rPr kumimoji="1" lang="ja-JP" altLang="en-US"/>
              <a:t>マスター テキストの書式設定</a:t>
            </a:r>
          </a:p>
        </p:txBody>
      </p:sp>
      <p:sp>
        <p:nvSpPr>
          <p:cNvPr id="9" name="テキスト プレースホルダー 8">
            <a:extLst>
              <a:ext uri="{FF2B5EF4-FFF2-40B4-BE49-F238E27FC236}">
                <a16:creationId xmlns:a16="http://schemas.microsoft.com/office/drawing/2014/main" id="{47250683-2213-51C3-F47C-D3BB0C13BFD4}"/>
              </a:ext>
            </a:extLst>
          </p:cNvPr>
          <p:cNvSpPr>
            <a:spLocks noGrp="1"/>
          </p:cNvSpPr>
          <p:nvPr>
            <p:ph type="body" sz="quarter" idx="13"/>
          </p:nvPr>
        </p:nvSpPr>
        <p:spPr>
          <a:xfrm>
            <a:off x="4903200" y="334800"/>
            <a:ext cx="4348800" cy="3556800"/>
          </a:xfrm>
          <a:solidFill>
            <a:schemeClr val="accent1"/>
          </a:solidFill>
        </p:spPr>
        <p:txBody>
          <a:bodyPr anchor="ctr"/>
          <a:lstStyle>
            <a:lvl1pPr algn="l">
              <a:defRPr sz="3200" b="1">
                <a:solidFill>
                  <a:schemeClr val="bg1"/>
                </a:solidFill>
              </a:defRPr>
            </a:lvl1pPr>
          </a:lstStyle>
          <a:p>
            <a:pPr lvl="0"/>
            <a:r>
              <a:rPr kumimoji="1" lang="ja-JP" altLang="en-US"/>
              <a:t>マスター テキストの書式設定</a:t>
            </a:r>
          </a:p>
        </p:txBody>
      </p:sp>
      <p:sp>
        <p:nvSpPr>
          <p:cNvPr id="11" name="図プレースホルダー 10">
            <a:extLst>
              <a:ext uri="{FF2B5EF4-FFF2-40B4-BE49-F238E27FC236}">
                <a16:creationId xmlns:a16="http://schemas.microsoft.com/office/drawing/2014/main" id="{D127BBDB-D025-FD8A-C85D-A801D42BDD16}"/>
              </a:ext>
            </a:extLst>
          </p:cNvPr>
          <p:cNvSpPr>
            <a:spLocks noGrp="1"/>
          </p:cNvSpPr>
          <p:nvPr>
            <p:ph type="pic" sz="quarter" idx="14" hasCustomPrompt="1"/>
          </p:nvPr>
        </p:nvSpPr>
        <p:spPr>
          <a:xfrm>
            <a:off x="3877200" y="3988800"/>
            <a:ext cx="5371200" cy="2249487"/>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3" name="テキスト プレースホルダー 12">
            <a:extLst>
              <a:ext uri="{FF2B5EF4-FFF2-40B4-BE49-F238E27FC236}">
                <a16:creationId xmlns:a16="http://schemas.microsoft.com/office/drawing/2014/main" id="{A7430A91-EF7E-38AA-26AE-08F2AE017756}"/>
              </a:ext>
            </a:extLst>
          </p:cNvPr>
          <p:cNvSpPr>
            <a:spLocks noGrp="1"/>
          </p:cNvSpPr>
          <p:nvPr>
            <p:ph type="body" sz="quarter" idx="15"/>
          </p:nvPr>
        </p:nvSpPr>
        <p:spPr>
          <a:xfrm>
            <a:off x="3877200" y="5400000"/>
            <a:ext cx="5371200" cy="838800"/>
          </a:xfrm>
        </p:spPr>
        <p:txBody>
          <a:bodyPr anchor="t" anchorCtr="0"/>
          <a:lstStyle>
            <a:lvl1pPr algn="ctr">
              <a:defRPr>
                <a:solidFill>
                  <a:schemeClr val="bg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kumimoji="1" lang="ja-JP" altLang="en-US"/>
              <a:t>マスター テキストの書式設定</a:t>
            </a:r>
          </a:p>
        </p:txBody>
      </p:sp>
      <p:sp>
        <p:nvSpPr>
          <p:cNvPr id="15" name="テキスト プレースホルダー 14">
            <a:extLst>
              <a:ext uri="{FF2B5EF4-FFF2-40B4-BE49-F238E27FC236}">
                <a16:creationId xmlns:a16="http://schemas.microsoft.com/office/drawing/2014/main" id="{8E3F89E9-9AFA-9CD7-A1FE-3F17B7226957}"/>
              </a:ext>
            </a:extLst>
          </p:cNvPr>
          <p:cNvSpPr>
            <a:spLocks noGrp="1"/>
          </p:cNvSpPr>
          <p:nvPr>
            <p:ph type="body" sz="quarter" idx="16"/>
          </p:nvPr>
        </p:nvSpPr>
        <p:spPr>
          <a:xfrm>
            <a:off x="9360000" y="334800"/>
            <a:ext cx="2473200" cy="1699200"/>
          </a:xfrm>
          <a:solidFill>
            <a:schemeClr val="accent6"/>
          </a:solidFill>
        </p:spPr>
        <p:txBody>
          <a:bodyPr anchor="ct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17" name="図プレースホルダー 16">
            <a:extLst>
              <a:ext uri="{FF2B5EF4-FFF2-40B4-BE49-F238E27FC236}">
                <a16:creationId xmlns:a16="http://schemas.microsoft.com/office/drawing/2014/main" id="{36D62073-F3ED-902D-ABDD-53B579CEBC66}"/>
              </a:ext>
            </a:extLst>
          </p:cNvPr>
          <p:cNvSpPr>
            <a:spLocks noGrp="1"/>
          </p:cNvSpPr>
          <p:nvPr>
            <p:ph type="pic" sz="quarter" idx="17" hasCustomPrompt="1"/>
          </p:nvPr>
        </p:nvSpPr>
        <p:spPr>
          <a:xfrm>
            <a:off x="9349200" y="2138400"/>
            <a:ext cx="2484000" cy="2682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9" name="テキスト プレースホルダー 18">
            <a:extLst>
              <a:ext uri="{FF2B5EF4-FFF2-40B4-BE49-F238E27FC236}">
                <a16:creationId xmlns:a16="http://schemas.microsoft.com/office/drawing/2014/main" id="{4A8E1685-4EC8-2142-116E-6C7F07537E72}"/>
              </a:ext>
            </a:extLst>
          </p:cNvPr>
          <p:cNvSpPr>
            <a:spLocks noGrp="1"/>
          </p:cNvSpPr>
          <p:nvPr>
            <p:ph type="body" sz="quarter" idx="18"/>
          </p:nvPr>
        </p:nvSpPr>
        <p:spPr>
          <a:xfrm>
            <a:off x="9360000" y="3744000"/>
            <a:ext cx="2473200" cy="1076400"/>
          </a:xfrm>
        </p:spPr>
        <p:txBody>
          <a:bodyP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21" name="テキスト プレースホルダー 20">
            <a:extLst>
              <a:ext uri="{FF2B5EF4-FFF2-40B4-BE49-F238E27FC236}">
                <a16:creationId xmlns:a16="http://schemas.microsoft.com/office/drawing/2014/main" id="{A9A8FCD4-EB65-F684-B13F-80CED75EC550}"/>
              </a:ext>
            </a:extLst>
          </p:cNvPr>
          <p:cNvSpPr>
            <a:spLocks noGrp="1"/>
          </p:cNvSpPr>
          <p:nvPr>
            <p:ph type="body" sz="quarter" idx="19"/>
          </p:nvPr>
        </p:nvSpPr>
        <p:spPr>
          <a:xfrm>
            <a:off x="9349200" y="4928400"/>
            <a:ext cx="2469600" cy="1310400"/>
          </a:xfrm>
          <a:solidFill>
            <a:schemeClr val="accent2"/>
          </a:solidFill>
        </p:spPr>
        <p:txBody>
          <a:bodyPr anchor="ctr"/>
          <a:lstStyle>
            <a:lvl1pPr algn="ctr">
              <a:defRPr sz="2130">
                <a:solidFill>
                  <a:schemeClr val="bg1"/>
                </a:solidFill>
              </a:defRPr>
            </a:lvl1pPr>
          </a:lstStyle>
          <a:p>
            <a:pPr lvl="0"/>
            <a:r>
              <a:rPr kumimoji="1" lang="ja-JP" altLang="en-US"/>
              <a:t>マスター テキストの書式設定</a:t>
            </a:r>
          </a:p>
        </p:txBody>
      </p:sp>
      <p:sp>
        <p:nvSpPr>
          <p:cNvPr id="8" name="テキスト ボックス 7">
            <a:extLst>
              <a:ext uri="{FF2B5EF4-FFF2-40B4-BE49-F238E27FC236}">
                <a16:creationId xmlns:a16="http://schemas.microsoft.com/office/drawing/2014/main" id="{C76A7A10-7575-DD29-07D8-321ECD75E9AA}"/>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298384894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userDrawn="1">
  <p:cSld name="写真背景">
    <p:bg>
      <p:bgRef idx="1001">
        <a:schemeClr val="bg1"/>
      </p:bgRef>
    </p:bg>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32BAA3C9-E6D9-AE11-A16C-34CC9C76E6A5}"/>
              </a:ext>
            </a:extLst>
          </p:cNvPr>
          <p:cNvPicPr>
            <a:picLocks noChangeAspect="1"/>
          </p:cNvPicPr>
          <p:nvPr userDrawn="1"/>
        </p:nvPicPr>
        <p:blipFill>
          <a:blip r:embed="rId2"/>
          <a:srcRect/>
          <a:stretch/>
        </p:blipFill>
        <p:spPr>
          <a:xfrm>
            <a:off x="1" y="-1"/>
            <a:ext cx="12191998" cy="6857999"/>
          </a:xfrm>
          <a:prstGeom prst="rect">
            <a:avLst/>
          </a:prstGeom>
        </p:spPr>
      </p:pic>
      <p:sp>
        <p:nvSpPr>
          <p:cNvPr id="11" name="正方形/長方形 10">
            <a:extLst>
              <a:ext uri="{FF2B5EF4-FFF2-40B4-BE49-F238E27FC236}">
                <a16:creationId xmlns:a16="http://schemas.microsoft.com/office/drawing/2014/main" id="{4EB59AC5-1B60-A021-8B7D-DF59CBAD3A75}"/>
              </a:ext>
            </a:extLst>
          </p:cNvPr>
          <p:cNvSpPr/>
          <p:nvPr userDrawn="1"/>
        </p:nvSpPr>
        <p:spPr>
          <a:xfrm>
            <a:off x="0" y="-1"/>
            <a:ext cx="12192000" cy="6857998"/>
          </a:xfrm>
          <a:prstGeom prst="rect">
            <a:avLst/>
          </a:prstGeom>
          <a:solidFill>
            <a:srgbClr val="050D24">
              <a:alpha val="58367"/>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12" name="図 11">
            <a:extLst>
              <a:ext uri="{FF2B5EF4-FFF2-40B4-BE49-F238E27FC236}">
                <a16:creationId xmlns:a16="http://schemas.microsoft.com/office/drawing/2014/main" id="{CB41749C-507D-C7F2-AA9C-DC270B029338}"/>
              </a:ext>
            </a:extLst>
          </p:cNvPr>
          <p:cNvPicPr>
            <a:picLocks noChangeAspect="1"/>
          </p:cNvPicPr>
          <p:nvPr userDrawn="1"/>
        </p:nvPicPr>
        <p:blipFill>
          <a:blip r:embed="rId3"/>
          <a:srcRect/>
          <a:stretch/>
        </p:blipFill>
        <p:spPr>
          <a:xfrm>
            <a:off x="3885475" y="2865911"/>
            <a:ext cx="4421049" cy="1126177"/>
          </a:xfrm>
          <a:prstGeom prst="rect">
            <a:avLst/>
          </a:prstGeom>
        </p:spPr>
      </p:pic>
    </p:spTree>
    <p:extLst>
      <p:ext uri="{BB962C8B-B14F-4D97-AF65-F5344CB8AC3E}">
        <p14:creationId xmlns:p14="http://schemas.microsoft.com/office/powerpoint/2010/main" val="1507843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image" Target="../media/image1.png"/><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image" Target="../media/image9.gif"/><Relationship Id="rId5" Type="http://schemas.openxmlformats.org/officeDocument/2006/relationships/theme" Target="../theme/theme5.xml"/><Relationship Id="rId4" Type="http://schemas.openxmlformats.org/officeDocument/2006/relationships/slideLayout" Target="../slideLayouts/slideLayout26.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slideLayout" Target="../slideLayouts/slideLayout28.xml"/><Relationship Id="rId1" Type="http://schemas.openxmlformats.org/officeDocument/2006/relationships/slideLayout" Target="../slideLayouts/slideLayout27.xml"/><Relationship Id="rId5" Type="http://schemas.openxmlformats.org/officeDocument/2006/relationships/image" Target="../media/image9.gif"/><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image" Target="../media/image9.gif"/><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44.xml"/><Relationship Id="rId1" Type="http://schemas.openxmlformats.org/officeDocument/2006/relationships/slideLayout" Target="../slideLayouts/slideLayout43.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47.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theme" Target="../theme/theme9.xml"/><Relationship Id="rId5" Type="http://schemas.openxmlformats.org/officeDocument/2006/relationships/slideLayout" Target="../slideLayouts/slideLayout49.xml"/><Relationship Id="rId4" Type="http://schemas.openxmlformats.org/officeDocument/2006/relationships/slideLayout" Target="../slideLayouts/slideLayout48.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5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theme" Target="../theme/theme1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oleObject" Target="../embeddings/oleObject1.bin"/><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tags" Target="../tags/tag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theme" Target="../theme/theme11.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image" Target="../media/image29.emf"/></Relationships>
</file>

<file path=ppt/slideMasters/_rels/slideMaster12.xml.rels><?xml version="1.0" encoding="UTF-8" standalone="yes"?>
<Relationships xmlns="http://schemas.openxmlformats.org/package/2006/relationships"><Relationship Id="rId3" Type="http://schemas.openxmlformats.org/officeDocument/2006/relationships/theme" Target="../theme/theme12.xml"/><Relationship Id="rId2" Type="http://schemas.openxmlformats.org/officeDocument/2006/relationships/slideLayout" Target="../slideLayouts/slideLayout71.xml"/><Relationship Id="rId1" Type="http://schemas.openxmlformats.org/officeDocument/2006/relationships/slideLayout" Target="../slideLayouts/slideLayout70.xml"/></Relationships>
</file>

<file path=ppt/slideMasters/_rels/slideMaster13.xml.rels><?xml version="1.0" encoding="UTF-8" standalone="yes"?>
<Relationships xmlns="http://schemas.openxmlformats.org/package/2006/relationships"><Relationship Id="rId3" Type="http://schemas.openxmlformats.org/officeDocument/2006/relationships/slideLayout" Target="../slideLayouts/slideLayout74.xml"/><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image" Target="../media/image1.png"/><Relationship Id="rId5" Type="http://schemas.openxmlformats.org/officeDocument/2006/relationships/theme" Target="../theme/theme13.xml"/><Relationship Id="rId4" Type="http://schemas.openxmlformats.org/officeDocument/2006/relationships/slideLayout" Target="../slideLayouts/slideLayout75.xml"/></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78.xml"/><Relationship Id="rId2" Type="http://schemas.openxmlformats.org/officeDocument/2006/relationships/slideLayout" Target="../slideLayouts/slideLayout77.xml"/><Relationship Id="rId1" Type="http://schemas.openxmlformats.org/officeDocument/2006/relationships/slideLayout" Target="../slideLayouts/slideLayout76.xml"/><Relationship Id="rId6" Type="http://schemas.openxmlformats.org/officeDocument/2006/relationships/theme" Target="../theme/theme14.xml"/><Relationship Id="rId5" Type="http://schemas.openxmlformats.org/officeDocument/2006/relationships/slideLayout" Target="../slideLayouts/slideLayout80.xml"/><Relationship Id="rId4" Type="http://schemas.openxmlformats.org/officeDocument/2006/relationships/slideLayout" Target="../slideLayouts/slideLayout79.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88.xml"/><Relationship Id="rId13" Type="http://schemas.openxmlformats.org/officeDocument/2006/relationships/slideLayout" Target="../slideLayouts/slideLayout93.xml"/><Relationship Id="rId3" Type="http://schemas.openxmlformats.org/officeDocument/2006/relationships/slideLayout" Target="../slideLayouts/slideLayout83.xml"/><Relationship Id="rId7" Type="http://schemas.openxmlformats.org/officeDocument/2006/relationships/slideLayout" Target="../slideLayouts/slideLayout87.xml"/><Relationship Id="rId12" Type="http://schemas.openxmlformats.org/officeDocument/2006/relationships/slideLayout" Target="../slideLayouts/slideLayout92.xml"/><Relationship Id="rId2" Type="http://schemas.openxmlformats.org/officeDocument/2006/relationships/slideLayout" Target="../slideLayouts/slideLayout82.xml"/><Relationship Id="rId16" Type="http://schemas.openxmlformats.org/officeDocument/2006/relationships/image" Target="../media/image1.png"/><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slideLayout" Target="../slideLayouts/slideLayout91.xml"/><Relationship Id="rId5" Type="http://schemas.openxmlformats.org/officeDocument/2006/relationships/slideLayout" Target="../slideLayouts/slideLayout85.xml"/><Relationship Id="rId15" Type="http://schemas.openxmlformats.org/officeDocument/2006/relationships/theme" Target="../theme/theme15.xml"/><Relationship Id="rId10" Type="http://schemas.openxmlformats.org/officeDocument/2006/relationships/slideLayout" Target="../slideLayouts/slideLayout90.xml"/><Relationship Id="rId4" Type="http://schemas.openxmlformats.org/officeDocument/2006/relationships/slideLayout" Target="../slideLayouts/slideLayout84.xml"/><Relationship Id="rId9" Type="http://schemas.openxmlformats.org/officeDocument/2006/relationships/slideLayout" Target="../slideLayouts/slideLayout89.xml"/><Relationship Id="rId14" Type="http://schemas.openxmlformats.org/officeDocument/2006/relationships/slideLayout" Target="../slideLayouts/slideLayout9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9BAA029A-FBBF-0DA2-B8D6-BC87BC147E66}"/>
              </a:ext>
            </a:extLst>
          </p:cNvPr>
          <p:cNvPicPr>
            <a:picLocks noChangeAspect="1"/>
          </p:cNvPicPr>
          <p:nvPr userDrawn="1"/>
        </p:nvPicPr>
        <p:blipFill>
          <a:blip r:embed="rId6"/>
          <a:stretch>
            <a:fillRect/>
          </a:stretch>
        </p:blipFill>
        <p:spPr>
          <a:xfrm>
            <a:off x="227967" y="191534"/>
            <a:ext cx="2244917" cy="569864"/>
          </a:xfrm>
          <a:prstGeom prst="rect">
            <a:avLst/>
          </a:prstGeom>
        </p:spPr>
      </p:pic>
      <p:sp>
        <p:nvSpPr>
          <p:cNvPr id="12" name="テキスト ボックス 11">
            <a:extLst>
              <a:ext uri="{FF2B5EF4-FFF2-40B4-BE49-F238E27FC236}">
                <a16:creationId xmlns:a16="http://schemas.microsoft.com/office/drawing/2014/main" id="{8E0B27DF-CFBE-A4A8-9EB1-3609B2C2EB77}"/>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rgbClr val="6B6B6B"/>
                </a:solidFill>
              </a:rPr>
              <a:t>© 2024 NTT DATA Japan Corporation</a:t>
            </a:r>
          </a:p>
        </p:txBody>
      </p:sp>
    </p:spTree>
    <p:extLst>
      <p:ext uri="{BB962C8B-B14F-4D97-AF65-F5344CB8AC3E}">
        <p14:creationId xmlns:p14="http://schemas.microsoft.com/office/powerpoint/2010/main" val="2903117392"/>
      </p:ext>
    </p:extLst>
  </p:cSld>
  <p:clrMap bg1="lt1" tx1="dk1" bg2="lt2" tx2="dk2" accent1="accent1" accent2="accent2" accent3="accent3" accent4="accent4" accent5="accent5" accent6="accent6" hlink="hlink" folHlink="folHlink"/>
  <p:sldLayoutIdLst>
    <p:sldLayoutId id="2147484009" r:id="rId1"/>
    <p:sldLayoutId id="2147483931" r:id="rId2"/>
    <p:sldLayoutId id="2147483932" r:id="rId3"/>
    <p:sldLayoutId id="2147483934" r:id="rId4"/>
  </p:sldLayoutIdLst>
  <p:hf hdr="0" dt="0"/>
  <p:txStyles>
    <p:titleStyle>
      <a:lvl1pPr algn="l" defTabSz="609555" rtl="0" eaLnBrk="1" fontAlgn="base" hangingPunct="1">
        <a:spcBef>
          <a:spcPct val="0"/>
        </a:spcBef>
        <a:spcAft>
          <a:spcPct val="0"/>
        </a:spcAft>
        <a:defRPr kumimoji="1" sz="2000" b="0" i="0" kern="1200" spc="0" baseline="0">
          <a:solidFill>
            <a:schemeClr val="accent1"/>
          </a:solidFill>
          <a:latin typeface="+mn-ea"/>
          <a:ea typeface="+mn-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20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userDrawn="1">
          <p15:clr>
            <a:srgbClr val="F26B43"/>
          </p15:clr>
        </p15:guide>
        <p15:guide id="2" pos="3840" userDrawn="1">
          <p15:clr>
            <a:srgbClr val="F26B43"/>
          </p15:clr>
        </p15:guide>
        <p15:guide id="4" pos="7446" userDrawn="1">
          <p15:clr>
            <a:srgbClr val="F26B43"/>
          </p15:clr>
        </p15:guide>
        <p15:guide id="6" orient="horz" pos="4201">
          <p15:clr>
            <a:srgbClr val="F26B43"/>
          </p15:clr>
        </p15:guide>
        <p15:guide id="11" orient="horz" pos="21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72EB1D28-97C8-BB72-8C7A-7FCA119F5F07}"/>
              </a:ext>
            </a:extLst>
          </p:cNvPr>
          <p:cNvPicPr>
            <a:picLocks noChangeAspect="1"/>
          </p:cNvPicPr>
          <p:nvPr userDrawn="1"/>
        </p:nvPicPr>
        <p:blipFill>
          <a:blip r:embed="rId5"/>
          <a:srcRect/>
          <a:stretch/>
        </p:blipFill>
        <p:spPr>
          <a:xfrm>
            <a:off x="10741025" y="6425921"/>
            <a:ext cx="1152894" cy="292657"/>
          </a:xfrm>
          <a:prstGeom prst="rect">
            <a:avLst/>
          </a:prstGeom>
        </p:spPr>
      </p:pic>
      <p:sp>
        <p:nvSpPr>
          <p:cNvPr id="4" name="テキスト ボックス 3">
            <a:extLst>
              <a:ext uri="{FF2B5EF4-FFF2-40B4-BE49-F238E27FC236}">
                <a16:creationId xmlns:a16="http://schemas.microsoft.com/office/drawing/2014/main" id="{32A0D56C-E1F5-E3B7-AD07-B9E1E5DD0E11}"/>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rgbClr val="6B6B6B"/>
                </a:solidFill>
              </a:rPr>
              <a:t>© 2024 NTT DATA Japan Corporation</a:t>
            </a:r>
          </a:p>
        </p:txBody>
      </p:sp>
    </p:spTree>
    <p:extLst>
      <p:ext uri="{BB962C8B-B14F-4D97-AF65-F5344CB8AC3E}">
        <p14:creationId xmlns:p14="http://schemas.microsoft.com/office/powerpoint/2010/main" val="2428608009"/>
      </p:ext>
    </p:extLst>
  </p:cSld>
  <p:clrMap bg1="lt1" tx1="dk1" bg2="lt2" tx2="dk2" accent1="accent1" accent2="accent2" accent3="accent3" accent4="accent4" accent5="accent5" accent6="accent6" hlink="hlink" folHlink="folHlink"/>
  <p:sldLayoutIdLst>
    <p:sldLayoutId id="2147483994" r:id="rId1"/>
    <p:sldLayoutId id="2147483973" r:id="rId2"/>
    <p:sldLayoutId id="2147483974" r:id="rId3"/>
  </p:sldLayoutIdLst>
  <p:hf hdr="0" dt="0"/>
  <p:txStyles>
    <p:titleStyle>
      <a:lvl1pPr algn="l" defTabSz="609555" rtl="0" eaLnBrk="1" fontAlgn="base" hangingPunct="1">
        <a:spcBef>
          <a:spcPct val="0"/>
        </a:spcBef>
        <a:spcAft>
          <a:spcPct val="0"/>
        </a:spcAft>
        <a:defRPr kumimoji="1" sz="9600" b="1" i="0" kern="1200" spc="200" baseline="0">
          <a:solidFill>
            <a:schemeClr val="accent2"/>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18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4201"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1FF17374-619F-B03A-AF33-23643D9990F2}"/>
              </a:ext>
            </a:extLst>
          </p:cNvPr>
          <p:cNvPicPr>
            <a:picLocks noChangeAspect="1"/>
          </p:cNvPicPr>
          <p:nvPr userDrawn="1"/>
        </p:nvPicPr>
        <p:blipFill>
          <a:blip r:embed="rId15"/>
          <a:srcRect/>
          <a:stretch/>
        </p:blipFill>
        <p:spPr>
          <a:xfrm>
            <a:off x="10741025" y="6425921"/>
            <a:ext cx="1152894" cy="292657"/>
          </a:xfrm>
          <a:prstGeom prst="rect">
            <a:avLst/>
          </a:prstGeom>
        </p:spPr>
      </p:pic>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407988" y="164693"/>
            <a:ext cx="11376026" cy="412538"/>
          </a:xfrm>
          <a:prstGeom prst="rect">
            <a:avLst/>
          </a:prstGeom>
        </p:spPr>
        <p:txBody>
          <a:bodyPr vert="horz" lIns="0" tIns="0" rIns="0" bIns="0" rtlCol="0" anchor="t" anchorCtr="0">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DD323A-9269-AE42-951E-F08FD291D3E6}"/>
              </a:ext>
            </a:extLst>
          </p:cNvPr>
          <p:cNvSpPr>
            <a:spLocks noGrp="1"/>
          </p:cNvSpPr>
          <p:nvPr>
            <p:ph type="body" idx="1"/>
          </p:nvPr>
        </p:nvSpPr>
        <p:spPr>
          <a:xfrm>
            <a:off x="407987" y="692150"/>
            <a:ext cx="11387161" cy="5796000"/>
          </a:xfrm>
          <a:prstGeom prst="rect">
            <a:avLst/>
          </a:prstGeom>
        </p:spPr>
        <p:txBody>
          <a:bodyPr vert="horz" lIns="0" tIns="0" rIns="0" bIns="0" rtlCol="0">
            <a:noAutofit/>
          </a:bodyPr>
          <a:lstStyle/>
          <a:p>
            <a:pPr marL="342900" lvl="0" indent="-342900">
              <a:buFont typeface="Wingdings" panose="05000000000000000000" pitchFamily="2" charset="2"/>
              <a:buChar char="n"/>
            </a:pPr>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9" name="テキスト ボックス 8">
            <a:extLst>
              <a:ext uri="{FF2B5EF4-FFF2-40B4-BE49-F238E27FC236}">
                <a16:creationId xmlns:a16="http://schemas.microsoft.com/office/drawing/2014/main" id="{1D1D4E16-E062-D856-6161-F5C259925C14}"/>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rgbClr val="6B6B6B"/>
                </a:solidFill>
              </a:rPr>
              <a:t>© 2024 NTT DATA Japan Corporation</a:t>
            </a:r>
          </a:p>
        </p:txBody>
      </p:sp>
    </p:spTree>
    <p:extLst>
      <p:ext uri="{BB962C8B-B14F-4D97-AF65-F5344CB8AC3E}">
        <p14:creationId xmlns:p14="http://schemas.microsoft.com/office/powerpoint/2010/main" val="697237"/>
      </p:ext>
    </p:extLst>
  </p:cSld>
  <p:clrMap bg1="lt1" tx1="dk1" bg2="lt2" tx2="dk2" accent1="accent1" accent2="accent2" accent3="accent3" accent4="accent4" accent5="accent5" accent6="accent6" hlink="hlink" folHlink="folHlink"/>
  <p:sldLayoutIdLst>
    <p:sldLayoutId id="2147483976" r:id="rId1"/>
    <p:sldLayoutId id="2147483977" r:id="rId2"/>
    <p:sldLayoutId id="2147483978" r:id="rId3"/>
    <p:sldLayoutId id="2147483979" r:id="rId4"/>
    <p:sldLayoutId id="2147483980" r:id="rId5"/>
    <p:sldLayoutId id="2147483981" r:id="rId6"/>
    <p:sldLayoutId id="2147483982" r:id="rId7"/>
    <p:sldLayoutId id="2147483983" r:id="rId8"/>
    <p:sldLayoutId id="2147483984" r:id="rId9"/>
    <p:sldLayoutId id="2147483985" r:id="rId10"/>
    <p:sldLayoutId id="2147483986" r:id="rId11"/>
    <p:sldLayoutId id="2147483987" r:id="rId12"/>
    <p:sldLayoutId id="2147484010" r:id="rId13"/>
  </p:sldLayoutIdLst>
  <p:hf hdr="0" dt="0"/>
  <p:txStyles>
    <p:titleStyle>
      <a:lvl1pPr algn="l" defTabSz="609555" rtl="0" eaLnBrk="1" fontAlgn="base" hangingPunct="1">
        <a:spcBef>
          <a:spcPct val="0"/>
        </a:spcBef>
        <a:spcAft>
          <a:spcPct val="0"/>
        </a:spcAft>
        <a:defRPr kumimoji="1" sz="2400" b="1" i="0" kern="1200" spc="0" baseline="0">
          <a:solidFill>
            <a:schemeClr val="accent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288000" rtl="0" eaLnBrk="1" fontAlgn="base" hangingPunct="1">
        <a:spcBef>
          <a:spcPct val="20000"/>
        </a:spcBef>
        <a:spcAft>
          <a:spcPct val="0"/>
        </a:spcAft>
        <a:buFont typeface="Arial" panose="020B0604020202020204" pitchFamily="34" charset="0"/>
        <a:buNone/>
        <a:tabLst/>
        <a:defRPr kumimoji="1" lang="ja-JP" altLang="en-US" sz="2000" b="0" kern="1200" dirty="0">
          <a:solidFill>
            <a:schemeClr val="tx1">
              <a:lumMod val="75000"/>
              <a:lumOff val="25000"/>
            </a:schemeClr>
          </a:solidFill>
          <a:latin typeface="Meiryo UI" panose="020B0604030504040204" pitchFamily="50" charset="-128"/>
          <a:ea typeface="Meiryo UI" panose="020B0604030504040204" pitchFamily="50" charset="-128"/>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lang="ja-JP" altLang="en-US" sz="2000" b="0" kern="1200" dirty="0">
          <a:solidFill>
            <a:schemeClr val="tx1">
              <a:lumMod val="75000"/>
              <a:lumOff val="25000"/>
            </a:schemeClr>
          </a:solidFill>
          <a:latin typeface="Meiryo UI" panose="020B0604030504040204" pitchFamily="50" charset="-128"/>
          <a:ea typeface="Meiryo UI" panose="020B0604030504040204" pitchFamily="50" charset="-128"/>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lang="ja-JP" altLang="en-US" sz="2000" b="0" kern="1200" dirty="0">
          <a:solidFill>
            <a:schemeClr val="tx1">
              <a:lumMod val="75000"/>
              <a:lumOff val="25000"/>
            </a:schemeClr>
          </a:solidFill>
          <a:latin typeface="Meiryo UI" panose="020B0604030504040204" pitchFamily="50" charset="-128"/>
          <a:ea typeface="Meiryo UI" panose="020B0604030504040204" pitchFamily="50" charset="-128"/>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lang="ja-JP" altLang="en-US" sz="2000" b="0" kern="1200" dirty="0">
          <a:solidFill>
            <a:schemeClr val="tx1">
              <a:lumMod val="75000"/>
              <a:lumOff val="25000"/>
            </a:schemeClr>
          </a:solidFill>
          <a:latin typeface="Meiryo UI" panose="020B0604030504040204" pitchFamily="50" charset="-128"/>
          <a:ea typeface="Meiryo UI" panose="020B0604030504040204" pitchFamily="50" charset="-128"/>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lang="ja-JP" altLang="en-US" sz="2000" b="0" kern="1200" dirty="0">
          <a:solidFill>
            <a:schemeClr val="tx1">
              <a:lumMod val="75000"/>
              <a:lumOff val="25000"/>
            </a:schemeClr>
          </a:solidFill>
          <a:latin typeface="Meiryo UI" panose="020B0604030504040204" pitchFamily="50" charset="-128"/>
          <a:ea typeface="Meiryo UI" panose="020B0604030504040204" pitchFamily="50" charset="-128"/>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userDrawn="1">
          <p15:clr>
            <a:srgbClr val="F26B43"/>
          </p15:clr>
        </p15:guide>
        <p15:guide id="4" orient="horz" pos="2160">
          <p15:clr>
            <a:srgbClr val="F26B43"/>
          </p15:clr>
        </p15:guide>
        <p15:guide id="6" orient="horz" pos="663" userDrawn="1">
          <p15:clr>
            <a:srgbClr val="F26B43"/>
          </p15:clr>
        </p15:guide>
        <p15:guide id="7" pos="3840">
          <p15:clr>
            <a:srgbClr val="F26B43"/>
          </p15:clr>
        </p15:guide>
        <p15:guide id="8" pos="7446" userDrawn="1">
          <p15:clr>
            <a:srgbClr val="F26B43"/>
          </p15:clr>
        </p15:guide>
        <p15:guide id="9" orient="horz" pos="3929" userDrawn="1">
          <p15:clr>
            <a:srgbClr val="F26B43"/>
          </p15:clr>
        </p15:guide>
        <p15:guide id="10" orient="horz" pos="210" userDrawn="1">
          <p15:clr>
            <a:srgbClr val="F26B43"/>
          </p15:clr>
        </p15:guide>
        <p15:guide id="12" orient="horz" pos="4201"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2970830"/>
      </p:ext>
    </p:extLst>
  </p:cSld>
  <p:clrMap bg1="lt1" tx1="dk1" bg2="lt2" tx2="dk2" accent1="accent1" accent2="accent2" accent3="accent3" accent4="accent4" accent5="accent5" accent6="accent6" hlink="hlink" folHlink="folHlink"/>
  <p:sldLayoutIdLst>
    <p:sldLayoutId id="2147483990" r:id="rId1"/>
    <p:sldLayoutId id="2147483991" r:id="rId2"/>
  </p:sldLayoutIdLst>
  <p:hf hdr="0" dt="0"/>
  <p:txStyles>
    <p:titleStyle>
      <a:lvl1pPr algn="l" defTabSz="609555" rtl="0" eaLnBrk="1" fontAlgn="base" hangingPunct="1">
        <a:spcBef>
          <a:spcPct val="0"/>
        </a:spcBef>
        <a:spcAft>
          <a:spcPct val="0"/>
        </a:spcAft>
        <a:defRPr kumimoji="1" sz="2400" b="1" i="0" kern="1200" spc="200" baseline="0">
          <a:solidFill>
            <a:schemeClr val="tx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18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2160" userDrawn="1">
          <p15:clr>
            <a:srgbClr val="F26B43"/>
          </p15:clr>
        </p15:guide>
        <p15:guide id="3" pos="384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9BAA029A-FBBF-0DA2-B8D6-BC87BC147E66}"/>
              </a:ext>
            </a:extLst>
          </p:cNvPr>
          <p:cNvPicPr>
            <a:picLocks noChangeAspect="1"/>
          </p:cNvPicPr>
          <p:nvPr userDrawn="1"/>
        </p:nvPicPr>
        <p:blipFill>
          <a:blip r:embed="rId6"/>
          <a:srcRect/>
          <a:stretch/>
        </p:blipFill>
        <p:spPr>
          <a:xfrm>
            <a:off x="231864" y="191534"/>
            <a:ext cx="2237123" cy="569864"/>
          </a:xfrm>
          <a:prstGeom prst="rect">
            <a:avLst/>
          </a:prstGeom>
        </p:spPr>
      </p:pic>
      <p:sp>
        <p:nvSpPr>
          <p:cNvPr id="6" name="テキスト ボックス 5">
            <a:extLst>
              <a:ext uri="{FF2B5EF4-FFF2-40B4-BE49-F238E27FC236}">
                <a16:creationId xmlns:a16="http://schemas.microsoft.com/office/drawing/2014/main" id="{B01BF0E7-CA3F-2C26-0703-F0CB01EA9A9E}"/>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2024 NTT DATA Japan Corporation</a:t>
            </a:r>
          </a:p>
        </p:txBody>
      </p:sp>
    </p:spTree>
    <p:extLst>
      <p:ext uri="{BB962C8B-B14F-4D97-AF65-F5344CB8AC3E}">
        <p14:creationId xmlns:p14="http://schemas.microsoft.com/office/powerpoint/2010/main" val="3635597696"/>
      </p:ext>
    </p:extLst>
  </p:cSld>
  <p:clrMap bg1="lt1" tx1="dk1" bg2="lt2" tx2="dk2" accent1="accent1" accent2="accent2" accent3="accent3" accent4="accent4" accent5="accent5" accent6="accent6" hlink="hlink" folHlink="folHlink"/>
  <p:sldLayoutIdLst>
    <p:sldLayoutId id="2147484002" r:id="rId1"/>
    <p:sldLayoutId id="2147484017" r:id="rId2"/>
    <p:sldLayoutId id="2147484016" r:id="rId3"/>
    <p:sldLayoutId id="2147484008" r:id="rId4"/>
  </p:sldLayoutIdLst>
  <p:hf hdr="0" dt="0"/>
  <p:txStyles>
    <p:titleStyle>
      <a:lvl1pPr algn="l" defTabSz="609555" rtl="0" eaLnBrk="1" fontAlgn="base" hangingPunct="1">
        <a:spcBef>
          <a:spcPct val="0"/>
        </a:spcBef>
        <a:spcAft>
          <a:spcPct val="0"/>
        </a:spcAft>
        <a:defRPr kumimoji="1" sz="2000" b="0" i="0" kern="1200" spc="0" baseline="0">
          <a:solidFill>
            <a:srgbClr val="F8F8F8"/>
          </a:solidFill>
          <a:latin typeface="+mn-ea"/>
          <a:ea typeface="+mn-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20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userDrawn="1">
          <p15:clr>
            <a:srgbClr val="F26B43"/>
          </p15:clr>
        </p15:guide>
        <p15:guide id="2" pos="3840" userDrawn="1">
          <p15:clr>
            <a:srgbClr val="F26B43"/>
          </p15:clr>
        </p15:guide>
        <p15:guide id="4" pos="7446" userDrawn="1">
          <p15:clr>
            <a:srgbClr val="F26B43"/>
          </p15:clr>
        </p15:guide>
        <p15:guide id="6" orient="horz" pos="4201">
          <p15:clr>
            <a:srgbClr val="F26B43"/>
          </p15:clr>
        </p15:guide>
        <p15:guide id="11" orient="horz" pos="21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72EB1D28-97C8-BB72-8C7A-7FCA119F5F07}"/>
              </a:ext>
            </a:extLst>
          </p:cNvPr>
          <p:cNvPicPr>
            <a:picLocks noChangeAspect="1"/>
          </p:cNvPicPr>
          <p:nvPr userDrawn="1"/>
        </p:nvPicPr>
        <p:blipFill>
          <a:blip r:embed="rId5"/>
          <a:srcRect/>
          <a:stretch/>
        </p:blipFill>
        <p:spPr>
          <a:xfrm>
            <a:off x="10743028" y="6425921"/>
            <a:ext cx="1148887" cy="292657"/>
          </a:xfrm>
          <a:prstGeom prst="rect">
            <a:avLst/>
          </a:prstGeom>
        </p:spPr>
      </p:pic>
      <p:sp>
        <p:nvSpPr>
          <p:cNvPr id="3" name="テキスト ボックス 2">
            <a:extLst>
              <a:ext uri="{FF2B5EF4-FFF2-40B4-BE49-F238E27FC236}">
                <a16:creationId xmlns:a16="http://schemas.microsoft.com/office/drawing/2014/main" id="{C8C1424A-EE89-C720-553C-1637224A6A99}"/>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2024 NTT DATA Japan Corporation</a:t>
            </a:r>
          </a:p>
        </p:txBody>
      </p:sp>
    </p:spTree>
    <p:extLst>
      <p:ext uri="{BB962C8B-B14F-4D97-AF65-F5344CB8AC3E}">
        <p14:creationId xmlns:p14="http://schemas.microsoft.com/office/powerpoint/2010/main" val="827340354"/>
      </p:ext>
    </p:extLst>
  </p:cSld>
  <p:clrMap bg1="lt1" tx1="dk1" bg2="lt2" tx2="dk2" accent1="accent1" accent2="accent2" accent3="accent3" accent4="accent4" accent5="accent5" accent6="accent6" hlink="hlink" folHlink="folHlink"/>
  <p:sldLayoutIdLst>
    <p:sldLayoutId id="2147483963" r:id="rId1"/>
    <p:sldLayoutId id="2147483964" r:id="rId2"/>
    <p:sldLayoutId id="2147483965" r:id="rId3"/>
  </p:sldLayoutIdLst>
  <p:hf hdr="0" dt="0"/>
  <p:txStyles>
    <p:titleStyle>
      <a:lvl1pPr algn="l" defTabSz="609555" rtl="0" eaLnBrk="1" fontAlgn="base" hangingPunct="1">
        <a:spcBef>
          <a:spcPct val="0"/>
        </a:spcBef>
        <a:spcAft>
          <a:spcPct val="0"/>
        </a:spcAft>
        <a:defRPr kumimoji="1" sz="9600" b="1" i="0" kern="1200" spc="200" baseline="0">
          <a:solidFill>
            <a:schemeClr val="bg2"/>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18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420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1FF17374-619F-B03A-AF33-23643D9990F2}"/>
              </a:ext>
            </a:extLst>
          </p:cNvPr>
          <p:cNvPicPr>
            <a:picLocks noChangeAspect="1"/>
          </p:cNvPicPr>
          <p:nvPr userDrawn="1"/>
        </p:nvPicPr>
        <p:blipFill>
          <a:blip r:embed="rId15"/>
          <a:srcRect/>
          <a:stretch/>
        </p:blipFill>
        <p:spPr>
          <a:xfrm>
            <a:off x="10743026" y="6425921"/>
            <a:ext cx="1148891" cy="292658"/>
          </a:xfrm>
          <a:prstGeom prst="rect">
            <a:avLst/>
          </a:prstGeom>
        </p:spPr>
      </p:pic>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407988" y="164693"/>
            <a:ext cx="11376026" cy="412538"/>
          </a:xfrm>
          <a:prstGeom prst="rect">
            <a:avLst/>
          </a:prstGeom>
        </p:spPr>
        <p:txBody>
          <a:bodyPr vert="horz" lIns="0" tIns="0" rIns="0" bIns="0" rtlCol="0" anchor="t" anchorCtr="0">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DD323A-9269-AE42-951E-F08FD291D3E6}"/>
              </a:ext>
            </a:extLst>
          </p:cNvPr>
          <p:cNvSpPr>
            <a:spLocks noGrp="1"/>
          </p:cNvSpPr>
          <p:nvPr>
            <p:ph type="body" idx="1"/>
          </p:nvPr>
        </p:nvSpPr>
        <p:spPr>
          <a:xfrm>
            <a:off x="407987" y="692150"/>
            <a:ext cx="11387161" cy="5796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ボックス 3">
            <a:extLst>
              <a:ext uri="{FF2B5EF4-FFF2-40B4-BE49-F238E27FC236}">
                <a16:creationId xmlns:a16="http://schemas.microsoft.com/office/drawing/2014/main" id="{CD1C27BE-E0A7-BBB4-DB0E-D4D404FF82A4}"/>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2024 NTT DATA Japan Corporation</a:t>
            </a:r>
          </a:p>
        </p:txBody>
      </p:sp>
    </p:spTree>
    <p:extLst>
      <p:ext uri="{BB962C8B-B14F-4D97-AF65-F5344CB8AC3E}">
        <p14:creationId xmlns:p14="http://schemas.microsoft.com/office/powerpoint/2010/main" val="3713879408"/>
      </p:ext>
    </p:extLst>
  </p:cSld>
  <p:clrMap bg1="lt1" tx1="dk1" bg2="lt2" tx2="dk2" accent1="accent1" accent2="accent2" accent3="accent3" accent4="accent4" accent5="accent5" accent6="accent6" hlink="hlink" folHlink="folHlink"/>
  <p:sldLayoutIdLst>
    <p:sldLayoutId id="2147483935" r:id="rId1"/>
    <p:sldLayoutId id="2147483936" r:id="rId2"/>
    <p:sldLayoutId id="2147483937" r:id="rId3"/>
    <p:sldLayoutId id="2147483938" r:id="rId4"/>
    <p:sldLayoutId id="2147483939" r:id="rId5"/>
    <p:sldLayoutId id="2147483940" r:id="rId6"/>
    <p:sldLayoutId id="2147483941" r:id="rId7"/>
    <p:sldLayoutId id="2147483944" r:id="rId8"/>
    <p:sldLayoutId id="2147483947" r:id="rId9"/>
    <p:sldLayoutId id="2147483948" r:id="rId10"/>
    <p:sldLayoutId id="2147484018" r:id="rId11"/>
    <p:sldLayoutId id="2147483951" r:id="rId12"/>
    <p:sldLayoutId id="2147484011" r:id="rId13"/>
  </p:sldLayoutIdLst>
  <p:hf hdr="0" dt="0"/>
  <p:txStyles>
    <p:titleStyle>
      <a:lvl1pPr algn="l" defTabSz="609555" rtl="0" eaLnBrk="1" fontAlgn="base" hangingPunct="1">
        <a:spcBef>
          <a:spcPct val="0"/>
        </a:spcBef>
        <a:spcAft>
          <a:spcPct val="0"/>
        </a:spcAft>
        <a:defRPr kumimoji="1" sz="2400" b="1" i="0" kern="1200" spc="0" baseline="0">
          <a:solidFill>
            <a:schemeClr val="bg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bg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bg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bg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bg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bg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userDrawn="1">
          <p15:clr>
            <a:srgbClr val="F26B43"/>
          </p15:clr>
        </p15:guide>
        <p15:guide id="4" orient="horz" pos="2160">
          <p15:clr>
            <a:srgbClr val="F26B43"/>
          </p15:clr>
        </p15:guide>
        <p15:guide id="6" orient="horz" pos="663" userDrawn="1">
          <p15:clr>
            <a:srgbClr val="F26B43"/>
          </p15:clr>
        </p15:guide>
        <p15:guide id="7" pos="3840">
          <p15:clr>
            <a:srgbClr val="F26B43"/>
          </p15:clr>
        </p15:guide>
        <p15:guide id="8" pos="7446" userDrawn="1">
          <p15:clr>
            <a:srgbClr val="F26B43"/>
          </p15:clr>
        </p15:guide>
        <p15:guide id="9" orient="horz" pos="3929" userDrawn="1">
          <p15:clr>
            <a:srgbClr val="F26B43"/>
          </p15:clr>
        </p15:guide>
        <p15:guide id="10" orient="horz" pos="210" userDrawn="1">
          <p15:clr>
            <a:srgbClr val="F26B43"/>
          </p15:clr>
        </p15:guide>
        <p15:guide id="12" orient="horz" pos="4201"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8014743"/>
      </p:ext>
    </p:extLst>
  </p:cSld>
  <p:clrMap bg1="lt1" tx1="dk1" bg2="lt2" tx2="dk2" accent1="accent1" accent2="accent2" accent3="accent3" accent4="accent4" accent5="accent5" accent6="accent6" hlink="hlink" folHlink="folHlink"/>
  <p:sldLayoutIdLst>
    <p:sldLayoutId id="2147483648" r:id="rId1"/>
    <p:sldLayoutId id="2147483649" r:id="rId2"/>
  </p:sldLayoutIdLst>
  <p:hf hdr="0" dt="0"/>
  <p:txStyles>
    <p:titleStyle>
      <a:lvl1pPr algn="l" defTabSz="609555" rtl="0" eaLnBrk="1" fontAlgn="base" hangingPunct="1">
        <a:spcBef>
          <a:spcPct val="0"/>
        </a:spcBef>
        <a:spcAft>
          <a:spcPct val="0"/>
        </a:spcAft>
        <a:defRPr kumimoji="1" sz="2400" b="1" i="0" kern="1200" spc="200" baseline="0">
          <a:solidFill>
            <a:schemeClr val="tx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18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2160" userDrawn="1">
          <p15:clr>
            <a:srgbClr val="F26B43"/>
          </p15:clr>
        </p15:guide>
        <p15:guide id="3" pos="3840"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1834177"/>
      </p:ext>
    </p:extLst>
  </p:cSld>
  <p:clrMap bg1="lt1" tx1="dk1" bg2="lt2" tx2="dk2" accent1="accent1" accent2="accent2" accent3="accent3" accent4="accent4" accent5="accent5" accent6="accent6" hlink="hlink" folHlink="folHlink"/>
  <p:sldLayoutIdLst>
    <p:sldLayoutId id="2147484022" r:id="rId1"/>
    <p:sldLayoutId id="2147484023" r:id="rId2"/>
    <p:sldLayoutId id="2147484024" r:id="rId3"/>
    <p:sldLayoutId id="2147484025" r:id="rId4"/>
    <p:sldLayoutId id="2147484027" r:id="rId5"/>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6052463"/>
      </p:ext>
    </p:extLst>
  </p:cSld>
  <p:clrMap bg1="lt1" tx1="dk1" bg2="lt2" tx2="dk2" accent1="accent1" accent2="accent2" accent3="accent3" accent4="accent4" accent5="accent5" accent6="accent6" hlink="hlink" folHlink="folHlink"/>
  <p:sldLayoutIdLst>
    <p:sldLayoutId id="2147484029" r:id="rId1"/>
    <p:sldLayoutId id="2147484030" r:id="rId2"/>
    <p:sldLayoutId id="2147484031" r:id="rId3"/>
    <p:sldLayoutId id="2147484032" r:id="rId4"/>
    <p:sldLayoutId id="2147484033" r:id="rId5"/>
    <p:sldLayoutId id="2147484034" r:id="rId6"/>
    <p:sldLayoutId id="2147484035" r:id="rId7"/>
    <p:sldLayoutId id="2147484036" r:id="rId8"/>
    <p:sldLayoutId id="2147484037" r:id="rId9"/>
    <p:sldLayoutId id="2147484038" r:id="rId10"/>
  </p:sldLayoutIdLst>
  <p:txStyles>
    <p:titleStyle>
      <a:lvl1pPr algn="l" defTabSz="779119" rtl="0" eaLnBrk="1" latinLnBrk="0" hangingPunct="1">
        <a:lnSpc>
          <a:spcPct val="90000"/>
        </a:lnSpc>
        <a:spcBef>
          <a:spcPct val="0"/>
        </a:spcBef>
        <a:buNone/>
        <a:defRPr kumimoji="1" sz="3699" kern="1200">
          <a:solidFill>
            <a:schemeClr val="tx1"/>
          </a:solidFill>
          <a:latin typeface="+mj-lt"/>
          <a:ea typeface="+mj-ea"/>
          <a:cs typeface="+mj-cs"/>
        </a:defRPr>
      </a:lvl1pPr>
    </p:titleStyle>
    <p:bodyStyle>
      <a:lvl1pPr marL="194780" indent="-194780" algn="l" defTabSz="779119" rtl="0" eaLnBrk="1" latinLnBrk="0" hangingPunct="1">
        <a:lnSpc>
          <a:spcPct val="90000"/>
        </a:lnSpc>
        <a:spcBef>
          <a:spcPts val="852"/>
        </a:spcBef>
        <a:buFont typeface="Arial" panose="020B0604020202020204" pitchFamily="34" charset="0"/>
        <a:buChar char="•"/>
        <a:defRPr kumimoji="1" sz="2400" kern="1200">
          <a:solidFill>
            <a:schemeClr val="tx1"/>
          </a:solidFill>
          <a:latin typeface="+mn-lt"/>
          <a:ea typeface="+mn-ea"/>
          <a:cs typeface="+mn-cs"/>
        </a:defRPr>
      </a:lvl1pPr>
      <a:lvl2pPr marL="584339" indent="-194780" algn="l" defTabSz="779119" rtl="0" eaLnBrk="1" latinLnBrk="0" hangingPunct="1">
        <a:lnSpc>
          <a:spcPct val="90000"/>
        </a:lnSpc>
        <a:spcBef>
          <a:spcPts val="426"/>
        </a:spcBef>
        <a:buFont typeface="Arial" panose="020B0604020202020204" pitchFamily="34" charset="0"/>
        <a:buChar char="•"/>
        <a:defRPr kumimoji="1" sz="2000" kern="1200">
          <a:solidFill>
            <a:schemeClr val="tx1"/>
          </a:solidFill>
          <a:latin typeface="+mn-lt"/>
          <a:ea typeface="+mn-ea"/>
          <a:cs typeface="+mn-cs"/>
        </a:defRPr>
      </a:lvl2pPr>
      <a:lvl3pPr marL="973898" indent="-194780" algn="l" defTabSz="779119" rtl="0" eaLnBrk="1" latinLnBrk="0" hangingPunct="1">
        <a:lnSpc>
          <a:spcPct val="90000"/>
        </a:lnSpc>
        <a:spcBef>
          <a:spcPts val="426"/>
        </a:spcBef>
        <a:buFont typeface="Arial" panose="020B0604020202020204" pitchFamily="34" charset="0"/>
        <a:buChar char="•"/>
        <a:defRPr kumimoji="1" sz="1700" kern="1200">
          <a:solidFill>
            <a:schemeClr val="tx1"/>
          </a:solidFill>
          <a:latin typeface="+mn-lt"/>
          <a:ea typeface="+mn-ea"/>
          <a:cs typeface="+mn-cs"/>
        </a:defRPr>
      </a:lvl3pPr>
      <a:lvl4pPr marL="1363457" indent="-194780" algn="l" defTabSz="779119" rtl="0" eaLnBrk="1" latinLnBrk="0" hangingPunct="1">
        <a:lnSpc>
          <a:spcPct val="90000"/>
        </a:lnSpc>
        <a:spcBef>
          <a:spcPts val="426"/>
        </a:spcBef>
        <a:buFont typeface="Arial" panose="020B0604020202020204" pitchFamily="34" charset="0"/>
        <a:buChar char="•"/>
        <a:defRPr kumimoji="1" sz="1500" kern="1200">
          <a:solidFill>
            <a:schemeClr val="tx1"/>
          </a:solidFill>
          <a:latin typeface="+mn-lt"/>
          <a:ea typeface="+mn-ea"/>
          <a:cs typeface="+mn-cs"/>
        </a:defRPr>
      </a:lvl4pPr>
      <a:lvl5pPr marL="1753017" indent="-194780" algn="l" defTabSz="779119" rtl="0" eaLnBrk="1" latinLnBrk="0" hangingPunct="1">
        <a:lnSpc>
          <a:spcPct val="90000"/>
        </a:lnSpc>
        <a:spcBef>
          <a:spcPts val="426"/>
        </a:spcBef>
        <a:buFont typeface="Arial" panose="020B0604020202020204" pitchFamily="34" charset="0"/>
        <a:buChar char="•"/>
        <a:defRPr kumimoji="1" sz="1500" kern="1200">
          <a:solidFill>
            <a:schemeClr val="tx1"/>
          </a:solidFill>
          <a:latin typeface="+mn-lt"/>
          <a:ea typeface="+mn-ea"/>
          <a:cs typeface="+mn-cs"/>
        </a:defRPr>
      </a:lvl5pPr>
      <a:lvl6pPr marL="2142576" indent="-194780" algn="l" defTabSz="779119" rtl="0" eaLnBrk="1" latinLnBrk="0" hangingPunct="1">
        <a:lnSpc>
          <a:spcPct val="90000"/>
        </a:lnSpc>
        <a:spcBef>
          <a:spcPts val="426"/>
        </a:spcBef>
        <a:buFont typeface="Arial" panose="020B0604020202020204" pitchFamily="34" charset="0"/>
        <a:buChar char="•"/>
        <a:defRPr kumimoji="1" sz="1500" kern="1200">
          <a:solidFill>
            <a:schemeClr val="tx1"/>
          </a:solidFill>
          <a:latin typeface="+mn-lt"/>
          <a:ea typeface="+mn-ea"/>
          <a:cs typeface="+mn-cs"/>
        </a:defRPr>
      </a:lvl6pPr>
      <a:lvl7pPr marL="2532135" indent="-194780" algn="l" defTabSz="779119" rtl="0" eaLnBrk="1" latinLnBrk="0" hangingPunct="1">
        <a:lnSpc>
          <a:spcPct val="90000"/>
        </a:lnSpc>
        <a:spcBef>
          <a:spcPts val="426"/>
        </a:spcBef>
        <a:buFont typeface="Arial" panose="020B0604020202020204" pitchFamily="34" charset="0"/>
        <a:buChar char="•"/>
        <a:defRPr kumimoji="1" sz="1500" kern="1200">
          <a:solidFill>
            <a:schemeClr val="tx1"/>
          </a:solidFill>
          <a:latin typeface="+mn-lt"/>
          <a:ea typeface="+mn-ea"/>
          <a:cs typeface="+mn-cs"/>
        </a:defRPr>
      </a:lvl7pPr>
      <a:lvl8pPr marL="2921696" indent="-194780" algn="l" defTabSz="779119" rtl="0" eaLnBrk="1" latinLnBrk="0" hangingPunct="1">
        <a:lnSpc>
          <a:spcPct val="90000"/>
        </a:lnSpc>
        <a:spcBef>
          <a:spcPts val="426"/>
        </a:spcBef>
        <a:buFont typeface="Arial" panose="020B0604020202020204" pitchFamily="34" charset="0"/>
        <a:buChar char="•"/>
        <a:defRPr kumimoji="1" sz="1500" kern="1200">
          <a:solidFill>
            <a:schemeClr val="tx1"/>
          </a:solidFill>
          <a:latin typeface="+mn-lt"/>
          <a:ea typeface="+mn-ea"/>
          <a:cs typeface="+mn-cs"/>
        </a:defRPr>
      </a:lvl8pPr>
      <a:lvl9pPr marL="3311255" indent="-194780" algn="l" defTabSz="779119" rtl="0" eaLnBrk="1" latinLnBrk="0" hangingPunct="1">
        <a:lnSpc>
          <a:spcPct val="90000"/>
        </a:lnSpc>
        <a:spcBef>
          <a:spcPts val="426"/>
        </a:spcBef>
        <a:buFont typeface="Arial" panose="020B0604020202020204" pitchFamily="34" charset="0"/>
        <a:buChar char="•"/>
        <a:defRPr kumimoji="1" sz="1500" kern="1200">
          <a:solidFill>
            <a:schemeClr val="tx1"/>
          </a:solidFill>
          <a:latin typeface="+mn-lt"/>
          <a:ea typeface="+mn-ea"/>
          <a:cs typeface="+mn-cs"/>
        </a:defRPr>
      </a:lvl9pPr>
    </p:bodyStyle>
    <p:otherStyle>
      <a:defPPr>
        <a:defRPr lang="en-US"/>
      </a:defPPr>
      <a:lvl1pPr marL="0" algn="l" defTabSz="779119" rtl="0" eaLnBrk="1" latinLnBrk="0" hangingPunct="1">
        <a:defRPr kumimoji="1" sz="1500" kern="1200">
          <a:solidFill>
            <a:schemeClr val="tx1"/>
          </a:solidFill>
          <a:latin typeface="+mn-lt"/>
          <a:ea typeface="+mn-ea"/>
          <a:cs typeface="+mn-cs"/>
        </a:defRPr>
      </a:lvl1pPr>
      <a:lvl2pPr marL="389559" algn="l" defTabSz="779119" rtl="0" eaLnBrk="1" latinLnBrk="0" hangingPunct="1">
        <a:defRPr kumimoji="1" sz="1500" kern="1200">
          <a:solidFill>
            <a:schemeClr val="tx1"/>
          </a:solidFill>
          <a:latin typeface="+mn-lt"/>
          <a:ea typeface="+mn-ea"/>
          <a:cs typeface="+mn-cs"/>
        </a:defRPr>
      </a:lvl2pPr>
      <a:lvl3pPr marL="779119" algn="l" defTabSz="779119" rtl="0" eaLnBrk="1" latinLnBrk="0" hangingPunct="1">
        <a:defRPr kumimoji="1" sz="1500" kern="1200">
          <a:solidFill>
            <a:schemeClr val="tx1"/>
          </a:solidFill>
          <a:latin typeface="+mn-lt"/>
          <a:ea typeface="+mn-ea"/>
          <a:cs typeface="+mn-cs"/>
        </a:defRPr>
      </a:lvl3pPr>
      <a:lvl4pPr marL="1168678" algn="l" defTabSz="779119" rtl="0" eaLnBrk="1" latinLnBrk="0" hangingPunct="1">
        <a:defRPr kumimoji="1" sz="1500" kern="1200">
          <a:solidFill>
            <a:schemeClr val="tx1"/>
          </a:solidFill>
          <a:latin typeface="+mn-lt"/>
          <a:ea typeface="+mn-ea"/>
          <a:cs typeface="+mn-cs"/>
        </a:defRPr>
      </a:lvl4pPr>
      <a:lvl5pPr marL="1558237" algn="l" defTabSz="779119" rtl="0" eaLnBrk="1" latinLnBrk="0" hangingPunct="1">
        <a:defRPr kumimoji="1" sz="1500" kern="1200">
          <a:solidFill>
            <a:schemeClr val="tx1"/>
          </a:solidFill>
          <a:latin typeface="+mn-lt"/>
          <a:ea typeface="+mn-ea"/>
          <a:cs typeface="+mn-cs"/>
        </a:defRPr>
      </a:lvl5pPr>
      <a:lvl6pPr marL="1947796" algn="l" defTabSz="779119" rtl="0" eaLnBrk="1" latinLnBrk="0" hangingPunct="1">
        <a:defRPr kumimoji="1" sz="1500" kern="1200">
          <a:solidFill>
            <a:schemeClr val="tx1"/>
          </a:solidFill>
          <a:latin typeface="+mn-lt"/>
          <a:ea typeface="+mn-ea"/>
          <a:cs typeface="+mn-cs"/>
        </a:defRPr>
      </a:lvl6pPr>
      <a:lvl7pPr marL="2337356" algn="l" defTabSz="779119" rtl="0" eaLnBrk="1" latinLnBrk="0" hangingPunct="1">
        <a:defRPr kumimoji="1" sz="1500" kern="1200">
          <a:solidFill>
            <a:schemeClr val="tx1"/>
          </a:solidFill>
          <a:latin typeface="+mn-lt"/>
          <a:ea typeface="+mn-ea"/>
          <a:cs typeface="+mn-cs"/>
        </a:defRPr>
      </a:lvl7pPr>
      <a:lvl8pPr marL="2726916" algn="l" defTabSz="779119" rtl="0" eaLnBrk="1" latinLnBrk="0" hangingPunct="1">
        <a:defRPr kumimoji="1" sz="1500" kern="1200">
          <a:solidFill>
            <a:schemeClr val="tx1"/>
          </a:solidFill>
          <a:latin typeface="+mn-lt"/>
          <a:ea typeface="+mn-ea"/>
          <a:cs typeface="+mn-cs"/>
        </a:defRPr>
      </a:lvl8pPr>
      <a:lvl9pPr marL="3116475" algn="l" defTabSz="779119" rtl="0" eaLnBrk="1" latinLnBrk="0" hangingPunct="1">
        <a:defRPr kumimoji="1" sz="15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2"/>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 スライド" r:id="rId13" imgW="353" imgH="353" progId="TCLayout.ActiveDocument.1">
                  <p:embed/>
                </p:oleObj>
              </mc:Choice>
              <mc:Fallback>
                <p:oleObj name="think-cell スライド" r:id="rId13" imgW="353" imgH="353" progId="TCLayout.ActiveDocument.1">
                  <p:embed/>
                  <p:pic>
                    <p:nvPicPr>
                      <p:cNvPr id="2" name="オブジェクト 1" hidden="1"/>
                      <p:cNvPicPr/>
                      <p:nvPr/>
                    </p:nvPicPr>
                    <p:blipFill>
                      <a:blip r:embed="rId14"/>
                      <a:stretch>
                        <a:fillRect/>
                      </a:stretch>
                    </p:blipFill>
                    <p:spPr>
                      <a:xfrm>
                        <a:off x="1955" y="1588"/>
                        <a:ext cx="1954" cy="1588"/>
                      </a:xfrm>
                      <a:prstGeom prst="rect">
                        <a:avLst/>
                      </a:prstGeom>
                    </p:spPr>
                  </p:pic>
                </p:oleObj>
              </mc:Fallback>
            </mc:AlternateContent>
          </a:graphicData>
        </a:graphic>
      </p:graphicFrame>
    </p:spTree>
    <p:extLst>
      <p:ext uri="{BB962C8B-B14F-4D97-AF65-F5344CB8AC3E}">
        <p14:creationId xmlns:p14="http://schemas.microsoft.com/office/powerpoint/2010/main" val="2893899463"/>
      </p:ext>
    </p:extLst>
  </p:cSld>
  <p:clrMap bg1="lt1" tx1="dk1" bg2="lt2" tx2="dk2" accent1="accent1" accent2="accent2" accent3="accent3" accent4="accent4" accent5="accent5" accent6="accent6" hlink="hlink" folHlink="folHlink"/>
  <p:sldLayoutIdLst>
    <p:sldLayoutId id="2147484040" r:id="rId1"/>
    <p:sldLayoutId id="2147484041" r:id="rId2"/>
    <p:sldLayoutId id="2147484042" r:id="rId3"/>
    <p:sldLayoutId id="2147484043" r:id="rId4"/>
    <p:sldLayoutId id="2147484045" r:id="rId5"/>
    <p:sldLayoutId id="2147484048" r:id="rId6"/>
    <p:sldLayoutId id="2147484050" r:id="rId7"/>
    <p:sldLayoutId id="2147484051" r:id="rId8"/>
    <p:sldLayoutId id="2147484052" r:id="rId9"/>
    <p:sldLayoutId id="2147484053" r:id="rId10"/>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7386036"/>
      </p:ext>
    </p:extLst>
  </p:cSld>
  <p:clrMap bg1="lt1" tx1="dk1" bg2="lt2" tx2="dk2" accent1="accent1" accent2="accent2" accent3="accent3" accent4="accent4" accent5="accent5" accent6="accent6" hlink="hlink" folHlink="folHlink"/>
  <p:sldLayoutIdLst>
    <p:sldLayoutId id="2147484055" r:id="rId1"/>
    <p:sldLayoutId id="2147484057" r:id="rId2"/>
  </p:sldLayoutIdLst>
  <p:txStyles>
    <p:titleStyle>
      <a:lvl1pPr algn="l" defTabSz="779119" rtl="0" eaLnBrk="1" latinLnBrk="0" hangingPunct="1">
        <a:lnSpc>
          <a:spcPct val="90000"/>
        </a:lnSpc>
        <a:spcBef>
          <a:spcPct val="0"/>
        </a:spcBef>
        <a:buNone/>
        <a:defRPr kumimoji="1" sz="3699" kern="1200">
          <a:solidFill>
            <a:schemeClr val="tx1"/>
          </a:solidFill>
          <a:latin typeface="+mj-lt"/>
          <a:ea typeface="+mj-ea"/>
          <a:cs typeface="+mj-cs"/>
        </a:defRPr>
      </a:lvl1pPr>
    </p:titleStyle>
    <p:bodyStyle>
      <a:lvl1pPr marL="194780" indent="-194780" algn="l" defTabSz="779119" rtl="0" eaLnBrk="1" latinLnBrk="0" hangingPunct="1">
        <a:lnSpc>
          <a:spcPct val="90000"/>
        </a:lnSpc>
        <a:spcBef>
          <a:spcPts val="852"/>
        </a:spcBef>
        <a:buFont typeface="Arial" panose="020B0604020202020204" pitchFamily="34" charset="0"/>
        <a:buChar char="•"/>
        <a:defRPr kumimoji="1" sz="2400" kern="1200">
          <a:solidFill>
            <a:schemeClr val="tx1"/>
          </a:solidFill>
          <a:latin typeface="+mn-lt"/>
          <a:ea typeface="+mn-ea"/>
          <a:cs typeface="+mn-cs"/>
        </a:defRPr>
      </a:lvl1pPr>
      <a:lvl2pPr marL="584339" indent="-194780" algn="l" defTabSz="779119" rtl="0" eaLnBrk="1" latinLnBrk="0" hangingPunct="1">
        <a:lnSpc>
          <a:spcPct val="90000"/>
        </a:lnSpc>
        <a:spcBef>
          <a:spcPts val="426"/>
        </a:spcBef>
        <a:buFont typeface="Arial" panose="020B0604020202020204" pitchFamily="34" charset="0"/>
        <a:buChar char="•"/>
        <a:defRPr kumimoji="1" sz="2000" kern="1200">
          <a:solidFill>
            <a:schemeClr val="tx1"/>
          </a:solidFill>
          <a:latin typeface="+mn-lt"/>
          <a:ea typeface="+mn-ea"/>
          <a:cs typeface="+mn-cs"/>
        </a:defRPr>
      </a:lvl2pPr>
      <a:lvl3pPr marL="973898" indent="-194780" algn="l" defTabSz="779119" rtl="0" eaLnBrk="1" latinLnBrk="0" hangingPunct="1">
        <a:lnSpc>
          <a:spcPct val="90000"/>
        </a:lnSpc>
        <a:spcBef>
          <a:spcPts val="426"/>
        </a:spcBef>
        <a:buFont typeface="Arial" panose="020B0604020202020204" pitchFamily="34" charset="0"/>
        <a:buChar char="•"/>
        <a:defRPr kumimoji="1" sz="1700" kern="1200">
          <a:solidFill>
            <a:schemeClr val="tx1"/>
          </a:solidFill>
          <a:latin typeface="+mn-lt"/>
          <a:ea typeface="+mn-ea"/>
          <a:cs typeface="+mn-cs"/>
        </a:defRPr>
      </a:lvl3pPr>
      <a:lvl4pPr marL="1363457" indent="-194780" algn="l" defTabSz="779119" rtl="0" eaLnBrk="1" latinLnBrk="0" hangingPunct="1">
        <a:lnSpc>
          <a:spcPct val="90000"/>
        </a:lnSpc>
        <a:spcBef>
          <a:spcPts val="426"/>
        </a:spcBef>
        <a:buFont typeface="Arial" panose="020B0604020202020204" pitchFamily="34" charset="0"/>
        <a:buChar char="•"/>
        <a:defRPr kumimoji="1" sz="1500" kern="1200">
          <a:solidFill>
            <a:schemeClr val="tx1"/>
          </a:solidFill>
          <a:latin typeface="+mn-lt"/>
          <a:ea typeface="+mn-ea"/>
          <a:cs typeface="+mn-cs"/>
        </a:defRPr>
      </a:lvl4pPr>
      <a:lvl5pPr marL="1753017" indent="-194780" algn="l" defTabSz="779119" rtl="0" eaLnBrk="1" latinLnBrk="0" hangingPunct="1">
        <a:lnSpc>
          <a:spcPct val="90000"/>
        </a:lnSpc>
        <a:spcBef>
          <a:spcPts val="426"/>
        </a:spcBef>
        <a:buFont typeface="Arial" panose="020B0604020202020204" pitchFamily="34" charset="0"/>
        <a:buChar char="•"/>
        <a:defRPr kumimoji="1" sz="1500" kern="1200">
          <a:solidFill>
            <a:schemeClr val="tx1"/>
          </a:solidFill>
          <a:latin typeface="+mn-lt"/>
          <a:ea typeface="+mn-ea"/>
          <a:cs typeface="+mn-cs"/>
        </a:defRPr>
      </a:lvl5pPr>
      <a:lvl6pPr marL="2142576" indent="-194780" algn="l" defTabSz="779119" rtl="0" eaLnBrk="1" latinLnBrk="0" hangingPunct="1">
        <a:lnSpc>
          <a:spcPct val="90000"/>
        </a:lnSpc>
        <a:spcBef>
          <a:spcPts val="426"/>
        </a:spcBef>
        <a:buFont typeface="Arial" panose="020B0604020202020204" pitchFamily="34" charset="0"/>
        <a:buChar char="•"/>
        <a:defRPr kumimoji="1" sz="1500" kern="1200">
          <a:solidFill>
            <a:schemeClr val="tx1"/>
          </a:solidFill>
          <a:latin typeface="+mn-lt"/>
          <a:ea typeface="+mn-ea"/>
          <a:cs typeface="+mn-cs"/>
        </a:defRPr>
      </a:lvl6pPr>
      <a:lvl7pPr marL="2532135" indent="-194780" algn="l" defTabSz="779119" rtl="0" eaLnBrk="1" latinLnBrk="0" hangingPunct="1">
        <a:lnSpc>
          <a:spcPct val="90000"/>
        </a:lnSpc>
        <a:spcBef>
          <a:spcPts val="426"/>
        </a:spcBef>
        <a:buFont typeface="Arial" panose="020B0604020202020204" pitchFamily="34" charset="0"/>
        <a:buChar char="•"/>
        <a:defRPr kumimoji="1" sz="1500" kern="1200">
          <a:solidFill>
            <a:schemeClr val="tx1"/>
          </a:solidFill>
          <a:latin typeface="+mn-lt"/>
          <a:ea typeface="+mn-ea"/>
          <a:cs typeface="+mn-cs"/>
        </a:defRPr>
      </a:lvl7pPr>
      <a:lvl8pPr marL="2921696" indent="-194780" algn="l" defTabSz="779119" rtl="0" eaLnBrk="1" latinLnBrk="0" hangingPunct="1">
        <a:lnSpc>
          <a:spcPct val="90000"/>
        </a:lnSpc>
        <a:spcBef>
          <a:spcPts val="426"/>
        </a:spcBef>
        <a:buFont typeface="Arial" panose="020B0604020202020204" pitchFamily="34" charset="0"/>
        <a:buChar char="•"/>
        <a:defRPr kumimoji="1" sz="1500" kern="1200">
          <a:solidFill>
            <a:schemeClr val="tx1"/>
          </a:solidFill>
          <a:latin typeface="+mn-lt"/>
          <a:ea typeface="+mn-ea"/>
          <a:cs typeface="+mn-cs"/>
        </a:defRPr>
      </a:lvl8pPr>
      <a:lvl9pPr marL="3311255" indent="-194780" algn="l" defTabSz="779119" rtl="0" eaLnBrk="1" latinLnBrk="0" hangingPunct="1">
        <a:lnSpc>
          <a:spcPct val="90000"/>
        </a:lnSpc>
        <a:spcBef>
          <a:spcPts val="426"/>
        </a:spcBef>
        <a:buFont typeface="Arial" panose="020B0604020202020204" pitchFamily="34" charset="0"/>
        <a:buChar char="•"/>
        <a:defRPr kumimoji="1" sz="1500" kern="1200">
          <a:solidFill>
            <a:schemeClr val="tx1"/>
          </a:solidFill>
          <a:latin typeface="+mn-lt"/>
          <a:ea typeface="+mn-ea"/>
          <a:cs typeface="+mn-cs"/>
        </a:defRPr>
      </a:lvl9pPr>
    </p:bodyStyle>
    <p:otherStyle>
      <a:defPPr>
        <a:defRPr lang="en-US"/>
      </a:defPPr>
      <a:lvl1pPr marL="0" algn="l" defTabSz="779119" rtl="0" eaLnBrk="1" latinLnBrk="0" hangingPunct="1">
        <a:defRPr kumimoji="1" sz="1500" kern="1200">
          <a:solidFill>
            <a:schemeClr val="tx1"/>
          </a:solidFill>
          <a:latin typeface="+mn-lt"/>
          <a:ea typeface="+mn-ea"/>
          <a:cs typeface="+mn-cs"/>
        </a:defRPr>
      </a:lvl1pPr>
      <a:lvl2pPr marL="389559" algn="l" defTabSz="779119" rtl="0" eaLnBrk="1" latinLnBrk="0" hangingPunct="1">
        <a:defRPr kumimoji="1" sz="1500" kern="1200">
          <a:solidFill>
            <a:schemeClr val="tx1"/>
          </a:solidFill>
          <a:latin typeface="+mn-lt"/>
          <a:ea typeface="+mn-ea"/>
          <a:cs typeface="+mn-cs"/>
        </a:defRPr>
      </a:lvl2pPr>
      <a:lvl3pPr marL="779119" algn="l" defTabSz="779119" rtl="0" eaLnBrk="1" latinLnBrk="0" hangingPunct="1">
        <a:defRPr kumimoji="1" sz="1500" kern="1200">
          <a:solidFill>
            <a:schemeClr val="tx1"/>
          </a:solidFill>
          <a:latin typeface="+mn-lt"/>
          <a:ea typeface="+mn-ea"/>
          <a:cs typeface="+mn-cs"/>
        </a:defRPr>
      </a:lvl3pPr>
      <a:lvl4pPr marL="1168678" algn="l" defTabSz="779119" rtl="0" eaLnBrk="1" latinLnBrk="0" hangingPunct="1">
        <a:defRPr kumimoji="1" sz="1500" kern="1200">
          <a:solidFill>
            <a:schemeClr val="tx1"/>
          </a:solidFill>
          <a:latin typeface="+mn-lt"/>
          <a:ea typeface="+mn-ea"/>
          <a:cs typeface="+mn-cs"/>
        </a:defRPr>
      </a:lvl4pPr>
      <a:lvl5pPr marL="1558237" algn="l" defTabSz="779119" rtl="0" eaLnBrk="1" latinLnBrk="0" hangingPunct="1">
        <a:defRPr kumimoji="1" sz="1500" kern="1200">
          <a:solidFill>
            <a:schemeClr val="tx1"/>
          </a:solidFill>
          <a:latin typeface="+mn-lt"/>
          <a:ea typeface="+mn-ea"/>
          <a:cs typeface="+mn-cs"/>
        </a:defRPr>
      </a:lvl5pPr>
      <a:lvl6pPr marL="1947796" algn="l" defTabSz="779119" rtl="0" eaLnBrk="1" latinLnBrk="0" hangingPunct="1">
        <a:defRPr kumimoji="1" sz="1500" kern="1200">
          <a:solidFill>
            <a:schemeClr val="tx1"/>
          </a:solidFill>
          <a:latin typeface="+mn-lt"/>
          <a:ea typeface="+mn-ea"/>
          <a:cs typeface="+mn-cs"/>
        </a:defRPr>
      </a:lvl6pPr>
      <a:lvl7pPr marL="2337356" algn="l" defTabSz="779119" rtl="0" eaLnBrk="1" latinLnBrk="0" hangingPunct="1">
        <a:defRPr kumimoji="1" sz="1500" kern="1200">
          <a:solidFill>
            <a:schemeClr val="tx1"/>
          </a:solidFill>
          <a:latin typeface="+mn-lt"/>
          <a:ea typeface="+mn-ea"/>
          <a:cs typeface="+mn-cs"/>
        </a:defRPr>
      </a:lvl7pPr>
      <a:lvl8pPr marL="2726916" algn="l" defTabSz="779119" rtl="0" eaLnBrk="1" latinLnBrk="0" hangingPunct="1">
        <a:defRPr kumimoji="1" sz="1500" kern="1200">
          <a:solidFill>
            <a:schemeClr val="tx1"/>
          </a:solidFill>
          <a:latin typeface="+mn-lt"/>
          <a:ea typeface="+mn-ea"/>
          <a:cs typeface="+mn-cs"/>
        </a:defRPr>
      </a:lvl8pPr>
      <a:lvl9pPr marL="3116475" algn="l" defTabSz="779119" rtl="0" eaLnBrk="1" latinLnBrk="0" hangingPunct="1">
        <a:defRPr kumimoji="1" sz="15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1FF17374-619F-B03A-AF33-23643D9990F2}"/>
              </a:ext>
            </a:extLst>
          </p:cNvPr>
          <p:cNvPicPr>
            <a:picLocks noChangeAspect="1"/>
          </p:cNvPicPr>
          <p:nvPr userDrawn="1"/>
        </p:nvPicPr>
        <p:blipFill>
          <a:blip r:embed="rId6"/>
          <a:srcRect/>
          <a:stretch/>
        </p:blipFill>
        <p:spPr>
          <a:xfrm>
            <a:off x="10741025" y="6425921"/>
            <a:ext cx="1152894" cy="292657"/>
          </a:xfrm>
          <a:prstGeom prst="rect">
            <a:avLst/>
          </a:prstGeom>
        </p:spPr>
      </p:pic>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407988" y="164693"/>
            <a:ext cx="11376026" cy="412538"/>
          </a:xfrm>
          <a:prstGeom prst="rect">
            <a:avLst/>
          </a:prstGeom>
        </p:spPr>
        <p:txBody>
          <a:bodyPr vert="horz" lIns="0" tIns="0" rIns="0" bIns="0" rtlCol="0" anchor="t" anchorCtr="0">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DD323A-9269-AE42-951E-F08FD291D3E6}"/>
              </a:ext>
            </a:extLst>
          </p:cNvPr>
          <p:cNvSpPr>
            <a:spLocks noGrp="1"/>
          </p:cNvSpPr>
          <p:nvPr>
            <p:ph type="body" idx="1"/>
          </p:nvPr>
        </p:nvSpPr>
        <p:spPr>
          <a:xfrm>
            <a:off x="407987" y="692150"/>
            <a:ext cx="11387161" cy="5796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9" name="テキスト ボックス 8">
            <a:extLst>
              <a:ext uri="{FF2B5EF4-FFF2-40B4-BE49-F238E27FC236}">
                <a16:creationId xmlns:a16="http://schemas.microsoft.com/office/drawing/2014/main" id="{1D1D4E16-E062-D856-6161-F5C259925C14}"/>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rgbClr val="6B6B6B"/>
                </a:solidFill>
              </a:rPr>
              <a:t>© 2023 NTT DATA Japan Corporation</a:t>
            </a:r>
          </a:p>
        </p:txBody>
      </p:sp>
    </p:spTree>
    <p:extLst>
      <p:ext uri="{BB962C8B-B14F-4D97-AF65-F5344CB8AC3E}">
        <p14:creationId xmlns:p14="http://schemas.microsoft.com/office/powerpoint/2010/main" val="3358801965"/>
      </p:ext>
    </p:extLst>
  </p:cSld>
  <p:clrMap bg1="lt1" tx1="dk1" bg2="lt2" tx2="dk2" accent1="accent1" accent2="accent2" accent3="accent3" accent4="accent4" accent5="accent5" accent6="accent6" hlink="hlink" folHlink="folHlink"/>
  <p:sldLayoutIdLst>
    <p:sldLayoutId id="2147484059" r:id="rId1"/>
    <p:sldLayoutId id="2147484060" r:id="rId2"/>
    <p:sldLayoutId id="2147484061" r:id="rId3"/>
    <p:sldLayoutId id="2147484062" r:id="rId4"/>
  </p:sldLayoutIdLst>
  <p:hf hdr="0" dt="0"/>
  <p:txStyles>
    <p:titleStyle>
      <a:lvl1pPr algn="l" defTabSz="609555" rtl="0" eaLnBrk="1" fontAlgn="base" hangingPunct="1">
        <a:spcBef>
          <a:spcPct val="0"/>
        </a:spcBef>
        <a:spcAft>
          <a:spcPct val="0"/>
        </a:spcAft>
        <a:defRPr kumimoji="1" sz="2400" b="1" i="0" kern="1200" spc="0" baseline="0">
          <a:solidFill>
            <a:schemeClr val="accent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p15:clr>
            <a:srgbClr val="F26B43"/>
          </p15:clr>
        </p15:guide>
        <p15:guide id="4" orient="horz" pos="2160">
          <p15:clr>
            <a:srgbClr val="F26B43"/>
          </p15:clr>
        </p15:guide>
        <p15:guide id="6" orient="horz" pos="663">
          <p15:clr>
            <a:srgbClr val="F26B43"/>
          </p15:clr>
        </p15:guide>
        <p15:guide id="7" pos="3840">
          <p15:clr>
            <a:srgbClr val="F26B43"/>
          </p15:clr>
        </p15:guide>
        <p15:guide id="8" pos="7446">
          <p15:clr>
            <a:srgbClr val="F26B43"/>
          </p15:clr>
        </p15:guide>
        <p15:guide id="9" orient="horz" pos="3929">
          <p15:clr>
            <a:srgbClr val="F26B43"/>
          </p15:clr>
        </p15:guide>
        <p15:guide id="10" orient="horz" pos="210">
          <p15:clr>
            <a:srgbClr val="F26B43"/>
          </p15:clr>
        </p15:guide>
        <p15:guide id="12" orient="horz" pos="4201">
          <p15:clr>
            <a:srgbClr val="F26B43"/>
          </p15:clr>
        </p15:guide>
      </p15:sldGuideLst>
    </p:ext>
  </p:extLst>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8866268"/>
      </p:ext>
    </p:extLst>
  </p:cSld>
  <p:clrMap bg1="lt1" tx1="dk1" bg2="lt2" tx2="dk2" accent1="accent1" accent2="accent2" accent3="accent3" accent4="accent4" accent5="accent5" accent6="accent6" hlink="hlink" folHlink="folHlink"/>
  <p:sldLayoutIdLst>
    <p:sldLayoutId id="2147484064" r:id="rId1"/>
    <p:sldLayoutId id="2147484065" r:id="rId2"/>
    <p:sldLayoutId id="2147484066" r:id="rId3"/>
    <p:sldLayoutId id="2147484067" r:id="rId4"/>
    <p:sldLayoutId id="2147484068" r:id="rId5"/>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1FF17374-619F-B03A-AF33-23643D9990F2}"/>
              </a:ext>
            </a:extLst>
          </p:cNvPr>
          <p:cNvPicPr>
            <a:picLocks noChangeAspect="1"/>
          </p:cNvPicPr>
          <p:nvPr userDrawn="1"/>
        </p:nvPicPr>
        <p:blipFill>
          <a:blip r:embed="rId16"/>
          <a:srcRect/>
          <a:stretch/>
        </p:blipFill>
        <p:spPr>
          <a:xfrm>
            <a:off x="10741025" y="6425921"/>
            <a:ext cx="1152894" cy="292657"/>
          </a:xfrm>
          <a:prstGeom prst="rect">
            <a:avLst/>
          </a:prstGeom>
        </p:spPr>
      </p:pic>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407988" y="164693"/>
            <a:ext cx="11376026" cy="412538"/>
          </a:xfrm>
          <a:prstGeom prst="rect">
            <a:avLst/>
          </a:prstGeom>
        </p:spPr>
        <p:txBody>
          <a:bodyPr vert="horz" lIns="0" tIns="0" rIns="0" bIns="0" rtlCol="0" anchor="t" anchorCtr="0">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DD323A-9269-AE42-951E-F08FD291D3E6}"/>
              </a:ext>
            </a:extLst>
          </p:cNvPr>
          <p:cNvSpPr>
            <a:spLocks noGrp="1"/>
          </p:cNvSpPr>
          <p:nvPr>
            <p:ph type="body" idx="1"/>
          </p:nvPr>
        </p:nvSpPr>
        <p:spPr>
          <a:xfrm>
            <a:off x="407987" y="692150"/>
            <a:ext cx="11387161" cy="5796000"/>
          </a:xfrm>
          <a:prstGeom prst="rect">
            <a:avLst/>
          </a:prstGeom>
        </p:spPr>
        <p:txBody>
          <a:bodyPr vert="horz" lIns="0" tIns="0" rIns="0" bIns="0" rtlCol="0">
            <a:noAutofit/>
          </a:bodyPr>
          <a:lstStyle/>
          <a:p>
            <a:pPr marL="342900" lvl="0" indent="-342900">
              <a:buFont typeface="Wingdings" panose="05000000000000000000" pitchFamily="2" charset="2"/>
              <a:buChar char="n"/>
            </a:pPr>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9" name="テキスト ボックス 8">
            <a:extLst>
              <a:ext uri="{FF2B5EF4-FFF2-40B4-BE49-F238E27FC236}">
                <a16:creationId xmlns:a16="http://schemas.microsoft.com/office/drawing/2014/main" id="{1D1D4E16-E062-D856-6161-F5C259925C14}"/>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rgbClr val="6B6B6B"/>
                </a:solidFill>
              </a:rPr>
              <a:t>© 2024 NTT DATA Japan Corporation</a:t>
            </a:r>
          </a:p>
        </p:txBody>
      </p:sp>
    </p:spTree>
    <p:extLst>
      <p:ext uri="{BB962C8B-B14F-4D97-AF65-F5344CB8AC3E}">
        <p14:creationId xmlns:p14="http://schemas.microsoft.com/office/powerpoint/2010/main" val="1846564770"/>
      </p:ext>
    </p:extLst>
  </p:cSld>
  <p:clrMap bg1="lt1" tx1="dk1" bg2="lt2" tx2="dk2" accent1="accent1" accent2="accent2" accent3="accent3" accent4="accent4" accent5="accent5" accent6="accent6" hlink="hlink" folHlink="folHlink"/>
  <p:sldLayoutIdLst>
    <p:sldLayoutId id="2147484071" r:id="rId1"/>
    <p:sldLayoutId id="2147484072" r:id="rId2"/>
    <p:sldLayoutId id="2147484073" r:id="rId3"/>
    <p:sldLayoutId id="2147484074" r:id="rId4"/>
    <p:sldLayoutId id="2147484075" r:id="rId5"/>
    <p:sldLayoutId id="2147484076" r:id="rId6"/>
    <p:sldLayoutId id="2147484077" r:id="rId7"/>
    <p:sldLayoutId id="2147484078" r:id="rId8"/>
    <p:sldLayoutId id="2147484079" r:id="rId9"/>
    <p:sldLayoutId id="2147484080" r:id="rId10"/>
    <p:sldLayoutId id="2147484081" r:id="rId11"/>
    <p:sldLayoutId id="2147484082" r:id="rId12"/>
    <p:sldLayoutId id="2147484083" r:id="rId13"/>
    <p:sldLayoutId id="2147484084" r:id="rId14"/>
  </p:sldLayoutIdLst>
  <p:hf hdr="0" dt="0"/>
  <p:txStyles>
    <p:titleStyle>
      <a:lvl1pPr algn="l" defTabSz="609555" rtl="0" eaLnBrk="1" fontAlgn="base" hangingPunct="1">
        <a:spcBef>
          <a:spcPct val="0"/>
        </a:spcBef>
        <a:spcAft>
          <a:spcPct val="0"/>
        </a:spcAft>
        <a:defRPr kumimoji="1" sz="2400" b="1" i="0" kern="1200" spc="0" baseline="0">
          <a:solidFill>
            <a:schemeClr val="accent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288000" rtl="0" eaLnBrk="1" fontAlgn="base" hangingPunct="1">
        <a:spcBef>
          <a:spcPct val="20000"/>
        </a:spcBef>
        <a:spcAft>
          <a:spcPct val="0"/>
        </a:spcAft>
        <a:buFont typeface="Arial" panose="020B0604020202020204" pitchFamily="34" charset="0"/>
        <a:buNone/>
        <a:tabLst/>
        <a:defRPr kumimoji="1" lang="ja-JP" altLang="en-US" sz="2000" b="0" kern="1200" dirty="0">
          <a:solidFill>
            <a:schemeClr val="tx1">
              <a:lumMod val="75000"/>
              <a:lumOff val="25000"/>
            </a:schemeClr>
          </a:solidFill>
          <a:latin typeface="Meiryo UI" panose="020B0604030504040204" pitchFamily="50" charset="-128"/>
          <a:ea typeface="Meiryo UI" panose="020B0604030504040204" pitchFamily="50" charset="-128"/>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lang="ja-JP" altLang="en-US" sz="2000" b="0" kern="1200" dirty="0">
          <a:solidFill>
            <a:schemeClr val="tx1">
              <a:lumMod val="75000"/>
              <a:lumOff val="25000"/>
            </a:schemeClr>
          </a:solidFill>
          <a:latin typeface="Meiryo UI" panose="020B0604030504040204" pitchFamily="50" charset="-128"/>
          <a:ea typeface="Meiryo UI" panose="020B0604030504040204" pitchFamily="50" charset="-128"/>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lang="ja-JP" altLang="en-US" sz="2000" b="0" kern="1200" dirty="0">
          <a:solidFill>
            <a:schemeClr val="tx1">
              <a:lumMod val="75000"/>
              <a:lumOff val="25000"/>
            </a:schemeClr>
          </a:solidFill>
          <a:latin typeface="Meiryo UI" panose="020B0604030504040204" pitchFamily="50" charset="-128"/>
          <a:ea typeface="Meiryo UI" panose="020B0604030504040204" pitchFamily="50" charset="-128"/>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lang="ja-JP" altLang="en-US" sz="2000" b="0" kern="1200" dirty="0">
          <a:solidFill>
            <a:schemeClr val="tx1">
              <a:lumMod val="75000"/>
              <a:lumOff val="25000"/>
            </a:schemeClr>
          </a:solidFill>
          <a:latin typeface="Meiryo UI" panose="020B0604030504040204" pitchFamily="50" charset="-128"/>
          <a:ea typeface="Meiryo UI" panose="020B0604030504040204" pitchFamily="50" charset="-128"/>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lang="ja-JP" altLang="en-US" sz="2000" b="0" kern="1200" dirty="0">
          <a:solidFill>
            <a:schemeClr val="tx1">
              <a:lumMod val="75000"/>
              <a:lumOff val="25000"/>
            </a:schemeClr>
          </a:solidFill>
          <a:latin typeface="Meiryo UI" panose="020B0604030504040204" pitchFamily="50" charset="-128"/>
          <a:ea typeface="Meiryo UI" panose="020B0604030504040204" pitchFamily="50" charset="-128"/>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p15:clr>
            <a:srgbClr val="F26B43"/>
          </p15:clr>
        </p15:guide>
        <p15:guide id="4" orient="horz" pos="2160">
          <p15:clr>
            <a:srgbClr val="F26B43"/>
          </p15:clr>
        </p15:guide>
        <p15:guide id="6" orient="horz" pos="663">
          <p15:clr>
            <a:srgbClr val="F26B43"/>
          </p15:clr>
        </p15:guide>
        <p15:guide id="7" pos="3840">
          <p15:clr>
            <a:srgbClr val="F26B43"/>
          </p15:clr>
        </p15:guide>
        <p15:guide id="8" pos="7446">
          <p15:clr>
            <a:srgbClr val="F26B43"/>
          </p15:clr>
        </p15:guide>
        <p15:guide id="9" orient="horz" pos="3929">
          <p15:clr>
            <a:srgbClr val="F26B43"/>
          </p15:clr>
        </p15:guide>
        <p15:guide id="10" orient="horz" pos="210">
          <p15:clr>
            <a:srgbClr val="F26B43"/>
          </p15:clr>
        </p15:guide>
        <p15:guide id="12" orient="horz" pos="420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8.xml"/><Relationship Id="rId4" Type="http://schemas.openxmlformats.org/officeDocument/2006/relationships/image" Target="../media/image4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9.xml"/><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1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emf"/><Relationship Id="rId1" Type="http://schemas.openxmlformats.org/officeDocument/2006/relationships/slideLayout" Target="../slideLayouts/slideLayout9.xml"/><Relationship Id="rId4" Type="http://schemas.openxmlformats.org/officeDocument/2006/relationships/image" Target="../media/image5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svg"/><Relationship Id="rId2" Type="http://schemas.openxmlformats.org/officeDocument/2006/relationships/image" Target="../media/image53.png"/><Relationship Id="rId1" Type="http://schemas.openxmlformats.org/officeDocument/2006/relationships/slideLayout" Target="../slideLayouts/slideLayout82.xml"/><Relationship Id="rId6" Type="http://schemas.openxmlformats.org/officeDocument/2006/relationships/image" Target="../media/image57.png"/><Relationship Id="rId5" Type="http://schemas.openxmlformats.org/officeDocument/2006/relationships/image" Target="../media/image56.svg"/><Relationship Id="rId4" Type="http://schemas.openxmlformats.org/officeDocument/2006/relationships/image" Target="../media/image5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1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8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19.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svg"/><Relationship Id="rId7" Type="http://schemas.openxmlformats.org/officeDocument/2006/relationships/image" Target="../media/image66.svg"/><Relationship Id="rId12" Type="http://schemas.openxmlformats.org/officeDocument/2006/relationships/image" Target="../media/image71.svg"/><Relationship Id="rId2" Type="http://schemas.openxmlformats.org/officeDocument/2006/relationships/image" Target="../media/image61.png"/><Relationship Id="rId1" Type="http://schemas.openxmlformats.org/officeDocument/2006/relationships/slideLayout" Target="../slideLayouts/slideLayout82.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sv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1.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image" Target="../media/image72.png"/><Relationship Id="rId1" Type="http://schemas.openxmlformats.org/officeDocument/2006/relationships/slideLayout" Target="../slideLayouts/slideLayout8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4.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74.png"/><Relationship Id="rId1" Type="http://schemas.openxmlformats.org/officeDocument/2006/relationships/slideLayout" Target="../slideLayouts/slideLayout82.xml"/><Relationship Id="rId5" Type="http://schemas.openxmlformats.org/officeDocument/2006/relationships/image" Target="../media/image77.svg"/><Relationship Id="rId4" Type="http://schemas.openxmlformats.org/officeDocument/2006/relationships/image" Target="../media/image76.png"/></Relationships>
</file>

<file path=ppt/slides/_rels/slide2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emf"/><Relationship Id="rId1" Type="http://schemas.openxmlformats.org/officeDocument/2006/relationships/slideLayout" Target="../slideLayouts/slideLayout82.xml"/><Relationship Id="rId5" Type="http://schemas.openxmlformats.org/officeDocument/2006/relationships/image" Target="../media/image81.emf"/><Relationship Id="rId4" Type="http://schemas.openxmlformats.org/officeDocument/2006/relationships/image" Target="../media/image8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3590E3-C1A1-6EE5-33A3-1BA188D38A25}"/>
              </a:ext>
            </a:extLst>
          </p:cNvPr>
          <p:cNvSpPr>
            <a:spLocks noGrp="1"/>
          </p:cNvSpPr>
          <p:nvPr>
            <p:ph type="title"/>
          </p:nvPr>
        </p:nvSpPr>
        <p:spPr/>
        <p:txBody>
          <a:bodyPr/>
          <a:lstStyle/>
          <a:p>
            <a:r>
              <a:rPr lang="en-US" altLang="ja-JP" dirty="0"/>
              <a:t>NTT</a:t>
            </a:r>
            <a:r>
              <a:rPr lang="ja-JP" altLang="en-US" dirty="0"/>
              <a:t>データ</a:t>
            </a:r>
            <a:r>
              <a:rPr lang="en-US" altLang="ja-JP" dirty="0"/>
              <a:t>MHI</a:t>
            </a:r>
            <a:r>
              <a:rPr lang="ja-JP" altLang="en-US" dirty="0"/>
              <a:t>システムズ御中</a:t>
            </a:r>
          </a:p>
        </p:txBody>
      </p:sp>
      <p:sp>
        <p:nvSpPr>
          <p:cNvPr id="3" name="テキスト プレースホルダー 2">
            <a:extLst>
              <a:ext uri="{FF2B5EF4-FFF2-40B4-BE49-F238E27FC236}">
                <a16:creationId xmlns:a16="http://schemas.microsoft.com/office/drawing/2014/main" id="{364265A2-61B5-45D8-6463-6418F44F076D}"/>
              </a:ext>
            </a:extLst>
          </p:cNvPr>
          <p:cNvSpPr>
            <a:spLocks noGrp="1"/>
          </p:cNvSpPr>
          <p:nvPr>
            <p:ph type="body" sz="quarter" idx="12"/>
          </p:nvPr>
        </p:nvSpPr>
        <p:spPr/>
        <p:txBody>
          <a:bodyPr/>
          <a:lstStyle/>
          <a:p>
            <a:r>
              <a:rPr lang="en-US" altLang="ja-JP" sz="3600" dirty="0"/>
              <a:t>SPMI</a:t>
            </a:r>
            <a:r>
              <a:rPr lang="ja-JP" altLang="en-US" sz="3600" dirty="0"/>
              <a:t>データドリブン</a:t>
            </a:r>
            <a:endParaRPr lang="en-US" altLang="ja-JP" sz="3600" dirty="0"/>
          </a:p>
          <a:p>
            <a:r>
              <a:rPr lang="ja-JP" altLang="en-US" sz="3600" dirty="0"/>
              <a:t>案件アプローチ</a:t>
            </a:r>
            <a:endParaRPr lang="en-US" altLang="ja-JP" sz="3600" dirty="0"/>
          </a:p>
        </p:txBody>
      </p:sp>
      <p:sp>
        <p:nvSpPr>
          <p:cNvPr id="4" name="テキスト プレースホルダー 3">
            <a:extLst>
              <a:ext uri="{FF2B5EF4-FFF2-40B4-BE49-F238E27FC236}">
                <a16:creationId xmlns:a16="http://schemas.microsoft.com/office/drawing/2014/main" id="{DCF65AA0-1FFF-132D-52B8-6DB3C5784AF4}"/>
              </a:ext>
            </a:extLst>
          </p:cNvPr>
          <p:cNvSpPr>
            <a:spLocks noGrp="1"/>
          </p:cNvSpPr>
          <p:nvPr>
            <p:ph type="body" sz="quarter" idx="14"/>
          </p:nvPr>
        </p:nvSpPr>
        <p:spPr/>
        <p:txBody>
          <a:bodyPr/>
          <a:lstStyle/>
          <a:p>
            <a:r>
              <a:rPr lang="en-US" altLang="ja-JP" dirty="0"/>
              <a:t>2024</a:t>
            </a:r>
            <a:r>
              <a:rPr lang="ja-JP" altLang="en-US" dirty="0"/>
              <a:t>年</a:t>
            </a:r>
            <a:r>
              <a:rPr lang="en-US" altLang="ja-JP" dirty="0"/>
              <a:t>4</a:t>
            </a:r>
            <a:r>
              <a:rPr lang="ja-JP" altLang="en-US" dirty="0"/>
              <a:t>月</a:t>
            </a:r>
            <a:r>
              <a:rPr lang="en-US" altLang="ja-JP" dirty="0"/>
              <a:t>11</a:t>
            </a:r>
            <a:r>
              <a:rPr lang="ja-JP" altLang="en-US" dirty="0"/>
              <a:t>日</a:t>
            </a:r>
          </a:p>
        </p:txBody>
      </p:sp>
      <p:sp>
        <p:nvSpPr>
          <p:cNvPr id="5" name="テキスト ボックス 4">
            <a:extLst>
              <a:ext uri="{FF2B5EF4-FFF2-40B4-BE49-F238E27FC236}">
                <a16:creationId xmlns:a16="http://schemas.microsoft.com/office/drawing/2014/main" id="{7CCFB1A3-045A-4969-AF42-D86E3EAE1D7F}"/>
              </a:ext>
            </a:extLst>
          </p:cNvPr>
          <p:cNvSpPr txBox="1"/>
          <p:nvPr/>
        </p:nvSpPr>
        <p:spPr>
          <a:xfrm>
            <a:off x="9904837" y="334669"/>
            <a:ext cx="1913962" cy="396000"/>
          </a:xfrm>
          <a:prstGeom prst="rect">
            <a:avLst/>
          </a:prstGeom>
          <a:noFill/>
          <a:ln>
            <a:solidFill>
              <a:schemeClr val="accent6">
                <a:lumMod val="40000"/>
                <a:lumOff val="60000"/>
              </a:schemeClr>
            </a:solidFill>
          </a:ln>
        </p:spPr>
        <p:txBody>
          <a:bodyPr wrap="square" lIns="90000" rIns="90000" rtlCol="0" anchor="t" anchorCtr="0">
            <a:noAutofit/>
          </a:bodyPr>
          <a:lstStyle/>
          <a:p>
            <a:r>
              <a:rPr lang="ja-JP" altLang="en-US" sz="700">
                <a:solidFill>
                  <a:schemeClr val="accent6">
                    <a:lumMod val="40000"/>
                    <a:lumOff val="60000"/>
                  </a:schemeClr>
                </a:solidFill>
              </a:rPr>
              <a:t>情 報 種 別 ： 秘密（関係者限り）</a:t>
            </a:r>
            <a:br>
              <a:rPr lang="ja-JP" altLang="en-US" sz="700">
                <a:solidFill>
                  <a:schemeClr val="accent6">
                    <a:lumMod val="40000"/>
                    <a:lumOff val="60000"/>
                  </a:schemeClr>
                </a:solidFill>
              </a:rPr>
            </a:br>
            <a:r>
              <a:rPr lang="ja-JP" altLang="en-US" sz="700">
                <a:solidFill>
                  <a:schemeClr val="accent6">
                    <a:lumMod val="40000"/>
                    <a:lumOff val="60000"/>
                  </a:schemeClr>
                </a:solidFill>
              </a:rPr>
              <a:t>会　 社　 名 ： （株）</a:t>
            </a:r>
            <a:r>
              <a:rPr lang="en-US" altLang="ja-JP" sz="700">
                <a:solidFill>
                  <a:schemeClr val="accent6">
                    <a:lumMod val="40000"/>
                    <a:lumOff val="60000"/>
                  </a:schemeClr>
                </a:solidFill>
              </a:rPr>
              <a:t>NTT</a:t>
            </a:r>
            <a:r>
              <a:rPr lang="ja-JP" altLang="en-US" sz="700">
                <a:solidFill>
                  <a:schemeClr val="accent6">
                    <a:lumMod val="40000"/>
                    <a:lumOff val="60000"/>
                  </a:schemeClr>
                </a:solidFill>
              </a:rPr>
              <a:t>データ</a:t>
            </a:r>
            <a:br>
              <a:rPr lang="ja-JP" altLang="en-US" sz="700">
                <a:solidFill>
                  <a:schemeClr val="accent6">
                    <a:lumMod val="40000"/>
                    <a:lumOff val="60000"/>
                  </a:schemeClr>
                </a:solidFill>
              </a:rPr>
            </a:br>
            <a:r>
              <a:rPr lang="ja-JP" altLang="en-US" sz="700">
                <a:solidFill>
                  <a:schemeClr val="accent6">
                    <a:lumMod val="40000"/>
                    <a:lumOff val="60000"/>
                  </a:schemeClr>
                </a:solidFill>
              </a:rPr>
              <a:t>情報所有者 ： 機械・電機・建設事業部</a:t>
            </a:r>
          </a:p>
        </p:txBody>
      </p:sp>
    </p:spTree>
    <p:extLst>
      <p:ext uri="{BB962C8B-B14F-4D97-AF65-F5344CB8AC3E}">
        <p14:creationId xmlns:p14="http://schemas.microsoft.com/office/powerpoint/2010/main" val="1121628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3C0EFA-6EA9-D55B-8997-AA9384469C42}"/>
              </a:ext>
            </a:extLst>
          </p:cNvPr>
          <p:cNvSpPr>
            <a:spLocks noGrp="1"/>
          </p:cNvSpPr>
          <p:nvPr>
            <p:ph type="title"/>
          </p:nvPr>
        </p:nvSpPr>
        <p:spPr/>
        <p:txBody>
          <a:bodyPr/>
          <a:lstStyle/>
          <a:p>
            <a:r>
              <a:rPr kumimoji="1" lang="en-US" altLang="ja-JP" dirty="0"/>
              <a:t>SPMI</a:t>
            </a:r>
            <a:r>
              <a:rPr kumimoji="1" lang="ja-JP" altLang="en-US" dirty="0"/>
              <a:t>事業部様　業務プロセス改革</a:t>
            </a:r>
            <a:r>
              <a:rPr kumimoji="1" lang="en-US" altLang="ja-JP" dirty="0"/>
              <a:t>PJ</a:t>
            </a:r>
            <a:r>
              <a:rPr kumimoji="1" lang="ja-JP" altLang="en-US" dirty="0"/>
              <a:t>（</a:t>
            </a:r>
            <a:r>
              <a:rPr kumimoji="1" lang="en-US" altLang="ja-JP" dirty="0"/>
              <a:t>WPPJ</a:t>
            </a:r>
            <a:r>
              <a:rPr kumimoji="1" lang="ja-JP" altLang="en-US" dirty="0"/>
              <a:t>）について</a:t>
            </a:r>
          </a:p>
        </p:txBody>
      </p:sp>
      <p:sp>
        <p:nvSpPr>
          <p:cNvPr id="3" name="コンテンツ プレースホルダー 2">
            <a:extLst>
              <a:ext uri="{FF2B5EF4-FFF2-40B4-BE49-F238E27FC236}">
                <a16:creationId xmlns:a16="http://schemas.microsoft.com/office/drawing/2014/main" id="{E3CD7FA3-9B0A-1E01-B61B-279348C6D6EA}"/>
              </a:ext>
            </a:extLst>
          </p:cNvPr>
          <p:cNvSpPr>
            <a:spLocks noGrp="1"/>
          </p:cNvSpPr>
          <p:nvPr>
            <p:ph sz="quarter" idx="10"/>
          </p:nvPr>
        </p:nvSpPr>
        <p:spPr>
          <a:xfrm>
            <a:off x="371474" y="1038386"/>
            <a:ext cx="11448000" cy="1203587"/>
          </a:xfrm>
        </p:spPr>
        <p:txBody>
          <a:bodyPr/>
          <a:lstStyle/>
          <a:p>
            <a:r>
              <a:rPr kumimoji="1" lang="ja-JP" altLang="en-US" sz="2000" b="0" i="0" u="none" strike="noStrike" kern="1200" cap="none" spc="0" normalizeH="0" baseline="0" noProof="0" dirty="0">
                <a:ln>
                  <a:noFill/>
                </a:ln>
                <a:solidFill>
                  <a:srgbClr val="404040"/>
                </a:solidFill>
                <a:effectLst/>
                <a:uLnTx/>
                <a:uFillTx/>
                <a:latin typeface="Meiryo UI"/>
                <a:ea typeface="Meiryo UI"/>
              </a:rPr>
              <a:t>石炭火力発電のフェードアウトに伴い新設案件が消滅する</a:t>
            </a:r>
            <a:r>
              <a:rPr kumimoji="1" lang="en-US" altLang="ja-JP" sz="2000" b="0" i="0" u="none" strike="noStrike" kern="1200" cap="none" spc="0" normalizeH="0" baseline="0" noProof="0" dirty="0">
                <a:ln>
                  <a:noFill/>
                </a:ln>
                <a:solidFill>
                  <a:srgbClr val="404040"/>
                </a:solidFill>
                <a:effectLst/>
                <a:uLnTx/>
                <a:uFillTx/>
                <a:latin typeface="Meiryo UI"/>
                <a:ea typeface="Meiryo UI"/>
              </a:rPr>
              <a:t>SPMI</a:t>
            </a:r>
            <a:r>
              <a:rPr kumimoji="1" lang="ja-JP" altLang="en-US" sz="2000" b="0" i="0" u="none" strike="noStrike" kern="1200" cap="none" spc="0" normalizeH="0" baseline="0" noProof="0" dirty="0">
                <a:ln>
                  <a:noFill/>
                </a:ln>
                <a:solidFill>
                  <a:srgbClr val="404040"/>
                </a:solidFill>
                <a:effectLst/>
                <a:uLnTx/>
                <a:uFillTx/>
                <a:latin typeface="Meiryo UI"/>
                <a:ea typeface="Meiryo UI"/>
              </a:rPr>
              <a:t>事業部では、アフターサービス（</a:t>
            </a:r>
            <a:r>
              <a:rPr kumimoji="1" lang="en-US" altLang="ja-JP" sz="2000" b="0" i="0" u="none" strike="noStrike" kern="1200" cap="none" spc="0" normalizeH="0" baseline="0" noProof="0" dirty="0">
                <a:ln>
                  <a:noFill/>
                </a:ln>
                <a:solidFill>
                  <a:srgbClr val="404040"/>
                </a:solidFill>
                <a:effectLst/>
                <a:uLnTx/>
                <a:uFillTx/>
                <a:latin typeface="Meiryo UI"/>
                <a:ea typeface="Meiryo UI"/>
              </a:rPr>
              <a:t>AS</a:t>
            </a:r>
            <a:r>
              <a:rPr kumimoji="1" lang="ja-JP" altLang="en-US" sz="2000" b="0" i="0" u="none" strike="noStrike" kern="1200" cap="none" spc="0" normalizeH="0" baseline="0" noProof="0" dirty="0">
                <a:ln>
                  <a:noFill/>
                </a:ln>
                <a:solidFill>
                  <a:srgbClr val="404040"/>
                </a:solidFill>
                <a:effectLst/>
                <a:uLnTx/>
                <a:uFillTx/>
                <a:latin typeface="Meiryo UI"/>
                <a:ea typeface="Meiryo UI"/>
              </a:rPr>
              <a:t>）事業が今後主力事業になることを見据えた業務プロセス改革を実施中。クニエと連携して</a:t>
            </a:r>
            <a:r>
              <a:rPr kumimoji="1" lang="en-US" altLang="ja-JP" sz="2000" b="0" i="0" u="none" strike="noStrike" kern="1200" cap="none" spc="0" normalizeH="0" baseline="0" noProof="0" dirty="0">
                <a:ln>
                  <a:noFill/>
                </a:ln>
                <a:solidFill>
                  <a:srgbClr val="404040"/>
                </a:solidFill>
                <a:effectLst/>
                <a:uLnTx/>
                <a:uFillTx/>
                <a:latin typeface="Meiryo UI"/>
                <a:ea typeface="Meiryo UI"/>
              </a:rPr>
              <a:t>AS</a:t>
            </a:r>
            <a:r>
              <a:rPr lang="ja-JP" altLang="en-US" sz="2000" dirty="0">
                <a:solidFill>
                  <a:srgbClr val="404040"/>
                </a:solidFill>
                <a:latin typeface="Meiryo UI"/>
                <a:ea typeface="Meiryo UI"/>
              </a:rPr>
              <a:t>事業にふさわしい採算管理や業務フローの検討と適用を</a:t>
            </a:r>
            <a:r>
              <a:rPr lang="en-US" altLang="ja-JP" sz="2000" dirty="0">
                <a:solidFill>
                  <a:srgbClr val="404040"/>
                </a:solidFill>
                <a:latin typeface="Meiryo UI"/>
                <a:ea typeface="Meiryo UI"/>
              </a:rPr>
              <a:t>SPMI</a:t>
            </a:r>
            <a:r>
              <a:rPr lang="ja-JP" altLang="en-US" sz="2000" dirty="0">
                <a:solidFill>
                  <a:srgbClr val="404040"/>
                </a:solidFill>
                <a:latin typeface="Meiryo UI"/>
                <a:ea typeface="Meiryo UI"/>
              </a:rPr>
              <a:t>事業戦略部様と一緒に推進。</a:t>
            </a:r>
            <a:endParaRPr kumimoji="1" lang="ja-JP" altLang="en-US" sz="2000" b="0" i="0" u="none" strike="noStrike" kern="1200" cap="none" spc="0" normalizeH="0" baseline="0" noProof="0" dirty="0">
              <a:ln>
                <a:noFill/>
              </a:ln>
              <a:solidFill>
                <a:srgbClr val="404040"/>
              </a:solidFill>
              <a:effectLst/>
              <a:uLnTx/>
              <a:uFillTx/>
              <a:latin typeface="Meiryo UI"/>
              <a:ea typeface="Meiryo UI"/>
            </a:endParaRPr>
          </a:p>
        </p:txBody>
      </p:sp>
      <p:sp>
        <p:nvSpPr>
          <p:cNvPr id="4" name="矢印: 五方向 3">
            <a:extLst>
              <a:ext uri="{FF2B5EF4-FFF2-40B4-BE49-F238E27FC236}">
                <a16:creationId xmlns:a16="http://schemas.microsoft.com/office/drawing/2014/main" id="{CC83176D-6C73-7A46-E012-D10518DB491E}"/>
              </a:ext>
            </a:extLst>
          </p:cNvPr>
          <p:cNvSpPr/>
          <p:nvPr/>
        </p:nvSpPr>
        <p:spPr>
          <a:xfrm>
            <a:off x="5199310" y="2902152"/>
            <a:ext cx="1697277" cy="826718"/>
          </a:xfrm>
          <a:prstGeom prst="homePlate">
            <a:avLst/>
          </a:prstGeom>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ja-JP" sz="1400" dirty="0">
                <a:latin typeface="Meiryo UI" panose="020B0604030504040204" pitchFamily="50" charset="-128"/>
                <a:ea typeface="Meiryo UI" panose="020B0604030504040204" pitchFamily="50" charset="-128"/>
              </a:rPr>
              <a:t>AS</a:t>
            </a:r>
            <a:r>
              <a:rPr kumimoji="1" lang="ja-JP" altLang="en-US" sz="1400" dirty="0">
                <a:latin typeface="Meiryo UI" panose="020B0604030504040204" pitchFamily="50" charset="-128"/>
                <a:ea typeface="Meiryo UI" panose="020B0604030504040204" pitchFamily="50" charset="-128"/>
              </a:rPr>
              <a:t>業務に沿った体制再構築</a:t>
            </a:r>
          </a:p>
        </p:txBody>
      </p:sp>
      <p:sp>
        <p:nvSpPr>
          <p:cNvPr id="5" name="矢印: 五方向 4">
            <a:extLst>
              <a:ext uri="{FF2B5EF4-FFF2-40B4-BE49-F238E27FC236}">
                <a16:creationId xmlns:a16="http://schemas.microsoft.com/office/drawing/2014/main" id="{18E039E9-0451-2398-E834-D0C1BCFB04F8}"/>
              </a:ext>
            </a:extLst>
          </p:cNvPr>
          <p:cNvSpPr/>
          <p:nvPr/>
        </p:nvSpPr>
        <p:spPr>
          <a:xfrm>
            <a:off x="5524986" y="3782106"/>
            <a:ext cx="1697277" cy="826718"/>
          </a:xfrm>
          <a:prstGeom prst="homePlate">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ja-JP" altLang="en-US" sz="1400" dirty="0">
                <a:latin typeface="Meiryo UI" panose="020B0604030504040204" pitchFamily="50" charset="-128"/>
                <a:ea typeface="Meiryo UI" panose="020B0604030504040204" pitchFamily="50" charset="-128"/>
              </a:rPr>
              <a:t>顧客起点の提案</a:t>
            </a:r>
            <a:endParaRPr kumimoji="1" lang="ja-JP" altLang="en-US" sz="1400" dirty="0">
              <a:latin typeface="Meiryo UI" panose="020B0604030504040204" pitchFamily="50" charset="-128"/>
              <a:ea typeface="Meiryo UI" panose="020B0604030504040204" pitchFamily="50" charset="-128"/>
            </a:endParaRPr>
          </a:p>
        </p:txBody>
      </p:sp>
      <p:sp>
        <p:nvSpPr>
          <p:cNvPr id="6" name="矢印: 五方向 5">
            <a:extLst>
              <a:ext uri="{FF2B5EF4-FFF2-40B4-BE49-F238E27FC236}">
                <a16:creationId xmlns:a16="http://schemas.microsoft.com/office/drawing/2014/main" id="{313E7A4D-1FAC-DCEE-EDBB-0F73BD6B1A1F}"/>
              </a:ext>
            </a:extLst>
          </p:cNvPr>
          <p:cNvSpPr/>
          <p:nvPr/>
        </p:nvSpPr>
        <p:spPr>
          <a:xfrm>
            <a:off x="5862145" y="4662060"/>
            <a:ext cx="1697277" cy="826718"/>
          </a:xfrm>
          <a:prstGeom prst="homePlate">
            <a:avLst/>
          </a:prstGeom>
          <a:noFill/>
          <a:ln w="28575">
            <a:solidFill>
              <a:schemeClr val="accent2"/>
            </a:solidFill>
            <a:prstDash val="dash"/>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sz="1400" dirty="0">
                <a:latin typeface="Meiryo UI" panose="020B0604030504040204" pitchFamily="50" charset="-128"/>
                <a:ea typeface="Meiryo UI" panose="020B0604030504040204" pitchFamily="50" charset="-128"/>
              </a:rPr>
              <a:t>多能工化</a:t>
            </a:r>
          </a:p>
        </p:txBody>
      </p:sp>
      <p:sp>
        <p:nvSpPr>
          <p:cNvPr id="7" name="フローチャート: 処理 6">
            <a:extLst>
              <a:ext uri="{FF2B5EF4-FFF2-40B4-BE49-F238E27FC236}">
                <a16:creationId xmlns:a16="http://schemas.microsoft.com/office/drawing/2014/main" id="{A650F0E6-7A7B-20A3-5D13-A694C9B7FC9F}"/>
              </a:ext>
            </a:extLst>
          </p:cNvPr>
          <p:cNvSpPr/>
          <p:nvPr/>
        </p:nvSpPr>
        <p:spPr>
          <a:xfrm>
            <a:off x="5030208" y="2789418"/>
            <a:ext cx="1108553" cy="184760"/>
          </a:xfrm>
          <a:prstGeom prst="flowChartProcess">
            <a:avLst/>
          </a:prstGeom>
          <a:solidFill>
            <a:schemeClr val="accent2"/>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900" dirty="0">
                <a:latin typeface="Meiryo UI" panose="020B0604030504040204" pitchFamily="50" charset="-128"/>
                <a:ea typeface="Meiryo UI" panose="020B0604030504040204" pitchFamily="50" charset="-128"/>
              </a:rPr>
              <a:t>FY23 3Q</a:t>
            </a:r>
            <a:r>
              <a:rPr kumimoji="1" lang="ja-JP" altLang="en-US" sz="900" dirty="0">
                <a:latin typeface="Meiryo UI" panose="020B0604030504040204" pitchFamily="50" charset="-128"/>
                <a:ea typeface="Meiryo UI" panose="020B0604030504040204" pitchFamily="50" charset="-128"/>
              </a:rPr>
              <a:t>～実施中</a:t>
            </a:r>
          </a:p>
        </p:txBody>
      </p:sp>
      <p:sp>
        <p:nvSpPr>
          <p:cNvPr id="8" name="フローチャート: 処理 7">
            <a:extLst>
              <a:ext uri="{FF2B5EF4-FFF2-40B4-BE49-F238E27FC236}">
                <a16:creationId xmlns:a16="http://schemas.microsoft.com/office/drawing/2014/main" id="{B5FBFA2D-D381-5FC4-E4C3-CB0372105E0A}"/>
              </a:ext>
            </a:extLst>
          </p:cNvPr>
          <p:cNvSpPr/>
          <p:nvPr/>
        </p:nvSpPr>
        <p:spPr>
          <a:xfrm>
            <a:off x="5375904" y="3749224"/>
            <a:ext cx="1108553" cy="184760"/>
          </a:xfrm>
          <a:prstGeom prst="flowChartProcess">
            <a:avLst/>
          </a:prstGeom>
          <a:solidFill>
            <a:schemeClr val="accent2"/>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900" dirty="0">
                <a:latin typeface="Meiryo UI" panose="020B0604030504040204" pitchFamily="50" charset="-128"/>
                <a:ea typeface="Meiryo UI" panose="020B0604030504040204" pitchFamily="50" charset="-128"/>
              </a:rPr>
              <a:t>FY23 4Q</a:t>
            </a:r>
            <a:r>
              <a:rPr kumimoji="1" lang="ja-JP" altLang="en-US" sz="900" dirty="0">
                <a:latin typeface="Meiryo UI" panose="020B0604030504040204" pitchFamily="50" charset="-128"/>
                <a:ea typeface="Meiryo UI" panose="020B0604030504040204" pitchFamily="50" charset="-128"/>
              </a:rPr>
              <a:t>～</a:t>
            </a:r>
            <a:r>
              <a:rPr lang="ja-JP" altLang="en-US" sz="900" dirty="0">
                <a:latin typeface="Meiryo UI" panose="020B0604030504040204" pitchFamily="50" charset="-128"/>
                <a:ea typeface="Meiryo UI" panose="020B0604030504040204" pitchFamily="50" charset="-128"/>
              </a:rPr>
              <a:t>実施</a:t>
            </a:r>
            <a:r>
              <a:rPr kumimoji="1" lang="ja-JP" altLang="en-US" sz="900" dirty="0">
                <a:latin typeface="Meiryo UI" panose="020B0604030504040204" pitchFamily="50" charset="-128"/>
                <a:ea typeface="Meiryo UI" panose="020B0604030504040204" pitchFamily="50" charset="-128"/>
              </a:rPr>
              <a:t>中</a:t>
            </a:r>
          </a:p>
        </p:txBody>
      </p:sp>
      <p:sp>
        <p:nvSpPr>
          <p:cNvPr id="9" name="フローチャート: 処理 8">
            <a:extLst>
              <a:ext uri="{FF2B5EF4-FFF2-40B4-BE49-F238E27FC236}">
                <a16:creationId xmlns:a16="http://schemas.microsoft.com/office/drawing/2014/main" id="{4F507574-68BF-46EA-EFCE-62E27BD127CA}"/>
              </a:ext>
            </a:extLst>
          </p:cNvPr>
          <p:cNvSpPr/>
          <p:nvPr/>
        </p:nvSpPr>
        <p:spPr>
          <a:xfrm>
            <a:off x="5721227" y="4649534"/>
            <a:ext cx="1108553" cy="184760"/>
          </a:xfrm>
          <a:prstGeom prst="flowChartProcess">
            <a:avLst/>
          </a:prstGeom>
          <a:solidFill>
            <a:schemeClr val="accent2"/>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900" dirty="0">
                <a:latin typeface="Meiryo UI" panose="020B0604030504040204" pitchFamily="50" charset="-128"/>
                <a:ea typeface="Meiryo UI" panose="020B0604030504040204" pitchFamily="50" charset="-128"/>
              </a:rPr>
              <a:t>FY24 5</a:t>
            </a:r>
            <a:r>
              <a:rPr lang="ja-JP" altLang="en-US" sz="900" dirty="0">
                <a:latin typeface="Meiryo UI" panose="020B0604030504040204" pitchFamily="50" charset="-128"/>
                <a:ea typeface="Meiryo UI" panose="020B0604030504040204" pitchFamily="50" charset="-128"/>
              </a:rPr>
              <a:t>月～提案中</a:t>
            </a:r>
            <a:endParaRPr kumimoji="1" lang="ja-JP" altLang="en-US" sz="900" dirty="0">
              <a:latin typeface="Meiryo UI" panose="020B0604030504040204" pitchFamily="50" charset="-128"/>
              <a:ea typeface="Meiryo UI" panose="020B0604030504040204" pitchFamily="50" charset="-128"/>
            </a:endParaRPr>
          </a:p>
        </p:txBody>
      </p:sp>
      <p:sp>
        <p:nvSpPr>
          <p:cNvPr id="10" name="テキスト ボックス 9">
            <a:extLst>
              <a:ext uri="{FF2B5EF4-FFF2-40B4-BE49-F238E27FC236}">
                <a16:creationId xmlns:a16="http://schemas.microsoft.com/office/drawing/2014/main" id="{145114F2-93B0-6AA4-F4AA-C93A658A4071}"/>
              </a:ext>
            </a:extLst>
          </p:cNvPr>
          <p:cNvSpPr txBox="1"/>
          <p:nvPr/>
        </p:nvSpPr>
        <p:spPr>
          <a:xfrm>
            <a:off x="1402050" y="2031443"/>
            <a:ext cx="3509839" cy="618952"/>
          </a:xfrm>
          <a:prstGeom prst="rect">
            <a:avLst/>
          </a:prstGeom>
          <a:solidFill>
            <a:schemeClr val="bg2">
              <a:lumMod val="40000"/>
              <a:lumOff val="60000"/>
            </a:schemeClr>
          </a:solidFill>
        </p:spPr>
        <p:txBody>
          <a:bodyPr wrap="square" rtlCol="0">
            <a:spAutoFit/>
          </a:bodyPr>
          <a:lstStyle/>
          <a:p>
            <a:r>
              <a:rPr lang="ja-JP" altLang="en-US" sz="1800" dirty="0">
                <a:latin typeface="Meiryo UI" panose="020B0604030504040204" pitchFamily="50" charset="-128"/>
                <a:ea typeface="Meiryo UI" panose="020B0604030504040204" pitchFamily="50" charset="-128"/>
              </a:rPr>
              <a:t>お客様の課題：</a:t>
            </a:r>
            <a:endParaRPr lang="en-US" altLang="ja-JP" sz="1800" dirty="0">
              <a:latin typeface="Meiryo UI" panose="020B0604030504040204" pitchFamily="50" charset="-128"/>
              <a:ea typeface="Meiryo UI" panose="020B0604030504040204" pitchFamily="50" charset="-128"/>
            </a:endParaRPr>
          </a:p>
          <a:p>
            <a:r>
              <a:rPr lang="ja-JP" altLang="en-US" sz="1600" dirty="0">
                <a:latin typeface="Meiryo UI" panose="020B0604030504040204" pitchFamily="50" charset="-128"/>
                <a:ea typeface="Meiryo UI" panose="020B0604030504040204" pitchFamily="50" charset="-128"/>
              </a:rPr>
              <a:t>売上の減少と人員・固定費圧縮</a:t>
            </a:r>
            <a:endParaRPr kumimoji="1" lang="ja-JP" altLang="en-US" sz="1600" dirty="0">
              <a:latin typeface="Meiryo UI" panose="020B0604030504040204" pitchFamily="50" charset="-128"/>
              <a:ea typeface="Meiryo UI" panose="020B0604030504040204" pitchFamily="50" charset="-128"/>
            </a:endParaRPr>
          </a:p>
        </p:txBody>
      </p:sp>
      <p:sp>
        <p:nvSpPr>
          <p:cNvPr id="11" name="テキスト ボックス 10">
            <a:extLst>
              <a:ext uri="{FF2B5EF4-FFF2-40B4-BE49-F238E27FC236}">
                <a16:creationId xmlns:a16="http://schemas.microsoft.com/office/drawing/2014/main" id="{85599BB3-CC68-72E2-FE21-D062FBE311F6}"/>
              </a:ext>
            </a:extLst>
          </p:cNvPr>
          <p:cNvSpPr txBox="1"/>
          <p:nvPr/>
        </p:nvSpPr>
        <p:spPr>
          <a:xfrm>
            <a:off x="5070338" y="2026579"/>
            <a:ext cx="5607315" cy="615553"/>
          </a:xfrm>
          <a:prstGeom prst="rect">
            <a:avLst/>
          </a:prstGeom>
          <a:solidFill>
            <a:schemeClr val="bg2">
              <a:lumMod val="40000"/>
              <a:lumOff val="60000"/>
            </a:schemeClr>
          </a:solidFill>
        </p:spPr>
        <p:txBody>
          <a:bodyPr wrap="square" rtlCol="0">
            <a:spAutoFit/>
          </a:bodyPr>
          <a:lstStyle/>
          <a:p>
            <a:r>
              <a:rPr lang="en-US" altLang="ja-JP" sz="1800" dirty="0">
                <a:latin typeface="Meiryo UI" panose="020B0604030504040204" pitchFamily="50" charset="-128"/>
                <a:ea typeface="Meiryo UI" panose="020B0604030504040204" pitchFamily="50" charset="-128"/>
              </a:rPr>
              <a:t>WPPJ</a:t>
            </a:r>
            <a:r>
              <a:rPr lang="ja-JP" altLang="en-US" sz="1800" dirty="0">
                <a:latin typeface="Meiryo UI" panose="020B0604030504040204" pitchFamily="50" charset="-128"/>
                <a:ea typeface="Meiryo UI" panose="020B0604030504040204" pitchFamily="50" charset="-128"/>
              </a:rPr>
              <a:t>ゴール：</a:t>
            </a:r>
            <a:endParaRPr lang="en-US" altLang="ja-JP" sz="1800" dirty="0">
              <a:latin typeface="Meiryo UI" panose="020B0604030504040204" pitchFamily="50" charset="-128"/>
              <a:ea typeface="Meiryo UI" panose="020B0604030504040204" pitchFamily="50" charset="-128"/>
            </a:endParaRPr>
          </a:p>
          <a:p>
            <a:r>
              <a:rPr kumimoji="1" lang="ja-JP" altLang="en-US" sz="1600" dirty="0">
                <a:latin typeface="Meiryo UI" panose="020B0604030504040204" pitchFamily="50" charset="-128"/>
                <a:ea typeface="Meiryo UI" panose="020B0604030504040204" pitchFamily="50" charset="-128"/>
              </a:rPr>
              <a:t>少ない人員で効率的な</a:t>
            </a:r>
            <a:r>
              <a:rPr lang="ja-JP" altLang="en-US" sz="1600" dirty="0">
                <a:latin typeface="Meiryo UI" panose="020B0604030504040204" pitchFamily="50" charset="-128"/>
                <a:ea typeface="Meiryo UI" panose="020B0604030504040204" pitchFamily="50" charset="-128"/>
              </a:rPr>
              <a:t>業務の実現</a:t>
            </a:r>
            <a:endParaRPr kumimoji="1" lang="ja-JP" altLang="en-US" sz="1600" dirty="0">
              <a:latin typeface="Meiryo UI" panose="020B0604030504040204" pitchFamily="50" charset="-128"/>
              <a:ea typeface="Meiryo UI" panose="020B0604030504040204" pitchFamily="50" charset="-128"/>
            </a:endParaRPr>
          </a:p>
        </p:txBody>
      </p:sp>
      <p:grpSp>
        <p:nvGrpSpPr>
          <p:cNvPr id="12" name="グループ化 11">
            <a:extLst>
              <a:ext uri="{FF2B5EF4-FFF2-40B4-BE49-F238E27FC236}">
                <a16:creationId xmlns:a16="http://schemas.microsoft.com/office/drawing/2014/main" id="{A84313AE-DBFF-D650-5F24-C4735861D750}"/>
              </a:ext>
            </a:extLst>
          </p:cNvPr>
          <p:cNvGrpSpPr/>
          <p:nvPr/>
        </p:nvGrpSpPr>
        <p:grpSpPr>
          <a:xfrm>
            <a:off x="1444497" y="2690992"/>
            <a:ext cx="3376638" cy="2993721"/>
            <a:chOff x="161398" y="2713451"/>
            <a:chExt cx="3376638" cy="2993721"/>
          </a:xfrm>
        </p:grpSpPr>
        <p:pic>
          <p:nvPicPr>
            <p:cNvPr id="13" name="図 12">
              <a:extLst>
                <a:ext uri="{FF2B5EF4-FFF2-40B4-BE49-F238E27FC236}">
                  <a16:creationId xmlns:a16="http://schemas.microsoft.com/office/drawing/2014/main" id="{ED91B23A-E4F3-7EF0-E0C6-E1644513E555}"/>
                </a:ext>
              </a:extLst>
            </p:cNvPr>
            <p:cNvPicPr>
              <a:picLocks noChangeAspect="1"/>
            </p:cNvPicPr>
            <p:nvPr/>
          </p:nvPicPr>
          <p:blipFill rotWithShape="1">
            <a:blip r:embed="rId2"/>
            <a:srcRect l="791" t="37187" r="50820" b="5639"/>
            <a:stretch/>
          </p:blipFill>
          <p:spPr>
            <a:xfrm>
              <a:off x="161398" y="2713451"/>
              <a:ext cx="3376638" cy="2993721"/>
            </a:xfrm>
            <a:prstGeom prst="rect">
              <a:avLst/>
            </a:prstGeom>
            <a:ln>
              <a:solidFill>
                <a:schemeClr val="accent1"/>
              </a:solidFill>
            </a:ln>
          </p:spPr>
        </p:pic>
        <p:sp>
          <p:nvSpPr>
            <p:cNvPr id="14" name="テキスト ボックス 13">
              <a:extLst>
                <a:ext uri="{FF2B5EF4-FFF2-40B4-BE49-F238E27FC236}">
                  <a16:creationId xmlns:a16="http://schemas.microsoft.com/office/drawing/2014/main" id="{A30FA45E-2FCB-5C74-0ACC-E969931372BD}"/>
                </a:ext>
              </a:extLst>
            </p:cNvPr>
            <p:cNvSpPr txBox="1"/>
            <p:nvPr/>
          </p:nvSpPr>
          <p:spPr>
            <a:xfrm>
              <a:off x="2217074" y="2776082"/>
              <a:ext cx="954107" cy="400110"/>
            </a:xfrm>
            <a:prstGeom prst="rect">
              <a:avLst/>
            </a:prstGeom>
            <a:noFill/>
            <a:ln>
              <a:solidFill>
                <a:srgbClr val="FF0000"/>
              </a:solidFill>
            </a:ln>
          </p:spPr>
          <p:txBody>
            <a:bodyPr wrap="none" rtlCol="0">
              <a:spAutoFit/>
            </a:bodyPr>
            <a:lstStyle/>
            <a:p>
              <a:pPr algn="ctr"/>
              <a:r>
                <a:rPr kumimoji="1" lang="en-US" altLang="ja-JP" sz="1000" dirty="0">
                  <a:latin typeface="Meiryo UI" panose="020B0604030504040204" pitchFamily="50" charset="-128"/>
                  <a:ea typeface="Meiryo UI" panose="020B0604030504040204" pitchFamily="50" charset="-128"/>
                </a:rPr>
                <a:t>FY26:</a:t>
              </a:r>
            </a:p>
            <a:p>
              <a:pPr algn="ctr"/>
              <a:r>
                <a:rPr kumimoji="1" lang="ja-JP" altLang="en-US" sz="1000" dirty="0">
                  <a:latin typeface="Meiryo UI" panose="020B0604030504040204" pitchFamily="50" charset="-128"/>
                  <a:ea typeface="Meiryo UI" panose="020B0604030504040204" pitchFamily="50" charset="-128"/>
                </a:rPr>
                <a:t>新設案件消滅</a:t>
              </a:r>
            </a:p>
          </p:txBody>
        </p:sp>
        <p:cxnSp>
          <p:nvCxnSpPr>
            <p:cNvPr id="15" name="直線コネクタ 14">
              <a:extLst>
                <a:ext uri="{FF2B5EF4-FFF2-40B4-BE49-F238E27FC236}">
                  <a16:creationId xmlns:a16="http://schemas.microsoft.com/office/drawing/2014/main" id="{0E7E2994-9103-FADC-5324-44C92FE2BF3A}"/>
                </a:ext>
              </a:extLst>
            </p:cNvPr>
            <p:cNvCxnSpPr>
              <a:cxnSpLocks/>
              <a:stCxn id="14" idx="2"/>
            </p:cNvCxnSpPr>
            <p:nvPr/>
          </p:nvCxnSpPr>
          <p:spPr>
            <a:xfrm>
              <a:off x="2694128" y="3176192"/>
              <a:ext cx="0" cy="94017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54949E9C-B562-A513-4D9C-E491604B2D03}"/>
                </a:ext>
              </a:extLst>
            </p:cNvPr>
            <p:cNvCxnSpPr>
              <a:cxnSpLocks/>
            </p:cNvCxnSpPr>
            <p:nvPr/>
          </p:nvCxnSpPr>
          <p:spPr>
            <a:xfrm>
              <a:off x="2694127" y="3538603"/>
              <a:ext cx="769320"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7" name="テキスト ボックス 16">
              <a:extLst>
                <a:ext uri="{FF2B5EF4-FFF2-40B4-BE49-F238E27FC236}">
                  <a16:creationId xmlns:a16="http://schemas.microsoft.com/office/drawing/2014/main" id="{F2A56F6D-2E39-5E51-9690-4BA30B19373C}"/>
                </a:ext>
              </a:extLst>
            </p:cNvPr>
            <p:cNvSpPr txBox="1"/>
            <p:nvPr/>
          </p:nvSpPr>
          <p:spPr>
            <a:xfrm>
              <a:off x="2748824" y="3320241"/>
              <a:ext cx="713657" cy="246221"/>
            </a:xfrm>
            <a:prstGeom prst="rect">
              <a:avLst/>
            </a:prstGeom>
            <a:noFill/>
            <a:ln>
              <a:noFill/>
            </a:ln>
          </p:spPr>
          <p:txBody>
            <a:bodyPr wrap="none" rtlCol="0">
              <a:spAutoFit/>
            </a:bodyPr>
            <a:lstStyle/>
            <a:p>
              <a:pPr algn="ctr"/>
              <a:r>
                <a:rPr lang="en-US" altLang="ja-JP" sz="1000" dirty="0">
                  <a:latin typeface="Meiryo UI" panose="020B0604030504040204" pitchFamily="50" charset="-128"/>
                  <a:ea typeface="Meiryo UI" panose="020B0604030504040204" pitchFamily="50" charset="-128"/>
                </a:rPr>
                <a:t>AS</a:t>
              </a:r>
              <a:r>
                <a:rPr lang="ja-JP" altLang="en-US" sz="1000" dirty="0">
                  <a:latin typeface="Meiryo UI" panose="020B0604030504040204" pitchFamily="50" charset="-128"/>
                  <a:ea typeface="Meiryo UI" panose="020B0604030504040204" pitchFamily="50" charset="-128"/>
                </a:rPr>
                <a:t>が主力</a:t>
              </a:r>
              <a:endParaRPr lang="en-US" altLang="ja-JP" sz="1000" dirty="0">
                <a:latin typeface="Meiryo UI" panose="020B0604030504040204" pitchFamily="50" charset="-128"/>
                <a:ea typeface="Meiryo UI" panose="020B0604030504040204" pitchFamily="50" charset="-128"/>
              </a:endParaRPr>
            </a:p>
          </p:txBody>
        </p:sp>
      </p:grpSp>
      <p:sp>
        <p:nvSpPr>
          <p:cNvPr id="18" name="テキスト ボックス 17">
            <a:extLst>
              <a:ext uri="{FF2B5EF4-FFF2-40B4-BE49-F238E27FC236}">
                <a16:creationId xmlns:a16="http://schemas.microsoft.com/office/drawing/2014/main" id="{E4DBB365-CD9F-E246-9FFF-CEDE40471CD5}"/>
              </a:ext>
            </a:extLst>
          </p:cNvPr>
          <p:cNvSpPr txBox="1"/>
          <p:nvPr/>
        </p:nvSpPr>
        <p:spPr>
          <a:xfrm>
            <a:off x="7065689" y="2767809"/>
            <a:ext cx="3506278" cy="646331"/>
          </a:xfrm>
          <a:prstGeom prst="rect">
            <a:avLst/>
          </a:prstGeom>
          <a:noFill/>
        </p:spPr>
        <p:txBody>
          <a:bodyPr wrap="square" rtlCol="0">
            <a:spAutoFit/>
          </a:bodyPr>
          <a:lstStyle/>
          <a:p>
            <a:r>
              <a:rPr kumimoji="1" lang="ja-JP" altLang="en-US" sz="1200" dirty="0">
                <a:latin typeface="Meiryo UI" panose="020B0604030504040204" pitchFamily="50" charset="-128"/>
                <a:ea typeface="Meiryo UI" panose="020B0604030504040204" pitchFamily="50" charset="-128"/>
              </a:rPr>
              <a:t>成果：</a:t>
            </a:r>
            <a:endParaRPr kumimoji="1" lang="en-US" altLang="ja-JP" sz="1200" dirty="0">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n"/>
            </a:pPr>
            <a:r>
              <a:rPr kumimoji="1" lang="ja-JP" altLang="en-US" sz="1200" dirty="0">
                <a:latin typeface="Meiryo UI" panose="020B0604030504040204" pitchFamily="50" charset="-128"/>
                <a:ea typeface="Meiryo UI" panose="020B0604030504040204" pitchFamily="50" charset="-128"/>
              </a:rPr>
              <a:t>発電所単位での累積採算性モニタリング手法確立</a:t>
            </a:r>
            <a:endParaRPr kumimoji="1" lang="en-US" altLang="ja-JP" sz="1200" dirty="0">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n"/>
            </a:pPr>
            <a:r>
              <a:rPr lang="ja-JP" altLang="en-US" sz="1200" dirty="0">
                <a:latin typeface="Meiryo UI" panose="020B0604030504040204" pitchFamily="50" charset="-128"/>
                <a:ea typeface="Meiryo UI" panose="020B0604030504040204" pitchFamily="50" charset="-128"/>
              </a:rPr>
              <a:t>引合費の利用状況モニタリング手法確立</a:t>
            </a:r>
            <a:endParaRPr lang="en-US" altLang="ja-JP" sz="1200" dirty="0">
              <a:latin typeface="Meiryo UI" panose="020B0604030504040204" pitchFamily="50" charset="-128"/>
              <a:ea typeface="Meiryo UI" panose="020B0604030504040204" pitchFamily="50" charset="-128"/>
            </a:endParaRPr>
          </a:p>
        </p:txBody>
      </p:sp>
      <p:sp>
        <p:nvSpPr>
          <p:cNvPr id="19" name="テキスト ボックス 18">
            <a:extLst>
              <a:ext uri="{FF2B5EF4-FFF2-40B4-BE49-F238E27FC236}">
                <a16:creationId xmlns:a16="http://schemas.microsoft.com/office/drawing/2014/main" id="{ACC018F6-A449-4D92-C566-4E9236A8D015}"/>
              </a:ext>
            </a:extLst>
          </p:cNvPr>
          <p:cNvSpPr txBox="1"/>
          <p:nvPr/>
        </p:nvSpPr>
        <p:spPr>
          <a:xfrm>
            <a:off x="8244578" y="5336204"/>
            <a:ext cx="2813501" cy="461665"/>
          </a:xfrm>
          <a:prstGeom prst="rect">
            <a:avLst/>
          </a:prstGeom>
          <a:noFill/>
        </p:spPr>
        <p:txBody>
          <a:bodyPr wrap="square" rtlCol="0">
            <a:spAutoFit/>
          </a:bodyPr>
          <a:lstStyle/>
          <a:p>
            <a:pPr marL="171450" indent="-171450">
              <a:buFont typeface="Wingdings" panose="05000000000000000000" pitchFamily="2" charset="2"/>
              <a:buChar char="n"/>
            </a:pPr>
            <a:endParaRPr lang="en-US" altLang="ja-JP" sz="1200" dirty="0">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n"/>
            </a:pPr>
            <a:endParaRPr kumimoji="1" lang="ja-JP" altLang="en-US" sz="1200" dirty="0">
              <a:latin typeface="Meiryo UI" panose="020B0604030504040204" pitchFamily="50" charset="-128"/>
              <a:ea typeface="Meiryo UI" panose="020B0604030504040204" pitchFamily="50" charset="-128"/>
            </a:endParaRPr>
          </a:p>
        </p:txBody>
      </p:sp>
      <p:sp>
        <p:nvSpPr>
          <p:cNvPr id="20" name="テキスト ボックス 19">
            <a:extLst>
              <a:ext uri="{FF2B5EF4-FFF2-40B4-BE49-F238E27FC236}">
                <a16:creationId xmlns:a16="http://schemas.microsoft.com/office/drawing/2014/main" id="{186031D2-278A-989F-2CAF-030641B3CC5D}"/>
              </a:ext>
            </a:extLst>
          </p:cNvPr>
          <p:cNvSpPr txBox="1"/>
          <p:nvPr/>
        </p:nvSpPr>
        <p:spPr>
          <a:xfrm>
            <a:off x="7371344" y="3906369"/>
            <a:ext cx="4820655" cy="646331"/>
          </a:xfrm>
          <a:prstGeom prst="rect">
            <a:avLst/>
          </a:prstGeom>
          <a:noFill/>
        </p:spPr>
        <p:txBody>
          <a:bodyPr wrap="square" rtlCol="0">
            <a:spAutoFit/>
          </a:bodyPr>
          <a:lstStyle/>
          <a:p>
            <a:r>
              <a:rPr kumimoji="1" lang="ja-JP" altLang="en-US" sz="1200" dirty="0">
                <a:latin typeface="Meiryo UI" panose="020B0604030504040204" pitchFamily="50" charset="-128"/>
                <a:ea typeface="Meiryo UI" panose="020B0604030504040204" pitchFamily="50" charset="-128"/>
              </a:rPr>
              <a:t>成果：</a:t>
            </a:r>
            <a:endParaRPr kumimoji="1" lang="en-US" altLang="ja-JP" sz="1200" dirty="0">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n"/>
            </a:pPr>
            <a:r>
              <a:rPr kumimoji="1" lang="ja-JP" altLang="en-US" sz="1200" dirty="0">
                <a:latin typeface="Meiryo UI" panose="020B0604030504040204" pitchFamily="50" charset="-128"/>
                <a:ea typeface="Meiryo UI" panose="020B0604030504040204" pitchFamily="50" charset="-128"/>
              </a:rPr>
              <a:t>引合フェーズにおける技術照会の効率化方法の確立</a:t>
            </a:r>
            <a:endParaRPr kumimoji="1" lang="en-US" altLang="ja-JP" sz="1200" dirty="0">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n"/>
            </a:pPr>
            <a:r>
              <a:rPr lang="ja-JP" altLang="en-US" sz="1200" dirty="0">
                <a:latin typeface="Meiryo UI" panose="020B0604030504040204" pitchFamily="50" charset="-128"/>
                <a:ea typeface="Meiryo UI" panose="020B0604030504040204" pitchFamily="50" charset="-128"/>
              </a:rPr>
              <a:t>同フェーズにおける顧客提案業務の課題抽出とガイドライン化</a:t>
            </a:r>
            <a:r>
              <a:rPr lang="ja-JP" altLang="en-US" sz="800" dirty="0">
                <a:latin typeface="Meiryo UI" panose="020B0604030504040204" pitchFamily="50" charset="-128"/>
                <a:ea typeface="Meiryo UI" panose="020B0604030504040204" pitchFamily="50" charset="-128"/>
              </a:rPr>
              <a:t>（～</a:t>
            </a:r>
            <a:r>
              <a:rPr lang="en-US" altLang="ja-JP" sz="800" dirty="0">
                <a:latin typeface="Meiryo UI" panose="020B0604030504040204" pitchFamily="50" charset="-128"/>
                <a:ea typeface="Meiryo UI" panose="020B0604030504040204" pitchFamily="50" charset="-128"/>
              </a:rPr>
              <a:t>4</a:t>
            </a:r>
            <a:r>
              <a:rPr lang="ja-JP" altLang="en-US" sz="800" dirty="0">
                <a:latin typeface="Meiryo UI" panose="020B0604030504040204" pitchFamily="50" charset="-128"/>
                <a:ea typeface="Meiryo UI" panose="020B0604030504040204" pitchFamily="50" charset="-128"/>
              </a:rPr>
              <a:t>月末予定）</a:t>
            </a:r>
            <a:endParaRPr kumimoji="1" lang="en-US" altLang="ja-JP" sz="800" dirty="0">
              <a:latin typeface="Meiryo UI" panose="020B0604030504040204" pitchFamily="50" charset="-128"/>
              <a:ea typeface="Meiryo UI" panose="020B0604030504040204" pitchFamily="50" charset="-128"/>
            </a:endParaRPr>
          </a:p>
        </p:txBody>
      </p:sp>
      <p:sp>
        <p:nvSpPr>
          <p:cNvPr id="21" name="テキスト ボックス 20">
            <a:extLst>
              <a:ext uri="{FF2B5EF4-FFF2-40B4-BE49-F238E27FC236}">
                <a16:creationId xmlns:a16="http://schemas.microsoft.com/office/drawing/2014/main" id="{EE291E17-3506-6123-33CD-72F9AA67E088}"/>
              </a:ext>
            </a:extLst>
          </p:cNvPr>
          <p:cNvSpPr txBox="1"/>
          <p:nvPr/>
        </p:nvSpPr>
        <p:spPr>
          <a:xfrm>
            <a:off x="7700340" y="4695314"/>
            <a:ext cx="2977313" cy="646331"/>
          </a:xfrm>
          <a:prstGeom prst="rect">
            <a:avLst/>
          </a:prstGeom>
          <a:noFill/>
        </p:spPr>
        <p:txBody>
          <a:bodyPr wrap="square" rtlCol="0">
            <a:spAutoFit/>
          </a:bodyPr>
          <a:lstStyle/>
          <a:p>
            <a:r>
              <a:rPr lang="ja-JP" altLang="en-US" sz="1200" dirty="0">
                <a:latin typeface="Meiryo UI" panose="020B0604030504040204" pitchFamily="50" charset="-128"/>
                <a:ea typeface="Meiryo UI" panose="020B0604030504040204" pitchFamily="50" charset="-128"/>
              </a:rPr>
              <a:t>取り組み内容（予定）</a:t>
            </a:r>
            <a:r>
              <a:rPr kumimoji="1" lang="ja-JP" altLang="en-US" sz="1200" dirty="0">
                <a:latin typeface="Meiryo UI" panose="020B0604030504040204" pitchFamily="50" charset="-128"/>
                <a:ea typeface="Meiryo UI" panose="020B0604030504040204" pitchFamily="50" charset="-128"/>
              </a:rPr>
              <a:t>：</a:t>
            </a:r>
            <a:endParaRPr kumimoji="1" lang="en-US" altLang="ja-JP" sz="1200" dirty="0">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n"/>
            </a:pPr>
            <a:r>
              <a:rPr kumimoji="1" lang="ja-JP" altLang="en-US" sz="1200" dirty="0">
                <a:latin typeface="Meiryo UI" panose="020B0604030504040204" pitchFamily="50" charset="-128"/>
                <a:ea typeface="Meiryo UI" panose="020B0604030504040204" pitchFamily="50" charset="-128"/>
              </a:rPr>
              <a:t>縦割り組織の再編</a:t>
            </a:r>
            <a:endParaRPr kumimoji="1" lang="en-US" altLang="ja-JP" sz="1200" dirty="0">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n"/>
            </a:pPr>
            <a:r>
              <a:rPr lang="en-US" altLang="ja-JP" sz="1200" dirty="0">
                <a:latin typeface="Meiryo UI" panose="020B0604030504040204" pitchFamily="50" charset="-128"/>
                <a:ea typeface="Meiryo UI" panose="020B0604030504040204" pitchFamily="50" charset="-128"/>
              </a:rPr>
              <a:t>AS</a:t>
            </a:r>
            <a:r>
              <a:rPr lang="ja-JP" altLang="en-US" sz="1200" dirty="0">
                <a:latin typeface="Meiryo UI" panose="020B0604030504040204" pitchFamily="50" charset="-128"/>
                <a:ea typeface="Meiryo UI" panose="020B0604030504040204" pitchFamily="50" charset="-128"/>
              </a:rPr>
              <a:t>の特性にあった柔軟な対応力の育成</a:t>
            </a:r>
            <a:endParaRPr kumimoji="1" lang="ja-JP" altLang="en-US" sz="1200" dirty="0">
              <a:latin typeface="Meiryo UI" panose="020B0604030504040204" pitchFamily="50" charset="-128"/>
              <a:ea typeface="Meiryo UI" panose="020B0604030504040204" pitchFamily="50" charset="-128"/>
            </a:endParaRPr>
          </a:p>
        </p:txBody>
      </p:sp>
      <p:sp>
        <p:nvSpPr>
          <p:cNvPr id="22" name="テキスト ボックス 21">
            <a:extLst>
              <a:ext uri="{FF2B5EF4-FFF2-40B4-BE49-F238E27FC236}">
                <a16:creationId xmlns:a16="http://schemas.microsoft.com/office/drawing/2014/main" id="{1B598B1B-72F4-773A-7EBA-2C91C65349C7}"/>
              </a:ext>
            </a:extLst>
          </p:cNvPr>
          <p:cNvSpPr txBox="1"/>
          <p:nvPr/>
        </p:nvSpPr>
        <p:spPr>
          <a:xfrm>
            <a:off x="3053530" y="5803781"/>
            <a:ext cx="7449610" cy="646331"/>
          </a:xfrm>
          <a:prstGeom prst="rect">
            <a:avLst/>
          </a:prstGeom>
          <a:noFill/>
          <a:ln>
            <a:solidFill>
              <a:schemeClr val="tx2">
                <a:lumMod val="50000"/>
                <a:lumOff val="50000"/>
              </a:schemeClr>
            </a:solidFill>
          </a:ln>
        </p:spPr>
        <p:txBody>
          <a:bodyPr wrap="square" rtlCol="0" anchor="ctr">
            <a:noAutofit/>
          </a:bodyPr>
          <a:lstStyle/>
          <a:p>
            <a:pPr marL="285750" indent="-285750">
              <a:buFont typeface="Wingdings" panose="05000000000000000000" pitchFamily="2" charset="2"/>
              <a:buChar char="n"/>
            </a:pPr>
            <a:r>
              <a:rPr lang="ja-JP" altLang="en-US" sz="1600" dirty="0">
                <a:latin typeface="Meiryo UI" panose="020B0604030504040204" pitchFamily="50" charset="-128"/>
                <a:ea typeface="Meiryo UI" panose="020B0604030504040204" pitchFamily="50" charset="-128"/>
              </a:rPr>
              <a:t>業務プロセスの変更に伴うシステム案件</a:t>
            </a:r>
            <a:endParaRPr lang="en-US" altLang="ja-JP" sz="1600" dirty="0">
              <a:latin typeface="Meiryo UI" panose="020B0604030504040204" pitchFamily="50" charset="-128"/>
              <a:ea typeface="Meiryo UI" panose="020B0604030504040204" pitchFamily="50" charset="-128"/>
            </a:endParaRPr>
          </a:p>
          <a:p>
            <a:pPr marL="285750" indent="-285750">
              <a:buFont typeface="Wingdings" panose="05000000000000000000" pitchFamily="2" charset="2"/>
              <a:buChar char="n"/>
            </a:pPr>
            <a:r>
              <a:rPr kumimoji="1" lang="ja-JP" altLang="en-US" sz="1600" dirty="0">
                <a:latin typeface="Meiryo UI" panose="020B0604030504040204" pitchFamily="50" charset="-128"/>
                <a:ea typeface="Meiryo UI" panose="020B0604030504040204" pitchFamily="50" charset="-128"/>
              </a:rPr>
              <a:t>事業のアフターサービス化支援の先行事例（</a:t>
            </a:r>
            <a:r>
              <a:rPr kumimoji="1" lang="en-US" altLang="ja-JP" sz="1600" dirty="0">
                <a:latin typeface="Meiryo UI" panose="020B0604030504040204" pitchFamily="50" charset="-128"/>
                <a:ea typeface="Meiryo UI" panose="020B0604030504040204" pitchFamily="50" charset="-128"/>
              </a:rPr>
              <a:t>GTCC</a:t>
            </a:r>
            <a:r>
              <a:rPr kumimoji="1" lang="ja-JP" altLang="en-US" sz="1600" dirty="0">
                <a:latin typeface="Meiryo UI" panose="020B0604030504040204" pitchFamily="50" charset="-128"/>
                <a:ea typeface="Meiryo UI" panose="020B0604030504040204" pitchFamily="50" charset="-128"/>
              </a:rPr>
              <a:t>等への展開）</a:t>
            </a:r>
            <a:endParaRPr kumimoji="1" lang="en-US" altLang="ja-JP" sz="1600" dirty="0">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0937793D-C5CE-177F-D64C-68D1104F102E}"/>
              </a:ext>
            </a:extLst>
          </p:cNvPr>
          <p:cNvSpPr/>
          <p:nvPr/>
        </p:nvSpPr>
        <p:spPr>
          <a:xfrm>
            <a:off x="1402050" y="5803781"/>
            <a:ext cx="1453019" cy="727613"/>
          </a:xfrm>
          <a:prstGeom prst="rect">
            <a:avLst/>
          </a:prstGeom>
          <a:solidFill>
            <a:schemeClr val="bg2">
              <a:lumMod val="40000"/>
              <a:lumOff val="60000"/>
            </a:schemeClr>
          </a:solidFill>
        </p:spPr>
        <p:txBody>
          <a:bodyPr wrap="square" rtlCol="0">
            <a:spAutoFit/>
          </a:bodyPr>
          <a:lstStyle/>
          <a:p>
            <a:pPr algn="ctr"/>
            <a:r>
              <a:rPr lang="ja-JP" altLang="en-US">
                <a:solidFill>
                  <a:schemeClr val="tx1"/>
                </a:solidFill>
                <a:latin typeface="Meiryo UI" panose="020B0604030504040204" pitchFamily="50" charset="-128"/>
                <a:ea typeface="Meiryo UI" panose="020B0604030504040204" pitchFamily="50" charset="-128"/>
              </a:rPr>
              <a:t>当社の</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狙い</a:t>
            </a:r>
          </a:p>
        </p:txBody>
      </p:sp>
      <p:sp>
        <p:nvSpPr>
          <p:cNvPr id="24" name="正方形/長方形 23">
            <a:extLst>
              <a:ext uri="{FF2B5EF4-FFF2-40B4-BE49-F238E27FC236}">
                <a16:creationId xmlns:a16="http://schemas.microsoft.com/office/drawing/2014/main" id="{631EF4D0-00A4-B7DE-0471-19C3874CAD6F}"/>
              </a:ext>
            </a:extLst>
          </p:cNvPr>
          <p:cNvSpPr/>
          <p:nvPr/>
        </p:nvSpPr>
        <p:spPr>
          <a:xfrm>
            <a:off x="10303099" y="100613"/>
            <a:ext cx="1803042" cy="349273"/>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200" dirty="0">
                <a:solidFill>
                  <a:schemeClr val="bg1"/>
                </a:solidFill>
              </a:rPr>
              <a:t>12</a:t>
            </a:r>
            <a:r>
              <a:rPr kumimoji="1" lang="ja-JP" altLang="en-US" sz="1200" dirty="0">
                <a:solidFill>
                  <a:schemeClr val="bg1"/>
                </a:solidFill>
              </a:rPr>
              <a:t>月ご説明再掲・更新</a:t>
            </a:r>
          </a:p>
        </p:txBody>
      </p:sp>
    </p:spTree>
    <p:extLst>
      <p:ext uri="{BB962C8B-B14F-4D97-AF65-F5344CB8AC3E}">
        <p14:creationId xmlns:p14="http://schemas.microsoft.com/office/powerpoint/2010/main" val="1009902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タイトル 9">
            <a:extLst>
              <a:ext uri="{FF2B5EF4-FFF2-40B4-BE49-F238E27FC236}">
                <a16:creationId xmlns:a16="http://schemas.microsoft.com/office/drawing/2014/main" id="{969BFE38-36AF-84F7-77A0-FC0FA7D49197}"/>
              </a:ext>
            </a:extLst>
          </p:cNvPr>
          <p:cNvSpPr>
            <a:spLocks noGrp="1"/>
          </p:cNvSpPr>
          <p:nvPr>
            <p:ph type="title"/>
          </p:nvPr>
        </p:nvSpPr>
        <p:spPr/>
        <p:txBody>
          <a:bodyPr/>
          <a:lstStyle/>
          <a:p>
            <a:r>
              <a:rPr lang="en-US" altLang="ja-JP" dirty="0"/>
              <a:t>WPPJ</a:t>
            </a:r>
            <a:r>
              <a:rPr lang="ja-JP" altLang="en-US" dirty="0"/>
              <a:t>直近の活動状況</a:t>
            </a:r>
          </a:p>
        </p:txBody>
      </p:sp>
      <p:pic>
        <p:nvPicPr>
          <p:cNvPr id="5" name="図 4">
            <a:extLst>
              <a:ext uri="{FF2B5EF4-FFF2-40B4-BE49-F238E27FC236}">
                <a16:creationId xmlns:a16="http://schemas.microsoft.com/office/drawing/2014/main" id="{C4135DBE-C968-1324-088B-5D57E0D7CECE}"/>
              </a:ext>
            </a:extLst>
          </p:cNvPr>
          <p:cNvPicPr>
            <a:picLocks noChangeAspect="1"/>
          </p:cNvPicPr>
          <p:nvPr/>
        </p:nvPicPr>
        <p:blipFill>
          <a:blip r:embed="rId2"/>
          <a:stretch>
            <a:fillRect/>
          </a:stretch>
        </p:blipFill>
        <p:spPr>
          <a:xfrm>
            <a:off x="2014178" y="854178"/>
            <a:ext cx="7775426" cy="5669022"/>
          </a:xfrm>
          <a:prstGeom prst="rect">
            <a:avLst/>
          </a:prstGeom>
          <a:ln>
            <a:solidFill>
              <a:schemeClr val="tx1"/>
            </a:solidFill>
          </a:ln>
        </p:spPr>
      </p:pic>
      <p:sp>
        <p:nvSpPr>
          <p:cNvPr id="6" name="矢印: 五方向 5">
            <a:extLst>
              <a:ext uri="{FF2B5EF4-FFF2-40B4-BE49-F238E27FC236}">
                <a16:creationId xmlns:a16="http://schemas.microsoft.com/office/drawing/2014/main" id="{F641B69F-4B82-E651-2B97-7C3F29F0133C}"/>
              </a:ext>
            </a:extLst>
          </p:cNvPr>
          <p:cNvSpPr/>
          <p:nvPr/>
        </p:nvSpPr>
        <p:spPr>
          <a:xfrm>
            <a:off x="246648" y="2664680"/>
            <a:ext cx="1697277" cy="826718"/>
          </a:xfrm>
          <a:prstGeom prst="homePlate">
            <a:avLst/>
          </a:prstGeom>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ja-JP" sz="1400" dirty="0">
                <a:latin typeface="Meiryo UI" panose="020B0604030504040204" pitchFamily="50" charset="-128"/>
                <a:ea typeface="Meiryo UI" panose="020B0604030504040204" pitchFamily="50" charset="-128"/>
              </a:rPr>
              <a:t>AS</a:t>
            </a:r>
            <a:r>
              <a:rPr kumimoji="1" lang="ja-JP" altLang="en-US" sz="1400" dirty="0">
                <a:latin typeface="Meiryo UI" panose="020B0604030504040204" pitchFamily="50" charset="-128"/>
                <a:ea typeface="Meiryo UI" panose="020B0604030504040204" pitchFamily="50" charset="-128"/>
              </a:rPr>
              <a:t>業務に沿った体制再構築</a:t>
            </a:r>
          </a:p>
        </p:txBody>
      </p:sp>
      <p:sp>
        <p:nvSpPr>
          <p:cNvPr id="7" name="矢印: 五方向 6">
            <a:extLst>
              <a:ext uri="{FF2B5EF4-FFF2-40B4-BE49-F238E27FC236}">
                <a16:creationId xmlns:a16="http://schemas.microsoft.com/office/drawing/2014/main" id="{D42C69F2-367C-AACE-5455-682991E9D861}"/>
              </a:ext>
            </a:extLst>
          </p:cNvPr>
          <p:cNvSpPr/>
          <p:nvPr/>
        </p:nvSpPr>
        <p:spPr>
          <a:xfrm>
            <a:off x="226628" y="4536162"/>
            <a:ext cx="1697277" cy="826718"/>
          </a:xfrm>
          <a:prstGeom prst="homePlate">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ja-JP" altLang="en-US" sz="1400" dirty="0">
                <a:latin typeface="Meiryo UI" panose="020B0604030504040204" pitchFamily="50" charset="-128"/>
                <a:ea typeface="Meiryo UI" panose="020B0604030504040204" pitchFamily="50" charset="-128"/>
              </a:rPr>
              <a:t>顧客起点の提案</a:t>
            </a:r>
            <a:endParaRPr kumimoji="1" lang="ja-JP" altLang="en-US" sz="1400" dirty="0">
              <a:latin typeface="Meiryo UI" panose="020B0604030504040204" pitchFamily="50" charset="-128"/>
              <a:ea typeface="Meiryo UI" panose="020B0604030504040204" pitchFamily="50" charset="-128"/>
            </a:endParaRPr>
          </a:p>
        </p:txBody>
      </p:sp>
      <p:sp>
        <p:nvSpPr>
          <p:cNvPr id="8" name="フローチャート: 処理 7">
            <a:extLst>
              <a:ext uri="{FF2B5EF4-FFF2-40B4-BE49-F238E27FC236}">
                <a16:creationId xmlns:a16="http://schemas.microsoft.com/office/drawing/2014/main" id="{70D076D4-5E23-7398-C789-CF7D8C811756}"/>
              </a:ext>
            </a:extLst>
          </p:cNvPr>
          <p:cNvSpPr/>
          <p:nvPr/>
        </p:nvSpPr>
        <p:spPr>
          <a:xfrm>
            <a:off x="77546" y="2551946"/>
            <a:ext cx="1108553" cy="184760"/>
          </a:xfrm>
          <a:prstGeom prst="flowChartProcess">
            <a:avLst/>
          </a:prstGeom>
          <a:solidFill>
            <a:schemeClr val="accent2"/>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900" dirty="0">
                <a:latin typeface="Meiryo UI" panose="020B0604030504040204" pitchFamily="50" charset="-128"/>
                <a:ea typeface="Meiryo UI" panose="020B0604030504040204" pitchFamily="50" charset="-128"/>
              </a:rPr>
              <a:t>FY23 3Q</a:t>
            </a:r>
            <a:r>
              <a:rPr kumimoji="1" lang="ja-JP" altLang="en-US" sz="900" dirty="0">
                <a:latin typeface="Meiryo UI" panose="020B0604030504040204" pitchFamily="50" charset="-128"/>
                <a:ea typeface="Meiryo UI" panose="020B0604030504040204" pitchFamily="50" charset="-128"/>
              </a:rPr>
              <a:t>～実施中</a:t>
            </a:r>
          </a:p>
        </p:txBody>
      </p:sp>
      <p:sp>
        <p:nvSpPr>
          <p:cNvPr id="9" name="フローチャート: 処理 8">
            <a:extLst>
              <a:ext uri="{FF2B5EF4-FFF2-40B4-BE49-F238E27FC236}">
                <a16:creationId xmlns:a16="http://schemas.microsoft.com/office/drawing/2014/main" id="{26921A75-1524-75A6-E4BF-3C4579D8746F}"/>
              </a:ext>
            </a:extLst>
          </p:cNvPr>
          <p:cNvSpPr/>
          <p:nvPr/>
        </p:nvSpPr>
        <p:spPr>
          <a:xfrm>
            <a:off x="77546" y="4503280"/>
            <a:ext cx="1108553" cy="184760"/>
          </a:xfrm>
          <a:prstGeom prst="flowChartProcess">
            <a:avLst/>
          </a:prstGeom>
          <a:solidFill>
            <a:schemeClr val="accent2"/>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900" dirty="0">
                <a:latin typeface="Meiryo UI" panose="020B0604030504040204" pitchFamily="50" charset="-128"/>
                <a:ea typeface="Meiryo UI" panose="020B0604030504040204" pitchFamily="50" charset="-128"/>
              </a:rPr>
              <a:t>FY23 4Q</a:t>
            </a:r>
            <a:r>
              <a:rPr kumimoji="1" lang="ja-JP" altLang="en-US" sz="900" dirty="0">
                <a:latin typeface="Meiryo UI" panose="020B0604030504040204" pitchFamily="50" charset="-128"/>
                <a:ea typeface="Meiryo UI" panose="020B0604030504040204" pitchFamily="50" charset="-128"/>
              </a:rPr>
              <a:t>～</a:t>
            </a:r>
            <a:r>
              <a:rPr lang="ja-JP" altLang="en-US" sz="900" dirty="0">
                <a:latin typeface="Meiryo UI" panose="020B0604030504040204" pitchFamily="50" charset="-128"/>
                <a:ea typeface="Meiryo UI" panose="020B0604030504040204" pitchFamily="50" charset="-128"/>
              </a:rPr>
              <a:t>実施</a:t>
            </a:r>
            <a:r>
              <a:rPr kumimoji="1" lang="ja-JP" altLang="en-US" sz="900" dirty="0">
                <a:latin typeface="Meiryo UI" panose="020B0604030504040204" pitchFamily="50" charset="-128"/>
                <a:ea typeface="Meiryo UI" panose="020B0604030504040204" pitchFamily="50" charset="-128"/>
              </a:rPr>
              <a:t>中</a:t>
            </a:r>
          </a:p>
        </p:txBody>
      </p:sp>
      <p:sp>
        <p:nvSpPr>
          <p:cNvPr id="11" name="正方形/長方形 10">
            <a:extLst>
              <a:ext uri="{FF2B5EF4-FFF2-40B4-BE49-F238E27FC236}">
                <a16:creationId xmlns:a16="http://schemas.microsoft.com/office/drawing/2014/main" id="{07A9711E-776E-8BA1-AA09-163C3CFFD44C}"/>
              </a:ext>
            </a:extLst>
          </p:cNvPr>
          <p:cNvSpPr/>
          <p:nvPr/>
        </p:nvSpPr>
        <p:spPr>
          <a:xfrm>
            <a:off x="7916246" y="504905"/>
            <a:ext cx="1803042" cy="349273"/>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200" dirty="0">
                <a:solidFill>
                  <a:schemeClr val="bg1"/>
                </a:solidFill>
              </a:rPr>
              <a:t>3/28</a:t>
            </a:r>
            <a:r>
              <a:rPr lang="ja-JP" altLang="en-US" sz="1200" dirty="0">
                <a:solidFill>
                  <a:schemeClr val="bg1"/>
                </a:solidFill>
              </a:rPr>
              <a:t> 並河副事業部長報告資料より</a:t>
            </a:r>
            <a:endParaRPr kumimoji="1" lang="ja-JP" altLang="en-US" sz="1200" dirty="0">
              <a:solidFill>
                <a:schemeClr val="bg1"/>
              </a:solidFill>
            </a:endParaRPr>
          </a:p>
        </p:txBody>
      </p:sp>
      <p:pic>
        <p:nvPicPr>
          <p:cNvPr id="1026" name="Picture 2" descr="引 合 費 使 用 状 況 &#10;国 海 外 &#10;担 当 者 &#10;新 オ - タ 分 類 比 率 &#10;注 計 画 &#10;FY2024 &#10;FY2025 &#10;FY2026 &#10;63M ド 当 5 % ) &#10;71 7 5 M &#10;8841M &#10;6538M &#10;/ - 6 材 ド 929 % ) &#10;・ 共 運 オ ー 引 に オ ー タ 他 &#10;先 3 ヵ 年 平 均 &#10;・ 羅 客 提 &#10;・ 見 作 装 &#10;7.518M &#10;・ 現 地 出 張 &#10;・ 技 会 &#10;FY2023 計 上 金 額 &#10;FY2023 理 値 &#10;・ そ の 他 &#10;翼 1M に 4 当 を 渹 ー ノ &#10;1388M &#10;4.550M &#10;↑ ↓ L &#10;オ - タ 別 計 上 金 額 ( 単 月 ) &#10;オ - タ 別 計 上 4 印 累 計 ) &#10;分 類 ・ 見 作 第 ・ 術 第 会 ・ 客 ・ 現 地 出 強 ・ そ の に ・ 共 通 オ ー ダ / 旧 … ・ 0 管 理 価 き 。 &#10;分 類 ・ 見 積 作 第 . 岐 新 第 会 ・ 顧 客 提 實 ・ 現 地 出 張 ・ そ の 他 ・ 共 通 プ ー ダ ′ 旧 オ … ・ 0 第 計 管 ~ &#10;疆 12M -. ′ ′ &#10;92M &#10;蒻 EV 35 日 M &#10;ヨ 5 日 V 358V ヨ 5 日 M 355M &#10;ヨ 5 日 M &#10;ー 53M &#10;蒻 日 V 3 材 &#10;30 M &#10;99 を T &#10;2554M &#10;2275V &#10;0 ・ 0 竺 豊 謇 &#10;10 ] M ">
            <a:extLst>
              <a:ext uri="{FF2B5EF4-FFF2-40B4-BE49-F238E27FC236}">
                <a16:creationId xmlns:a16="http://schemas.microsoft.com/office/drawing/2014/main" id="{694A4FDD-5AE5-6DD5-6F9F-F4E6FD3E7D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59856" y="1867784"/>
            <a:ext cx="2312433" cy="1480534"/>
          </a:xfrm>
          <a:prstGeom prst="rect">
            <a:avLst/>
          </a:prstGeom>
          <a:noFill/>
          <a:extLst>
            <a:ext uri="{909E8E84-426E-40DD-AFC4-6F175D3DCCD1}">
              <a14:hiddenFill xmlns:a14="http://schemas.microsoft.com/office/drawing/2010/main">
                <a:solidFill>
                  <a:srgbClr val="FFFFFF"/>
                </a:solidFill>
              </a14:hiddenFill>
            </a:ext>
          </a:extLst>
        </p:spPr>
      </p:pic>
      <p:sp>
        <p:nvSpPr>
          <p:cNvPr id="12" name="テキスト ボックス 11">
            <a:extLst>
              <a:ext uri="{FF2B5EF4-FFF2-40B4-BE49-F238E27FC236}">
                <a16:creationId xmlns:a16="http://schemas.microsoft.com/office/drawing/2014/main" id="{968D6B1B-7B82-34A3-15A1-976A630704EC}"/>
              </a:ext>
            </a:extLst>
          </p:cNvPr>
          <p:cNvSpPr txBox="1"/>
          <p:nvPr/>
        </p:nvSpPr>
        <p:spPr>
          <a:xfrm>
            <a:off x="9879877" y="1567298"/>
            <a:ext cx="1610635" cy="276999"/>
          </a:xfrm>
          <a:prstGeom prst="rect">
            <a:avLst/>
          </a:prstGeom>
          <a:noFill/>
        </p:spPr>
        <p:txBody>
          <a:bodyPr wrap="square" rtlCol="0">
            <a:spAutoFit/>
          </a:bodyPr>
          <a:lstStyle/>
          <a:p>
            <a:pPr algn="l"/>
            <a:r>
              <a:rPr kumimoji="1" lang="ja-JP" altLang="en-US" sz="1200" dirty="0">
                <a:solidFill>
                  <a:schemeClr val="tx1">
                    <a:lumMod val="75000"/>
                    <a:lumOff val="25000"/>
                  </a:schemeClr>
                </a:solidFill>
                <a:latin typeface="+mj-ea"/>
                <a:ea typeface="+mj-ea"/>
              </a:rPr>
              <a:t>パワー</a:t>
            </a:r>
            <a:r>
              <a:rPr kumimoji="1" lang="en-US" altLang="ja-JP" sz="1200" dirty="0">
                <a:solidFill>
                  <a:schemeClr val="tx1">
                    <a:lumMod val="75000"/>
                    <a:lumOff val="25000"/>
                  </a:schemeClr>
                </a:solidFill>
                <a:latin typeface="+mj-ea"/>
                <a:ea typeface="+mj-ea"/>
              </a:rPr>
              <a:t>BI</a:t>
            </a:r>
            <a:r>
              <a:rPr kumimoji="1" lang="ja-JP" altLang="en-US" sz="1200" dirty="0">
                <a:solidFill>
                  <a:schemeClr val="tx1">
                    <a:lumMod val="75000"/>
                    <a:lumOff val="25000"/>
                  </a:schemeClr>
                </a:solidFill>
                <a:latin typeface="+mj-ea"/>
                <a:ea typeface="+mj-ea"/>
              </a:rPr>
              <a:t>化イメージ↓</a:t>
            </a:r>
          </a:p>
        </p:txBody>
      </p:sp>
      <p:pic>
        <p:nvPicPr>
          <p:cNvPr id="1028" name="Picture 4" descr="直 工 率 &#10;表 示 中 項 目 &#10;準 備 費 込 &#10;直 工 率 表 &#10;部 名 全 体 工 数 &#10;各 課 の - 人 当 た り の 部 門 費 工 数 ( 月 毎 ) &#10;部 門 当 &#10;直 工 率 &#10;071 &#10;各 課 員 別 の 平 均 直 工 率 &#10;社 員 種 厖 ・ 社 員 ・ 派 &#10;ー 新 部 485.04575 13 黝 98025 &#10;部 門 平 均 &#10;M151427 ・ &#10;M159 ヨ 51 U308397 &#10;M155 &#10;M15 ] 477 M132 引 8 &#10;M5004 ] 0 &#10;ATRD 「 65 M126 ] 1 &#10;300 &#10;M139765 0 ・ 1 ・ ・ &#10;ー ] 53 ・ M154050M1 」 5 を 57 &#10;1 」 5 を 68 Ml 55 ] 99 &#10;Ml ヨ 7953 &#10;3 &#10;M502967 &#10;U294157 &#10;ATR&amp;91 Ml 5639 ・ &#10;・ ・ 1 物 4842 ・ &#10;28 ! ・ 」 0 を 65 &#10;M13910 ヨ &#10;M510781 ">
            <a:extLst>
              <a:ext uri="{FF2B5EF4-FFF2-40B4-BE49-F238E27FC236}">
                <a16:creationId xmlns:a16="http://schemas.microsoft.com/office/drawing/2014/main" id="{44C476D0-6055-251C-1096-7EE4DDE0EA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59856" y="3491398"/>
            <a:ext cx="2254598" cy="1153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0033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5CBFFE-9384-4DBB-91F7-5F41A5329860}"/>
              </a:ext>
            </a:extLst>
          </p:cNvPr>
          <p:cNvSpPr>
            <a:spLocks noGrp="1"/>
          </p:cNvSpPr>
          <p:nvPr>
            <p:ph type="title"/>
          </p:nvPr>
        </p:nvSpPr>
        <p:spPr/>
        <p:txBody>
          <a:bodyPr/>
          <a:lstStyle/>
          <a:p>
            <a:r>
              <a:rPr kumimoji="1" lang="ja-JP" altLang="en-US" dirty="0"/>
              <a:t>データドリブンアプローチの経緯</a:t>
            </a:r>
          </a:p>
        </p:txBody>
      </p:sp>
      <p:sp>
        <p:nvSpPr>
          <p:cNvPr id="3" name="コンテンツ プレースホルダー 2">
            <a:extLst>
              <a:ext uri="{FF2B5EF4-FFF2-40B4-BE49-F238E27FC236}">
                <a16:creationId xmlns:a16="http://schemas.microsoft.com/office/drawing/2014/main" id="{E01EAE70-3DA1-EBC6-BE02-4A8B36A6B768}"/>
              </a:ext>
            </a:extLst>
          </p:cNvPr>
          <p:cNvSpPr>
            <a:spLocks noGrp="1"/>
          </p:cNvSpPr>
          <p:nvPr>
            <p:ph sz="quarter" idx="10"/>
          </p:nvPr>
        </p:nvSpPr>
        <p:spPr/>
        <p:txBody>
          <a:bodyPr/>
          <a:lstStyle/>
          <a:p>
            <a:r>
              <a:rPr kumimoji="1" lang="en-US" altLang="ja-JP" dirty="0"/>
              <a:t>WPPJ</a:t>
            </a:r>
            <a:r>
              <a:rPr kumimoji="1" lang="ja-JP" altLang="en-US" dirty="0"/>
              <a:t>で取り組む現場目線の業務プロセス改革とは別に、事業経営の観点での「事業運営高度化」の検討の必要性を提起し、これまで３回事例提供＆ディスカッションを実施。</a:t>
            </a:r>
          </a:p>
        </p:txBody>
      </p:sp>
      <p:sp>
        <p:nvSpPr>
          <p:cNvPr id="12" name="正方形/長方形 11">
            <a:extLst>
              <a:ext uri="{FF2B5EF4-FFF2-40B4-BE49-F238E27FC236}">
                <a16:creationId xmlns:a16="http://schemas.microsoft.com/office/drawing/2014/main" id="{EEEDD5A3-6D75-8890-528B-DAA415D48FE2}"/>
              </a:ext>
            </a:extLst>
          </p:cNvPr>
          <p:cNvSpPr/>
          <p:nvPr/>
        </p:nvSpPr>
        <p:spPr>
          <a:xfrm>
            <a:off x="1276395" y="4743285"/>
            <a:ext cx="10449846" cy="1491914"/>
          </a:xfrm>
          <a:prstGeom prst="rect">
            <a:avLst/>
          </a:prstGeom>
          <a:solidFill>
            <a:schemeClr val="bg2">
              <a:lumMod val="20000"/>
              <a:lumOff val="80000"/>
            </a:schemeClr>
          </a:solidFill>
          <a:ln w="3175">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269875" marR="0" lvl="0" indent="-182563" algn="l" defTabSz="914400" rtl="0" eaLnBrk="1" fontAlgn="auto" latinLnBrk="0" hangingPunct="1">
              <a:lnSpc>
                <a:spcPct val="100000"/>
              </a:lnSpc>
              <a:spcBef>
                <a:spcPts val="600"/>
              </a:spcBef>
              <a:buClrTx/>
              <a:buSzTx/>
              <a:buFont typeface="Arial" panose="020B0604020202020204" pitchFamily="34" charset="0"/>
              <a:buChar char="•"/>
              <a:tabLst/>
              <a:defRPr/>
            </a:pPr>
            <a:r>
              <a:rPr lang="ja-JP" altLang="en-US" sz="1200" dirty="0">
                <a:solidFill>
                  <a:srgbClr val="000000"/>
                </a:solidFill>
                <a:latin typeface="Meiryo UI" panose="020B0604030504040204" pitchFamily="50" charset="-128"/>
                <a:ea typeface="Meiryo UI" panose="020B0604030504040204" pitchFamily="50" charset="-128"/>
                <a:cs typeface="Segoe UI" panose="020B0502040204020203" pitchFamily="34" charset="0"/>
              </a:rPr>
              <a:t>定期的なワークショップを提案し、先行他社における分析切り口の観点や取組みのアプローチプロセスなどの詳細共有などを実施。ディスカッションを通じて</a:t>
            </a:r>
            <a:r>
              <a:rPr lang="en-US" altLang="ja-JP" sz="1200" dirty="0">
                <a:solidFill>
                  <a:srgbClr val="000000"/>
                </a:solidFill>
                <a:latin typeface="Meiryo UI" panose="020B0604030504040204" pitchFamily="50" charset="-128"/>
                <a:ea typeface="Meiryo UI" panose="020B0604030504040204" pitchFamily="50" charset="-128"/>
                <a:cs typeface="Segoe UI" panose="020B0502040204020203" pitchFamily="34" charset="0"/>
              </a:rPr>
              <a:t>SPMI</a:t>
            </a:r>
            <a:r>
              <a:rPr lang="ja-JP" altLang="en-US" sz="1200" dirty="0">
                <a:solidFill>
                  <a:srgbClr val="000000"/>
                </a:solidFill>
                <a:latin typeface="Meiryo UI" panose="020B0604030504040204" pitchFamily="50" charset="-128"/>
                <a:ea typeface="Meiryo UI" panose="020B0604030504040204" pitchFamily="50" charset="-128"/>
                <a:cs typeface="Segoe UI" panose="020B0502040204020203" pitchFamily="34" charset="0"/>
              </a:rPr>
              <a:t>におけるデータ活用の取組みイメージを具体化する事でデータ活用を通じた事業運営高度化の案件化を図る。（</a:t>
            </a:r>
            <a:r>
              <a:rPr lang="en-US" altLang="ja-JP" sz="1200" dirty="0">
                <a:solidFill>
                  <a:srgbClr val="000000"/>
                </a:solidFill>
                <a:latin typeface="Meiryo UI" panose="020B0604030504040204" pitchFamily="50" charset="-128"/>
                <a:ea typeface="Meiryo UI" panose="020B0604030504040204" pitchFamily="50" charset="-128"/>
                <a:cs typeface="Segoe UI" panose="020B0502040204020203" pitchFamily="34" charset="0"/>
              </a:rPr>
              <a:t>FY24 1Q</a:t>
            </a:r>
            <a:r>
              <a:rPr lang="ja-JP" altLang="en-US" sz="1200" dirty="0">
                <a:solidFill>
                  <a:srgbClr val="000000"/>
                </a:solidFill>
                <a:latin typeface="Meiryo UI" panose="020B0604030504040204" pitchFamily="50" charset="-128"/>
                <a:ea typeface="Meiryo UI" panose="020B0604030504040204" pitchFamily="50" charset="-128"/>
                <a:cs typeface="Segoe UI" panose="020B0502040204020203" pitchFamily="34" charset="0"/>
              </a:rPr>
              <a:t>目途）</a:t>
            </a:r>
            <a:endParaRPr lang="en-US" altLang="ja-JP" sz="1200" dirty="0">
              <a:solidFill>
                <a:srgbClr val="000000"/>
              </a:solidFill>
              <a:latin typeface="Meiryo UI" panose="020B0604030504040204" pitchFamily="50" charset="-128"/>
              <a:ea typeface="Meiryo UI" panose="020B0604030504040204" pitchFamily="50" charset="-128"/>
              <a:cs typeface="Segoe UI" panose="020B0502040204020203" pitchFamily="34" charset="0"/>
            </a:endParaRPr>
          </a:p>
          <a:p>
            <a:pPr marL="269875" marR="0" lvl="0" indent="-182563" algn="l" defTabSz="914400" rtl="0" eaLnBrk="1" fontAlgn="auto" latinLnBrk="0" hangingPunct="1">
              <a:lnSpc>
                <a:spcPct val="100000"/>
              </a:lnSpc>
              <a:spcBef>
                <a:spcPts val="600"/>
              </a:spcBef>
              <a:buClrTx/>
              <a:buSzTx/>
              <a:buFont typeface="Arial" panose="020B0604020202020204" pitchFamily="34" charset="0"/>
              <a:buChar char="•"/>
              <a:tabLst/>
              <a:defRPr/>
            </a:pPr>
            <a:r>
              <a:rPr lang="ja-JP" altLang="en-US" sz="1200" dirty="0">
                <a:solidFill>
                  <a:srgbClr val="000000"/>
                </a:solidFill>
                <a:latin typeface="Meiryo UI" panose="020B0604030504040204" pitchFamily="50" charset="-128"/>
                <a:ea typeface="Meiryo UI" panose="020B0604030504040204" pitchFamily="50" charset="-128"/>
                <a:cs typeface="Segoe UI" panose="020B0502040204020203" pitchFamily="34" charset="0"/>
              </a:rPr>
              <a:t>具体的には以下２事項に関する情報を</a:t>
            </a:r>
            <a:r>
              <a:rPr lang="en-US" altLang="ja-JP" sz="1200" dirty="0">
                <a:solidFill>
                  <a:srgbClr val="000000"/>
                </a:solidFill>
                <a:latin typeface="Meiryo UI" panose="020B0604030504040204" pitchFamily="50" charset="-128"/>
                <a:ea typeface="Meiryo UI" panose="020B0604030504040204" pitchFamily="50" charset="-128"/>
                <a:cs typeface="Segoe UI" panose="020B0502040204020203" pitchFamily="34" charset="0"/>
              </a:rPr>
              <a:t>NMS</a:t>
            </a:r>
            <a:r>
              <a:rPr lang="ja-JP" altLang="en-US" sz="1200" dirty="0">
                <a:solidFill>
                  <a:srgbClr val="000000"/>
                </a:solidFill>
                <a:latin typeface="Meiryo UI" panose="020B0604030504040204" pitchFamily="50" charset="-128"/>
                <a:ea typeface="Meiryo UI" panose="020B0604030504040204" pitchFamily="50" charset="-128"/>
                <a:cs typeface="Segoe UI" panose="020B0502040204020203" pitchFamily="34" charset="0"/>
              </a:rPr>
              <a:t>等に協力もらいながら収集のうえ壁打ちするための仮説立案を行う：</a:t>
            </a:r>
            <a:endParaRPr lang="en-US" altLang="ja-JP" sz="1200" dirty="0">
              <a:solidFill>
                <a:srgbClr val="000000"/>
              </a:solidFill>
              <a:latin typeface="Meiryo UI" panose="020B0604030504040204" pitchFamily="50" charset="-128"/>
              <a:ea typeface="Meiryo UI" panose="020B0604030504040204" pitchFamily="50" charset="-128"/>
              <a:cs typeface="Segoe UI" panose="020B0502040204020203" pitchFamily="34" charset="0"/>
            </a:endParaRPr>
          </a:p>
          <a:p>
            <a:pPr marL="493712" lvl="1" indent="-228600">
              <a:spcBef>
                <a:spcPts val="600"/>
              </a:spcBef>
              <a:buFont typeface="+mj-ea"/>
              <a:buAutoNum type="circleNumDbPlain"/>
              <a:defRPr/>
            </a:pPr>
            <a:r>
              <a:rPr lang="en-US" altLang="ja-JP" sz="1200" dirty="0">
                <a:solidFill>
                  <a:srgbClr val="000000"/>
                </a:solidFill>
                <a:latin typeface="Meiryo UI" panose="020B0604030504040204" pitchFamily="50" charset="-128"/>
                <a:ea typeface="Meiryo UI" panose="020B0604030504040204" pitchFamily="50" charset="-128"/>
                <a:cs typeface="Segoe UI" panose="020B0502040204020203" pitchFamily="34" charset="0"/>
              </a:rPr>
              <a:t>MHI</a:t>
            </a:r>
            <a:r>
              <a:rPr lang="ja-JP" altLang="en-US" sz="1200" dirty="0">
                <a:solidFill>
                  <a:srgbClr val="000000"/>
                </a:solidFill>
                <a:latin typeface="Meiryo UI" panose="020B0604030504040204" pitchFamily="50" charset="-128"/>
                <a:ea typeface="Meiryo UI" panose="020B0604030504040204" pitchFamily="50" charset="-128"/>
                <a:cs typeface="Segoe UI" panose="020B0502040204020203" pitchFamily="34" charset="0"/>
              </a:rPr>
              <a:t>／エナドメ／</a:t>
            </a:r>
            <a:r>
              <a:rPr lang="en-US" altLang="ja-JP" sz="1200" dirty="0">
                <a:solidFill>
                  <a:srgbClr val="000000"/>
                </a:solidFill>
                <a:latin typeface="Meiryo UI" panose="020B0604030504040204" pitchFamily="50" charset="-128"/>
                <a:ea typeface="Meiryo UI" panose="020B0604030504040204" pitchFamily="50" charset="-128"/>
                <a:cs typeface="Segoe UI" panose="020B0502040204020203" pitchFamily="34" charset="0"/>
              </a:rPr>
              <a:t>SPMI</a:t>
            </a:r>
            <a:r>
              <a:rPr lang="ja-JP" altLang="en-US" sz="1200" dirty="0">
                <a:solidFill>
                  <a:srgbClr val="000000"/>
                </a:solidFill>
                <a:latin typeface="Meiryo UI" panose="020B0604030504040204" pitchFamily="50" charset="-128"/>
                <a:ea typeface="Meiryo UI" panose="020B0604030504040204" pitchFamily="50" charset="-128"/>
                <a:cs typeface="Segoe UI" panose="020B0502040204020203" pitchFamily="34" charset="0"/>
              </a:rPr>
              <a:t>事業部における事業計画策定プロセス</a:t>
            </a:r>
            <a:endParaRPr lang="en-US" altLang="ja-JP" sz="1200" dirty="0">
              <a:solidFill>
                <a:srgbClr val="000000"/>
              </a:solidFill>
              <a:latin typeface="Meiryo UI" panose="020B0604030504040204" pitchFamily="50" charset="-128"/>
              <a:ea typeface="Meiryo UI" panose="020B0604030504040204" pitchFamily="50" charset="-128"/>
              <a:cs typeface="Segoe UI" panose="020B0502040204020203" pitchFamily="34" charset="0"/>
            </a:endParaRPr>
          </a:p>
          <a:p>
            <a:pPr marL="493712" lvl="1" indent="-228600">
              <a:spcBef>
                <a:spcPts val="600"/>
              </a:spcBef>
              <a:buFont typeface="+mj-ea"/>
              <a:buAutoNum type="circleNumDbPlain"/>
              <a:defRPr/>
            </a:pPr>
            <a:r>
              <a:rPr lang="en-US" altLang="ja-JP" sz="1200" dirty="0">
                <a:solidFill>
                  <a:srgbClr val="000000"/>
                </a:solidFill>
                <a:latin typeface="Meiryo UI" panose="020B0604030504040204" pitchFamily="50" charset="-128"/>
                <a:ea typeface="Meiryo UI" panose="020B0604030504040204" pitchFamily="50" charset="-128"/>
                <a:cs typeface="Segoe UI" panose="020B0502040204020203" pitchFamily="34" charset="0"/>
              </a:rPr>
              <a:t>CRM</a:t>
            </a:r>
            <a:r>
              <a:rPr lang="ja-JP" altLang="en-US" sz="1200" dirty="0">
                <a:solidFill>
                  <a:srgbClr val="000000"/>
                </a:solidFill>
                <a:latin typeface="Meiryo UI" panose="020B0604030504040204" pitchFamily="50" charset="-128"/>
                <a:ea typeface="Meiryo UI" panose="020B0604030504040204" pitchFamily="50" charset="-128"/>
                <a:cs typeface="Segoe UI" panose="020B0502040204020203" pitchFamily="34" charset="0"/>
              </a:rPr>
              <a:t>の利用状況やインプットとなるデータ項目</a:t>
            </a:r>
          </a:p>
        </p:txBody>
      </p:sp>
      <p:sp>
        <p:nvSpPr>
          <p:cNvPr id="14" name="正方形/長方形 13">
            <a:extLst>
              <a:ext uri="{FF2B5EF4-FFF2-40B4-BE49-F238E27FC236}">
                <a16:creationId xmlns:a16="http://schemas.microsoft.com/office/drawing/2014/main" id="{F8F82843-6E60-2B83-B5E4-87E2E2279465}"/>
              </a:ext>
            </a:extLst>
          </p:cNvPr>
          <p:cNvSpPr/>
          <p:nvPr/>
        </p:nvSpPr>
        <p:spPr>
          <a:xfrm>
            <a:off x="370800" y="1955704"/>
            <a:ext cx="797234" cy="605276"/>
          </a:xfrm>
          <a:prstGeom prst="rect">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rPr>
              <a:t>活動内容</a:t>
            </a:r>
            <a:endParaRPr kumimoji="1" lang="en-US" altLang="ja-JP" sz="1200"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714B9D3F-034D-D9F1-0B65-ECCCC2D43985}"/>
              </a:ext>
            </a:extLst>
          </p:cNvPr>
          <p:cNvSpPr/>
          <p:nvPr/>
        </p:nvSpPr>
        <p:spPr>
          <a:xfrm>
            <a:off x="1276395" y="1955704"/>
            <a:ext cx="10449846" cy="605276"/>
          </a:xfrm>
          <a:prstGeom prst="rect">
            <a:avLst/>
          </a:prstGeom>
          <a:solidFill>
            <a:schemeClr val="bg1"/>
          </a:solidFill>
          <a:ln w="3175">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268288" lvl="0" indent="-268288" eaLnBrk="1" fontAlgn="auto" hangingPunct="1">
              <a:spcBef>
                <a:spcPts val="600"/>
              </a:spcBef>
              <a:spcAft>
                <a:spcPts val="0"/>
              </a:spcAft>
              <a:buFont typeface="Arial" panose="020B0604020202020204" pitchFamily="34" charset="0"/>
              <a:buChar char="•"/>
              <a:defRPr/>
            </a:pPr>
            <a:r>
              <a:rPr lang="en-US" altLang="ja-JP" sz="1200" dirty="0">
                <a:solidFill>
                  <a:srgbClr val="000000"/>
                </a:solidFill>
                <a:latin typeface="Meiryo UI" panose="020B0604030504040204" pitchFamily="50" charset="-128"/>
                <a:ea typeface="Meiryo UI" panose="020B0604030504040204" pitchFamily="50" charset="-128"/>
                <a:cs typeface="Segoe UI"/>
              </a:rPr>
              <a:t>2023/12</a:t>
            </a:r>
            <a:r>
              <a:rPr lang="ja-JP" altLang="en-US" sz="1200" dirty="0">
                <a:solidFill>
                  <a:srgbClr val="000000"/>
                </a:solidFill>
                <a:latin typeface="Meiryo UI" panose="020B0604030504040204" pitchFamily="50" charset="-128"/>
                <a:ea typeface="Meiryo UI" panose="020B0604030504040204" pitchFamily="50" charset="-128"/>
                <a:cs typeface="Segoe UI"/>
              </a:rPr>
              <a:t>に現行プロセス改革</a:t>
            </a:r>
            <a:r>
              <a:rPr lang="en-US" altLang="ja-JP" sz="1200" dirty="0">
                <a:solidFill>
                  <a:srgbClr val="000000"/>
                </a:solidFill>
                <a:latin typeface="Meiryo UI" panose="020B0604030504040204" pitchFamily="50" charset="-128"/>
                <a:ea typeface="Meiryo UI" panose="020B0604030504040204" pitchFamily="50" charset="-128"/>
                <a:cs typeface="Segoe UI"/>
              </a:rPr>
              <a:t>(</a:t>
            </a:r>
            <a:r>
              <a:rPr lang="ja-JP" altLang="en-US" sz="1200" dirty="0">
                <a:solidFill>
                  <a:srgbClr val="000000"/>
                </a:solidFill>
                <a:latin typeface="Meiryo UI" panose="020B0604030504040204" pitchFamily="50" charset="-128"/>
                <a:ea typeface="Meiryo UI" panose="020B0604030504040204" pitchFamily="50" charset="-128"/>
                <a:cs typeface="Segoe UI"/>
              </a:rPr>
              <a:t>収支改善を目的とした</a:t>
            </a:r>
            <a:r>
              <a:rPr lang="en-US" altLang="ja-JP" sz="1200" dirty="0">
                <a:solidFill>
                  <a:srgbClr val="000000"/>
                </a:solidFill>
                <a:latin typeface="Meiryo UI" panose="020B0604030504040204" pitchFamily="50" charset="-128"/>
                <a:ea typeface="Meiryo UI" panose="020B0604030504040204" pitchFamily="50" charset="-128"/>
                <a:cs typeface="Segoe UI"/>
              </a:rPr>
              <a:t>BPR)</a:t>
            </a:r>
            <a:r>
              <a:rPr lang="ja-JP" altLang="en-US" sz="1200" dirty="0">
                <a:solidFill>
                  <a:srgbClr val="000000"/>
                </a:solidFill>
                <a:latin typeface="Meiryo UI" panose="020B0604030504040204" pitchFamily="50" charset="-128"/>
                <a:ea typeface="Meiryo UI" panose="020B0604030504040204" pitchFamily="50" charset="-128"/>
                <a:cs typeface="Segoe UI"/>
              </a:rPr>
              <a:t>とは別に事業運営高度化に向けた取り組みを立ち上げる提言を行い一定の理解を得た為、後続の提言として</a:t>
            </a:r>
            <a:r>
              <a:rPr lang="ja-JP" altLang="en-US" sz="1200" b="1" dirty="0">
                <a:solidFill>
                  <a:srgbClr val="0070C0"/>
                </a:solidFill>
                <a:latin typeface="Meiryo UI" panose="020B0604030504040204" pitchFamily="50" charset="-128"/>
                <a:ea typeface="Meiryo UI" panose="020B0604030504040204" pitchFamily="50" charset="-128"/>
                <a:cs typeface="Segoe UI"/>
              </a:rPr>
              <a:t>データ活用を通じて売上最大化、リソース最適化を行っている他社事例紹介と</a:t>
            </a:r>
            <a:r>
              <a:rPr lang="en-US" altLang="ja-JP" sz="1200" b="1" dirty="0">
                <a:solidFill>
                  <a:srgbClr val="0070C0"/>
                </a:solidFill>
                <a:latin typeface="Meiryo UI" panose="020B0604030504040204" pitchFamily="50" charset="-128"/>
                <a:ea typeface="Meiryo UI" panose="020B0604030504040204" pitchFamily="50" charset="-128"/>
                <a:cs typeface="Segoe UI"/>
              </a:rPr>
              <a:t>SPMI</a:t>
            </a:r>
            <a:r>
              <a:rPr lang="ja-JP" altLang="en-US" sz="1200" b="1" dirty="0" err="1">
                <a:solidFill>
                  <a:srgbClr val="0070C0"/>
                </a:solidFill>
                <a:latin typeface="Meiryo UI" panose="020B0604030504040204" pitchFamily="50" charset="-128"/>
                <a:ea typeface="Meiryo UI" panose="020B0604030504040204" pitchFamily="50" charset="-128"/>
                <a:cs typeface="Segoe UI"/>
              </a:rPr>
              <a:t>への</a:t>
            </a:r>
            <a:r>
              <a:rPr lang="ja-JP" altLang="en-US" sz="1200" b="1" dirty="0">
                <a:solidFill>
                  <a:srgbClr val="0070C0"/>
                </a:solidFill>
                <a:latin typeface="Meiryo UI" panose="020B0604030504040204" pitchFamily="50" charset="-128"/>
                <a:ea typeface="Meiryo UI" panose="020B0604030504040204" pitchFamily="50" charset="-128"/>
                <a:cs typeface="Segoe UI"/>
              </a:rPr>
              <a:t>示唆をご提示</a:t>
            </a:r>
            <a:r>
              <a:rPr lang="ja-JP" altLang="en-US" sz="1200" dirty="0">
                <a:solidFill>
                  <a:srgbClr val="000000"/>
                </a:solidFill>
                <a:latin typeface="Meiryo UI" panose="020B0604030504040204" pitchFamily="50" charset="-128"/>
                <a:ea typeface="Meiryo UI" panose="020B0604030504040204" pitchFamily="50" charset="-128"/>
                <a:cs typeface="Segoe UI"/>
              </a:rPr>
              <a:t>し、</a:t>
            </a:r>
            <a:r>
              <a:rPr lang="ja-JP" altLang="en-US" sz="1200" dirty="0">
                <a:solidFill>
                  <a:srgbClr val="000000"/>
                </a:solidFill>
                <a:latin typeface="Meiryo UI" panose="020B0604030504040204" pitchFamily="50" charset="-128"/>
                <a:ea typeface="Meiryo UI" panose="020B0604030504040204" pitchFamily="50" charset="-128"/>
                <a:cs typeface="Segoe UI" panose="020B0502040204020203" pitchFamily="34" charset="0"/>
              </a:rPr>
              <a:t>意見交換を実施</a:t>
            </a:r>
          </a:p>
        </p:txBody>
      </p:sp>
      <p:sp>
        <p:nvSpPr>
          <p:cNvPr id="16" name="正方形/長方形 15">
            <a:extLst>
              <a:ext uri="{FF2B5EF4-FFF2-40B4-BE49-F238E27FC236}">
                <a16:creationId xmlns:a16="http://schemas.microsoft.com/office/drawing/2014/main" id="{A92DDDA8-C205-7A30-0C4A-6FFDA0EDC1B3}"/>
              </a:ext>
            </a:extLst>
          </p:cNvPr>
          <p:cNvSpPr/>
          <p:nvPr/>
        </p:nvSpPr>
        <p:spPr>
          <a:xfrm>
            <a:off x="370800" y="4743284"/>
            <a:ext cx="797234" cy="1491915"/>
          </a:xfrm>
          <a:prstGeom prst="rect">
            <a:avLst/>
          </a:prstGeom>
          <a:solidFill>
            <a:schemeClr val="bg2">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rPr>
              <a:t>今後の</a:t>
            </a:r>
            <a:endParaRPr kumimoji="1" lang="en-US" altLang="ja-JP" sz="1200"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rPr>
              <a:t>アクション</a:t>
            </a:r>
            <a:endParaRPr kumimoji="1" lang="en-US" altLang="ja-JP" sz="1200"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B39AAEE6-C27E-963D-6B70-DDE8312415BD}"/>
              </a:ext>
            </a:extLst>
          </p:cNvPr>
          <p:cNvSpPr/>
          <p:nvPr/>
        </p:nvSpPr>
        <p:spPr>
          <a:xfrm>
            <a:off x="370800" y="2621367"/>
            <a:ext cx="797234" cy="1574842"/>
          </a:xfrm>
          <a:prstGeom prst="rect">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rgbClr val="FFFFFF"/>
                </a:solidFill>
                <a:latin typeface="Meiryo UI" panose="020B0604030504040204" pitchFamily="50" charset="-128"/>
                <a:ea typeface="Meiryo UI" panose="020B0604030504040204" pitchFamily="50" charset="-128"/>
              </a:rPr>
              <a:t>顧客フィードバック</a:t>
            </a:r>
            <a:endParaRPr kumimoji="1" lang="en-US" altLang="ja-JP" sz="1200"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C91A551D-578D-96E6-EA09-4953E7E9F362}"/>
              </a:ext>
            </a:extLst>
          </p:cNvPr>
          <p:cNvSpPr/>
          <p:nvPr/>
        </p:nvSpPr>
        <p:spPr>
          <a:xfrm>
            <a:off x="1276395" y="2621367"/>
            <a:ext cx="10449846" cy="1574841"/>
          </a:xfrm>
          <a:prstGeom prst="rect">
            <a:avLst/>
          </a:prstGeom>
          <a:solidFill>
            <a:schemeClr val="bg1"/>
          </a:solidFill>
          <a:ln w="3175">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eaLnBrk="1" fontAlgn="auto" hangingPunct="1">
              <a:spcBef>
                <a:spcPts val="0"/>
              </a:spcBef>
              <a:spcAft>
                <a:spcPts val="0"/>
              </a:spcAft>
              <a:defRPr/>
            </a:pPr>
            <a:r>
              <a:rPr lang="ja-JP" altLang="en-US" sz="1200" b="1" dirty="0">
                <a:solidFill>
                  <a:srgbClr val="000000"/>
                </a:solidFill>
                <a:latin typeface="Meiryo UI" panose="020B0604030504040204" pitchFamily="50" charset="-128"/>
                <a:ea typeface="Meiryo UI" panose="020B0604030504040204" pitchFamily="50" charset="-128"/>
                <a:cs typeface="Segoe UI"/>
              </a:rPr>
              <a:t>ご提言　データ活用を通じた事業運営の高度化</a:t>
            </a:r>
            <a:endParaRPr lang="en-US" altLang="ja-JP" sz="1200" b="1" dirty="0">
              <a:solidFill>
                <a:srgbClr val="000000"/>
              </a:solidFill>
              <a:latin typeface="Meiryo UI" panose="020B0604030504040204" pitchFamily="50" charset="-128"/>
              <a:ea typeface="Meiryo UI" panose="020B0604030504040204" pitchFamily="50" charset="-128"/>
              <a:cs typeface="Segoe UI"/>
            </a:endParaRPr>
          </a:p>
          <a:p>
            <a:pPr lvl="0" eaLnBrk="1" fontAlgn="auto" hangingPunct="1">
              <a:spcBef>
                <a:spcPts val="0"/>
              </a:spcBef>
              <a:spcAft>
                <a:spcPts val="0"/>
              </a:spcAft>
              <a:defRPr/>
            </a:pPr>
            <a:endParaRPr lang="en-US" altLang="ja-JP" sz="400" b="1" dirty="0">
              <a:solidFill>
                <a:srgbClr val="000000"/>
              </a:solidFill>
              <a:latin typeface="Meiryo UI" panose="020B0604030504040204" pitchFamily="50" charset="-128"/>
              <a:ea typeface="Meiryo UI" panose="020B0604030504040204" pitchFamily="50" charset="-128"/>
              <a:cs typeface="Segoe UI"/>
            </a:endParaRPr>
          </a:p>
          <a:p>
            <a:pPr marL="266700" lvl="1" indent="-177800" eaLnBrk="1" fontAlgn="auto" hangingPunct="1">
              <a:spcBef>
                <a:spcPts val="0"/>
              </a:spcBef>
              <a:spcAft>
                <a:spcPts val="0"/>
              </a:spcAft>
              <a:buFont typeface="Arial" panose="020B0604020202020204" pitchFamily="34" charset="0"/>
              <a:buChar char="•"/>
              <a:defRPr/>
            </a:pPr>
            <a:r>
              <a:rPr lang="ja-JP" altLang="en-US" sz="1200" dirty="0">
                <a:solidFill>
                  <a:srgbClr val="000000"/>
                </a:solidFill>
                <a:latin typeface="Meiryo UI"/>
                <a:ea typeface="Meiryo UI"/>
                <a:cs typeface="Segoe UI"/>
              </a:rPr>
              <a:t>事業減に伴う要員減や要員の多能工化、組織変更等を主に検討しているのが現状だが、</a:t>
            </a:r>
            <a:r>
              <a:rPr lang="ja-JP" altLang="en-US" sz="1200" b="1" dirty="0">
                <a:solidFill>
                  <a:srgbClr val="0070C0"/>
                </a:solidFill>
                <a:latin typeface="Meiryo UI"/>
                <a:ea typeface="Meiryo UI"/>
                <a:cs typeface="Segoe UI"/>
              </a:rPr>
              <a:t>将来的には随時・的確な事業予測が出来る仕組み</a:t>
            </a:r>
            <a:r>
              <a:rPr lang="ja-JP" altLang="en-US" sz="1200" dirty="0">
                <a:solidFill>
                  <a:srgbClr val="000000"/>
                </a:solidFill>
                <a:latin typeface="Meiryo UI"/>
                <a:ea typeface="Meiryo UI"/>
                <a:cs typeface="Segoe UI"/>
              </a:rPr>
              <a:t>は作っていきたい。</a:t>
            </a:r>
          </a:p>
          <a:p>
            <a:pPr marL="266700" lvl="1" indent="-177800">
              <a:spcBef>
                <a:spcPts val="0"/>
              </a:spcBef>
              <a:spcAft>
                <a:spcPts val="0"/>
              </a:spcAft>
              <a:buFont typeface="Arial" panose="020B0604020202020204" pitchFamily="34" charset="0"/>
              <a:buChar char="•"/>
              <a:defRPr/>
            </a:pPr>
            <a:r>
              <a:rPr lang="ja-JP" altLang="en-US" sz="1200" dirty="0">
                <a:solidFill>
                  <a:srgbClr val="000000"/>
                </a:solidFill>
                <a:latin typeface="Meiryo UI"/>
                <a:ea typeface="Meiryo UI"/>
                <a:cs typeface="Segoe UI"/>
              </a:rPr>
              <a:t>データ活用が進んでいる</a:t>
            </a:r>
            <a:r>
              <a:rPr lang="ja-JP" altLang="en-US" sz="1200" dirty="0">
                <a:solidFill>
                  <a:schemeClr val="tx1"/>
                </a:solidFill>
                <a:latin typeface="Meiryo UI"/>
                <a:ea typeface="Meiryo UI"/>
                <a:cs typeface="Segoe UI"/>
              </a:rPr>
              <a:t>他社では需要予測に大きく人と費用をかけており、結果</a:t>
            </a:r>
            <a:r>
              <a:rPr lang="ja-JP" altLang="en-US" sz="1200" dirty="0">
                <a:solidFill>
                  <a:srgbClr val="000000"/>
                </a:solidFill>
                <a:latin typeface="Meiryo UI"/>
                <a:ea typeface="Meiryo UI"/>
                <a:cs typeface="Segoe UI"/>
              </a:rPr>
              <a:t>としてそれを人手</a:t>
            </a:r>
            <a:r>
              <a:rPr lang="en-US" altLang="ja-JP" sz="1200" dirty="0">
                <a:solidFill>
                  <a:srgbClr val="000000"/>
                </a:solidFill>
                <a:latin typeface="Meiryo UI"/>
                <a:ea typeface="Meiryo UI"/>
                <a:cs typeface="Segoe UI"/>
              </a:rPr>
              <a:t>(Excel)</a:t>
            </a:r>
            <a:r>
              <a:rPr lang="ja-JP" altLang="en-US" sz="1200" dirty="0">
                <a:solidFill>
                  <a:srgbClr val="000000"/>
                </a:solidFill>
                <a:latin typeface="Meiryo UI"/>
                <a:ea typeface="Meiryo UI"/>
                <a:cs typeface="Segoe UI"/>
              </a:rPr>
              <a:t>ではなくシステムで見えるようにしている事を理解した。</a:t>
            </a:r>
            <a:endParaRPr lang="en-US" altLang="ja-JP" sz="1200" dirty="0">
              <a:solidFill>
                <a:srgbClr val="000000"/>
              </a:solidFill>
              <a:latin typeface="Meiryo UI"/>
              <a:ea typeface="Meiryo UI"/>
              <a:cs typeface="Segoe UI"/>
            </a:endParaRPr>
          </a:p>
          <a:p>
            <a:pPr marL="266700" lvl="1" indent="-177800" eaLnBrk="1" fontAlgn="auto" hangingPunct="1">
              <a:spcBef>
                <a:spcPts val="0"/>
              </a:spcBef>
              <a:spcAft>
                <a:spcPts val="0"/>
              </a:spcAft>
              <a:buFont typeface="Arial" panose="020B0604020202020204" pitchFamily="34" charset="0"/>
              <a:buChar char="•"/>
              <a:defRPr/>
            </a:pPr>
            <a:r>
              <a:rPr lang="en-US" altLang="ja-JP" sz="1200" b="1" dirty="0">
                <a:solidFill>
                  <a:srgbClr val="0070C0"/>
                </a:solidFill>
                <a:latin typeface="Meiryo UI"/>
                <a:ea typeface="Meiryo UI"/>
                <a:cs typeface="Segoe UI"/>
              </a:rPr>
              <a:t>SPMI</a:t>
            </a:r>
            <a:r>
              <a:rPr lang="ja-JP" altLang="en-US" sz="1200" b="1" dirty="0">
                <a:solidFill>
                  <a:srgbClr val="0070C0"/>
                </a:solidFill>
                <a:latin typeface="Meiryo UI"/>
                <a:ea typeface="Meiryo UI"/>
                <a:cs typeface="Segoe UI"/>
              </a:rPr>
              <a:t>でもダッシュボードや</a:t>
            </a:r>
            <a:r>
              <a:rPr lang="en-US" altLang="ja-JP" sz="1200" b="1" dirty="0">
                <a:solidFill>
                  <a:srgbClr val="0070C0"/>
                </a:solidFill>
                <a:latin typeface="Meiryo UI"/>
                <a:ea typeface="Meiryo UI"/>
                <a:cs typeface="Segoe UI"/>
              </a:rPr>
              <a:t>KPI</a:t>
            </a:r>
            <a:r>
              <a:rPr lang="ja-JP" altLang="en-US" sz="1200" b="1" dirty="0">
                <a:solidFill>
                  <a:srgbClr val="0070C0"/>
                </a:solidFill>
                <a:latin typeface="Meiryo UI"/>
                <a:ea typeface="Meiryo UI"/>
                <a:cs typeface="Segoe UI"/>
              </a:rPr>
              <a:t>管理は行っているがあくまで実績把握であり将来に向けたシミュレーションはできていない。また、</a:t>
            </a:r>
            <a:r>
              <a:rPr lang="en-US" altLang="ja-JP" sz="1200" b="1" dirty="0">
                <a:solidFill>
                  <a:srgbClr val="0070C0"/>
                </a:solidFill>
                <a:latin typeface="Meiryo UI"/>
                <a:ea typeface="Meiryo UI"/>
                <a:cs typeface="Segoe UI"/>
              </a:rPr>
              <a:t>CRM</a:t>
            </a:r>
            <a:r>
              <a:rPr lang="ja-JP" altLang="en-US" sz="1200" b="1" dirty="0">
                <a:solidFill>
                  <a:srgbClr val="0070C0"/>
                </a:solidFill>
                <a:latin typeface="Meiryo UI"/>
                <a:ea typeface="Meiryo UI"/>
                <a:cs typeface="Segoe UI"/>
              </a:rPr>
              <a:t>の仕組みもあるが活用目的が曖昧である為、報告資料のインプットにしかなっておらず、受注確度への反映や事業計画立案に活かせていない。</a:t>
            </a:r>
            <a:endParaRPr lang="en-US" altLang="ja-JP" sz="1200" b="1" dirty="0">
              <a:solidFill>
                <a:srgbClr val="0070C0"/>
              </a:solidFill>
              <a:latin typeface="Meiryo UI"/>
              <a:ea typeface="Meiryo UI"/>
              <a:cs typeface="Segoe UI"/>
            </a:endParaRPr>
          </a:p>
          <a:p>
            <a:pPr marL="266700" lvl="1" indent="-177800" eaLnBrk="1" fontAlgn="auto" hangingPunct="1">
              <a:spcBef>
                <a:spcPts val="0"/>
              </a:spcBef>
              <a:spcAft>
                <a:spcPts val="0"/>
              </a:spcAft>
              <a:buFont typeface="Arial" panose="020B0604020202020204" pitchFamily="34" charset="0"/>
              <a:buChar char="•"/>
              <a:defRPr/>
            </a:pPr>
            <a:endParaRPr lang="en-US" altLang="ja-JP" sz="300" dirty="0">
              <a:solidFill>
                <a:srgbClr val="000000"/>
              </a:solidFill>
              <a:latin typeface="Meiryo UI" panose="020B0604030504040204" pitchFamily="50" charset="-128"/>
              <a:ea typeface="Meiryo UI" panose="020B0604030504040204" pitchFamily="50" charset="-128"/>
              <a:cs typeface="Segoe UI"/>
            </a:endParaRPr>
          </a:p>
          <a:p>
            <a:pPr marL="266700" lvl="1" indent="-177800" eaLnBrk="1" fontAlgn="auto" hangingPunct="1">
              <a:spcBef>
                <a:spcPts val="0"/>
              </a:spcBef>
              <a:spcAft>
                <a:spcPts val="0"/>
              </a:spcAft>
              <a:buFont typeface="Arial" panose="020B0604020202020204" pitchFamily="34" charset="0"/>
              <a:buChar char="•"/>
              <a:defRPr/>
            </a:pPr>
            <a:r>
              <a:rPr lang="ja-JP" altLang="en-US" sz="1200" dirty="0">
                <a:solidFill>
                  <a:srgbClr val="000000"/>
                </a:solidFill>
                <a:latin typeface="Meiryo UI"/>
                <a:ea typeface="Meiryo UI"/>
                <a:cs typeface="Segoe UI"/>
              </a:rPr>
              <a:t>取得している情</a:t>
            </a:r>
            <a:r>
              <a:rPr lang="ja-JP" altLang="en-US" sz="1200" dirty="0">
                <a:solidFill>
                  <a:schemeClr val="tx1"/>
                </a:solidFill>
                <a:latin typeface="Meiryo UI"/>
                <a:ea typeface="Meiryo UI"/>
                <a:cs typeface="Segoe UI"/>
              </a:rPr>
              <a:t>報についても使えるものが少なく、支社の活動計画とも連動ができていない。他社事例にあるようにもっとデータをうまくマーケティングに使っていくべきという事を痛感した。</a:t>
            </a:r>
            <a:r>
              <a:rPr lang="ja-JP" altLang="en-US" sz="1200" dirty="0">
                <a:solidFill>
                  <a:srgbClr val="000000"/>
                </a:solidFill>
                <a:latin typeface="Meiryo UI"/>
                <a:ea typeface="Meiryo UI"/>
                <a:cs typeface="Segoe UI"/>
              </a:rPr>
              <a:t>（以上磯崎戦略企画部長）</a:t>
            </a:r>
            <a:endParaRPr lang="en-US" altLang="ja-JP" sz="1200" dirty="0">
              <a:solidFill>
                <a:srgbClr val="000000"/>
              </a:solidFill>
              <a:latin typeface="Meiryo UI"/>
              <a:ea typeface="Meiryo UI"/>
              <a:cs typeface="Segoe UI"/>
            </a:endParaRPr>
          </a:p>
        </p:txBody>
      </p:sp>
      <p:sp>
        <p:nvSpPr>
          <p:cNvPr id="19" name="テキスト ボックス 18">
            <a:extLst>
              <a:ext uri="{FF2B5EF4-FFF2-40B4-BE49-F238E27FC236}">
                <a16:creationId xmlns:a16="http://schemas.microsoft.com/office/drawing/2014/main" id="{D7FE50B8-2888-77C7-2A46-3C19724BB389}"/>
              </a:ext>
            </a:extLst>
          </p:cNvPr>
          <p:cNvSpPr txBox="1"/>
          <p:nvPr/>
        </p:nvSpPr>
        <p:spPr>
          <a:xfrm>
            <a:off x="5641105" y="5687614"/>
            <a:ext cx="2316480" cy="369332"/>
          </a:xfrm>
          <a:prstGeom prst="rect">
            <a:avLst/>
          </a:prstGeom>
          <a:noFill/>
        </p:spPr>
        <p:txBody>
          <a:bodyPr wrap="square" rtlCol="0">
            <a:spAutoFit/>
          </a:bodyPr>
          <a:lstStyle/>
          <a:p>
            <a:pPr algn="l"/>
            <a:r>
              <a:rPr kumimoji="1" lang="ja-JP" altLang="en-US" dirty="0">
                <a:solidFill>
                  <a:schemeClr val="tx1">
                    <a:lumMod val="75000"/>
                    <a:lumOff val="25000"/>
                  </a:schemeClr>
                </a:solidFill>
                <a:latin typeface="+mj-ea"/>
                <a:ea typeface="+mj-ea"/>
              </a:rPr>
              <a:t>（本日のご相談）</a:t>
            </a:r>
          </a:p>
        </p:txBody>
      </p:sp>
      <p:sp>
        <p:nvSpPr>
          <p:cNvPr id="20" name="正方形/長方形 19">
            <a:extLst>
              <a:ext uri="{FF2B5EF4-FFF2-40B4-BE49-F238E27FC236}">
                <a16:creationId xmlns:a16="http://schemas.microsoft.com/office/drawing/2014/main" id="{A2E9DB2E-1ED9-7D18-1440-5953D6326141}"/>
              </a:ext>
            </a:extLst>
          </p:cNvPr>
          <p:cNvSpPr/>
          <p:nvPr/>
        </p:nvSpPr>
        <p:spPr>
          <a:xfrm>
            <a:off x="1469813" y="5567680"/>
            <a:ext cx="4355254" cy="562187"/>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indent="-171450" algn="l">
              <a:buFont typeface="Arial" panose="020B0604020202020204" pitchFamily="34" charset="0"/>
              <a:buChar char="•"/>
            </a:pPr>
            <a:endParaRPr kumimoji="1" lang="ja-JP" altLang="en-US" sz="1200" dirty="0">
              <a:solidFill>
                <a:schemeClr val="tx1"/>
              </a:solidFill>
            </a:endParaRPr>
          </a:p>
        </p:txBody>
      </p:sp>
      <p:sp>
        <p:nvSpPr>
          <p:cNvPr id="21" name="二等辺三角形 20">
            <a:extLst>
              <a:ext uri="{FF2B5EF4-FFF2-40B4-BE49-F238E27FC236}">
                <a16:creationId xmlns:a16="http://schemas.microsoft.com/office/drawing/2014/main" id="{8C49252D-ECF8-5031-60EF-803B89F44E33}"/>
              </a:ext>
            </a:extLst>
          </p:cNvPr>
          <p:cNvSpPr/>
          <p:nvPr/>
        </p:nvSpPr>
        <p:spPr>
          <a:xfrm rot="10800000">
            <a:off x="5444560" y="4291017"/>
            <a:ext cx="1300480" cy="357458"/>
          </a:xfrm>
          <a:prstGeom prst="triangle">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indent="-171450" algn="l">
              <a:buFont typeface="Arial" panose="020B0604020202020204" pitchFamily="34" charset="0"/>
              <a:buChar char="•"/>
            </a:pPr>
            <a:endParaRPr kumimoji="1" lang="ja-JP" altLang="en-US" sz="1200" dirty="0">
              <a:solidFill>
                <a:schemeClr val="tx1"/>
              </a:solidFill>
            </a:endParaRPr>
          </a:p>
        </p:txBody>
      </p:sp>
    </p:spTree>
    <p:extLst>
      <p:ext uri="{BB962C8B-B14F-4D97-AF65-F5344CB8AC3E}">
        <p14:creationId xmlns:p14="http://schemas.microsoft.com/office/powerpoint/2010/main" val="1434034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88BD1D-9CA3-5093-7530-BDD3CDDD01DB}"/>
              </a:ext>
            </a:extLst>
          </p:cNvPr>
          <p:cNvSpPr>
            <a:spLocks noGrp="1"/>
          </p:cNvSpPr>
          <p:nvPr>
            <p:ph type="title"/>
          </p:nvPr>
        </p:nvSpPr>
        <p:spPr/>
        <p:txBody>
          <a:bodyPr/>
          <a:lstStyle/>
          <a:p>
            <a:r>
              <a:rPr lang="ja-JP" altLang="en-US" dirty="0"/>
              <a:t>事業計画・活動プロセス　と　データの関係整理</a:t>
            </a:r>
          </a:p>
        </p:txBody>
      </p:sp>
      <p:cxnSp>
        <p:nvCxnSpPr>
          <p:cNvPr id="5" name="直線コネクタ 4">
            <a:extLst>
              <a:ext uri="{FF2B5EF4-FFF2-40B4-BE49-F238E27FC236}">
                <a16:creationId xmlns:a16="http://schemas.microsoft.com/office/drawing/2014/main" id="{7CB8EF5F-67FB-5268-F065-DAFE25F54A77}"/>
              </a:ext>
            </a:extLst>
          </p:cNvPr>
          <p:cNvCxnSpPr>
            <a:cxnSpLocks/>
          </p:cNvCxnSpPr>
          <p:nvPr/>
        </p:nvCxnSpPr>
        <p:spPr>
          <a:xfrm>
            <a:off x="359430" y="1336651"/>
            <a:ext cx="11039255" cy="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6E14A8B8-36D6-F0E7-AFFA-C5DF20A3B67D}"/>
              </a:ext>
            </a:extLst>
          </p:cNvPr>
          <p:cNvSpPr txBox="1"/>
          <p:nvPr/>
        </p:nvSpPr>
        <p:spPr>
          <a:xfrm>
            <a:off x="484690" y="866753"/>
            <a:ext cx="1325318" cy="369332"/>
          </a:xfrm>
          <a:prstGeom prst="rect">
            <a:avLst/>
          </a:prstGeom>
          <a:noFill/>
        </p:spPr>
        <p:txBody>
          <a:bodyPr wrap="square" rtlCol="0">
            <a:spAutoFit/>
          </a:bodyPr>
          <a:lstStyle/>
          <a:p>
            <a:pPr algn="ctr"/>
            <a:r>
              <a:rPr lang="ja-JP" altLang="en-US" dirty="0">
                <a:solidFill>
                  <a:schemeClr val="tx1">
                    <a:lumMod val="75000"/>
                    <a:lumOff val="25000"/>
                  </a:schemeClr>
                </a:solidFill>
                <a:latin typeface="+mj-ea"/>
                <a:ea typeface="+mj-ea"/>
              </a:rPr>
              <a:t>領域</a:t>
            </a:r>
            <a:endParaRPr kumimoji="1" lang="ja-JP" altLang="en-US" dirty="0">
              <a:solidFill>
                <a:schemeClr val="tx1">
                  <a:lumMod val="75000"/>
                  <a:lumOff val="25000"/>
                </a:schemeClr>
              </a:solidFill>
              <a:latin typeface="+mj-ea"/>
              <a:ea typeface="+mj-ea"/>
            </a:endParaRPr>
          </a:p>
        </p:txBody>
      </p:sp>
      <p:sp>
        <p:nvSpPr>
          <p:cNvPr id="21" name="テキスト ボックス 20">
            <a:extLst>
              <a:ext uri="{FF2B5EF4-FFF2-40B4-BE49-F238E27FC236}">
                <a16:creationId xmlns:a16="http://schemas.microsoft.com/office/drawing/2014/main" id="{55CB14C8-F4E4-37A5-68EC-82739F65F6C0}"/>
              </a:ext>
            </a:extLst>
          </p:cNvPr>
          <p:cNvSpPr txBox="1"/>
          <p:nvPr/>
        </p:nvSpPr>
        <p:spPr>
          <a:xfrm>
            <a:off x="5741452" y="901357"/>
            <a:ext cx="1325318" cy="369332"/>
          </a:xfrm>
          <a:prstGeom prst="rect">
            <a:avLst/>
          </a:prstGeom>
          <a:noFill/>
        </p:spPr>
        <p:txBody>
          <a:bodyPr wrap="square" rtlCol="0">
            <a:spAutoFit/>
          </a:bodyPr>
          <a:lstStyle/>
          <a:p>
            <a:pPr algn="ctr"/>
            <a:r>
              <a:rPr kumimoji="1" lang="ja-JP" altLang="en-US" dirty="0">
                <a:solidFill>
                  <a:schemeClr val="tx1">
                    <a:lumMod val="75000"/>
                    <a:lumOff val="25000"/>
                  </a:schemeClr>
                </a:solidFill>
                <a:latin typeface="+mj-ea"/>
                <a:ea typeface="+mj-ea"/>
              </a:rPr>
              <a:t>プロセス</a:t>
            </a:r>
          </a:p>
        </p:txBody>
      </p:sp>
      <p:sp>
        <p:nvSpPr>
          <p:cNvPr id="22" name="テキスト ボックス 21">
            <a:extLst>
              <a:ext uri="{FF2B5EF4-FFF2-40B4-BE49-F238E27FC236}">
                <a16:creationId xmlns:a16="http://schemas.microsoft.com/office/drawing/2014/main" id="{1A561C70-5274-31A9-581E-F638B504A956}"/>
              </a:ext>
            </a:extLst>
          </p:cNvPr>
          <p:cNvSpPr txBox="1"/>
          <p:nvPr/>
        </p:nvSpPr>
        <p:spPr>
          <a:xfrm>
            <a:off x="484690" y="1882792"/>
            <a:ext cx="1325318" cy="369332"/>
          </a:xfrm>
          <a:prstGeom prst="rect">
            <a:avLst/>
          </a:prstGeom>
          <a:noFill/>
        </p:spPr>
        <p:txBody>
          <a:bodyPr wrap="square" rtlCol="0">
            <a:spAutoFit/>
          </a:bodyPr>
          <a:lstStyle/>
          <a:p>
            <a:pPr algn="ctr"/>
            <a:r>
              <a:rPr kumimoji="1" lang="ja-JP" altLang="en-US" dirty="0">
                <a:solidFill>
                  <a:schemeClr val="tx1">
                    <a:lumMod val="75000"/>
                    <a:lumOff val="25000"/>
                  </a:schemeClr>
                </a:solidFill>
                <a:latin typeface="+mj-ea"/>
                <a:ea typeface="+mj-ea"/>
              </a:rPr>
              <a:t>事業計画</a:t>
            </a:r>
          </a:p>
        </p:txBody>
      </p:sp>
      <p:sp>
        <p:nvSpPr>
          <p:cNvPr id="3" name="矢印: 五方向 2">
            <a:extLst>
              <a:ext uri="{FF2B5EF4-FFF2-40B4-BE49-F238E27FC236}">
                <a16:creationId xmlns:a16="http://schemas.microsoft.com/office/drawing/2014/main" id="{E674ABE0-71D1-E082-0281-685DCCDD374E}"/>
              </a:ext>
            </a:extLst>
          </p:cNvPr>
          <p:cNvSpPr/>
          <p:nvPr/>
        </p:nvSpPr>
        <p:spPr>
          <a:xfrm>
            <a:off x="1968068" y="1754736"/>
            <a:ext cx="1490174" cy="669931"/>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kumimoji="1" lang="ja-JP" altLang="en-US" sz="1200" dirty="0">
                <a:solidFill>
                  <a:schemeClr val="tx1"/>
                </a:solidFill>
              </a:rPr>
              <a:t>顧客別</a:t>
            </a:r>
            <a:endParaRPr kumimoji="1" lang="en-US" altLang="ja-JP" sz="1200" dirty="0">
              <a:solidFill>
                <a:schemeClr val="tx1"/>
              </a:solidFill>
            </a:endParaRPr>
          </a:p>
          <a:p>
            <a:pPr algn="l"/>
            <a:r>
              <a:rPr lang="ja-JP" altLang="en-US" sz="1200" dirty="0">
                <a:solidFill>
                  <a:schemeClr val="tx1"/>
                </a:solidFill>
              </a:rPr>
              <a:t>予算案</a:t>
            </a:r>
            <a:endParaRPr kumimoji="1" lang="ja-JP" altLang="en-US" sz="1200" dirty="0">
              <a:solidFill>
                <a:schemeClr val="tx1"/>
              </a:solidFill>
            </a:endParaRPr>
          </a:p>
        </p:txBody>
      </p:sp>
      <p:sp>
        <p:nvSpPr>
          <p:cNvPr id="4" name="テキスト ボックス 3">
            <a:extLst>
              <a:ext uri="{FF2B5EF4-FFF2-40B4-BE49-F238E27FC236}">
                <a16:creationId xmlns:a16="http://schemas.microsoft.com/office/drawing/2014/main" id="{F32AFF13-57B2-EE15-0F31-B52B33E5C3A6}"/>
              </a:ext>
            </a:extLst>
          </p:cNvPr>
          <p:cNvSpPr txBox="1"/>
          <p:nvPr/>
        </p:nvSpPr>
        <p:spPr>
          <a:xfrm>
            <a:off x="1883542" y="2382245"/>
            <a:ext cx="607505" cy="425655"/>
          </a:xfrm>
          <a:prstGeom prst="rect">
            <a:avLst/>
          </a:prstGeom>
          <a:noFill/>
        </p:spPr>
        <p:txBody>
          <a:bodyPr wrap="none" rtlCol="0">
            <a:noAutofit/>
          </a:bodyPr>
          <a:lstStyle/>
          <a:p>
            <a:r>
              <a:rPr kumimoji="1" lang="ja-JP" altLang="en-US" sz="1100" dirty="0">
                <a:solidFill>
                  <a:schemeClr val="tx1">
                    <a:lumMod val="75000"/>
                    <a:lumOff val="25000"/>
                  </a:schemeClr>
                </a:solidFill>
                <a:latin typeface="+mj-ea"/>
                <a:ea typeface="+mj-ea"/>
              </a:rPr>
              <a:t>支社</a:t>
            </a:r>
          </a:p>
        </p:txBody>
      </p:sp>
      <p:sp>
        <p:nvSpPr>
          <p:cNvPr id="6" name="矢印: 五方向 5">
            <a:extLst>
              <a:ext uri="{FF2B5EF4-FFF2-40B4-BE49-F238E27FC236}">
                <a16:creationId xmlns:a16="http://schemas.microsoft.com/office/drawing/2014/main" id="{31001795-1AF0-5790-D788-98055BABE900}"/>
              </a:ext>
            </a:extLst>
          </p:cNvPr>
          <p:cNvSpPr/>
          <p:nvPr/>
        </p:nvSpPr>
        <p:spPr>
          <a:xfrm>
            <a:off x="3542769" y="1762834"/>
            <a:ext cx="1490174" cy="669931"/>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lang="ja-JP" altLang="en-US" sz="1200" dirty="0">
                <a:solidFill>
                  <a:schemeClr val="tx1"/>
                </a:solidFill>
              </a:rPr>
              <a:t>事業部予算案</a:t>
            </a:r>
            <a:endParaRPr kumimoji="1" lang="ja-JP" altLang="en-US" sz="1200" dirty="0">
              <a:solidFill>
                <a:schemeClr val="tx1"/>
              </a:solidFill>
            </a:endParaRPr>
          </a:p>
        </p:txBody>
      </p:sp>
      <p:sp>
        <p:nvSpPr>
          <p:cNvPr id="8" name="テキスト ボックス 7">
            <a:extLst>
              <a:ext uri="{FF2B5EF4-FFF2-40B4-BE49-F238E27FC236}">
                <a16:creationId xmlns:a16="http://schemas.microsoft.com/office/drawing/2014/main" id="{B5F76347-C8CC-1629-7E11-DA1FFA20ED0F}"/>
              </a:ext>
            </a:extLst>
          </p:cNvPr>
          <p:cNvSpPr txBox="1"/>
          <p:nvPr/>
        </p:nvSpPr>
        <p:spPr>
          <a:xfrm>
            <a:off x="3458243" y="2390343"/>
            <a:ext cx="607505" cy="425655"/>
          </a:xfrm>
          <a:prstGeom prst="rect">
            <a:avLst/>
          </a:prstGeom>
          <a:noFill/>
        </p:spPr>
        <p:txBody>
          <a:bodyPr wrap="none" rtlCol="0">
            <a:noAutofit/>
          </a:bodyPr>
          <a:lstStyle/>
          <a:p>
            <a:r>
              <a:rPr kumimoji="1" lang="ja-JP" altLang="en-US" sz="1100" dirty="0">
                <a:solidFill>
                  <a:schemeClr val="tx1">
                    <a:lumMod val="75000"/>
                    <a:lumOff val="25000"/>
                  </a:schemeClr>
                </a:solidFill>
                <a:latin typeface="+mj-ea"/>
                <a:ea typeface="+mj-ea"/>
              </a:rPr>
              <a:t>営業</a:t>
            </a:r>
          </a:p>
        </p:txBody>
      </p:sp>
      <p:sp>
        <p:nvSpPr>
          <p:cNvPr id="9" name="矢印: 五方向 8">
            <a:extLst>
              <a:ext uri="{FF2B5EF4-FFF2-40B4-BE49-F238E27FC236}">
                <a16:creationId xmlns:a16="http://schemas.microsoft.com/office/drawing/2014/main" id="{22A6117B-7C72-8C81-1C1D-56380EACED14}"/>
              </a:ext>
            </a:extLst>
          </p:cNvPr>
          <p:cNvSpPr/>
          <p:nvPr/>
        </p:nvSpPr>
        <p:spPr>
          <a:xfrm>
            <a:off x="5042312" y="1755781"/>
            <a:ext cx="1490174" cy="669931"/>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lang="ja-JP" altLang="en-US" sz="1200" dirty="0">
                <a:solidFill>
                  <a:schemeClr val="tx1"/>
                </a:solidFill>
              </a:rPr>
              <a:t>事業計画取り纏め・</a:t>
            </a:r>
            <a:endParaRPr lang="en-US" altLang="ja-JP" sz="1200" dirty="0">
              <a:solidFill>
                <a:schemeClr val="tx1"/>
              </a:solidFill>
            </a:endParaRPr>
          </a:p>
          <a:p>
            <a:pPr algn="l"/>
            <a:r>
              <a:rPr lang="ja-JP" altLang="en-US" sz="1200" dirty="0">
                <a:solidFill>
                  <a:schemeClr val="tx1"/>
                </a:solidFill>
              </a:rPr>
              <a:t>上申</a:t>
            </a:r>
            <a:endParaRPr lang="en-US" altLang="ja-JP" sz="1200" dirty="0">
              <a:solidFill>
                <a:schemeClr val="tx1"/>
              </a:solidFill>
            </a:endParaRPr>
          </a:p>
        </p:txBody>
      </p:sp>
      <p:sp>
        <p:nvSpPr>
          <p:cNvPr id="11" name="テキスト ボックス 10">
            <a:extLst>
              <a:ext uri="{FF2B5EF4-FFF2-40B4-BE49-F238E27FC236}">
                <a16:creationId xmlns:a16="http://schemas.microsoft.com/office/drawing/2014/main" id="{2A72C535-F7FC-7CE6-188B-811D3366DC2A}"/>
              </a:ext>
            </a:extLst>
          </p:cNvPr>
          <p:cNvSpPr txBox="1"/>
          <p:nvPr/>
        </p:nvSpPr>
        <p:spPr>
          <a:xfrm>
            <a:off x="4957786" y="2383290"/>
            <a:ext cx="607505" cy="425655"/>
          </a:xfrm>
          <a:prstGeom prst="rect">
            <a:avLst/>
          </a:prstGeom>
          <a:noFill/>
        </p:spPr>
        <p:txBody>
          <a:bodyPr wrap="none" rtlCol="0">
            <a:noAutofit/>
          </a:bodyPr>
          <a:lstStyle/>
          <a:p>
            <a:r>
              <a:rPr kumimoji="1" lang="ja-JP" altLang="en-US" sz="1100" dirty="0">
                <a:solidFill>
                  <a:schemeClr val="tx1">
                    <a:lumMod val="75000"/>
                    <a:lumOff val="25000"/>
                  </a:schemeClr>
                </a:solidFill>
                <a:latin typeface="+mj-ea"/>
                <a:ea typeface="+mj-ea"/>
              </a:rPr>
              <a:t>事戦</a:t>
            </a:r>
          </a:p>
        </p:txBody>
      </p:sp>
      <p:sp>
        <p:nvSpPr>
          <p:cNvPr id="12" name="矢印: 五方向 11">
            <a:extLst>
              <a:ext uri="{FF2B5EF4-FFF2-40B4-BE49-F238E27FC236}">
                <a16:creationId xmlns:a16="http://schemas.microsoft.com/office/drawing/2014/main" id="{EB152CF3-9DB4-BB5F-42A2-88F749E68450}"/>
              </a:ext>
            </a:extLst>
          </p:cNvPr>
          <p:cNvSpPr/>
          <p:nvPr/>
        </p:nvSpPr>
        <p:spPr>
          <a:xfrm>
            <a:off x="6626601" y="1761438"/>
            <a:ext cx="1490174" cy="669931"/>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lang="ja-JP" altLang="en-US" sz="1200" dirty="0">
                <a:solidFill>
                  <a:schemeClr val="tx1"/>
                </a:solidFill>
              </a:rPr>
              <a:t>要員山積</a:t>
            </a:r>
            <a:endParaRPr lang="en-US" altLang="ja-JP" sz="1200" dirty="0">
              <a:solidFill>
                <a:schemeClr val="tx1"/>
              </a:solidFill>
            </a:endParaRPr>
          </a:p>
          <a:p>
            <a:pPr algn="l"/>
            <a:r>
              <a:rPr lang="ja-JP" altLang="en-US" sz="1200" dirty="0">
                <a:solidFill>
                  <a:schemeClr val="tx1"/>
                </a:solidFill>
              </a:rPr>
              <a:t>リソース計画</a:t>
            </a:r>
            <a:endParaRPr lang="en-US" altLang="ja-JP" sz="1200" dirty="0">
              <a:solidFill>
                <a:schemeClr val="tx1"/>
              </a:solidFill>
            </a:endParaRPr>
          </a:p>
        </p:txBody>
      </p:sp>
      <p:sp>
        <p:nvSpPr>
          <p:cNvPr id="15" name="テキスト ボックス 14">
            <a:extLst>
              <a:ext uri="{FF2B5EF4-FFF2-40B4-BE49-F238E27FC236}">
                <a16:creationId xmlns:a16="http://schemas.microsoft.com/office/drawing/2014/main" id="{A4080B74-5353-1D2A-AEDC-D484819EDCDF}"/>
              </a:ext>
            </a:extLst>
          </p:cNvPr>
          <p:cNvSpPr txBox="1"/>
          <p:nvPr/>
        </p:nvSpPr>
        <p:spPr>
          <a:xfrm>
            <a:off x="6542075" y="2388947"/>
            <a:ext cx="607505" cy="425655"/>
          </a:xfrm>
          <a:prstGeom prst="rect">
            <a:avLst/>
          </a:prstGeom>
          <a:noFill/>
        </p:spPr>
        <p:txBody>
          <a:bodyPr wrap="none" rtlCol="0">
            <a:noAutofit/>
          </a:bodyPr>
          <a:lstStyle/>
          <a:p>
            <a:r>
              <a:rPr lang="ja-JP" altLang="en-US" sz="1100" dirty="0">
                <a:solidFill>
                  <a:schemeClr val="tx1">
                    <a:lumMod val="75000"/>
                    <a:lumOff val="25000"/>
                  </a:schemeClr>
                </a:solidFill>
                <a:latin typeface="+mj-ea"/>
                <a:ea typeface="+mj-ea"/>
              </a:rPr>
              <a:t>製造・技術・建設</a:t>
            </a:r>
            <a:endParaRPr kumimoji="1" lang="ja-JP" altLang="en-US" sz="1100" dirty="0">
              <a:solidFill>
                <a:schemeClr val="tx1">
                  <a:lumMod val="75000"/>
                  <a:lumOff val="25000"/>
                </a:schemeClr>
              </a:solidFill>
              <a:latin typeface="+mj-ea"/>
              <a:ea typeface="+mj-ea"/>
            </a:endParaRPr>
          </a:p>
        </p:txBody>
      </p:sp>
      <p:sp>
        <p:nvSpPr>
          <p:cNvPr id="16" name="矢印: 五方向 15">
            <a:extLst>
              <a:ext uri="{FF2B5EF4-FFF2-40B4-BE49-F238E27FC236}">
                <a16:creationId xmlns:a16="http://schemas.microsoft.com/office/drawing/2014/main" id="{EB86AB04-95C5-766E-13C4-3A27787B63B7}"/>
              </a:ext>
            </a:extLst>
          </p:cNvPr>
          <p:cNvSpPr/>
          <p:nvPr/>
        </p:nvSpPr>
        <p:spPr>
          <a:xfrm>
            <a:off x="8155657" y="1754407"/>
            <a:ext cx="1490169" cy="669931"/>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lang="ja-JP" altLang="en-US" sz="1200" dirty="0">
                <a:solidFill>
                  <a:schemeClr val="tx1"/>
                </a:solidFill>
              </a:rPr>
              <a:t>実績</a:t>
            </a:r>
            <a:endParaRPr lang="en-US" altLang="ja-JP" sz="1200" dirty="0">
              <a:solidFill>
                <a:schemeClr val="tx1"/>
              </a:solidFill>
            </a:endParaRPr>
          </a:p>
          <a:p>
            <a:pPr algn="l"/>
            <a:r>
              <a:rPr lang="ja-JP" altLang="en-US" sz="1200" dirty="0">
                <a:solidFill>
                  <a:schemeClr val="tx1"/>
                </a:solidFill>
              </a:rPr>
              <a:t>取り纏め</a:t>
            </a:r>
            <a:endParaRPr lang="en-US" altLang="ja-JP" sz="1200" dirty="0">
              <a:solidFill>
                <a:schemeClr val="tx1"/>
              </a:solidFill>
            </a:endParaRPr>
          </a:p>
        </p:txBody>
      </p:sp>
      <p:sp>
        <p:nvSpPr>
          <p:cNvPr id="50" name="矢印: 五方向 49">
            <a:extLst>
              <a:ext uri="{FF2B5EF4-FFF2-40B4-BE49-F238E27FC236}">
                <a16:creationId xmlns:a16="http://schemas.microsoft.com/office/drawing/2014/main" id="{E7F018F9-8FF5-E925-3E87-41A260F96DDC}"/>
              </a:ext>
            </a:extLst>
          </p:cNvPr>
          <p:cNvSpPr/>
          <p:nvPr/>
        </p:nvSpPr>
        <p:spPr>
          <a:xfrm>
            <a:off x="1968068" y="3192350"/>
            <a:ext cx="1052222" cy="623243"/>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lang="ja-JP" altLang="en-US" sz="1200" dirty="0">
                <a:solidFill>
                  <a:schemeClr val="tx1"/>
                </a:solidFill>
              </a:rPr>
              <a:t>計画</a:t>
            </a:r>
            <a:endParaRPr kumimoji="1" lang="ja-JP" altLang="en-US" sz="1200" dirty="0">
              <a:solidFill>
                <a:schemeClr val="tx1"/>
              </a:solidFill>
            </a:endParaRPr>
          </a:p>
        </p:txBody>
      </p:sp>
      <p:sp>
        <p:nvSpPr>
          <p:cNvPr id="51" name="テキスト ボックス 50">
            <a:extLst>
              <a:ext uri="{FF2B5EF4-FFF2-40B4-BE49-F238E27FC236}">
                <a16:creationId xmlns:a16="http://schemas.microsoft.com/office/drawing/2014/main" id="{8B544C1F-FBDF-2C77-D356-668A9CCF823B}"/>
              </a:ext>
            </a:extLst>
          </p:cNvPr>
          <p:cNvSpPr txBox="1"/>
          <p:nvPr/>
        </p:nvSpPr>
        <p:spPr>
          <a:xfrm>
            <a:off x="1883542" y="3850937"/>
            <a:ext cx="607505" cy="425655"/>
          </a:xfrm>
          <a:prstGeom prst="rect">
            <a:avLst/>
          </a:prstGeom>
          <a:noFill/>
        </p:spPr>
        <p:txBody>
          <a:bodyPr wrap="none" rtlCol="0">
            <a:noAutofit/>
          </a:bodyPr>
          <a:lstStyle/>
          <a:p>
            <a:r>
              <a:rPr kumimoji="1" lang="ja-JP" altLang="en-US" sz="1100" dirty="0">
                <a:solidFill>
                  <a:schemeClr val="tx1">
                    <a:lumMod val="75000"/>
                    <a:lumOff val="25000"/>
                  </a:schemeClr>
                </a:solidFill>
                <a:latin typeface="+mj-ea"/>
                <a:ea typeface="+mj-ea"/>
              </a:rPr>
              <a:t>営業</a:t>
            </a:r>
          </a:p>
        </p:txBody>
      </p:sp>
      <p:sp>
        <p:nvSpPr>
          <p:cNvPr id="52" name="矢印: 五方向 51">
            <a:extLst>
              <a:ext uri="{FF2B5EF4-FFF2-40B4-BE49-F238E27FC236}">
                <a16:creationId xmlns:a16="http://schemas.microsoft.com/office/drawing/2014/main" id="{950A5436-23CF-A9E7-53B1-B316A36F55A8}"/>
              </a:ext>
            </a:extLst>
          </p:cNvPr>
          <p:cNvSpPr/>
          <p:nvPr/>
        </p:nvSpPr>
        <p:spPr>
          <a:xfrm>
            <a:off x="3140906" y="3193453"/>
            <a:ext cx="1052222" cy="623243"/>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lang="ja-JP" altLang="en-US" sz="1200" dirty="0">
                <a:solidFill>
                  <a:schemeClr val="tx1"/>
                </a:solidFill>
              </a:rPr>
              <a:t>案件</a:t>
            </a:r>
            <a:endParaRPr lang="en-US" altLang="ja-JP" sz="1200" dirty="0">
              <a:solidFill>
                <a:schemeClr val="tx1"/>
              </a:solidFill>
            </a:endParaRPr>
          </a:p>
          <a:p>
            <a:pPr algn="l"/>
            <a:r>
              <a:rPr lang="ja-JP" altLang="en-US" sz="1200" dirty="0">
                <a:solidFill>
                  <a:schemeClr val="tx1"/>
                </a:solidFill>
              </a:rPr>
              <a:t>管理</a:t>
            </a:r>
            <a:endParaRPr kumimoji="1" lang="ja-JP" altLang="en-US" sz="1200" dirty="0">
              <a:solidFill>
                <a:schemeClr val="tx1"/>
              </a:solidFill>
            </a:endParaRPr>
          </a:p>
        </p:txBody>
      </p:sp>
      <p:sp>
        <p:nvSpPr>
          <p:cNvPr id="53" name="テキスト ボックス 52">
            <a:extLst>
              <a:ext uri="{FF2B5EF4-FFF2-40B4-BE49-F238E27FC236}">
                <a16:creationId xmlns:a16="http://schemas.microsoft.com/office/drawing/2014/main" id="{C1CADE4F-C46B-A4D2-412F-344F45662602}"/>
              </a:ext>
            </a:extLst>
          </p:cNvPr>
          <p:cNvSpPr txBox="1"/>
          <p:nvPr/>
        </p:nvSpPr>
        <p:spPr>
          <a:xfrm>
            <a:off x="3058444" y="3854239"/>
            <a:ext cx="607505" cy="425655"/>
          </a:xfrm>
          <a:prstGeom prst="rect">
            <a:avLst/>
          </a:prstGeom>
          <a:noFill/>
        </p:spPr>
        <p:txBody>
          <a:bodyPr wrap="none" rtlCol="0">
            <a:noAutofit/>
          </a:bodyPr>
          <a:lstStyle/>
          <a:p>
            <a:r>
              <a:rPr kumimoji="1" lang="ja-JP" altLang="en-US" sz="1100" dirty="0">
                <a:solidFill>
                  <a:schemeClr val="tx1">
                    <a:lumMod val="75000"/>
                    <a:lumOff val="25000"/>
                  </a:schemeClr>
                </a:solidFill>
                <a:latin typeface="+mj-ea"/>
                <a:ea typeface="+mj-ea"/>
              </a:rPr>
              <a:t>営業／事戦</a:t>
            </a:r>
          </a:p>
        </p:txBody>
      </p:sp>
      <p:sp>
        <p:nvSpPr>
          <p:cNvPr id="54" name="矢印: 五方向 53">
            <a:extLst>
              <a:ext uri="{FF2B5EF4-FFF2-40B4-BE49-F238E27FC236}">
                <a16:creationId xmlns:a16="http://schemas.microsoft.com/office/drawing/2014/main" id="{C8C52DAF-3004-FB21-D871-20FDEC4C4982}"/>
              </a:ext>
            </a:extLst>
          </p:cNvPr>
          <p:cNvSpPr/>
          <p:nvPr/>
        </p:nvSpPr>
        <p:spPr>
          <a:xfrm>
            <a:off x="4242414" y="3186286"/>
            <a:ext cx="1052222" cy="623243"/>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kumimoji="1" lang="ja-JP" altLang="en-US" sz="1200" dirty="0">
                <a:solidFill>
                  <a:schemeClr val="tx1"/>
                </a:solidFill>
              </a:rPr>
              <a:t>引合・</a:t>
            </a:r>
            <a:endParaRPr kumimoji="1" lang="en-US" altLang="ja-JP" sz="1200" dirty="0">
              <a:solidFill>
                <a:schemeClr val="tx1"/>
              </a:solidFill>
            </a:endParaRPr>
          </a:p>
          <a:p>
            <a:pPr algn="l"/>
            <a:r>
              <a:rPr lang="ja-JP" altLang="en-US" sz="1200" dirty="0">
                <a:solidFill>
                  <a:schemeClr val="tx1"/>
                </a:solidFill>
              </a:rPr>
              <a:t>見積</a:t>
            </a:r>
            <a:endParaRPr kumimoji="1" lang="en-US" altLang="ja-JP" sz="1200" dirty="0">
              <a:solidFill>
                <a:schemeClr val="tx1"/>
              </a:solidFill>
            </a:endParaRPr>
          </a:p>
        </p:txBody>
      </p:sp>
      <p:sp>
        <p:nvSpPr>
          <p:cNvPr id="55" name="テキスト ボックス 54">
            <a:extLst>
              <a:ext uri="{FF2B5EF4-FFF2-40B4-BE49-F238E27FC236}">
                <a16:creationId xmlns:a16="http://schemas.microsoft.com/office/drawing/2014/main" id="{90DE376F-DCA0-18C9-BF9F-A63FF6BED363}"/>
              </a:ext>
            </a:extLst>
          </p:cNvPr>
          <p:cNvSpPr txBox="1"/>
          <p:nvPr/>
        </p:nvSpPr>
        <p:spPr>
          <a:xfrm>
            <a:off x="4157888" y="3844873"/>
            <a:ext cx="607505" cy="425655"/>
          </a:xfrm>
          <a:prstGeom prst="rect">
            <a:avLst/>
          </a:prstGeom>
          <a:noFill/>
        </p:spPr>
        <p:txBody>
          <a:bodyPr wrap="none" rtlCol="0">
            <a:noAutofit/>
          </a:bodyPr>
          <a:lstStyle/>
          <a:p>
            <a:r>
              <a:rPr kumimoji="1" lang="ja-JP" altLang="en-US" sz="1100" dirty="0">
                <a:solidFill>
                  <a:schemeClr val="tx1">
                    <a:lumMod val="75000"/>
                    <a:lumOff val="25000"/>
                  </a:schemeClr>
                </a:solidFill>
                <a:latin typeface="+mj-ea"/>
                <a:ea typeface="+mj-ea"/>
              </a:rPr>
              <a:t>営業</a:t>
            </a:r>
          </a:p>
        </p:txBody>
      </p:sp>
      <p:sp>
        <p:nvSpPr>
          <p:cNvPr id="56" name="矢印: 五方向 55">
            <a:extLst>
              <a:ext uri="{FF2B5EF4-FFF2-40B4-BE49-F238E27FC236}">
                <a16:creationId xmlns:a16="http://schemas.microsoft.com/office/drawing/2014/main" id="{0B9C9A96-3974-6CD6-B8E3-EE2CA3D41127}"/>
              </a:ext>
            </a:extLst>
          </p:cNvPr>
          <p:cNvSpPr/>
          <p:nvPr/>
        </p:nvSpPr>
        <p:spPr>
          <a:xfrm>
            <a:off x="5348033" y="3190289"/>
            <a:ext cx="1052222" cy="623243"/>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kumimoji="1" lang="ja-JP" altLang="en-US" sz="1200" dirty="0">
                <a:solidFill>
                  <a:schemeClr val="tx1"/>
                </a:solidFill>
              </a:rPr>
              <a:t>提案・</a:t>
            </a:r>
            <a:endParaRPr kumimoji="1" lang="en-US" altLang="ja-JP" sz="1200" dirty="0">
              <a:solidFill>
                <a:schemeClr val="tx1"/>
              </a:solidFill>
            </a:endParaRPr>
          </a:p>
          <a:p>
            <a:pPr algn="l"/>
            <a:r>
              <a:rPr lang="ja-JP" altLang="en-US" sz="1200" dirty="0">
                <a:solidFill>
                  <a:schemeClr val="tx1"/>
                </a:solidFill>
              </a:rPr>
              <a:t>商談</a:t>
            </a:r>
            <a:endParaRPr kumimoji="1" lang="en-US" altLang="ja-JP" sz="1200" dirty="0">
              <a:solidFill>
                <a:schemeClr val="tx1"/>
              </a:solidFill>
            </a:endParaRPr>
          </a:p>
        </p:txBody>
      </p:sp>
      <p:sp>
        <p:nvSpPr>
          <p:cNvPr id="57" name="テキスト ボックス 56">
            <a:extLst>
              <a:ext uri="{FF2B5EF4-FFF2-40B4-BE49-F238E27FC236}">
                <a16:creationId xmlns:a16="http://schemas.microsoft.com/office/drawing/2014/main" id="{2B880D7F-6E4F-AD16-AA7A-AD38F729099A}"/>
              </a:ext>
            </a:extLst>
          </p:cNvPr>
          <p:cNvSpPr txBox="1"/>
          <p:nvPr/>
        </p:nvSpPr>
        <p:spPr>
          <a:xfrm>
            <a:off x="5263507" y="3848876"/>
            <a:ext cx="607505" cy="425655"/>
          </a:xfrm>
          <a:prstGeom prst="rect">
            <a:avLst/>
          </a:prstGeom>
          <a:noFill/>
        </p:spPr>
        <p:txBody>
          <a:bodyPr wrap="none" rtlCol="0">
            <a:noAutofit/>
          </a:bodyPr>
          <a:lstStyle/>
          <a:p>
            <a:r>
              <a:rPr lang="ja-JP" altLang="en-US" sz="1100" dirty="0">
                <a:solidFill>
                  <a:schemeClr val="tx1">
                    <a:lumMod val="75000"/>
                    <a:lumOff val="25000"/>
                  </a:schemeClr>
                </a:solidFill>
                <a:latin typeface="+mj-ea"/>
                <a:ea typeface="+mj-ea"/>
              </a:rPr>
              <a:t>支社・営業</a:t>
            </a:r>
            <a:endParaRPr kumimoji="1" lang="ja-JP" altLang="en-US" sz="1100" dirty="0">
              <a:solidFill>
                <a:schemeClr val="tx1">
                  <a:lumMod val="75000"/>
                  <a:lumOff val="25000"/>
                </a:schemeClr>
              </a:solidFill>
              <a:latin typeface="+mj-ea"/>
              <a:ea typeface="+mj-ea"/>
            </a:endParaRPr>
          </a:p>
        </p:txBody>
      </p:sp>
      <p:sp>
        <p:nvSpPr>
          <p:cNvPr id="58" name="矢印: 五方向 57">
            <a:extLst>
              <a:ext uri="{FF2B5EF4-FFF2-40B4-BE49-F238E27FC236}">
                <a16:creationId xmlns:a16="http://schemas.microsoft.com/office/drawing/2014/main" id="{90804AAA-FE4B-D740-AB7E-0DE9C4C40C7C}"/>
              </a:ext>
            </a:extLst>
          </p:cNvPr>
          <p:cNvSpPr/>
          <p:nvPr/>
        </p:nvSpPr>
        <p:spPr>
          <a:xfrm>
            <a:off x="6899062" y="3187044"/>
            <a:ext cx="1052222" cy="642409"/>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kumimoji="1" lang="ja-JP" altLang="en-US" sz="1200" dirty="0">
                <a:solidFill>
                  <a:schemeClr val="tx1"/>
                </a:solidFill>
              </a:rPr>
              <a:t>調達・</a:t>
            </a:r>
            <a:endParaRPr kumimoji="1" lang="en-US" altLang="ja-JP" sz="1200" dirty="0">
              <a:solidFill>
                <a:schemeClr val="tx1"/>
              </a:solidFill>
            </a:endParaRPr>
          </a:p>
          <a:p>
            <a:pPr algn="l"/>
            <a:r>
              <a:rPr lang="ja-JP" altLang="en-US" sz="1200" dirty="0">
                <a:solidFill>
                  <a:schemeClr val="tx1"/>
                </a:solidFill>
              </a:rPr>
              <a:t>設計</a:t>
            </a:r>
            <a:endParaRPr kumimoji="1" lang="ja-JP" altLang="en-US" sz="1200" dirty="0">
              <a:solidFill>
                <a:schemeClr val="tx1"/>
              </a:solidFill>
            </a:endParaRPr>
          </a:p>
        </p:txBody>
      </p:sp>
      <p:sp>
        <p:nvSpPr>
          <p:cNvPr id="59" name="テキスト ボックス 58">
            <a:extLst>
              <a:ext uri="{FF2B5EF4-FFF2-40B4-BE49-F238E27FC236}">
                <a16:creationId xmlns:a16="http://schemas.microsoft.com/office/drawing/2014/main" id="{27F65ED9-31B3-12F7-2A9E-9048F1F2C564}"/>
              </a:ext>
            </a:extLst>
          </p:cNvPr>
          <p:cNvSpPr txBox="1"/>
          <p:nvPr/>
        </p:nvSpPr>
        <p:spPr>
          <a:xfrm>
            <a:off x="6840200" y="3854240"/>
            <a:ext cx="607505" cy="425655"/>
          </a:xfrm>
          <a:prstGeom prst="rect">
            <a:avLst/>
          </a:prstGeom>
          <a:noFill/>
        </p:spPr>
        <p:txBody>
          <a:bodyPr wrap="none" rtlCol="0">
            <a:noAutofit/>
          </a:bodyPr>
          <a:lstStyle/>
          <a:p>
            <a:r>
              <a:rPr kumimoji="1" lang="ja-JP" altLang="en-US" sz="1100" dirty="0">
                <a:solidFill>
                  <a:schemeClr val="tx1">
                    <a:lumMod val="75000"/>
                    <a:lumOff val="25000"/>
                  </a:schemeClr>
                </a:solidFill>
                <a:latin typeface="+mj-ea"/>
                <a:ea typeface="+mj-ea"/>
              </a:rPr>
              <a:t>調達・</a:t>
            </a:r>
            <a:r>
              <a:rPr lang="ja-JP" altLang="en-US" sz="1100" dirty="0">
                <a:solidFill>
                  <a:schemeClr val="tx1">
                    <a:lumMod val="75000"/>
                    <a:lumOff val="25000"/>
                  </a:schemeClr>
                </a:solidFill>
                <a:latin typeface="+mj-ea"/>
                <a:ea typeface="+mj-ea"/>
              </a:rPr>
              <a:t>技術</a:t>
            </a:r>
            <a:endParaRPr kumimoji="1" lang="ja-JP" altLang="en-US" sz="1100" dirty="0">
              <a:solidFill>
                <a:schemeClr val="tx1">
                  <a:lumMod val="75000"/>
                  <a:lumOff val="25000"/>
                </a:schemeClr>
              </a:solidFill>
              <a:latin typeface="+mj-ea"/>
              <a:ea typeface="+mj-ea"/>
            </a:endParaRPr>
          </a:p>
        </p:txBody>
      </p:sp>
      <p:sp>
        <p:nvSpPr>
          <p:cNvPr id="60" name="矢印: 五方向 59">
            <a:extLst>
              <a:ext uri="{FF2B5EF4-FFF2-40B4-BE49-F238E27FC236}">
                <a16:creationId xmlns:a16="http://schemas.microsoft.com/office/drawing/2014/main" id="{A39635D2-731B-374E-2593-974067B7B8D4}"/>
              </a:ext>
            </a:extLst>
          </p:cNvPr>
          <p:cNvSpPr/>
          <p:nvPr/>
        </p:nvSpPr>
        <p:spPr>
          <a:xfrm>
            <a:off x="8006745" y="3180460"/>
            <a:ext cx="1052222" cy="642409"/>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lang="ja-JP" altLang="en-US" sz="1200" dirty="0">
                <a:solidFill>
                  <a:schemeClr val="tx1"/>
                </a:solidFill>
              </a:rPr>
              <a:t>製造</a:t>
            </a:r>
            <a:endParaRPr kumimoji="1" lang="ja-JP" altLang="en-US" sz="1200" dirty="0">
              <a:solidFill>
                <a:schemeClr val="tx1"/>
              </a:solidFill>
            </a:endParaRPr>
          </a:p>
        </p:txBody>
      </p:sp>
      <p:sp>
        <p:nvSpPr>
          <p:cNvPr id="61" name="テキスト ボックス 60">
            <a:extLst>
              <a:ext uri="{FF2B5EF4-FFF2-40B4-BE49-F238E27FC236}">
                <a16:creationId xmlns:a16="http://schemas.microsoft.com/office/drawing/2014/main" id="{8438E3CF-A5C7-BC32-65ED-0DD824546A22}"/>
              </a:ext>
            </a:extLst>
          </p:cNvPr>
          <p:cNvSpPr txBox="1"/>
          <p:nvPr/>
        </p:nvSpPr>
        <p:spPr>
          <a:xfrm>
            <a:off x="7947883" y="3847656"/>
            <a:ext cx="607505" cy="425655"/>
          </a:xfrm>
          <a:prstGeom prst="rect">
            <a:avLst/>
          </a:prstGeom>
          <a:noFill/>
        </p:spPr>
        <p:txBody>
          <a:bodyPr wrap="none" rtlCol="0">
            <a:noAutofit/>
          </a:bodyPr>
          <a:lstStyle/>
          <a:p>
            <a:r>
              <a:rPr kumimoji="1" lang="ja-JP" altLang="en-US" sz="1100" dirty="0">
                <a:solidFill>
                  <a:schemeClr val="tx1">
                    <a:lumMod val="75000"/>
                    <a:lumOff val="25000"/>
                  </a:schemeClr>
                </a:solidFill>
                <a:latin typeface="+mj-ea"/>
                <a:ea typeface="+mj-ea"/>
              </a:rPr>
              <a:t>製造</a:t>
            </a:r>
          </a:p>
        </p:txBody>
      </p:sp>
      <p:sp>
        <p:nvSpPr>
          <p:cNvPr id="62" name="矢印: 五方向 61">
            <a:extLst>
              <a:ext uri="{FF2B5EF4-FFF2-40B4-BE49-F238E27FC236}">
                <a16:creationId xmlns:a16="http://schemas.microsoft.com/office/drawing/2014/main" id="{AABBD105-3E96-19EA-039B-5FC1DDF87C64}"/>
              </a:ext>
            </a:extLst>
          </p:cNvPr>
          <p:cNvSpPr/>
          <p:nvPr/>
        </p:nvSpPr>
        <p:spPr>
          <a:xfrm>
            <a:off x="9106189" y="3180460"/>
            <a:ext cx="1052222" cy="642409"/>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kumimoji="1" lang="ja-JP" altLang="en-US" sz="1200" dirty="0">
                <a:solidFill>
                  <a:schemeClr val="tx1"/>
                </a:solidFill>
              </a:rPr>
              <a:t>据付・</a:t>
            </a:r>
            <a:endParaRPr kumimoji="1" lang="en-US" altLang="ja-JP" sz="1200" dirty="0">
              <a:solidFill>
                <a:schemeClr val="tx1"/>
              </a:solidFill>
            </a:endParaRPr>
          </a:p>
          <a:p>
            <a:pPr algn="l"/>
            <a:r>
              <a:rPr lang="ja-JP" altLang="en-US" sz="1200" dirty="0">
                <a:solidFill>
                  <a:schemeClr val="tx1"/>
                </a:solidFill>
              </a:rPr>
              <a:t>納品</a:t>
            </a:r>
            <a:endParaRPr kumimoji="1" lang="en-US" altLang="ja-JP" sz="1200" dirty="0">
              <a:solidFill>
                <a:schemeClr val="tx1"/>
              </a:solidFill>
            </a:endParaRPr>
          </a:p>
        </p:txBody>
      </p:sp>
      <p:sp>
        <p:nvSpPr>
          <p:cNvPr id="63" name="テキスト ボックス 62">
            <a:extLst>
              <a:ext uri="{FF2B5EF4-FFF2-40B4-BE49-F238E27FC236}">
                <a16:creationId xmlns:a16="http://schemas.microsoft.com/office/drawing/2014/main" id="{FBA3B570-949A-197E-805B-F575DCC11AD0}"/>
              </a:ext>
            </a:extLst>
          </p:cNvPr>
          <p:cNvSpPr txBox="1"/>
          <p:nvPr/>
        </p:nvSpPr>
        <p:spPr>
          <a:xfrm>
            <a:off x="9047327" y="3847656"/>
            <a:ext cx="607505" cy="425655"/>
          </a:xfrm>
          <a:prstGeom prst="rect">
            <a:avLst/>
          </a:prstGeom>
          <a:noFill/>
        </p:spPr>
        <p:txBody>
          <a:bodyPr wrap="none" rtlCol="0">
            <a:noAutofit/>
          </a:bodyPr>
          <a:lstStyle/>
          <a:p>
            <a:r>
              <a:rPr lang="ja-JP" altLang="en-US" sz="1100" dirty="0">
                <a:solidFill>
                  <a:schemeClr val="tx1">
                    <a:lumMod val="75000"/>
                    <a:lumOff val="25000"/>
                  </a:schemeClr>
                </a:solidFill>
                <a:latin typeface="+mj-ea"/>
                <a:ea typeface="+mj-ea"/>
              </a:rPr>
              <a:t>建設・品証</a:t>
            </a:r>
            <a:endParaRPr kumimoji="1" lang="ja-JP" altLang="en-US" sz="1100" dirty="0">
              <a:solidFill>
                <a:schemeClr val="tx1">
                  <a:lumMod val="75000"/>
                  <a:lumOff val="25000"/>
                </a:schemeClr>
              </a:solidFill>
              <a:latin typeface="+mj-ea"/>
              <a:ea typeface="+mj-ea"/>
            </a:endParaRPr>
          </a:p>
        </p:txBody>
      </p:sp>
      <p:sp>
        <p:nvSpPr>
          <p:cNvPr id="1027" name="矢印: 五方向 1026">
            <a:extLst>
              <a:ext uri="{FF2B5EF4-FFF2-40B4-BE49-F238E27FC236}">
                <a16:creationId xmlns:a16="http://schemas.microsoft.com/office/drawing/2014/main" id="{761C9AC1-9EDE-85AB-DB57-DA96EE8AE855}"/>
              </a:ext>
            </a:extLst>
          </p:cNvPr>
          <p:cNvSpPr/>
          <p:nvPr/>
        </p:nvSpPr>
        <p:spPr>
          <a:xfrm>
            <a:off x="10205633" y="3180460"/>
            <a:ext cx="1052222" cy="642409"/>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lang="ja-JP" altLang="en-US" sz="1200" dirty="0">
                <a:solidFill>
                  <a:schemeClr val="tx1"/>
                </a:solidFill>
              </a:rPr>
              <a:t>アフター</a:t>
            </a:r>
            <a:endParaRPr lang="en-US" altLang="ja-JP" sz="1200" dirty="0">
              <a:solidFill>
                <a:schemeClr val="tx1"/>
              </a:solidFill>
            </a:endParaRPr>
          </a:p>
          <a:p>
            <a:pPr algn="l"/>
            <a:r>
              <a:rPr lang="ja-JP" altLang="en-US" sz="1200" dirty="0">
                <a:solidFill>
                  <a:schemeClr val="tx1"/>
                </a:solidFill>
              </a:rPr>
              <a:t>サポート</a:t>
            </a:r>
            <a:endParaRPr kumimoji="1" lang="en-US" altLang="ja-JP" sz="1200" dirty="0">
              <a:solidFill>
                <a:schemeClr val="tx1"/>
              </a:solidFill>
            </a:endParaRPr>
          </a:p>
        </p:txBody>
      </p:sp>
      <p:sp>
        <p:nvSpPr>
          <p:cNvPr id="1028" name="テキスト ボックス 1027">
            <a:extLst>
              <a:ext uri="{FF2B5EF4-FFF2-40B4-BE49-F238E27FC236}">
                <a16:creationId xmlns:a16="http://schemas.microsoft.com/office/drawing/2014/main" id="{6BAE6B72-DE1D-4B80-DE4E-22F99664219F}"/>
              </a:ext>
            </a:extLst>
          </p:cNvPr>
          <p:cNvSpPr txBox="1"/>
          <p:nvPr/>
        </p:nvSpPr>
        <p:spPr>
          <a:xfrm>
            <a:off x="10146771" y="3847656"/>
            <a:ext cx="607505" cy="425655"/>
          </a:xfrm>
          <a:prstGeom prst="rect">
            <a:avLst/>
          </a:prstGeom>
          <a:noFill/>
        </p:spPr>
        <p:txBody>
          <a:bodyPr wrap="none" rtlCol="0">
            <a:noAutofit/>
          </a:bodyPr>
          <a:lstStyle/>
          <a:p>
            <a:r>
              <a:rPr lang="ja-JP" altLang="en-US" sz="1100" dirty="0">
                <a:solidFill>
                  <a:schemeClr val="tx1">
                    <a:lumMod val="75000"/>
                    <a:lumOff val="25000"/>
                  </a:schemeClr>
                </a:solidFill>
                <a:latin typeface="+mj-ea"/>
                <a:ea typeface="+mj-ea"/>
              </a:rPr>
              <a:t>営業・品証</a:t>
            </a:r>
            <a:endParaRPr kumimoji="1" lang="ja-JP" altLang="en-US" sz="1100" dirty="0">
              <a:solidFill>
                <a:schemeClr val="tx1">
                  <a:lumMod val="75000"/>
                  <a:lumOff val="25000"/>
                </a:schemeClr>
              </a:solidFill>
              <a:latin typeface="+mj-ea"/>
              <a:ea typeface="+mj-ea"/>
            </a:endParaRPr>
          </a:p>
        </p:txBody>
      </p:sp>
      <p:cxnSp>
        <p:nvCxnSpPr>
          <p:cNvPr id="13" name="直線コネクタ 12">
            <a:extLst>
              <a:ext uri="{FF2B5EF4-FFF2-40B4-BE49-F238E27FC236}">
                <a16:creationId xmlns:a16="http://schemas.microsoft.com/office/drawing/2014/main" id="{019A7CFB-0007-3E67-DB3C-01DDE1F75996}"/>
              </a:ext>
            </a:extLst>
          </p:cNvPr>
          <p:cNvCxnSpPr>
            <a:cxnSpLocks/>
          </p:cNvCxnSpPr>
          <p:nvPr/>
        </p:nvCxnSpPr>
        <p:spPr>
          <a:xfrm>
            <a:off x="382115" y="2752961"/>
            <a:ext cx="11039255" cy="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4" name="直線コネクタ 13">
            <a:extLst>
              <a:ext uri="{FF2B5EF4-FFF2-40B4-BE49-F238E27FC236}">
                <a16:creationId xmlns:a16="http://schemas.microsoft.com/office/drawing/2014/main" id="{F14C6D42-0CB1-4A42-E2DF-BE8827E438E6}"/>
              </a:ext>
            </a:extLst>
          </p:cNvPr>
          <p:cNvCxnSpPr>
            <a:cxnSpLocks/>
          </p:cNvCxnSpPr>
          <p:nvPr/>
        </p:nvCxnSpPr>
        <p:spPr>
          <a:xfrm>
            <a:off x="359429" y="4275499"/>
            <a:ext cx="11039255" cy="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34" name="テキスト ボックス 1033">
            <a:extLst>
              <a:ext uri="{FF2B5EF4-FFF2-40B4-BE49-F238E27FC236}">
                <a16:creationId xmlns:a16="http://schemas.microsoft.com/office/drawing/2014/main" id="{79C2402D-24C8-D01B-4964-7E79ED247011}"/>
              </a:ext>
            </a:extLst>
          </p:cNvPr>
          <p:cNvSpPr txBox="1"/>
          <p:nvPr/>
        </p:nvSpPr>
        <p:spPr>
          <a:xfrm>
            <a:off x="507075" y="3286034"/>
            <a:ext cx="1325318" cy="369332"/>
          </a:xfrm>
          <a:prstGeom prst="rect">
            <a:avLst/>
          </a:prstGeom>
          <a:noFill/>
        </p:spPr>
        <p:txBody>
          <a:bodyPr wrap="square" rtlCol="0">
            <a:spAutoFit/>
          </a:bodyPr>
          <a:lstStyle/>
          <a:p>
            <a:pPr algn="ctr"/>
            <a:r>
              <a:rPr kumimoji="1" lang="ja-JP" altLang="en-US" dirty="0">
                <a:solidFill>
                  <a:schemeClr val="tx1">
                    <a:lumMod val="75000"/>
                    <a:lumOff val="25000"/>
                  </a:schemeClr>
                </a:solidFill>
                <a:latin typeface="+mj-ea"/>
                <a:ea typeface="+mj-ea"/>
              </a:rPr>
              <a:t>事業活動</a:t>
            </a:r>
          </a:p>
        </p:txBody>
      </p:sp>
      <p:cxnSp>
        <p:nvCxnSpPr>
          <p:cNvPr id="1035" name="直線コネクタ 1034">
            <a:extLst>
              <a:ext uri="{FF2B5EF4-FFF2-40B4-BE49-F238E27FC236}">
                <a16:creationId xmlns:a16="http://schemas.microsoft.com/office/drawing/2014/main" id="{F85B9C83-B799-9A25-F08D-F49D80136B3B}"/>
              </a:ext>
            </a:extLst>
          </p:cNvPr>
          <p:cNvCxnSpPr>
            <a:cxnSpLocks/>
          </p:cNvCxnSpPr>
          <p:nvPr/>
        </p:nvCxnSpPr>
        <p:spPr>
          <a:xfrm>
            <a:off x="1842303" y="866516"/>
            <a:ext cx="0" cy="5589702"/>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41" name="矢印: 五方向 1040">
            <a:extLst>
              <a:ext uri="{FF2B5EF4-FFF2-40B4-BE49-F238E27FC236}">
                <a16:creationId xmlns:a16="http://schemas.microsoft.com/office/drawing/2014/main" id="{EE8FB0E0-7C02-65C1-8402-F4705D5C8344}"/>
              </a:ext>
            </a:extLst>
          </p:cNvPr>
          <p:cNvSpPr/>
          <p:nvPr/>
        </p:nvSpPr>
        <p:spPr>
          <a:xfrm>
            <a:off x="9730358" y="1754407"/>
            <a:ext cx="1490169" cy="669931"/>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lang="ja-JP" altLang="en-US" sz="1200" dirty="0">
                <a:solidFill>
                  <a:schemeClr val="tx1"/>
                </a:solidFill>
              </a:rPr>
              <a:t>差異分析・</a:t>
            </a:r>
            <a:endParaRPr lang="en-US" altLang="ja-JP" sz="1200" dirty="0">
              <a:solidFill>
                <a:schemeClr val="tx1"/>
              </a:solidFill>
            </a:endParaRPr>
          </a:p>
          <a:p>
            <a:pPr algn="l"/>
            <a:r>
              <a:rPr lang="ja-JP" altLang="en-US" sz="1200" dirty="0">
                <a:solidFill>
                  <a:schemeClr val="tx1"/>
                </a:solidFill>
              </a:rPr>
              <a:t>計画修正</a:t>
            </a:r>
            <a:endParaRPr lang="en-US" altLang="ja-JP" sz="1200" dirty="0">
              <a:solidFill>
                <a:schemeClr val="tx1"/>
              </a:solidFill>
            </a:endParaRPr>
          </a:p>
        </p:txBody>
      </p:sp>
      <p:cxnSp>
        <p:nvCxnSpPr>
          <p:cNvPr id="1043" name="直線コネクタ 1042">
            <a:extLst>
              <a:ext uri="{FF2B5EF4-FFF2-40B4-BE49-F238E27FC236}">
                <a16:creationId xmlns:a16="http://schemas.microsoft.com/office/drawing/2014/main" id="{B73D5A61-4219-DCD9-97B2-817D833AE848}"/>
              </a:ext>
            </a:extLst>
          </p:cNvPr>
          <p:cNvCxnSpPr/>
          <p:nvPr/>
        </p:nvCxnSpPr>
        <p:spPr>
          <a:xfrm>
            <a:off x="2057400" y="1558636"/>
            <a:ext cx="5948110" cy="0"/>
          </a:xfrm>
          <a:prstGeom prst="line">
            <a:avLst/>
          </a:prstGeom>
          <a:ln w="19050">
            <a:solidFill>
              <a:schemeClr val="tx1"/>
            </a:solidFill>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1044" name="直線コネクタ 1043">
            <a:extLst>
              <a:ext uri="{FF2B5EF4-FFF2-40B4-BE49-F238E27FC236}">
                <a16:creationId xmlns:a16="http://schemas.microsoft.com/office/drawing/2014/main" id="{B95DDF8F-00C5-6768-DD6A-92C172985E64}"/>
              </a:ext>
            </a:extLst>
          </p:cNvPr>
          <p:cNvCxnSpPr>
            <a:cxnSpLocks/>
          </p:cNvCxnSpPr>
          <p:nvPr/>
        </p:nvCxnSpPr>
        <p:spPr>
          <a:xfrm>
            <a:off x="8154985" y="1558636"/>
            <a:ext cx="3129542" cy="0"/>
          </a:xfrm>
          <a:prstGeom prst="line">
            <a:avLst/>
          </a:prstGeom>
          <a:ln w="19050">
            <a:solidFill>
              <a:schemeClr val="tx1"/>
            </a:solidFill>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1047" name="直線コネクタ 1046">
            <a:extLst>
              <a:ext uri="{FF2B5EF4-FFF2-40B4-BE49-F238E27FC236}">
                <a16:creationId xmlns:a16="http://schemas.microsoft.com/office/drawing/2014/main" id="{9BE460EB-2754-A4A7-71A6-CB013A1E5698}"/>
              </a:ext>
            </a:extLst>
          </p:cNvPr>
          <p:cNvCxnSpPr>
            <a:cxnSpLocks/>
          </p:cNvCxnSpPr>
          <p:nvPr/>
        </p:nvCxnSpPr>
        <p:spPr>
          <a:xfrm>
            <a:off x="2057400" y="2975808"/>
            <a:ext cx="4168842" cy="0"/>
          </a:xfrm>
          <a:prstGeom prst="line">
            <a:avLst/>
          </a:prstGeom>
          <a:ln w="19050">
            <a:solidFill>
              <a:schemeClr val="tx1"/>
            </a:solidFill>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1048" name="直線コネクタ 1047">
            <a:extLst>
              <a:ext uri="{FF2B5EF4-FFF2-40B4-BE49-F238E27FC236}">
                <a16:creationId xmlns:a16="http://schemas.microsoft.com/office/drawing/2014/main" id="{528E2FAB-1240-1E91-09BB-532ABEC07380}"/>
              </a:ext>
            </a:extLst>
          </p:cNvPr>
          <p:cNvCxnSpPr>
            <a:cxnSpLocks/>
          </p:cNvCxnSpPr>
          <p:nvPr/>
        </p:nvCxnSpPr>
        <p:spPr>
          <a:xfrm>
            <a:off x="6899062" y="2975808"/>
            <a:ext cx="4358793" cy="0"/>
          </a:xfrm>
          <a:prstGeom prst="line">
            <a:avLst/>
          </a:prstGeom>
          <a:ln w="19050">
            <a:solidFill>
              <a:schemeClr val="tx1"/>
            </a:solidFill>
            <a:headEnd type="oval"/>
            <a:tailEnd type="oval"/>
          </a:ln>
          <a:effectLst/>
        </p:spPr>
        <p:style>
          <a:lnRef idx="2">
            <a:schemeClr val="accent1"/>
          </a:lnRef>
          <a:fillRef idx="0">
            <a:schemeClr val="accent1"/>
          </a:fillRef>
          <a:effectRef idx="1">
            <a:schemeClr val="accent1"/>
          </a:effectRef>
          <a:fontRef idx="minor">
            <a:schemeClr val="tx1"/>
          </a:fontRef>
        </p:style>
      </p:cxnSp>
      <p:sp>
        <p:nvSpPr>
          <p:cNvPr id="1051" name="テキスト ボックス 1050">
            <a:extLst>
              <a:ext uri="{FF2B5EF4-FFF2-40B4-BE49-F238E27FC236}">
                <a16:creationId xmlns:a16="http://schemas.microsoft.com/office/drawing/2014/main" id="{7A38BEC9-AD79-B660-669D-9AC2F9903566}"/>
              </a:ext>
            </a:extLst>
          </p:cNvPr>
          <p:cNvSpPr txBox="1"/>
          <p:nvPr/>
        </p:nvSpPr>
        <p:spPr>
          <a:xfrm>
            <a:off x="4545145" y="1414593"/>
            <a:ext cx="855821" cy="278200"/>
          </a:xfrm>
          <a:prstGeom prst="rect">
            <a:avLst/>
          </a:prstGeom>
          <a:solidFill>
            <a:schemeClr val="bg1"/>
          </a:solidFill>
        </p:spPr>
        <p:txBody>
          <a:bodyPr wrap="none" rtlCol="0">
            <a:noAutofit/>
          </a:bodyPr>
          <a:lstStyle/>
          <a:p>
            <a:pPr algn="ctr"/>
            <a:r>
              <a:rPr kumimoji="1" lang="ja-JP" altLang="en-US" sz="1100" dirty="0">
                <a:solidFill>
                  <a:schemeClr val="tx1">
                    <a:lumMod val="75000"/>
                    <a:lumOff val="25000"/>
                  </a:schemeClr>
                </a:solidFill>
                <a:latin typeface="+mj-ea"/>
                <a:ea typeface="+mj-ea"/>
              </a:rPr>
              <a:t>予算策定</a:t>
            </a:r>
          </a:p>
        </p:txBody>
      </p:sp>
      <p:sp>
        <p:nvSpPr>
          <p:cNvPr id="1052" name="テキスト ボックス 1051">
            <a:extLst>
              <a:ext uri="{FF2B5EF4-FFF2-40B4-BE49-F238E27FC236}">
                <a16:creationId xmlns:a16="http://schemas.microsoft.com/office/drawing/2014/main" id="{22A98D34-93D5-D5D0-1906-BC67E16F9993}"/>
              </a:ext>
            </a:extLst>
          </p:cNvPr>
          <p:cNvSpPr txBox="1"/>
          <p:nvPr/>
        </p:nvSpPr>
        <p:spPr>
          <a:xfrm>
            <a:off x="9323748" y="1409945"/>
            <a:ext cx="855821" cy="278200"/>
          </a:xfrm>
          <a:prstGeom prst="rect">
            <a:avLst/>
          </a:prstGeom>
          <a:solidFill>
            <a:schemeClr val="bg1"/>
          </a:solidFill>
        </p:spPr>
        <p:txBody>
          <a:bodyPr wrap="none" rtlCol="0">
            <a:noAutofit/>
          </a:bodyPr>
          <a:lstStyle/>
          <a:p>
            <a:pPr algn="ctr"/>
            <a:r>
              <a:rPr kumimoji="1" lang="ja-JP" altLang="en-US" sz="1100" dirty="0">
                <a:solidFill>
                  <a:schemeClr val="tx1">
                    <a:lumMod val="75000"/>
                    <a:lumOff val="25000"/>
                  </a:schemeClr>
                </a:solidFill>
                <a:latin typeface="+mj-ea"/>
                <a:ea typeface="+mj-ea"/>
              </a:rPr>
              <a:t>着地管理</a:t>
            </a:r>
          </a:p>
        </p:txBody>
      </p:sp>
      <p:sp>
        <p:nvSpPr>
          <p:cNvPr id="1053" name="テキスト ボックス 1052">
            <a:extLst>
              <a:ext uri="{FF2B5EF4-FFF2-40B4-BE49-F238E27FC236}">
                <a16:creationId xmlns:a16="http://schemas.microsoft.com/office/drawing/2014/main" id="{3857BC3E-7A9C-4532-2A45-7E35541B7F17}"/>
              </a:ext>
            </a:extLst>
          </p:cNvPr>
          <p:cNvSpPr txBox="1"/>
          <p:nvPr/>
        </p:nvSpPr>
        <p:spPr>
          <a:xfrm>
            <a:off x="3713021" y="2834208"/>
            <a:ext cx="714438" cy="278200"/>
          </a:xfrm>
          <a:prstGeom prst="rect">
            <a:avLst/>
          </a:prstGeom>
          <a:solidFill>
            <a:schemeClr val="bg1"/>
          </a:solidFill>
        </p:spPr>
        <p:txBody>
          <a:bodyPr wrap="none" rtlCol="0">
            <a:noAutofit/>
          </a:bodyPr>
          <a:lstStyle/>
          <a:p>
            <a:pPr algn="ctr"/>
            <a:r>
              <a:rPr kumimoji="1" lang="ja-JP" altLang="en-US" sz="1100" dirty="0">
                <a:solidFill>
                  <a:schemeClr val="tx1">
                    <a:lumMod val="75000"/>
                    <a:lumOff val="25000"/>
                  </a:schemeClr>
                </a:solidFill>
                <a:latin typeface="+mj-ea"/>
                <a:ea typeface="+mj-ea"/>
              </a:rPr>
              <a:t>引合</a:t>
            </a:r>
          </a:p>
        </p:txBody>
      </p:sp>
      <p:sp>
        <p:nvSpPr>
          <p:cNvPr id="1054" name="テキスト ボックス 1053">
            <a:extLst>
              <a:ext uri="{FF2B5EF4-FFF2-40B4-BE49-F238E27FC236}">
                <a16:creationId xmlns:a16="http://schemas.microsoft.com/office/drawing/2014/main" id="{98171828-6948-A120-2BC4-C148337078F0}"/>
              </a:ext>
            </a:extLst>
          </p:cNvPr>
          <p:cNvSpPr txBox="1"/>
          <p:nvPr/>
        </p:nvSpPr>
        <p:spPr>
          <a:xfrm>
            <a:off x="8624967" y="2834208"/>
            <a:ext cx="714438" cy="278200"/>
          </a:xfrm>
          <a:prstGeom prst="rect">
            <a:avLst/>
          </a:prstGeom>
          <a:solidFill>
            <a:schemeClr val="bg1"/>
          </a:solidFill>
        </p:spPr>
        <p:txBody>
          <a:bodyPr wrap="none" rtlCol="0">
            <a:noAutofit/>
          </a:bodyPr>
          <a:lstStyle/>
          <a:p>
            <a:pPr algn="ctr"/>
            <a:r>
              <a:rPr kumimoji="1" lang="ja-JP" altLang="en-US" sz="1100" dirty="0">
                <a:solidFill>
                  <a:schemeClr val="tx1">
                    <a:lumMod val="75000"/>
                    <a:lumOff val="25000"/>
                  </a:schemeClr>
                </a:solidFill>
                <a:latin typeface="+mj-ea"/>
                <a:ea typeface="+mj-ea"/>
              </a:rPr>
              <a:t>遂行</a:t>
            </a:r>
          </a:p>
        </p:txBody>
      </p:sp>
      <p:sp>
        <p:nvSpPr>
          <p:cNvPr id="1056" name="正方形/長方形 1055">
            <a:extLst>
              <a:ext uri="{FF2B5EF4-FFF2-40B4-BE49-F238E27FC236}">
                <a16:creationId xmlns:a16="http://schemas.microsoft.com/office/drawing/2014/main" id="{EF7B8613-C04A-82C4-190D-00099AB1805E}"/>
              </a:ext>
            </a:extLst>
          </p:cNvPr>
          <p:cNvSpPr/>
          <p:nvPr/>
        </p:nvSpPr>
        <p:spPr>
          <a:xfrm>
            <a:off x="6447477" y="3179592"/>
            <a:ext cx="291875" cy="649859"/>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受注</a:t>
            </a:r>
          </a:p>
        </p:txBody>
      </p:sp>
      <p:sp>
        <p:nvSpPr>
          <p:cNvPr id="1058" name="円柱 1057">
            <a:extLst>
              <a:ext uri="{FF2B5EF4-FFF2-40B4-BE49-F238E27FC236}">
                <a16:creationId xmlns:a16="http://schemas.microsoft.com/office/drawing/2014/main" id="{A12AB3CD-4D52-D85F-E025-06004AD4DB14}"/>
              </a:ext>
            </a:extLst>
          </p:cNvPr>
          <p:cNvSpPr/>
          <p:nvPr/>
        </p:nvSpPr>
        <p:spPr>
          <a:xfrm>
            <a:off x="1968098" y="4373047"/>
            <a:ext cx="4432187" cy="633905"/>
          </a:xfrm>
          <a:prstGeom prst="can">
            <a:avLst/>
          </a:prstGeom>
          <a:solidFill>
            <a:srgbClr val="FFF2CC"/>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200" dirty="0">
                <a:solidFill>
                  <a:schemeClr val="tx1"/>
                </a:solidFill>
              </a:rPr>
              <a:t>CRM</a:t>
            </a:r>
          </a:p>
          <a:p>
            <a:pPr algn="ctr"/>
            <a:r>
              <a:rPr lang="en-US" altLang="ja-JP" sz="1200" dirty="0">
                <a:solidFill>
                  <a:schemeClr val="tx1"/>
                </a:solidFill>
              </a:rPr>
              <a:t>Dynamics</a:t>
            </a:r>
            <a:endParaRPr kumimoji="1" lang="ja-JP" altLang="en-US" sz="1200" dirty="0">
              <a:solidFill>
                <a:schemeClr val="tx1"/>
              </a:solidFill>
            </a:endParaRPr>
          </a:p>
        </p:txBody>
      </p:sp>
      <p:sp>
        <p:nvSpPr>
          <p:cNvPr id="1061" name="円柱 1060">
            <a:extLst>
              <a:ext uri="{FF2B5EF4-FFF2-40B4-BE49-F238E27FC236}">
                <a16:creationId xmlns:a16="http://schemas.microsoft.com/office/drawing/2014/main" id="{BDC270C3-3811-230F-74A4-23727FC10542}"/>
              </a:ext>
            </a:extLst>
          </p:cNvPr>
          <p:cNvSpPr/>
          <p:nvPr/>
        </p:nvSpPr>
        <p:spPr>
          <a:xfrm>
            <a:off x="6555961" y="5066946"/>
            <a:ext cx="4856608" cy="630497"/>
          </a:xfrm>
          <a:prstGeom prst="can">
            <a:avLst/>
          </a:prstGeom>
          <a:solidFill>
            <a:srgbClr val="FFF2CC"/>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200" dirty="0">
                <a:solidFill>
                  <a:schemeClr val="tx1"/>
                </a:solidFill>
              </a:rPr>
              <a:t>TA</a:t>
            </a:r>
            <a:r>
              <a:rPr lang="ja-JP" altLang="en-US" sz="1200" dirty="0">
                <a:solidFill>
                  <a:schemeClr val="tx1"/>
                </a:solidFill>
              </a:rPr>
              <a:t>派遣管理</a:t>
            </a:r>
            <a:r>
              <a:rPr lang="en-US" altLang="ja-JP" sz="1200" dirty="0">
                <a:solidFill>
                  <a:schemeClr val="tx1"/>
                </a:solidFill>
              </a:rPr>
              <a:t>DB</a:t>
            </a:r>
            <a:endParaRPr kumimoji="1" lang="ja-JP" altLang="en-US" sz="1200" dirty="0">
              <a:solidFill>
                <a:schemeClr val="tx1"/>
              </a:solidFill>
            </a:endParaRPr>
          </a:p>
        </p:txBody>
      </p:sp>
      <p:sp>
        <p:nvSpPr>
          <p:cNvPr id="1062" name="円柱 1061">
            <a:extLst>
              <a:ext uri="{FF2B5EF4-FFF2-40B4-BE49-F238E27FC236}">
                <a16:creationId xmlns:a16="http://schemas.microsoft.com/office/drawing/2014/main" id="{BCC0EA60-1F4E-DC38-EFBD-F7EB8D251CBF}"/>
              </a:ext>
            </a:extLst>
          </p:cNvPr>
          <p:cNvSpPr/>
          <p:nvPr/>
        </p:nvSpPr>
        <p:spPr>
          <a:xfrm>
            <a:off x="4242414" y="5803401"/>
            <a:ext cx="2171726" cy="558742"/>
          </a:xfrm>
          <a:prstGeom prst="can">
            <a:avLst/>
          </a:prstGeom>
          <a:solidFill>
            <a:srgbClr val="FFF2CC"/>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200" dirty="0">
                <a:solidFill>
                  <a:schemeClr val="tx1"/>
                </a:solidFill>
              </a:rPr>
              <a:t>CATS</a:t>
            </a:r>
            <a:endParaRPr kumimoji="1" lang="ja-JP" altLang="en-US" sz="1200" dirty="0">
              <a:solidFill>
                <a:schemeClr val="tx1"/>
              </a:solidFill>
            </a:endParaRPr>
          </a:p>
        </p:txBody>
      </p:sp>
      <p:sp>
        <p:nvSpPr>
          <p:cNvPr id="1063" name="円柱 1062">
            <a:extLst>
              <a:ext uri="{FF2B5EF4-FFF2-40B4-BE49-F238E27FC236}">
                <a16:creationId xmlns:a16="http://schemas.microsoft.com/office/drawing/2014/main" id="{7026967F-C814-7A46-B770-42121505F70F}"/>
              </a:ext>
            </a:extLst>
          </p:cNvPr>
          <p:cNvSpPr/>
          <p:nvPr/>
        </p:nvSpPr>
        <p:spPr>
          <a:xfrm>
            <a:off x="6555961" y="5818699"/>
            <a:ext cx="3616336" cy="558742"/>
          </a:xfrm>
          <a:prstGeom prst="can">
            <a:avLst/>
          </a:prstGeom>
          <a:solidFill>
            <a:srgbClr val="FFF2CC"/>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工事命令書</a:t>
            </a:r>
            <a:endParaRPr kumimoji="1" lang="en-US" altLang="ja-JP" sz="1200" dirty="0">
              <a:solidFill>
                <a:schemeClr val="tx1"/>
              </a:solidFill>
            </a:endParaRPr>
          </a:p>
          <a:p>
            <a:pPr algn="ctr"/>
            <a:r>
              <a:rPr lang="en-US" altLang="ja-JP" sz="1200" dirty="0">
                <a:solidFill>
                  <a:schemeClr val="tx1"/>
                </a:solidFill>
              </a:rPr>
              <a:t>MBS</a:t>
            </a:r>
            <a:r>
              <a:rPr lang="ja-JP" altLang="en-US" sz="1200" dirty="0">
                <a:solidFill>
                  <a:schemeClr val="tx1"/>
                </a:solidFill>
              </a:rPr>
              <a:t>、</a:t>
            </a:r>
            <a:r>
              <a:rPr lang="en-US" altLang="ja-JP" sz="1200" dirty="0">
                <a:solidFill>
                  <a:schemeClr val="tx1"/>
                </a:solidFill>
              </a:rPr>
              <a:t>MC</a:t>
            </a:r>
            <a:r>
              <a:rPr lang="ja-JP" altLang="en-US" sz="1200" dirty="0">
                <a:solidFill>
                  <a:schemeClr val="tx1"/>
                </a:solidFill>
              </a:rPr>
              <a:t>、オーダ情報</a:t>
            </a:r>
            <a:endParaRPr kumimoji="1" lang="ja-JP" altLang="en-US" sz="1200" dirty="0">
              <a:solidFill>
                <a:schemeClr val="tx1"/>
              </a:solidFill>
            </a:endParaRPr>
          </a:p>
        </p:txBody>
      </p:sp>
      <p:sp>
        <p:nvSpPr>
          <p:cNvPr id="1064" name="円柱 1063">
            <a:extLst>
              <a:ext uri="{FF2B5EF4-FFF2-40B4-BE49-F238E27FC236}">
                <a16:creationId xmlns:a16="http://schemas.microsoft.com/office/drawing/2014/main" id="{79ECBCD6-FAF3-6441-780C-2CFDD8962C95}"/>
              </a:ext>
            </a:extLst>
          </p:cNvPr>
          <p:cNvSpPr/>
          <p:nvPr/>
        </p:nvSpPr>
        <p:spPr>
          <a:xfrm>
            <a:off x="1968067" y="5058104"/>
            <a:ext cx="4432187" cy="630497"/>
          </a:xfrm>
          <a:prstGeom prst="can">
            <a:avLst/>
          </a:prstGeom>
          <a:solidFill>
            <a:srgbClr val="FFF2CC"/>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各課台帳システム</a:t>
            </a:r>
          </a:p>
        </p:txBody>
      </p:sp>
      <p:sp>
        <p:nvSpPr>
          <p:cNvPr id="1065" name="テキスト ボックス 1064">
            <a:extLst>
              <a:ext uri="{FF2B5EF4-FFF2-40B4-BE49-F238E27FC236}">
                <a16:creationId xmlns:a16="http://schemas.microsoft.com/office/drawing/2014/main" id="{EA6BCC96-1E60-B874-010B-3E70EB36007D}"/>
              </a:ext>
            </a:extLst>
          </p:cNvPr>
          <p:cNvSpPr txBox="1"/>
          <p:nvPr/>
        </p:nvSpPr>
        <p:spPr>
          <a:xfrm>
            <a:off x="507075" y="5102166"/>
            <a:ext cx="1325318" cy="338554"/>
          </a:xfrm>
          <a:prstGeom prst="rect">
            <a:avLst/>
          </a:prstGeom>
          <a:noFill/>
        </p:spPr>
        <p:txBody>
          <a:bodyPr wrap="square" rtlCol="0">
            <a:spAutoFit/>
          </a:bodyPr>
          <a:lstStyle/>
          <a:p>
            <a:pPr algn="ctr"/>
            <a:r>
              <a:rPr kumimoji="1" lang="ja-JP" altLang="en-US" sz="1600" dirty="0">
                <a:solidFill>
                  <a:schemeClr val="tx1">
                    <a:lumMod val="75000"/>
                    <a:lumOff val="25000"/>
                  </a:schemeClr>
                </a:solidFill>
                <a:latin typeface="+mj-ea"/>
                <a:ea typeface="+mj-ea"/>
              </a:rPr>
              <a:t>関連システム</a:t>
            </a:r>
          </a:p>
        </p:txBody>
      </p:sp>
      <p:sp>
        <p:nvSpPr>
          <p:cNvPr id="1067" name="テキスト ボックス 1066">
            <a:extLst>
              <a:ext uri="{FF2B5EF4-FFF2-40B4-BE49-F238E27FC236}">
                <a16:creationId xmlns:a16="http://schemas.microsoft.com/office/drawing/2014/main" id="{42974448-1490-423E-486B-8108C5DACD89}"/>
              </a:ext>
            </a:extLst>
          </p:cNvPr>
          <p:cNvSpPr txBox="1"/>
          <p:nvPr/>
        </p:nvSpPr>
        <p:spPr>
          <a:xfrm>
            <a:off x="111395" y="5484615"/>
            <a:ext cx="1997567" cy="425655"/>
          </a:xfrm>
          <a:prstGeom prst="rect">
            <a:avLst/>
          </a:prstGeom>
          <a:noFill/>
        </p:spPr>
        <p:txBody>
          <a:bodyPr wrap="none" rtlCol="0">
            <a:noAutofit/>
          </a:bodyPr>
          <a:lstStyle/>
          <a:p>
            <a:r>
              <a:rPr lang="ja-JP" altLang="en-US" sz="1100" dirty="0">
                <a:solidFill>
                  <a:schemeClr val="tx1">
                    <a:lumMod val="75000"/>
                    <a:lumOff val="25000"/>
                  </a:schemeClr>
                </a:solidFill>
                <a:latin typeface="+mj-ea"/>
                <a:ea typeface="+mj-ea"/>
              </a:rPr>
              <a:t>その他、関連しそうな</a:t>
            </a:r>
            <a:endParaRPr lang="en-US" altLang="ja-JP" sz="1100" dirty="0">
              <a:solidFill>
                <a:schemeClr val="tx1">
                  <a:lumMod val="75000"/>
                  <a:lumOff val="25000"/>
                </a:schemeClr>
              </a:solidFill>
              <a:latin typeface="+mj-ea"/>
              <a:ea typeface="+mj-ea"/>
            </a:endParaRPr>
          </a:p>
          <a:p>
            <a:r>
              <a:rPr lang="ja-JP" altLang="en-US" sz="1100" dirty="0">
                <a:solidFill>
                  <a:schemeClr val="tx1">
                    <a:lumMod val="75000"/>
                    <a:lumOff val="25000"/>
                  </a:schemeClr>
                </a:solidFill>
                <a:latin typeface="+mj-ea"/>
                <a:ea typeface="+mj-ea"/>
              </a:rPr>
              <a:t>全社標準ツール：</a:t>
            </a:r>
            <a:endParaRPr lang="en-US" altLang="ja-JP" sz="1100" dirty="0">
              <a:solidFill>
                <a:schemeClr val="tx1">
                  <a:lumMod val="75000"/>
                  <a:lumOff val="25000"/>
                </a:schemeClr>
              </a:solidFill>
              <a:latin typeface="+mj-ea"/>
              <a:ea typeface="+mj-ea"/>
            </a:endParaRPr>
          </a:p>
          <a:p>
            <a:pPr marL="92075" indent="-92075">
              <a:buFont typeface="Arial" panose="020B0604020202020204" pitchFamily="34" charset="0"/>
              <a:buChar char="•"/>
            </a:pPr>
            <a:r>
              <a:rPr lang="ja-JP" altLang="en-US" sz="1100" dirty="0">
                <a:solidFill>
                  <a:schemeClr val="tx1">
                    <a:lumMod val="75000"/>
                    <a:lumOff val="25000"/>
                  </a:schemeClr>
                </a:solidFill>
                <a:latin typeface="+mj-ea"/>
                <a:ea typeface="+mj-ea"/>
              </a:rPr>
              <a:t>経営シミュレーションシステム</a:t>
            </a:r>
            <a:endParaRPr lang="en-US" altLang="ja-JP" sz="1100" dirty="0">
              <a:solidFill>
                <a:schemeClr val="tx1">
                  <a:lumMod val="75000"/>
                  <a:lumOff val="25000"/>
                </a:schemeClr>
              </a:solidFill>
              <a:latin typeface="+mj-ea"/>
              <a:ea typeface="+mj-ea"/>
            </a:endParaRPr>
          </a:p>
          <a:p>
            <a:pPr marL="92075" indent="-92075">
              <a:buFont typeface="Arial" panose="020B0604020202020204" pitchFamily="34" charset="0"/>
              <a:buChar char="•"/>
            </a:pPr>
            <a:r>
              <a:rPr kumimoji="1" lang="ja-JP" altLang="en-US" sz="1100" dirty="0">
                <a:solidFill>
                  <a:schemeClr val="tx1">
                    <a:lumMod val="75000"/>
                    <a:lumOff val="25000"/>
                  </a:schemeClr>
                </a:solidFill>
                <a:latin typeface="+mj-ea"/>
                <a:ea typeface="+mj-ea"/>
              </a:rPr>
              <a:t>需要予測システム</a:t>
            </a:r>
            <a:endParaRPr kumimoji="1" lang="en-US" altLang="ja-JP" sz="1100" dirty="0">
              <a:solidFill>
                <a:schemeClr val="tx1">
                  <a:lumMod val="75000"/>
                  <a:lumOff val="25000"/>
                </a:schemeClr>
              </a:solidFill>
              <a:latin typeface="+mj-ea"/>
              <a:ea typeface="+mj-ea"/>
            </a:endParaRPr>
          </a:p>
          <a:p>
            <a:pPr marL="92075" indent="-92075">
              <a:buFont typeface="Arial" panose="020B0604020202020204" pitchFamily="34" charset="0"/>
              <a:buChar char="•"/>
            </a:pPr>
            <a:r>
              <a:rPr kumimoji="1" lang="en-US" altLang="ja-JP" sz="1100" dirty="0">
                <a:solidFill>
                  <a:schemeClr val="tx1">
                    <a:lumMod val="75000"/>
                    <a:lumOff val="25000"/>
                  </a:schemeClr>
                </a:solidFill>
                <a:latin typeface="+mj-ea"/>
                <a:ea typeface="+mj-ea"/>
              </a:rPr>
              <a:t>KPI</a:t>
            </a:r>
            <a:r>
              <a:rPr kumimoji="1" lang="ja-JP" altLang="en-US" sz="1100" dirty="0">
                <a:solidFill>
                  <a:schemeClr val="tx1">
                    <a:lumMod val="75000"/>
                    <a:lumOff val="25000"/>
                  </a:schemeClr>
                </a:solidFill>
                <a:latin typeface="+mj-ea"/>
                <a:ea typeface="+mj-ea"/>
              </a:rPr>
              <a:t>マネジメントシステム</a:t>
            </a:r>
          </a:p>
        </p:txBody>
      </p:sp>
      <p:sp>
        <p:nvSpPr>
          <p:cNvPr id="1069" name="円柱 1068">
            <a:extLst>
              <a:ext uri="{FF2B5EF4-FFF2-40B4-BE49-F238E27FC236}">
                <a16:creationId xmlns:a16="http://schemas.microsoft.com/office/drawing/2014/main" id="{1056CCF2-C2AF-D1DE-0532-CD7A4949A98A}"/>
              </a:ext>
            </a:extLst>
          </p:cNvPr>
          <p:cNvSpPr/>
          <p:nvPr/>
        </p:nvSpPr>
        <p:spPr>
          <a:xfrm>
            <a:off x="3091774" y="5827309"/>
            <a:ext cx="981725" cy="558742"/>
          </a:xfrm>
          <a:prstGeom prst="can">
            <a:avLst/>
          </a:prstGeom>
          <a:solidFill>
            <a:srgbClr val="FFF2CC"/>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200" dirty="0">
                <a:solidFill>
                  <a:schemeClr val="tx1"/>
                </a:solidFill>
              </a:rPr>
              <a:t>Umbrella</a:t>
            </a:r>
            <a:endParaRPr kumimoji="1" lang="ja-JP" altLang="en-US" sz="1200" dirty="0">
              <a:solidFill>
                <a:schemeClr val="tx1"/>
              </a:solidFill>
            </a:endParaRPr>
          </a:p>
        </p:txBody>
      </p:sp>
      <p:sp>
        <p:nvSpPr>
          <p:cNvPr id="1070" name="円柱 1069">
            <a:extLst>
              <a:ext uri="{FF2B5EF4-FFF2-40B4-BE49-F238E27FC236}">
                <a16:creationId xmlns:a16="http://schemas.microsoft.com/office/drawing/2014/main" id="{BB085723-1A1B-73B3-5B59-FE2E16435FC5}"/>
              </a:ext>
            </a:extLst>
          </p:cNvPr>
          <p:cNvSpPr/>
          <p:nvPr/>
        </p:nvSpPr>
        <p:spPr>
          <a:xfrm>
            <a:off x="1969720" y="5818699"/>
            <a:ext cx="981725" cy="558742"/>
          </a:xfrm>
          <a:prstGeom prst="can">
            <a:avLst/>
          </a:prstGeom>
          <a:solidFill>
            <a:srgbClr val="FFF2CC"/>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コレポン</a:t>
            </a:r>
          </a:p>
        </p:txBody>
      </p:sp>
      <p:sp>
        <p:nvSpPr>
          <p:cNvPr id="1071" name="正方形/長方形 1070">
            <a:extLst>
              <a:ext uri="{FF2B5EF4-FFF2-40B4-BE49-F238E27FC236}">
                <a16:creationId xmlns:a16="http://schemas.microsoft.com/office/drawing/2014/main" id="{3EDB0C88-BEA4-01B8-6FAE-2CE828C09E28}"/>
              </a:ext>
            </a:extLst>
          </p:cNvPr>
          <p:cNvSpPr/>
          <p:nvPr/>
        </p:nvSpPr>
        <p:spPr>
          <a:xfrm rot="1721496">
            <a:off x="10445485" y="176099"/>
            <a:ext cx="2352621" cy="600211"/>
          </a:xfrm>
          <a:prstGeom prst="rect">
            <a:avLst/>
          </a:prstGeom>
          <a:solidFill>
            <a:schemeClr val="bg1"/>
          </a:solidFill>
          <a:ln w="3175">
            <a:solidFill>
              <a:srgbClr val="E426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600" dirty="0">
                <a:solidFill>
                  <a:schemeClr val="tx1"/>
                </a:solidFill>
              </a:rPr>
              <a:t>情報整理イメージ</a:t>
            </a:r>
          </a:p>
        </p:txBody>
      </p:sp>
      <p:sp>
        <p:nvSpPr>
          <p:cNvPr id="7" name="正方形/長方形 6">
            <a:extLst>
              <a:ext uri="{FF2B5EF4-FFF2-40B4-BE49-F238E27FC236}">
                <a16:creationId xmlns:a16="http://schemas.microsoft.com/office/drawing/2014/main" id="{30F7AD60-91C7-91B7-8D43-40048BD1C836}"/>
              </a:ext>
            </a:extLst>
          </p:cNvPr>
          <p:cNvSpPr/>
          <p:nvPr/>
        </p:nvSpPr>
        <p:spPr>
          <a:xfrm>
            <a:off x="7675808" y="4201720"/>
            <a:ext cx="2632649" cy="698691"/>
          </a:xfrm>
          <a:prstGeom prst="rect">
            <a:avLst/>
          </a:prstGeom>
          <a:solidFill>
            <a:schemeClr val="accent5">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l"/>
            <a:r>
              <a:rPr kumimoji="1" lang="ja-JP" altLang="en-US" sz="1200" dirty="0">
                <a:solidFill>
                  <a:schemeClr val="tx1"/>
                </a:solidFill>
              </a:rPr>
              <a:t>受注後のコスト管理、ブレが大きい</a:t>
            </a:r>
            <a:endParaRPr kumimoji="1" lang="en-US" altLang="ja-JP" sz="1200" dirty="0">
              <a:solidFill>
                <a:schemeClr val="tx1"/>
              </a:solidFill>
            </a:endParaRPr>
          </a:p>
          <a:p>
            <a:pPr algn="l"/>
            <a:r>
              <a:rPr lang="ja-JP" altLang="en-US" sz="1200" dirty="0">
                <a:solidFill>
                  <a:schemeClr val="tx1"/>
                </a:solidFill>
              </a:rPr>
              <a:t>→事業見込みに影響ある</a:t>
            </a:r>
            <a:endParaRPr kumimoji="1" lang="ja-JP" altLang="en-US" sz="1200" dirty="0">
              <a:solidFill>
                <a:schemeClr val="tx1"/>
              </a:solidFill>
            </a:endParaRPr>
          </a:p>
        </p:txBody>
      </p:sp>
      <p:sp>
        <p:nvSpPr>
          <p:cNvPr id="10" name="正方形/長方形 9">
            <a:extLst>
              <a:ext uri="{FF2B5EF4-FFF2-40B4-BE49-F238E27FC236}">
                <a16:creationId xmlns:a16="http://schemas.microsoft.com/office/drawing/2014/main" id="{D4E747A4-E9C5-026E-9CC8-41AAE2AEFDC9}"/>
              </a:ext>
            </a:extLst>
          </p:cNvPr>
          <p:cNvSpPr/>
          <p:nvPr/>
        </p:nvSpPr>
        <p:spPr>
          <a:xfrm>
            <a:off x="2070777" y="796909"/>
            <a:ext cx="2632649" cy="698691"/>
          </a:xfrm>
          <a:prstGeom prst="rect">
            <a:avLst/>
          </a:prstGeom>
          <a:solidFill>
            <a:schemeClr val="accent5">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l"/>
            <a:r>
              <a:rPr kumimoji="1" lang="ja-JP" altLang="en-US" sz="1200" dirty="0">
                <a:solidFill>
                  <a:schemeClr val="tx1"/>
                </a:solidFill>
              </a:rPr>
              <a:t>トップラインの精度 </a:t>
            </a:r>
            <a:r>
              <a:rPr kumimoji="1" lang="en-US" altLang="ja-JP" sz="1200" dirty="0">
                <a:solidFill>
                  <a:schemeClr val="tx1"/>
                </a:solidFill>
              </a:rPr>
              <a:t>vs </a:t>
            </a:r>
            <a:r>
              <a:rPr lang="ja-JP" altLang="en-US" sz="1200" dirty="0">
                <a:solidFill>
                  <a:schemeClr val="tx1"/>
                </a:solidFill>
              </a:rPr>
              <a:t>ボトムラインの精度</a:t>
            </a:r>
            <a:endParaRPr kumimoji="1" lang="ja-JP" altLang="en-US" sz="1200" dirty="0">
              <a:solidFill>
                <a:schemeClr val="tx1"/>
              </a:solidFill>
            </a:endParaRPr>
          </a:p>
        </p:txBody>
      </p:sp>
      <p:sp>
        <p:nvSpPr>
          <p:cNvPr id="17" name="正方形/長方形 16">
            <a:extLst>
              <a:ext uri="{FF2B5EF4-FFF2-40B4-BE49-F238E27FC236}">
                <a16:creationId xmlns:a16="http://schemas.microsoft.com/office/drawing/2014/main" id="{88097B7D-98E7-006A-43AA-450A3FE4176A}"/>
              </a:ext>
            </a:extLst>
          </p:cNvPr>
          <p:cNvSpPr/>
          <p:nvPr/>
        </p:nvSpPr>
        <p:spPr>
          <a:xfrm>
            <a:off x="4973055" y="3941283"/>
            <a:ext cx="2632649" cy="698691"/>
          </a:xfrm>
          <a:prstGeom prst="rect">
            <a:avLst/>
          </a:prstGeom>
          <a:solidFill>
            <a:schemeClr val="accent5">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l"/>
            <a:r>
              <a:rPr kumimoji="1" lang="ja-JP" altLang="en-US" sz="1200">
                <a:solidFill>
                  <a:schemeClr val="tx1"/>
                </a:solidFill>
              </a:rPr>
              <a:t>資材の分配</a:t>
            </a:r>
            <a:endParaRPr kumimoji="1" lang="ja-JP" altLang="en-US" sz="1200" dirty="0">
              <a:solidFill>
                <a:schemeClr val="tx1"/>
              </a:solidFill>
            </a:endParaRPr>
          </a:p>
        </p:txBody>
      </p:sp>
    </p:spTree>
    <p:extLst>
      <p:ext uri="{BB962C8B-B14F-4D97-AF65-F5344CB8AC3E}">
        <p14:creationId xmlns:p14="http://schemas.microsoft.com/office/powerpoint/2010/main" val="4197723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88BD1D-9CA3-5093-7530-BDD3CDDD01DB}"/>
              </a:ext>
            </a:extLst>
          </p:cNvPr>
          <p:cNvSpPr>
            <a:spLocks noGrp="1"/>
          </p:cNvSpPr>
          <p:nvPr>
            <p:ph type="title"/>
          </p:nvPr>
        </p:nvSpPr>
        <p:spPr/>
        <p:txBody>
          <a:bodyPr/>
          <a:lstStyle/>
          <a:p>
            <a:r>
              <a:rPr lang="ja-JP" altLang="en-US" dirty="0"/>
              <a:t>課題と仮説</a:t>
            </a:r>
          </a:p>
        </p:txBody>
      </p:sp>
      <p:cxnSp>
        <p:nvCxnSpPr>
          <p:cNvPr id="5" name="直線コネクタ 4">
            <a:extLst>
              <a:ext uri="{FF2B5EF4-FFF2-40B4-BE49-F238E27FC236}">
                <a16:creationId xmlns:a16="http://schemas.microsoft.com/office/drawing/2014/main" id="{7CB8EF5F-67FB-5268-F065-DAFE25F54A77}"/>
              </a:ext>
            </a:extLst>
          </p:cNvPr>
          <p:cNvCxnSpPr>
            <a:cxnSpLocks/>
          </p:cNvCxnSpPr>
          <p:nvPr/>
        </p:nvCxnSpPr>
        <p:spPr>
          <a:xfrm>
            <a:off x="359430" y="1336651"/>
            <a:ext cx="11039255" cy="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6E14A8B8-36D6-F0E7-AFFA-C5DF20A3B67D}"/>
              </a:ext>
            </a:extLst>
          </p:cNvPr>
          <p:cNvSpPr txBox="1"/>
          <p:nvPr/>
        </p:nvSpPr>
        <p:spPr>
          <a:xfrm>
            <a:off x="484690" y="866753"/>
            <a:ext cx="1325318" cy="369332"/>
          </a:xfrm>
          <a:prstGeom prst="rect">
            <a:avLst/>
          </a:prstGeom>
          <a:noFill/>
        </p:spPr>
        <p:txBody>
          <a:bodyPr wrap="square" rtlCol="0">
            <a:spAutoFit/>
          </a:bodyPr>
          <a:lstStyle/>
          <a:p>
            <a:pPr algn="ctr"/>
            <a:r>
              <a:rPr lang="ja-JP" altLang="en-US" dirty="0">
                <a:solidFill>
                  <a:schemeClr val="tx1">
                    <a:lumMod val="75000"/>
                    <a:lumOff val="25000"/>
                  </a:schemeClr>
                </a:solidFill>
                <a:latin typeface="+mj-ea"/>
                <a:ea typeface="+mj-ea"/>
              </a:rPr>
              <a:t>領域</a:t>
            </a:r>
            <a:endParaRPr kumimoji="1" lang="ja-JP" altLang="en-US" dirty="0">
              <a:solidFill>
                <a:schemeClr val="tx1">
                  <a:lumMod val="75000"/>
                  <a:lumOff val="25000"/>
                </a:schemeClr>
              </a:solidFill>
              <a:latin typeface="+mj-ea"/>
              <a:ea typeface="+mj-ea"/>
            </a:endParaRPr>
          </a:p>
        </p:txBody>
      </p:sp>
      <p:sp>
        <p:nvSpPr>
          <p:cNvPr id="21" name="テキスト ボックス 20">
            <a:extLst>
              <a:ext uri="{FF2B5EF4-FFF2-40B4-BE49-F238E27FC236}">
                <a16:creationId xmlns:a16="http://schemas.microsoft.com/office/drawing/2014/main" id="{55CB14C8-F4E4-37A5-68EC-82739F65F6C0}"/>
              </a:ext>
            </a:extLst>
          </p:cNvPr>
          <p:cNvSpPr txBox="1"/>
          <p:nvPr/>
        </p:nvSpPr>
        <p:spPr>
          <a:xfrm>
            <a:off x="5741452" y="901357"/>
            <a:ext cx="1325318" cy="369332"/>
          </a:xfrm>
          <a:prstGeom prst="rect">
            <a:avLst/>
          </a:prstGeom>
          <a:noFill/>
        </p:spPr>
        <p:txBody>
          <a:bodyPr wrap="square" rtlCol="0">
            <a:spAutoFit/>
          </a:bodyPr>
          <a:lstStyle/>
          <a:p>
            <a:pPr algn="ctr"/>
            <a:r>
              <a:rPr kumimoji="1" lang="ja-JP" altLang="en-US" dirty="0">
                <a:solidFill>
                  <a:schemeClr val="tx1">
                    <a:lumMod val="75000"/>
                    <a:lumOff val="25000"/>
                  </a:schemeClr>
                </a:solidFill>
                <a:latin typeface="+mj-ea"/>
                <a:ea typeface="+mj-ea"/>
              </a:rPr>
              <a:t>プロセス</a:t>
            </a:r>
          </a:p>
        </p:txBody>
      </p:sp>
      <p:sp>
        <p:nvSpPr>
          <p:cNvPr id="22" name="テキスト ボックス 21">
            <a:extLst>
              <a:ext uri="{FF2B5EF4-FFF2-40B4-BE49-F238E27FC236}">
                <a16:creationId xmlns:a16="http://schemas.microsoft.com/office/drawing/2014/main" id="{1A561C70-5274-31A9-581E-F638B504A956}"/>
              </a:ext>
            </a:extLst>
          </p:cNvPr>
          <p:cNvSpPr txBox="1"/>
          <p:nvPr/>
        </p:nvSpPr>
        <p:spPr>
          <a:xfrm>
            <a:off x="484690" y="1882792"/>
            <a:ext cx="1325318" cy="369332"/>
          </a:xfrm>
          <a:prstGeom prst="rect">
            <a:avLst/>
          </a:prstGeom>
          <a:noFill/>
        </p:spPr>
        <p:txBody>
          <a:bodyPr wrap="square" rtlCol="0">
            <a:spAutoFit/>
          </a:bodyPr>
          <a:lstStyle/>
          <a:p>
            <a:pPr algn="ctr"/>
            <a:r>
              <a:rPr kumimoji="1" lang="ja-JP" altLang="en-US" dirty="0">
                <a:solidFill>
                  <a:schemeClr val="tx1">
                    <a:lumMod val="75000"/>
                    <a:lumOff val="25000"/>
                  </a:schemeClr>
                </a:solidFill>
                <a:latin typeface="+mj-ea"/>
                <a:ea typeface="+mj-ea"/>
              </a:rPr>
              <a:t>事業計画</a:t>
            </a:r>
          </a:p>
        </p:txBody>
      </p:sp>
      <p:sp>
        <p:nvSpPr>
          <p:cNvPr id="3" name="矢印: 五方向 2">
            <a:extLst>
              <a:ext uri="{FF2B5EF4-FFF2-40B4-BE49-F238E27FC236}">
                <a16:creationId xmlns:a16="http://schemas.microsoft.com/office/drawing/2014/main" id="{E674ABE0-71D1-E082-0281-685DCCDD374E}"/>
              </a:ext>
            </a:extLst>
          </p:cNvPr>
          <p:cNvSpPr/>
          <p:nvPr/>
        </p:nvSpPr>
        <p:spPr>
          <a:xfrm>
            <a:off x="1968068" y="1754736"/>
            <a:ext cx="1490174" cy="669931"/>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kumimoji="1" lang="ja-JP" altLang="en-US" sz="1200" dirty="0">
                <a:solidFill>
                  <a:schemeClr val="tx1"/>
                </a:solidFill>
              </a:rPr>
              <a:t>顧客別</a:t>
            </a:r>
            <a:endParaRPr kumimoji="1" lang="en-US" altLang="ja-JP" sz="1200" dirty="0">
              <a:solidFill>
                <a:schemeClr val="tx1"/>
              </a:solidFill>
            </a:endParaRPr>
          </a:p>
          <a:p>
            <a:pPr algn="l"/>
            <a:r>
              <a:rPr lang="ja-JP" altLang="en-US" sz="1200" dirty="0">
                <a:solidFill>
                  <a:schemeClr val="tx1"/>
                </a:solidFill>
              </a:rPr>
              <a:t>予算案</a:t>
            </a:r>
            <a:endParaRPr kumimoji="1" lang="ja-JP" altLang="en-US" sz="1200" dirty="0">
              <a:solidFill>
                <a:schemeClr val="tx1"/>
              </a:solidFill>
            </a:endParaRPr>
          </a:p>
        </p:txBody>
      </p:sp>
      <p:sp>
        <p:nvSpPr>
          <p:cNvPr id="4" name="テキスト ボックス 3">
            <a:extLst>
              <a:ext uri="{FF2B5EF4-FFF2-40B4-BE49-F238E27FC236}">
                <a16:creationId xmlns:a16="http://schemas.microsoft.com/office/drawing/2014/main" id="{F32AFF13-57B2-EE15-0F31-B52B33E5C3A6}"/>
              </a:ext>
            </a:extLst>
          </p:cNvPr>
          <p:cNvSpPr txBox="1"/>
          <p:nvPr/>
        </p:nvSpPr>
        <p:spPr>
          <a:xfrm>
            <a:off x="1883542" y="2382245"/>
            <a:ext cx="607505" cy="425655"/>
          </a:xfrm>
          <a:prstGeom prst="rect">
            <a:avLst/>
          </a:prstGeom>
          <a:noFill/>
        </p:spPr>
        <p:txBody>
          <a:bodyPr wrap="none" rtlCol="0">
            <a:noAutofit/>
          </a:bodyPr>
          <a:lstStyle/>
          <a:p>
            <a:r>
              <a:rPr kumimoji="1" lang="ja-JP" altLang="en-US" sz="1100" dirty="0">
                <a:solidFill>
                  <a:schemeClr val="tx1">
                    <a:lumMod val="75000"/>
                    <a:lumOff val="25000"/>
                  </a:schemeClr>
                </a:solidFill>
                <a:latin typeface="+mj-ea"/>
                <a:ea typeface="+mj-ea"/>
              </a:rPr>
              <a:t>支社</a:t>
            </a:r>
          </a:p>
        </p:txBody>
      </p:sp>
      <p:sp>
        <p:nvSpPr>
          <p:cNvPr id="6" name="矢印: 五方向 5">
            <a:extLst>
              <a:ext uri="{FF2B5EF4-FFF2-40B4-BE49-F238E27FC236}">
                <a16:creationId xmlns:a16="http://schemas.microsoft.com/office/drawing/2014/main" id="{31001795-1AF0-5790-D788-98055BABE900}"/>
              </a:ext>
            </a:extLst>
          </p:cNvPr>
          <p:cNvSpPr/>
          <p:nvPr/>
        </p:nvSpPr>
        <p:spPr>
          <a:xfrm>
            <a:off x="3542769" y="1762834"/>
            <a:ext cx="1490174" cy="669931"/>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lang="ja-JP" altLang="en-US" sz="1200" dirty="0">
                <a:solidFill>
                  <a:schemeClr val="tx1"/>
                </a:solidFill>
              </a:rPr>
              <a:t>事業部予算案</a:t>
            </a:r>
            <a:endParaRPr kumimoji="1" lang="ja-JP" altLang="en-US" sz="1200" dirty="0">
              <a:solidFill>
                <a:schemeClr val="tx1"/>
              </a:solidFill>
            </a:endParaRPr>
          </a:p>
        </p:txBody>
      </p:sp>
      <p:sp>
        <p:nvSpPr>
          <p:cNvPr id="8" name="テキスト ボックス 7">
            <a:extLst>
              <a:ext uri="{FF2B5EF4-FFF2-40B4-BE49-F238E27FC236}">
                <a16:creationId xmlns:a16="http://schemas.microsoft.com/office/drawing/2014/main" id="{B5F76347-C8CC-1629-7E11-DA1FFA20ED0F}"/>
              </a:ext>
            </a:extLst>
          </p:cNvPr>
          <p:cNvSpPr txBox="1"/>
          <p:nvPr/>
        </p:nvSpPr>
        <p:spPr>
          <a:xfrm>
            <a:off x="3458243" y="2390343"/>
            <a:ext cx="607505" cy="425655"/>
          </a:xfrm>
          <a:prstGeom prst="rect">
            <a:avLst/>
          </a:prstGeom>
          <a:noFill/>
        </p:spPr>
        <p:txBody>
          <a:bodyPr wrap="none" rtlCol="0">
            <a:noAutofit/>
          </a:bodyPr>
          <a:lstStyle/>
          <a:p>
            <a:r>
              <a:rPr kumimoji="1" lang="ja-JP" altLang="en-US" sz="1100" dirty="0">
                <a:solidFill>
                  <a:schemeClr val="tx1">
                    <a:lumMod val="75000"/>
                    <a:lumOff val="25000"/>
                  </a:schemeClr>
                </a:solidFill>
                <a:latin typeface="+mj-ea"/>
                <a:ea typeface="+mj-ea"/>
              </a:rPr>
              <a:t>営業</a:t>
            </a:r>
          </a:p>
        </p:txBody>
      </p:sp>
      <p:sp>
        <p:nvSpPr>
          <p:cNvPr id="9" name="矢印: 五方向 8">
            <a:extLst>
              <a:ext uri="{FF2B5EF4-FFF2-40B4-BE49-F238E27FC236}">
                <a16:creationId xmlns:a16="http://schemas.microsoft.com/office/drawing/2014/main" id="{22A6117B-7C72-8C81-1C1D-56380EACED14}"/>
              </a:ext>
            </a:extLst>
          </p:cNvPr>
          <p:cNvSpPr/>
          <p:nvPr/>
        </p:nvSpPr>
        <p:spPr>
          <a:xfrm>
            <a:off x="5042312" y="1755781"/>
            <a:ext cx="1490174" cy="669931"/>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lang="ja-JP" altLang="en-US" sz="1200" dirty="0">
                <a:solidFill>
                  <a:schemeClr val="tx1"/>
                </a:solidFill>
              </a:rPr>
              <a:t>事業計画取り纏め・</a:t>
            </a:r>
            <a:endParaRPr lang="en-US" altLang="ja-JP" sz="1200" dirty="0">
              <a:solidFill>
                <a:schemeClr val="tx1"/>
              </a:solidFill>
            </a:endParaRPr>
          </a:p>
          <a:p>
            <a:pPr algn="l"/>
            <a:r>
              <a:rPr lang="ja-JP" altLang="en-US" sz="1200" dirty="0">
                <a:solidFill>
                  <a:schemeClr val="tx1"/>
                </a:solidFill>
              </a:rPr>
              <a:t>上申</a:t>
            </a:r>
            <a:endParaRPr lang="en-US" altLang="ja-JP" sz="1200" dirty="0">
              <a:solidFill>
                <a:schemeClr val="tx1"/>
              </a:solidFill>
            </a:endParaRPr>
          </a:p>
        </p:txBody>
      </p:sp>
      <p:sp>
        <p:nvSpPr>
          <p:cNvPr id="11" name="テキスト ボックス 10">
            <a:extLst>
              <a:ext uri="{FF2B5EF4-FFF2-40B4-BE49-F238E27FC236}">
                <a16:creationId xmlns:a16="http://schemas.microsoft.com/office/drawing/2014/main" id="{2A72C535-F7FC-7CE6-188B-811D3366DC2A}"/>
              </a:ext>
            </a:extLst>
          </p:cNvPr>
          <p:cNvSpPr txBox="1"/>
          <p:nvPr/>
        </p:nvSpPr>
        <p:spPr>
          <a:xfrm>
            <a:off x="4957786" y="2383290"/>
            <a:ext cx="607505" cy="425655"/>
          </a:xfrm>
          <a:prstGeom prst="rect">
            <a:avLst/>
          </a:prstGeom>
          <a:noFill/>
        </p:spPr>
        <p:txBody>
          <a:bodyPr wrap="none" rtlCol="0">
            <a:noAutofit/>
          </a:bodyPr>
          <a:lstStyle/>
          <a:p>
            <a:r>
              <a:rPr kumimoji="1" lang="ja-JP" altLang="en-US" sz="1100" dirty="0">
                <a:solidFill>
                  <a:schemeClr val="tx1">
                    <a:lumMod val="75000"/>
                    <a:lumOff val="25000"/>
                  </a:schemeClr>
                </a:solidFill>
                <a:latin typeface="+mj-ea"/>
                <a:ea typeface="+mj-ea"/>
              </a:rPr>
              <a:t>事戦</a:t>
            </a:r>
          </a:p>
        </p:txBody>
      </p:sp>
      <p:sp>
        <p:nvSpPr>
          <p:cNvPr id="12" name="矢印: 五方向 11">
            <a:extLst>
              <a:ext uri="{FF2B5EF4-FFF2-40B4-BE49-F238E27FC236}">
                <a16:creationId xmlns:a16="http://schemas.microsoft.com/office/drawing/2014/main" id="{EB152CF3-9DB4-BB5F-42A2-88F749E68450}"/>
              </a:ext>
            </a:extLst>
          </p:cNvPr>
          <p:cNvSpPr/>
          <p:nvPr/>
        </p:nvSpPr>
        <p:spPr>
          <a:xfrm>
            <a:off x="6626601" y="1761438"/>
            <a:ext cx="1490174" cy="669931"/>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lang="ja-JP" altLang="en-US" sz="1200" dirty="0">
                <a:solidFill>
                  <a:schemeClr val="tx1"/>
                </a:solidFill>
              </a:rPr>
              <a:t>要員山積</a:t>
            </a:r>
            <a:endParaRPr lang="en-US" altLang="ja-JP" sz="1200" dirty="0">
              <a:solidFill>
                <a:schemeClr val="tx1"/>
              </a:solidFill>
            </a:endParaRPr>
          </a:p>
          <a:p>
            <a:pPr algn="l"/>
            <a:r>
              <a:rPr lang="ja-JP" altLang="en-US" sz="1200" dirty="0">
                <a:solidFill>
                  <a:schemeClr val="tx1"/>
                </a:solidFill>
              </a:rPr>
              <a:t>リソース計画</a:t>
            </a:r>
            <a:endParaRPr lang="en-US" altLang="ja-JP" sz="1200" dirty="0">
              <a:solidFill>
                <a:schemeClr val="tx1"/>
              </a:solidFill>
            </a:endParaRPr>
          </a:p>
        </p:txBody>
      </p:sp>
      <p:sp>
        <p:nvSpPr>
          <p:cNvPr id="15" name="テキスト ボックス 14">
            <a:extLst>
              <a:ext uri="{FF2B5EF4-FFF2-40B4-BE49-F238E27FC236}">
                <a16:creationId xmlns:a16="http://schemas.microsoft.com/office/drawing/2014/main" id="{A4080B74-5353-1D2A-AEDC-D484819EDCDF}"/>
              </a:ext>
            </a:extLst>
          </p:cNvPr>
          <p:cNvSpPr txBox="1"/>
          <p:nvPr/>
        </p:nvSpPr>
        <p:spPr>
          <a:xfrm>
            <a:off x="6542075" y="2388947"/>
            <a:ext cx="607505" cy="425655"/>
          </a:xfrm>
          <a:prstGeom prst="rect">
            <a:avLst/>
          </a:prstGeom>
          <a:noFill/>
        </p:spPr>
        <p:txBody>
          <a:bodyPr wrap="none" rtlCol="0">
            <a:noAutofit/>
          </a:bodyPr>
          <a:lstStyle/>
          <a:p>
            <a:r>
              <a:rPr lang="ja-JP" altLang="en-US" sz="1100" dirty="0">
                <a:solidFill>
                  <a:schemeClr val="tx1">
                    <a:lumMod val="75000"/>
                    <a:lumOff val="25000"/>
                  </a:schemeClr>
                </a:solidFill>
                <a:latin typeface="+mj-ea"/>
                <a:ea typeface="+mj-ea"/>
              </a:rPr>
              <a:t>製造・技術・建設</a:t>
            </a:r>
            <a:endParaRPr kumimoji="1" lang="ja-JP" altLang="en-US" sz="1100" dirty="0">
              <a:solidFill>
                <a:schemeClr val="tx1">
                  <a:lumMod val="75000"/>
                  <a:lumOff val="25000"/>
                </a:schemeClr>
              </a:solidFill>
              <a:latin typeface="+mj-ea"/>
              <a:ea typeface="+mj-ea"/>
            </a:endParaRPr>
          </a:p>
        </p:txBody>
      </p:sp>
      <p:sp>
        <p:nvSpPr>
          <p:cNvPr id="16" name="矢印: 五方向 15">
            <a:extLst>
              <a:ext uri="{FF2B5EF4-FFF2-40B4-BE49-F238E27FC236}">
                <a16:creationId xmlns:a16="http://schemas.microsoft.com/office/drawing/2014/main" id="{EB86AB04-95C5-766E-13C4-3A27787B63B7}"/>
              </a:ext>
            </a:extLst>
          </p:cNvPr>
          <p:cNvSpPr/>
          <p:nvPr/>
        </p:nvSpPr>
        <p:spPr>
          <a:xfrm>
            <a:off x="8155657" y="1754407"/>
            <a:ext cx="1490169" cy="669931"/>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lang="ja-JP" altLang="en-US" sz="1200" dirty="0">
                <a:solidFill>
                  <a:schemeClr val="tx1"/>
                </a:solidFill>
              </a:rPr>
              <a:t>実績</a:t>
            </a:r>
            <a:endParaRPr lang="en-US" altLang="ja-JP" sz="1200" dirty="0">
              <a:solidFill>
                <a:schemeClr val="tx1"/>
              </a:solidFill>
            </a:endParaRPr>
          </a:p>
          <a:p>
            <a:pPr algn="l"/>
            <a:r>
              <a:rPr lang="ja-JP" altLang="en-US" sz="1200" dirty="0">
                <a:solidFill>
                  <a:schemeClr val="tx1"/>
                </a:solidFill>
              </a:rPr>
              <a:t>取り纏め</a:t>
            </a:r>
            <a:endParaRPr lang="en-US" altLang="ja-JP" sz="1200" dirty="0">
              <a:solidFill>
                <a:schemeClr val="tx1"/>
              </a:solidFill>
            </a:endParaRPr>
          </a:p>
        </p:txBody>
      </p:sp>
      <p:sp>
        <p:nvSpPr>
          <p:cNvPr id="50" name="矢印: 五方向 49">
            <a:extLst>
              <a:ext uri="{FF2B5EF4-FFF2-40B4-BE49-F238E27FC236}">
                <a16:creationId xmlns:a16="http://schemas.microsoft.com/office/drawing/2014/main" id="{E7F018F9-8FF5-E925-3E87-41A260F96DDC}"/>
              </a:ext>
            </a:extLst>
          </p:cNvPr>
          <p:cNvSpPr/>
          <p:nvPr/>
        </p:nvSpPr>
        <p:spPr>
          <a:xfrm>
            <a:off x="1968068" y="3192350"/>
            <a:ext cx="1052222" cy="623243"/>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lang="ja-JP" altLang="en-US" sz="1200" dirty="0">
                <a:solidFill>
                  <a:schemeClr val="tx1"/>
                </a:solidFill>
              </a:rPr>
              <a:t>計画</a:t>
            </a:r>
            <a:endParaRPr kumimoji="1" lang="ja-JP" altLang="en-US" sz="1200" dirty="0">
              <a:solidFill>
                <a:schemeClr val="tx1"/>
              </a:solidFill>
            </a:endParaRPr>
          </a:p>
        </p:txBody>
      </p:sp>
      <p:sp>
        <p:nvSpPr>
          <p:cNvPr id="51" name="テキスト ボックス 50">
            <a:extLst>
              <a:ext uri="{FF2B5EF4-FFF2-40B4-BE49-F238E27FC236}">
                <a16:creationId xmlns:a16="http://schemas.microsoft.com/office/drawing/2014/main" id="{8B544C1F-FBDF-2C77-D356-668A9CCF823B}"/>
              </a:ext>
            </a:extLst>
          </p:cNvPr>
          <p:cNvSpPr txBox="1"/>
          <p:nvPr/>
        </p:nvSpPr>
        <p:spPr>
          <a:xfrm>
            <a:off x="1883542" y="3850937"/>
            <a:ext cx="607505" cy="425655"/>
          </a:xfrm>
          <a:prstGeom prst="rect">
            <a:avLst/>
          </a:prstGeom>
          <a:noFill/>
        </p:spPr>
        <p:txBody>
          <a:bodyPr wrap="none" rtlCol="0">
            <a:noAutofit/>
          </a:bodyPr>
          <a:lstStyle/>
          <a:p>
            <a:r>
              <a:rPr kumimoji="1" lang="ja-JP" altLang="en-US" sz="1100" dirty="0">
                <a:solidFill>
                  <a:schemeClr val="tx1">
                    <a:lumMod val="75000"/>
                    <a:lumOff val="25000"/>
                  </a:schemeClr>
                </a:solidFill>
                <a:latin typeface="+mj-ea"/>
                <a:ea typeface="+mj-ea"/>
              </a:rPr>
              <a:t>営業</a:t>
            </a:r>
          </a:p>
        </p:txBody>
      </p:sp>
      <p:sp>
        <p:nvSpPr>
          <p:cNvPr id="52" name="矢印: 五方向 51">
            <a:extLst>
              <a:ext uri="{FF2B5EF4-FFF2-40B4-BE49-F238E27FC236}">
                <a16:creationId xmlns:a16="http://schemas.microsoft.com/office/drawing/2014/main" id="{950A5436-23CF-A9E7-53B1-B316A36F55A8}"/>
              </a:ext>
            </a:extLst>
          </p:cNvPr>
          <p:cNvSpPr/>
          <p:nvPr/>
        </p:nvSpPr>
        <p:spPr>
          <a:xfrm>
            <a:off x="3140906" y="3193453"/>
            <a:ext cx="1052222" cy="623243"/>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lang="ja-JP" altLang="en-US" sz="1200" dirty="0">
                <a:solidFill>
                  <a:schemeClr val="tx1"/>
                </a:solidFill>
              </a:rPr>
              <a:t>案件</a:t>
            </a:r>
            <a:endParaRPr lang="en-US" altLang="ja-JP" sz="1200" dirty="0">
              <a:solidFill>
                <a:schemeClr val="tx1"/>
              </a:solidFill>
            </a:endParaRPr>
          </a:p>
          <a:p>
            <a:pPr algn="l"/>
            <a:r>
              <a:rPr lang="ja-JP" altLang="en-US" sz="1200" dirty="0">
                <a:solidFill>
                  <a:schemeClr val="tx1"/>
                </a:solidFill>
              </a:rPr>
              <a:t>管理</a:t>
            </a:r>
            <a:endParaRPr kumimoji="1" lang="ja-JP" altLang="en-US" sz="1200" dirty="0">
              <a:solidFill>
                <a:schemeClr val="tx1"/>
              </a:solidFill>
            </a:endParaRPr>
          </a:p>
        </p:txBody>
      </p:sp>
      <p:sp>
        <p:nvSpPr>
          <p:cNvPr id="53" name="テキスト ボックス 52">
            <a:extLst>
              <a:ext uri="{FF2B5EF4-FFF2-40B4-BE49-F238E27FC236}">
                <a16:creationId xmlns:a16="http://schemas.microsoft.com/office/drawing/2014/main" id="{C1CADE4F-C46B-A4D2-412F-344F45662602}"/>
              </a:ext>
            </a:extLst>
          </p:cNvPr>
          <p:cNvSpPr txBox="1"/>
          <p:nvPr/>
        </p:nvSpPr>
        <p:spPr>
          <a:xfrm>
            <a:off x="3058444" y="3854239"/>
            <a:ext cx="607505" cy="425655"/>
          </a:xfrm>
          <a:prstGeom prst="rect">
            <a:avLst/>
          </a:prstGeom>
          <a:noFill/>
        </p:spPr>
        <p:txBody>
          <a:bodyPr wrap="none" rtlCol="0">
            <a:noAutofit/>
          </a:bodyPr>
          <a:lstStyle/>
          <a:p>
            <a:r>
              <a:rPr kumimoji="1" lang="ja-JP" altLang="en-US" sz="1100" dirty="0">
                <a:solidFill>
                  <a:schemeClr val="tx1">
                    <a:lumMod val="75000"/>
                    <a:lumOff val="25000"/>
                  </a:schemeClr>
                </a:solidFill>
                <a:latin typeface="+mj-ea"/>
                <a:ea typeface="+mj-ea"/>
              </a:rPr>
              <a:t>営業／事戦</a:t>
            </a:r>
          </a:p>
        </p:txBody>
      </p:sp>
      <p:sp>
        <p:nvSpPr>
          <p:cNvPr id="54" name="矢印: 五方向 53">
            <a:extLst>
              <a:ext uri="{FF2B5EF4-FFF2-40B4-BE49-F238E27FC236}">
                <a16:creationId xmlns:a16="http://schemas.microsoft.com/office/drawing/2014/main" id="{C8C52DAF-3004-FB21-D871-20FDEC4C4982}"/>
              </a:ext>
            </a:extLst>
          </p:cNvPr>
          <p:cNvSpPr/>
          <p:nvPr/>
        </p:nvSpPr>
        <p:spPr>
          <a:xfrm>
            <a:off x="4242414" y="3186286"/>
            <a:ext cx="1052222" cy="623243"/>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kumimoji="1" lang="ja-JP" altLang="en-US" sz="1200" dirty="0">
                <a:solidFill>
                  <a:schemeClr val="tx1"/>
                </a:solidFill>
              </a:rPr>
              <a:t>引合・</a:t>
            </a:r>
            <a:endParaRPr kumimoji="1" lang="en-US" altLang="ja-JP" sz="1200" dirty="0">
              <a:solidFill>
                <a:schemeClr val="tx1"/>
              </a:solidFill>
            </a:endParaRPr>
          </a:p>
          <a:p>
            <a:pPr algn="l"/>
            <a:r>
              <a:rPr lang="ja-JP" altLang="en-US" sz="1200" dirty="0">
                <a:solidFill>
                  <a:schemeClr val="tx1"/>
                </a:solidFill>
              </a:rPr>
              <a:t>見積</a:t>
            </a:r>
            <a:endParaRPr kumimoji="1" lang="en-US" altLang="ja-JP" sz="1200" dirty="0">
              <a:solidFill>
                <a:schemeClr val="tx1"/>
              </a:solidFill>
            </a:endParaRPr>
          </a:p>
        </p:txBody>
      </p:sp>
      <p:sp>
        <p:nvSpPr>
          <p:cNvPr id="55" name="テキスト ボックス 54">
            <a:extLst>
              <a:ext uri="{FF2B5EF4-FFF2-40B4-BE49-F238E27FC236}">
                <a16:creationId xmlns:a16="http://schemas.microsoft.com/office/drawing/2014/main" id="{90DE376F-DCA0-18C9-BF9F-A63FF6BED363}"/>
              </a:ext>
            </a:extLst>
          </p:cNvPr>
          <p:cNvSpPr txBox="1"/>
          <p:nvPr/>
        </p:nvSpPr>
        <p:spPr>
          <a:xfrm>
            <a:off x="4157888" y="3844873"/>
            <a:ext cx="607505" cy="425655"/>
          </a:xfrm>
          <a:prstGeom prst="rect">
            <a:avLst/>
          </a:prstGeom>
          <a:noFill/>
        </p:spPr>
        <p:txBody>
          <a:bodyPr wrap="none" rtlCol="0">
            <a:noAutofit/>
          </a:bodyPr>
          <a:lstStyle/>
          <a:p>
            <a:r>
              <a:rPr kumimoji="1" lang="ja-JP" altLang="en-US" sz="1100" dirty="0">
                <a:solidFill>
                  <a:schemeClr val="tx1">
                    <a:lumMod val="75000"/>
                    <a:lumOff val="25000"/>
                  </a:schemeClr>
                </a:solidFill>
                <a:latin typeface="+mj-ea"/>
                <a:ea typeface="+mj-ea"/>
              </a:rPr>
              <a:t>営業</a:t>
            </a:r>
          </a:p>
        </p:txBody>
      </p:sp>
      <p:sp>
        <p:nvSpPr>
          <p:cNvPr id="56" name="矢印: 五方向 55">
            <a:extLst>
              <a:ext uri="{FF2B5EF4-FFF2-40B4-BE49-F238E27FC236}">
                <a16:creationId xmlns:a16="http://schemas.microsoft.com/office/drawing/2014/main" id="{0B9C9A96-3974-6CD6-B8E3-EE2CA3D41127}"/>
              </a:ext>
            </a:extLst>
          </p:cNvPr>
          <p:cNvSpPr/>
          <p:nvPr/>
        </p:nvSpPr>
        <p:spPr>
          <a:xfrm>
            <a:off x="5348033" y="3190289"/>
            <a:ext cx="1052222" cy="623243"/>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kumimoji="1" lang="ja-JP" altLang="en-US" sz="1200" dirty="0">
                <a:solidFill>
                  <a:schemeClr val="tx1"/>
                </a:solidFill>
              </a:rPr>
              <a:t>提案・</a:t>
            </a:r>
            <a:endParaRPr kumimoji="1" lang="en-US" altLang="ja-JP" sz="1200" dirty="0">
              <a:solidFill>
                <a:schemeClr val="tx1"/>
              </a:solidFill>
            </a:endParaRPr>
          </a:p>
          <a:p>
            <a:pPr algn="l"/>
            <a:r>
              <a:rPr lang="ja-JP" altLang="en-US" sz="1200" dirty="0">
                <a:solidFill>
                  <a:schemeClr val="tx1"/>
                </a:solidFill>
              </a:rPr>
              <a:t>商談</a:t>
            </a:r>
            <a:endParaRPr kumimoji="1" lang="en-US" altLang="ja-JP" sz="1200" dirty="0">
              <a:solidFill>
                <a:schemeClr val="tx1"/>
              </a:solidFill>
            </a:endParaRPr>
          </a:p>
        </p:txBody>
      </p:sp>
      <p:sp>
        <p:nvSpPr>
          <p:cNvPr id="57" name="テキスト ボックス 56">
            <a:extLst>
              <a:ext uri="{FF2B5EF4-FFF2-40B4-BE49-F238E27FC236}">
                <a16:creationId xmlns:a16="http://schemas.microsoft.com/office/drawing/2014/main" id="{2B880D7F-6E4F-AD16-AA7A-AD38F729099A}"/>
              </a:ext>
            </a:extLst>
          </p:cNvPr>
          <p:cNvSpPr txBox="1"/>
          <p:nvPr/>
        </p:nvSpPr>
        <p:spPr>
          <a:xfrm>
            <a:off x="5263507" y="3848876"/>
            <a:ext cx="607505" cy="425655"/>
          </a:xfrm>
          <a:prstGeom prst="rect">
            <a:avLst/>
          </a:prstGeom>
          <a:noFill/>
        </p:spPr>
        <p:txBody>
          <a:bodyPr wrap="none" rtlCol="0">
            <a:noAutofit/>
          </a:bodyPr>
          <a:lstStyle/>
          <a:p>
            <a:r>
              <a:rPr lang="ja-JP" altLang="en-US" sz="1100" dirty="0">
                <a:solidFill>
                  <a:schemeClr val="tx1">
                    <a:lumMod val="75000"/>
                    <a:lumOff val="25000"/>
                  </a:schemeClr>
                </a:solidFill>
                <a:latin typeface="+mj-ea"/>
                <a:ea typeface="+mj-ea"/>
              </a:rPr>
              <a:t>支社・営業</a:t>
            </a:r>
            <a:endParaRPr kumimoji="1" lang="ja-JP" altLang="en-US" sz="1100" dirty="0">
              <a:solidFill>
                <a:schemeClr val="tx1">
                  <a:lumMod val="75000"/>
                  <a:lumOff val="25000"/>
                </a:schemeClr>
              </a:solidFill>
              <a:latin typeface="+mj-ea"/>
              <a:ea typeface="+mj-ea"/>
            </a:endParaRPr>
          </a:p>
        </p:txBody>
      </p:sp>
      <p:sp>
        <p:nvSpPr>
          <p:cNvPr id="58" name="矢印: 五方向 57">
            <a:extLst>
              <a:ext uri="{FF2B5EF4-FFF2-40B4-BE49-F238E27FC236}">
                <a16:creationId xmlns:a16="http://schemas.microsoft.com/office/drawing/2014/main" id="{90804AAA-FE4B-D740-AB7E-0DE9C4C40C7C}"/>
              </a:ext>
            </a:extLst>
          </p:cNvPr>
          <p:cNvSpPr/>
          <p:nvPr/>
        </p:nvSpPr>
        <p:spPr>
          <a:xfrm>
            <a:off x="6899062" y="3187044"/>
            <a:ext cx="1052222" cy="642409"/>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kumimoji="1" lang="ja-JP" altLang="en-US" sz="1200" dirty="0">
                <a:solidFill>
                  <a:schemeClr val="tx1"/>
                </a:solidFill>
              </a:rPr>
              <a:t>調達・</a:t>
            </a:r>
            <a:endParaRPr kumimoji="1" lang="en-US" altLang="ja-JP" sz="1200" dirty="0">
              <a:solidFill>
                <a:schemeClr val="tx1"/>
              </a:solidFill>
            </a:endParaRPr>
          </a:p>
          <a:p>
            <a:pPr algn="l"/>
            <a:r>
              <a:rPr lang="ja-JP" altLang="en-US" sz="1200" dirty="0">
                <a:solidFill>
                  <a:schemeClr val="tx1"/>
                </a:solidFill>
              </a:rPr>
              <a:t>設計</a:t>
            </a:r>
            <a:endParaRPr kumimoji="1" lang="ja-JP" altLang="en-US" sz="1200" dirty="0">
              <a:solidFill>
                <a:schemeClr val="tx1"/>
              </a:solidFill>
            </a:endParaRPr>
          </a:p>
        </p:txBody>
      </p:sp>
      <p:sp>
        <p:nvSpPr>
          <p:cNvPr id="59" name="テキスト ボックス 58">
            <a:extLst>
              <a:ext uri="{FF2B5EF4-FFF2-40B4-BE49-F238E27FC236}">
                <a16:creationId xmlns:a16="http://schemas.microsoft.com/office/drawing/2014/main" id="{27F65ED9-31B3-12F7-2A9E-9048F1F2C564}"/>
              </a:ext>
            </a:extLst>
          </p:cNvPr>
          <p:cNvSpPr txBox="1"/>
          <p:nvPr/>
        </p:nvSpPr>
        <p:spPr>
          <a:xfrm>
            <a:off x="6840200" y="3854240"/>
            <a:ext cx="607505" cy="425655"/>
          </a:xfrm>
          <a:prstGeom prst="rect">
            <a:avLst/>
          </a:prstGeom>
          <a:noFill/>
        </p:spPr>
        <p:txBody>
          <a:bodyPr wrap="none" rtlCol="0">
            <a:noAutofit/>
          </a:bodyPr>
          <a:lstStyle/>
          <a:p>
            <a:r>
              <a:rPr kumimoji="1" lang="ja-JP" altLang="en-US" sz="1100" dirty="0">
                <a:solidFill>
                  <a:schemeClr val="tx1">
                    <a:lumMod val="75000"/>
                    <a:lumOff val="25000"/>
                  </a:schemeClr>
                </a:solidFill>
                <a:latin typeface="+mj-ea"/>
                <a:ea typeface="+mj-ea"/>
              </a:rPr>
              <a:t>調達・</a:t>
            </a:r>
            <a:r>
              <a:rPr lang="ja-JP" altLang="en-US" sz="1100" dirty="0">
                <a:solidFill>
                  <a:schemeClr val="tx1">
                    <a:lumMod val="75000"/>
                    <a:lumOff val="25000"/>
                  </a:schemeClr>
                </a:solidFill>
                <a:latin typeface="+mj-ea"/>
                <a:ea typeface="+mj-ea"/>
              </a:rPr>
              <a:t>技術</a:t>
            </a:r>
            <a:endParaRPr kumimoji="1" lang="ja-JP" altLang="en-US" sz="1100" dirty="0">
              <a:solidFill>
                <a:schemeClr val="tx1">
                  <a:lumMod val="75000"/>
                  <a:lumOff val="25000"/>
                </a:schemeClr>
              </a:solidFill>
              <a:latin typeface="+mj-ea"/>
              <a:ea typeface="+mj-ea"/>
            </a:endParaRPr>
          </a:p>
        </p:txBody>
      </p:sp>
      <p:sp>
        <p:nvSpPr>
          <p:cNvPr id="60" name="矢印: 五方向 59">
            <a:extLst>
              <a:ext uri="{FF2B5EF4-FFF2-40B4-BE49-F238E27FC236}">
                <a16:creationId xmlns:a16="http://schemas.microsoft.com/office/drawing/2014/main" id="{A39635D2-731B-374E-2593-974067B7B8D4}"/>
              </a:ext>
            </a:extLst>
          </p:cNvPr>
          <p:cNvSpPr/>
          <p:nvPr/>
        </p:nvSpPr>
        <p:spPr>
          <a:xfrm>
            <a:off x="8006745" y="3180460"/>
            <a:ext cx="1052222" cy="642409"/>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lang="ja-JP" altLang="en-US" sz="1200" dirty="0">
                <a:solidFill>
                  <a:schemeClr val="tx1"/>
                </a:solidFill>
              </a:rPr>
              <a:t>製造</a:t>
            </a:r>
            <a:endParaRPr kumimoji="1" lang="ja-JP" altLang="en-US" sz="1200" dirty="0">
              <a:solidFill>
                <a:schemeClr val="tx1"/>
              </a:solidFill>
            </a:endParaRPr>
          </a:p>
        </p:txBody>
      </p:sp>
      <p:sp>
        <p:nvSpPr>
          <p:cNvPr id="61" name="テキスト ボックス 60">
            <a:extLst>
              <a:ext uri="{FF2B5EF4-FFF2-40B4-BE49-F238E27FC236}">
                <a16:creationId xmlns:a16="http://schemas.microsoft.com/office/drawing/2014/main" id="{8438E3CF-A5C7-BC32-65ED-0DD824546A22}"/>
              </a:ext>
            </a:extLst>
          </p:cNvPr>
          <p:cNvSpPr txBox="1"/>
          <p:nvPr/>
        </p:nvSpPr>
        <p:spPr>
          <a:xfrm>
            <a:off x="7947883" y="3847656"/>
            <a:ext cx="607505" cy="425655"/>
          </a:xfrm>
          <a:prstGeom prst="rect">
            <a:avLst/>
          </a:prstGeom>
          <a:noFill/>
        </p:spPr>
        <p:txBody>
          <a:bodyPr wrap="none" rtlCol="0">
            <a:noAutofit/>
          </a:bodyPr>
          <a:lstStyle/>
          <a:p>
            <a:r>
              <a:rPr kumimoji="1" lang="ja-JP" altLang="en-US" sz="1100" dirty="0">
                <a:solidFill>
                  <a:schemeClr val="tx1">
                    <a:lumMod val="75000"/>
                    <a:lumOff val="25000"/>
                  </a:schemeClr>
                </a:solidFill>
                <a:latin typeface="+mj-ea"/>
                <a:ea typeface="+mj-ea"/>
              </a:rPr>
              <a:t>製造</a:t>
            </a:r>
          </a:p>
        </p:txBody>
      </p:sp>
      <p:sp>
        <p:nvSpPr>
          <p:cNvPr id="62" name="矢印: 五方向 61">
            <a:extLst>
              <a:ext uri="{FF2B5EF4-FFF2-40B4-BE49-F238E27FC236}">
                <a16:creationId xmlns:a16="http://schemas.microsoft.com/office/drawing/2014/main" id="{AABBD105-3E96-19EA-039B-5FC1DDF87C64}"/>
              </a:ext>
            </a:extLst>
          </p:cNvPr>
          <p:cNvSpPr/>
          <p:nvPr/>
        </p:nvSpPr>
        <p:spPr>
          <a:xfrm>
            <a:off x="9106189" y="3180460"/>
            <a:ext cx="1052222" cy="642409"/>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kumimoji="1" lang="ja-JP" altLang="en-US" sz="1200" dirty="0">
                <a:solidFill>
                  <a:schemeClr val="tx1"/>
                </a:solidFill>
              </a:rPr>
              <a:t>据付・</a:t>
            </a:r>
            <a:endParaRPr kumimoji="1" lang="en-US" altLang="ja-JP" sz="1200" dirty="0">
              <a:solidFill>
                <a:schemeClr val="tx1"/>
              </a:solidFill>
            </a:endParaRPr>
          </a:p>
          <a:p>
            <a:pPr algn="l"/>
            <a:r>
              <a:rPr lang="ja-JP" altLang="en-US" sz="1200" dirty="0">
                <a:solidFill>
                  <a:schemeClr val="tx1"/>
                </a:solidFill>
              </a:rPr>
              <a:t>納品</a:t>
            </a:r>
            <a:endParaRPr kumimoji="1" lang="en-US" altLang="ja-JP" sz="1200" dirty="0">
              <a:solidFill>
                <a:schemeClr val="tx1"/>
              </a:solidFill>
            </a:endParaRPr>
          </a:p>
        </p:txBody>
      </p:sp>
      <p:sp>
        <p:nvSpPr>
          <p:cNvPr id="63" name="テキスト ボックス 62">
            <a:extLst>
              <a:ext uri="{FF2B5EF4-FFF2-40B4-BE49-F238E27FC236}">
                <a16:creationId xmlns:a16="http://schemas.microsoft.com/office/drawing/2014/main" id="{FBA3B570-949A-197E-805B-F575DCC11AD0}"/>
              </a:ext>
            </a:extLst>
          </p:cNvPr>
          <p:cNvSpPr txBox="1"/>
          <p:nvPr/>
        </p:nvSpPr>
        <p:spPr>
          <a:xfrm>
            <a:off x="9047327" y="3847656"/>
            <a:ext cx="607505" cy="425655"/>
          </a:xfrm>
          <a:prstGeom prst="rect">
            <a:avLst/>
          </a:prstGeom>
          <a:noFill/>
        </p:spPr>
        <p:txBody>
          <a:bodyPr wrap="none" rtlCol="0">
            <a:noAutofit/>
          </a:bodyPr>
          <a:lstStyle/>
          <a:p>
            <a:r>
              <a:rPr lang="ja-JP" altLang="en-US" sz="1100" dirty="0">
                <a:solidFill>
                  <a:schemeClr val="tx1">
                    <a:lumMod val="75000"/>
                    <a:lumOff val="25000"/>
                  </a:schemeClr>
                </a:solidFill>
                <a:latin typeface="+mj-ea"/>
                <a:ea typeface="+mj-ea"/>
              </a:rPr>
              <a:t>建設・品証</a:t>
            </a:r>
            <a:endParaRPr kumimoji="1" lang="ja-JP" altLang="en-US" sz="1100" dirty="0">
              <a:solidFill>
                <a:schemeClr val="tx1">
                  <a:lumMod val="75000"/>
                  <a:lumOff val="25000"/>
                </a:schemeClr>
              </a:solidFill>
              <a:latin typeface="+mj-ea"/>
              <a:ea typeface="+mj-ea"/>
            </a:endParaRPr>
          </a:p>
        </p:txBody>
      </p:sp>
      <p:sp>
        <p:nvSpPr>
          <p:cNvPr id="1027" name="矢印: 五方向 1026">
            <a:extLst>
              <a:ext uri="{FF2B5EF4-FFF2-40B4-BE49-F238E27FC236}">
                <a16:creationId xmlns:a16="http://schemas.microsoft.com/office/drawing/2014/main" id="{761C9AC1-9EDE-85AB-DB57-DA96EE8AE855}"/>
              </a:ext>
            </a:extLst>
          </p:cNvPr>
          <p:cNvSpPr/>
          <p:nvPr/>
        </p:nvSpPr>
        <p:spPr>
          <a:xfrm>
            <a:off x="10205633" y="3180460"/>
            <a:ext cx="1052222" cy="642409"/>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lang="ja-JP" altLang="en-US" sz="1200" dirty="0">
                <a:solidFill>
                  <a:schemeClr val="tx1"/>
                </a:solidFill>
              </a:rPr>
              <a:t>アフター</a:t>
            </a:r>
            <a:endParaRPr lang="en-US" altLang="ja-JP" sz="1200" dirty="0">
              <a:solidFill>
                <a:schemeClr val="tx1"/>
              </a:solidFill>
            </a:endParaRPr>
          </a:p>
          <a:p>
            <a:pPr algn="l"/>
            <a:r>
              <a:rPr lang="ja-JP" altLang="en-US" sz="1200" dirty="0">
                <a:solidFill>
                  <a:schemeClr val="tx1"/>
                </a:solidFill>
              </a:rPr>
              <a:t>サポート</a:t>
            </a:r>
            <a:endParaRPr kumimoji="1" lang="en-US" altLang="ja-JP" sz="1200" dirty="0">
              <a:solidFill>
                <a:schemeClr val="tx1"/>
              </a:solidFill>
            </a:endParaRPr>
          </a:p>
        </p:txBody>
      </p:sp>
      <p:sp>
        <p:nvSpPr>
          <p:cNvPr id="1028" name="テキスト ボックス 1027">
            <a:extLst>
              <a:ext uri="{FF2B5EF4-FFF2-40B4-BE49-F238E27FC236}">
                <a16:creationId xmlns:a16="http://schemas.microsoft.com/office/drawing/2014/main" id="{6BAE6B72-DE1D-4B80-DE4E-22F99664219F}"/>
              </a:ext>
            </a:extLst>
          </p:cNvPr>
          <p:cNvSpPr txBox="1"/>
          <p:nvPr/>
        </p:nvSpPr>
        <p:spPr>
          <a:xfrm>
            <a:off x="10146771" y="3847656"/>
            <a:ext cx="607505" cy="425655"/>
          </a:xfrm>
          <a:prstGeom prst="rect">
            <a:avLst/>
          </a:prstGeom>
          <a:noFill/>
        </p:spPr>
        <p:txBody>
          <a:bodyPr wrap="none" rtlCol="0">
            <a:noAutofit/>
          </a:bodyPr>
          <a:lstStyle/>
          <a:p>
            <a:r>
              <a:rPr lang="ja-JP" altLang="en-US" sz="1100" dirty="0">
                <a:solidFill>
                  <a:schemeClr val="tx1">
                    <a:lumMod val="75000"/>
                    <a:lumOff val="25000"/>
                  </a:schemeClr>
                </a:solidFill>
                <a:latin typeface="+mj-ea"/>
                <a:ea typeface="+mj-ea"/>
              </a:rPr>
              <a:t>営業・品証</a:t>
            </a:r>
            <a:endParaRPr kumimoji="1" lang="ja-JP" altLang="en-US" sz="1100" dirty="0">
              <a:solidFill>
                <a:schemeClr val="tx1">
                  <a:lumMod val="75000"/>
                  <a:lumOff val="25000"/>
                </a:schemeClr>
              </a:solidFill>
              <a:latin typeface="+mj-ea"/>
              <a:ea typeface="+mj-ea"/>
            </a:endParaRPr>
          </a:p>
        </p:txBody>
      </p:sp>
      <p:cxnSp>
        <p:nvCxnSpPr>
          <p:cNvPr id="13" name="直線コネクタ 12">
            <a:extLst>
              <a:ext uri="{FF2B5EF4-FFF2-40B4-BE49-F238E27FC236}">
                <a16:creationId xmlns:a16="http://schemas.microsoft.com/office/drawing/2014/main" id="{019A7CFB-0007-3E67-DB3C-01DDE1F75996}"/>
              </a:ext>
            </a:extLst>
          </p:cNvPr>
          <p:cNvCxnSpPr>
            <a:cxnSpLocks/>
          </p:cNvCxnSpPr>
          <p:nvPr/>
        </p:nvCxnSpPr>
        <p:spPr>
          <a:xfrm>
            <a:off x="382115" y="2752961"/>
            <a:ext cx="11039255" cy="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4" name="直線コネクタ 13">
            <a:extLst>
              <a:ext uri="{FF2B5EF4-FFF2-40B4-BE49-F238E27FC236}">
                <a16:creationId xmlns:a16="http://schemas.microsoft.com/office/drawing/2014/main" id="{F14C6D42-0CB1-4A42-E2DF-BE8827E438E6}"/>
              </a:ext>
            </a:extLst>
          </p:cNvPr>
          <p:cNvCxnSpPr>
            <a:cxnSpLocks/>
          </p:cNvCxnSpPr>
          <p:nvPr/>
        </p:nvCxnSpPr>
        <p:spPr>
          <a:xfrm>
            <a:off x="359429" y="4275499"/>
            <a:ext cx="11039255" cy="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34" name="テキスト ボックス 1033">
            <a:extLst>
              <a:ext uri="{FF2B5EF4-FFF2-40B4-BE49-F238E27FC236}">
                <a16:creationId xmlns:a16="http://schemas.microsoft.com/office/drawing/2014/main" id="{79C2402D-24C8-D01B-4964-7E79ED247011}"/>
              </a:ext>
            </a:extLst>
          </p:cNvPr>
          <p:cNvSpPr txBox="1"/>
          <p:nvPr/>
        </p:nvSpPr>
        <p:spPr>
          <a:xfrm>
            <a:off x="507075" y="3286034"/>
            <a:ext cx="1325318" cy="369332"/>
          </a:xfrm>
          <a:prstGeom prst="rect">
            <a:avLst/>
          </a:prstGeom>
          <a:noFill/>
        </p:spPr>
        <p:txBody>
          <a:bodyPr wrap="square" rtlCol="0">
            <a:spAutoFit/>
          </a:bodyPr>
          <a:lstStyle/>
          <a:p>
            <a:pPr algn="ctr"/>
            <a:r>
              <a:rPr kumimoji="1" lang="ja-JP" altLang="en-US" dirty="0">
                <a:solidFill>
                  <a:schemeClr val="tx1">
                    <a:lumMod val="75000"/>
                    <a:lumOff val="25000"/>
                  </a:schemeClr>
                </a:solidFill>
                <a:latin typeface="+mj-ea"/>
                <a:ea typeface="+mj-ea"/>
              </a:rPr>
              <a:t>事業活動</a:t>
            </a:r>
          </a:p>
        </p:txBody>
      </p:sp>
      <p:cxnSp>
        <p:nvCxnSpPr>
          <p:cNvPr id="1035" name="直線コネクタ 1034">
            <a:extLst>
              <a:ext uri="{FF2B5EF4-FFF2-40B4-BE49-F238E27FC236}">
                <a16:creationId xmlns:a16="http://schemas.microsoft.com/office/drawing/2014/main" id="{F85B9C83-B799-9A25-F08D-F49D80136B3B}"/>
              </a:ext>
            </a:extLst>
          </p:cNvPr>
          <p:cNvCxnSpPr>
            <a:cxnSpLocks/>
          </p:cNvCxnSpPr>
          <p:nvPr/>
        </p:nvCxnSpPr>
        <p:spPr>
          <a:xfrm>
            <a:off x="1842303" y="866516"/>
            <a:ext cx="0" cy="5589702"/>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41" name="矢印: 五方向 1040">
            <a:extLst>
              <a:ext uri="{FF2B5EF4-FFF2-40B4-BE49-F238E27FC236}">
                <a16:creationId xmlns:a16="http://schemas.microsoft.com/office/drawing/2014/main" id="{EE8FB0E0-7C02-65C1-8402-F4705D5C8344}"/>
              </a:ext>
            </a:extLst>
          </p:cNvPr>
          <p:cNvSpPr/>
          <p:nvPr/>
        </p:nvSpPr>
        <p:spPr>
          <a:xfrm>
            <a:off x="9730358" y="1754407"/>
            <a:ext cx="1490169" cy="669931"/>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l"/>
            <a:r>
              <a:rPr lang="ja-JP" altLang="en-US" sz="1200" dirty="0">
                <a:solidFill>
                  <a:schemeClr val="tx1"/>
                </a:solidFill>
              </a:rPr>
              <a:t>差異分析・</a:t>
            </a:r>
            <a:endParaRPr lang="en-US" altLang="ja-JP" sz="1200" dirty="0">
              <a:solidFill>
                <a:schemeClr val="tx1"/>
              </a:solidFill>
            </a:endParaRPr>
          </a:p>
          <a:p>
            <a:pPr algn="l"/>
            <a:r>
              <a:rPr lang="ja-JP" altLang="en-US" sz="1200" dirty="0">
                <a:solidFill>
                  <a:schemeClr val="tx1"/>
                </a:solidFill>
              </a:rPr>
              <a:t>計画修正</a:t>
            </a:r>
            <a:endParaRPr lang="en-US" altLang="ja-JP" sz="1200" dirty="0">
              <a:solidFill>
                <a:schemeClr val="tx1"/>
              </a:solidFill>
            </a:endParaRPr>
          </a:p>
        </p:txBody>
      </p:sp>
      <p:cxnSp>
        <p:nvCxnSpPr>
          <p:cNvPr id="1043" name="直線コネクタ 1042">
            <a:extLst>
              <a:ext uri="{FF2B5EF4-FFF2-40B4-BE49-F238E27FC236}">
                <a16:creationId xmlns:a16="http://schemas.microsoft.com/office/drawing/2014/main" id="{B73D5A61-4219-DCD9-97B2-817D833AE848}"/>
              </a:ext>
            </a:extLst>
          </p:cNvPr>
          <p:cNvCxnSpPr/>
          <p:nvPr/>
        </p:nvCxnSpPr>
        <p:spPr>
          <a:xfrm>
            <a:off x="2057400" y="1558636"/>
            <a:ext cx="5948110" cy="0"/>
          </a:xfrm>
          <a:prstGeom prst="line">
            <a:avLst/>
          </a:prstGeom>
          <a:ln w="19050">
            <a:solidFill>
              <a:schemeClr val="tx1"/>
            </a:solidFill>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1044" name="直線コネクタ 1043">
            <a:extLst>
              <a:ext uri="{FF2B5EF4-FFF2-40B4-BE49-F238E27FC236}">
                <a16:creationId xmlns:a16="http://schemas.microsoft.com/office/drawing/2014/main" id="{B95DDF8F-00C5-6768-DD6A-92C172985E64}"/>
              </a:ext>
            </a:extLst>
          </p:cNvPr>
          <p:cNvCxnSpPr>
            <a:cxnSpLocks/>
          </p:cNvCxnSpPr>
          <p:nvPr/>
        </p:nvCxnSpPr>
        <p:spPr>
          <a:xfrm>
            <a:off x="8154985" y="1558636"/>
            <a:ext cx="3129542" cy="0"/>
          </a:xfrm>
          <a:prstGeom prst="line">
            <a:avLst/>
          </a:prstGeom>
          <a:ln w="19050">
            <a:solidFill>
              <a:schemeClr val="tx1"/>
            </a:solidFill>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1047" name="直線コネクタ 1046">
            <a:extLst>
              <a:ext uri="{FF2B5EF4-FFF2-40B4-BE49-F238E27FC236}">
                <a16:creationId xmlns:a16="http://schemas.microsoft.com/office/drawing/2014/main" id="{9BE460EB-2754-A4A7-71A6-CB013A1E5698}"/>
              </a:ext>
            </a:extLst>
          </p:cNvPr>
          <p:cNvCxnSpPr>
            <a:cxnSpLocks/>
          </p:cNvCxnSpPr>
          <p:nvPr/>
        </p:nvCxnSpPr>
        <p:spPr>
          <a:xfrm>
            <a:off x="2057400" y="2975808"/>
            <a:ext cx="4168842" cy="0"/>
          </a:xfrm>
          <a:prstGeom prst="line">
            <a:avLst/>
          </a:prstGeom>
          <a:ln w="19050">
            <a:solidFill>
              <a:schemeClr val="tx1"/>
            </a:solidFill>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1048" name="直線コネクタ 1047">
            <a:extLst>
              <a:ext uri="{FF2B5EF4-FFF2-40B4-BE49-F238E27FC236}">
                <a16:creationId xmlns:a16="http://schemas.microsoft.com/office/drawing/2014/main" id="{528E2FAB-1240-1E91-09BB-532ABEC07380}"/>
              </a:ext>
            </a:extLst>
          </p:cNvPr>
          <p:cNvCxnSpPr>
            <a:cxnSpLocks/>
          </p:cNvCxnSpPr>
          <p:nvPr/>
        </p:nvCxnSpPr>
        <p:spPr>
          <a:xfrm>
            <a:off x="6899062" y="2975808"/>
            <a:ext cx="4358793" cy="0"/>
          </a:xfrm>
          <a:prstGeom prst="line">
            <a:avLst/>
          </a:prstGeom>
          <a:ln w="19050">
            <a:solidFill>
              <a:schemeClr val="tx1"/>
            </a:solidFill>
            <a:headEnd type="oval"/>
            <a:tailEnd type="oval"/>
          </a:ln>
          <a:effectLst/>
        </p:spPr>
        <p:style>
          <a:lnRef idx="2">
            <a:schemeClr val="accent1"/>
          </a:lnRef>
          <a:fillRef idx="0">
            <a:schemeClr val="accent1"/>
          </a:fillRef>
          <a:effectRef idx="1">
            <a:schemeClr val="accent1"/>
          </a:effectRef>
          <a:fontRef idx="minor">
            <a:schemeClr val="tx1"/>
          </a:fontRef>
        </p:style>
      </p:cxnSp>
      <p:sp>
        <p:nvSpPr>
          <p:cNvPr id="1051" name="テキスト ボックス 1050">
            <a:extLst>
              <a:ext uri="{FF2B5EF4-FFF2-40B4-BE49-F238E27FC236}">
                <a16:creationId xmlns:a16="http://schemas.microsoft.com/office/drawing/2014/main" id="{7A38BEC9-AD79-B660-669D-9AC2F9903566}"/>
              </a:ext>
            </a:extLst>
          </p:cNvPr>
          <p:cNvSpPr txBox="1"/>
          <p:nvPr/>
        </p:nvSpPr>
        <p:spPr>
          <a:xfrm>
            <a:off x="4545145" y="1414593"/>
            <a:ext cx="855821" cy="278200"/>
          </a:xfrm>
          <a:prstGeom prst="rect">
            <a:avLst/>
          </a:prstGeom>
          <a:solidFill>
            <a:schemeClr val="bg1"/>
          </a:solidFill>
        </p:spPr>
        <p:txBody>
          <a:bodyPr wrap="none" rtlCol="0">
            <a:noAutofit/>
          </a:bodyPr>
          <a:lstStyle/>
          <a:p>
            <a:pPr algn="ctr"/>
            <a:r>
              <a:rPr kumimoji="1" lang="ja-JP" altLang="en-US" sz="1100" dirty="0">
                <a:solidFill>
                  <a:schemeClr val="tx1">
                    <a:lumMod val="75000"/>
                    <a:lumOff val="25000"/>
                  </a:schemeClr>
                </a:solidFill>
                <a:latin typeface="+mj-ea"/>
                <a:ea typeface="+mj-ea"/>
              </a:rPr>
              <a:t>予算策定</a:t>
            </a:r>
          </a:p>
        </p:txBody>
      </p:sp>
      <p:sp>
        <p:nvSpPr>
          <p:cNvPr id="1052" name="テキスト ボックス 1051">
            <a:extLst>
              <a:ext uri="{FF2B5EF4-FFF2-40B4-BE49-F238E27FC236}">
                <a16:creationId xmlns:a16="http://schemas.microsoft.com/office/drawing/2014/main" id="{22A98D34-93D5-D5D0-1906-BC67E16F9993}"/>
              </a:ext>
            </a:extLst>
          </p:cNvPr>
          <p:cNvSpPr txBox="1"/>
          <p:nvPr/>
        </p:nvSpPr>
        <p:spPr>
          <a:xfrm>
            <a:off x="9323748" y="1409945"/>
            <a:ext cx="855821" cy="278200"/>
          </a:xfrm>
          <a:prstGeom prst="rect">
            <a:avLst/>
          </a:prstGeom>
          <a:solidFill>
            <a:schemeClr val="bg1"/>
          </a:solidFill>
        </p:spPr>
        <p:txBody>
          <a:bodyPr wrap="none" rtlCol="0">
            <a:noAutofit/>
          </a:bodyPr>
          <a:lstStyle/>
          <a:p>
            <a:pPr algn="ctr"/>
            <a:r>
              <a:rPr kumimoji="1" lang="ja-JP" altLang="en-US" sz="1100" dirty="0">
                <a:solidFill>
                  <a:schemeClr val="tx1">
                    <a:lumMod val="75000"/>
                    <a:lumOff val="25000"/>
                  </a:schemeClr>
                </a:solidFill>
                <a:latin typeface="+mj-ea"/>
                <a:ea typeface="+mj-ea"/>
              </a:rPr>
              <a:t>着地管理</a:t>
            </a:r>
          </a:p>
        </p:txBody>
      </p:sp>
      <p:sp>
        <p:nvSpPr>
          <p:cNvPr id="1053" name="テキスト ボックス 1052">
            <a:extLst>
              <a:ext uri="{FF2B5EF4-FFF2-40B4-BE49-F238E27FC236}">
                <a16:creationId xmlns:a16="http://schemas.microsoft.com/office/drawing/2014/main" id="{3857BC3E-7A9C-4532-2A45-7E35541B7F17}"/>
              </a:ext>
            </a:extLst>
          </p:cNvPr>
          <p:cNvSpPr txBox="1"/>
          <p:nvPr/>
        </p:nvSpPr>
        <p:spPr>
          <a:xfrm>
            <a:off x="3713021" y="2834208"/>
            <a:ext cx="714438" cy="278200"/>
          </a:xfrm>
          <a:prstGeom prst="rect">
            <a:avLst/>
          </a:prstGeom>
          <a:solidFill>
            <a:schemeClr val="bg1"/>
          </a:solidFill>
        </p:spPr>
        <p:txBody>
          <a:bodyPr wrap="none" rtlCol="0">
            <a:noAutofit/>
          </a:bodyPr>
          <a:lstStyle/>
          <a:p>
            <a:pPr algn="ctr"/>
            <a:r>
              <a:rPr kumimoji="1" lang="ja-JP" altLang="en-US" sz="1100" dirty="0">
                <a:solidFill>
                  <a:schemeClr val="tx1">
                    <a:lumMod val="75000"/>
                    <a:lumOff val="25000"/>
                  </a:schemeClr>
                </a:solidFill>
                <a:latin typeface="+mj-ea"/>
                <a:ea typeface="+mj-ea"/>
              </a:rPr>
              <a:t>引合</a:t>
            </a:r>
          </a:p>
        </p:txBody>
      </p:sp>
      <p:sp>
        <p:nvSpPr>
          <p:cNvPr id="1054" name="テキスト ボックス 1053">
            <a:extLst>
              <a:ext uri="{FF2B5EF4-FFF2-40B4-BE49-F238E27FC236}">
                <a16:creationId xmlns:a16="http://schemas.microsoft.com/office/drawing/2014/main" id="{98171828-6948-A120-2BC4-C148337078F0}"/>
              </a:ext>
            </a:extLst>
          </p:cNvPr>
          <p:cNvSpPr txBox="1"/>
          <p:nvPr/>
        </p:nvSpPr>
        <p:spPr>
          <a:xfrm>
            <a:off x="8624967" y="2834208"/>
            <a:ext cx="714438" cy="278200"/>
          </a:xfrm>
          <a:prstGeom prst="rect">
            <a:avLst/>
          </a:prstGeom>
          <a:solidFill>
            <a:schemeClr val="bg1"/>
          </a:solidFill>
        </p:spPr>
        <p:txBody>
          <a:bodyPr wrap="none" rtlCol="0">
            <a:noAutofit/>
          </a:bodyPr>
          <a:lstStyle/>
          <a:p>
            <a:pPr algn="ctr"/>
            <a:r>
              <a:rPr kumimoji="1" lang="ja-JP" altLang="en-US" sz="1100" dirty="0">
                <a:solidFill>
                  <a:schemeClr val="tx1">
                    <a:lumMod val="75000"/>
                    <a:lumOff val="25000"/>
                  </a:schemeClr>
                </a:solidFill>
                <a:latin typeface="+mj-ea"/>
                <a:ea typeface="+mj-ea"/>
              </a:rPr>
              <a:t>遂行</a:t>
            </a:r>
          </a:p>
        </p:txBody>
      </p:sp>
      <p:sp>
        <p:nvSpPr>
          <p:cNvPr id="1056" name="正方形/長方形 1055">
            <a:extLst>
              <a:ext uri="{FF2B5EF4-FFF2-40B4-BE49-F238E27FC236}">
                <a16:creationId xmlns:a16="http://schemas.microsoft.com/office/drawing/2014/main" id="{EF7B8613-C04A-82C4-190D-00099AB1805E}"/>
              </a:ext>
            </a:extLst>
          </p:cNvPr>
          <p:cNvSpPr/>
          <p:nvPr/>
        </p:nvSpPr>
        <p:spPr>
          <a:xfrm>
            <a:off x="6447477" y="3179592"/>
            <a:ext cx="291875" cy="649859"/>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受注</a:t>
            </a:r>
          </a:p>
        </p:txBody>
      </p:sp>
      <p:sp>
        <p:nvSpPr>
          <p:cNvPr id="1058" name="円柱 1057">
            <a:extLst>
              <a:ext uri="{FF2B5EF4-FFF2-40B4-BE49-F238E27FC236}">
                <a16:creationId xmlns:a16="http://schemas.microsoft.com/office/drawing/2014/main" id="{A12AB3CD-4D52-D85F-E025-06004AD4DB14}"/>
              </a:ext>
            </a:extLst>
          </p:cNvPr>
          <p:cNvSpPr/>
          <p:nvPr/>
        </p:nvSpPr>
        <p:spPr>
          <a:xfrm>
            <a:off x="1968098" y="4373047"/>
            <a:ext cx="4432187" cy="633905"/>
          </a:xfrm>
          <a:prstGeom prst="can">
            <a:avLst/>
          </a:prstGeom>
          <a:solidFill>
            <a:srgbClr val="FFF2CC"/>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200" dirty="0">
                <a:solidFill>
                  <a:schemeClr val="tx1"/>
                </a:solidFill>
              </a:rPr>
              <a:t>CRM</a:t>
            </a:r>
          </a:p>
          <a:p>
            <a:pPr algn="ctr"/>
            <a:r>
              <a:rPr lang="en-US" altLang="ja-JP" sz="1200" dirty="0">
                <a:solidFill>
                  <a:schemeClr val="tx1"/>
                </a:solidFill>
              </a:rPr>
              <a:t>Dynamics</a:t>
            </a:r>
            <a:endParaRPr kumimoji="1" lang="ja-JP" altLang="en-US" sz="1200" dirty="0">
              <a:solidFill>
                <a:schemeClr val="tx1"/>
              </a:solidFill>
            </a:endParaRPr>
          </a:p>
        </p:txBody>
      </p:sp>
      <p:sp>
        <p:nvSpPr>
          <p:cNvPr id="1061" name="円柱 1060">
            <a:extLst>
              <a:ext uri="{FF2B5EF4-FFF2-40B4-BE49-F238E27FC236}">
                <a16:creationId xmlns:a16="http://schemas.microsoft.com/office/drawing/2014/main" id="{BDC270C3-3811-230F-74A4-23727FC10542}"/>
              </a:ext>
            </a:extLst>
          </p:cNvPr>
          <p:cNvSpPr/>
          <p:nvPr/>
        </p:nvSpPr>
        <p:spPr>
          <a:xfrm>
            <a:off x="6555961" y="5066946"/>
            <a:ext cx="4856608" cy="630497"/>
          </a:xfrm>
          <a:prstGeom prst="can">
            <a:avLst/>
          </a:prstGeom>
          <a:solidFill>
            <a:srgbClr val="FFF2CC"/>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200" dirty="0">
                <a:solidFill>
                  <a:schemeClr val="tx1"/>
                </a:solidFill>
              </a:rPr>
              <a:t>TA</a:t>
            </a:r>
            <a:r>
              <a:rPr lang="ja-JP" altLang="en-US" sz="1200" dirty="0">
                <a:solidFill>
                  <a:schemeClr val="tx1"/>
                </a:solidFill>
              </a:rPr>
              <a:t>派遣管理</a:t>
            </a:r>
            <a:r>
              <a:rPr lang="en-US" altLang="ja-JP" sz="1200" dirty="0">
                <a:solidFill>
                  <a:schemeClr val="tx1"/>
                </a:solidFill>
              </a:rPr>
              <a:t>DB</a:t>
            </a:r>
            <a:endParaRPr kumimoji="1" lang="ja-JP" altLang="en-US" sz="1200" dirty="0">
              <a:solidFill>
                <a:schemeClr val="tx1"/>
              </a:solidFill>
            </a:endParaRPr>
          </a:p>
        </p:txBody>
      </p:sp>
      <p:sp>
        <p:nvSpPr>
          <p:cNvPr id="1062" name="円柱 1061">
            <a:extLst>
              <a:ext uri="{FF2B5EF4-FFF2-40B4-BE49-F238E27FC236}">
                <a16:creationId xmlns:a16="http://schemas.microsoft.com/office/drawing/2014/main" id="{BCC0EA60-1F4E-DC38-EFBD-F7EB8D251CBF}"/>
              </a:ext>
            </a:extLst>
          </p:cNvPr>
          <p:cNvSpPr/>
          <p:nvPr/>
        </p:nvSpPr>
        <p:spPr>
          <a:xfrm>
            <a:off x="4242414" y="5803401"/>
            <a:ext cx="2171726" cy="558742"/>
          </a:xfrm>
          <a:prstGeom prst="can">
            <a:avLst/>
          </a:prstGeom>
          <a:solidFill>
            <a:srgbClr val="FFF2CC"/>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200" dirty="0">
                <a:solidFill>
                  <a:schemeClr val="tx1"/>
                </a:solidFill>
              </a:rPr>
              <a:t>CATS</a:t>
            </a:r>
            <a:endParaRPr kumimoji="1" lang="ja-JP" altLang="en-US" sz="1200" dirty="0">
              <a:solidFill>
                <a:schemeClr val="tx1"/>
              </a:solidFill>
            </a:endParaRPr>
          </a:p>
        </p:txBody>
      </p:sp>
      <p:sp>
        <p:nvSpPr>
          <p:cNvPr id="1063" name="円柱 1062">
            <a:extLst>
              <a:ext uri="{FF2B5EF4-FFF2-40B4-BE49-F238E27FC236}">
                <a16:creationId xmlns:a16="http://schemas.microsoft.com/office/drawing/2014/main" id="{7026967F-C814-7A46-B770-42121505F70F}"/>
              </a:ext>
            </a:extLst>
          </p:cNvPr>
          <p:cNvSpPr/>
          <p:nvPr/>
        </p:nvSpPr>
        <p:spPr>
          <a:xfrm>
            <a:off x="6555961" y="5818699"/>
            <a:ext cx="3616336" cy="558742"/>
          </a:xfrm>
          <a:prstGeom prst="can">
            <a:avLst/>
          </a:prstGeom>
          <a:solidFill>
            <a:srgbClr val="FFF2CC"/>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工事命令書</a:t>
            </a:r>
            <a:endParaRPr kumimoji="1" lang="en-US" altLang="ja-JP" sz="1200" dirty="0">
              <a:solidFill>
                <a:schemeClr val="tx1"/>
              </a:solidFill>
            </a:endParaRPr>
          </a:p>
          <a:p>
            <a:pPr algn="ctr"/>
            <a:r>
              <a:rPr lang="en-US" altLang="ja-JP" sz="1200" dirty="0">
                <a:solidFill>
                  <a:schemeClr val="tx1"/>
                </a:solidFill>
              </a:rPr>
              <a:t>MBS</a:t>
            </a:r>
            <a:r>
              <a:rPr lang="ja-JP" altLang="en-US" sz="1200" dirty="0">
                <a:solidFill>
                  <a:schemeClr val="tx1"/>
                </a:solidFill>
              </a:rPr>
              <a:t>、</a:t>
            </a:r>
            <a:r>
              <a:rPr lang="en-US" altLang="ja-JP" sz="1200" dirty="0">
                <a:solidFill>
                  <a:schemeClr val="tx1"/>
                </a:solidFill>
              </a:rPr>
              <a:t>MC</a:t>
            </a:r>
            <a:r>
              <a:rPr lang="ja-JP" altLang="en-US" sz="1200" dirty="0">
                <a:solidFill>
                  <a:schemeClr val="tx1"/>
                </a:solidFill>
              </a:rPr>
              <a:t>、オーダ情報</a:t>
            </a:r>
            <a:endParaRPr kumimoji="1" lang="ja-JP" altLang="en-US" sz="1200" dirty="0">
              <a:solidFill>
                <a:schemeClr val="tx1"/>
              </a:solidFill>
            </a:endParaRPr>
          </a:p>
        </p:txBody>
      </p:sp>
      <p:sp>
        <p:nvSpPr>
          <p:cNvPr id="1064" name="円柱 1063">
            <a:extLst>
              <a:ext uri="{FF2B5EF4-FFF2-40B4-BE49-F238E27FC236}">
                <a16:creationId xmlns:a16="http://schemas.microsoft.com/office/drawing/2014/main" id="{79ECBCD6-FAF3-6441-780C-2CFDD8962C95}"/>
              </a:ext>
            </a:extLst>
          </p:cNvPr>
          <p:cNvSpPr/>
          <p:nvPr/>
        </p:nvSpPr>
        <p:spPr>
          <a:xfrm>
            <a:off x="1968067" y="5058104"/>
            <a:ext cx="4432187" cy="630497"/>
          </a:xfrm>
          <a:prstGeom prst="can">
            <a:avLst/>
          </a:prstGeom>
          <a:solidFill>
            <a:srgbClr val="FFF2CC"/>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各課台帳システム</a:t>
            </a:r>
          </a:p>
        </p:txBody>
      </p:sp>
      <p:sp>
        <p:nvSpPr>
          <p:cNvPr id="1065" name="テキスト ボックス 1064">
            <a:extLst>
              <a:ext uri="{FF2B5EF4-FFF2-40B4-BE49-F238E27FC236}">
                <a16:creationId xmlns:a16="http://schemas.microsoft.com/office/drawing/2014/main" id="{EA6BCC96-1E60-B874-010B-3E70EB36007D}"/>
              </a:ext>
            </a:extLst>
          </p:cNvPr>
          <p:cNvSpPr txBox="1"/>
          <p:nvPr/>
        </p:nvSpPr>
        <p:spPr>
          <a:xfrm>
            <a:off x="507075" y="5102166"/>
            <a:ext cx="1325318" cy="338554"/>
          </a:xfrm>
          <a:prstGeom prst="rect">
            <a:avLst/>
          </a:prstGeom>
          <a:noFill/>
        </p:spPr>
        <p:txBody>
          <a:bodyPr wrap="square" rtlCol="0">
            <a:spAutoFit/>
          </a:bodyPr>
          <a:lstStyle/>
          <a:p>
            <a:pPr algn="ctr"/>
            <a:r>
              <a:rPr kumimoji="1" lang="ja-JP" altLang="en-US" sz="1600" dirty="0">
                <a:solidFill>
                  <a:schemeClr val="tx1">
                    <a:lumMod val="75000"/>
                    <a:lumOff val="25000"/>
                  </a:schemeClr>
                </a:solidFill>
                <a:latin typeface="+mj-ea"/>
                <a:ea typeface="+mj-ea"/>
              </a:rPr>
              <a:t>関連システム</a:t>
            </a:r>
          </a:p>
        </p:txBody>
      </p:sp>
      <p:sp>
        <p:nvSpPr>
          <p:cNvPr id="1067" name="テキスト ボックス 1066">
            <a:extLst>
              <a:ext uri="{FF2B5EF4-FFF2-40B4-BE49-F238E27FC236}">
                <a16:creationId xmlns:a16="http://schemas.microsoft.com/office/drawing/2014/main" id="{42974448-1490-423E-486B-8108C5DACD89}"/>
              </a:ext>
            </a:extLst>
          </p:cNvPr>
          <p:cNvSpPr txBox="1"/>
          <p:nvPr/>
        </p:nvSpPr>
        <p:spPr>
          <a:xfrm>
            <a:off x="111395" y="5484615"/>
            <a:ext cx="1997567" cy="425655"/>
          </a:xfrm>
          <a:prstGeom prst="rect">
            <a:avLst/>
          </a:prstGeom>
          <a:noFill/>
        </p:spPr>
        <p:txBody>
          <a:bodyPr wrap="none" rtlCol="0">
            <a:noAutofit/>
          </a:bodyPr>
          <a:lstStyle/>
          <a:p>
            <a:r>
              <a:rPr lang="ja-JP" altLang="en-US" sz="1100" dirty="0">
                <a:solidFill>
                  <a:schemeClr val="tx1">
                    <a:lumMod val="75000"/>
                    <a:lumOff val="25000"/>
                  </a:schemeClr>
                </a:solidFill>
                <a:latin typeface="+mj-ea"/>
                <a:ea typeface="+mj-ea"/>
              </a:rPr>
              <a:t>その他、関連しそうな</a:t>
            </a:r>
            <a:endParaRPr lang="en-US" altLang="ja-JP" sz="1100" dirty="0">
              <a:solidFill>
                <a:schemeClr val="tx1">
                  <a:lumMod val="75000"/>
                  <a:lumOff val="25000"/>
                </a:schemeClr>
              </a:solidFill>
              <a:latin typeface="+mj-ea"/>
              <a:ea typeface="+mj-ea"/>
            </a:endParaRPr>
          </a:p>
          <a:p>
            <a:r>
              <a:rPr lang="ja-JP" altLang="en-US" sz="1100" dirty="0">
                <a:solidFill>
                  <a:schemeClr val="tx1">
                    <a:lumMod val="75000"/>
                    <a:lumOff val="25000"/>
                  </a:schemeClr>
                </a:solidFill>
                <a:latin typeface="+mj-ea"/>
                <a:ea typeface="+mj-ea"/>
              </a:rPr>
              <a:t>全社標準ツール：</a:t>
            </a:r>
            <a:endParaRPr lang="en-US" altLang="ja-JP" sz="1100" dirty="0">
              <a:solidFill>
                <a:schemeClr val="tx1">
                  <a:lumMod val="75000"/>
                  <a:lumOff val="25000"/>
                </a:schemeClr>
              </a:solidFill>
              <a:latin typeface="+mj-ea"/>
              <a:ea typeface="+mj-ea"/>
            </a:endParaRPr>
          </a:p>
          <a:p>
            <a:pPr marL="92075" indent="-92075">
              <a:buFont typeface="Arial" panose="020B0604020202020204" pitchFamily="34" charset="0"/>
              <a:buChar char="•"/>
            </a:pPr>
            <a:r>
              <a:rPr lang="ja-JP" altLang="en-US" sz="1100" dirty="0">
                <a:solidFill>
                  <a:schemeClr val="tx1">
                    <a:lumMod val="75000"/>
                    <a:lumOff val="25000"/>
                  </a:schemeClr>
                </a:solidFill>
                <a:latin typeface="+mj-ea"/>
                <a:ea typeface="+mj-ea"/>
              </a:rPr>
              <a:t>経営シミュレーションシステム</a:t>
            </a:r>
            <a:endParaRPr lang="en-US" altLang="ja-JP" sz="1100" dirty="0">
              <a:solidFill>
                <a:schemeClr val="tx1">
                  <a:lumMod val="75000"/>
                  <a:lumOff val="25000"/>
                </a:schemeClr>
              </a:solidFill>
              <a:latin typeface="+mj-ea"/>
              <a:ea typeface="+mj-ea"/>
            </a:endParaRPr>
          </a:p>
          <a:p>
            <a:pPr marL="92075" indent="-92075">
              <a:buFont typeface="Arial" panose="020B0604020202020204" pitchFamily="34" charset="0"/>
              <a:buChar char="•"/>
            </a:pPr>
            <a:r>
              <a:rPr kumimoji="1" lang="ja-JP" altLang="en-US" sz="1100" dirty="0">
                <a:solidFill>
                  <a:schemeClr val="tx1">
                    <a:lumMod val="75000"/>
                    <a:lumOff val="25000"/>
                  </a:schemeClr>
                </a:solidFill>
                <a:latin typeface="+mj-ea"/>
                <a:ea typeface="+mj-ea"/>
              </a:rPr>
              <a:t>需要予測システム</a:t>
            </a:r>
            <a:endParaRPr kumimoji="1" lang="en-US" altLang="ja-JP" sz="1100" dirty="0">
              <a:solidFill>
                <a:schemeClr val="tx1">
                  <a:lumMod val="75000"/>
                  <a:lumOff val="25000"/>
                </a:schemeClr>
              </a:solidFill>
              <a:latin typeface="+mj-ea"/>
              <a:ea typeface="+mj-ea"/>
            </a:endParaRPr>
          </a:p>
          <a:p>
            <a:pPr marL="92075" indent="-92075">
              <a:buFont typeface="Arial" panose="020B0604020202020204" pitchFamily="34" charset="0"/>
              <a:buChar char="•"/>
            </a:pPr>
            <a:r>
              <a:rPr kumimoji="1" lang="en-US" altLang="ja-JP" sz="1100" dirty="0">
                <a:solidFill>
                  <a:schemeClr val="tx1">
                    <a:lumMod val="75000"/>
                    <a:lumOff val="25000"/>
                  </a:schemeClr>
                </a:solidFill>
                <a:latin typeface="+mj-ea"/>
                <a:ea typeface="+mj-ea"/>
              </a:rPr>
              <a:t>KPI</a:t>
            </a:r>
            <a:r>
              <a:rPr kumimoji="1" lang="ja-JP" altLang="en-US" sz="1100" dirty="0">
                <a:solidFill>
                  <a:schemeClr val="tx1">
                    <a:lumMod val="75000"/>
                    <a:lumOff val="25000"/>
                  </a:schemeClr>
                </a:solidFill>
                <a:latin typeface="+mj-ea"/>
                <a:ea typeface="+mj-ea"/>
              </a:rPr>
              <a:t>マネジメントシステム</a:t>
            </a:r>
          </a:p>
        </p:txBody>
      </p:sp>
      <p:sp>
        <p:nvSpPr>
          <p:cNvPr id="1069" name="円柱 1068">
            <a:extLst>
              <a:ext uri="{FF2B5EF4-FFF2-40B4-BE49-F238E27FC236}">
                <a16:creationId xmlns:a16="http://schemas.microsoft.com/office/drawing/2014/main" id="{1056CCF2-C2AF-D1DE-0532-CD7A4949A98A}"/>
              </a:ext>
            </a:extLst>
          </p:cNvPr>
          <p:cNvSpPr/>
          <p:nvPr/>
        </p:nvSpPr>
        <p:spPr>
          <a:xfrm>
            <a:off x="3091774" y="5827309"/>
            <a:ext cx="981725" cy="558742"/>
          </a:xfrm>
          <a:prstGeom prst="can">
            <a:avLst/>
          </a:prstGeom>
          <a:solidFill>
            <a:srgbClr val="FFF2CC"/>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200" dirty="0">
                <a:solidFill>
                  <a:schemeClr val="tx1"/>
                </a:solidFill>
              </a:rPr>
              <a:t>Umbrella</a:t>
            </a:r>
            <a:endParaRPr kumimoji="1" lang="ja-JP" altLang="en-US" sz="1200" dirty="0">
              <a:solidFill>
                <a:schemeClr val="tx1"/>
              </a:solidFill>
            </a:endParaRPr>
          </a:p>
        </p:txBody>
      </p:sp>
      <p:sp>
        <p:nvSpPr>
          <p:cNvPr id="1070" name="円柱 1069">
            <a:extLst>
              <a:ext uri="{FF2B5EF4-FFF2-40B4-BE49-F238E27FC236}">
                <a16:creationId xmlns:a16="http://schemas.microsoft.com/office/drawing/2014/main" id="{BB085723-1A1B-73B3-5B59-FE2E16435FC5}"/>
              </a:ext>
            </a:extLst>
          </p:cNvPr>
          <p:cNvSpPr/>
          <p:nvPr/>
        </p:nvSpPr>
        <p:spPr>
          <a:xfrm>
            <a:off x="1969720" y="5818699"/>
            <a:ext cx="981725" cy="558742"/>
          </a:xfrm>
          <a:prstGeom prst="can">
            <a:avLst/>
          </a:prstGeom>
          <a:solidFill>
            <a:srgbClr val="FFF2CC"/>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dirty="0">
                <a:solidFill>
                  <a:schemeClr val="tx1"/>
                </a:solidFill>
              </a:rPr>
              <a:t>コレポン</a:t>
            </a:r>
          </a:p>
        </p:txBody>
      </p:sp>
      <p:sp>
        <p:nvSpPr>
          <p:cNvPr id="7" name="正方形/長方形 6">
            <a:extLst>
              <a:ext uri="{FF2B5EF4-FFF2-40B4-BE49-F238E27FC236}">
                <a16:creationId xmlns:a16="http://schemas.microsoft.com/office/drawing/2014/main" id="{8836BA06-4BE6-6AB2-3120-BDF02A7F9A10}"/>
              </a:ext>
            </a:extLst>
          </p:cNvPr>
          <p:cNvSpPr/>
          <p:nvPr/>
        </p:nvSpPr>
        <p:spPr>
          <a:xfrm>
            <a:off x="5454429" y="1379279"/>
            <a:ext cx="1718033" cy="479352"/>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kumimoji="1" lang="ja-JP" altLang="en-US" sz="1200" dirty="0">
                <a:solidFill>
                  <a:schemeClr val="tx1"/>
                </a:solidFill>
              </a:rPr>
              <a:t>課題：</a:t>
            </a:r>
            <a:endParaRPr kumimoji="1" lang="en-US" altLang="ja-JP" sz="1200" dirty="0">
              <a:solidFill>
                <a:schemeClr val="tx1"/>
              </a:solidFill>
            </a:endParaRPr>
          </a:p>
          <a:p>
            <a:pPr algn="ctr"/>
            <a:r>
              <a:rPr lang="ja-JP" altLang="en-US" sz="1200" dirty="0">
                <a:solidFill>
                  <a:schemeClr val="tx1"/>
                </a:solidFill>
              </a:rPr>
              <a:t>受注計画の精度</a:t>
            </a:r>
            <a:endParaRPr kumimoji="1" lang="ja-JP" altLang="en-US" sz="1200" dirty="0">
              <a:solidFill>
                <a:schemeClr val="tx1"/>
              </a:solidFill>
            </a:endParaRPr>
          </a:p>
        </p:txBody>
      </p:sp>
      <p:sp>
        <p:nvSpPr>
          <p:cNvPr id="17" name="正方形/長方形 16">
            <a:extLst>
              <a:ext uri="{FF2B5EF4-FFF2-40B4-BE49-F238E27FC236}">
                <a16:creationId xmlns:a16="http://schemas.microsoft.com/office/drawing/2014/main" id="{9F128F57-D836-B97B-BFF1-23DCECF39259}"/>
              </a:ext>
            </a:extLst>
          </p:cNvPr>
          <p:cNvSpPr/>
          <p:nvPr/>
        </p:nvSpPr>
        <p:spPr>
          <a:xfrm>
            <a:off x="4706274" y="4542428"/>
            <a:ext cx="1718033" cy="421777"/>
          </a:xfrm>
          <a:prstGeom prst="rect">
            <a:avLst/>
          </a:prstGeom>
          <a:ln/>
        </p:spPr>
        <p:style>
          <a:lnRef idx="2">
            <a:schemeClr val="accent4">
              <a:shade val="15000"/>
            </a:schemeClr>
          </a:lnRef>
          <a:fillRef idx="1">
            <a:schemeClr val="accent4"/>
          </a:fillRef>
          <a:effectRef idx="0">
            <a:schemeClr val="accent4"/>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kumimoji="1" lang="ja-JP" altLang="en-US" sz="1000" dirty="0">
                <a:solidFill>
                  <a:schemeClr val="tx1"/>
                </a:solidFill>
              </a:rPr>
              <a:t>データ：</a:t>
            </a:r>
            <a:endParaRPr kumimoji="1" lang="en-US" altLang="ja-JP" sz="1000" dirty="0">
              <a:solidFill>
                <a:schemeClr val="tx1"/>
              </a:solidFill>
            </a:endParaRPr>
          </a:p>
          <a:p>
            <a:pPr algn="ctr"/>
            <a:r>
              <a:rPr lang="ja-JP" altLang="en-US" sz="1000" dirty="0">
                <a:solidFill>
                  <a:schemeClr val="tx1"/>
                </a:solidFill>
              </a:rPr>
              <a:t>案件確度、スケジュール</a:t>
            </a:r>
            <a:endParaRPr kumimoji="1" lang="ja-JP" altLang="en-US" sz="1000" dirty="0">
              <a:solidFill>
                <a:schemeClr val="tx1"/>
              </a:solidFill>
            </a:endParaRPr>
          </a:p>
        </p:txBody>
      </p:sp>
      <p:sp>
        <p:nvSpPr>
          <p:cNvPr id="18" name="正方形/長方形 17">
            <a:extLst>
              <a:ext uri="{FF2B5EF4-FFF2-40B4-BE49-F238E27FC236}">
                <a16:creationId xmlns:a16="http://schemas.microsoft.com/office/drawing/2014/main" id="{7E863AFD-C03F-55A9-873F-794EC645C16F}"/>
              </a:ext>
            </a:extLst>
          </p:cNvPr>
          <p:cNvSpPr/>
          <p:nvPr/>
        </p:nvSpPr>
        <p:spPr>
          <a:xfrm>
            <a:off x="9187273" y="6034210"/>
            <a:ext cx="1718033" cy="421777"/>
          </a:xfrm>
          <a:prstGeom prst="rect">
            <a:avLst/>
          </a:prstGeom>
          <a:ln/>
        </p:spPr>
        <p:style>
          <a:lnRef idx="2">
            <a:schemeClr val="accent4">
              <a:shade val="15000"/>
            </a:schemeClr>
          </a:lnRef>
          <a:fillRef idx="1">
            <a:schemeClr val="accent4"/>
          </a:fillRef>
          <a:effectRef idx="0">
            <a:schemeClr val="accent4"/>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kumimoji="1" lang="ja-JP" altLang="en-US" sz="1000" dirty="0">
                <a:solidFill>
                  <a:schemeClr val="tx1"/>
                </a:solidFill>
              </a:rPr>
              <a:t>データ：</a:t>
            </a:r>
            <a:endParaRPr kumimoji="1" lang="en-US" altLang="ja-JP" sz="1000" dirty="0">
              <a:solidFill>
                <a:schemeClr val="tx1"/>
              </a:solidFill>
            </a:endParaRPr>
          </a:p>
          <a:p>
            <a:pPr algn="ctr"/>
            <a:r>
              <a:rPr lang="ja-JP" altLang="en-US" sz="1000" dirty="0">
                <a:solidFill>
                  <a:schemeClr val="tx1"/>
                </a:solidFill>
              </a:rPr>
              <a:t>売上コスト実績、工数実績</a:t>
            </a:r>
            <a:endParaRPr kumimoji="1" lang="ja-JP" altLang="en-US" sz="1000" dirty="0">
              <a:solidFill>
                <a:schemeClr val="tx1"/>
              </a:solidFill>
            </a:endParaRPr>
          </a:p>
        </p:txBody>
      </p:sp>
      <p:sp>
        <p:nvSpPr>
          <p:cNvPr id="20" name="正方形/長方形 19">
            <a:extLst>
              <a:ext uri="{FF2B5EF4-FFF2-40B4-BE49-F238E27FC236}">
                <a16:creationId xmlns:a16="http://schemas.microsoft.com/office/drawing/2014/main" id="{B9C14001-671E-D6CB-A0A0-771B7A9E3B61}"/>
              </a:ext>
            </a:extLst>
          </p:cNvPr>
          <p:cNvSpPr/>
          <p:nvPr/>
        </p:nvSpPr>
        <p:spPr>
          <a:xfrm>
            <a:off x="2161847" y="6267212"/>
            <a:ext cx="1718033" cy="421777"/>
          </a:xfrm>
          <a:prstGeom prst="rect">
            <a:avLst/>
          </a:prstGeom>
          <a:ln/>
        </p:spPr>
        <p:style>
          <a:lnRef idx="2">
            <a:schemeClr val="accent4">
              <a:shade val="15000"/>
            </a:schemeClr>
          </a:lnRef>
          <a:fillRef idx="1">
            <a:schemeClr val="accent4"/>
          </a:fillRef>
          <a:effectRef idx="0">
            <a:schemeClr val="accent4"/>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kumimoji="1" lang="ja-JP" altLang="en-US" sz="1000" dirty="0">
                <a:solidFill>
                  <a:schemeClr val="tx1"/>
                </a:solidFill>
              </a:rPr>
              <a:t>データ：</a:t>
            </a:r>
            <a:endParaRPr kumimoji="1" lang="en-US" altLang="ja-JP" sz="1000" dirty="0">
              <a:solidFill>
                <a:schemeClr val="tx1"/>
              </a:solidFill>
            </a:endParaRPr>
          </a:p>
          <a:p>
            <a:pPr algn="ctr"/>
            <a:r>
              <a:rPr kumimoji="1" lang="en-US" altLang="ja-JP" sz="1000" dirty="0" err="1">
                <a:solidFill>
                  <a:schemeClr val="tx1"/>
                </a:solidFill>
              </a:rPr>
              <a:t>VoC</a:t>
            </a:r>
            <a:r>
              <a:rPr kumimoji="1" lang="ja-JP" altLang="en-US" sz="1000" dirty="0">
                <a:solidFill>
                  <a:schemeClr val="tx1"/>
                </a:solidFill>
              </a:rPr>
              <a:t>、新規引合</a:t>
            </a:r>
          </a:p>
        </p:txBody>
      </p:sp>
      <p:sp>
        <p:nvSpPr>
          <p:cNvPr id="23" name="正方形/長方形 22">
            <a:extLst>
              <a:ext uri="{FF2B5EF4-FFF2-40B4-BE49-F238E27FC236}">
                <a16:creationId xmlns:a16="http://schemas.microsoft.com/office/drawing/2014/main" id="{962CBE9F-8437-676D-768F-DEEF1276DBEE}"/>
              </a:ext>
            </a:extLst>
          </p:cNvPr>
          <p:cNvSpPr/>
          <p:nvPr/>
        </p:nvSpPr>
        <p:spPr>
          <a:xfrm>
            <a:off x="4488918" y="6274161"/>
            <a:ext cx="1718033" cy="421777"/>
          </a:xfrm>
          <a:prstGeom prst="rect">
            <a:avLst/>
          </a:prstGeom>
          <a:ln/>
        </p:spPr>
        <p:style>
          <a:lnRef idx="2">
            <a:schemeClr val="accent4">
              <a:shade val="15000"/>
            </a:schemeClr>
          </a:lnRef>
          <a:fillRef idx="1">
            <a:schemeClr val="accent4"/>
          </a:fillRef>
          <a:effectRef idx="0">
            <a:schemeClr val="accent4"/>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kumimoji="1" lang="ja-JP" altLang="en-US" sz="1000" dirty="0">
                <a:solidFill>
                  <a:schemeClr val="tx1"/>
                </a:solidFill>
              </a:rPr>
              <a:t>データ：</a:t>
            </a:r>
            <a:endParaRPr kumimoji="1" lang="en-US" altLang="ja-JP" sz="1000" dirty="0">
              <a:solidFill>
                <a:schemeClr val="tx1"/>
              </a:solidFill>
            </a:endParaRPr>
          </a:p>
          <a:p>
            <a:pPr algn="ctr"/>
            <a:r>
              <a:rPr kumimoji="1" lang="ja-JP" altLang="en-US" sz="1000" dirty="0">
                <a:solidFill>
                  <a:schemeClr val="tx1"/>
                </a:solidFill>
              </a:rPr>
              <a:t>見積情報</a:t>
            </a:r>
          </a:p>
        </p:txBody>
      </p:sp>
      <p:sp>
        <p:nvSpPr>
          <p:cNvPr id="24" name="正方形/長方形 23">
            <a:extLst>
              <a:ext uri="{FF2B5EF4-FFF2-40B4-BE49-F238E27FC236}">
                <a16:creationId xmlns:a16="http://schemas.microsoft.com/office/drawing/2014/main" id="{829B64A4-6ECD-DEE7-0FFD-4C589BF1B51D}"/>
              </a:ext>
            </a:extLst>
          </p:cNvPr>
          <p:cNvSpPr/>
          <p:nvPr/>
        </p:nvSpPr>
        <p:spPr>
          <a:xfrm>
            <a:off x="4807984" y="5290348"/>
            <a:ext cx="1718033" cy="421777"/>
          </a:xfrm>
          <a:prstGeom prst="rect">
            <a:avLst/>
          </a:prstGeom>
          <a:ln/>
        </p:spPr>
        <p:style>
          <a:lnRef idx="2">
            <a:schemeClr val="accent4">
              <a:shade val="15000"/>
            </a:schemeClr>
          </a:lnRef>
          <a:fillRef idx="1">
            <a:schemeClr val="accent4"/>
          </a:fillRef>
          <a:effectRef idx="0">
            <a:schemeClr val="accent4"/>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kumimoji="1" lang="ja-JP" altLang="en-US" sz="1000" dirty="0">
                <a:solidFill>
                  <a:schemeClr val="tx1"/>
                </a:solidFill>
              </a:rPr>
              <a:t>データ：</a:t>
            </a:r>
            <a:endParaRPr kumimoji="1" lang="en-US" altLang="ja-JP" sz="1000" dirty="0">
              <a:solidFill>
                <a:schemeClr val="tx1"/>
              </a:solidFill>
            </a:endParaRPr>
          </a:p>
          <a:p>
            <a:pPr algn="ctr"/>
            <a:r>
              <a:rPr kumimoji="1" lang="ja-JP" altLang="en-US" sz="1000" dirty="0">
                <a:solidFill>
                  <a:schemeClr val="tx1"/>
                </a:solidFill>
              </a:rPr>
              <a:t>納入設備情報、更改計画</a:t>
            </a:r>
          </a:p>
        </p:txBody>
      </p:sp>
      <p:sp>
        <p:nvSpPr>
          <p:cNvPr id="25" name="正方形/長方形 24">
            <a:extLst>
              <a:ext uri="{FF2B5EF4-FFF2-40B4-BE49-F238E27FC236}">
                <a16:creationId xmlns:a16="http://schemas.microsoft.com/office/drawing/2014/main" id="{483CC530-8045-6587-BC36-BD17606B6D81}"/>
              </a:ext>
            </a:extLst>
          </p:cNvPr>
          <p:cNvSpPr/>
          <p:nvPr/>
        </p:nvSpPr>
        <p:spPr>
          <a:xfrm>
            <a:off x="9632300" y="5328056"/>
            <a:ext cx="1718033" cy="421777"/>
          </a:xfrm>
          <a:prstGeom prst="rect">
            <a:avLst/>
          </a:prstGeom>
          <a:ln/>
        </p:spPr>
        <p:style>
          <a:lnRef idx="2">
            <a:schemeClr val="accent4">
              <a:shade val="15000"/>
            </a:schemeClr>
          </a:lnRef>
          <a:fillRef idx="1">
            <a:schemeClr val="accent4"/>
          </a:fillRef>
          <a:effectRef idx="0">
            <a:schemeClr val="accent4"/>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kumimoji="1" lang="ja-JP" altLang="en-US" sz="1000" dirty="0">
                <a:solidFill>
                  <a:schemeClr val="tx1"/>
                </a:solidFill>
              </a:rPr>
              <a:t>データ：</a:t>
            </a:r>
            <a:endParaRPr kumimoji="1" lang="en-US" altLang="ja-JP" sz="1000" dirty="0">
              <a:solidFill>
                <a:schemeClr val="tx1"/>
              </a:solidFill>
            </a:endParaRPr>
          </a:p>
          <a:p>
            <a:pPr algn="ctr"/>
            <a:r>
              <a:rPr kumimoji="1" lang="ja-JP" altLang="en-US" sz="1000" dirty="0">
                <a:solidFill>
                  <a:schemeClr val="tx1"/>
                </a:solidFill>
              </a:rPr>
              <a:t>要員リソース情報</a:t>
            </a:r>
          </a:p>
        </p:txBody>
      </p:sp>
      <p:cxnSp>
        <p:nvCxnSpPr>
          <p:cNvPr id="27" name="コネクタ: カギ線 26">
            <a:extLst>
              <a:ext uri="{FF2B5EF4-FFF2-40B4-BE49-F238E27FC236}">
                <a16:creationId xmlns:a16="http://schemas.microsoft.com/office/drawing/2014/main" id="{19C3A979-3939-640E-BC77-A28B6010F12E}"/>
              </a:ext>
            </a:extLst>
          </p:cNvPr>
          <p:cNvCxnSpPr>
            <a:stCxn id="17" idx="0"/>
            <a:endCxn id="3" idx="2"/>
          </p:cNvCxnSpPr>
          <p:nvPr/>
        </p:nvCxnSpPr>
        <p:spPr>
          <a:xfrm rot="16200000" flipV="1">
            <a:off x="2996602" y="1973738"/>
            <a:ext cx="2117761" cy="3019619"/>
          </a:xfrm>
          <a:prstGeom prst="bentConnector3">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28" name="コネクタ: カギ線 27">
            <a:extLst>
              <a:ext uri="{FF2B5EF4-FFF2-40B4-BE49-F238E27FC236}">
                <a16:creationId xmlns:a16="http://schemas.microsoft.com/office/drawing/2014/main" id="{61F2116C-930E-C44F-3FC8-8F3FF0E27C37}"/>
              </a:ext>
            </a:extLst>
          </p:cNvPr>
          <p:cNvCxnSpPr>
            <a:cxnSpLocks/>
            <a:stCxn id="24" idx="0"/>
            <a:endCxn id="3" idx="2"/>
          </p:cNvCxnSpPr>
          <p:nvPr/>
        </p:nvCxnSpPr>
        <p:spPr>
          <a:xfrm rot="16200000" flipV="1">
            <a:off x="2673497" y="2296843"/>
            <a:ext cx="2865681" cy="3121329"/>
          </a:xfrm>
          <a:prstGeom prst="bentConnector3">
            <a:avLst>
              <a:gd name="adj1" fmla="val 50000"/>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31" name="コネクタ: カギ線 30">
            <a:extLst>
              <a:ext uri="{FF2B5EF4-FFF2-40B4-BE49-F238E27FC236}">
                <a16:creationId xmlns:a16="http://schemas.microsoft.com/office/drawing/2014/main" id="{4DB15667-0FD2-6F05-BC1A-E9540BFF8141}"/>
              </a:ext>
            </a:extLst>
          </p:cNvPr>
          <p:cNvCxnSpPr>
            <a:cxnSpLocks/>
            <a:stCxn id="23" idx="0"/>
            <a:endCxn id="6" idx="2"/>
          </p:cNvCxnSpPr>
          <p:nvPr/>
        </p:nvCxnSpPr>
        <p:spPr>
          <a:xfrm rot="16200000" flipV="1">
            <a:off x="2813456" y="3739682"/>
            <a:ext cx="3841396" cy="1227562"/>
          </a:xfrm>
          <a:prstGeom prst="bentConnector3">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34" name="コネクタ: カギ線 33">
            <a:extLst>
              <a:ext uri="{FF2B5EF4-FFF2-40B4-BE49-F238E27FC236}">
                <a16:creationId xmlns:a16="http://schemas.microsoft.com/office/drawing/2014/main" id="{586E8EF9-D7D6-F7BA-7521-8D7512EF2F73}"/>
              </a:ext>
            </a:extLst>
          </p:cNvPr>
          <p:cNvCxnSpPr>
            <a:cxnSpLocks/>
            <a:stCxn id="20" idx="0"/>
            <a:endCxn id="3" idx="2"/>
          </p:cNvCxnSpPr>
          <p:nvPr/>
        </p:nvCxnSpPr>
        <p:spPr>
          <a:xfrm rot="16200000" flipV="1">
            <a:off x="861996" y="4108344"/>
            <a:ext cx="3842545" cy="475192"/>
          </a:xfrm>
          <a:prstGeom prst="bentConnector3">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37" name="コネクタ: カギ線 36">
            <a:extLst>
              <a:ext uri="{FF2B5EF4-FFF2-40B4-BE49-F238E27FC236}">
                <a16:creationId xmlns:a16="http://schemas.microsoft.com/office/drawing/2014/main" id="{C34B1C6F-78DE-F011-CEBB-AA5A99251002}"/>
              </a:ext>
            </a:extLst>
          </p:cNvPr>
          <p:cNvCxnSpPr>
            <a:cxnSpLocks/>
            <a:stCxn id="25" idx="0"/>
            <a:endCxn id="12" idx="2"/>
          </p:cNvCxnSpPr>
          <p:nvPr/>
        </p:nvCxnSpPr>
        <p:spPr>
          <a:xfrm rot="16200000" flipV="1">
            <a:off x="7399418" y="2236157"/>
            <a:ext cx="2896687" cy="3287112"/>
          </a:xfrm>
          <a:prstGeom prst="bentConnector3">
            <a:avLst>
              <a:gd name="adj1" fmla="val 50000"/>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40" name="コネクタ: カギ線 39">
            <a:extLst>
              <a:ext uri="{FF2B5EF4-FFF2-40B4-BE49-F238E27FC236}">
                <a16:creationId xmlns:a16="http://schemas.microsoft.com/office/drawing/2014/main" id="{AA18DD26-8E91-3A5C-08BA-D70CDD161520}"/>
              </a:ext>
            </a:extLst>
          </p:cNvPr>
          <p:cNvCxnSpPr>
            <a:cxnSpLocks/>
            <a:stCxn id="18" idx="0"/>
            <a:endCxn id="16" idx="2"/>
          </p:cNvCxnSpPr>
          <p:nvPr/>
        </p:nvCxnSpPr>
        <p:spPr>
          <a:xfrm rot="16200000" flipV="1">
            <a:off x="7584839" y="3572758"/>
            <a:ext cx="3609872" cy="1313031"/>
          </a:xfrm>
          <a:prstGeom prst="bentConnector3">
            <a:avLst>
              <a:gd name="adj1" fmla="val 50000"/>
            </a:avLst>
          </a:prstGeom>
          <a:ln>
            <a:tailEnd type="triangle"/>
          </a:ln>
        </p:spPr>
        <p:style>
          <a:lnRef idx="2">
            <a:schemeClr val="accent3"/>
          </a:lnRef>
          <a:fillRef idx="0">
            <a:schemeClr val="accent3"/>
          </a:fillRef>
          <a:effectRef idx="1">
            <a:schemeClr val="accent3"/>
          </a:effectRef>
          <a:fontRef idx="minor">
            <a:schemeClr val="tx1"/>
          </a:fontRef>
        </p:style>
      </p:cxnSp>
      <p:sp>
        <p:nvSpPr>
          <p:cNvPr id="43" name="正方形/長方形 42">
            <a:extLst>
              <a:ext uri="{FF2B5EF4-FFF2-40B4-BE49-F238E27FC236}">
                <a16:creationId xmlns:a16="http://schemas.microsoft.com/office/drawing/2014/main" id="{129D5E3D-31B0-47C4-52B7-76625674E59B}"/>
              </a:ext>
            </a:extLst>
          </p:cNvPr>
          <p:cNvSpPr/>
          <p:nvPr/>
        </p:nvSpPr>
        <p:spPr>
          <a:xfrm>
            <a:off x="2091304" y="308969"/>
            <a:ext cx="8400012" cy="488587"/>
          </a:xfrm>
          <a:prstGeom prst="rect">
            <a:avLst/>
          </a:prstGeom>
          <a:solidFill>
            <a:srgbClr val="E6FEEC"/>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l"/>
            <a:r>
              <a:rPr lang="ja-JP" altLang="en-US" sz="1600" dirty="0">
                <a:solidFill>
                  <a:schemeClr val="tx1"/>
                </a:solidFill>
              </a:rPr>
              <a:t>例：さまざまな業務に紐付いて蓄積しているデータを掛け合わせることで受注計画の精度向上</a:t>
            </a:r>
            <a:endParaRPr kumimoji="1" lang="ja-JP" altLang="en-US" sz="1600" dirty="0">
              <a:solidFill>
                <a:schemeClr val="tx1"/>
              </a:solidFill>
            </a:endParaRPr>
          </a:p>
        </p:txBody>
      </p:sp>
      <p:sp>
        <p:nvSpPr>
          <p:cNvPr id="44" name="正方形/長方形 43">
            <a:extLst>
              <a:ext uri="{FF2B5EF4-FFF2-40B4-BE49-F238E27FC236}">
                <a16:creationId xmlns:a16="http://schemas.microsoft.com/office/drawing/2014/main" id="{F10F1CFC-086F-617C-DDE8-89CC70A2FB20}"/>
              </a:ext>
            </a:extLst>
          </p:cNvPr>
          <p:cNvSpPr/>
          <p:nvPr/>
        </p:nvSpPr>
        <p:spPr>
          <a:xfrm rot="1721496">
            <a:off x="10445485" y="176099"/>
            <a:ext cx="2352621" cy="600211"/>
          </a:xfrm>
          <a:prstGeom prst="rect">
            <a:avLst/>
          </a:prstGeom>
          <a:solidFill>
            <a:schemeClr val="bg1"/>
          </a:solidFill>
          <a:ln w="3175">
            <a:solidFill>
              <a:srgbClr val="E426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600" dirty="0">
                <a:solidFill>
                  <a:schemeClr val="tx1"/>
                </a:solidFill>
              </a:rPr>
              <a:t>仮説表現イメージ</a:t>
            </a:r>
          </a:p>
        </p:txBody>
      </p:sp>
    </p:spTree>
    <p:extLst>
      <p:ext uri="{BB962C8B-B14F-4D97-AF65-F5344CB8AC3E}">
        <p14:creationId xmlns:p14="http://schemas.microsoft.com/office/powerpoint/2010/main" val="2292832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920CF5-C114-BD9D-A391-E174AFED3F86}"/>
              </a:ext>
            </a:extLst>
          </p:cNvPr>
          <p:cNvSpPr>
            <a:spLocks noGrp="1"/>
          </p:cNvSpPr>
          <p:nvPr>
            <p:ph type="title"/>
          </p:nvPr>
        </p:nvSpPr>
        <p:spPr/>
        <p:txBody>
          <a:bodyPr/>
          <a:lstStyle/>
          <a:p>
            <a:r>
              <a:rPr kumimoji="1" lang="ja-JP" altLang="en-US" dirty="0"/>
              <a:t>事前確認</a:t>
            </a:r>
          </a:p>
        </p:txBody>
      </p:sp>
      <p:sp>
        <p:nvSpPr>
          <p:cNvPr id="3" name="コンテンツ プレースホルダー 2">
            <a:extLst>
              <a:ext uri="{FF2B5EF4-FFF2-40B4-BE49-F238E27FC236}">
                <a16:creationId xmlns:a16="http://schemas.microsoft.com/office/drawing/2014/main" id="{6B2A4D8E-6162-2A8E-11DA-61C30AEFD0EC}"/>
              </a:ext>
            </a:extLst>
          </p:cNvPr>
          <p:cNvSpPr>
            <a:spLocks noGrp="1"/>
          </p:cNvSpPr>
          <p:nvPr>
            <p:ph sz="quarter" idx="10"/>
          </p:nvPr>
        </p:nvSpPr>
        <p:spPr/>
        <p:txBody>
          <a:bodyPr/>
          <a:lstStyle/>
          <a:p>
            <a:pPr algn="just"/>
            <a:r>
              <a:rPr lang="ja-JP" altLang="ja-JP" sz="1400" dirty="0">
                <a:effectLst/>
                <a:latin typeface="游ゴシック" panose="020B0400000000000000" pitchFamily="50" charset="-128"/>
                <a:ea typeface="Meiryo UI" panose="020B0604030504040204" pitchFamily="50" charset="-128"/>
                <a:cs typeface="ＭＳ Ｐゴシック" panose="020B0600070205080204" pitchFamily="50" charset="-128"/>
              </a:rPr>
              <a:t>■お聞きしたいこと</a:t>
            </a:r>
            <a:endParaRPr lang="ja-JP" altLang="ja-JP" sz="1400" dirty="0">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pPr algn="just"/>
            <a:r>
              <a:rPr lang="ja-JP" altLang="ja-JP" sz="1400" dirty="0">
                <a:effectLst/>
                <a:latin typeface="游ゴシック" panose="020B0400000000000000" pitchFamily="50" charset="-128"/>
                <a:ea typeface="Meiryo UI" panose="020B0604030504040204" pitchFamily="50" charset="-128"/>
                <a:cs typeface="ＭＳ Ｐゴシック" panose="020B0600070205080204" pitchFamily="50" charset="-128"/>
              </a:rPr>
              <a:t>・日々の営業プロセスでどのような情報が投入されているのか。たとえば以下のような機能が考えられますが、どの程度実装・活用されているか？</a:t>
            </a:r>
            <a:endParaRPr lang="ja-JP" altLang="ja-JP" sz="1400" dirty="0">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pPr algn="just"/>
            <a:r>
              <a:rPr lang="ja-JP" altLang="ja-JP" sz="1400" dirty="0">
                <a:effectLst/>
                <a:latin typeface="游ゴシック" panose="020B0400000000000000" pitchFamily="50" charset="-128"/>
                <a:ea typeface="Meiryo UI" panose="020B0604030504040204" pitchFamily="50" charset="-128"/>
                <a:cs typeface="ＭＳ Ｐゴシック" panose="020B0600070205080204" pitchFamily="50" charset="-128"/>
              </a:rPr>
              <a:t>　</a:t>
            </a:r>
            <a:r>
              <a:rPr lang="en-US" altLang="ja-JP" sz="1400" dirty="0">
                <a:effectLst/>
                <a:latin typeface="游ゴシック" panose="020B0400000000000000" pitchFamily="50" charset="-128"/>
                <a:ea typeface="Meiryo UI" panose="020B0604030504040204" pitchFamily="50" charset="-128"/>
                <a:cs typeface="ＭＳ Ｐゴシック" panose="020B0600070205080204" pitchFamily="50" charset="-128"/>
              </a:rPr>
              <a:t>CS</a:t>
            </a:r>
            <a:r>
              <a:rPr lang="ja-JP" altLang="ja-JP" sz="1400" dirty="0">
                <a:effectLst/>
                <a:latin typeface="游ゴシック" panose="020B0400000000000000" pitchFamily="50" charset="-128"/>
                <a:ea typeface="Meiryo UI" panose="020B0604030504040204" pitchFamily="50" charset="-128"/>
                <a:cs typeface="ＭＳ Ｐゴシック" panose="020B0600070205080204" pitchFamily="50" charset="-128"/>
              </a:rPr>
              <a:t>フォロー・・・設備情報、出張報告、問合せ管理</a:t>
            </a:r>
            <a:endParaRPr lang="ja-JP" altLang="ja-JP" sz="1400" dirty="0">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pPr algn="just"/>
            <a:r>
              <a:rPr lang="ja-JP" altLang="ja-JP" sz="1400" dirty="0">
                <a:effectLst/>
                <a:latin typeface="游ゴシック" panose="020B0400000000000000" pitchFamily="50" charset="-128"/>
                <a:ea typeface="Meiryo UI" panose="020B0604030504040204" pitchFamily="50" charset="-128"/>
                <a:cs typeface="ＭＳ Ｐゴシック" panose="020B0600070205080204" pitchFamily="50" charset="-128"/>
              </a:rPr>
              <a:t>　受売利フォロー・・・実績集計、将来予測</a:t>
            </a:r>
            <a:endParaRPr lang="ja-JP" altLang="ja-JP" sz="1400" dirty="0">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pPr algn="just"/>
            <a:r>
              <a:rPr lang="ja-JP" altLang="ja-JP" sz="1400" dirty="0">
                <a:effectLst/>
                <a:latin typeface="游ゴシック" panose="020B0400000000000000" pitchFamily="50" charset="-128"/>
                <a:ea typeface="Meiryo UI" panose="020B0604030504040204" pitchFamily="50" charset="-128"/>
                <a:cs typeface="ＭＳ Ｐゴシック" panose="020B0600070205080204" pitchFamily="50" charset="-128"/>
              </a:rPr>
              <a:t>　拡販計画・・・引合活動、見積自動化</a:t>
            </a:r>
            <a:endParaRPr lang="ja-JP" altLang="ja-JP" sz="1400" dirty="0">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pPr algn="just"/>
            <a:r>
              <a:rPr lang="ja-JP" altLang="ja-JP" sz="1400" dirty="0">
                <a:effectLst/>
                <a:latin typeface="游ゴシック" panose="020B0400000000000000" pitchFamily="50" charset="-128"/>
                <a:ea typeface="Meiryo UI" panose="020B0604030504040204" pitchFamily="50" charset="-128"/>
                <a:cs typeface="ＭＳ Ｐゴシック" panose="020B0600070205080204" pitchFamily="50" charset="-128"/>
              </a:rPr>
              <a:t>　</a:t>
            </a:r>
            <a:r>
              <a:rPr lang="en-US" altLang="ja-JP" sz="1400" dirty="0">
                <a:effectLst/>
                <a:latin typeface="游ゴシック" panose="020B0400000000000000" pitchFamily="50" charset="-128"/>
                <a:ea typeface="Meiryo UI" panose="020B0604030504040204" pitchFamily="50" charset="-128"/>
                <a:cs typeface="ＭＳ Ｐゴシック" panose="020B0600070205080204" pitchFamily="50" charset="-128"/>
              </a:rPr>
              <a:t>KPI</a:t>
            </a:r>
            <a:r>
              <a:rPr lang="ja-JP" altLang="ja-JP" sz="1400" dirty="0">
                <a:effectLst/>
                <a:latin typeface="游ゴシック" panose="020B0400000000000000" pitchFamily="50" charset="-128"/>
                <a:ea typeface="Meiryo UI" panose="020B0604030504040204" pitchFamily="50" charset="-128"/>
                <a:cs typeface="ＭＳ Ｐゴシック" panose="020B0600070205080204" pitchFamily="50" charset="-128"/>
              </a:rPr>
              <a:t>フォロー</a:t>
            </a:r>
            <a:endParaRPr lang="ja-JP" altLang="ja-JP" sz="1400" dirty="0">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pPr algn="just"/>
            <a:r>
              <a:rPr lang="ja-JP" altLang="ja-JP" sz="1400" dirty="0">
                <a:effectLst/>
                <a:latin typeface="游ゴシック" panose="020B0400000000000000" pitchFamily="50" charset="-128"/>
                <a:ea typeface="Meiryo UI" panose="020B0604030504040204" pitchFamily="50" charset="-128"/>
                <a:cs typeface="ＭＳ Ｐゴシック" panose="020B0600070205080204" pitchFamily="50" charset="-128"/>
              </a:rPr>
              <a:t>→上記に関わるインプット／アウトプットの連携システム及び取り扱いデータ</a:t>
            </a:r>
            <a:endParaRPr lang="ja-JP" altLang="ja-JP" sz="1400" dirty="0">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pPr algn="just"/>
            <a:r>
              <a:rPr lang="ja-JP"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　当日別資料を用いて・・・</a:t>
            </a:r>
            <a:endParaRPr lang="ja-JP" altLang="ja-JP" sz="1400" dirty="0">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pPr algn="just"/>
            <a:r>
              <a:rPr lang="en-US" altLang="ja-JP" sz="1400" dirty="0">
                <a:effectLst/>
                <a:latin typeface="Meiryo UI" panose="020B0604030504040204" pitchFamily="50" charset="-128"/>
                <a:ea typeface="游ゴシック" panose="020B0400000000000000" pitchFamily="50" charset="-128"/>
                <a:cs typeface="ＭＳ Ｐゴシック" panose="020B0600070205080204" pitchFamily="50" charset="-128"/>
              </a:rPr>
              <a:t> </a:t>
            </a:r>
            <a:endParaRPr lang="ja-JP" altLang="ja-JP" sz="1400" dirty="0">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pPr algn="just"/>
            <a:r>
              <a:rPr lang="ja-JP" altLang="ja-JP" sz="1400" dirty="0">
                <a:effectLst/>
                <a:latin typeface="游ゴシック" panose="020B0400000000000000" pitchFamily="50" charset="-128"/>
                <a:ea typeface="Meiryo UI" panose="020B0604030504040204" pitchFamily="50" charset="-128"/>
                <a:cs typeface="ＭＳ Ｐゴシック" panose="020B0600070205080204" pitchFamily="50" charset="-128"/>
              </a:rPr>
              <a:t>・</a:t>
            </a:r>
            <a:r>
              <a:rPr lang="en-US" altLang="ja-JP" sz="1400" dirty="0">
                <a:effectLst/>
                <a:latin typeface="游ゴシック" panose="020B0400000000000000" pitchFamily="50" charset="-128"/>
                <a:ea typeface="Meiryo UI" panose="020B0604030504040204" pitchFamily="50" charset="-128"/>
                <a:cs typeface="ＭＳ Ｐゴシック" panose="020B0600070205080204" pitchFamily="50" charset="-128"/>
              </a:rPr>
              <a:t>SPMI</a:t>
            </a:r>
            <a:r>
              <a:rPr lang="ja-JP" altLang="ja-JP" sz="1400" dirty="0">
                <a:effectLst/>
                <a:latin typeface="游ゴシック" panose="020B0400000000000000" pitchFamily="50" charset="-128"/>
                <a:ea typeface="Meiryo UI" panose="020B0604030504040204" pitchFamily="50" charset="-128"/>
                <a:cs typeface="ＭＳ Ｐゴシック" panose="020B0600070205080204" pitchFamily="50" charset="-128"/>
              </a:rPr>
              <a:t>の既存システムの老朽化に伴う</a:t>
            </a:r>
            <a:r>
              <a:rPr lang="en-US" altLang="ja-JP" sz="1400" dirty="0">
                <a:effectLst/>
                <a:latin typeface="游ゴシック" panose="020B0400000000000000" pitchFamily="50" charset="-128"/>
                <a:ea typeface="Meiryo UI" panose="020B0604030504040204" pitchFamily="50" charset="-128"/>
                <a:cs typeface="ＭＳ Ｐゴシック" panose="020B0600070205080204" pitchFamily="50" charset="-128"/>
              </a:rPr>
              <a:t>CRM</a:t>
            </a:r>
            <a:r>
              <a:rPr lang="ja-JP" altLang="ja-JP" sz="1400" dirty="0">
                <a:effectLst/>
                <a:latin typeface="游ゴシック" panose="020B0400000000000000" pitchFamily="50" charset="-128"/>
                <a:ea typeface="Meiryo UI" panose="020B0604030504040204" pitchFamily="50" charset="-128"/>
                <a:cs typeface="ＭＳ Ｐゴシック" panose="020B0600070205080204" pitchFamily="50" charset="-128"/>
              </a:rPr>
              <a:t>側で巻き取っている機能があれば（予定含め）</a:t>
            </a:r>
            <a:endParaRPr lang="ja-JP" altLang="ja-JP" sz="1400" dirty="0">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pPr algn="just"/>
            <a:r>
              <a:rPr lang="ja-JP"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　</a:t>
            </a:r>
            <a:r>
              <a:rPr lang="en-US"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FY23</a:t>
            </a:r>
            <a:r>
              <a:rPr lang="ja-JP"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実績：受注フォロー</a:t>
            </a:r>
            <a:r>
              <a:rPr lang="en-US"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DB</a:t>
            </a:r>
            <a:r>
              <a:rPr lang="ja-JP"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システム（アフターサービスの営業案件管理機能）・・・</a:t>
            </a:r>
            <a:r>
              <a:rPr lang="en-US"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2024/5</a:t>
            </a:r>
            <a:r>
              <a:rPr lang="ja-JP"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月運用開始</a:t>
            </a:r>
            <a:endParaRPr lang="ja-JP" altLang="ja-JP" sz="1400" dirty="0">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pPr algn="just"/>
            <a:r>
              <a:rPr lang="ja-JP"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　</a:t>
            </a:r>
            <a:r>
              <a:rPr lang="en-US"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FY24</a:t>
            </a:r>
            <a:r>
              <a:rPr lang="ja-JP"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予定：</a:t>
            </a:r>
            <a:r>
              <a:rPr lang="en-US"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Umbrella</a:t>
            </a:r>
            <a:r>
              <a:rPr lang="ja-JP"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システム（発電所お客様からのお問合せ回答管理）・・・現在、</a:t>
            </a:r>
            <a:r>
              <a:rPr lang="en-US"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BPI</a:t>
            </a:r>
            <a:r>
              <a:rPr lang="ja-JP"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部ソフトウェア</a:t>
            </a:r>
            <a:r>
              <a:rPr lang="en-US"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6G</a:t>
            </a:r>
            <a:r>
              <a:rPr lang="ja-JP"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殿と業務部門で</a:t>
            </a:r>
            <a:r>
              <a:rPr lang="en-US"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CRM</a:t>
            </a:r>
            <a:r>
              <a:rPr lang="ja-JP"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化の最終判断中。</a:t>
            </a:r>
            <a:endParaRPr lang="ja-JP" altLang="ja-JP" sz="1400" dirty="0">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pPr algn="just"/>
            <a:r>
              <a:rPr lang="ja-JP" altLang="ja-JP" sz="1400" dirty="0">
                <a:effectLst/>
                <a:latin typeface="游ゴシック" panose="020B0400000000000000" pitchFamily="50" charset="-128"/>
                <a:ea typeface="Meiryo UI" panose="020B0604030504040204" pitchFamily="50" charset="-128"/>
                <a:cs typeface="ＭＳ Ｐゴシック" panose="020B0600070205080204" pitchFamily="50" charset="-128"/>
              </a:rPr>
              <a:t>　</a:t>
            </a:r>
            <a:r>
              <a:rPr lang="ja-JP"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※営業部ご担当者からのコメントとして「老朽対応の一環で、</a:t>
            </a:r>
            <a:r>
              <a:rPr lang="en-US"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CRM</a:t>
            </a:r>
            <a:r>
              <a:rPr lang="ja-JP"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は利用者全員にライセンス購入が必要であることがネック」とコメントあり。</a:t>
            </a:r>
            <a:endParaRPr lang="ja-JP" altLang="ja-JP" sz="1400" dirty="0">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pPr algn="just"/>
            <a:r>
              <a:rPr lang="en-US" altLang="ja-JP" sz="1400" dirty="0">
                <a:solidFill>
                  <a:srgbClr val="0070C0"/>
                </a:solidFill>
                <a:effectLst/>
                <a:latin typeface="Meiryo UI" panose="020B0604030504040204" pitchFamily="50" charset="-128"/>
                <a:ea typeface="游ゴシック" panose="020B0400000000000000" pitchFamily="50" charset="-128"/>
                <a:cs typeface="ＭＳ Ｐゴシック" panose="020B0600070205080204" pitchFamily="50" charset="-128"/>
              </a:rPr>
              <a:t> </a:t>
            </a:r>
            <a:endParaRPr lang="ja-JP" altLang="ja-JP" sz="1400" dirty="0">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pPr algn="just"/>
            <a:r>
              <a:rPr lang="ja-JP" altLang="ja-JP" sz="1400" dirty="0">
                <a:effectLst/>
                <a:latin typeface="游ゴシック" panose="020B0400000000000000" pitchFamily="50" charset="-128"/>
                <a:ea typeface="Meiryo UI" panose="020B0604030504040204" pitchFamily="50" charset="-128"/>
                <a:cs typeface="ＭＳ Ｐゴシック" panose="020B0600070205080204" pitchFamily="50" charset="-128"/>
              </a:rPr>
              <a:t>・</a:t>
            </a:r>
            <a:r>
              <a:rPr lang="en-US" altLang="ja-JP" sz="1400" dirty="0">
                <a:effectLst/>
                <a:latin typeface="游ゴシック" panose="020B0400000000000000" pitchFamily="50" charset="-128"/>
                <a:ea typeface="Meiryo UI" panose="020B0604030504040204" pitchFamily="50" charset="-128"/>
                <a:cs typeface="ＭＳ Ｐゴシック" panose="020B0600070205080204" pitchFamily="50" charset="-128"/>
              </a:rPr>
              <a:t>CRM</a:t>
            </a:r>
            <a:r>
              <a:rPr lang="ja-JP" altLang="ja-JP" sz="1400" dirty="0">
                <a:effectLst/>
                <a:latin typeface="游ゴシック" panose="020B0400000000000000" pitchFamily="50" charset="-128"/>
                <a:ea typeface="Meiryo UI" panose="020B0604030504040204" pitchFamily="50" charset="-128"/>
                <a:cs typeface="ＭＳ Ｐゴシック" panose="020B0600070205080204" pitchFamily="50" charset="-128"/>
              </a:rPr>
              <a:t>では扱っていないが事業計画に活用可能と思われる他のデータ（ご存じであれば）</a:t>
            </a:r>
            <a:endParaRPr lang="ja-JP" altLang="ja-JP" sz="1400" dirty="0">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pPr algn="just"/>
            <a:r>
              <a:rPr lang="ja-JP"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　すぐに思いついたものとして・・・「引合費（原価</a:t>
            </a:r>
            <a:r>
              <a:rPr lang="en-US"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DB</a:t>
            </a:r>
            <a:r>
              <a:rPr lang="ja-JP" altLang="ja-JP" sz="1400" dirty="0">
                <a:solidFill>
                  <a:srgbClr val="0070C0"/>
                </a:solidFill>
                <a:effectLst/>
                <a:latin typeface="游ゴシック" panose="020B0400000000000000" pitchFamily="50" charset="-128"/>
                <a:ea typeface="Meiryo UI" panose="020B0604030504040204" pitchFamily="50" charset="-128"/>
                <a:cs typeface="ＭＳ Ｐゴシック" panose="020B0600070205080204" pitchFamily="50" charset="-128"/>
              </a:rPr>
              <a:t>システム）」は昨年度話題になりました。</a:t>
            </a:r>
            <a:endParaRPr lang="ja-JP" altLang="ja-JP" sz="1400" dirty="0">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endParaRPr kumimoji="1" lang="ja-JP" altLang="en-US" sz="1600" dirty="0"/>
          </a:p>
        </p:txBody>
      </p:sp>
    </p:spTree>
    <p:extLst>
      <p:ext uri="{BB962C8B-B14F-4D97-AF65-F5344CB8AC3E}">
        <p14:creationId xmlns:p14="http://schemas.microsoft.com/office/powerpoint/2010/main" val="1008822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B3896C-45A2-7FA7-236D-4290D382C9FB}"/>
              </a:ext>
            </a:extLst>
          </p:cNvPr>
          <p:cNvSpPr>
            <a:spLocks noGrp="1"/>
          </p:cNvSpPr>
          <p:nvPr>
            <p:ph type="title"/>
          </p:nvPr>
        </p:nvSpPr>
        <p:spPr/>
        <p:txBody>
          <a:bodyPr/>
          <a:lstStyle/>
          <a:p>
            <a:r>
              <a:rPr kumimoji="1" lang="ja-JP" altLang="en-US" dirty="0"/>
              <a:t>スケジュール</a:t>
            </a:r>
          </a:p>
        </p:txBody>
      </p:sp>
      <p:graphicFrame>
        <p:nvGraphicFramePr>
          <p:cNvPr id="4" name="コンテンツ プレースホルダー 3">
            <a:extLst>
              <a:ext uri="{FF2B5EF4-FFF2-40B4-BE49-F238E27FC236}">
                <a16:creationId xmlns:a16="http://schemas.microsoft.com/office/drawing/2014/main" id="{1C63D734-10B6-5D3F-3596-793D4E05833A}"/>
              </a:ext>
            </a:extLst>
          </p:cNvPr>
          <p:cNvGraphicFramePr>
            <a:graphicFrameLocks noGrp="1"/>
          </p:cNvGraphicFramePr>
          <p:nvPr>
            <p:ph sz="quarter" idx="10"/>
            <p:extLst>
              <p:ext uri="{D42A27DB-BD31-4B8C-83A1-F6EECF244321}">
                <p14:modId xmlns:p14="http://schemas.microsoft.com/office/powerpoint/2010/main" val="602349056"/>
              </p:ext>
            </p:extLst>
          </p:nvPr>
        </p:nvGraphicFramePr>
        <p:xfrm>
          <a:off x="297730" y="1036461"/>
          <a:ext cx="11867102" cy="5326761"/>
        </p:xfrm>
        <a:graphic>
          <a:graphicData uri="http://schemas.openxmlformats.org/drawingml/2006/table">
            <a:tbl>
              <a:tblPr firstRow="1" bandRow="1">
                <a:tableStyleId>{5C22544A-7EE6-4342-B048-85BDC9FD1C3A}</a:tableStyleId>
              </a:tblPr>
              <a:tblGrid>
                <a:gridCol w="912854">
                  <a:extLst>
                    <a:ext uri="{9D8B030D-6E8A-4147-A177-3AD203B41FA5}">
                      <a16:colId xmlns:a16="http://schemas.microsoft.com/office/drawing/2014/main" val="880177277"/>
                    </a:ext>
                  </a:extLst>
                </a:gridCol>
                <a:gridCol w="912854">
                  <a:extLst>
                    <a:ext uri="{9D8B030D-6E8A-4147-A177-3AD203B41FA5}">
                      <a16:colId xmlns:a16="http://schemas.microsoft.com/office/drawing/2014/main" val="2799243991"/>
                    </a:ext>
                  </a:extLst>
                </a:gridCol>
                <a:gridCol w="912854">
                  <a:extLst>
                    <a:ext uri="{9D8B030D-6E8A-4147-A177-3AD203B41FA5}">
                      <a16:colId xmlns:a16="http://schemas.microsoft.com/office/drawing/2014/main" val="707493223"/>
                    </a:ext>
                  </a:extLst>
                </a:gridCol>
                <a:gridCol w="912854">
                  <a:extLst>
                    <a:ext uri="{9D8B030D-6E8A-4147-A177-3AD203B41FA5}">
                      <a16:colId xmlns:a16="http://schemas.microsoft.com/office/drawing/2014/main" val="1981358627"/>
                    </a:ext>
                  </a:extLst>
                </a:gridCol>
                <a:gridCol w="912854">
                  <a:extLst>
                    <a:ext uri="{9D8B030D-6E8A-4147-A177-3AD203B41FA5}">
                      <a16:colId xmlns:a16="http://schemas.microsoft.com/office/drawing/2014/main" val="3666019169"/>
                    </a:ext>
                  </a:extLst>
                </a:gridCol>
                <a:gridCol w="912854">
                  <a:extLst>
                    <a:ext uri="{9D8B030D-6E8A-4147-A177-3AD203B41FA5}">
                      <a16:colId xmlns:a16="http://schemas.microsoft.com/office/drawing/2014/main" val="944576133"/>
                    </a:ext>
                  </a:extLst>
                </a:gridCol>
                <a:gridCol w="912854">
                  <a:extLst>
                    <a:ext uri="{9D8B030D-6E8A-4147-A177-3AD203B41FA5}">
                      <a16:colId xmlns:a16="http://schemas.microsoft.com/office/drawing/2014/main" val="2446536857"/>
                    </a:ext>
                  </a:extLst>
                </a:gridCol>
                <a:gridCol w="912854">
                  <a:extLst>
                    <a:ext uri="{9D8B030D-6E8A-4147-A177-3AD203B41FA5}">
                      <a16:colId xmlns:a16="http://schemas.microsoft.com/office/drawing/2014/main" val="1662039810"/>
                    </a:ext>
                  </a:extLst>
                </a:gridCol>
                <a:gridCol w="912854">
                  <a:extLst>
                    <a:ext uri="{9D8B030D-6E8A-4147-A177-3AD203B41FA5}">
                      <a16:colId xmlns:a16="http://schemas.microsoft.com/office/drawing/2014/main" val="1341041383"/>
                    </a:ext>
                  </a:extLst>
                </a:gridCol>
                <a:gridCol w="912854">
                  <a:extLst>
                    <a:ext uri="{9D8B030D-6E8A-4147-A177-3AD203B41FA5}">
                      <a16:colId xmlns:a16="http://schemas.microsoft.com/office/drawing/2014/main" val="1454622578"/>
                    </a:ext>
                  </a:extLst>
                </a:gridCol>
                <a:gridCol w="912854">
                  <a:extLst>
                    <a:ext uri="{9D8B030D-6E8A-4147-A177-3AD203B41FA5}">
                      <a16:colId xmlns:a16="http://schemas.microsoft.com/office/drawing/2014/main" val="652626586"/>
                    </a:ext>
                  </a:extLst>
                </a:gridCol>
                <a:gridCol w="912854">
                  <a:extLst>
                    <a:ext uri="{9D8B030D-6E8A-4147-A177-3AD203B41FA5}">
                      <a16:colId xmlns:a16="http://schemas.microsoft.com/office/drawing/2014/main" val="3989775919"/>
                    </a:ext>
                  </a:extLst>
                </a:gridCol>
                <a:gridCol w="912854">
                  <a:extLst>
                    <a:ext uri="{9D8B030D-6E8A-4147-A177-3AD203B41FA5}">
                      <a16:colId xmlns:a16="http://schemas.microsoft.com/office/drawing/2014/main" val="2501141165"/>
                    </a:ext>
                  </a:extLst>
                </a:gridCol>
              </a:tblGrid>
              <a:tr h="0">
                <a:tc>
                  <a:txBody>
                    <a:bodyPr/>
                    <a:lstStyle/>
                    <a:p>
                      <a:pPr algn="ctr"/>
                      <a:r>
                        <a:rPr kumimoji="1" lang="en-US" altLang="ja-JP" sz="1400" dirty="0"/>
                        <a:t>4/1</a:t>
                      </a:r>
                      <a:endParaRPr kumimoji="1" lang="ja-JP" altLang="en-US" sz="1400" dirty="0"/>
                    </a:p>
                  </a:txBody>
                  <a:tcPr/>
                </a:tc>
                <a:tc>
                  <a:txBody>
                    <a:bodyPr/>
                    <a:lstStyle/>
                    <a:p>
                      <a:pPr algn="ctr"/>
                      <a:r>
                        <a:rPr kumimoji="1" lang="en-US" altLang="ja-JP" sz="1400" dirty="0"/>
                        <a:t>4/8</a:t>
                      </a:r>
                      <a:endParaRPr kumimoji="1" lang="ja-JP" altLang="en-US" sz="1400" dirty="0"/>
                    </a:p>
                  </a:txBody>
                  <a:tcPr/>
                </a:tc>
                <a:tc>
                  <a:txBody>
                    <a:bodyPr/>
                    <a:lstStyle/>
                    <a:p>
                      <a:pPr algn="ctr"/>
                      <a:r>
                        <a:rPr kumimoji="1" lang="en-US" altLang="ja-JP" sz="1400" dirty="0"/>
                        <a:t>4/15</a:t>
                      </a:r>
                      <a:endParaRPr kumimoji="1" lang="ja-JP" altLang="en-US" sz="1400" dirty="0"/>
                    </a:p>
                  </a:txBody>
                  <a:tcPr/>
                </a:tc>
                <a:tc>
                  <a:txBody>
                    <a:bodyPr/>
                    <a:lstStyle/>
                    <a:p>
                      <a:pPr algn="ctr"/>
                      <a:r>
                        <a:rPr kumimoji="1" lang="en-US" altLang="ja-JP" sz="1400" dirty="0"/>
                        <a:t>4/22</a:t>
                      </a:r>
                      <a:endParaRPr kumimoji="1" lang="ja-JP" altLang="en-US" sz="1400" dirty="0"/>
                    </a:p>
                  </a:txBody>
                  <a:tcPr/>
                </a:tc>
                <a:tc>
                  <a:txBody>
                    <a:bodyPr/>
                    <a:lstStyle/>
                    <a:p>
                      <a:pPr algn="ctr"/>
                      <a:r>
                        <a:rPr kumimoji="1" lang="en-US" altLang="ja-JP" sz="1400" dirty="0"/>
                        <a:t>4/29</a:t>
                      </a:r>
                      <a:endParaRPr kumimoji="1" lang="ja-JP" altLang="en-US" sz="1400" dirty="0"/>
                    </a:p>
                  </a:txBody>
                  <a:tcPr/>
                </a:tc>
                <a:tc>
                  <a:txBody>
                    <a:bodyPr/>
                    <a:lstStyle/>
                    <a:p>
                      <a:pPr algn="ctr"/>
                      <a:r>
                        <a:rPr kumimoji="1" lang="en-US" altLang="ja-JP" sz="1400" dirty="0"/>
                        <a:t>5/6</a:t>
                      </a:r>
                      <a:endParaRPr kumimoji="1" lang="ja-JP" altLang="en-US" sz="1400" dirty="0"/>
                    </a:p>
                  </a:txBody>
                  <a:tcPr/>
                </a:tc>
                <a:tc>
                  <a:txBody>
                    <a:bodyPr/>
                    <a:lstStyle/>
                    <a:p>
                      <a:pPr algn="ctr"/>
                      <a:r>
                        <a:rPr kumimoji="1" lang="en-US" altLang="ja-JP" sz="1400" dirty="0"/>
                        <a:t>5/13</a:t>
                      </a:r>
                      <a:endParaRPr kumimoji="1" lang="ja-JP" altLang="en-US" sz="1400" dirty="0"/>
                    </a:p>
                  </a:txBody>
                  <a:tcPr/>
                </a:tc>
                <a:tc>
                  <a:txBody>
                    <a:bodyPr/>
                    <a:lstStyle/>
                    <a:p>
                      <a:pPr algn="ctr"/>
                      <a:r>
                        <a:rPr kumimoji="1" lang="en-US" altLang="ja-JP" sz="1400" dirty="0"/>
                        <a:t>5/20</a:t>
                      </a:r>
                      <a:endParaRPr kumimoji="1" lang="ja-JP" altLang="en-US" sz="1400" dirty="0"/>
                    </a:p>
                  </a:txBody>
                  <a:tcPr/>
                </a:tc>
                <a:tc>
                  <a:txBody>
                    <a:bodyPr/>
                    <a:lstStyle/>
                    <a:p>
                      <a:pPr algn="ctr"/>
                      <a:r>
                        <a:rPr kumimoji="1" lang="en-US" altLang="ja-JP" sz="1400" dirty="0"/>
                        <a:t>5/27</a:t>
                      </a:r>
                      <a:endParaRPr kumimoji="1" lang="ja-JP" altLang="en-US" sz="1400" dirty="0"/>
                    </a:p>
                  </a:txBody>
                  <a:tcPr/>
                </a:tc>
                <a:tc>
                  <a:txBody>
                    <a:bodyPr/>
                    <a:lstStyle/>
                    <a:p>
                      <a:pPr algn="ctr"/>
                      <a:r>
                        <a:rPr kumimoji="1" lang="en-US" altLang="ja-JP" sz="1400" dirty="0"/>
                        <a:t>6/3</a:t>
                      </a:r>
                      <a:endParaRPr kumimoji="1" lang="ja-JP" altLang="en-US" sz="1400" dirty="0"/>
                    </a:p>
                  </a:txBody>
                  <a:tcPr/>
                </a:tc>
                <a:tc>
                  <a:txBody>
                    <a:bodyPr/>
                    <a:lstStyle/>
                    <a:p>
                      <a:pPr algn="ctr"/>
                      <a:r>
                        <a:rPr kumimoji="1" lang="en-US" altLang="ja-JP" sz="1400" dirty="0"/>
                        <a:t>6/10</a:t>
                      </a:r>
                      <a:endParaRPr kumimoji="1" lang="ja-JP" altLang="en-US" sz="1400" dirty="0"/>
                    </a:p>
                  </a:txBody>
                  <a:tcPr/>
                </a:tc>
                <a:tc>
                  <a:txBody>
                    <a:bodyPr/>
                    <a:lstStyle/>
                    <a:p>
                      <a:pPr algn="ctr"/>
                      <a:r>
                        <a:rPr kumimoji="1" lang="en-US" altLang="ja-JP" sz="1400" dirty="0"/>
                        <a:t>6/17</a:t>
                      </a:r>
                      <a:endParaRPr kumimoji="1" lang="ja-JP" altLang="en-US" sz="1400" dirty="0"/>
                    </a:p>
                  </a:txBody>
                  <a:tcPr/>
                </a:tc>
                <a:tc>
                  <a:txBody>
                    <a:bodyPr/>
                    <a:lstStyle/>
                    <a:p>
                      <a:pPr algn="ctr"/>
                      <a:r>
                        <a:rPr kumimoji="1" lang="en-US" altLang="ja-JP" sz="1400" dirty="0"/>
                        <a:t>6/24</a:t>
                      </a:r>
                      <a:endParaRPr kumimoji="1" lang="ja-JP" altLang="en-US" sz="1400" dirty="0"/>
                    </a:p>
                  </a:txBody>
                  <a:tcPr/>
                </a:tc>
                <a:extLst>
                  <a:ext uri="{0D108BD9-81ED-4DB2-BD59-A6C34878D82A}">
                    <a16:rowId xmlns:a16="http://schemas.microsoft.com/office/drawing/2014/main" val="3906735153"/>
                  </a:ext>
                </a:extLst>
              </a:tr>
              <a:tr h="5021961">
                <a:tc>
                  <a:txBody>
                    <a:bodyPr/>
                    <a:lstStyle/>
                    <a:p>
                      <a:endParaRPr kumimoji="1" lang="ja-JP" altLang="en-US" sz="1400" dirty="0"/>
                    </a:p>
                  </a:txBody>
                  <a:tcPr>
                    <a:solidFill>
                      <a:schemeClr val="bg1">
                        <a:lumMod val="85000"/>
                      </a:schemeClr>
                    </a:solidFill>
                  </a:tcPr>
                </a:tc>
                <a:tc>
                  <a:txBody>
                    <a:bodyPr/>
                    <a:lstStyle/>
                    <a:p>
                      <a:endParaRPr kumimoji="1" lang="ja-JP" altLang="en-US" sz="1400" dirty="0"/>
                    </a:p>
                  </a:txBody>
                  <a:tcPr>
                    <a:solidFill>
                      <a:schemeClr val="bg1">
                        <a:lumMod val="85000"/>
                      </a:schemeClr>
                    </a:solidFill>
                  </a:tcPr>
                </a:tc>
                <a:tc>
                  <a:txBody>
                    <a:bodyPr/>
                    <a:lstStyle/>
                    <a:p>
                      <a:endParaRPr kumimoji="1" lang="ja-JP" altLang="en-US" sz="1400"/>
                    </a:p>
                  </a:txBody>
                  <a:tcPr>
                    <a:solidFill>
                      <a:schemeClr val="bg1">
                        <a:lumMod val="85000"/>
                      </a:schemeClr>
                    </a:solidFill>
                  </a:tcPr>
                </a:tc>
                <a:tc>
                  <a:txBody>
                    <a:bodyPr/>
                    <a:lstStyle/>
                    <a:p>
                      <a:endParaRPr kumimoji="1" lang="ja-JP" altLang="en-US" sz="1400" dirty="0"/>
                    </a:p>
                  </a:txBody>
                  <a:tcPr>
                    <a:solidFill>
                      <a:schemeClr val="bg1">
                        <a:lumMod val="85000"/>
                      </a:schemeClr>
                    </a:solidFill>
                  </a:tcPr>
                </a:tc>
                <a:tc>
                  <a:txBody>
                    <a:bodyPr/>
                    <a:lstStyle/>
                    <a:p>
                      <a:endParaRPr kumimoji="1" lang="ja-JP" altLang="en-US" sz="1400" dirty="0"/>
                    </a:p>
                  </a:txBody>
                  <a:tcPr>
                    <a:solidFill>
                      <a:schemeClr val="bg1">
                        <a:lumMod val="85000"/>
                      </a:schemeClr>
                    </a:solidFill>
                  </a:tcPr>
                </a:tc>
                <a:tc>
                  <a:txBody>
                    <a:bodyPr/>
                    <a:lstStyle/>
                    <a:p>
                      <a:endParaRPr kumimoji="1" lang="ja-JP" altLang="en-US" sz="1400" dirty="0"/>
                    </a:p>
                  </a:txBody>
                  <a:tcPr>
                    <a:solidFill>
                      <a:schemeClr val="bg1">
                        <a:lumMod val="85000"/>
                      </a:schemeClr>
                    </a:solidFill>
                  </a:tcPr>
                </a:tc>
                <a:tc>
                  <a:txBody>
                    <a:bodyPr/>
                    <a:lstStyle/>
                    <a:p>
                      <a:endParaRPr kumimoji="1" lang="ja-JP" altLang="en-US" sz="1400" dirty="0"/>
                    </a:p>
                  </a:txBody>
                  <a:tcPr>
                    <a:solidFill>
                      <a:schemeClr val="bg1">
                        <a:lumMod val="85000"/>
                      </a:schemeClr>
                    </a:solidFill>
                  </a:tcPr>
                </a:tc>
                <a:tc>
                  <a:txBody>
                    <a:bodyPr/>
                    <a:lstStyle/>
                    <a:p>
                      <a:endParaRPr kumimoji="1" lang="ja-JP" altLang="en-US" sz="1400"/>
                    </a:p>
                  </a:txBody>
                  <a:tcPr>
                    <a:solidFill>
                      <a:schemeClr val="bg1">
                        <a:lumMod val="85000"/>
                      </a:schemeClr>
                    </a:solidFill>
                  </a:tcPr>
                </a:tc>
                <a:tc>
                  <a:txBody>
                    <a:bodyPr/>
                    <a:lstStyle/>
                    <a:p>
                      <a:endParaRPr kumimoji="1" lang="ja-JP" altLang="en-US" sz="1400" dirty="0"/>
                    </a:p>
                  </a:txBody>
                  <a:tcPr>
                    <a:solidFill>
                      <a:schemeClr val="bg1">
                        <a:lumMod val="85000"/>
                      </a:schemeClr>
                    </a:solidFill>
                  </a:tcPr>
                </a:tc>
                <a:tc>
                  <a:txBody>
                    <a:bodyPr/>
                    <a:lstStyle/>
                    <a:p>
                      <a:endParaRPr kumimoji="1" lang="ja-JP" altLang="en-US" sz="1400" dirty="0"/>
                    </a:p>
                  </a:txBody>
                  <a:tcPr>
                    <a:solidFill>
                      <a:schemeClr val="bg1">
                        <a:lumMod val="85000"/>
                      </a:schemeClr>
                    </a:solidFill>
                  </a:tcPr>
                </a:tc>
                <a:tc>
                  <a:txBody>
                    <a:bodyPr/>
                    <a:lstStyle/>
                    <a:p>
                      <a:endParaRPr kumimoji="1" lang="ja-JP" altLang="en-US" sz="1400" dirty="0"/>
                    </a:p>
                  </a:txBody>
                  <a:tcPr>
                    <a:solidFill>
                      <a:schemeClr val="bg1">
                        <a:lumMod val="85000"/>
                      </a:schemeClr>
                    </a:solidFill>
                  </a:tcPr>
                </a:tc>
                <a:tc>
                  <a:txBody>
                    <a:bodyPr/>
                    <a:lstStyle/>
                    <a:p>
                      <a:endParaRPr kumimoji="1" lang="ja-JP" altLang="en-US" sz="1400" dirty="0"/>
                    </a:p>
                  </a:txBody>
                  <a:tcPr>
                    <a:solidFill>
                      <a:schemeClr val="bg1">
                        <a:lumMod val="85000"/>
                      </a:schemeClr>
                    </a:solidFill>
                  </a:tcPr>
                </a:tc>
                <a:tc>
                  <a:txBody>
                    <a:bodyPr/>
                    <a:lstStyle/>
                    <a:p>
                      <a:endParaRPr kumimoji="1" lang="ja-JP" altLang="en-US" sz="1400" dirty="0"/>
                    </a:p>
                  </a:txBody>
                  <a:tcPr>
                    <a:solidFill>
                      <a:schemeClr val="bg1">
                        <a:lumMod val="85000"/>
                      </a:schemeClr>
                    </a:solidFill>
                  </a:tcPr>
                </a:tc>
                <a:extLst>
                  <a:ext uri="{0D108BD9-81ED-4DB2-BD59-A6C34878D82A}">
                    <a16:rowId xmlns:a16="http://schemas.microsoft.com/office/drawing/2014/main" val="3258569472"/>
                  </a:ext>
                </a:extLst>
              </a:tr>
            </a:tbl>
          </a:graphicData>
        </a:graphic>
      </p:graphicFrame>
      <p:sp>
        <p:nvSpPr>
          <p:cNvPr id="5" name="テキスト ボックス 4">
            <a:extLst>
              <a:ext uri="{FF2B5EF4-FFF2-40B4-BE49-F238E27FC236}">
                <a16:creationId xmlns:a16="http://schemas.microsoft.com/office/drawing/2014/main" id="{DCF20C03-399F-3C31-99DB-D8A83384B828}"/>
              </a:ext>
            </a:extLst>
          </p:cNvPr>
          <p:cNvSpPr txBox="1"/>
          <p:nvPr/>
        </p:nvSpPr>
        <p:spPr>
          <a:xfrm>
            <a:off x="494778" y="1584543"/>
            <a:ext cx="400377" cy="287848"/>
          </a:xfrm>
          <a:prstGeom prst="rect">
            <a:avLst/>
          </a:prstGeom>
          <a:noFill/>
        </p:spPr>
        <p:txBody>
          <a:bodyPr wrap="none" rtlCol="0">
            <a:noAutofit/>
          </a:bodyPr>
          <a:lstStyle/>
          <a:p>
            <a:pPr algn="l"/>
            <a:r>
              <a:rPr kumimoji="1" lang="ja-JP" altLang="en-US" sz="1200" dirty="0">
                <a:solidFill>
                  <a:schemeClr val="tx1">
                    <a:lumMod val="75000"/>
                    <a:lumOff val="25000"/>
                  </a:schemeClr>
                </a:solidFill>
                <a:latin typeface="+mj-ea"/>
                <a:ea typeface="+mj-ea"/>
              </a:rPr>
              <a:t>▼プランニング</a:t>
            </a:r>
          </a:p>
        </p:txBody>
      </p:sp>
      <p:sp>
        <p:nvSpPr>
          <p:cNvPr id="6" name="テキスト ボックス 5">
            <a:extLst>
              <a:ext uri="{FF2B5EF4-FFF2-40B4-BE49-F238E27FC236}">
                <a16:creationId xmlns:a16="http://schemas.microsoft.com/office/drawing/2014/main" id="{244A7755-203B-1565-B33D-308D35083FE3}"/>
              </a:ext>
            </a:extLst>
          </p:cNvPr>
          <p:cNvSpPr txBox="1"/>
          <p:nvPr/>
        </p:nvSpPr>
        <p:spPr>
          <a:xfrm>
            <a:off x="559723" y="1890204"/>
            <a:ext cx="400377" cy="287848"/>
          </a:xfrm>
          <a:prstGeom prst="rect">
            <a:avLst/>
          </a:prstGeom>
          <a:noFill/>
        </p:spPr>
        <p:txBody>
          <a:bodyPr wrap="none" rtlCol="0">
            <a:noAutofit/>
          </a:bodyPr>
          <a:lstStyle/>
          <a:p>
            <a:pPr algn="l"/>
            <a:r>
              <a:rPr kumimoji="1" lang="ja-JP" altLang="en-US" sz="1200" dirty="0">
                <a:solidFill>
                  <a:schemeClr val="tx1">
                    <a:lumMod val="75000"/>
                    <a:lumOff val="25000"/>
                  </a:schemeClr>
                </a:solidFill>
                <a:latin typeface="+mj-ea"/>
                <a:ea typeface="+mj-ea"/>
              </a:rPr>
              <a:t>▼</a:t>
            </a:r>
            <a:r>
              <a:rPr kumimoji="1" lang="en-US" altLang="ja-JP" sz="1200" dirty="0">
                <a:solidFill>
                  <a:schemeClr val="tx1">
                    <a:lumMod val="75000"/>
                    <a:lumOff val="25000"/>
                  </a:schemeClr>
                </a:solidFill>
                <a:latin typeface="+mj-ea"/>
                <a:ea typeface="+mj-ea"/>
              </a:rPr>
              <a:t>4/2</a:t>
            </a:r>
            <a:r>
              <a:rPr kumimoji="1" lang="ja-JP" altLang="en-US" sz="1200" dirty="0">
                <a:solidFill>
                  <a:schemeClr val="tx1">
                    <a:lumMod val="75000"/>
                    <a:lumOff val="25000"/>
                  </a:schemeClr>
                </a:solidFill>
                <a:latin typeface="+mj-ea"/>
                <a:ea typeface="+mj-ea"/>
              </a:rPr>
              <a:t>金澤</a:t>
            </a:r>
            <a:r>
              <a:rPr kumimoji="1" lang="en-US" altLang="ja-JP" sz="1200" dirty="0">
                <a:solidFill>
                  <a:schemeClr val="tx1">
                    <a:lumMod val="75000"/>
                    <a:lumOff val="25000"/>
                  </a:schemeClr>
                </a:solidFill>
                <a:latin typeface="+mj-ea"/>
                <a:ea typeface="+mj-ea"/>
              </a:rPr>
              <a:t>Tm</a:t>
            </a:r>
            <a:r>
              <a:rPr kumimoji="1" lang="ja-JP" altLang="en-US" sz="1200" dirty="0">
                <a:solidFill>
                  <a:schemeClr val="tx1">
                    <a:lumMod val="75000"/>
                    <a:lumOff val="25000"/>
                  </a:schemeClr>
                </a:solidFill>
                <a:latin typeface="+mj-ea"/>
                <a:ea typeface="+mj-ea"/>
              </a:rPr>
              <a:t>協議</a:t>
            </a:r>
          </a:p>
        </p:txBody>
      </p:sp>
      <p:sp>
        <p:nvSpPr>
          <p:cNvPr id="7" name="テキスト ボックス 6">
            <a:extLst>
              <a:ext uri="{FF2B5EF4-FFF2-40B4-BE49-F238E27FC236}">
                <a16:creationId xmlns:a16="http://schemas.microsoft.com/office/drawing/2014/main" id="{8B542846-05B2-6705-92F7-4A1CA92D810A}"/>
              </a:ext>
            </a:extLst>
          </p:cNvPr>
          <p:cNvSpPr txBox="1"/>
          <p:nvPr/>
        </p:nvSpPr>
        <p:spPr>
          <a:xfrm>
            <a:off x="960100" y="2472414"/>
            <a:ext cx="400377" cy="287848"/>
          </a:xfrm>
          <a:prstGeom prst="rect">
            <a:avLst/>
          </a:prstGeom>
          <a:noFill/>
        </p:spPr>
        <p:txBody>
          <a:bodyPr wrap="none" rtlCol="0">
            <a:noAutofit/>
          </a:bodyPr>
          <a:lstStyle/>
          <a:p>
            <a:pPr algn="l"/>
            <a:r>
              <a:rPr kumimoji="1" lang="ja-JP" altLang="en-US" sz="1200" dirty="0">
                <a:solidFill>
                  <a:schemeClr val="tx1">
                    <a:lumMod val="75000"/>
                    <a:lumOff val="25000"/>
                  </a:schemeClr>
                </a:solidFill>
                <a:latin typeface="+mj-ea"/>
                <a:ea typeface="+mj-ea"/>
              </a:rPr>
              <a:t>▼</a:t>
            </a:r>
            <a:r>
              <a:rPr lang="ja-JP" altLang="en-US" sz="1200" dirty="0">
                <a:solidFill>
                  <a:schemeClr val="tx1">
                    <a:lumMod val="75000"/>
                    <a:lumOff val="25000"/>
                  </a:schemeClr>
                </a:solidFill>
                <a:latin typeface="+mj-ea"/>
                <a:ea typeface="+mj-ea"/>
              </a:rPr>
              <a:t>崔さん事例収集</a:t>
            </a:r>
            <a:endParaRPr kumimoji="1" lang="ja-JP" altLang="en-US" sz="1200" dirty="0">
              <a:solidFill>
                <a:schemeClr val="tx1">
                  <a:lumMod val="75000"/>
                  <a:lumOff val="25000"/>
                </a:schemeClr>
              </a:solidFill>
              <a:latin typeface="+mj-ea"/>
              <a:ea typeface="+mj-ea"/>
            </a:endParaRPr>
          </a:p>
        </p:txBody>
      </p:sp>
      <p:sp>
        <p:nvSpPr>
          <p:cNvPr id="8" name="テキスト ボックス 7">
            <a:extLst>
              <a:ext uri="{FF2B5EF4-FFF2-40B4-BE49-F238E27FC236}">
                <a16:creationId xmlns:a16="http://schemas.microsoft.com/office/drawing/2014/main" id="{0F9BC539-C338-9366-38AF-D0DDF7621EF4}"/>
              </a:ext>
            </a:extLst>
          </p:cNvPr>
          <p:cNvSpPr txBox="1"/>
          <p:nvPr/>
        </p:nvSpPr>
        <p:spPr>
          <a:xfrm>
            <a:off x="1513333" y="3216477"/>
            <a:ext cx="400377" cy="287848"/>
          </a:xfrm>
          <a:prstGeom prst="rect">
            <a:avLst/>
          </a:prstGeom>
          <a:noFill/>
        </p:spPr>
        <p:txBody>
          <a:bodyPr wrap="none" rtlCol="0">
            <a:noAutofit/>
          </a:bodyPr>
          <a:lstStyle/>
          <a:p>
            <a:pPr algn="l"/>
            <a:r>
              <a:rPr kumimoji="1" lang="ja-JP" altLang="en-US" sz="1200" dirty="0">
                <a:solidFill>
                  <a:schemeClr val="tx1">
                    <a:lumMod val="75000"/>
                    <a:lumOff val="25000"/>
                  </a:schemeClr>
                </a:solidFill>
                <a:latin typeface="+mj-ea"/>
                <a:ea typeface="+mj-ea"/>
              </a:rPr>
              <a:t>▼</a:t>
            </a:r>
            <a:r>
              <a:rPr kumimoji="1" lang="en-US" altLang="ja-JP" sz="1200" dirty="0">
                <a:solidFill>
                  <a:schemeClr val="tx1">
                    <a:lumMod val="75000"/>
                    <a:lumOff val="25000"/>
                  </a:schemeClr>
                </a:solidFill>
                <a:latin typeface="+mj-ea"/>
                <a:ea typeface="+mj-ea"/>
              </a:rPr>
              <a:t>NMS</a:t>
            </a:r>
            <a:r>
              <a:rPr kumimoji="1" lang="ja-JP" altLang="en-US" sz="1200" dirty="0">
                <a:solidFill>
                  <a:schemeClr val="tx1">
                    <a:lumMod val="75000"/>
                    <a:lumOff val="25000"/>
                  </a:schemeClr>
                </a:solidFill>
                <a:latin typeface="+mj-ea"/>
                <a:ea typeface="+mj-ea"/>
              </a:rPr>
              <a:t>ヒア</a:t>
            </a:r>
          </a:p>
        </p:txBody>
      </p:sp>
      <p:sp>
        <p:nvSpPr>
          <p:cNvPr id="9" name="吹き出し: 四角形 8">
            <a:extLst>
              <a:ext uri="{FF2B5EF4-FFF2-40B4-BE49-F238E27FC236}">
                <a16:creationId xmlns:a16="http://schemas.microsoft.com/office/drawing/2014/main" id="{632D1166-46EA-0FDA-FECE-68E89734919A}"/>
              </a:ext>
            </a:extLst>
          </p:cNvPr>
          <p:cNvSpPr/>
          <p:nvPr/>
        </p:nvSpPr>
        <p:spPr>
          <a:xfrm>
            <a:off x="1816274" y="3504325"/>
            <a:ext cx="1453019" cy="416321"/>
          </a:xfrm>
          <a:prstGeom prst="wedgeRectCallout">
            <a:avLst>
              <a:gd name="adj1" fmla="val -40213"/>
              <a:gd name="adj2" fmla="val -63658"/>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indent="-171450" algn="l">
              <a:buFont typeface="Arial" panose="020B0604020202020204" pitchFamily="34" charset="0"/>
              <a:buChar char="•"/>
            </a:pPr>
            <a:r>
              <a:rPr kumimoji="1" lang="ja-JP" altLang="en-US" sz="1050" dirty="0">
                <a:solidFill>
                  <a:schemeClr val="tx1"/>
                </a:solidFill>
              </a:rPr>
              <a:t>事業計画系システム</a:t>
            </a:r>
            <a:endParaRPr kumimoji="1" lang="en-US" altLang="ja-JP" sz="1050" dirty="0">
              <a:solidFill>
                <a:schemeClr val="tx1"/>
              </a:solidFill>
            </a:endParaRPr>
          </a:p>
          <a:p>
            <a:pPr marL="171450" indent="-171450" algn="l">
              <a:buFont typeface="Arial" panose="020B0604020202020204" pitchFamily="34" charset="0"/>
              <a:buChar char="•"/>
            </a:pPr>
            <a:r>
              <a:rPr lang="en-US" altLang="ja-JP" sz="1050" dirty="0">
                <a:solidFill>
                  <a:schemeClr val="tx1"/>
                </a:solidFill>
              </a:rPr>
              <a:t>CRM</a:t>
            </a:r>
            <a:r>
              <a:rPr lang="ja-JP" altLang="en-US" sz="1050" dirty="0">
                <a:solidFill>
                  <a:schemeClr val="tx1"/>
                </a:solidFill>
              </a:rPr>
              <a:t>機能・課題</a:t>
            </a:r>
            <a:endParaRPr kumimoji="1" lang="ja-JP" altLang="en-US" sz="1050" dirty="0">
              <a:solidFill>
                <a:schemeClr val="tx1"/>
              </a:solidFill>
            </a:endParaRPr>
          </a:p>
        </p:txBody>
      </p:sp>
      <p:sp>
        <p:nvSpPr>
          <p:cNvPr id="10" name="テキスト ボックス 9">
            <a:extLst>
              <a:ext uri="{FF2B5EF4-FFF2-40B4-BE49-F238E27FC236}">
                <a16:creationId xmlns:a16="http://schemas.microsoft.com/office/drawing/2014/main" id="{62F2B418-F3D6-7A17-BB54-7BB89DCE8F0A}"/>
              </a:ext>
            </a:extLst>
          </p:cNvPr>
          <p:cNvSpPr txBox="1"/>
          <p:nvPr/>
        </p:nvSpPr>
        <p:spPr>
          <a:xfrm>
            <a:off x="2805601" y="3938459"/>
            <a:ext cx="400377" cy="287848"/>
          </a:xfrm>
          <a:prstGeom prst="rect">
            <a:avLst/>
          </a:prstGeom>
          <a:noFill/>
        </p:spPr>
        <p:txBody>
          <a:bodyPr wrap="none" rtlCol="0">
            <a:noAutofit/>
          </a:bodyPr>
          <a:lstStyle/>
          <a:p>
            <a:pPr algn="l"/>
            <a:r>
              <a:rPr kumimoji="1" lang="ja-JP" altLang="en-US" sz="1200" dirty="0">
                <a:solidFill>
                  <a:schemeClr val="tx1">
                    <a:lumMod val="75000"/>
                    <a:lumOff val="25000"/>
                  </a:schemeClr>
                </a:solidFill>
                <a:latin typeface="+mj-ea"/>
                <a:ea typeface="+mj-ea"/>
              </a:rPr>
              <a:t>▼</a:t>
            </a:r>
            <a:r>
              <a:rPr lang="en-US" altLang="ja-JP" sz="1200" dirty="0">
                <a:solidFill>
                  <a:schemeClr val="tx1">
                    <a:lumMod val="75000"/>
                    <a:lumOff val="25000"/>
                  </a:schemeClr>
                </a:solidFill>
                <a:latin typeface="+mj-ea"/>
                <a:ea typeface="+mj-ea"/>
              </a:rPr>
              <a:t>MHI</a:t>
            </a:r>
            <a:r>
              <a:rPr lang="ja-JP" altLang="en-US" sz="1200" dirty="0">
                <a:solidFill>
                  <a:schemeClr val="tx1">
                    <a:lumMod val="75000"/>
                    <a:lumOff val="25000"/>
                  </a:schemeClr>
                </a:solidFill>
                <a:latin typeface="+mj-ea"/>
                <a:ea typeface="+mj-ea"/>
              </a:rPr>
              <a:t>ディスカッション①</a:t>
            </a:r>
            <a:endParaRPr kumimoji="1" lang="ja-JP" altLang="en-US" sz="1200" dirty="0">
              <a:solidFill>
                <a:schemeClr val="tx1">
                  <a:lumMod val="75000"/>
                  <a:lumOff val="25000"/>
                </a:schemeClr>
              </a:solidFill>
              <a:latin typeface="+mj-ea"/>
              <a:ea typeface="+mj-ea"/>
            </a:endParaRPr>
          </a:p>
        </p:txBody>
      </p:sp>
      <p:sp>
        <p:nvSpPr>
          <p:cNvPr id="12" name="吹き出し: 四角形 11">
            <a:extLst>
              <a:ext uri="{FF2B5EF4-FFF2-40B4-BE49-F238E27FC236}">
                <a16:creationId xmlns:a16="http://schemas.microsoft.com/office/drawing/2014/main" id="{183B649C-90ED-9A75-7259-F8769F3C499E}"/>
              </a:ext>
            </a:extLst>
          </p:cNvPr>
          <p:cNvSpPr/>
          <p:nvPr/>
        </p:nvSpPr>
        <p:spPr>
          <a:xfrm>
            <a:off x="1352582" y="2800156"/>
            <a:ext cx="1453019" cy="416321"/>
          </a:xfrm>
          <a:prstGeom prst="wedgeRectCallout">
            <a:avLst>
              <a:gd name="adj1" fmla="val -40213"/>
              <a:gd name="adj2" fmla="val -63658"/>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l"/>
            <a:r>
              <a:rPr kumimoji="1" lang="ja-JP" altLang="en-US" sz="1050" dirty="0">
                <a:solidFill>
                  <a:schemeClr val="tx1"/>
                </a:solidFill>
              </a:rPr>
              <a:t>事業計画（受注計画）精度向上の他社取組</a:t>
            </a:r>
            <a:endParaRPr kumimoji="1" lang="en-US" altLang="ja-JP" sz="1050" dirty="0">
              <a:solidFill>
                <a:schemeClr val="tx1"/>
              </a:solidFill>
            </a:endParaRPr>
          </a:p>
        </p:txBody>
      </p:sp>
      <p:sp>
        <p:nvSpPr>
          <p:cNvPr id="13" name="吹き出し: 四角形 12">
            <a:extLst>
              <a:ext uri="{FF2B5EF4-FFF2-40B4-BE49-F238E27FC236}">
                <a16:creationId xmlns:a16="http://schemas.microsoft.com/office/drawing/2014/main" id="{3710FB28-AC9B-758E-DF60-BFD99B236F44}"/>
              </a:ext>
            </a:extLst>
          </p:cNvPr>
          <p:cNvSpPr/>
          <p:nvPr/>
        </p:nvSpPr>
        <p:spPr>
          <a:xfrm>
            <a:off x="3064701" y="4245625"/>
            <a:ext cx="1926921" cy="732774"/>
          </a:xfrm>
          <a:prstGeom prst="wedgeRectCallout">
            <a:avLst>
              <a:gd name="adj1" fmla="val -40213"/>
              <a:gd name="adj2" fmla="val -63658"/>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l"/>
            <a:r>
              <a:rPr kumimoji="1" lang="ja-JP" altLang="en-US" sz="1050" dirty="0">
                <a:solidFill>
                  <a:schemeClr val="tx1"/>
                </a:solidFill>
              </a:rPr>
              <a:t>①</a:t>
            </a:r>
            <a:r>
              <a:rPr kumimoji="1" lang="en-US" altLang="ja-JP" sz="1050" dirty="0">
                <a:solidFill>
                  <a:schemeClr val="tx1"/>
                </a:solidFill>
              </a:rPr>
              <a:t>WPPJ</a:t>
            </a:r>
            <a:r>
              <a:rPr lang="ja-JP" altLang="en-US" sz="1050" dirty="0">
                <a:solidFill>
                  <a:schemeClr val="tx1"/>
                </a:solidFill>
              </a:rPr>
              <a:t>成果の運用</a:t>
            </a:r>
            <a:endParaRPr lang="en-US" altLang="ja-JP" sz="1050" dirty="0">
              <a:solidFill>
                <a:schemeClr val="tx1"/>
              </a:solidFill>
            </a:endParaRPr>
          </a:p>
          <a:p>
            <a:pPr algn="l"/>
            <a:r>
              <a:rPr kumimoji="1" lang="ja-JP" altLang="en-US" sz="1050" dirty="0">
                <a:solidFill>
                  <a:schemeClr val="tx1"/>
                </a:solidFill>
              </a:rPr>
              <a:t>②事業計画精度向上の他社事例</a:t>
            </a:r>
            <a:endParaRPr kumimoji="1" lang="en-US" altLang="ja-JP" sz="1050" dirty="0">
              <a:solidFill>
                <a:schemeClr val="tx1"/>
              </a:solidFill>
            </a:endParaRPr>
          </a:p>
          <a:p>
            <a:pPr algn="l"/>
            <a:r>
              <a:rPr lang="ja-JP" altLang="en-US" sz="1050" dirty="0">
                <a:solidFill>
                  <a:schemeClr val="tx1"/>
                </a:solidFill>
              </a:rPr>
              <a:t>③</a:t>
            </a:r>
            <a:r>
              <a:rPr lang="en-US" altLang="ja-JP" sz="1050" dirty="0">
                <a:solidFill>
                  <a:schemeClr val="tx1"/>
                </a:solidFill>
              </a:rPr>
              <a:t>SPMI</a:t>
            </a:r>
            <a:r>
              <a:rPr lang="ja-JP" altLang="en-US" sz="1050" dirty="0">
                <a:solidFill>
                  <a:schemeClr val="tx1"/>
                </a:solidFill>
              </a:rPr>
              <a:t>の現状と①②とのギャップ</a:t>
            </a:r>
            <a:endParaRPr lang="en-US" altLang="ja-JP" sz="1050" dirty="0">
              <a:solidFill>
                <a:schemeClr val="tx1"/>
              </a:solidFill>
            </a:endParaRPr>
          </a:p>
          <a:p>
            <a:pPr algn="l"/>
            <a:r>
              <a:rPr kumimoji="1" lang="ja-JP" altLang="en-US" sz="1050">
                <a:solidFill>
                  <a:schemeClr val="tx1"/>
                </a:solidFill>
              </a:rPr>
              <a:t>④仮説</a:t>
            </a:r>
            <a:endParaRPr kumimoji="1" lang="ja-JP" altLang="en-US" sz="1050" dirty="0">
              <a:solidFill>
                <a:schemeClr val="tx1"/>
              </a:solidFill>
            </a:endParaRPr>
          </a:p>
        </p:txBody>
      </p:sp>
      <p:sp>
        <p:nvSpPr>
          <p:cNvPr id="14" name="矢印: 左右 13">
            <a:extLst>
              <a:ext uri="{FF2B5EF4-FFF2-40B4-BE49-F238E27FC236}">
                <a16:creationId xmlns:a16="http://schemas.microsoft.com/office/drawing/2014/main" id="{583DAEC5-8E6C-A120-6872-8B522A2A7881}"/>
              </a:ext>
            </a:extLst>
          </p:cNvPr>
          <p:cNvSpPr/>
          <p:nvPr/>
        </p:nvSpPr>
        <p:spPr>
          <a:xfrm>
            <a:off x="3958225" y="1465545"/>
            <a:ext cx="895611" cy="356992"/>
          </a:xfrm>
          <a:prstGeom prst="leftRightArrow">
            <a:avLst/>
          </a:prstGeom>
          <a:solidFill>
            <a:schemeClr val="bg1">
              <a:lumMod val="7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200" dirty="0">
                <a:solidFill>
                  <a:schemeClr val="tx1"/>
                </a:solidFill>
              </a:rPr>
              <a:t>GW</a:t>
            </a:r>
            <a:endParaRPr kumimoji="1" lang="ja-JP" altLang="en-US" sz="1200" dirty="0">
              <a:solidFill>
                <a:schemeClr val="tx1"/>
              </a:solidFill>
            </a:endParaRPr>
          </a:p>
        </p:txBody>
      </p:sp>
      <p:sp>
        <p:nvSpPr>
          <p:cNvPr id="15" name="テキスト ボックス 14">
            <a:extLst>
              <a:ext uri="{FF2B5EF4-FFF2-40B4-BE49-F238E27FC236}">
                <a16:creationId xmlns:a16="http://schemas.microsoft.com/office/drawing/2014/main" id="{8E5246F1-90D2-BED4-EEAE-9EC3D841F810}"/>
              </a:ext>
            </a:extLst>
          </p:cNvPr>
          <p:cNvSpPr txBox="1"/>
          <p:nvPr/>
        </p:nvSpPr>
        <p:spPr>
          <a:xfrm>
            <a:off x="5475732" y="4947156"/>
            <a:ext cx="400377" cy="287848"/>
          </a:xfrm>
          <a:prstGeom prst="rect">
            <a:avLst/>
          </a:prstGeom>
          <a:noFill/>
        </p:spPr>
        <p:txBody>
          <a:bodyPr wrap="none" rtlCol="0">
            <a:noAutofit/>
          </a:bodyPr>
          <a:lstStyle/>
          <a:p>
            <a:pPr algn="l"/>
            <a:r>
              <a:rPr kumimoji="1" lang="ja-JP" altLang="en-US" sz="1200" dirty="0">
                <a:solidFill>
                  <a:schemeClr val="tx1">
                    <a:lumMod val="75000"/>
                    <a:lumOff val="25000"/>
                  </a:schemeClr>
                </a:solidFill>
                <a:latin typeface="+mj-ea"/>
                <a:ea typeface="+mj-ea"/>
              </a:rPr>
              <a:t>▼</a:t>
            </a:r>
            <a:r>
              <a:rPr lang="en-US" altLang="ja-JP" sz="1200" dirty="0">
                <a:solidFill>
                  <a:schemeClr val="tx1">
                    <a:lumMod val="75000"/>
                    <a:lumOff val="25000"/>
                  </a:schemeClr>
                </a:solidFill>
                <a:latin typeface="+mj-ea"/>
                <a:ea typeface="+mj-ea"/>
              </a:rPr>
              <a:t>MHI</a:t>
            </a:r>
            <a:r>
              <a:rPr lang="ja-JP" altLang="en-US" sz="1200" dirty="0">
                <a:solidFill>
                  <a:schemeClr val="tx1">
                    <a:lumMod val="75000"/>
                    <a:lumOff val="25000"/>
                  </a:schemeClr>
                </a:solidFill>
                <a:latin typeface="+mj-ea"/>
                <a:ea typeface="+mj-ea"/>
              </a:rPr>
              <a:t>ディスカッション②</a:t>
            </a:r>
            <a:endParaRPr kumimoji="1" lang="ja-JP" altLang="en-US" sz="1200" dirty="0">
              <a:solidFill>
                <a:schemeClr val="tx1">
                  <a:lumMod val="75000"/>
                  <a:lumOff val="25000"/>
                </a:schemeClr>
              </a:solidFill>
              <a:latin typeface="+mj-ea"/>
              <a:ea typeface="+mj-ea"/>
            </a:endParaRPr>
          </a:p>
        </p:txBody>
      </p:sp>
      <p:sp>
        <p:nvSpPr>
          <p:cNvPr id="16" name="吹き出し: 四角形 15">
            <a:extLst>
              <a:ext uri="{FF2B5EF4-FFF2-40B4-BE49-F238E27FC236}">
                <a16:creationId xmlns:a16="http://schemas.microsoft.com/office/drawing/2014/main" id="{1224F48D-DB6A-C680-CB0F-56CB67E11892}"/>
              </a:ext>
            </a:extLst>
          </p:cNvPr>
          <p:cNvSpPr/>
          <p:nvPr/>
        </p:nvSpPr>
        <p:spPr>
          <a:xfrm>
            <a:off x="5741095" y="5281752"/>
            <a:ext cx="1304795" cy="287849"/>
          </a:xfrm>
          <a:prstGeom prst="wedgeRectCallout">
            <a:avLst>
              <a:gd name="adj1" fmla="val -37813"/>
              <a:gd name="adj2" fmla="val -83240"/>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l"/>
            <a:r>
              <a:rPr lang="ja-JP" altLang="en-US" sz="1050" dirty="0">
                <a:solidFill>
                  <a:schemeClr val="tx1"/>
                </a:solidFill>
              </a:rPr>
              <a:t>実務者との</a:t>
            </a:r>
            <a:r>
              <a:rPr lang="en-US" altLang="ja-JP" sz="1050" dirty="0">
                <a:solidFill>
                  <a:schemeClr val="tx1"/>
                </a:solidFill>
              </a:rPr>
              <a:t>WS</a:t>
            </a:r>
            <a:r>
              <a:rPr lang="ja-JP" altLang="en-US" sz="1050" dirty="0">
                <a:solidFill>
                  <a:schemeClr val="tx1"/>
                </a:solidFill>
              </a:rPr>
              <a:t>提案</a:t>
            </a:r>
            <a:endParaRPr lang="en-US" altLang="ja-JP" sz="1050" dirty="0">
              <a:solidFill>
                <a:schemeClr val="tx1"/>
              </a:solidFill>
            </a:endParaRPr>
          </a:p>
        </p:txBody>
      </p:sp>
      <p:sp>
        <p:nvSpPr>
          <p:cNvPr id="17" name="テキスト ボックス 16">
            <a:extLst>
              <a:ext uri="{FF2B5EF4-FFF2-40B4-BE49-F238E27FC236}">
                <a16:creationId xmlns:a16="http://schemas.microsoft.com/office/drawing/2014/main" id="{28B3CBF5-3746-29C0-3C31-1F45A5F1EA1E}"/>
              </a:ext>
            </a:extLst>
          </p:cNvPr>
          <p:cNvSpPr txBox="1"/>
          <p:nvPr/>
        </p:nvSpPr>
        <p:spPr>
          <a:xfrm>
            <a:off x="3205978" y="4947156"/>
            <a:ext cx="833666" cy="287848"/>
          </a:xfrm>
          <a:prstGeom prst="rect">
            <a:avLst/>
          </a:prstGeom>
          <a:noFill/>
        </p:spPr>
        <p:txBody>
          <a:bodyPr wrap="none" rtlCol="0">
            <a:noAutofit/>
          </a:bodyPr>
          <a:lstStyle/>
          <a:p>
            <a:pPr algn="l"/>
            <a:r>
              <a:rPr kumimoji="1" lang="ja-JP" altLang="en-US" sz="1200" dirty="0">
                <a:solidFill>
                  <a:schemeClr val="tx1">
                    <a:lumMod val="75000"/>
                    <a:lumOff val="25000"/>
                  </a:schemeClr>
                </a:solidFill>
                <a:latin typeface="+mj-ea"/>
                <a:ea typeface="+mj-ea"/>
              </a:rPr>
              <a:t>▼</a:t>
            </a:r>
            <a:r>
              <a:rPr lang="en-US" altLang="ja-JP" sz="1200" dirty="0">
                <a:solidFill>
                  <a:schemeClr val="tx1">
                    <a:lumMod val="75000"/>
                    <a:lumOff val="25000"/>
                  </a:schemeClr>
                </a:solidFill>
                <a:latin typeface="+mj-ea"/>
                <a:ea typeface="+mj-ea"/>
              </a:rPr>
              <a:t>FB</a:t>
            </a:r>
            <a:r>
              <a:rPr lang="ja-JP" altLang="en-US" sz="1200" dirty="0">
                <a:solidFill>
                  <a:schemeClr val="tx1">
                    <a:lumMod val="75000"/>
                    <a:lumOff val="25000"/>
                  </a:schemeClr>
                </a:solidFill>
                <a:latin typeface="+mj-ea"/>
                <a:ea typeface="+mj-ea"/>
              </a:rPr>
              <a:t>整理</a:t>
            </a:r>
            <a:endParaRPr kumimoji="1" lang="ja-JP" altLang="en-US" sz="1200" dirty="0">
              <a:solidFill>
                <a:schemeClr val="tx1">
                  <a:lumMod val="75000"/>
                  <a:lumOff val="25000"/>
                </a:schemeClr>
              </a:solidFill>
              <a:latin typeface="+mj-ea"/>
              <a:ea typeface="+mj-ea"/>
            </a:endParaRPr>
          </a:p>
        </p:txBody>
      </p:sp>
      <p:sp>
        <p:nvSpPr>
          <p:cNvPr id="18" name="テキスト ボックス 17">
            <a:extLst>
              <a:ext uri="{FF2B5EF4-FFF2-40B4-BE49-F238E27FC236}">
                <a16:creationId xmlns:a16="http://schemas.microsoft.com/office/drawing/2014/main" id="{B07325F1-5803-A403-D33D-30677DB78E8B}"/>
              </a:ext>
            </a:extLst>
          </p:cNvPr>
          <p:cNvSpPr txBox="1"/>
          <p:nvPr/>
        </p:nvSpPr>
        <p:spPr>
          <a:xfrm>
            <a:off x="7338166" y="1584543"/>
            <a:ext cx="400377" cy="287848"/>
          </a:xfrm>
          <a:prstGeom prst="rect">
            <a:avLst/>
          </a:prstGeom>
          <a:noFill/>
        </p:spPr>
        <p:txBody>
          <a:bodyPr wrap="none" rtlCol="0">
            <a:noAutofit/>
          </a:bodyPr>
          <a:lstStyle/>
          <a:p>
            <a:pPr algn="l"/>
            <a:r>
              <a:rPr kumimoji="1" lang="ja-JP" altLang="en-US" sz="1200" dirty="0">
                <a:solidFill>
                  <a:schemeClr val="tx1">
                    <a:lumMod val="75000"/>
                    <a:lumOff val="25000"/>
                  </a:schemeClr>
                </a:solidFill>
                <a:latin typeface="+mj-ea"/>
                <a:ea typeface="+mj-ea"/>
              </a:rPr>
              <a:t>▼実務者</a:t>
            </a:r>
            <a:r>
              <a:rPr kumimoji="1" lang="en-US" altLang="ja-JP" sz="1200" dirty="0">
                <a:solidFill>
                  <a:schemeClr val="tx1">
                    <a:lumMod val="75000"/>
                    <a:lumOff val="25000"/>
                  </a:schemeClr>
                </a:solidFill>
                <a:latin typeface="+mj-ea"/>
                <a:ea typeface="+mj-ea"/>
              </a:rPr>
              <a:t>WS</a:t>
            </a:r>
            <a:r>
              <a:rPr kumimoji="1" lang="ja-JP" altLang="en-US" sz="1200" dirty="0">
                <a:solidFill>
                  <a:schemeClr val="tx1">
                    <a:lumMod val="75000"/>
                    <a:lumOff val="25000"/>
                  </a:schemeClr>
                </a:solidFill>
                <a:latin typeface="+mj-ea"/>
                <a:ea typeface="+mj-ea"/>
              </a:rPr>
              <a:t>①</a:t>
            </a:r>
          </a:p>
        </p:txBody>
      </p:sp>
      <p:sp>
        <p:nvSpPr>
          <p:cNvPr id="20" name="テキスト ボックス 19">
            <a:extLst>
              <a:ext uri="{FF2B5EF4-FFF2-40B4-BE49-F238E27FC236}">
                <a16:creationId xmlns:a16="http://schemas.microsoft.com/office/drawing/2014/main" id="{9D5EE8BC-8D98-047C-578C-DD83F53D1CC7}"/>
              </a:ext>
            </a:extLst>
          </p:cNvPr>
          <p:cNvSpPr txBox="1"/>
          <p:nvPr/>
        </p:nvSpPr>
        <p:spPr>
          <a:xfrm>
            <a:off x="9150265" y="1925733"/>
            <a:ext cx="400377" cy="287848"/>
          </a:xfrm>
          <a:prstGeom prst="rect">
            <a:avLst/>
          </a:prstGeom>
          <a:noFill/>
        </p:spPr>
        <p:txBody>
          <a:bodyPr wrap="none" rtlCol="0">
            <a:noAutofit/>
          </a:bodyPr>
          <a:lstStyle/>
          <a:p>
            <a:pPr algn="l"/>
            <a:r>
              <a:rPr kumimoji="1" lang="ja-JP" altLang="en-US" sz="1200" dirty="0">
                <a:solidFill>
                  <a:schemeClr val="tx1">
                    <a:lumMod val="75000"/>
                    <a:lumOff val="25000"/>
                  </a:schemeClr>
                </a:solidFill>
                <a:latin typeface="+mj-ea"/>
                <a:ea typeface="+mj-ea"/>
              </a:rPr>
              <a:t>▼実務者</a:t>
            </a:r>
            <a:r>
              <a:rPr kumimoji="1" lang="en-US" altLang="ja-JP" sz="1200" dirty="0">
                <a:solidFill>
                  <a:schemeClr val="tx1">
                    <a:lumMod val="75000"/>
                    <a:lumOff val="25000"/>
                  </a:schemeClr>
                </a:solidFill>
                <a:latin typeface="+mj-ea"/>
                <a:ea typeface="+mj-ea"/>
              </a:rPr>
              <a:t>WS</a:t>
            </a:r>
            <a:r>
              <a:rPr lang="ja-JP" altLang="en-US" sz="1200" dirty="0">
                <a:solidFill>
                  <a:schemeClr val="tx1">
                    <a:lumMod val="75000"/>
                    <a:lumOff val="25000"/>
                  </a:schemeClr>
                </a:solidFill>
                <a:latin typeface="+mj-ea"/>
                <a:ea typeface="+mj-ea"/>
              </a:rPr>
              <a:t>②</a:t>
            </a:r>
            <a:endParaRPr kumimoji="1" lang="ja-JP" altLang="en-US" sz="1200" dirty="0">
              <a:solidFill>
                <a:schemeClr val="tx1">
                  <a:lumMod val="75000"/>
                  <a:lumOff val="25000"/>
                </a:schemeClr>
              </a:solidFill>
              <a:latin typeface="+mj-ea"/>
              <a:ea typeface="+mj-ea"/>
            </a:endParaRPr>
          </a:p>
        </p:txBody>
      </p:sp>
      <p:sp>
        <p:nvSpPr>
          <p:cNvPr id="21" name="テキスト ボックス 20">
            <a:extLst>
              <a:ext uri="{FF2B5EF4-FFF2-40B4-BE49-F238E27FC236}">
                <a16:creationId xmlns:a16="http://schemas.microsoft.com/office/drawing/2014/main" id="{97485FC3-852C-3AEC-25FC-C9C010FF32E3}"/>
              </a:ext>
            </a:extLst>
          </p:cNvPr>
          <p:cNvSpPr txBox="1"/>
          <p:nvPr/>
        </p:nvSpPr>
        <p:spPr>
          <a:xfrm>
            <a:off x="10956326" y="2328490"/>
            <a:ext cx="400377" cy="287848"/>
          </a:xfrm>
          <a:prstGeom prst="rect">
            <a:avLst/>
          </a:prstGeom>
          <a:noFill/>
        </p:spPr>
        <p:txBody>
          <a:bodyPr wrap="none" rtlCol="0">
            <a:noAutofit/>
          </a:bodyPr>
          <a:lstStyle/>
          <a:p>
            <a:pPr algn="l"/>
            <a:r>
              <a:rPr kumimoji="1" lang="ja-JP" altLang="en-US" sz="1200" dirty="0">
                <a:solidFill>
                  <a:schemeClr val="tx1">
                    <a:lumMod val="75000"/>
                    <a:lumOff val="25000"/>
                  </a:schemeClr>
                </a:solidFill>
                <a:latin typeface="+mj-ea"/>
                <a:ea typeface="+mj-ea"/>
              </a:rPr>
              <a:t>▼</a:t>
            </a:r>
            <a:r>
              <a:rPr kumimoji="1" lang="en-US" altLang="ja-JP" sz="1200" dirty="0">
                <a:solidFill>
                  <a:schemeClr val="tx1">
                    <a:lumMod val="75000"/>
                    <a:lumOff val="25000"/>
                  </a:schemeClr>
                </a:solidFill>
                <a:latin typeface="+mj-ea"/>
                <a:ea typeface="+mj-ea"/>
              </a:rPr>
              <a:t>2Q</a:t>
            </a:r>
            <a:r>
              <a:rPr kumimoji="1" lang="ja-JP" altLang="en-US" sz="1200" dirty="0">
                <a:solidFill>
                  <a:schemeClr val="tx1">
                    <a:lumMod val="75000"/>
                    <a:lumOff val="25000"/>
                  </a:schemeClr>
                </a:solidFill>
                <a:latin typeface="+mj-ea"/>
                <a:ea typeface="+mj-ea"/>
              </a:rPr>
              <a:t>有償提案</a:t>
            </a:r>
          </a:p>
        </p:txBody>
      </p:sp>
      <p:cxnSp>
        <p:nvCxnSpPr>
          <p:cNvPr id="23" name="コネクタ: カギ線 22">
            <a:extLst>
              <a:ext uri="{FF2B5EF4-FFF2-40B4-BE49-F238E27FC236}">
                <a16:creationId xmlns:a16="http://schemas.microsoft.com/office/drawing/2014/main" id="{48B675D2-35CE-30DB-3C4B-0BD0EAEE7278}"/>
              </a:ext>
            </a:extLst>
          </p:cNvPr>
          <p:cNvCxnSpPr>
            <a:stCxn id="6" idx="2"/>
          </p:cNvCxnSpPr>
          <p:nvPr/>
        </p:nvCxnSpPr>
        <p:spPr>
          <a:xfrm rot="16200000" flipH="1">
            <a:off x="821803" y="2116160"/>
            <a:ext cx="2181006" cy="2304789"/>
          </a:xfrm>
          <a:prstGeom prst="bentConnector2">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4" name="コネクタ: カギ線 23">
            <a:extLst>
              <a:ext uri="{FF2B5EF4-FFF2-40B4-BE49-F238E27FC236}">
                <a16:creationId xmlns:a16="http://schemas.microsoft.com/office/drawing/2014/main" id="{9D6812FF-D342-DAF7-03E8-F2B169B47726}"/>
              </a:ext>
            </a:extLst>
          </p:cNvPr>
          <p:cNvCxnSpPr>
            <a:cxnSpLocks/>
            <a:stCxn id="7" idx="2"/>
          </p:cNvCxnSpPr>
          <p:nvPr/>
        </p:nvCxnSpPr>
        <p:spPr>
          <a:xfrm rot="16200000" flipH="1">
            <a:off x="1227716" y="2692835"/>
            <a:ext cx="1769559" cy="1904412"/>
          </a:xfrm>
          <a:prstGeom prst="bentConnector2">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7" name="コネクタ: カギ線 26">
            <a:extLst>
              <a:ext uri="{FF2B5EF4-FFF2-40B4-BE49-F238E27FC236}">
                <a16:creationId xmlns:a16="http://schemas.microsoft.com/office/drawing/2014/main" id="{8AE8E6F1-B32B-8DBA-F5C2-04CA4AD8FDCA}"/>
              </a:ext>
            </a:extLst>
          </p:cNvPr>
          <p:cNvCxnSpPr>
            <a:cxnSpLocks/>
            <a:stCxn id="8" idx="2"/>
          </p:cNvCxnSpPr>
          <p:nvPr/>
        </p:nvCxnSpPr>
        <p:spPr>
          <a:xfrm rot="16200000" flipH="1">
            <a:off x="1792895" y="3424952"/>
            <a:ext cx="1192433" cy="1351178"/>
          </a:xfrm>
          <a:prstGeom prst="bentConnector2">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0" name="コネクタ: カギ線 29">
            <a:extLst>
              <a:ext uri="{FF2B5EF4-FFF2-40B4-BE49-F238E27FC236}">
                <a16:creationId xmlns:a16="http://schemas.microsoft.com/office/drawing/2014/main" id="{16F9A63B-A61E-6278-D1B9-35B581B57C18}"/>
              </a:ext>
            </a:extLst>
          </p:cNvPr>
          <p:cNvCxnSpPr>
            <a:cxnSpLocks/>
            <a:endCxn id="17" idx="1"/>
          </p:cNvCxnSpPr>
          <p:nvPr/>
        </p:nvCxnSpPr>
        <p:spPr>
          <a:xfrm rot="16200000" flipH="1">
            <a:off x="3012623" y="4897725"/>
            <a:ext cx="245432" cy="141278"/>
          </a:xfrm>
          <a:prstGeom prst="bentConnector2">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5" name="直線矢印コネクタ 34">
            <a:extLst>
              <a:ext uri="{FF2B5EF4-FFF2-40B4-BE49-F238E27FC236}">
                <a16:creationId xmlns:a16="http://schemas.microsoft.com/office/drawing/2014/main" id="{E07AC9F6-F9F4-1964-38CA-B4DCF9022D94}"/>
              </a:ext>
            </a:extLst>
          </p:cNvPr>
          <p:cNvCxnSpPr>
            <a:cxnSpLocks/>
            <a:stCxn id="17" idx="3"/>
            <a:endCxn id="15" idx="1"/>
          </p:cNvCxnSpPr>
          <p:nvPr/>
        </p:nvCxnSpPr>
        <p:spPr>
          <a:xfrm>
            <a:off x="4039644" y="5091080"/>
            <a:ext cx="1436088"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8" name="コネクタ: カギ線 37">
            <a:extLst>
              <a:ext uri="{FF2B5EF4-FFF2-40B4-BE49-F238E27FC236}">
                <a16:creationId xmlns:a16="http://schemas.microsoft.com/office/drawing/2014/main" id="{55524223-EDA5-5C2A-BA4E-EAECC296A25D}"/>
              </a:ext>
            </a:extLst>
          </p:cNvPr>
          <p:cNvCxnSpPr>
            <a:cxnSpLocks/>
            <a:stCxn id="15" idx="0"/>
            <a:endCxn id="18" idx="1"/>
          </p:cNvCxnSpPr>
          <p:nvPr/>
        </p:nvCxnSpPr>
        <p:spPr>
          <a:xfrm rot="5400000" flipH="1" flipV="1">
            <a:off x="4897699" y="2506690"/>
            <a:ext cx="3218689" cy="1662245"/>
          </a:xfrm>
          <a:prstGeom prst="bentConnector2">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1" name="コネクタ: カギ線 40">
            <a:extLst>
              <a:ext uri="{FF2B5EF4-FFF2-40B4-BE49-F238E27FC236}">
                <a16:creationId xmlns:a16="http://schemas.microsoft.com/office/drawing/2014/main" id="{94032CCD-15C3-3712-DC2E-005C0B187C67}"/>
              </a:ext>
            </a:extLst>
          </p:cNvPr>
          <p:cNvCxnSpPr>
            <a:cxnSpLocks/>
            <a:stCxn id="18" idx="2"/>
            <a:endCxn id="20" idx="1"/>
          </p:cNvCxnSpPr>
          <p:nvPr/>
        </p:nvCxnSpPr>
        <p:spPr>
          <a:xfrm rot="16200000" flipH="1">
            <a:off x="8245677" y="1165069"/>
            <a:ext cx="197266" cy="1611910"/>
          </a:xfrm>
          <a:prstGeom prst="bentConnector2">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4" name="コネクタ: カギ線 43">
            <a:extLst>
              <a:ext uri="{FF2B5EF4-FFF2-40B4-BE49-F238E27FC236}">
                <a16:creationId xmlns:a16="http://schemas.microsoft.com/office/drawing/2014/main" id="{12C9D2DA-EDDC-6E38-C720-517EE645B056}"/>
              </a:ext>
            </a:extLst>
          </p:cNvPr>
          <p:cNvCxnSpPr>
            <a:cxnSpLocks/>
            <a:stCxn id="20" idx="2"/>
            <a:endCxn id="21" idx="1"/>
          </p:cNvCxnSpPr>
          <p:nvPr/>
        </p:nvCxnSpPr>
        <p:spPr>
          <a:xfrm rot="16200000" flipH="1">
            <a:off x="10023974" y="1540061"/>
            <a:ext cx="258833" cy="1605872"/>
          </a:xfrm>
          <a:prstGeom prst="bentConnector2">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9" name="吹き出し: 円形 48">
            <a:extLst>
              <a:ext uri="{FF2B5EF4-FFF2-40B4-BE49-F238E27FC236}">
                <a16:creationId xmlns:a16="http://schemas.microsoft.com/office/drawing/2014/main" id="{EB7A241D-3CF6-127E-1BFE-FDB284D142F1}"/>
              </a:ext>
            </a:extLst>
          </p:cNvPr>
          <p:cNvSpPr/>
          <p:nvPr/>
        </p:nvSpPr>
        <p:spPr>
          <a:xfrm>
            <a:off x="9949384" y="2818680"/>
            <a:ext cx="2568491" cy="685644"/>
          </a:xfrm>
          <a:prstGeom prst="wedgeEllipseCallout">
            <a:avLst>
              <a:gd name="adj1" fmla="val 16097"/>
              <a:gd name="adj2" fmla="val -93620"/>
            </a:avLst>
          </a:prstGeom>
          <a:solidFill>
            <a:srgbClr val="FFF2CC"/>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t" anchorCtr="0" forceAA="0" compatLnSpc="1">
            <a:prstTxWarp prst="textNoShape">
              <a:avLst/>
            </a:prstTxWarp>
            <a:noAutofit/>
          </a:bodyPr>
          <a:lstStyle/>
          <a:p>
            <a:pPr algn="l"/>
            <a:r>
              <a:rPr kumimoji="1" lang="ja-JP" altLang="en-US" sz="1000" dirty="0">
                <a:solidFill>
                  <a:schemeClr val="tx1"/>
                </a:solidFill>
              </a:rPr>
              <a:t>最終目的：</a:t>
            </a:r>
            <a:endParaRPr kumimoji="1" lang="en-US" altLang="ja-JP" sz="1000" dirty="0">
              <a:solidFill>
                <a:schemeClr val="tx1"/>
              </a:solidFill>
            </a:endParaRPr>
          </a:p>
          <a:p>
            <a:pPr algn="l"/>
            <a:r>
              <a:rPr kumimoji="1" lang="ja-JP" altLang="en-US" sz="1000" dirty="0">
                <a:solidFill>
                  <a:schemeClr val="tx1"/>
                </a:solidFill>
              </a:rPr>
              <a:t>「適正人数かつ効率的な</a:t>
            </a:r>
            <a:r>
              <a:rPr kumimoji="1" lang="en-US" altLang="ja-JP" sz="1000" dirty="0">
                <a:solidFill>
                  <a:schemeClr val="tx1"/>
                </a:solidFill>
              </a:rPr>
              <a:t>AS</a:t>
            </a:r>
            <a:r>
              <a:rPr kumimoji="1" lang="ja-JP" altLang="en-US" sz="1000" dirty="0">
                <a:solidFill>
                  <a:schemeClr val="tx1"/>
                </a:solidFill>
              </a:rPr>
              <a:t>事業運営」</a:t>
            </a:r>
            <a:endParaRPr kumimoji="1" lang="en-US" altLang="ja-JP" sz="1000" dirty="0">
              <a:solidFill>
                <a:schemeClr val="tx1"/>
              </a:solidFill>
            </a:endParaRPr>
          </a:p>
          <a:p>
            <a:pPr algn="l"/>
            <a:r>
              <a:rPr lang="ja-JP" altLang="en-US" sz="1000" dirty="0">
                <a:solidFill>
                  <a:schemeClr val="tx1"/>
                </a:solidFill>
              </a:rPr>
              <a:t>に資する仕組みづくり</a:t>
            </a:r>
            <a:endParaRPr kumimoji="1" lang="en-US" altLang="ja-JP" sz="1000" dirty="0">
              <a:solidFill>
                <a:schemeClr val="tx1"/>
              </a:solidFill>
            </a:endParaRPr>
          </a:p>
        </p:txBody>
      </p:sp>
    </p:spTree>
    <p:extLst>
      <p:ext uri="{BB962C8B-B14F-4D97-AF65-F5344CB8AC3E}">
        <p14:creationId xmlns:p14="http://schemas.microsoft.com/office/powerpoint/2010/main" val="3432735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3443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3590E3-C1A1-6EE5-33A3-1BA188D38A25}"/>
              </a:ext>
            </a:extLst>
          </p:cNvPr>
          <p:cNvSpPr>
            <a:spLocks noGrp="1"/>
          </p:cNvSpPr>
          <p:nvPr>
            <p:ph type="title"/>
          </p:nvPr>
        </p:nvSpPr>
        <p:spPr/>
        <p:txBody>
          <a:bodyPr/>
          <a:lstStyle/>
          <a:p>
            <a:r>
              <a:rPr lang="ja-JP" altLang="en-US" dirty="0"/>
              <a:t>三菱重工業株式会社　御中</a:t>
            </a:r>
          </a:p>
        </p:txBody>
      </p:sp>
      <p:sp>
        <p:nvSpPr>
          <p:cNvPr id="3" name="テキスト プレースホルダー 2">
            <a:extLst>
              <a:ext uri="{FF2B5EF4-FFF2-40B4-BE49-F238E27FC236}">
                <a16:creationId xmlns:a16="http://schemas.microsoft.com/office/drawing/2014/main" id="{364265A2-61B5-45D8-6463-6418F44F076D}"/>
              </a:ext>
            </a:extLst>
          </p:cNvPr>
          <p:cNvSpPr>
            <a:spLocks noGrp="1"/>
          </p:cNvSpPr>
          <p:nvPr>
            <p:ph type="body" sz="quarter" idx="12"/>
          </p:nvPr>
        </p:nvSpPr>
        <p:spPr/>
        <p:txBody>
          <a:bodyPr/>
          <a:lstStyle/>
          <a:p>
            <a:r>
              <a:rPr lang="ja-JP" altLang="en-US" sz="3600" dirty="0"/>
              <a:t>事業運営高度化に関する</a:t>
            </a:r>
            <a:endParaRPr lang="en-US" altLang="ja-JP" sz="3600" dirty="0"/>
          </a:p>
          <a:p>
            <a:r>
              <a:rPr lang="ja-JP" altLang="en-US" sz="3600" dirty="0"/>
              <a:t>ディスカッション②</a:t>
            </a:r>
            <a:endParaRPr lang="en-US" altLang="ja-JP" sz="3600" dirty="0"/>
          </a:p>
        </p:txBody>
      </p:sp>
      <p:sp>
        <p:nvSpPr>
          <p:cNvPr id="4" name="テキスト プレースホルダー 3">
            <a:extLst>
              <a:ext uri="{FF2B5EF4-FFF2-40B4-BE49-F238E27FC236}">
                <a16:creationId xmlns:a16="http://schemas.microsoft.com/office/drawing/2014/main" id="{DCF65AA0-1FFF-132D-52B8-6DB3C5784AF4}"/>
              </a:ext>
            </a:extLst>
          </p:cNvPr>
          <p:cNvSpPr>
            <a:spLocks noGrp="1"/>
          </p:cNvSpPr>
          <p:nvPr>
            <p:ph type="body" sz="quarter" idx="14"/>
          </p:nvPr>
        </p:nvSpPr>
        <p:spPr/>
        <p:txBody>
          <a:bodyPr/>
          <a:lstStyle/>
          <a:p>
            <a:r>
              <a:rPr lang="en-US" altLang="ja-JP" dirty="0"/>
              <a:t>2024</a:t>
            </a:r>
            <a:r>
              <a:rPr lang="ja-JP" altLang="en-US" dirty="0"/>
              <a:t>年</a:t>
            </a:r>
            <a:r>
              <a:rPr lang="en-US" altLang="ja-JP" dirty="0"/>
              <a:t>3</a:t>
            </a:r>
            <a:r>
              <a:rPr lang="ja-JP" altLang="en-US" dirty="0"/>
              <a:t>月</a:t>
            </a:r>
            <a:r>
              <a:rPr lang="en-US" altLang="ja-JP" dirty="0"/>
              <a:t>13</a:t>
            </a:r>
            <a:r>
              <a:rPr lang="ja-JP" altLang="en-US" dirty="0"/>
              <a:t>日</a:t>
            </a:r>
          </a:p>
        </p:txBody>
      </p:sp>
      <p:sp>
        <p:nvSpPr>
          <p:cNvPr id="5" name="テキスト ボックス 4">
            <a:extLst>
              <a:ext uri="{FF2B5EF4-FFF2-40B4-BE49-F238E27FC236}">
                <a16:creationId xmlns:a16="http://schemas.microsoft.com/office/drawing/2014/main" id="{7CCFB1A3-045A-4969-AF42-D86E3EAE1D7F}"/>
              </a:ext>
            </a:extLst>
          </p:cNvPr>
          <p:cNvSpPr txBox="1"/>
          <p:nvPr/>
        </p:nvSpPr>
        <p:spPr>
          <a:xfrm>
            <a:off x="9904837" y="334669"/>
            <a:ext cx="1913962" cy="396000"/>
          </a:xfrm>
          <a:prstGeom prst="rect">
            <a:avLst/>
          </a:prstGeom>
          <a:noFill/>
          <a:ln>
            <a:solidFill>
              <a:schemeClr val="accent6">
                <a:lumMod val="40000"/>
                <a:lumOff val="60000"/>
              </a:schemeClr>
            </a:solidFill>
          </a:ln>
        </p:spPr>
        <p:txBody>
          <a:bodyPr wrap="square" lIns="90000" rIns="90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a:ln>
                  <a:noFill/>
                </a:ln>
                <a:solidFill>
                  <a:srgbClr val="949494">
                    <a:lumMod val="40000"/>
                    <a:lumOff val="60000"/>
                  </a:srgbClr>
                </a:solidFill>
                <a:effectLst/>
                <a:uLnTx/>
                <a:uFillTx/>
                <a:latin typeface="Arial"/>
                <a:ea typeface="Meiryo UI"/>
                <a:cs typeface="+mn-cs"/>
              </a:rPr>
              <a:t>情 報 種 別 ： 秘密（関係者限り）</a:t>
            </a:r>
            <a:br>
              <a:rPr kumimoji="1" lang="ja-JP" altLang="en-US" sz="700" b="0" i="0" u="none" strike="noStrike" kern="1200" cap="none" spc="0" normalizeH="0" baseline="0" noProof="0">
                <a:ln>
                  <a:noFill/>
                </a:ln>
                <a:solidFill>
                  <a:srgbClr val="949494">
                    <a:lumMod val="40000"/>
                    <a:lumOff val="60000"/>
                  </a:srgbClr>
                </a:solidFill>
                <a:effectLst/>
                <a:uLnTx/>
                <a:uFillTx/>
                <a:latin typeface="Arial"/>
                <a:ea typeface="Meiryo UI"/>
                <a:cs typeface="+mn-cs"/>
              </a:rPr>
            </a:br>
            <a:r>
              <a:rPr kumimoji="1" lang="ja-JP" altLang="en-US" sz="700" b="0" i="0" u="none" strike="noStrike" kern="1200" cap="none" spc="0" normalizeH="0" baseline="0" noProof="0">
                <a:ln>
                  <a:noFill/>
                </a:ln>
                <a:solidFill>
                  <a:srgbClr val="949494">
                    <a:lumMod val="40000"/>
                    <a:lumOff val="60000"/>
                  </a:srgbClr>
                </a:solidFill>
                <a:effectLst/>
                <a:uLnTx/>
                <a:uFillTx/>
                <a:latin typeface="Arial"/>
                <a:ea typeface="Meiryo UI"/>
                <a:cs typeface="+mn-cs"/>
              </a:rPr>
              <a:t>会　 社　 名 ： （株）</a:t>
            </a:r>
            <a:r>
              <a:rPr kumimoji="1" lang="en-US" altLang="ja-JP" sz="700" b="0" i="0" u="none" strike="noStrike" kern="1200" cap="none" spc="0" normalizeH="0" baseline="0" noProof="0">
                <a:ln>
                  <a:noFill/>
                </a:ln>
                <a:solidFill>
                  <a:srgbClr val="949494">
                    <a:lumMod val="40000"/>
                    <a:lumOff val="60000"/>
                  </a:srgbClr>
                </a:solidFill>
                <a:effectLst/>
                <a:uLnTx/>
                <a:uFillTx/>
                <a:latin typeface="Arial"/>
                <a:ea typeface="Meiryo UI"/>
                <a:cs typeface="+mn-cs"/>
              </a:rPr>
              <a:t>NTT</a:t>
            </a:r>
            <a:r>
              <a:rPr kumimoji="1" lang="ja-JP" altLang="en-US" sz="700" b="0" i="0" u="none" strike="noStrike" kern="1200" cap="none" spc="0" normalizeH="0" baseline="0" noProof="0">
                <a:ln>
                  <a:noFill/>
                </a:ln>
                <a:solidFill>
                  <a:srgbClr val="949494">
                    <a:lumMod val="40000"/>
                    <a:lumOff val="60000"/>
                  </a:srgbClr>
                </a:solidFill>
                <a:effectLst/>
                <a:uLnTx/>
                <a:uFillTx/>
                <a:latin typeface="Arial"/>
                <a:ea typeface="Meiryo UI"/>
                <a:cs typeface="+mn-cs"/>
              </a:rPr>
              <a:t>データ</a:t>
            </a:r>
            <a:br>
              <a:rPr kumimoji="1" lang="ja-JP" altLang="en-US" sz="700" b="0" i="0" u="none" strike="noStrike" kern="1200" cap="none" spc="0" normalizeH="0" baseline="0" noProof="0">
                <a:ln>
                  <a:noFill/>
                </a:ln>
                <a:solidFill>
                  <a:srgbClr val="949494">
                    <a:lumMod val="40000"/>
                    <a:lumOff val="60000"/>
                  </a:srgbClr>
                </a:solidFill>
                <a:effectLst/>
                <a:uLnTx/>
                <a:uFillTx/>
                <a:latin typeface="Arial"/>
                <a:ea typeface="Meiryo UI"/>
                <a:cs typeface="+mn-cs"/>
              </a:rPr>
            </a:br>
            <a:r>
              <a:rPr kumimoji="1" lang="ja-JP" altLang="en-US" sz="700" b="0" i="0" u="none" strike="noStrike" kern="1200" cap="none" spc="0" normalizeH="0" baseline="0" noProof="0">
                <a:ln>
                  <a:noFill/>
                </a:ln>
                <a:solidFill>
                  <a:srgbClr val="949494">
                    <a:lumMod val="40000"/>
                    <a:lumOff val="60000"/>
                  </a:srgbClr>
                </a:solidFill>
                <a:effectLst/>
                <a:uLnTx/>
                <a:uFillTx/>
                <a:latin typeface="Arial"/>
                <a:ea typeface="Meiryo UI"/>
                <a:cs typeface="+mn-cs"/>
              </a:rPr>
              <a:t>情報所有者 ： 機械・電機・建設事業部</a:t>
            </a:r>
          </a:p>
        </p:txBody>
      </p:sp>
    </p:spTree>
    <p:extLst>
      <p:ext uri="{BB962C8B-B14F-4D97-AF65-F5344CB8AC3E}">
        <p14:creationId xmlns:p14="http://schemas.microsoft.com/office/powerpoint/2010/main" val="2646136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13BF44B-3CCC-5AF8-F445-8E639903309B}"/>
              </a:ext>
            </a:extLst>
          </p:cNvPr>
          <p:cNvSpPr>
            <a:spLocks noGrp="1"/>
          </p:cNvSpPr>
          <p:nvPr>
            <p:ph type="title"/>
          </p:nvPr>
        </p:nvSpPr>
        <p:spPr/>
        <p:txBody>
          <a:bodyPr/>
          <a:lstStyle/>
          <a:p>
            <a:r>
              <a:rPr lang="ja-JP" altLang="en-US" dirty="0"/>
              <a:t>本日の目的</a:t>
            </a:r>
          </a:p>
        </p:txBody>
      </p:sp>
      <p:sp>
        <p:nvSpPr>
          <p:cNvPr id="6" name="コンテンツ プレースホルダー 5">
            <a:extLst>
              <a:ext uri="{FF2B5EF4-FFF2-40B4-BE49-F238E27FC236}">
                <a16:creationId xmlns:a16="http://schemas.microsoft.com/office/drawing/2014/main" id="{68C89B50-29C2-3FBE-7C4C-002905205F92}"/>
              </a:ext>
            </a:extLst>
          </p:cNvPr>
          <p:cNvSpPr>
            <a:spLocks noGrp="1"/>
          </p:cNvSpPr>
          <p:nvPr>
            <p:ph sz="quarter" idx="10"/>
          </p:nvPr>
        </p:nvSpPr>
        <p:spPr/>
        <p:txBody>
          <a:bodyPr/>
          <a:lstStyle/>
          <a:p>
            <a:pPr marL="342900" indent="-342900">
              <a:buFont typeface="Arial" panose="020B0604020202020204" pitchFamily="34" charset="0"/>
              <a:buChar char="•"/>
            </a:pPr>
            <a:r>
              <a:rPr lang="en-US" altLang="ja-JP" dirty="0"/>
              <a:t>SPMI</a:t>
            </a:r>
            <a:r>
              <a:rPr lang="ja-JP" altLang="en-US" dirty="0"/>
              <a:t>事業部様では、事業動向を踏まえて</a:t>
            </a:r>
            <a:r>
              <a:rPr lang="en-US" altLang="ja-JP" dirty="0"/>
              <a:t>WPPJ</a:t>
            </a:r>
            <a:r>
              <a:rPr lang="ja-JP" altLang="en-US" dirty="0"/>
              <a:t>、その他検討を進められていますが、現在進む各検討の具体化や実現に向けて、またその先に目指す効率的な事業運営に対して、お役に立つ情報を継続してお伝えし、議論ができればと考えております。</a:t>
            </a:r>
            <a:endParaRPr lang="en-US" altLang="ja-JP" dirty="0"/>
          </a:p>
          <a:p>
            <a:pPr marL="342900" indent="-342900">
              <a:buFont typeface="Arial" panose="020B0604020202020204" pitchFamily="34" charset="0"/>
              <a:buChar char="•"/>
            </a:pPr>
            <a:endParaRPr lang="en-US" altLang="ja-JP" dirty="0"/>
          </a:p>
          <a:p>
            <a:pPr marL="342900" indent="-342900">
              <a:buFont typeface="Arial" panose="020B0604020202020204" pitchFamily="34" charset="0"/>
              <a:buChar char="•"/>
            </a:pPr>
            <a:r>
              <a:rPr lang="ja-JP" altLang="en-US" dirty="0"/>
              <a:t>「適正人数かつ効率的な</a:t>
            </a:r>
            <a:r>
              <a:rPr lang="en-US" altLang="ja-JP" dirty="0"/>
              <a:t>AS</a:t>
            </a:r>
            <a:r>
              <a:rPr lang="ja-JP" altLang="en-US" dirty="0"/>
              <a:t>事業運営」を継続的に実現するためには、データインプット～分析～判断を回していく</a:t>
            </a:r>
            <a:r>
              <a:rPr lang="ja-JP" altLang="en-US" b="1" u="sng" dirty="0"/>
              <a:t>「仕組み」</a:t>
            </a:r>
            <a:r>
              <a:rPr lang="ja-JP" altLang="en-US" dirty="0"/>
              <a:t>も重要であり、その事例等をお持ちしています。</a:t>
            </a:r>
            <a:endParaRPr lang="en-US" altLang="ja-JP" dirty="0"/>
          </a:p>
          <a:p>
            <a:pPr marL="342900" indent="-342900">
              <a:buFont typeface="Arial" panose="020B0604020202020204" pitchFamily="34" charset="0"/>
              <a:buChar char="•"/>
            </a:pPr>
            <a:endParaRPr lang="en-US" altLang="ja-JP" dirty="0"/>
          </a:p>
          <a:p>
            <a:pPr marL="342900" indent="-342900">
              <a:buFont typeface="Arial" panose="020B0604020202020204" pitchFamily="34" charset="0"/>
              <a:buChar char="•"/>
            </a:pPr>
            <a:r>
              <a:rPr lang="ja-JP" altLang="en-US" dirty="0"/>
              <a:t>また、「仕組み」の文脈では、</a:t>
            </a:r>
            <a:r>
              <a:rPr lang="en-US" altLang="ja-JP" dirty="0"/>
              <a:t>DI</a:t>
            </a:r>
            <a:r>
              <a:rPr lang="ja-JP" altLang="en-US" dirty="0"/>
              <a:t>本様が次世代</a:t>
            </a:r>
            <a:r>
              <a:rPr lang="en-US" altLang="ja-JP" dirty="0"/>
              <a:t>IT</a:t>
            </a:r>
            <a:r>
              <a:rPr lang="ja-JP" altLang="en-US" dirty="0"/>
              <a:t>アーキの検討を進められていますが、全社横ぐしで利用可能な共通基盤の構築が目的であり、次世代</a:t>
            </a:r>
            <a:r>
              <a:rPr lang="en-US" altLang="ja-JP" dirty="0"/>
              <a:t>IT</a:t>
            </a:r>
            <a:r>
              <a:rPr lang="ja-JP" altLang="en-US" dirty="0"/>
              <a:t>アーキが提供するのは、あくまで箱やツール（手段）であって、個別</a:t>
            </a:r>
            <a:r>
              <a:rPr lang="en-US" altLang="ja-JP" dirty="0"/>
              <a:t>SBU</a:t>
            </a:r>
            <a:r>
              <a:rPr lang="ja-JP" altLang="en-US" dirty="0"/>
              <a:t>の業務に応じた詳細検討まではスコープにはならないと理解しています。</a:t>
            </a:r>
            <a:endParaRPr lang="en-US" altLang="ja-JP" dirty="0"/>
          </a:p>
          <a:p>
            <a:pPr marL="342900" indent="-342900">
              <a:buFont typeface="Arial" panose="020B0604020202020204" pitchFamily="34" charset="0"/>
              <a:buChar char="•"/>
            </a:pPr>
            <a:endParaRPr lang="en-US" altLang="ja-JP" dirty="0"/>
          </a:p>
          <a:p>
            <a:pPr marL="342900" indent="-342900">
              <a:buFont typeface="Arial" panose="020B0604020202020204" pitchFamily="34" charset="0"/>
              <a:buChar char="•"/>
            </a:pPr>
            <a:r>
              <a:rPr lang="ja-JP" altLang="en-US" dirty="0"/>
              <a:t>それらツールをどのような目的で、どのように活用していくかは、各</a:t>
            </a:r>
            <a:r>
              <a:rPr lang="en-US" altLang="ja-JP" dirty="0"/>
              <a:t>SBU</a:t>
            </a:r>
            <a:r>
              <a:rPr lang="ja-JP" altLang="en-US" dirty="0"/>
              <a:t>様にてご検討・実装されていくものと思います。そのイメージアップにも繋がれば幸いです。</a:t>
            </a:r>
            <a:endParaRPr lang="ja-JP" altLang="en-US" dirty="0">
              <a:solidFill>
                <a:srgbClr val="FF0000"/>
              </a:solidFill>
            </a:endParaRPr>
          </a:p>
        </p:txBody>
      </p:sp>
    </p:spTree>
    <p:extLst>
      <p:ext uri="{BB962C8B-B14F-4D97-AF65-F5344CB8AC3E}">
        <p14:creationId xmlns:p14="http://schemas.microsoft.com/office/powerpoint/2010/main" val="238198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2ACD27C5-A30C-6BA9-3533-0AD733BF52B8}"/>
              </a:ext>
            </a:extLst>
          </p:cNvPr>
          <p:cNvSpPr/>
          <p:nvPr/>
        </p:nvSpPr>
        <p:spPr>
          <a:xfrm>
            <a:off x="145143" y="1669143"/>
            <a:ext cx="11843657" cy="4985657"/>
          </a:xfrm>
          <a:prstGeom prst="rect">
            <a:avLst/>
          </a:prstGeom>
          <a:solidFill>
            <a:schemeClr val="bg1"/>
          </a:solidFill>
          <a:ln w="3175">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dirty="0">
              <a:ln>
                <a:noFill/>
              </a:ln>
              <a:solidFill>
                <a:srgbClr val="000000"/>
              </a:solidFill>
              <a:effectLst/>
              <a:uLnTx/>
              <a:uFillTx/>
              <a:latin typeface="Arial"/>
              <a:ea typeface="Meiryo UI"/>
              <a:cs typeface="+mn-cs"/>
            </a:endParaRPr>
          </a:p>
        </p:txBody>
      </p:sp>
      <p:sp>
        <p:nvSpPr>
          <p:cNvPr id="5" name="タイトル 4">
            <a:extLst>
              <a:ext uri="{FF2B5EF4-FFF2-40B4-BE49-F238E27FC236}">
                <a16:creationId xmlns:a16="http://schemas.microsoft.com/office/drawing/2014/main" id="{813BF44B-3CCC-5AF8-F445-8E639903309B}"/>
              </a:ext>
            </a:extLst>
          </p:cNvPr>
          <p:cNvSpPr>
            <a:spLocks noGrp="1"/>
          </p:cNvSpPr>
          <p:nvPr>
            <p:ph type="title"/>
          </p:nvPr>
        </p:nvSpPr>
        <p:spPr/>
        <p:txBody>
          <a:bodyPr/>
          <a:lstStyle/>
          <a:p>
            <a:r>
              <a:rPr lang="ja-JP" altLang="en-US" dirty="0"/>
              <a:t>＜参考＞次世代</a:t>
            </a:r>
            <a:r>
              <a:rPr lang="en-US" altLang="ja-JP" dirty="0"/>
              <a:t>IT</a:t>
            </a:r>
            <a:r>
              <a:rPr lang="ja-JP" altLang="en-US" dirty="0"/>
              <a:t>アーキ　取り組み状況</a:t>
            </a:r>
          </a:p>
        </p:txBody>
      </p:sp>
      <p:sp>
        <p:nvSpPr>
          <p:cNvPr id="6" name="コンテンツ プレースホルダー 5">
            <a:extLst>
              <a:ext uri="{FF2B5EF4-FFF2-40B4-BE49-F238E27FC236}">
                <a16:creationId xmlns:a16="http://schemas.microsoft.com/office/drawing/2014/main" id="{68C89B50-29C2-3FBE-7C4C-002905205F92}"/>
              </a:ext>
            </a:extLst>
          </p:cNvPr>
          <p:cNvSpPr>
            <a:spLocks noGrp="1"/>
          </p:cNvSpPr>
          <p:nvPr>
            <p:ph sz="quarter" idx="10"/>
          </p:nvPr>
        </p:nvSpPr>
        <p:spPr/>
        <p:txBody>
          <a:bodyPr/>
          <a:lstStyle/>
          <a:p>
            <a:r>
              <a:rPr lang="ja-JP" altLang="en-US" dirty="0"/>
              <a:t>事業部ニーズから必要な機能を導出し、汎化した状態。今後、戦略テーマを策定、先行ユースケースに取り組む予定。</a:t>
            </a:r>
          </a:p>
        </p:txBody>
      </p:sp>
      <p:pic>
        <p:nvPicPr>
          <p:cNvPr id="18" name="図 17">
            <a:extLst>
              <a:ext uri="{FF2B5EF4-FFF2-40B4-BE49-F238E27FC236}">
                <a16:creationId xmlns:a16="http://schemas.microsoft.com/office/drawing/2014/main" id="{B868E2EF-B8D9-A200-BCD9-AC601DDB49B4}"/>
              </a:ext>
            </a:extLst>
          </p:cNvPr>
          <p:cNvPicPr>
            <a:picLocks noChangeAspect="1"/>
          </p:cNvPicPr>
          <p:nvPr/>
        </p:nvPicPr>
        <p:blipFill>
          <a:blip r:embed="rId2"/>
          <a:stretch>
            <a:fillRect/>
          </a:stretch>
        </p:blipFill>
        <p:spPr>
          <a:xfrm>
            <a:off x="8046233" y="2125011"/>
            <a:ext cx="2113173" cy="1029243"/>
          </a:xfrm>
          <a:prstGeom prst="rect">
            <a:avLst/>
          </a:prstGeom>
        </p:spPr>
      </p:pic>
      <p:pic>
        <p:nvPicPr>
          <p:cNvPr id="28" name="図 27">
            <a:extLst>
              <a:ext uri="{FF2B5EF4-FFF2-40B4-BE49-F238E27FC236}">
                <a16:creationId xmlns:a16="http://schemas.microsoft.com/office/drawing/2014/main" id="{7919762D-8C26-386F-AB39-4633143D35CD}"/>
              </a:ext>
            </a:extLst>
          </p:cNvPr>
          <p:cNvPicPr>
            <a:picLocks noChangeAspect="1"/>
          </p:cNvPicPr>
          <p:nvPr/>
        </p:nvPicPr>
        <p:blipFill>
          <a:blip r:embed="rId3"/>
          <a:stretch>
            <a:fillRect/>
          </a:stretch>
        </p:blipFill>
        <p:spPr>
          <a:xfrm>
            <a:off x="8078253" y="3694709"/>
            <a:ext cx="2100516" cy="1016306"/>
          </a:xfrm>
          <a:prstGeom prst="rect">
            <a:avLst/>
          </a:prstGeom>
        </p:spPr>
      </p:pic>
      <p:sp>
        <p:nvSpPr>
          <p:cNvPr id="32" name="テキスト ボックス 31">
            <a:extLst>
              <a:ext uri="{FF2B5EF4-FFF2-40B4-BE49-F238E27FC236}">
                <a16:creationId xmlns:a16="http://schemas.microsoft.com/office/drawing/2014/main" id="{C1DFA813-C992-BEB9-7957-5762BA387AC3}"/>
              </a:ext>
            </a:extLst>
          </p:cNvPr>
          <p:cNvSpPr txBox="1"/>
          <p:nvPr/>
        </p:nvSpPr>
        <p:spPr>
          <a:xfrm>
            <a:off x="7955032" y="1934883"/>
            <a:ext cx="3956259" cy="1319218"/>
          </a:xfrm>
          <a:prstGeom prst="rect">
            <a:avLst/>
          </a:prstGeom>
          <a:noFill/>
          <a:ln w="9525">
            <a:solidFill>
              <a:schemeClr val="tx2"/>
            </a:solidFill>
          </a:ln>
        </p:spPr>
        <p:txBody>
          <a:bodyPr wrap="square" rtlCol="0" anchor="ctr" anchorCtr="0">
            <a:noAutofit/>
          </a:bodyPr>
          <a:lstStyle>
            <a:defPPr>
              <a:defRPr lang="ja-JP"/>
            </a:defPPr>
            <a:lvl1pPr algn="ctr">
              <a:defRPr sz="1200">
                <a:latin typeface="+mn-ea"/>
              </a:defRPr>
            </a:lvl1pPr>
          </a:lstStyle>
          <a:p>
            <a:pPr marL="0" marR="0" lvl="0" indent="0" algn="l" defTabSz="1039033" rtl="0" eaLnBrk="1" fontAlgn="auto" latinLnBrk="0" hangingPunct="1">
              <a:lnSpc>
                <a:spcPct val="100000"/>
              </a:lnSpc>
              <a:spcBef>
                <a:spcPts val="0"/>
              </a:spcBef>
              <a:spcAft>
                <a:spcPts val="0"/>
              </a:spcAft>
              <a:buClrTx/>
              <a:buSzTx/>
              <a:buFontTx/>
              <a:buNone/>
              <a:tabLst/>
              <a:defRPr/>
            </a:pPr>
            <a:endParaRPr kumimoji="1" lang="en-US" altLang="ja-JP" sz="900" b="0" i="0" u="none" strike="noStrike" kern="1200" cap="none" spc="0" normalizeH="0" baseline="0" noProof="0">
              <a:ln>
                <a:noFill/>
              </a:ln>
              <a:solidFill>
                <a:srgbClr val="000000"/>
              </a:solidFill>
              <a:effectLst/>
              <a:uLnTx/>
              <a:uFillTx/>
              <a:latin typeface="メイリオ"/>
              <a:ea typeface="メイリオ"/>
              <a:cs typeface="+mn-cs"/>
            </a:endParaRPr>
          </a:p>
        </p:txBody>
      </p:sp>
      <p:sp>
        <p:nvSpPr>
          <p:cNvPr id="36" name="テキスト ボックス 35">
            <a:extLst>
              <a:ext uri="{FF2B5EF4-FFF2-40B4-BE49-F238E27FC236}">
                <a16:creationId xmlns:a16="http://schemas.microsoft.com/office/drawing/2014/main" id="{8B7ED3F4-8E0B-1487-1AF1-477B147244BA}"/>
              </a:ext>
            </a:extLst>
          </p:cNvPr>
          <p:cNvSpPr txBox="1"/>
          <p:nvPr/>
        </p:nvSpPr>
        <p:spPr>
          <a:xfrm>
            <a:off x="7955032" y="3479264"/>
            <a:ext cx="3956259" cy="1319218"/>
          </a:xfrm>
          <a:prstGeom prst="rect">
            <a:avLst/>
          </a:prstGeom>
          <a:noFill/>
          <a:ln w="9525">
            <a:solidFill>
              <a:schemeClr val="tx2"/>
            </a:solidFill>
          </a:ln>
        </p:spPr>
        <p:txBody>
          <a:bodyPr wrap="square" rtlCol="0" anchor="ctr" anchorCtr="0">
            <a:noAutofit/>
          </a:bodyPr>
          <a:lstStyle>
            <a:defPPr>
              <a:defRPr lang="ja-JP"/>
            </a:defPPr>
            <a:lvl1pPr algn="ctr">
              <a:defRPr sz="1200">
                <a:latin typeface="+mn-ea"/>
              </a:defRPr>
            </a:lvl1pPr>
          </a:lstStyle>
          <a:p>
            <a:pPr marL="0" marR="0" lvl="0" indent="0" algn="l" defTabSz="1039033" rtl="0" eaLnBrk="1" fontAlgn="auto" latinLnBrk="0" hangingPunct="1">
              <a:lnSpc>
                <a:spcPct val="100000"/>
              </a:lnSpc>
              <a:spcBef>
                <a:spcPts val="0"/>
              </a:spcBef>
              <a:spcAft>
                <a:spcPts val="0"/>
              </a:spcAft>
              <a:buClrTx/>
              <a:buSzTx/>
              <a:buFontTx/>
              <a:buNone/>
              <a:tabLst/>
              <a:defRPr/>
            </a:pPr>
            <a:endParaRPr kumimoji="1" lang="en-US" altLang="ja-JP" sz="900" b="0" i="0" u="none" strike="noStrike" kern="1200" cap="none" spc="0" normalizeH="0" baseline="0" noProof="0">
              <a:ln>
                <a:noFill/>
              </a:ln>
              <a:solidFill>
                <a:srgbClr val="000000"/>
              </a:solidFill>
              <a:effectLst/>
              <a:uLnTx/>
              <a:uFillTx/>
              <a:latin typeface="メイリオ"/>
              <a:ea typeface="メイリオ"/>
              <a:cs typeface="+mn-cs"/>
            </a:endParaRPr>
          </a:p>
        </p:txBody>
      </p:sp>
      <p:pic>
        <p:nvPicPr>
          <p:cNvPr id="37" name="図 36">
            <a:extLst>
              <a:ext uri="{FF2B5EF4-FFF2-40B4-BE49-F238E27FC236}">
                <a16:creationId xmlns:a16="http://schemas.microsoft.com/office/drawing/2014/main" id="{2BDD2D39-8501-1BD3-3906-1D8C7D738B49}"/>
              </a:ext>
            </a:extLst>
          </p:cNvPr>
          <p:cNvPicPr>
            <a:picLocks noChangeAspect="1"/>
          </p:cNvPicPr>
          <p:nvPr/>
        </p:nvPicPr>
        <p:blipFill>
          <a:blip r:embed="rId4"/>
          <a:stretch>
            <a:fillRect/>
          </a:stretch>
        </p:blipFill>
        <p:spPr>
          <a:xfrm>
            <a:off x="4172568" y="2348149"/>
            <a:ext cx="2954618" cy="1420723"/>
          </a:xfrm>
          <a:prstGeom prst="rect">
            <a:avLst/>
          </a:prstGeom>
        </p:spPr>
      </p:pic>
      <p:pic>
        <p:nvPicPr>
          <p:cNvPr id="38" name="図 37">
            <a:extLst>
              <a:ext uri="{FF2B5EF4-FFF2-40B4-BE49-F238E27FC236}">
                <a16:creationId xmlns:a16="http://schemas.microsoft.com/office/drawing/2014/main" id="{59032707-72CD-18D9-C3F5-897F77427441}"/>
              </a:ext>
            </a:extLst>
          </p:cNvPr>
          <p:cNvPicPr>
            <a:picLocks noChangeAspect="1"/>
          </p:cNvPicPr>
          <p:nvPr/>
        </p:nvPicPr>
        <p:blipFill>
          <a:blip r:embed="rId5"/>
          <a:stretch>
            <a:fillRect/>
          </a:stretch>
        </p:blipFill>
        <p:spPr>
          <a:xfrm>
            <a:off x="4024905" y="2935603"/>
            <a:ext cx="2954618" cy="1420723"/>
          </a:xfrm>
          <a:prstGeom prst="rect">
            <a:avLst/>
          </a:prstGeom>
        </p:spPr>
      </p:pic>
      <p:pic>
        <p:nvPicPr>
          <p:cNvPr id="39" name="図 38">
            <a:extLst>
              <a:ext uri="{FF2B5EF4-FFF2-40B4-BE49-F238E27FC236}">
                <a16:creationId xmlns:a16="http://schemas.microsoft.com/office/drawing/2014/main" id="{99D1EB35-8758-315F-CE9B-ED79AE2EE80C}"/>
              </a:ext>
            </a:extLst>
          </p:cNvPr>
          <p:cNvPicPr>
            <a:picLocks noChangeAspect="1"/>
          </p:cNvPicPr>
          <p:nvPr/>
        </p:nvPicPr>
        <p:blipFill>
          <a:blip r:embed="rId6"/>
          <a:stretch>
            <a:fillRect/>
          </a:stretch>
        </p:blipFill>
        <p:spPr>
          <a:xfrm>
            <a:off x="3843047" y="3523055"/>
            <a:ext cx="2954619" cy="1420723"/>
          </a:xfrm>
          <a:prstGeom prst="rect">
            <a:avLst/>
          </a:prstGeom>
        </p:spPr>
      </p:pic>
      <p:pic>
        <p:nvPicPr>
          <p:cNvPr id="40" name="図 39">
            <a:extLst>
              <a:ext uri="{FF2B5EF4-FFF2-40B4-BE49-F238E27FC236}">
                <a16:creationId xmlns:a16="http://schemas.microsoft.com/office/drawing/2014/main" id="{FD7AD8E2-2BC5-8DB8-487C-A8F881B0788A}"/>
              </a:ext>
            </a:extLst>
          </p:cNvPr>
          <p:cNvPicPr>
            <a:picLocks noChangeAspect="1"/>
          </p:cNvPicPr>
          <p:nvPr/>
        </p:nvPicPr>
        <p:blipFill>
          <a:blip r:embed="rId7"/>
          <a:stretch>
            <a:fillRect/>
          </a:stretch>
        </p:blipFill>
        <p:spPr>
          <a:xfrm>
            <a:off x="670687" y="2348148"/>
            <a:ext cx="2954619" cy="1420723"/>
          </a:xfrm>
          <a:prstGeom prst="rect">
            <a:avLst/>
          </a:prstGeom>
        </p:spPr>
      </p:pic>
      <p:pic>
        <p:nvPicPr>
          <p:cNvPr id="41" name="図 40">
            <a:extLst>
              <a:ext uri="{FF2B5EF4-FFF2-40B4-BE49-F238E27FC236}">
                <a16:creationId xmlns:a16="http://schemas.microsoft.com/office/drawing/2014/main" id="{33A5FC59-EF91-9F69-C206-20502958DCA0}"/>
              </a:ext>
            </a:extLst>
          </p:cNvPr>
          <p:cNvPicPr>
            <a:picLocks noChangeAspect="1"/>
          </p:cNvPicPr>
          <p:nvPr/>
        </p:nvPicPr>
        <p:blipFill>
          <a:blip r:embed="rId8"/>
          <a:stretch>
            <a:fillRect/>
          </a:stretch>
        </p:blipFill>
        <p:spPr>
          <a:xfrm>
            <a:off x="488829" y="2935602"/>
            <a:ext cx="2954619" cy="1420723"/>
          </a:xfrm>
          <a:prstGeom prst="rect">
            <a:avLst/>
          </a:prstGeom>
        </p:spPr>
      </p:pic>
      <p:pic>
        <p:nvPicPr>
          <p:cNvPr id="42" name="図 41">
            <a:extLst>
              <a:ext uri="{FF2B5EF4-FFF2-40B4-BE49-F238E27FC236}">
                <a16:creationId xmlns:a16="http://schemas.microsoft.com/office/drawing/2014/main" id="{6ED15097-2CBA-2496-08B5-A0F4AA9AC7B2}"/>
              </a:ext>
            </a:extLst>
          </p:cNvPr>
          <p:cNvPicPr>
            <a:picLocks noChangeAspect="1"/>
          </p:cNvPicPr>
          <p:nvPr/>
        </p:nvPicPr>
        <p:blipFill>
          <a:blip r:embed="rId9"/>
          <a:stretch>
            <a:fillRect/>
          </a:stretch>
        </p:blipFill>
        <p:spPr>
          <a:xfrm>
            <a:off x="306971" y="3523055"/>
            <a:ext cx="2954619" cy="1420723"/>
          </a:xfrm>
          <a:prstGeom prst="rect">
            <a:avLst/>
          </a:prstGeom>
        </p:spPr>
      </p:pic>
      <p:sp>
        <p:nvSpPr>
          <p:cNvPr id="43" name="正方形/長方形 42">
            <a:extLst>
              <a:ext uri="{FF2B5EF4-FFF2-40B4-BE49-F238E27FC236}">
                <a16:creationId xmlns:a16="http://schemas.microsoft.com/office/drawing/2014/main" id="{020D0D05-8451-1A8E-546C-5FC730636A1A}"/>
              </a:ext>
            </a:extLst>
          </p:cNvPr>
          <p:cNvSpPr/>
          <p:nvPr/>
        </p:nvSpPr>
        <p:spPr>
          <a:xfrm>
            <a:off x="488829" y="4146464"/>
            <a:ext cx="2772761" cy="763286"/>
          </a:xfrm>
          <a:prstGeom prst="rect">
            <a:avLst/>
          </a:prstGeom>
          <a:solidFill>
            <a:schemeClr val="accent2">
              <a:lumMod val="40000"/>
              <a:lumOff val="60000"/>
              <a:alpha val="50196"/>
            </a:schemeClr>
          </a:solid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39033"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メイリオ"/>
                <a:ea typeface="メイリオ"/>
                <a:cs typeface="+mn-cs"/>
              </a:rPr>
              <a:t>DI</a:t>
            </a:r>
            <a:r>
              <a:rPr kumimoji="1" lang="ja-JP" altLang="en-US" sz="1200" b="0" i="0" u="none" strike="noStrike" kern="1200" cap="none" spc="0" normalizeH="0" baseline="0" noProof="0">
                <a:ln>
                  <a:noFill/>
                </a:ln>
                <a:solidFill>
                  <a:srgbClr val="000000"/>
                </a:solidFill>
                <a:effectLst/>
                <a:uLnTx/>
                <a:uFillTx/>
                <a:latin typeface="メイリオ"/>
                <a:ea typeface="メイリオ"/>
                <a:cs typeface="+mn-cs"/>
              </a:rPr>
              <a:t>本で追記する部分</a:t>
            </a:r>
          </a:p>
        </p:txBody>
      </p:sp>
      <p:sp>
        <p:nvSpPr>
          <p:cNvPr id="44" name="正方形/長方形 43">
            <a:extLst>
              <a:ext uri="{FF2B5EF4-FFF2-40B4-BE49-F238E27FC236}">
                <a16:creationId xmlns:a16="http://schemas.microsoft.com/office/drawing/2014/main" id="{D33DF638-5199-AB72-8A70-FD252BE2D18D}"/>
              </a:ext>
            </a:extLst>
          </p:cNvPr>
          <p:cNvSpPr/>
          <p:nvPr/>
        </p:nvSpPr>
        <p:spPr>
          <a:xfrm>
            <a:off x="3843047" y="3523054"/>
            <a:ext cx="2954618" cy="1420723"/>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39033" rtl="0" eaLnBrk="1" fontAlgn="auto" latinLnBrk="0" hangingPunct="1">
              <a:lnSpc>
                <a:spcPct val="100000"/>
              </a:lnSpc>
              <a:spcBef>
                <a:spcPts val="0"/>
              </a:spcBef>
              <a:spcAft>
                <a:spcPts val="0"/>
              </a:spcAft>
              <a:buClrTx/>
              <a:buSzTx/>
              <a:buFontTx/>
              <a:buNone/>
              <a:tabLst/>
              <a:defRPr/>
            </a:pPr>
            <a:endParaRPr kumimoji="1" lang="ja-JP" altLang="en-US" sz="2000" b="0" i="0" u="none" strike="noStrike" kern="1200" cap="none" spc="0" normalizeH="0" baseline="0" noProof="0">
              <a:ln>
                <a:noFill/>
              </a:ln>
              <a:solidFill>
                <a:srgbClr val="FFFFFF"/>
              </a:solidFill>
              <a:effectLst/>
              <a:uLnTx/>
              <a:uFillTx/>
              <a:latin typeface="Arial"/>
              <a:ea typeface="メイリオ"/>
              <a:cs typeface="+mn-cs"/>
            </a:endParaRPr>
          </a:p>
        </p:txBody>
      </p:sp>
      <p:cxnSp>
        <p:nvCxnSpPr>
          <p:cNvPr id="45" name="コネクタ: カギ線 44">
            <a:extLst>
              <a:ext uri="{FF2B5EF4-FFF2-40B4-BE49-F238E27FC236}">
                <a16:creationId xmlns:a16="http://schemas.microsoft.com/office/drawing/2014/main" id="{23898310-2FD3-E7F2-54CC-CDF9FE411572}"/>
              </a:ext>
            </a:extLst>
          </p:cNvPr>
          <p:cNvCxnSpPr>
            <a:stCxn id="43" idx="3"/>
            <a:endCxn id="39" idx="1"/>
          </p:cNvCxnSpPr>
          <p:nvPr/>
        </p:nvCxnSpPr>
        <p:spPr>
          <a:xfrm flipV="1">
            <a:off x="3261590" y="4233417"/>
            <a:ext cx="581457" cy="294690"/>
          </a:xfrm>
          <a:prstGeom prst="bentConnector3">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E29FBB60-0F6F-E83A-58F8-8D0F83CE4420}"/>
              </a:ext>
            </a:extLst>
          </p:cNvPr>
          <p:cNvCxnSpPr>
            <a:cxnSpLocks/>
            <a:stCxn id="44" idx="3"/>
            <a:endCxn id="49" idx="1"/>
          </p:cNvCxnSpPr>
          <p:nvPr/>
        </p:nvCxnSpPr>
        <p:spPr>
          <a:xfrm>
            <a:off x="6797665" y="4233416"/>
            <a:ext cx="1164351" cy="1503730"/>
          </a:xfrm>
          <a:prstGeom prst="bentConnector3">
            <a:avLst>
              <a:gd name="adj1" fmla="val 50000"/>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4B0EC836-9A43-404C-9EF0-6BCE732EC4BC}"/>
              </a:ext>
            </a:extLst>
          </p:cNvPr>
          <p:cNvCxnSpPr>
            <a:cxnSpLocks/>
            <a:stCxn id="39" idx="3"/>
            <a:endCxn id="32" idx="1"/>
          </p:cNvCxnSpPr>
          <p:nvPr/>
        </p:nvCxnSpPr>
        <p:spPr>
          <a:xfrm flipV="1">
            <a:off x="6797666" y="2594492"/>
            <a:ext cx="1157366" cy="1638925"/>
          </a:xfrm>
          <a:prstGeom prst="bentConnector3">
            <a:avLst>
              <a:gd name="adj1" fmla="val 50000"/>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406CCEB3-624A-C7A0-9634-BD6646C0EB26}"/>
              </a:ext>
            </a:extLst>
          </p:cNvPr>
          <p:cNvSpPr txBox="1"/>
          <p:nvPr/>
        </p:nvSpPr>
        <p:spPr>
          <a:xfrm>
            <a:off x="5305703" y="4807762"/>
            <a:ext cx="1719136" cy="393824"/>
          </a:xfrm>
          <a:prstGeom prst="rect">
            <a:avLst/>
          </a:prstGeom>
          <a:solidFill>
            <a:schemeClr val="accent2">
              <a:lumMod val="20000"/>
              <a:lumOff val="80000"/>
            </a:schemeClr>
          </a:solidFill>
          <a:ln w="12700">
            <a:solidFill>
              <a:schemeClr val="tx2"/>
            </a:solidFill>
          </a:ln>
        </p:spPr>
        <p:txBody>
          <a:bodyPr wrap="square" rtlCol="0" anchor="ctr" anchorCtr="0">
            <a:noAutofit/>
          </a:bodyPr>
          <a:lstStyle>
            <a:defPPr>
              <a:defRPr lang="ja-JP"/>
            </a:defPPr>
            <a:lvl1pPr algn="ctr">
              <a:defRPr sz="1200">
                <a:latin typeface="+mn-ea"/>
              </a:defRPr>
            </a:lvl1pPr>
          </a:lstStyle>
          <a:p>
            <a:pPr marL="0" marR="0" lvl="0" indent="0" algn="l" defTabSz="1039033"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メイリオ"/>
                <a:ea typeface="メイリオ"/>
                <a:cs typeface="+mn-cs"/>
              </a:rPr>
              <a:t>業務プロセス</a:t>
            </a:r>
            <a:r>
              <a:rPr kumimoji="1" lang="en-US" altLang="ja-JP" sz="900" b="0" i="0" u="none" strike="noStrike" kern="1200" cap="none" spc="0" normalizeH="0" baseline="0" noProof="0">
                <a:ln>
                  <a:noFill/>
                </a:ln>
                <a:solidFill>
                  <a:srgbClr val="000000"/>
                </a:solidFill>
                <a:effectLst/>
                <a:uLnTx/>
                <a:uFillTx/>
                <a:latin typeface="メイリオ"/>
                <a:ea typeface="メイリオ"/>
                <a:cs typeface="+mn-cs"/>
              </a:rPr>
              <a:t>/</a:t>
            </a:r>
            <a:r>
              <a:rPr kumimoji="1" lang="ja-JP" altLang="en-US" sz="900" b="0" i="0" u="none" strike="noStrike" kern="1200" cap="none" spc="0" normalizeH="0" baseline="0" noProof="0">
                <a:ln>
                  <a:noFill/>
                </a:ln>
                <a:solidFill>
                  <a:srgbClr val="000000"/>
                </a:solidFill>
                <a:effectLst/>
                <a:uLnTx/>
                <a:uFillTx/>
                <a:latin typeface="メイリオ"/>
                <a:ea typeface="メイリオ"/>
                <a:cs typeface="+mn-cs"/>
              </a:rPr>
              <a:t>タスク実行に</a:t>
            </a:r>
            <a:endParaRPr kumimoji="1" lang="en-US" altLang="ja-JP" sz="900" b="0" i="0" u="none" strike="noStrike" kern="1200" cap="none" spc="0" normalizeH="0" baseline="0" noProof="0">
              <a:ln>
                <a:noFill/>
              </a:ln>
              <a:solidFill>
                <a:srgbClr val="000000"/>
              </a:solidFill>
              <a:effectLst/>
              <a:uLnTx/>
              <a:uFillTx/>
              <a:latin typeface="メイリオ"/>
              <a:ea typeface="メイリオ"/>
              <a:cs typeface="+mn-cs"/>
            </a:endParaRPr>
          </a:p>
          <a:p>
            <a:pPr marL="0" marR="0" lvl="0" indent="0" algn="l" defTabSz="1039033"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メイリオ"/>
                <a:ea typeface="メイリオ"/>
                <a:cs typeface="+mn-cs"/>
              </a:rPr>
              <a:t>向けた機能の分解</a:t>
            </a:r>
            <a:endParaRPr kumimoji="1" lang="en-US" altLang="ja-JP" sz="900" b="0" i="0" u="none" strike="noStrike" kern="1200" cap="none" spc="0" normalizeH="0" baseline="0" noProof="0">
              <a:ln>
                <a:noFill/>
              </a:ln>
              <a:solidFill>
                <a:srgbClr val="000000"/>
              </a:solidFill>
              <a:effectLst/>
              <a:uLnTx/>
              <a:uFillTx/>
              <a:latin typeface="メイリオ"/>
              <a:ea typeface="メイリオ"/>
              <a:cs typeface="+mn-cs"/>
            </a:endParaRPr>
          </a:p>
        </p:txBody>
      </p:sp>
      <p:sp>
        <p:nvSpPr>
          <p:cNvPr id="49" name="テキスト ボックス 48">
            <a:extLst>
              <a:ext uri="{FF2B5EF4-FFF2-40B4-BE49-F238E27FC236}">
                <a16:creationId xmlns:a16="http://schemas.microsoft.com/office/drawing/2014/main" id="{887F4A49-B46F-3C07-F2C0-2CA2C192EC3F}"/>
              </a:ext>
            </a:extLst>
          </p:cNvPr>
          <p:cNvSpPr txBox="1"/>
          <p:nvPr/>
        </p:nvSpPr>
        <p:spPr>
          <a:xfrm>
            <a:off x="7962016" y="5023646"/>
            <a:ext cx="3956259" cy="1427000"/>
          </a:xfrm>
          <a:prstGeom prst="rect">
            <a:avLst/>
          </a:prstGeom>
          <a:noFill/>
          <a:ln w="9525">
            <a:solidFill>
              <a:schemeClr val="tx2"/>
            </a:solidFill>
          </a:ln>
        </p:spPr>
        <p:txBody>
          <a:bodyPr wrap="square" rtlCol="0" anchor="ctr" anchorCtr="0">
            <a:noAutofit/>
          </a:bodyPr>
          <a:lstStyle>
            <a:defPPr>
              <a:defRPr lang="ja-JP"/>
            </a:defPPr>
            <a:lvl1pPr algn="ctr">
              <a:defRPr sz="1200">
                <a:latin typeface="+mn-ea"/>
              </a:defRPr>
            </a:lvl1pPr>
          </a:lstStyle>
          <a:p>
            <a:pPr marL="0" marR="0" lvl="0" indent="0" algn="l" defTabSz="1039033" rtl="0" eaLnBrk="1" fontAlgn="auto" latinLnBrk="0" hangingPunct="1">
              <a:lnSpc>
                <a:spcPct val="100000"/>
              </a:lnSpc>
              <a:spcBef>
                <a:spcPts val="0"/>
              </a:spcBef>
              <a:spcAft>
                <a:spcPts val="0"/>
              </a:spcAft>
              <a:buClrTx/>
              <a:buSzTx/>
              <a:buFontTx/>
              <a:buNone/>
              <a:tabLst/>
              <a:defRPr/>
            </a:pPr>
            <a:endParaRPr kumimoji="1" lang="en-US" altLang="ja-JP" sz="900" b="0" i="0" u="none" strike="noStrike" kern="1200" cap="none" spc="0" normalizeH="0" baseline="0" noProof="0">
              <a:ln>
                <a:noFill/>
              </a:ln>
              <a:solidFill>
                <a:srgbClr val="000000"/>
              </a:solidFill>
              <a:effectLst/>
              <a:uLnTx/>
              <a:uFillTx/>
              <a:latin typeface="メイリオ"/>
              <a:ea typeface="メイリオ"/>
              <a:cs typeface="+mn-cs"/>
            </a:endParaRPr>
          </a:p>
        </p:txBody>
      </p:sp>
      <p:cxnSp>
        <p:nvCxnSpPr>
          <p:cNvPr id="50" name="コネクタ: カギ線 49">
            <a:extLst>
              <a:ext uri="{FF2B5EF4-FFF2-40B4-BE49-F238E27FC236}">
                <a16:creationId xmlns:a16="http://schemas.microsoft.com/office/drawing/2014/main" id="{125667A9-1739-3B2F-F57A-533F0D5CCCBA}"/>
              </a:ext>
            </a:extLst>
          </p:cNvPr>
          <p:cNvCxnSpPr>
            <a:cxnSpLocks/>
            <a:stCxn id="44" idx="3"/>
            <a:endCxn id="36" idx="1"/>
          </p:cNvCxnSpPr>
          <p:nvPr/>
        </p:nvCxnSpPr>
        <p:spPr>
          <a:xfrm flipV="1">
            <a:off x="6797665" y="4138873"/>
            <a:ext cx="1157367" cy="94543"/>
          </a:xfrm>
          <a:prstGeom prst="bentConnector3">
            <a:avLst>
              <a:gd name="adj1" fmla="val 50000"/>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pic>
        <p:nvPicPr>
          <p:cNvPr id="51" name="図 50">
            <a:extLst>
              <a:ext uri="{FF2B5EF4-FFF2-40B4-BE49-F238E27FC236}">
                <a16:creationId xmlns:a16="http://schemas.microsoft.com/office/drawing/2014/main" id="{CC231250-F0D5-E96F-E91D-A198EEA6B72B}"/>
              </a:ext>
            </a:extLst>
          </p:cNvPr>
          <p:cNvPicPr>
            <a:picLocks noChangeAspect="1"/>
          </p:cNvPicPr>
          <p:nvPr/>
        </p:nvPicPr>
        <p:blipFill>
          <a:blip r:embed="rId10"/>
          <a:stretch>
            <a:fillRect/>
          </a:stretch>
        </p:blipFill>
        <p:spPr>
          <a:xfrm>
            <a:off x="8053218" y="5260154"/>
            <a:ext cx="2113172" cy="1163354"/>
          </a:xfrm>
          <a:prstGeom prst="rect">
            <a:avLst/>
          </a:prstGeom>
        </p:spPr>
      </p:pic>
      <p:sp>
        <p:nvSpPr>
          <p:cNvPr id="52" name="テキスト ボックス 51">
            <a:extLst>
              <a:ext uri="{FF2B5EF4-FFF2-40B4-BE49-F238E27FC236}">
                <a16:creationId xmlns:a16="http://schemas.microsoft.com/office/drawing/2014/main" id="{7D9C560E-8DE9-F932-2B62-7D51E464BE9B}"/>
              </a:ext>
            </a:extLst>
          </p:cNvPr>
          <p:cNvSpPr txBox="1"/>
          <p:nvPr/>
        </p:nvSpPr>
        <p:spPr>
          <a:xfrm>
            <a:off x="10398783" y="3708631"/>
            <a:ext cx="1477310" cy="923330"/>
          </a:xfrm>
          <a:prstGeom prst="rect">
            <a:avLst/>
          </a:prstGeom>
          <a:noFill/>
        </p:spPr>
        <p:txBody>
          <a:bodyPr wrap="square" rtlCol="0">
            <a:spAutoFit/>
          </a:bodyPr>
          <a:lstStyle/>
          <a:p>
            <a:pPr marL="171450" marR="0" lvl="0" indent="-171450" algn="l" defTabSz="1039033"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cap="none" spc="0" normalizeH="0" baseline="0" noProof="0">
                <a:ln>
                  <a:noFill/>
                </a:ln>
                <a:solidFill>
                  <a:srgbClr val="000000"/>
                </a:solidFill>
                <a:effectLst/>
                <a:uLnTx/>
                <a:uFillTx/>
                <a:latin typeface="メイリオ"/>
                <a:ea typeface="メイリオ"/>
                <a:cs typeface="+mn-cs"/>
              </a:rPr>
              <a:t>機能を横並びで比較＆カテゴライズ</a:t>
            </a:r>
            <a:endParaRPr kumimoji="1" lang="en-US" altLang="ja-JP" sz="900" b="0" i="0" u="none" strike="noStrike" kern="1200" cap="none" spc="0" normalizeH="0" baseline="0" noProof="0">
              <a:ln>
                <a:noFill/>
              </a:ln>
              <a:solidFill>
                <a:srgbClr val="000000"/>
              </a:solidFill>
              <a:effectLst/>
              <a:uLnTx/>
              <a:uFillTx/>
              <a:latin typeface="メイリオ"/>
              <a:ea typeface="メイリオ"/>
              <a:cs typeface="+mn-cs"/>
            </a:endParaRPr>
          </a:p>
          <a:p>
            <a:pPr marL="171450" marR="0" lvl="0" indent="-171450" algn="l" defTabSz="1039033"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cap="none" spc="0" normalizeH="0" baseline="0" noProof="0">
                <a:ln>
                  <a:noFill/>
                </a:ln>
                <a:solidFill>
                  <a:srgbClr val="000000"/>
                </a:solidFill>
                <a:effectLst/>
                <a:uLnTx/>
                <a:uFillTx/>
                <a:latin typeface="メイリオ"/>
                <a:ea typeface="メイリオ"/>
                <a:cs typeface="+mn-cs"/>
              </a:rPr>
              <a:t>業務内容に関わらず汎用的・共通的に利用できる機能を戦略テーマとして抽出</a:t>
            </a:r>
          </a:p>
        </p:txBody>
      </p:sp>
      <p:sp>
        <p:nvSpPr>
          <p:cNvPr id="53" name="テキスト ボックス 52">
            <a:extLst>
              <a:ext uri="{FF2B5EF4-FFF2-40B4-BE49-F238E27FC236}">
                <a16:creationId xmlns:a16="http://schemas.microsoft.com/office/drawing/2014/main" id="{A5E0AE2A-0684-CAD6-4D4A-B506939A1DB4}"/>
              </a:ext>
            </a:extLst>
          </p:cNvPr>
          <p:cNvSpPr txBox="1"/>
          <p:nvPr/>
        </p:nvSpPr>
        <p:spPr>
          <a:xfrm>
            <a:off x="10405767" y="5223179"/>
            <a:ext cx="1477310" cy="1200329"/>
          </a:xfrm>
          <a:prstGeom prst="rect">
            <a:avLst/>
          </a:prstGeom>
          <a:noFill/>
        </p:spPr>
        <p:txBody>
          <a:bodyPr wrap="square" rtlCol="0">
            <a:spAutoFit/>
          </a:bodyPr>
          <a:lstStyle/>
          <a:p>
            <a:pPr marL="171450" marR="0" lvl="0" indent="-171450" algn="l" defTabSz="1039033"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cap="none" spc="0" normalizeH="0" baseline="0" noProof="0">
                <a:ln>
                  <a:noFill/>
                </a:ln>
                <a:solidFill>
                  <a:srgbClr val="000000"/>
                </a:solidFill>
                <a:effectLst/>
                <a:uLnTx/>
                <a:uFillTx/>
                <a:latin typeface="メイリオ"/>
                <a:ea typeface="メイリオ"/>
                <a:cs typeface="+mn-cs"/>
              </a:rPr>
              <a:t>課題ニーズ＆アンケート結果をもとに機能をカテゴライズ</a:t>
            </a:r>
            <a:endParaRPr kumimoji="1" lang="en-US" altLang="ja-JP" sz="900" b="0" i="0" u="none" strike="noStrike" kern="1200" cap="none" spc="0" normalizeH="0" baseline="0" noProof="0">
              <a:ln>
                <a:noFill/>
              </a:ln>
              <a:solidFill>
                <a:srgbClr val="000000"/>
              </a:solidFill>
              <a:effectLst/>
              <a:uLnTx/>
              <a:uFillTx/>
              <a:latin typeface="メイリオ"/>
              <a:ea typeface="メイリオ"/>
              <a:cs typeface="+mn-cs"/>
            </a:endParaRPr>
          </a:p>
          <a:p>
            <a:pPr marL="171450" marR="0" lvl="0" indent="-171450" algn="l" defTabSz="1039033"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cap="none" spc="0" normalizeH="0" baseline="0" noProof="0">
                <a:ln>
                  <a:noFill/>
                </a:ln>
                <a:solidFill>
                  <a:srgbClr val="000000"/>
                </a:solidFill>
                <a:effectLst/>
                <a:uLnTx/>
                <a:uFillTx/>
                <a:latin typeface="メイリオ"/>
                <a:ea typeface="メイリオ"/>
                <a:cs typeface="+mn-cs"/>
              </a:rPr>
              <a:t>一般的なデータ活用プロセスに機能をマッピング</a:t>
            </a:r>
            <a:endParaRPr kumimoji="1" lang="en-US" altLang="ja-JP" sz="900" b="0" i="0" u="none" strike="noStrike" kern="1200" cap="none" spc="0" normalizeH="0" baseline="0" noProof="0">
              <a:ln>
                <a:noFill/>
              </a:ln>
              <a:solidFill>
                <a:srgbClr val="000000"/>
              </a:solidFill>
              <a:effectLst/>
              <a:uLnTx/>
              <a:uFillTx/>
              <a:latin typeface="メイリオ"/>
              <a:ea typeface="メイリオ"/>
              <a:cs typeface="+mn-cs"/>
            </a:endParaRPr>
          </a:p>
          <a:p>
            <a:pPr marL="171450" marR="0" lvl="0" indent="-171450" algn="l" defTabSz="1039033"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en-US" altLang="ja-JP" sz="900" b="0" i="0" u="none" strike="noStrike" kern="1200" cap="none" spc="0" normalizeH="0" baseline="0" noProof="0">
                <a:ln>
                  <a:noFill/>
                </a:ln>
                <a:solidFill>
                  <a:srgbClr val="000000"/>
                </a:solidFill>
                <a:effectLst/>
                <a:uLnTx/>
                <a:uFillTx/>
                <a:latin typeface="メイリオ"/>
                <a:ea typeface="メイリオ"/>
                <a:cs typeface="+mn-cs"/>
              </a:rPr>
              <a:t>D-MAP</a:t>
            </a:r>
            <a:r>
              <a:rPr kumimoji="1" lang="ja-JP" altLang="en-US" sz="900" b="0" i="0" u="none" strike="noStrike" kern="1200" cap="none" spc="0" normalizeH="0" baseline="0" noProof="0">
                <a:ln>
                  <a:noFill/>
                </a:ln>
                <a:solidFill>
                  <a:srgbClr val="000000"/>
                </a:solidFill>
                <a:effectLst/>
                <a:uLnTx/>
                <a:uFillTx/>
                <a:latin typeface="メイリオ"/>
                <a:ea typeface="メイリオ"/>
                <a:cs typeface="+mn-cs"/>
              </a:rPr>
              <a:t>をベースにして機能詳細化</a:t>
            </a:r>
          </a:p>
        </p:txBody>
      </p:sp>
      <p:sp>
        <p:nvSpPr>
          <p:cNvPr id="55" name="テキスト ボックス 54">
            <a:extLst>
              <a:ext uri="{FF2B5EF4-FFF2-40B4-BE49-F238E27FC236}">
                <a16:creationId xmlns:a16="http://schemas.microsoft.com/office/drawing/2014/main" id="{AEBBA877-386F-135F-DFC0-0D92621C6E60}"/>
              </a:ext>
            </a:extLst>
          </p:cNvPr>
          <p:cNvSpPr txBox="1"/>
          <p:nvPr/>
        </p:nvSpPr>
        <p:spPr>
          <a:xfrm>
            <a:off x="10398783" y="2217594"/>
            <a:ext cx="1477310" cy="646331"/>
          </a:xfrm>
          <a:prstGeom prst="rect">
            <a:avLst/>
          </a:prstGeom>
          <a:noFill/>
        </p:spPr>
        <p:txBody>
          <a:bodyPr wrap="square" rtlCol="0">
            <a:spAutoFit/>
          </a:bodyPr>
          <a:lstStyle/>
          <a:p>
            <a:pPr marL="171450" marR="0" lvl="0" indent="-171450" algn="l" defTabSz="1039033"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cap="none" spc="0" normalizeH="0" baseline="0" noProof="0">
                <a:ln>
                  <a:noFill/>
                </a:ln>
                <a:solidFill>
                  <a:srgbClr val="000000"/>
                </a:solidFill>
                <a:effectLst/>
                <a:uLnTx/>
                <a:uFillTx/>
                <a:latin typeface="Arial"/>
                <a:ea typeface="メイリオ"/>
                <a:cs typeface="+mn-cs"/>
              </a:rPr>
              <a:t>大前提となるゼロトラストおよびクラウド利用をベースとした将来構想を作成</a:t>
            </a:r>
            <a:endParaRPr kumimoji="1" lang="en-US" altLang="ja-JP" sz="900" b="0" i="0" u="none" strike="noStrike" kern="1200" cap="none" spc="0" normalizeH="0" baseline="0" noProof="0">
              <a:ln>
                <a:noFill/>
              </a:ln>
              <a:solidFill>
                <a:srgbClr val="000000"/>
              </a:solidFill>
              <a:effectLst/>
              <a:uLnTx/>
              <a:uFillTx/>
              <a:latin typeface="Arial"/>
              <a:ea typeface="メイリオ"/>
              <a:cs typeface="+mn-cs"/>
            </a:endParaRPr>
          </a:p>
        </p:txBody>
      </p:sp>
      <p:sp>
        <p:nvSpPr>
          <p:cNvPr id="56" name="テキスト ボックス 55">
            <a:extLst>
              <a:ext uri="{FF2B5EF4-FFF2-40B4-BE49-F238E27FC236}">
                <a16:creationId xmlns:a16="http://schemas.microsoft.com/office/drawing/2014/main" id="{05E7A1F3-C41F-BDAE-568C-E9A4597D79B3}"/>
              </a:ext>
            </a:extLst>
          </p:cNvPr>
          <p:cNvSpPr txBox="1"/>
          <p:nvPr/>
        </p:nvSpPr>
        <p:spPr>
          <a:xfrm>
            <a:off x="342170" y="5378473"/>
            <a:ext cx="2379565" cy="305515"/>
          </a:xfrm>
          <a:prstGeom prst="rect">
            <a:avLst/>
          </a:prstGeom>
          <a:noFill/>
          <a:ln>
            <a:noFill/>
            <a:prstDash val="dash"/>
          </a:ln>
        </p:spPr>
        <p:txBody>
          <a:bodyPr wrap="square" rtlCol="0">
            <a:noAutofit/>
          </a:bodyPr>
          <a:lstStyle/>
          <a:p>
            <a:pPr marL="0" marR="0" lvl="0" indent="0" algn="l" defTabSz="1039033"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メイリオ"/>
                <a:ea typeface="メイリオ"/>
                <a:cs typeface="+mn-cs"/>
              </a:rPr>
              <a:t>今回対象とした事業部：</a:t>
            </a:r>
            <a:r>
              <a:rPr kumimoji="1" lang="en-US" altLang="ja-JP" sz="1200" b="0" i="0" u="none" strike="noStrike" kern="1200" cap="none" spc="0" normalizeH="0" baseline="0" noProof="0">
                <a:ln>
                  <a:noFill/>
                </a:ln>
                <a:solidFill>
                  <a:srgbClr val="000000"/>
                </a:solidFill>
                <a:effectLst/>
                <a:uLnTx/>
                <a:uFillTx/>
                <a:latin typeface="メイリオ"/>
                <a:ea typeface="メイリオ"/>
                <a:cs typeface="+mn-cs"/>
              </a:rPr>
              <a:t>12</a:t>
            </a:r>
            <a:endParaRPr kumimoji="1" lang="ja-JP" altLang="en-US" sz="1200" b="0" i="0" u="none" strike="noStrike" kern="1200" cap="none" spc="0" normalizeH="0" baseline="0" noProof="0">
              <a:ln>
                <a:noFill/>
              </a:ln>
              <a:solidFill>
                <a:srgbClr val="000000"/>
              </a:solidFill>
              <a:effectLst/>
              <a:uLnTx/>
              <a:uFillTx/>
              <a:latin typeface="メイリオ"/>
              <a:ea typeface="メイリオ"/>
              <a:cs typeface="+mn-cs"/>
            </a:endParaRPr>
          </a:p>
        </p:txBody>
      </p:sp>
      <p:sp>
        <p:nvSpPr>
          <p:cNvPr id="57" name="テキスト ボックス 56">
            <a:extLst>
              <a:ext uri="{FF2B5EF4-FFF2-40B4-BE49-F238E27FC236}">
                <a16:creationId xmlns:a16="http://schemas.microsoft.com/office/drawing/2014/main" id="{0E79E028-5ED0-9B31-CA26-3F4E3529359D}"/>
              </a:ext>
            </a:extLst>
          </p:cNvPr>
          <p:cNvSpPr txBox="1"/>
          <p:nvPr/>
        </p:nvSpPr>
        <p:spPr>
          <a:xfrm>
            <a:off x="306971" y="1891480"/>
            <a:ext cx="2742425" cy="349788"/>
          </a:xfrm>
          <a:prstGeom prst="rect">
            <a:avLst/>
          </a:prstGeom>
          <a:noFill/>
          <a:ln>
            <a:solidFill>
              <a:schemeClr val="tx1"/>
            </a:solidFill>
            <a:prstDash val="solid"/>
          </a:ln>
        </p:spPr>
        <p:txBody>
          <a:bodyPr wrap="square" rtlCol="0" anchor="ctr" anchorCtr="0">
            <a:noAutofit/>
          </a:bodyPr>
          <a:lstStyle/>
          <a:p>
            <a:pPr marL="0" marR="0" lvl="0" indent="0" algn="ctr" defTabSz="1039033"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メイリオ"/>
                <a:ea typeface="メイリオ"/>
                <a:cs typeface="+mn-cs"/>
              </a:rPr>
              <a:t>事業部の課題ニーズ</a:t>
            </a:r>
            <a:r>
              <a:rPr kumimoji="1" lang="en-US" altLang="ja-JP" sz="1200" b="0" i="0" u="none" strike="noStrike" kern="1200" cap="none" spc="0" normalizeH="0" baseline="0" noProof="0">
                <a:ln>
                  <a:noFill/>
                </a:ln>
                <a:solidFill>
                  <a:srgbClr val="000000"/>
                </a:solidFill>
                <a:effectLst/>
                <a:uLnTx/>
                <a:uFillTx/>
                <a:latin typeface="メイリオ"/>
                <a:ea typeface="メイリオ"/>
                <a:cs typeface="+mn-cs"/>
              </a:rPr>
              <a:t>(</a:t>
            </a:r>
            <a:r>
              <a:rPr kumimoji="1" lang="ja-JP" altLang="en-US" sz="1200" b="0" i="0" u="none" strike="noStrike" kern="1200" cap="none" spc="0" normalizeH="0" baseline="0" noProof="0">
                <a:ln>
                  <a:noFill/>
                </a:ln>
                <a:solidFill>
                  <a:srgbClr val="000000"/>
                </a:solidFill>
                <a:effectLst/>
                <a:uLnTx/>
                <a:uFillTx/>
                <a:latin typeface="メイリオ"/>
                <a:ea typeface="メイリオ"/>
                <a:cs typeface="+mn-cs"/>
              </a:rPr>
              <a:t>標準</a:t>
            </a:r>
            <a:r>
              <a:rPr kumimoji="1" lang="en-US" altLang="ja-JP" sz="1200" b="0" i="0" u="none" strike="noStrike" kern="1200" cap="none" spc="0" normalizeH="0" baseline="0" noProof="0">
                <a:ln>
                  <a:noFill/>
                </a:ln>
                <a:solidFill>
                  <a:srgbClr val="000000"/>
                </a:solidFill>
                <a:effectLst/>
                <a:uLnTx/>
                <a:uFillTx/>
                <a:latin typeface="メイリオ"/>
                <a:ea typeface="メイリオ"/>
                <a:cs typeface="+mn-cs"/>
              </a:rPr>
              <a:t>Format)</a:t>
            </a:r>
            <a:endParaRPr kumimoji="1" lang="ja-JP" altLang="en-US" sz="1200" b="0" i="0" u="none" strike="noStrike" kern="1200" cap="none" spc="0" normalizeH="0" baseline="0" noProof="0">
              <a:ln>
                <a:noFill/>
              </a:ln>
              <a:solidFill>
                <a:srgbClr val="000000"/>
              </a:solidFill>
              <a:effectLst/>
              <a:uLnTx/>
              <a:uFillTx/>
              <a:latin typeface="メイリオ"/>
              <a:ea typeface="メイリオ"/>
              <a:cs typeface="+mn-cs"/>
            </a:endParaRPr>
          </a:p>
        </p:txBody>
      </p:sp>
      <p:sp>
        <p:nvSpPr>
          <p:cNvPr id="58" name="テキスト ボックス 57">
            <a:extLst>
              <a:ext uri="{FF2B5EF4-FFF2-40B4-BE49-F238E27FC236}">
                <a16:creationId xmlns:a16="http://schemas.microsoft.com/office/drawing/2014/main" id="{7BB1D31A-587E-BCF4-AC4E-DDB8AA908132}"/>
              </a:ext>
            </a:extLst>
          </p:cNvPr>
          <p:cNvSpPr txBox="1"/>
          <p:nvPr/>
        </p:nvSpPr>
        <p:spPr>
          <a:xfrm>
            <a:off x="4024905" y="1891480"/>
            <a:ext cx="2742425" cy="349788"/>
          </a:xfrm>
          <a:prstGeom prst="rect">
            <a:avLst/>
          </a:prstGeom>
          <a:noFill/>
          <a:ln>
            <a:solidFill>
              <a:schemeClr val="tx1"/>
            </a:solidFill>
            <a:prstDash val="solid"/>
          </a:ln>
        </p:spPr>
        <p:txBody>
          <a:bodyPr wrap="square" rtlCol="0" anchor="ctr" anchorCtr="0">
            <a:noAutofit/>
          </a:bodyPr>
          <a:lstStyle/>
          <a:p>
            <a:pPr marL="0" marR="0" lvl="0" indent="0" algn="ctr" defTabSz="1039033"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メイリオ"/>
                <a:ea typeface="メイリオ"/>
                <a:cs typeface="+mn-cs"/>
              </a:rPr>
              <a:t>必要な機能への分解</a:t>
            </a:r>
          </a:p>
        </p:txBody>
      </p:sp>
      <p:sp>
        <p:nvSpPr>
          <p:cNvPr id="59" name="テキスト ボックス 58">
            <a:extLst>
              <a:ext uri="{FF2B5EF4-FFF2-40B4-BE49-F238E27FC236}">
                <a16:creationId xmlns:a16="http://schemas.microsoft.com/office/drawing/2014/main" id="{C688206D-9E52-D740-867E-F979F0BC5B08}"/>
              </a:ext>
            </a:extLst>
          </p:cNvPr>
          <p:cNvSpPr txBox="1"/>
          <p:nvPr/>
        </p:nvSpPr>
        <p:spPr>
          <a:xfrm>
            <a:off x="3813800" y="5376289"/>
            <a:ext cx="2756584" cy="276733"/>
          </a:xfrm>
          <a:prstGeom prst="rect">
            <a:avLst/>
          </a:prstGeom>
          <a:noFill/>
          <a:ln>
            <a:noFill/>
            <a:prstDash val="dash"/>
          </a:ln>
        </p:spPr>
        <p:txBody>
          <a:bodyPr wrap="square" rtlCol="0">
            <a:noAutofit/>
          </a:bodyPr>
          <a:lstStyle/>
          <a:p>
            <a:pPr marL="0" marR="0" lvl="0" indent="0" algn="l" defTabSz="1039033"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メイリオ"/>
                <a:ea typeface="メイリオ"/>
                <a:cs typeface="+mn-cs"/>
              </a:rPr>
              <a:t>洗い出した機能数：</a:t>
            </a:r>
            <a:r>
              <a:rPr kumimoji="1" lang="en-US" altLang="ja-JP" sz="1200" b="0" i="0" u="none" strike="noStrike" kern="1200" cap="none" spc="0" normalizeH="0" baseline="0" noProof="0">
                <a:ln>
                  <a:noFill/>
                </a:ln>
                <a:solidFill>
                  <a:srgbClr val="000000"/>
                </a:solidFill>
                <a:effectLst/>
                <a:uLnTx/>
                <a:uFillTx/>
                <a:latin typeface="メイリオ"/>
                <a:ea typeface="メイリオ"/>
                <a:cs typeface="+mn-cs"/>
              </a:rPr>
              <a:t>182</a:t>
            </a:r>
          </a:p>
          <a:p>
            <a:pPr marL="0" marR="0" lvl="0" indent="0" algn="l" defTabSz="1039033"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メイリオ"/>
                <a:ea typeface="メイリオ"/>
                <a:cs typeface="+mn-cs"/>
              </a:rPr>
              <a:t>※</a:t>
            </a:r>
            <a:r>
              <a:rPr kumimoji="1" lang="ja-JP" altLang="en-US" sz="1200" b="0" i="0" u="none" strike="noStrike" kern="1200" cap="none" spc="0" normalizeH="0" baseline="0" noProof="0">
                <a:ln>
                  <a:noFill/>
                </a:ln>
                <a:solidFill>
                  <a:srgbClr val="000000"/>
                </a:solidFill>
                <a:effectLst/>
                <a:uLnTx/>
                <a:uFillTx/>
                <a:latin typeface="メイリオ"/>
                <a:ea typeface="メイリオ"/>
                <a:cs typeface="+mn-cs"/>
              </a:rPr>
              <a:t>重複除く</a:t>
            </a:r>
            <a:endParaRPr kumimoji="1" lang="en-US" altLang="ja-JP" sz="1200" b="0" i="0" u="none" strike="noStrike" kern="1200" cap="none" spc="0" normalizeH="0" baseline="0" noProof="0">
              <a:ln>
                <a:noFill/>
              </a:ln>
              <a:solidFill>
                <a:srgbClr val="000000"/>
              </a:solidFill>
              <a:effectLst/>
              <a:uLnTx/>
              <a:uFillTx/>
              <a:latin typeface="メイリオ"/>
              <a:ea typeface="メイリオ"/>
              <a:cs typeface="+mn-cs"/>
            </a:endParaRPr>
          </a:p>
        </p:txBody>
      </p:sp>
      <p:sp>
        <p:nvSpPr>
          <p:cNvPr id="60" name="正方形/長方形 59">
            <a:extLst>
              <a:ext uri="{FF2B5EF4-FFF2-40B4-BE49-F238E27FC236}">
                <a16:creationId xmlns:a16="http://schemas.microsoft.com/office/drawing/2014/main" id="{FA39303C-384C-662C-B3F4-0D3B05027547}"/>
              </a:ext>
            </a:extLst>
          </p:cNvPr>
          <p:cNvSpPr/>
          <p:nvPr/>
        </p:nvSpPr>
        <p:spPr>
          <a:xfrm>
            <a:off x="7716244" y="1855921"/>
            <a:ext cx="2320847" cy="20730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038441"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FFFFFF"/>
                </a:solidFill>
                <a:effectLst/>
                <a:uLnTx/>
                <a:uFillTx/>
                <a:latin typeface="メイリオ"/>
                <a:ea typeface="メイリオ"/>
                <a:cs typeface="+mn-cs"/>
              </a:rPr>
              <a:t>1.</a:t>
            </a:r>
            <a:r>
              <a:rPr kumimoji="1" lang="ja-JP" altLang="en-US" sz="1050" b="0" i="0" u="none" strike="noStrike" kern="1200" cap="none" spc="0" normalizeH="0" baseline="0" noProof="0">
                <a:ln>
                  <a:noFill/>
                </a:ln>
                <a:solidFill>
                  <a:srgbClr val="FFFFFF"/>
                </a:solidFill>
                <a:effectLst/>
                <a:uLnTx/>
                <a:uFillTx/>
                <a:latin typeface="メイリオ"/>
                <a:ea typeface="メイリオ"/>
                <a:cs typeface="+mn-cs"/>
              </a:rPr>
              <a:t>インフラ（クラウド活用基盤）</a:t>
            </a:r>
          </a:p>
        </p:txBody>
      </p:sp>
      <p:sp>
        <p:nvSpPr>
          <p:cNvPr id="61" name="正方形/長方形 60">
            <a:extLst>
              <a:ext uri="{FF2B5EF4-FFF2-40B4-BE49-F238E27FC236}">
                <a16:creationId xmlns:a16="http://schemas.microsoft.com/office/drawing/2014/main" id="{3EFE8031-6CEB-2861-EAAA-0F453D8E8083}"/>
              </a:ext>
            </a:extLst>
          </p:cNvPr>
          <p:cNvSpPr/>
          <p:nvPr/>
        </p:nvSpPr>
        <p:spPr>
          <a:xfrm>
            <a:off x="7714166" y="4947524"/>
            <a:ext cx="2320847" cy="20353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038441"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FFFFFF"/>
                </a:solidFill>
                <a:effectLst/>
                <a:uLnTx/>
                <a:uFillTx/>
                <a:latin typeface="メイリオ"/>
                <a:ea typeface="メイリオ"/>
                <a:cs typeface="+mn-cs"/>
              </a:rPr>
              <a:t>4.</a:t>
            </a:r>
            <a:r>
              <a:rPr kumimoji="1" lang="ja-JP" altLang="en-US" sz="1050" b="0" i="0" u="none" strike="noStrike" kern="1200" cap="none" spc="0" normalizeH="0" baseline="0" noProof="0">
                <a:ln>
                  <a:noFill/>
                </a:ln>
                <a:solidFill>
                  <a:srgbClr val="FFFFFF"/>
                </a:solidFill>
                <a:effectLst/>
                <a:uLnTx/>
                <a:uFillTx/>
                <a:latin typeface="メイリオ"/>
                <a:ea typeface="メイリオ"/>
                <a:cs typeface="+mn-cs"/>
              </a:rPr>
              <a:t>データ分析基盤</a:t>
            </a:r>
          </a:p>
        </p:txBody>
      </p:sp>
      <p:sp>
        <p:nvSpPr>
          <p:cNvPr id="62" name="正方形/長方形 61">
            <a:extLst>
              <a:ext uri="{FF2B5EF4-FFF2-40B4-BE49-F238E27FC236}">
                <a16:creationId xmlns:a16="http://schemas.microsoft.com/office/drawing/2014/main" id="{84A08869-2406-BF82-F12A-7773F2C316FA}"/>
              </a:ext>
            </a:extLst>
          </p:cNvPr>
          <p:cNvSpPr/>
          <p:nvPr/>
        </p:nvSpPr>
        <p:spPr>
          <a:xfrm>
            <a:off x="7714167" y="3347359"/>
            <a:ext cx="2320847" cy="20353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038441"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FFFFFF"/>
                </a:solidFill>
                <a:effectLst/>
                <a:uLnTx/>
                <a:uFillTx/>
                <a:latin typeface="メイリオ"/>
                <a:ea typeface="メイリオ"/>
                <a:cs typeface="+mn-cs"/>
              </a:rPr>
              <a:t>3.</a:t>
            </a:r>
            <a:r>
              <a:rPr kumimoji="1" lang="ja-JP" altLang="en-US" sz="1050" b="0" i="0" u="none" strike="noStrike" kern="1200" cap="none" spc="0" normalizeH="0" baseline="0" noProof="0">
                <a:ln>
                  <a:noFill/>
                </a:ln>
                <a:solidFill>
                  <a:srgbClr val="FFFFFF"/>
                </a:solidFill>
                <a:effectLst/>
                <a:uLnTx/>
                <a:uFillTx/>
                <a:latin typeface="メイリオ"/>
                <a:ea typeface="メイリオ"/>
                <a:cs typeface="+mn-cs"/>
              </a:rPr>
              <a:t>アプリ開発基盤</a:t>
            </a:r>
          </a:p>
        </p:txBody>
      </p:sp>
      <p:sp>
        <p:nvSpPr>
          <p:cNvPr id="63" name="正方形/長方形 62">
            <a:extLst>
              <a:ext uri="{FF2B5EF4-FFF2-40B4-BE49-F238E27FC236}">
                <a16:creationId xmlns:a16="http://schemas.microsoft.com/office/drawing/2014/main" id="{A435FC0F-93AC-78A6-1C8C-9F4EF9F5C8B1}"/>
              </a:ext>
            </a:extLst>
          </p:cNvPr>
          <p:cNvSpPr/>
          <p:nvPr/>
        </p:nvSpPr>
        <p:spPr>
          <a:xfrm>
            <a:off x="7714168" y="2119083"/>
            <a:ext cx="2320847" cy="19702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038441"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FFFFFF"/>
                </a:solidFill>
                <a:effectLst/>
                <a:uLnTx/>
                <a:uFillTx/>
                <a:latin typeface="メイリオ"/>
                <a:ea typeface="メイリオ"/>
                <a:cs typeface="+mn-cs"/>
              </a:rPr>
              <a:t>2.</a:t>
            </a:r>
            <a:r>
              <a:rPr kumimoji="1" lang="ja-JP" altLang="en-US" sz="1050" b="0" i="0" u="none" strike="noStrike" kern="1200" cap="none" spc="0" normalizeH="0" baseline="0" noProof="0">
                <a:ln>
                  <a:noFill/>
                </a:ln>
                <a:solidFill>
                  <a:srgbClr val="FFFFFF"/>
                </a:solidFill>
                <a:effectLst/>
                <a:uLnTx/>
                <a:uFillTx/>
                <a:latin typeface="メイリオ"/>
                <a:ea typeface="メイリオ"/>
                <a:cs typeface="+mn-cs"/>
              </a:rPr>
              <a:t>インフラ（セキュリティ基盤）</a:t>
            </a:r>
          </a:p>
        </p:txBody>
      </p:sp>
      <p:sp>
        <p:nvSpPr>
          <p:cNvPr id="64" name="正方形/長方形 63">
            <a:extLst>
              <a:ext uri="{FF2B5EF4-FFF2-40B4-BE49-F238E27FC236}">
                <a16:creationId xmlns:a16="http://schemas.microsoft.com/office/drawing/2014/main" id="{1358C2C0-37FF-53F3-EDDD-46DAE3180A2C}"/>
              </a:ext>
            </a:extLst>
          </p:cNvPr>
          <p:cNvSpPr/>
          <p:nvPr/>
        </p:nvSpPr>
        <p:spPr>
          <a:xfrm>
            <a:off x="7716798" y="3595136"/>
            <a:ext cx="2318216" cy="20353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038441"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FFFFFF"/>
                </a:solidFill>
                <a:effectLst/>
                <a:uLnTx/>
                <a:uFillTx/>
                <a:latin typeface="メイリオ"/>
                <a:ea typeface="メイリオ"/>
                <a:cs typeface="+mn-cs"/>
              </a:rPr>
              <a:t>5.IT</a:t>
            </a:r>
            <a:r>
              <a:rPr kumimoji="1" lang="ja-JP" altLang="en-US" sz="1050" b="0" i="0" u="none" strike="noStrike" kern="1200" cap="none" spc="0" normalizeH="0" baseline="0" noProof="0">
                <a:ln>
                  <a:noFill/>
                </a:ln>
                <a:solidFill>
                  <a:srgbClr val="FFFFFF"/>
                </a:solidFill>
                <a:effectLst/>
                <a:uLnTx/>
                <a:uFillTx/>
                <a:latin typeface="メイリオ"/>
                <a:ea typeface="メイリオ"/>
                <a:cs typeface="+mn-cs"/>
              </a:rPr>
              <a:t>サービス・運用基盤</a:t>
            </a:r>
          </a:p>
        </p:txBody>
      </p:sp>
      <p:sp>
        <p:nvSpPr>
          <p:cNvPr id="3" name="テキスト ボックス 2">
            <a:extLst>
              <a:ext uri="{FF2B5EF4-FFF2-40B4-BE49-F238E27FC236}">
                <a16:creationId xmlns:a16="http://schemas.microsoft.com/office/drawing/2014/main" id="{A2ED66FB-9D4A-2BDB-07C1-8E2E754301DA}"/>
              </a:ext>
            </a:extLst>
          </p:cNvPr>
          <p:cNvSpPr txBox="1"/>
          <p:nvPr/>
        </p:nvSpPr>
        <p:spPr>
          <a:xfrm>
            <a:off x="9559109" y="1448303"/>
            <a:ext cx="2582091"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次世代</a:t>
            </a:r>
            <a:r>
              <a:rPr kumimoji="1" lang="en-US" altLang="ja-JP" sz="105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IT</a:t>
            </a:r>
            <a:r>
              <a:rPr kumimoji="1" lang="ja-JP" altLang="en-US" sz="105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アーキ検討</a:t>
            </a:r>
            <a:r>
              <a:rPr kumimoji="1" lang="en-US" altLang="ja-JP" sz="105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PJ </a:t>
            </a:r>
            <a:r>
              <a:rPr kumimoji="1" lang="ja-JP" altLang="en-US" sz="105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討議資料より抜粋</a:t>
            </a:r>
          </a:p>
        </p:txBody>
      </p:sp>
    </p:spTree>
    <p:extLst>
      <p:ext uri="{BB962C8B-B14F-4D97-AF65-F5344CB8AC3E}">
        <p14:creationId xmlns:p14="http://schemas.microsoft.com/office/powerpoint/2010/main" val="1849174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p:cNvSpPr txBox="1"/>
          <p:nvPr/>
        </p:nvSpPr>
        <p:spPr>
          <a:xfrm>
            <a:off x="7725028" y="834429"/>
            <a:ext cx="303968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次世代</a:t>
            </a:r>
            <a:r>
              <a:rPr kumimoji="1" lang="en-US" altLang="ja-JP" sz="105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IT</a:t>
            </a:r>
            <a:r>
              <a:rPr kumimoji="1" lang="ja-JP" altLang="en-US" sz="105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アーキ検討</a:t>
            </a:r>
            <a:r>
              <a:rPr kumimoji="1" lang="en-US" altLang="ja-JP" sz="105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PJ </a:t>
            </a:r>
            <a:r>
              <a:rPr kumimoji="1" lang="ja-JP" altLang="en-US" sz="105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討議資料より抜粋</a:t>
            </a:r>
          </a:p>
        </p:txBody>
      </p:sp>
      <p:sp>
        <p:nvSpPr>
          <p:cNvPr id="6" name="タイトル 1">
            <a:extLst>
              <a:ext uri="{FF2B5EF4-FFF2-40B4-BE49-F238E27FC236}">
                <a16:creationId xmlns:a16="http://schemas.microsoft.com/office/drawing/2014/main" id="{54B55CB6-A689-89B8-FD95-E817C6680F6C}"/>
              </a:ext>
            </a:extLst>
          </p:cNvPr>
          <p:cNvSpPr>
            <a:spLocks noGrp="1"/>
          </p:cNvSpPr>
          <p:nvPr>
            <p:ph type="title"/>
          </p:nvPr>
        </p:nvSpPr>
        <p:spPr>
          <a:xfrm>
            <a:off x="370800" y="334800"/>
            <a:ext cx="11448000" cy="396000"/>
          </a:xfrm>
        </p:spPr>
        <p:txBody>
          <a:bodyPr/>
          <a:lstStyle/>
          <a:p>
            <a:r>
              <a:rPr lang="ja-JP" altLang="en-US" dirty="0"/>
              <a:t>＜参考＞次世代</a:t>
            </a:r>
            <a:r>
              <a:rPr lang="en-US" altLang="ja-JP" dirty="0"/>
              <a:t>IT</a:t>
            </a:r>
            <a:r>
              <a:rPr lang="ja-JP" altLang="en-US" dirty="0"/>
              <a:t>アーキ検討</a:t>
            </a:r>
            <a:r>
              <a:rPr lang="en-US" altLang="ja-JP" dirty="0"/>
              <a:t>PJ</a:t>
            </a:r>
            <a:r>
              <a:rPr lang="ja-JP" altLang="en-US" dirty="0"/>
              <a:t>：事業部ニーズ整理結果</a:t>
            </a:r>
          </a:p>
        </p:txBody>
      </p:sp>
      <p:pic>
        <p:nvPicPr>
          <p:cNvPr id="2" name="図 1"/>
          <p:cNvPicPr>
            <a:picLocks noChangeAspect="1"/>
          </p:cNvPicPr>
          <p:nvPr/>
        </p:nvPicPr>
        <p:blipFill>
          <a:blip r:embed="rId2"/>
          <a:stretch>
            <a:fillRect/>
          </a:stretch>
        </p:blipFill>
        <p:spPr>
          <a:xfrm>
            <a:off x="370800" y="1058601"/>
            <a:ext cx="9708642" cy="5464599"/>
          </a:xfrm>
          <a:prstGeom prst="rect">
            <a:avLst/>
          </a:prstGeom>
          <a:ln>
            <a:solidFill>
              <a:schemeClr val="tx1">
                <a:lumMod val="50000"/>
                <a:lumOff val="50000"/>
              </a:schemeClr>
            </a:solidFill>
          </a:ln>
        </p:spPr>
      </p:pic>
      <p:sp>
        <p:nvSpPr>
          <p:cNvPr id="4" name="角丸四角形 3"/>
          <p:cNvSpPr/>
          <p:nvPr/>
        </p:nvSpPr>
        <p:spPr>
          <a:xfrm>
            <a:off x="988367" y="1860746"/>
            <a:ext cx="1124712" cy="841248"/>
          </a:xfrm>
          <a:prstGeom prst="roundRect">
            <a:avLst/>
          </a:prstGeom>
          <a:noFill/>
          <a:ln w="38100">
            <a:solidFill>
              <a:srgbClr val="E42600"/>
            </a:solidFill>
            <a:prstDash val="sys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dirty="0" err="1">
              <a:ln>
                <a:noFill/>
              </a:ln>
              <a:solidFill>
                <a:srgbClr val="000000"/>
              </a:solidFill>
              <a:effectLst/>
              <a:uLnTx/>
              <a:uFillTx/>
              <a:latin typeface="Arial"/>
              <a:ea typeface="Meiryo UI"/>
              <a:cs typeface="+mn-cs"/>
            </a:endParaRPr>
          </a:p>
        </p:txBody>
      </p:sp>
      <p:sp>
        <p:nvSpPr>
          <p:cNvPr id="8" name="吹き出し: 四角形 7">
            <a:extLst>
              <a:ext uri="{FF2B5EF4-FFF2-40B4-BE49-F238E27FC236}">
                <a16:creationId xmlns:a16="http://schemas.microsoft.com/office/drawing/2014/main" id="{D2084F80-A2E1-DF81-7EA1-DD8C87894DD1}"/>
              </a:ext>
            </a:extLst>
          </p:cNvPr>
          <p:cNvSpPr/>
          <p:nvPr/>
        </p:nvSpPr>
        <p:spPr>
          <a:xfrm>
            <a:off x="2552099" y="1993805"/>
            <a:ext cx="5960836" cy="2391452"/>
          </a:xfrm>
          <a:prstGeom prst="wedgeRectCallout">
            <a:avLst>
              <a:gd name="adj1" fmla="val -56550"/>
              <a:gd name="adj2" fmla="val -39534"/>
            </a:avLst>
          </a:prstGeom>
          <a:solidFill>
            <a:srgbClr val="FDD7F7"/>
          </a:solid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dirty="0">
              <a:ln>
                <a:noFill/>
              </a:ln>
              <a:solidFill>
                <a:srgbClr val="000000"/>
              </a:solidFill>
              <a:effectLst/>
              <a:uLnTx/>
              <a:uFillTx/>
              <a:latin typeface="Arial"/>
              <a:ea typeface="Meiryo UI"/>
              <a:cs typeface="+mn-cs"/>
            </a:endParaRPr>
          </a:p>
        </p:txBody>
      </p:sp>
      <p:pic>
        <p:nvPicPr>
          <p:cNvPr id="10" name="図 9">
            <a:extLst>
              <a:ext uri="{FF2B5EF4-FFF2-40B4-BE49-F238E27FC236}">
                <a16:creationId xmlns:a16="http://schemas.microsoft.com/office/drawing/2014/main" id="{CD00A945-54E2-53C4-AFF0-EDD1D9B1F9C2}"/>
              </a:ext>
            </a:extLst>
          </p:cNvPr>
          <p:cNvPicPr>
            <a:picLocks noChangeAspect="1"/>
          </p:cNvPicPr>
          <p:nvPr/>
        </p:nvPicPr>
        <p:blipFill>
          <a:blip r:embed="rId3"/>
          <a:stretch>
            <a:fillRect/>
          </a:stretch>
        </p:blipFill>
        <p:spPr>
          <a:xfrm>
            <a:off x="2730646" y="2195919"/>
            <a:ext cx="2441984" cy="1962716"/>
          </a:xfrm>
          <a:prstGeom prst="rect">
            <a:avLst/>
          </a:prstGeom>
        </p:spPr>
      </p:pic>
      <p:pic>
        <p:nvPicPr>
          <p:cNvPr id="12" name="図 11">
            <a:extLst>
              <a:ext uri="{FF2B5EF4-FFF2-40B4-BE49-F238E27FC236}">
                <a16:creationId xmlns:a16="http://schemas.microsoft.com/office/drawing/2014/main" id="{92AF801B-10E3-96EF-6073-E13287E63335}"/>
              </a:ext>
            </a:extLst>
          </p:cNvPr>
          <p:cNvPicPr>
            <a:picLocks noChangeAspect="1"/>
          </p:cNvPicPr>
          <p:nvPr/>
        </p:nvPicPr>
        <p:blipFill>
          <a:blip r:embed="rId4"/>
          <a:stretch>
            <a:fillRect/>
          </a:stretch>
        </p:blipFill>
        <p:spPr>
          <a:xfrm>
            <a:off x="5972505" y="2250166"/>
            <a:ext cx="2366041" cy="1854222"/>
          </a:xfrm>
          <a:prstGeom prst="rect">
            <a:avLst/>
          </a:prstGeom>
        </p:spPr>
      </p:pic>
      <p:sp>
        <p:nvSpPr>
          <p:cNvPr id="15" name="矢印: 右 14">
            <a:extLst>
              <a:ext uri="{FF2B5EF4-FFF2-40B4-BE49-F238E27FC236}">
                <a16:creationId xmlns:a16="http://schemas.microsoft.com/office/drawing/2014/main" id="{B3BD13F4-84CD-133B-2D2B-52721674377B}"/>
              </a:ext>
            </a:extLst>
          </p:cNvPr>
          <p:cNvSpPr/>
          <p:nvPr/>
        </p:nvSpPr>
        <p:spPr>
          <a:xfrm>
            <a:off x="5360903" y="2556457"/>
            <a:ext cx="412124" cy="1056067"/>
          </a:xfrm>
          <a:prstGeom prst="rightArrow">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dirty="0">
              <a:ln>
                <a:noFill/>
              </a:ln>
              <a:solidFill>
                <a:srgbClr val="000000"/>
              </a:solidFill>
              <a:effectLst/>
              <a:uLnTx/>
              <a:uFillTx/>
              <a:latin typeface="Arial"/>
              <a:ea typeface="Meiryo UI"/>
              <a:cs typeface="+mn-cs"/>
            </a:endParaRPr>
          </a:p>
        </p:txBody>
      </p:sp>
    </p:spTree>
    <p:extLst>
      <p:ext uri="{BB962C8B-B14F-4D97-AF65-F5344CB8AC3E}">
        <p14:creationId xmlns:p14="http://schemas.microsoft.com/office/powerpoint/2010/main" val="6125882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287BC-3347-B3AB-08B2-852DC2C62B12}"/>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BE3EA0E7-2580-C232-2AF3-ED6F25F0D6FD}"/>
              </a:ext>
            </a:extLst>
          </p:cNvPr>
          <p:cNvSpPr>
            <a:spLocks noGrp="1"/>
          </p:cNvSpPr>
          <p:nvPr>
            <p:ph type="title"/>
          </p:nvPr>
        </p:nvSpPr>
        <p:spPr/>
        <p:txBody>
          <a:bodyPr/>
          <a:lstStyle/>
          <a:p>
            <a:r>
              <a:rPr lang="ja-JP" altLang="en-US" dirty="0"/>
              <a:t>事例一覧</a:t>
            </a:r>
          </a:p>
        </p:txBody>
      </p:sp>
      <p:graphicFrame>
        <p:nvGraphicFramePr>
          <p:cNvPr id="18" name="表 17">
            <a:extLst>
              <a:ext uri="{FF2B5EF4-FFF2-40B4-BE49-F238E27FC236}">
                <a16:creationId xmlns:a16="http://schemas.microsoft.com/office/drawing/2014/main" id="{414413C8-66F7-682F-0D7B-453E3C9EF74B}"/>
              </a:ext>
            </a:extLst>
          </p:cNvPr>
          <p:cNvGraphicFramePr>
            <a:graphicFrameLocks noGrp="1"/>
          </p:cNvGraphicFramePr>
          <p:nvPr/>
        </p:nvGraphicFramePr>
        <p:xfrm>
          <a:off x="779413" y="926011"/>
          <a:ext cx="10630773" cy="4411404"/>
        </p:xfrm>
        <a:graphic>
          <a:graphicData uri="http://schemas.openxmlformats.org/drawingml/2006/table">
            <a:tbl>
              <a:tblPr firstRow="1" bandRow="1">
                <a:tableStyleId>{F2DE63D5-997A-4646-A377-4702673A728D}</a:tableStyleId>
              </a:tblPr>
              <a:tblGrid>
                <a:gridCol w="364374">
                  <a:extLst>
                    <a:ext uri="{9D8B030D-6E8A-4147-A177-3AD203B41FA5}">
                      <a16:colId xmlns:a16="http://schemas.microsoft.com/office/drawing/2014/main" val="1694877008"/>
                    </a:ext>
                  </a:extLst>
                </a:gridCol>
                <a:gridCol w="1011079">
                  <a:extLst>
                    <a:ext uri="{9D8B030D-6E8A-4147-A177-3AD203B41FA5}">
                      <a16:colId xmlns:a16="http://schemas.microsoft.com/office/drawing/2014/main" val="2166592459"/>
                    </a:ext>
                  </a:extLst>
                </a:gridCol>
                <a:gridCol w="2372514">
                  <a:extLst>
                    <a:ext uri="{9D8B030D-6E8A-4147-A177-3AD203B41FA5}">
                      <a16:colId xmlns:a16="http://schemas.microsoft.com/office/drawing/2014/main" val="327528953"/>
                    </a:ext>
                  </a:extLst>
                </a:gridCol>
                <a:gridCol w="3441403">
                  <a:extLst>
                    <a:ext uri="{9D8B030D-6E8A-4147-A177-3AD203B41FA5}">
                      <a16:colId xmlns:a16="http://schemas.microsoft.com/office/drawing/2014/main" val="2465580028"/>
                    </a:ext>
                  </a:extLst>
                </a:gridCol>
                <a:gridCol w="3441403">
                  <a:extLst>
                    <a:ext uri="{9D8B030D-6E8A-4147-A177-3AD203B41FA5}">
                      <a16:colId xmlns:a16="http://schemas.microsoft.com/office/drawing/2014/main" val="4056923144"/>
                    </a:ext>
                  </a:extLst>
                </a:gridCol>
              </a:tblGrid>
              <a:tr h="349141">
                <a:tc>
                  <a:txBody>
                    <a:bodyPr/>
                    <a:lstStyle/>
                    <a:p>
                      <a:r>
                        <a:rPr kumimoji="1" lang="en-US" altLang="ja-JP" sz="1800" dirty="0"/>
                        <a:t>#</a:t>
                      </a:r>
                      <a:endParaRPr kumimoji="1" lang="ja-JP" altLang="en-US" sz="1800" dirty="0">
                        <a:latin typeface="+mj-ea"/>
                        <a:ea typeface="+mj-ea"/>
                      </a:endParaRPr>
                    </a:p>
                  </a:txBody>
                  <a:tcPr/>
                </a:tc>
                <a:tc>
                  <a:txBody>
                    <a:bodyPr/>
                    <a:lstStyle/>
                    <a:p>
                      <a:r>
                        <a:rPr kumimoji="1" lang="ja-JP" altLang="en-US" sz="1800" dirty="0"/>
                        <a:t>業界</a:t>
                      </a:r>
                      <a:endParaRPr kumimoji="1" lang="ja-JP" altLang="en-US" sz="1800" dirty="0">
                        <a:latin typeface="+mj-ea"/>
                        <a:ea typeface="+mj-ea"/>
                      </a:endParaRPr>
                    </a:p>
                  </a:txBody>
                  <a:tcPr/>
                </a:tc>
                <a:tc>
                  <a:txBody>
                    <a:bodyPr/>
                    <a:lstStyle/>
                    <a:p>
                      <a:r>
                        <a:rPr kumimoji="1" lang="ja-JP" altLang="en-US" sz="1800" dirty="0"/>
                        <a:t>事例</a:t>
                      </a:r>
                      <a:endParaRPr kumimoji="1" lang="ja-JP" altLang="en-US" sz="1800" dirty="0">
                        <a:latin typeface="+mj-ea"/>
                        <a:ea typeface="+mj-ea"/>
                      </a:endParaRPr>
                    </a:p>
                  </a:txBody>
                  <a:tcPr/>
                </a:tc>
                <a:tc>
                  <a:txBody>
                    <a:bodyPr/>
                    <a:lstStyle/>
                    <a:p>
                      <a:r>
                        <a:rPr kumimoji="1" lang="ja-JP" altLang="en-US" sz="1800" dirty="0"/>
                        <a:t>取組概要</a:t>
                      </a:r>
                      <a:endParaRPr kumimoji="1" lang="ja-JP" altLang="en-US" sz="1800" dirty="0">
                        <a:latin typeface="+mj-ea"/>
                        <a:ea typeface="+mj-ea"/>
                      </a:endParaRPr>
                    </a:p>
                  </a:txBody>
                  <a:tcPr/>
                </a:tc>
                <a:tc>
                  <a:txBody>
                    <a:bodyPr/>
                    <a:lstStyle/>
                    <a:p>
                      <a:r>
                        <a:rPr kumimoji="1" lang="ja-JP" altLang="en-US" sz="1800" dirty="0"/>
                        <a:t>効果</a:t>
                      </a:r>
                      <a:endParaRPr kumimoji="1" lang="ja-JP" altLang="en-US" sz="1800" dirty="0">
                        <a:latin typeface="+mj-ea"/>
                        <a:ea typeface="+mj-ea"/>
                      </a:endParaRPr>
                    </a:p>
                  </a:txBody>
                  <a:tcPr/>
                </a:tc>
                <a:extLst>
                  <a:ext uri="{0D108BD9-81ED-4DB2-BD59-A6C34878D82A}">
                    <a16:rowId xmlns:a16="http://schemas.microsoft.com/office/drawing/2014/main" val="1610564298"/>
                  </a:ext>
                </a:extLst>
              </a:tr>
              <a:tr h="894087">
                <a:tc>
                  <a:txBody>
                    <a:bodyPr/>
                    <a:lstStyle/>
                    <a:p>
                      <a:r>
                        <a:rPr kumimoji="1" lang="en-US" altLang="ja-JP" sz="1600" dirty="0"/>
                        <a:t>1</a:t>
                      </a:r>
                      <a:endParaRPr kumimoji="1" lang="ja-JP" altLang="en-US" sz="1600" dirty="0">
                        <a:latin typeface="+mj-ea"/>
                        <a:ea typeface="+mj-ea"/>
                      </a:endParaRPr>
                    </a:p>
                  </a:txBody>
                  <a:tcPr/>
                </a:tc>
                <a:tc>
                  <a:txBody>
                    <a:bodyPr/>
                    <a:lstStyle/>
                    <a:p>
                      <a:r>
                        <a:rPr kumimoji="1" lang="ja-JP" altLang="en-US" sz="1600" dirty="0"/>
                        <a:t>自動車</a:t>
                      </a:r>
                      <a:endParaRPr kumimoji="1" lang="ja-JP" altLang="en-US" sz="1600" dirty="0">
                        <a:latin typeface="+mj-ea"/>
                        <a:ea typeface="+mj-ea"/>
                      </a:endParaRPr>
                    </a:p>
                  </a:txBody>
                  <a:tcPr/>
                </a:tc>
                <a:tc>
                  <a:txBody>
                    <a:bodyPr/>
                    <a:lstStyle/>
                    <a:p>
                      <a:r>
                        <a:rPr kumimoji="1" lang="en-US" altLang="ja-JP" sz="1600" dirty="0"/>
                        <a:t>KPI</a:t>
                      </a:r>
                      <a:r>
                        <a:rPr kumimoji="1" lang="ja-JP" altLang="en-US" sz="1600" dirty="0"/>
                        <a:t>ダッシュボード化と</a:t>
                      </a:r>
                      <a:endParaRPr kumimoji="1" lang="en-US" altLang="ja-JP" sz="1600" dirty="0"/>
                    </a:p>
                    <a:p>
                      <a:r>
                        <a:rPr kumimoji="1" lang="ja-JP" altLang="en-US" sz="1600" dirty="0"/>
                        <a:t>事業適正化</a:t>
                      </a:r>
                      <a:endParaRPr kumimoji="1" lang="ja-JP" altLang="en-US" sz="1600" dirty="0">
                        <a:latin typeface="+mj-ea"/>
                        <a:ea typeface="+mj-ea"/>
                      </a:endParaRPr>
                    </a:p>
                  </a:txBody>
                  <a:tcPr/>
                </a:tc>
                <a:tc>
                  <a:txBody>
                    <a:bodyPr/>
                    <a:lstStyle/>
                    <a:p>
                      <a:pPr marL="87313" indent="-87313">
                        <a:buFont typeface="Arial" panose="020B0604020202020204" pitchFamily="34" charset="0"/>
                        <a:buChar char="•"/>
                      </a:pPr>
                      <a:r>
                        <a:rPr kumimoji="1" lang="ja-JP" altLang="en-US" sz="1600" dirty="0"/>
                        <a:t>業務視点の</a:t>
                      </a:r>
                      <a:r>
                        <a:rPr kumimoji="1" lang="en-US" altLang="ja-JP" sz="1600" dirty="0"/>
                        <a:t>KPI</a:t>
                      </a:r>
                      <a:r>
                        <a:rPr kumimoji="1" lang="ja-JP" altLang="en-US" sz="1600" dirty="0"/>
                        <a:t>定義</a:t>
                      </a:r>
                      <a:endParaRPr kumimoji="1" lang="en-US" altLang="ja-JP" sz="1600" dirty="0"/>
                    </a:p>
                    <a:p>
                      <a:pPr marL="87313" indent="-87313">
                        <a:buFont typeface="Arial" panose="020B0604020202020204" pitchFamily="34" charset="0"/>
                        <a:buChar char="•"/>
                      </a:pPr>
                      <a:r>
                        <a:rPr kumimoji="1" lang="ja-JP" altLang="en-US" sz="1600" dirty="0"/>
                        <a:t>データによる見える化</a:t>
                      </a:r>
                      <a:endParaRPr kumimoji="1" lang="en-US" altLang="ja-JP" sz="1600" dirty="0"/>
                    </a:p>
                    <a:p>
                      <a:pPr marL="87313" indent="-87313">
                        <a:buFont typeface="Arial" panose="020B0604020202020204" pitchFamily="34" charset="0"/>
                        <a:buChar char="•"/>
                      </a:pPr>
                      <a:r>
                        <a:rPr kumimoji="1" lang="ja-JP" altLang="en-US" sz="1600" dirty="0"/>
                        <a:t>ダッシュボード化による</a:t>
                      </a:r>
                      <a:r>
                        <a:rPr kumimoji="1" lang="en-US" altLang="ja-JP" sz="1600" dirty="0"/>
                        <a:t>PDCA</a:t>
                      </a:r>
                      <a:r>
                        <a:rPr kumimoji="1" lang="ja-JP" altLang="en-US" sz="1600" dirty="0"/>
                        <a:t>サイクル確立</a:t>
                      </a:r>
                      <a:endParaRPr kumimoji="1" lang="ja-JP" altLang="en-US" sz="1600" dirty="0">
                        <a:latin typeface="+mj-ea"/>
                        <a:ea typeface="+mj-ea"/>
                      </a:endParaRPr>
                    </a:p>
                  </a:txBody>
                  <a:tcPr/>
                </a:tc>
                <a:tc>
                  <a:txBody>
                    <a:bodyPr/>
                    <a:lstStyle/>
                    <a:p>
                      <a:pPr marL="87313" marR="0" lvl="0" indent="-87313" algn="l" defTabSz="60955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600" b="0" u="none" strike="noStrike" kern="1200" cap="none" spc="0" normalizeH="0" baseline="0" noProof="0" dirty="0">
                          <a:ln>
                            <a:noFill/>
                          </a:ln>
                          <a:solidFill>
                            <a:srgbClr val="000000"/>
                          </a:solidFill>
                          <a:effectLst/>
                          <a:uLnTx/>
                          <a:uFillTx/>
                        </a:rPr>
                        <a:t>KPI</a:t>
                      </a:r>
                      <a:r>
                        <a:rPr kumimoji="1" lang="ja-JP" altLang="en-US" sz="1600" b="0" u="none" strike="noStrike" kern="1200" cap="none" spc="0" normalizeH="0" baseline="0" noProof="0" dirty="0">
                          <a:ln>
                            <a:noFill/>
                          </a:ln>
                          <a:solidFill>
                            <a:srgbClr val="000000"/>
                          </a:solidFill>
                          <a:effectLst/>
                          <a:uLnTx/>
                          <a:uFillTx/>
                        </a:rPr>
                        <a:t>達成フォローの徹底</a:t>
                      </a:r>
                      <a:endParaRPr kumimoji="1" lang="en-US" altLang="ja-JP" sz="1600" b="0" u="none" strike="noStrike" kern="1200" cap="none" spc="0" normalizeH="0" baseline="0" noProof="0" dirty="0">
                        <a:ln>
                          <a:noFill/>
                        </a:ln>
                        <a:solidFill>
                          <a:srgbClr val="000000"/>
                        </a:solidFill>
                        <a:effectLst/>
                        <a:uLnTx/>
                        <a:uFillTx/>
                      </a:endParaRPr>
                    </a:p>
                    <a:p>
                      <a:pPr marL="87313" marR="0" lvl="0" indent="-87313" algn="l" defTabSz="60955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600" b="0" u="none" strike="noStrike" kern="1200" cap="none" spc="0" normalizeH="0" baseline="0" noProof="0" dirty="0">
                          <a:ln>
                            <a:noFill/>
                          </a:ln>
                          <a:solidFill>
                            <a:srgbClr val="000000"/>
                          </a:solidFill>
                          <a:effectLst/>
                          <a:uLnTx/>
                          <a:uFillTx/>
                        </a:rPr>
                        <a:t>状況に応じた予算、リソース再配分</a:t>
                      </a:r>
                      <a:endParaRPr kumimoji="1" lang="ja-JP" altLang="en-US" sz="1600" b="0" i="0" u="none" strike="noStrike" kern="1200" cap="none" spc="0" normalizeH="0" baseline="0" noProof="0" dirty="0">
                        <a:ln>
                          <a:noFill/>
                        </a:ln>
                        <a:solidFill>
                          <a:srgbClr val="000000"/>
                        </a:solidFill>
                        <a:effectLst/>
                        <a:uLnTx/>
                        <a:uFillTx/>
                        <a:latin typeface="Meiryo UI"/>
                        <a:ea typeface="Meiryo UI"/>
                        <a:cs typeface="+mn-cs"/>
                      </a:endParaRPr>
                    </a:p>
                  </a:txBody>
                  <a:tcPr/>
                </a:tc>
                <a:extLst>
                  <a:ext uri="{0D108BD9-81ED-4DB2-BD59-A6C34878D82A}">
                    <a16:rowId xmlns:a16="http://schemas.microsoft.com/office/drawing/2014/main" val="3146734752"/>
                  </a:ext>
                </a:extLst>
              </a:tr>
              <a:tr h="834102">
                <a:tc>
                  <a:txBody>
                    <a:bodyPr/>
                    <a:lstStyle/>
                    <a:p>
                      <a:r>
                        <a:rPr kumimoji="1" lang="en-US" altLang="ja-JP" sz="1600" dirty="0"/>
                        <a:t>2</a:t>
                      </a:r>
                      <a:endParaRPr kumimoji="1" lang="ja-JP" altLang="en-US" sz="1600" dirty="0">
                        <a:latin typeface="+mj-ea"/>
                        <a:ea typeface="+mj-ea"/>
                      </a:endParaRPr>
                    </a:p>
                  </a:txBody>
                  <a:tcPr>
                    <a:solidFill>
                      <a:schemeClr val="bg1">
                        <a:lumMod val="85000"/>
                      </a:schemeClr>
                    </a:solidFill>
                  </a:tcPr>
                </a:tc>
                <a:tc>
                  <a:txBody>
                    <a:bodyPr/>
                    <a:lstStyle/>
                    <a:p>
                      <a:r>
                        <a:rPr kumimoji="1" lang="ja-JP" altLang="en-US" sz="1600" dirty="0"/>
                        <a:t>機械</a:t>
                      </a:r>
                      <a:endParaRPr kumimoji="1" lang="ja-JP" altLang="en-US" sz="1600" dirty="0">
                        <a:latin typeface="+mj-ea"/>
                        <a:ea typeface="+mj-ea"/>
                      </a:endParaRPr>
                    </a:p>
                  </a:txBody>
                  <a:tcPr>
                    <a:solidFill>
                      <a:schemeClr val="bg1">
                        <a:lumMod val="85000"/>
                      </a:schemeClr>
                    </a:solidFill>
                  </a:tcPr>
                </a:tc>
                <a:tc>
                  <a:txBody>
                    <a:bodyPr/>
                    <a:lstStyle/>
                    <a:p>
                      <a:r>
                        <a:rPr kumimoji="1" lang="ja-JP" altLang="en-US" sz="1600" dirty="0"/>
                        <a:t>業務データの</a:t>
                      </a:r>
                      <a:endParaRPr kumimoji="1" lang="en-US" altLang="ja-JP" sz="1600" dirty="0"/>
                    </a:p>
                    <a:p>
                      <a:r>
                        <a:rPr kumimoji="1" lang="ja-JP" altLang="en-US" sz="1600" dirty="0"/>
                        <a:t>ダッシュボード化と</a:t>
                      </a:r>
                      <a:endParaRPr kumimoji="1" lang="en-US" altLang="ja-JP" sz="1600" dirty="0"/>
                    </a:p>
                    <a:p>
                      <a:r>
                        <a:rPr kumimoji="1" lang="ja-JP" altLang="en-US" sz="1600" dirty="0"/>
                        <a:t>経営判断の迅速化</a:t>
                      </a:r>
                      <a:endParaRPr kumimoji="1" lang="ja-JP" altLang="en-US" sz="1600" dirty="0">
                        <a:latin typeface="+mj-ea"/>
                        <a:ea typeface="+mj-ea"/>
                      </a:endParaRPr>
                    </a:p>
                  </a:txBody>
                  <a:tcPr>
                    <a:solidFill>
                      <a:schemeClr val="bg1">
                        <a:lumMod val="85000"/>
                      </a:schemeClr>
                    </a:solidFill>
                  </a:tcPr>
                </a:tc>
                <a:tc>
                  <a:txBody>
                    <a:bodyPr/>
                    <a:lstStyle/>
                    <a:p>
                      <a:pPr marL="87313" indent="-87313">
                        <a:buFont typeface="Arial" panose="020B0604020202020204" pitchFamily="34" charset="0"/>
                        <a:buChar char="•"/>
                      </a:pPr>
                      <a:r>
                        <a:rPr kumimoji="1" lang="ja-JP" altLang="en-US" sz="1600" dirty="0"/>
                        <a:t>共通データ分析基盤の構築</a:t>
                      </a:r>
                      <a:endParaRPr kumimoji="1" lang="en-US" altLang="ja-JP" sz="1600" dirty="0"/>
                    </a:p>
                    <a:p>
                      <a:pPr marL="87313" indent="-87313">
                        <a:buFont typeface="Arial" panose="020B0604020202020204" pitchFamily="34" charset="0"/>
                        <a:buChar char="•"/>
                      </a:pPr>
                      <a:r>
                        <a:rPr kumimoji="1" lang="ja-JP" altLang="en-US" sz="1600" dirty="0"/>
                        <a:t>経営～現場層それぞれのダッシュボード化</a:t>
                      </a:r>
                      <a:endParaRPr kumimoji="1" lang="en-US" altLang="ja-JP" sz="1600" dirty="0">
                        <a:latin typeface="+mj-ea"/>
                        <a:ea typeface="+mj-ea"/>
                      </a:endParaRPr>
                    </a:p>
                  </a:txBody>
                  <a:tcPr>
                    <a:solidFill>
                      <a:schemeClr val="bg1">
                        <a:lumMod val="85000"/>
                      </a:schemeClr>
                    </a:solidFill>
                  </a:tcPr>
                </a:tc>
                <a:tc>
                  <a:txBody>
                    <a:bodyPr/>
                    <a:lstStyle/>
                    <a:p>
                      <a:pPr marL="87313" indent="-87313">
                        <a:buFont typeface="Arial" panose="020B0604020202020204" pitchFamily="34" charset="0"/>
                        <a:buChar char="•"/>
                      </a:pPr>
                      <a:r>
                        <a:rPr kumimoji="1" lang="ja-JP" altLang="en-US" sz="1600" kern="1200" dirty="0">
                          <a:solidFill>
                            <a:schemeClr val="dk1"/>
                          </a:solidFill>
                        </a:rPr>
                        <a:t>ダッシュボード化により迅速な経営判断を促進</a:t>
                      </a:r>
                      <a:endParaRPr kumimoji="1" lang="en-US" altLang="ja-JP" sz="1600" kern="1200" dirty="0">
                        <a:solidFill>
                          <a:schemeClr val="dk1"/>
                        </a:solidFill>
                      </a:endParaRPr>
                    </a:p>
                    <a:p>
                      <a:pPr marL="87313" indent="-87313">
                        <a:buFont typeface="Arial" panose="020B0604020202020204" pitchFamily="34" charset="0"/>
                        <a:buChar char="•"/>
                      </a:pPr>
                      <a:r>
                        <a:rPr kumimoji="1" lang="ja-JP" altLang="en-US" sz="1600" kern="1200" dirty="0">
                          <a:solidFill>
                            <a:schemeClr val="dk1"/>
                          </a:solidFill>
                        </a:rPr>
                        <a:t>データ収集分析業務の負荷軽減</a:t>
                      </a:r>
                      <a:endParaRPr kumimoji="1" lang="ja-JP" altLang="en-US" sz="1600" kern="1200" dirty="0">
                        <a:solidFill>
                          <a:schemeClr val="dk1"/>
                        </a:solidFill>
                        <a:latin typeface="+mj-ea"/>
                        <a:ea typeface="+mn-ea"/>
                        <a:cs typeface="+mn-cs"/>
                      </a:endParaRPr>
                    </a:p>
                  </a:txBody>
                  <a:tcPr>
                    <a:solidFill>
                      <a:schemeClr val="bg1">
                        <a:lumMod val="85000"/>
                      </a:schemeClr>
                    </a:solidFill>
                  </a:tcPr>
                </a:tc>
                <a:extLst>
                  <a:ext uri="{0D108BD9-81ED-4DB2-BD59-A6C34878D82A}">
                    <a16:rowId xmlns:a16="http://schemas.microsoft.com/office/drawing/2014/main" val="1061240017"/>
                  </a:ext>
                </a:extLst>
              </a:tr>
              <a:tr h="834102">
                <a:tc>
                  <a:txBody>
                    <a:bodyPr/>
                    <a:lstStyle/>
                    <a:p>
                      <a:r>
                        <a:rPr kumimoji="1" lang="en-US" altLang="ja-JP" sz="1600" dirty="0"/>
                        <a:t>3</a:t>
                      </a:r>
                      <a:endParaRPr kumimoji="1" lang="ja-JP" altLang="en-US" sz="1600" dirty="0">
                        <a:latin typeface="+mj-ea"/>
                        <a:ea typeface="+mj-ea"/>
                      </a:endParaRPr>
                    </a:p>
                  </a:txBody>
                  <a:tcPr/>
                </a:tc>
                <a:tc>
                  <a:txBody>
                    <a:bodyPr/>
                    <a:lstStyle/>
                    <a:p>
                      <a:r>
                        <a:rPr kumimoji="1" lang="ja-JP" altLang="en-US" sz="1600" dirty="0"/>
                        <a:t>医療機器</a:t>
                      </a:r>
                      <a:endParaRPr kumimoji="1" lang="ja-JP" altLang="en-US" sz="1600" dirty="0">
                        <a:latin typeface="+mj-ea"/>
                        <a:ea typeface="+mj-ea"/>
                      </a:endParaRPr>
                    </a:p>
                  </a:txBody>
                  <a:tcPr/>
                </a:tc>
                <a:tc>
                  <a:txBody>
                    <a:bodyPr/>
                    <a:lstStyle/>
                    <a:p>
                      <a:r>
                        <a:rPr kumimoji="1" lang="ja-JP" altLang="en-US" sz="1600" dirty="0"/>
                        <a:t>販売予測システム</a:t>
                      </a:r>
                      <a:endParaRPr kumimoji="1" lang="ja-JP" altLang="en-US" sz="1600" dirty="0">
                        <a:latin typeface="+mj-ea"/>
                        <a:ea typeface="+mj-ea"/>
                      </a:endParaRPr>
                    </a:p>
                  </a:txBody>
                  <a:tcPr/>
                </a:tc>
                <a:tc>
                  <a:txBody>
                    <a:bodyPr/>
                    <a:lstStyle/>
                    <a:p>
                      <a:pPr marL="87313" indent="-87313">
                        <a:buFont typeface="Arial" panose="020B0604020202020204" pitchFamily="34" charset="0"/>
                        <a:buChar char="•"/>
                      </a:pPr>
                      <a:r>
                        <a:rPr kumimoji="1" lang="ja-JP" altLang="en-US" sz="1600" dirty="0"/>
                        <a:t>実績データから将来販売予測</a:t>
                      </a:r>
                      <a:endParaRPr kumimoji="1" lang="en-US" altLang="ja-JP" sz="1600" dirty="0"/>
                    </a:p>
                    <a:p>
                      <a:pPr marL="87313" indent="-87313">
                        <a:buFont typeface="Arial" panose="020B0604020202020204" pitchFamily="34" charset="0"/>
                        <a:buChar char="•"/>
                      </a:pPr>
                      <a:r>
                        <a:rPr kumimoji="1" lang="ja-JP" altLang="en-US" sz="1600" dirty="0"/>
                        <a:t>データを共通化し適正な粒度で分析</a:t>
                      </a:r>
                      <a:endParaRPr kumimoji="1" lang="ja-JP" altLang="en-US" sz="1600" dirty="0">
                        <a:latin typeface="+mj-ea"/>
                        <a:ea typeface="+mj-ea"/>
                      </a:endParaRPr>
                    </a:p>
                  </a:txBody>
                  <a:tcPr/>
                </a:tc>
                <a:tc>
                  <a:txBody>
                    <a:bodyPr/>
                    <a:lstStyle/>
                    <a:p>
                      <a:pPr marL="87313" marR="0" lvl="0" indent="-87313" algn="l" defTabSz="60955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600" kern="1200" dirty="0">
                          <a:solidFill>
                            <a:schemeClr val="dk1"/>
                          </a:solidFill>
                        </a:rPr>
                        <a:t>在庫適正化</a:t>
                      </a:r>
                      <a:endParaRPr kumimoji="1" lang="en-US" altLang="ja-JP" sz="1600" kern="1200" dirty="0">
                        <a:solidFill>
                          <a:schemeClr val="dk1"/>
                        </a:solidFill>
                      </a:endParaRPr>
                    </a:p>
                    <a:p>
                      <a:pPr marL="87313" marR="0" lvl="0" indent="-87313" algn="l" defTabSz="60955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600" b="0" u="none" strike="noStrike" kern="1200" cap="none" spc="0" normalizeH="0" baseline="0" noProof="0" dirty="0">
                          <a:ln>
                            <a:noFill/>
                          </a:ln>
                          <a:solidFill>
                            <a:schemeClr val="dk1"/>
                          </a:solidFill>
                          <a:effectLst/>
                          <a:uLnTx/>
                          <a:uFillTx/>
                        </a:rPr>
                        <a:t>製品ごとの</a:t>
                      </a:r>
                      <a:r>
                        <a:rPr kumimoji="1" lang="en-US" altLang="ja-JP" sz="1600" b="0" u="none" strike="noStrike" kern="1200" cap="none" spc="0" normalizeH="0" baseline="0" noProof="0" dirty="0">
                          <a:ln>
                            <a:noFill/>
                          </a:ln>
                          <a:solidFill>
                            <a:schemeClr val="dk1"/>
                          </a:solidFill>
                          <a:effectLst/>
                          <a:uLnTx/>
                          <a:uFillTx/>
                        </a:rPr>
                        <a:t>ROI</a:t>
                      </a:r>
                      <a:r>
                        <a:rPr kumimoji="1" lang="ja-JP" altLang="en-US" sz="1600" b="0" u="none" strike="noStrike" kern="1200" cap="none" spc="0" normalizeH="0" baseline="0" noProof="0" dirty="0">
                          <a:ln>
                            <a:noFill/>
                          </a:ln>
                          <a:solidFill>
                            <a:schemeClr val="dk1"/>
                          </a:solidFill>
                          <a:effectLst/>
                          <a:uLnTx/>
                          <a:uFillTx/>
                        </a:rPr>
                        <a:t>可視化</a:t>
                      </a:r>
                      <a:endParaRPr kumimoji="1" lang="en-US" altLang="ja-JP" sz="1600" b="0" u="none" strike="noStrike" kern="1200" cap="none" spc="0" normalizeH="0" baseline="0" noProof="0" dirty="0">
                        <a:ln>
                          <a:noFill/>
                        </a:ln>
                        <a:solidFill>
                          <a:schemeClr val="dk1"/>
                        </a:solidFill>
                        <a:effectLst/>
                        <a:uLnTx/>
                        <a:uFillTx/>
                      </a:endParaRPr>
                    </a:p>
                    <a:p>
                      <a:pPr marL="87313" marR="0" lvl="0" indent="-87313" algn="l" defTabSz="60955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600" b="0" u="none" strike="noStrike" kern="1200" cap="none" spc="0" normalizeH="0" baseline="0" noProof="0" dirty="0">
                          <a:ln>
                            <a:noFill/>
                          </a:ln>
                          <a:solidFill>
                            <a:schemeClr val="dk1"/>
                          </a:solidFill>
                          <a:effectLst/>
                          <a:uLnTx/>
                          <a:uFillTx/>
                        </a:rPr>
                        <a:t>顧客訪問タイミング、優先付け</a:t>
                      </a:r>
                      <a:endParaRPr kumimoji="1" lang="ja-JP" altLang="en-US" sz="1600" b="0" i="0" u="none" strike="noStrike" kern="1200" cap="none" spc="0" normalizeH="0" baseline="0" noProof="0" dirty="0">
                        <a:ln>
                          <a:noFill/>
                        </a:ln>
                        <a:solidFill>
                          <a:srgbClr val="000000"/>
                        </a:solidFill>
                        <a:effectLst/>
                        <a:uLnTx/>
                        <a:uFillTx/>
                        <a:latin typeface="Meiryo UI"/>
                        <a:ea typeface="Meiryo UI"/>
                        <a:cs typeface="+mn-cs"/>
                      </a:endParaRPr>
                    </a:p>
                  </a:txBody>
                  <a:tcPr/>
                </a:tc>
                <a:extLst>
                  <a:ext uri="{0D108BD9-81ED-4DB2-BD59-A6C34878D82A}">
                    <a16:rowId xmlns:a16="http://schemas.microsoft.com/office/drawing/2014/main" val="629304318"/>
                  </a:ext>
                </a:extLst>
              </a:tr>
              <a:tr h="1098450">
                <a:tc>
                  <a:txBody>
                    <a:bodyPr/>
                    <a:lstStyle/>
                    <a:p>
                      <a:r>
                        <a:rPr kumimoji="1" lang="en-US" altLang="ja-JP" sz="1600" dirty="0"/>
                        <a:t>4</a:t>
                      </a:r>
                      <a:endParaRPr kumimoji="1" lang="ja-JP" altLang="en-US" sz="1600" dirty="0">
                        <a:latin typeface="+mj-ea"/>
                        <a:ea typeface="+mj-ea"/>
                      </a:endParaRPr>
                    </a:p>
                  </a:txBody>
                  <a:tcPr/>
                </a:tc>
                <a:tc>
                  <a:txBody>
                    <a:bodyPr/>
                    <a:lstStyle/>
                    <a:p>
                      <a:r>
                        <a:rPr kumimoji="1" lang="ja-JP" altLang="en-US" sz="1600" dirty="0"/>
                        <a:t>自動車</a:t>
                      </a:r>
                      <a:endParaRPr kumimoji="1" lang="ja-JP" altLang="en-US" sz="1600" dirty="0">
                        <a:latin typeface="+mj-ea"/>
                        <a:ea typeface="+mj-ea"/>
                      </a:endParaRPr>
                    </a:p>
                  </a:txBody>
                  <a:tcPr/>
                </a:tc>
                <a:tc>
                  <a:txBody>
                    <a:bodyPr/>
                    <a:lstStyle/>
                    <a:p>
                      <a:r>
                        <a:rPr kumimoji="1" lang="ja-JP" altLang="en-US" sz="1600" dirty="0"/>
                        <a:t>スキル・リソース計画</a:t>
                      </a:r>
                      <a:endParaRPr kumimoji="1" lang="ja-JP" altLang="en-US" sz="1600" dirty="0">
                        <a:latin typeface="+mj-ea"/>
                        <a:ea typeface="+mj-ea"/>
                      </a:endParaRPr>
                    </a:p>
                  </a:txBody>
                  <a:tcPr/>
                </a:tc>
                <a:tc>
                  <a:txBody>
                    <a:bodyPr/>
                    <a:lstStyle/>
                    <a:p>
                      <a:pPr marL="88900" indent="-88900">
                        <a:buFont typeface="Arial" panose="020B0604020202020204" pitchFamily="34" charset="0"/>
                        <a:buChar char="•"/>
                      </a:pPr>
                      <a:r>
                        <a:rPr kumimoji="1" lang="ja-JP" altLang="en-US" sz="1600" dirty="0"/>
                        <a:t>将来の主力事業を特定</a:t>
                      </a:r>
                      <a:endParaRPr kumimoji="1" lang="en-US" altLang="ja-JP" sz="1600" dirty="0"/>
                    </a:p>
                    <a:p>
                      <a:pPr marL="88900" indent="-88900">
                        <a:buFont typeface="Arial" panose="020B0604020202020204" pitchFamily="34" charset="0"/>
                        <a:buChar char="•"/>
                      </a:pPr>
                      <a:r>
                        <a:rPr kumimoji="1" lang="ja-JP" altLang="en-US" sz="1600" dirty="0"/>
                        <a:t>必要なスキルセットを定義</a:t>
                      </a:r>
                      <a:endParaRPr kumimoji="1" lang="en-US" altLang="ja-JP" sz="1600" dirty="0"/>
                    </a:p>
                    <a:p>
                      <a:pPr marL="88900" indent="-88900">
                        <a:buFont typeface="Arial" panose="020B0604020202020204" pitchFamily="34" charset="0"/>
                        <a:buChar char="•"/>
                      </a:pPr>
                      <a:r>
                        <a:rPr kumimoji="1" lang="ja-JP" altLang="en-US" sz="1600" dirty="0"/>
                        <a:t>スキル毎の人財登録</a:t>
                      </a:r>
                      <a:endParaRPr kumimoji="1" lang="en-US" altLang="ja-JP" sz="1600" dirty="0"/>
                    </a:p>
                    <a:p>
                      <a:pPr marL="88900" indent="-88900">
                        <a:buFont typeface="Arial" panose="020B0604020202020204" pitchFamily="34" charset="0"/>
                        <a:buChar char="•"/>
                      </a:pPr>
                      <a:r>
                        <a:rPr kumimoji="1" lang="ja-JP" altLang="en-US" sz="1600" dirty="0"/>
                        <a:t>事業収支とリソースのギャップ特定</a:t>
                      </a:r>
                      <a:endParaRPr kumimoji="1" lang="ja-JP" altLang="en-US" sz="1600" dirty="0">
                        <a:latin typeface="+mj-ea"/>
                        <a:ea typeface="+mj-ea"/>
                      </a:endParaRPr>
                    </a:p>
                  </a:txBody>
                  <a:tcPr/>
                </a:tc>
                <a:tc>
                  <a:txBody>
                    <a:bodyPr/>
                    <a:lstStyle/>
                    <a:p>
                      <a:pPr marL="87313" marR="0" lvl="0" indent="-87313" algn="l" defTabSz="60955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600" b="0" u="none" strike="noStrike" kern="1200" cap="none" spc="0" normalizeH="0" baseline="0" noProof="0" dirty="0">
                          <a:ln>
                            <a:noFill/>
                          </a:ln>
                          <a:solidFill>
                            <a:srgbClr val="000000"/>
                          </a:solidFill>
                          <a:effectLst/>
                          <a:uLnTx/>
                          <a:uFillTx/>
                        </a:rPr>
                        <a:t>現場に閉じていたスキル・リソースの可視化</a:t>
                      </a:r>
                      <a:endParaRPr kumimoji="1" lang="en-US" altLang="ja-JP" sz="1600" b="0" u="none" strike="noStrike" kern="1200" cap="none" spc="0" normalizeH="0" baseline="0" noProof="0" dirty="0">
                        <a:ln>
                          <a:noFill/>
                        </a:ln>
                        <a:solidFill>
                          <a:srgbClr val="000000"/>
                        </a:solidFill>
                        <a:effectLst/>
                        <a:uLnTx/>
                        <a:uFillTx/>
                      </a:endParaRPr>
                    </a:p>
                    <a:p>
                      <a:pPr marL="87313" marR="0" lvl="0" indent="-87313" algn="l" defTabSz="60955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600" b="0" u="none" strike="noStrike" kern="1200" cap="none" spc="0" normalizeH="0" baseline="0" noProof="0" dirty="0">
                          <a:ln>
                            <a:noFill/>
                          </a:ln>
                          <a:solidFill>
                            <a:srgbClr val="000000"/>
                          </a:solidFill>
                          <a:effectLst/>
                          <a:uLnTx/>
                          <a:uFillTx/>
                        </a:rPr>
                        <a:t>事業収支と人財リソースのマッチング</a:t>
                      </a:r>
                      <a:endParaRPr kumimoji="1" lang="en-US" altLang="ja-JP" sz="1600" b="0" u="none" strike="noStrike" kern="1200" cap="none" spc="0" normalizeH="0" baseline="0" noProof="0" dirty="0">
                        <a:ln>
                          <a:noFill/>
                        </a:ln>
                        <a:solidFill>
                          <a:srgbClr val="000000"/>
                        </a:solidFill>
                        <a:effectLst/>
                        <a:uLnTx/>
                        <a:uFillTx/>
                      </a:endParaRPr>
                    </a:p>
                    <a:p>
                      <a:pPr marL="87313" marR="0" lvl="0" indent="-87313" algn="l" defTabSz="60955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600" b="0" u="none" strike="noStrike" kern="1200" cap="none" spc="0" normalizeH="0" baseline="0" noProof="0" dirty="0">
                          <a:ln>
                            <a:noFill/>
                          </a:ln>
                          <a:solidFill>
                            <a:srgbClr val="000000"/>
                          </a:solidFill>
                          <a:effectLst/>
                          <a:uLnTx/>
                          <a:uFillTx/>
                        </a:rPr>
                        <a:t>リソース配置の中期的な打ち手の策定</a:t>
                      </a:r>
                      <a:endParaRPr kumimoji="1" lang="en-US" altLang="ja-JP" sz="1600" b="0" u="none" strike="noStrike" kern="1200" cap="none" spc="0" normalizeH="0" baseline="0" noProof="0" dirty="0">
                        <a:ln>
                          <a:noFill/>
                        </a:ln>
                        <a:solidFill>
                          <a:srgbClr val="000000"/>
                        </a:solidFill>
                        <a:effectLst/>
                        <a:uLnTx/>
                        <a:uFillTx/>
                      </a:endParaRPr>
                    </a:p>
                    <a:p>
                      <a:pPr marL="87313" marR="0" lvl="0" indent="-87313" algn="l" defTabSz="609555"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600" b="0" i="0" u="none" strike="noStrike" kern="1200" cap="none" spc="0" normalizeH="0" baseline="0" noProof="0" dirty="0">
                        <a:ln>
                          <a:noFill/>
                        </a:ln>
                        <a:solidFill>
                          <a:srgbClr val="000000"/>
                        </a:solidFill>
                        <a:effectLst/>
                        <a:uLnTx/>
                        <a:uFillTx/>
                        <a:latin typeface="Meiryo UI"/>
                        <a:ea typeface="Meiryo UI"/>
                        <a:cs typeface="+mn-cs"/>
                      </a:endParaRPr>
                    </a:p>
                  </a:txBody>
                  <a:tcPr/>
                </a:tc>
                <a:extLst>
                  <a:ext uri="{0D108BD9-81ED-4DB2-BD59-A6C34878D82A}">
                    <a16:rowId xmlns:a16="http://schemas.microsoft.com/office/drawing/2014/main" val="2798333112"/>
                  </a:ext>
                </a:extLst>
              </a:tr>
            </a:tbl>
          </a:graphicData>
        </a:graphic>
      </p:graphicFrame>
      <p:sp>
        <p:nvSpPr>
          <p:cNvPr id="3" name="正方形/長方形 3">
            <a:extLst>
              <a:ext uri="{FF2B5EF4-FFF2-40B4-BE49-F238E27FC236}">
                <a16:creationId xmlns:a16="http://schemas.microsoft.com/office/drawing/2014/main" id="{1E6E3A42-04C8-AB6F-6850-36AA393697E9}"/>
              </a:ext>
            </a:extLst>
          </p:cNvPr>
          <p:cNvSpPr/>
          <p:nvPr/>
        </p:nvSpPr>
        <p:spPr>
          <a:xfrm>
            <a:off x="779413" y="5519469"/>
            <a:ext cx="1985613" cy="569594"/>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11125"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実担当者よりご説明</a:t>
            </a:r>
            <a:endParaRPr kumimoji="1" lang="en-US" altLang="ja-JP" sz="1400" b="0" i="0" u="none" strike="noStrike" kern="1200" cap="none" spc="0" normalizeH="0" baseline="0" noProof="0" dirty="0">
              <a:ln>
                <a:noFill/>
              </a:ln>
              <a:solidFill>
                <a:srgbClr val="000000"/>
              </a:solidFill>
              <a:effectLst/>
              <a:uLnTx/>
              <a:uFillTx/>
              <a:latin typeface="Arial"/>
              <a:ea typeface="Meiryo UI"/>
              <a:cs typeface="+mn-cs"/>
            </a:endParaRPr>
          </a:p>
        </p:txBody>
      </p:sp>
      <p:cxnSp>
        <p:nvCxnSpPr>
          <p:cNvPr id="7" name="コネクタ: カギ線 6">
            <a:extLst>
              <a:ext uri="{FF2B5EF4-FFF2-40B4-BE49-F238E27FC236}">
                <a16:creationId xmlns:a16="http://schemas.microsoft.com/office/drawing/2014/main" id="{96EA6196-8D0D-8F85-6F60-57E6E7CA0921}"/>
              </a:ext>
            </a:extLst>
          </p:cNvPr>
          <p:cNvCxnSpPr>
            <a:cxnSpLocks/>
            <a:stCxn id="8" idx="1"/>
            <a:endCxn id="3" idx="1"/>
          </p:cNvCxnSpPr>
          <p:nvPr/>
        </p:nvCxnSpPr>
        <p:spPr>
          <a:xfrm rot="10800000" flipV="1">
            <a:off x="779413" y="1459470"/>
            <a:ext cx="7748" cy="4344796"/>
          </a:xfrm>
          <a:prstGeom prst="bentConnector3">
            <a:avLst>
              <a:gd name="adj1" fmla="val 3050439"/>
            </a:avLst>
          </a:prstGeom>
          <a:ln w="3175">
            <a:solidFill>
              <a:srgbClr val="0072BC"/>
            </a:solidFill>
          </a:ln>
          <a:effectLst/>
        </p:spPr>
        <p:style>
          <a:lnRef idx="2">
            <a:schemeClr val="accent1"/>
          </a:lnRef>
          <a:fillRef idx="0">
            <a:schemeClr val="accent1"/>
          </a:fillRef>
          <a:effectRef idx="1">
            <a:schemeClr val="accent1"/>
          </a:effectRef>
          <a:fontRef idx="minor">
            <a:schemeClr val="tx1"/>
          </a:fontRef>
        </p:style>
      </p:cxnSp>
      <p:sp>
        <p:nvSpPr>
          <p:cNvPr id="8" name="正方形/長方形 7">
            <a:extLst>
              <a:ext uri="{FF2B5EF4-FFF2-40B4-BE49-F238E27FC236}">
                <a16:creationId xmlns:a16="http://schemas.microsoft.com/office/drawing/2014/main" id="{BCFC75F4-802C-7930-41FC-C165FFB94429}"/>
              </a:ext>
            </a:extLst>
          </p:cNvPr>
          <p:cNvSpPr/>
          <p:nvPr/>
        </p:nvSpPr>
        <p:spPr>
          <a:xfrm>
            <a:off x="787161" y="1316853"/>
            <a:ext cx="294636" cy="285233"/>
          </a:xfrm>
          <a:prstGeom prst="rect">
            <a:avLst/>
          </a:prstGeom>
          <a:noFill/>
          <a:ln w="28575">
            <a:solidFill>
              <a:srgbClr val="0072BC"/>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dirty="0">
              <a:ln>
                <a:noFill/>
              </a:ln>
              <a:solidFill>
                <a:srgbClr val="000000"/>
              </a:solidFill>
              <a:effectLst/>
              <a:uLnTx/>
              <a:uFillTx/>
              <a:latin typeface="Arial"/>
              <a:ea typeface="Meiryo UI"/>
              <a:cs typeface="+mn-cs"/>
            </a:endParaRPr>
          </a:p>
        </p:txBody>
      </p:sp>
      <p:cxnSp>
        <p:nvCxnSpPr>
          <p:cNvPr id="12" name="コネクタ: カギ線 11">
            <a:extLst>
              <a:ext uri="{FF2B5EF4-FFF2-40B4-BE49-F238E27FC236}">
                <a16:creationId xmlns:a16="http://schemas.microsoft.com/office/drawing/2014/main" id="{406ED82E-0990-DC58-AB0C-C869052A9237}"/>
              </a:ext>
            </a:extLst>
          </p:cNvPr>
          <p:cNvCxnSpPr>
            <a:cxnSpLocks/>
            <a:stCxn id="13" idx="1"/>
            <a:endCxn id="3" idx="1"/>
          </p:cNvCxnSpPr>
          <p:nvPr/>
        </p:nvCxnSpPr>
        <p:spPr>
          <a:xfrm rot="10800000" flipV="1">
            <a:off x="779413" y="3355476"/>
            <a:ext cx="12412" cy="2448789"/>
          </a:xfrm>
          <a:prstGeom prst="bentConnector3">
            <a:avLst>
              <a:gd name="adj1" fmla="val 1941766"/>
            </a:avLst>
          </a:prstGeom>
          <a:ln w="3175">
            <a:solidFill>
              <a:srgbClr val="0072BC"/>
            </a:solidFill>
          </a:ln>
          <a:effectLst/>
        </p:spPr>
        <p:style>
          <a:lnRef idx="2">
            <a:schemeClr val="accent1"/>
          </a:lnRef>
          <a:fillRef idx="0">
            <a:schemeClr val="accent1"/>
          </a:fillRef>
          <a:effectRef idx="1">
            <a:schemeClr val="accent1"/>
          </a:effectRef>
          <a:fontRef idx="minor">
            <a:schemeClr val="tx1"/>
          </a:fontRef>
        </p:style>
      </p:cxnSp>
      <p:sp>
        <p:nvSpPr>
          <p:cNvPr id="13" name="正方形/長方形 12">
            <a:extLst>
              <a:ext uri="{FF2B5EF4-FFF2-40B4-BE49-F238E27FC236}">
                <a16:creationId xmlns:a16="http://schemas.microsoft.com/office/drawing/2014/main" id="{C50EEF2B-5932-0926-D1CC-442D44BF391B}"/>
              </a:ext>
            </a:extLst>
          </p:cNvPr>
          <p:cNvSpPr/>
          <p:nvPr/>
        </p:nvSpPr>
        <p:spPr>
          <a:xfrm>
            <a:off x="791825" y="3212860"/>
            <a:ext cx="294636" cy="285233"/>
          </a:xfrm>
          <a:prstGeom prst="rect">
            <a:avLst/>
          </a:prstGeom>
          <a:noFill/>
          <a:ln w="28575">
            <a:solidFill>
              <a:srgbClr val="0072BC"/>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dirty="0">
              <a:ln>
                <a:noFill/>
              </a:ln>
              <a:solidFill>
                <a:srgbClr val="000000"/>
              </a:solidFill>
              <a:effectLst/>
              <a:uLnTx/>
              <a:uFillTx/>
              <a:latin typeface="Arial"/>
              <a:ea typeface="Meiryo UI"/>
              <a:cs typeface="+mn-cs"/>
            </a:endParaRPr>
          </a:p>
        </p:txBody>
      </p:sp>
      <p:cxnSp>
        <p:nvCxnSpPr>
          <p:cNvPr id="15" name="コネクタ: カギ線 14">
            <a:extLst>
              <a:ext uri="{FF2B5EF4-FFF2-40B4-BE49-F238E27FC236}">
                <a16:creationId xmlns:a16="http://schemas.microsoft.com/office/drawing/2014/main" id="{DD4223AE-116B-45C6-421B-E6DD8C691199}"/>
              </a:ext>
            </a:extLst>
          </p:cNvPr>
          <p:cNvCxnSpPr>
            <a:cxnSpLocks/>
            <a:stCxn id="16" idx="1"/>
            <a:endCxn id="3" idx="1"/>
          </p:cNvCxnSpPr>
          <p:nvPr/>
        </p:nvCxnSpPr>
        <p:spPr>
          <a:xfrm rot="10800000" flipV="1">
            <a:off x="779413" y="4184330"/>
            <a:ext cx="7748" cy="1619936"/>
          </a:xfrm>
          <a:prstGeom prst="bentConnector3">
            <a:avLst>
              <a:gd name="adj1" fmla="val 3050439"/>
            </a:avLst>
          </a:prstGeom>
          <a:ln w="3175">
            <a:solidFill>
              <a:srgbClr val="0072BC"/>
            </a:solidFill>
          </a:ln>
          <a:effectLst/>
        </p:spPr>
        <p:style>
          <a:lnRef idx="2">
            <a:schemeClr val="accent1"/>
          </a:lnRef>
          <a:fillRef idx="0">
            <a:schemeClr val="accent1"/>
          </a:fillRef>
          <a:effectRef idx="1">
            <a:schemeClr val="accent1"/>
          </a:effectRef>
          <a:fontRef idx="minor">
            <a:schemeClr val="tx1"/>
          </a:fontRef>
        </p:style>
      </p:cxnSp>
      <p:sp>
        <p:nvSpPr>
          <p:cNvPr id="16" name="正方形/長方形 15">
            <a:extLst>
              <a:ext uri="{FF2B5EF4-FFF2-40B4-BE49-F238E27FC236}">
                <a16:creationId xmlns:a16="http://schemas.microsoft.com/office/drawing/2014/main" id="{308053E0-4FA6-489F-C959-A66295674083}"/>
              </a:ext>
            </a:extLst>
          </p:cNvPr>
          <p:cNvSpPr/>
          <p:nvPr/>
        </p:nvSpPr>
        <p:spPr>
          <a:xfrm>
            <a:off x="787161" y="4041713"/>
            <a:ext cx="294636" cy="285233"/>
          </a:xfrm>
          <a:prstGeom prst="rect">
            <a:avLst/>
          </a:prstGeom>
          <a:noFill/>
          <a:ln w="28575">
            <a:solidFill>
              <a:srgbClr val="0072BC"/>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dirty="0">
              <a:ln>
                <a:noFill/>
              </a:ln>
              <a:solidFill>
                <a:srgbClr val="000000"/>
              </a:solidFill>
              <a:effectLst/>
              <a:uLnTx/>
              <a:uFillTx/>
              <a:latin typeface="Arial"/>
              <a:ea typeface="Meiryo UI"/>
              <a:cs typeface="+mn-cs"/>
            </a:endParaRPr>
          </a:p>
        </p:txBody>
      </p:sp>
    </p:spTree>
    <p:extLst>
      <p:ext uri="{BB962C8B-B14F-4D97-AF65-F5344CB8AC3E}">
        <p14:creationId xmlns:p14="http://schemas.microsoft.com/office/powerpoint/2010/main" val="1876255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B55CB6-A689-89B8-FD95-E817C6680F6C}"/>
              </a:ext>
            </a:extLst>
          </p:cNvPr>
          <p:cNvSpPr>
            <a:spLocks noGrp="1"/>
          </p:cNvSpPr>
          <p:nvPr>
            <p:ph type="title"/>
          </p:nvPr>
        </p:nvSpPr>
        <p:spPr/>
        <p:txBody>
          <a:bodyPr/>
          <a:lstStyle/>
          <a:p>
            <a:r>
              <a:rPr lang="ja-JP" altLang="en-US" sz="2400">
                <a:solidFill>
                  <a:schemeClr val="accent2"/>
                </a:solidFill>
                <a:latin typeface="Meiryo UI" panose="020B0604030504040204" pitchFamily="50" charset="-128"/>
                <a:ea typeface="Meiryo UI" panose="020B0604030504040204" pitchFamily="50" charset="-128"/>
              </a:rPr>
              <a:t>事例①：自動車メーカー　</a:t>
            </a:r>
            <a:r>
              <a:rPr lang="en-US" altLang="ja-JP" sz="2400">
                <a:solidFill>
                  <a:schemeClr val="accent2"/>
                </a:solidFill>
                <a:latin typeface="Meiryo UI" panose="020B0604030504040204" pitchFamily="50" charset="-128"/>
                <a:ea typeface="Meiryo UI" panose="020B0604030504040204" pitchFamily="50" charset="-128"/>
              </a:rPr>
              <a:t>KPI</a:t>
            </a:r>
            <a:r>
              <a:rPr lang="ja-JP" altLang="en-US" sz="2400">
                <a:solidFill>
                  <a:schemeClr val="accent2"/>
                </a:solidFill>
                <a:latin typeface="Meiryo UI" panose="020B0604030504040204" pitchFamily="50" charset="-128"/>
                <a:ea typeface="Meiryo UI" panose="020B0604030504040204" pitchFamily="50" charset="-128"/>
              </a:rPr>
              <a:t>ダッシュボード化と事業適正化</a:t>
            </a:r>
          </a:p>
        </p:txBody>
      </p:sp>
      <p:sp>
        <p:nvSpPr>
          <p:cNvPr id="15" name="正方形/長方形 176">
            <a:extLst>
              <a:ext uri="{FF2B5EF4-FFF2-40B4-BE49-F238E27FC236}">
                <a16:creationId xmlns:a16="http://schemas.microsoft.com/office/drawing/2014/main" id="{EEF72A57-3022-BB96-1EB5-654250E69281}"/>
              </a:ext>
            </a:extLst>
          </p:cNvPr>
          <p:cNvSpPr/>
          <p:nvPr/>
        </p:nvSpPr>
        <p:spPr>
          <a:xfrm>
            <a:off x="132968" y="4985847"/>
            <a:ext cx="11886207" cy="1525015"/>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1" i="0" u="sng" strike="noStrike" kern="1200" cap="none" spc="0" normalizeH="0" baseline="0" noProof="0">
                <a:ln>
                  <a:noFill/>
                </a:ln>
                <a:solidFill>
                  <a:srgbClr val="000000"/>
                </a:solidFill>
                <a:effectLst/>
                <a:uLnTx/>
                <a:uFillTx/>
                <a:latin typeface="Arial"/>
                <a:ea typeface="Meiryo UI"/>
                <a:cs typeface="+mn-cs"/>
              </a:rPr>
              <a:t>KPI</a:t>
            </a:r>
            <a:r>
              <a:rPr kumimoji="1" lang="ja-JP" altLang="en-US" sz="1600" b="1" i="0" u="sng" strike="noStrike" kern="1200" cap="none" spc="0" normalizeH="0" baseline="0" noProof="0">
                <a:ln>
                  <a:noFill/>
                </a:ln>
                <a:solidFill>
                  <a:srgbClr val="000000"/>
                </a:solidFill>
                <a:effectLst/>
                <a:uLnTx/>
                <a:uFillTx/>
                <a:latin typeface="Arial"/>
                <a:ea typeface="Meiryo UI"/>
                <a:cs typeface="+mn-cs"/>
              </a:rPr>
              <a:t>例</a:t>
            </a:r>
          </a:p>
        </p:txBody>
      </p:sp>
      <p:sp>
        <p:nvSpPr>
          <p:cNvPr id="512" name="Rectangle 4">
            <a:extLst>
              <a:ext uri="{FF2B5EF4-FFF2-40B4-BE49-F238E27FC236}">
                <a16:creationId xmlns:a16="http://schemas.microsoft.com/office/drawing/2014/main" id="{6687F482-1096-43DD-902F-012CC12A5CFD}"/>
              </a:ext>
            </a:extLst>
          </p:cNvPr>
          <p:cNvSpPr/>
          <p:nvPr/>
        </p:nvSpPr>
        <p:spPr>
          <a:xfrm>
            <a:off x="3295637" y="5246000"/>
            <a:ext cx="3456384" cy="129568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a:ln>
                <a:noFill/>
              </a:ln>
              <a:solidFill>
                <a:srgbClr val="000000"/>
              </a:solidFill>
              <a:effectLst/>
              <a:uLnTx/>
              <a:uFillTx/>
              <a:latin typeface="Arial"/>
              <a:ea typeface="Meiryo UI"/>
              <a:cs typeface="+mn-cs"/>
            </a:endParaRPr>
          </a:p>
          <a:p>
            <a:pPr marL="230188"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1" i="0" u="none" strike="noStrike" kern="1200" cap="none" spc="0" normalizeH="0" baseline="0" noProof="0">
                <a:ln>
                  <a:noFill/>
                </a:ln>
                <a:solidFill>
                  <a:srgbClr val="C00000"/>
                </a:solidFill>
                <a:effectLst/>
                <a:uLnTx/>
                <a:uFillTx/>
                <a:latin typeface="Arial"/>
                <a:ea typeface="Meiryo UI"/>
                <a:cs typeface="+mn-cs"/>
              </a:rPr>
              <a:t>マーケット別売れ筋</a:t>
            </a:r>
            <a:r>
              <a:rPr kumimoji="1" lang="ja-JP" altLang="en-US" sz="1200" b="0" i="0" u="none" strike="noStrike" kern="1200" cap="none" spc="0" normalizeH="0" baseline="0" noProof="0">
                <a:ln>
                  <a:noFill/>
                </a:ln>
                <a:solidFill>
                  <a:srgbClr val="000000"/>
                </a:solidFill>
                <a:effectLst/>
                <a:uLnTx/>
                <a:uFillTx/>
                <a:latin typeface="Arial"/>
                <a:ea typeface="Meiryo UI"/>
                <a:cs typeface="+mn-cs"/>
              </a:rPr>
              <a:t>（車両</a:t>
            </a:r>
            <a:r>
              <a:rPr kumimoji="1" lang="en-US" altLang="ja-JP" sz="1200" b="0" i="0" u="none" strike="noStrike" kern="1200" cap="none" spc="0" normalizeH="0" baseline="0" noProof="0">
                <a:ln>
                  <a:noFill/>
                </a:ln>
                <a:solidFill>
                  <a:srgbClr val="000000"/>
                </a:solidFill>
                <a:effectLst/>
                <a:uLnTx/>
                <a:uFillTx/>
                <a:latin typeface="Arial"/>
                <a:ea typeface="Meiryo UI"/>
                <a:cs typeface="+mn-cs"/>
              </a:rPr>
              <a:t>/</a:t>
            </a:r>
            <a:r>
              <a:rPr kumimoji="1" lang="ja-JP" altLang="en-US" sz="1200" b="0" i="0" u="none" strike="noStrike" kern="1200" cap="none" spc="0" normalizeH="0" baseline="0" noProof="0">
                <a:ln>
                  <a:noFill/>
                </a:ln>
                <a:solidFill>
                  <a:srgbClr val="000000"/>
                </a:solidFill>
                <a:effectLst/>
                <a:uLnTx/>
                <a:uFillTx/>
                <a:latin typeface="Arial"/>
                <a:ea typeface="Meiryo UI"/>
                <a:cs typeface="+mn-cs"/>
              </a:rPr>
              <a:t>オプション</a:t>
            </a:r>
            <a:r>
              <a:rPr kumimoji="1" lang="en-US" altLang="ja-JP" sz="1200" b="0" i="0" u="none" strike="noStrike" kern="1200" cap="none" spc="0" normalizeH="0" baseline="0" noProof="0">
                <a:ln>
                  <a:noFill/>
                </a:ln>
                <a:solidFill>
                  <a:srgbClr val="000000"/>
                </a:solidFill>
                <a:effectLst/>
                <a:uLnTx/>
                <a:uFillTx/>
                <a:latin typeface="Arial"/>
                <a:ea typeface="Meiryo UI"/>
                <a:cs typeface="+mn-cs"/>
              </a:rPr>
              <a:t>/</a:t>
            </a:r>
            <a:r>
              <a:rPr kumimoji="1" lang="ja-JP" altLang="en-US" sz="1200" b="0" i="0" u="none" strike="noStrike" kern="1200" cap="none" spc="0" normalizeH="0" baseline="0" noProof="0">
                <a:ln>
                  <a:noFill/>
                </a:ln>
                <a:solidFill>
                  <a:srgbClr val="000000"/>
                </a:solidFill>
                <a:effectLst/>
                <a:uLnTx/>
                <a:uFillTx/>
                <a:latin typeface="Arial"/>
                <a:ea typeface="Meiryo UI"/>
                <a:cs typeface="+mn-cs"/>
              </a:rPr>
              <a:t>アクセサリー）</a:t>
            </a:r>
            <a:endParaRPr kumimoji="1" lang="en-US" altLang="ja-JP" sz="1200" b="0" i="0" u="none" strike="noStrike" kern="1200" cap="none" spc="0" normalizeH="0" baseline="0" noProof="0">
              <a:ln>
                <a:noFill/>
              </a:ln>
              <a:solidFill>
                <a:srgbClr val="000000"/>
              </a:solidFill>
              <a:effectLst/>
              <a:uLnTx/>
              <a:uFillTx/>
              <a:latin typeface="Arial"/>
              <a:ea typeface="Meiryo UI"/>
              <a:cs typeface="+mn-cs"/>
            </a:endParaRPr>
          </a:p>
          <a:p>
            <a:pPr marL="230188"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車両別日次出荷量</a:t>
            </a:r>
            <a:endParaRPr kumimoji="1" lang="en-US" altLang="ja-JP" sz="1200" b="0" i="0" u="none" strike="noStrike" kern="1200" cap="none" spc="0" normalizeH="0" baseline="0" noProof="0">
              <a:ln>
                <a:noFill/>
              </a:ln>
              <a:solidFill>
                <a:srgbClr val="000000"/>
              </a:solidFill>
              <a:effectLst/>
              <a:uLnTx/>
              <a:uFillTx/>
              <a:latin typeface="Arial"/>
              <a:ea typeface="Meiryo UI"/>
              <a:cs typeface="+mn-cs"/>
            </a:endParaRPr>
          </a:p>
          <a:p>
            <a:pPr marL="230188"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部品別日次出荷量</a:t>
            </a:r>
            <a:endParaRPr kumimoji="1" lang="en-US" altLang="ja-JP" sz="1200" b="0" i="0" u="none" strike="noStrike" kern="1200" cap="none" spc="0" normalizeH="0" baseline="0" noProof="0">
              <a:ln>
                <a:noFill/>
              </a:ln>
              <a:solidFill>
                <a:srgbClr val="000000"/>
              </a:solidFill>
              <a:effectLst/>
              <a:uLnTx/>
              <a:uFillTx/>
              <a:latin typeface="Arial"/>
              <a:ea typeface="Meiryo UI"/>
              <a:cs typeface="+mn-cs"/>
            </a:endParaRPr>
          </a:p>
          <a:p>
            <a:pPr marL="230188"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販社への供給状況（車両</a:t>
            </a:r>
            <a:r>
              <a:rPr kumimoji="1" lang="en-US" altLang="ja-JP" sz="1200" b="0" i="0" u="none" strike="noStrike" kern="1200" cap="none" spc="0" normalizeH="0" baseline="0" noProof="0">
                <a:ln>
                  <a:noFill/>
                </a:ln>
                <a:solidFill>
                  <a:srgbClr val="000000"/>
                </a:solidFill>
                <a:effectLst/>
                <a:uLnTx/>
                <a:uFillTx/>
                <a:latin typeface="Arial"/>
                <a:ea typeface="Meiryo UI"/>
                <a:cs typeface="+mn-cs"/>
              </a:rPr>
              <a:t>/</a:t>
            </a:r>
            <a:r>
              <a:rPr kumimoji="1" lang="ja-JP" altLang="en-US" sz="1200" b="0" i="0" u="none" strike="noStrike" kern="1200" cap="none" spc="0" normalizeH="0" baseline="0" noProof="0">
                <a:ln>
                  <a:noFill/>
                </a:ln>
                <a:solidFill>
                  <a:srgbClr val="000000"/>
                </a:solidFill>
                <a:effectLst/>
                <a:uLnTx/>
                <a:uFillTx/>
                <a:latin typeface="Arial"/>
                <a:ea typeface="Meiryo UI"/>
                <a:cs typeface="+mn-cs"/>
              </a:rPr>
              <a:t>部品）</a:t>
            </a:r>
            <a:endParaRPr kumimoji="1" lang="en-US" altLang="ja-JP" sz="1200" b="0" i="0" u="none" strike="noStrike" kern="1200" cap="none" spc="0" normalizeH="0" baseline="0" noProof="0">
              <a:ln>
                <a:noFill/>
              </a:ln>
              <a:solidFill>
                <a:srgbClr val="000000"/>
              </a:solidFill>
              <a:effectLst/>
              <a:uLnTx/>
              <a:uFillTx/>
              <a:latin typeface="Arial"/>
              <a:ea typeface="Meiryo UI"/>
              <a:cs typeface="+mn-cs"/>
            </a:endParaRPr>
          </a:p>
          <a:p>
            <a:pPr marL="230188"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1" i="0" u="none" strike="noStrike" kern="1200" cap="none" spc="0" normalizeH="0" baseline="0" noProof="0">
                <a:ln>
                  <a:noFill/>
                </a:ln>
                <a:solidFill>
                  <a:srgbClr val="C00000"/>
                </a:solidFill>
                <a:effectLst/>
                <a:uLnTx/>
                <a:uFillTx/>
                <a:latin typeface="Arial"/>
                <a:ea typeface="Meiryo UI"/>
                <a:cs typeface="+mn-cs"/>
              </a:rPr>
              <a:t>在庫エイジング</a:t>
            </a:r>
            <a:r>
              <a:rPr kumimoji="1" lang="ja-JP" altLang="en-US" sz="1200" b="0" i="0" u="none" strike="noStrike" kern="1200" cap="none" spc="0" normalizeH="0" baseline="0" noProof="0">
                <a:ln>
                  <a:noFill/>
                </a:ln>
                <a:solidFill>
                  <a:srgbClr val="000000"/>
                </a:solidFill>
                <a:effectLst/>
                <a:uLnTx/>
                <a:uFillTx/>
                <a:latin typeface="Arial"/>
                <a:ea typeface="Meiryo UI"/>
                <a:cs typeface="+mn-cs"/>
              </a:rPr>
              <a:t>（車両</a:t>
            </a:r>
            <a:r>
              <a:rPr kumimoji="1" lang="en-US" altLang="ja-JP" sz="1200" b="0" i="0" u="none" strike="noStrike" kern="1200" cap="none" spc="0" normalizeH="0" baseline="0" noProof="0">
                <a:ln>
                  <a:noFill/>
                </a:ln>
                <a:solidFill>
                  <a:srgbClr val="000000"/>
                </a:solidFill>
                <a:effectLst/>
                <a:uLnTx/>
                <a:uFillTx/>
                <a:latin typeface="Arial"/>
                <a:ea typeface="Meiryo UI"/>
                <a:cs typeface="+mn-cs"/>
              </a:rPr>
              <a:t>/</a:t>
            </a:r>
            <a:r>
              <a:rPr kumimoji="1" lang="ja-JP" altLang="en-US" sz="1200" b="0" i="0" u="none" strike="noStrike" kern="1200" cap="none" spc="0" normalizeH="0" baseline="0" noProof="0">
                <a:ln>
                  <a:noFill/>
                </a:ln>
                <a:solidFill>
                  <a:srgbClr val="000000"/>
                </a:solidFill>
                <a:effectLst/>
                <a:uLnTx/>
                <a:uFillTx/>
                <a:latin typeface="Arial"/>
                <a:ea typeface="Meiryo UI"/>
                <a:cs typeface="+mn-cs"/>
              </a:rPr>
              <a:t>部品）</a:t>
            </a:r>
            <a:endParaRPr kumimoji="1" lang="en-US" altLang="ja-JP" sz="1200" b="0" i="0" u="none" strike="noStrike" kern="1200" cap="none" spc="0" normalizeH="0" baseline="0" noProof="0">
              <a:ln>
                <a:noFill/>
              </a:ln>
              <a:solidFill>
                <a:srgbClr val="000000"/>
              </a:solidFill>
              <a:effectLst/>
              <a:uLnTx/>
              <a:uFillTx/>
              <a:latin typeface="Arial"/>
              <a:ea typeface="Meiryo UI"/>
              <a:cs typeface="+mn-cs"/>
            </a:endParaRPr>
          </a:p>
          <a:p>
            <a:pPr marL="230188"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513" name="Rectangle 5">
            <a:extLst>
              <a:ext uri="{FF2B5EF4-FFF2-40B4-BE49-F238E27FC236}">
                <a16:creationId xmlns:a16="http://schemas.microsoft.com/office/drawing/2014/main" id="{66BF934E-87DE-F623-0B48-AD1C822672FD}"/>
              </a:ext>
            </a:extLst>
          </p:cNvPr>
          <p:cNvSpPr/>
          <p:nvPr/>
        </p:nvSpPr>
        <p:spPr>
          <a:xfrm>
            <a:off x="9092337" y="5256811"/>
            <a:ext cx="2926838" cy="1336677"/>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dirty="0">
              <a:ln>
                <a:noFill/>
              </a:ln>
              <a:solidFill>
                <a:srgbClr val="000000"/>
              </a:solidFill>
              <a:effectLst/>
              <a:uLnTx/>
              <a:uFillTx/>
              <a:latin typeface="Arial"/>
              <a:ea typeface="Meiryo UI"/>
              <a:cs typeface="+mn-cs"/>
            </a:endParaRPr>
          </a:p>
          <a:p>
            <a:pPr marL="230188"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1" i="0" u="none" strike="noStrike" kern="1200" cap="none" spc="0" normalizeH="0" baseline="0" noProof="0" dirty="0">
                <a:ln>
                  <a:noFill/>
                </a:ln>
                <a:solidFill>
                  <a:srgbClr val="C00000"/>
                </a:solidFill>
                <a:effectLst/>
                <a:uLnTx/>
                <a:uFillTx/>
                <a:latin typeface="Arial"/>
                <a:ea typeface="Meiryo UI"/>
                <a:cs typeface="+mn-cs"/>
              </a:rPr>
              <a:t>各営業担当者のターンオーバーレシオ</a:t>
            </a:r>
            <a:endParaRPr kumimoji="1" lang="en-US" altLang="ja-JP" sz="1200" b="1" i="0" u="none" strike="noStrike" kern="1200" cap="none" spc="0" normalizeH="0" baseline="0" noProof="0" dirty="0">
              <a:ln>
                <a:noFill/>
              </a:ln>
              <a:solidFill>
                <a:srgbClr val="C00000"/>
              </a:solidFill>
              <a:effectLst/>
              <a:uLnTx/>
              <a:uFillTx/>
              <a:latin typeface="Arial"/>
              <a:ea typeface="Meiryo UI"/>
              <a:cs typeface="+mn-cs"/>
            </a:endParaRPr>
          </a:p>
          <a:p>
            <a:pPr marL="230188"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コンタクトから</a:t>
            </a:r>
            <a:r>
              <a:rPr kumimoji="1" lang="en-US" altLang="ja-JP" sz="1200" b="0" i="0" u="none" strike="noStrike" kern="1200" cap="none" spc="0" normalizeH="0" baseline="0" noProof="0" dirty="0">
                <a:ln>
                  <a:noFill/>
                </a:ln>
                <a:solidFill>
                  <a:srgbClr val="000000"/>
                </a:solidFill>
                <a:effectLst/>
                <a:uLnTx/>
                <a:uFillTx/>
                <a:latin typeface="Arial"/>
                <a:ea typeface="Meiryo UI"/>
                <a:cs typeface="+mn-cs"/>
              </a:rPr>
              <a:t>48</a:t>
            </a: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時間以内の問題解決比率</a:t>
            </a:r>
            <a:endParaRPr kumimoji="1" lang="en-US" altLang="ja-JP" sz="1200" b="0" i="0" u="none" strike="noStrike" kern="1200" cap="none" spc="0" normalizeH="0" baseline="0" noProof="0" dirty="0">
              <a:ln>
                <a:noFill/>
              </a:ln>
              <a:solidFill>
                <a:srgbClr val="000000"/>
              </a:solidFill>
              <a:effectLst/>
              <a:uLnTx/>
              <a:uFillTx/>
              <a:latin typeface="Arial"/>
              <a:ea typeface="Meiryo UI"/>
              <a:cs typeface="+mn-cs"/>
            </a:endParaRPr>
          </a:p>
          <a:p>
            <a:pPr marL="230188"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1" i="0" u="none" strike="noStrike" kern="1200" cap="none" spc="0" normalizeH="0" baseline="0" noProof="0" dirty="0">
                <a:ln>
                  <a:noFill/>
                </a:ln>
                <a:solidFill>
                  <a:srgbClr val="C00000"/>
                </a:solidFill>
                <a:effectLst/>
                <a:uLnTx/>
                <a:uFillTx/>
                <a:latin typeface="Arial"/>
                <a:ea typeface="Meiryo UI"/>
                <a:cs typeface="+mn-cs"/>
              </a:rPr>
              <a:t>販売目標</a:t>
            </a:r>
            <a:r>
              <a:rPr kumimoji="1" lang="en-US" altLang="ja-JP" sz="1200" b="1" i="0" u="none" strike="noStrike" kern="1200" cap="none" spc="0" normalizeH="0" baseline="0" noProof="0" dirty="0">
                <a:ln>
                  <a:noFill/>
                </a:ln>
                <a:solidFill>
                  <a:srgbClr val="C00000"/>
                </a:solidFill>
                <a:effectLst/>
                <a:uLnTx/>
                <a:uFillTx/>
                <a:latin typeface="Arial"/>
                <a:ea typeface="Meiryo UI"/>
                <a:cs typeface="+mn-cs"/>
              </a:rPr>
              <a:t>100%</a:t>
            </a:r>
            <a:r>
              <a:rPr kumimoji="1" lang="ja-JP" altLang="en-US" sz="1200" b="1" i="0" u="none" strike="noStrike" kern="1200" cap="none" spc="0" normalizeH="0" baseline="0" noProof="0" dirty="0">
                <a:ln>
                  <a:noFill/>
                </a:ln>
                <a:solidFill>
                  <a:srgbClr val="C00000"/>
                </a:solidFill>
                <a:effectLst/>
                <a:uLnTx/>
                <a:uFillTx/>
                <a:latin typeface="Arial"/>
                <a:ea typeface="Meiryo UI"/>
                <a:cs typeface="+mn-cs"/>
              </a:rPr>
              <a:t>以上達成状況</a:t>
            </a:r>
            <a:endParaRPr kumimoji="1" lang="en-US" altLang="ja-JP" sz="1200" b="1" i="0" u="none" strike="noStrike" kern="1200" cap="none" spc="0" normalizeH="0" baseline="0" noProof="0" dirty="0">
              <a:ln>
                <a:noFill/>
              </a:ln>
              <a:solidFill>
                <a:srgbClr val="C00000"/>
              </a:solidFill>
              <a:effectLst/>
              <a:uLnTx/>
              <a:uFillTx/>
              <a:latin typeface="Arial"/>
              <a:ea typeface="Meiryo UI"/>
              <a:cs typeface="+mn-cs"/>
            </a:endParaRPr>
          </a:p>
          <a:p>
            <a:pPr marL="230188"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1" i="0" u="none" strike="noStrike" kern="1200" cap="none" spc="0" normalizeH="0" baseline="0" noProof="0" dirty="0">
                <a:ln>
                  <a:noFill/>
                </a:ln>
                <a:solidFill>
                  <a:srgbClr val="C00000"/>
                </a:solidFill>
                <a:effectLst/>
                <a:uLnTx/>
                <a:uFillTx/>
                <a:latin typeface="Arial"/>
                <a:ea typeface="Meiryo UI"/>
                <a:cs typeface="+mn-cs"/>
              </a:rPr>
              <a:t>本社からの支援金・補助金配分状況</a:t>
            </a:r>
            <a:endParaRPr kumimoji="1" lang="en-US" sz="1200" b="1" i="0" u="none" strike="noStrike" kern="1200" cap="none" spc="0" normalizeH="0" baseline="0" noProof="0" dirty="0">
              <a:ln>
                <a:noFill/>
              </a:ln>
              <a:solidFill>
                <a:srgbClr val="C00000"/>
              </a:solidFill>
              <a:effectLst/>
              <a:uLnTx/>
              <a:uFillTx/>
              <a:latin typeface="Arial"/>
              <a:ea typeface="Meiryo UI"/>
              <a:cs typeface="+mn-cs"/>
            </a:endParaRPr>
          </a:p>
        </p:txBody>
      </p:sp>
      <p:sp>
        <p:nvSpPr>
          <p:cNvPr id="514" name="Rectangle 5">
            <a:extLst>
              <a:ext uri="{FF2B5EF4-FFF2-40B4-BE49-F238E27FC236}">
                <a16:creationId xmlns:a16="http://schemas.microsoft.com/office/drawing/2014/main" id="{37EA61F5-3863-2FBF-FA91-01820FE50B05}"/>
              </a:ext>
            </a:extLst>
          </p:cNvPr>
          <p:cNvSpPr/>
          <p:nvPr/>
        </p:nvSpPr>
        <p:spPr>
          <a:xfrm>
            <a:off x="6575011" y="5271829"/>
            <a:ext cx="3178298" cy="1336677"/>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Arial"/>
                <a:ea typeface="Meiryo UI"/>
                <a:cs typeface="+mn-cs"/>
              </a:rPr>
              <a:t>【</a:t>
            </a: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オペレーション系</a:t>
            </a:r>
            <a:r>
              <a:rPr kumimoji="1" lang="en-US" altLang="ja-JP" sz="1400" b="0" i="0" u="none" strike="noStrike" kern="1200" cap="none" spc="0" normalizeH="0" baseline="0" noProof="0" dirty="0">
                <a:ln>
                  <a:noFill/>
                </a:ln>
                <a:solidFill>
                  <a:srgbClr val="000000"/>
                </a:solidFill>
                <a:effectLst/>
                <a:uLnTx/>
                <a:uFillTx/>
                <a:latin typeface="Arial"/>
                <a:ea typeface="Meiryo UI"/>
                <a:cs typeface="+mn-cs"/>
              </a:rPr>
              <a:t>】</a:t>
            </a:r>
          </a:p>
          <a:p>
            <a:pPr marL="230188"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1" i="0" u="none" strike="noStrike" kern="1200" cap="none" spc="0" normalizeH="0" baseline="0" noProof="0" dirty="0">
                <a:ln>
                  <a:noFill/>
                </a:ln>
                <a:solidFill>
                  <a:srgbClr val="C00000"/>
                </a:solidFill>
                <a:effectLst/>
                <a:uLnTx/>
                <a:uFillTx/>
                <a:latin typeface="Arial"/>
                <a:ea typeface="Meiryo UI"/>
                <a:cs typeface="+mn-cs"/>
              </a:rPr>
              <a:t>顧客満足度</a:t>
            </a: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（車両</a:t>
            </a:r>
            <a:r>
              <a:rPr kumimoji="1" lang="en-US" altLang="ja-JP" sz="1200" b="0" i="0" u="none" strike="noStrike" kern="1200" cap="none" spc="0" normalizeH="0" baseline="0" noProof="0" dirty="0">
                <a:ln>
                  <a:noFill/>
                </a:ln>
                <a:solidFill>
                  <a:srgbClr val="000000"/>
                </a:solidFill>
                <a:effectLst/>
                <a:uLnTx/>
                <a:uFillTx/>
                <a:latin typeface="Arial"/>
                <a:ea typeface="Meiryo UI"/>
                <a:cs typeface="+mn-cs"/>
              </a:rPr>
              <a:t>/</a:t>
            </a: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サービス）</a:t>
            </a:r>
            <a:endParaRPr kumimoji="1" lang="en-US" altLang="ja-JP" sz="1200" b="0" i="0" u="none" strike="noStrike" kern="1200" cap="none" spc="0" normalizeH="0" baseline="0" noProof="0" dirty="0">
              <a:ln>
                <a:noFill/>
              </a:ln>
              <a:solidFill>
                <a:srgbClr val="000000"/>
              </a:solidFill>
              <a:effectLst/>
              <a:uLnTx/>
              <a:uFillTx/>
              <a:latin typeface="Arial"/>
              <a:ea typeface="Meiryo UI"/>
              <a:cs typeface="+mn-cs"/>
            </a:endParaRPr>
          </a:p>
          <a:p>
            <a:pPr marL="230188"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運用プロセス定義・定着度</a:t>
            </a:r>
            <a:endParaRPr kumimoji="1" lang="en-US" altLang="ja-JP" sz="1200" b="0" i="0" u="none" strike="noStrike" kern="1200" cap="none" spc="0" normalizeH="0" baseline="0" noProof="0" dirty="0">
              <a:ln>
                <a:noFill/>
              </a:ln>
              <a:solidFill>
                <a:srgbClr val="000000"/>
              </a:solidFill>
              <a:effectLst/>
              <a:uLnTx/>
              <a:uFillTx/>
              <a:latin typeface="Arial"/>
              <a:ea typeface="Meiryo UI"/>
              <a:cs typeface="+mn-cs"/>
            </a:endParaRPr>
          </a:p>
          <a:p>
            <a:pPr marL="230188"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オペレーション監査実施結果</a:t>
            </a:r>
            <a:endParaRPr kumimoji="1" lang="en-US" altLang="ja-JP" sz="1200" b="0" i="0" u="none" strike="noStrike" kern="1200" cap="none" spc="0" normalizeH="0" baseline="0" noProof="0" dirty="0">
              <a:ln>
                <a:noFill/>
              </a:ln>
              <a:solidFill>
                <a:srgbClr val="000000"/>
              </a:solidFill>
              <a:effectLst/>
              <a:uLnTx/>
              <a:uFillTx/>
              <a:latin typeface="Arial"/>
              <a:ea typeface="Meiryo UI"/>
              <a:cs typeface="+mn-cs"/>
            </a:endParaRPr>
          </a:p>
          <a:p>
            <a:pPr marL="230188"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各サービス拠点の従業員教育状況</a:t>
            </a:r>
            <a:endParaRPr kumimoji="1" lang="en-US" altLang="ja-JP" sz="1200" b="0" i="0" u="none" strike="noStrike" kern="1200" cap="none" spc="0" normalizeH="0" baseline="0" noProof="0" dirty="0">
              <a:ln>
                <a:noFill/>
              </a:ln>
              <a:solidFill>
                <a:srgbClr val="000000"/>
              </a:solidFill>
              <a:effectLst/>
              <a:uLnTx/>
              <a:uFillTx/>
              <a:latin typeface="Arial"/>
              <a:ea typeface="Meiryo UI"/>
              <a:cs typeface="+mn-cs"/>
            </a:endParaRPr>
          </a:p>
          <a:p>
            <a:pPr marL="230188"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拠点別社内サービス認定獲得者状況</a:t>
            </a:r>
            <a:endParaRPr kumimoji="1" lang="en-US" sz="1200" b="1" i="0" u="none" strike="noStrike" kern="1200" cap="none" spc="0" normalizeH="0" baseline="0" noProof="0" dirty="0">
              <a:ln>
                <a:noFill/>
              </a:ln>
              <a:solidFill>
                <a:srgbClr val="C00000"/>
              </a:solidFill>
              <a:effectLst/>
              <a:uLnTx/>
              <a:uFillTx/>
              <a:latin typeface="Arial"/>
              <a:ea typeface="Meiryo UI"/>
              <a:cs typeface="+mn-cs"/>
            </a:endParaRPr>
          </a:p>
        </p:txBody>
      </p:sp>
      <p:sp>
        <p:nvSpPr>
          <p:cNvPr id="515" name="Rectangle 4">
            <a:extLst>
              <a:ext uri="{FF2B5EF4-FFF2-40B4-BE49-F238E27FC236}">
                <a16:creationId xmlns:a16="http://schemas.microsoft.com/office/drawing/2014/main" id="{CA0595F1-BC19-859E-FBEC-469D5450BD04}"/>
              </a:ext>
            </a:extLst>
          </p:cNvPr>
          <p:cNvSpPr/>
          <p:nvPr/>
        </p:nvSpPr>
        <p:spPr>
          <a:xfrm>
            <a:off x="234044" y="5251303"/>
            <a:ext cx="3178298" cy="129568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a:ea typeface="Meiryo UI"/>
                <a:cs typeface="+mn-cs"/>
              </a:rPr>
              <a:t>【</a:t>
            </a:r>
            <a:r>
              <a:rPr kumimoji="1" lang="ja-JP" altLang="en-US" sz="1400" b="0" i="0" u="none" strike="noStrike" kern="1200" cap="none" spc="0" normalizeH="0" baseline="0" noProof="0">
                <a:ln>
                  <a:noFill/>
                </a:ln>
                <a:solidFill>
                  <a:srgbClr val="000000"/>
                </a:solidFill>
                <a:effectLst/>
                <a:uLnTx/>
                <a:uFillTx/>
                <a:latin typeface="Arial"/>
                <a:ea typeface="Meiryo UI"/>
                <a:cs typeface="+mn-cs"/>
              </a:rPr>
              <a:t>販売系</a:t>
            </a:r>
            <a:r>
              <a:rPr kumimoji="1" lang="en-US" altLang="ja-JP" sz="1400" b="0" i="0" u="none" strike="noStrike" kern="1200" cap="none" spc="0" normalizeH="0" baseline="0" noProof="0">
                <a:ln>
                  <a:noFill/>
                </a:ln>
                <a:solidFill>
                  <a:srgbClr val="000000"/>
                </a:solidFill>
                <a:effectLst/>
                <a:uLnTx/>
                <a:uFillTx/>
                <a:latin typeface="Arial"/>
                <a:ea typeface="Meiryo UI"/>
                <a:cs typeface="+mn-cs"/>
              </a:rPr>
              <a:t>】</a:t>
            </a:r>
          </a:p>
          <a:p>
            <a:pPr marL="230188"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競合を含むマーケット全体の売上規模</a:t>
            </a:r>
            <a:endParaRPr kumimoji="1" lang="en-US" altLang="ja-JP" sz="1200" b="0" i="0" u="none" strike="noStrike" kern="1200" cap="none" spc="0" normalizeH="0" baseline="0" noProof="0">
              <a:ln>
                <a:noFill/>
              </a:ln>
              <a:solidFill>
                <a:srgbClr val="000000"/>
              </a:solidFill>
              <a:effectLst/>
              <a:uLnTx/>
              <a:uFillTx/>
              <a:latin typeface="Arial"/>
              <a:ea typeface="Meiryo UI"/>
              <a:cs typeface="+mn-cs"/>
            </a:endParaRPr>
          </a:p>
          <a:p>
            <a:pPr marL="230188"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1" i="0" u="none" strike="noStrike" kern="1200" cap="none" spc="0" normalizeH="0" baseline="0" noProof="0">
                <a:ln>
                  <a:noFill/>
                </a:ln>
                <a:solidFill>
                  <a:srgbClr val="C00000"/>
                </a:solidFill>
                <a:effectLst/>
                <a:uLnTx/>
                <a:uFillTx/>
                <a:latin typeface="Arial"/>
                <a:ea typeface="Meiryo UI"/>
                <a:cs typeface="+mn-cs"/>
              </a:rPr>
              <a:t>地区別・国別利益率の高いセグメントの情報</a:t>
            </a:r>
            <a:endParaRPr kumimoji="1" lang="en-US" altLang="ja-JP" sz="1200" b="1" i="0" u="none" strike="noStrike" kern="1200" cap="none" spc="0" normalizeH="0" baseline="0" noProof="0">
              <a:ln>
                <a:noFill/>
              </a:ln>
              <a:solidFill>
                <a:srgbClr val="C00000"/>
              </a:solidFill>
              <a:effectLst/>
              <a:uLnTx/>
              <a:uFillTx/>
              <a:latin typeface="Arial"/>
              <a:ea typeface="Meiryo UI"/>
              <a:cs typeface="+mn-cs"/>
            </a:endParaRPr>
          </a:p>
          <a:p>
            <a:pPr marL="230188"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マーケットにおける自社の売上規模</a:t>
            </a:r>
            <a:endParaRPr kumimoji="1" lang="en-US" altLang="ja-JP" sz="1200" b="0" i="0" u="none" strike="noStrike" kern="1200" cap="none" spc="0" normalizeH="0" baseline="0" noProof="0">
              <a:ln>
                <a:noFill/>
              </a:ln>
              <a:solidFill>
                <a:srgbClr val="000000"/>
              </a:solidFill>
              <a:effectLst/>
              <a:uLnTx/>
              <a:uFillTx/>
              <a:latin typeface="Arial"/>
              <a:ea typeface="Meiryo UI"/>
              <a:cs typeface="+mn-cs"/>
            </a:endParaRPr>
          </a:p>
          <a:p>
            <a:pPr marL="230188"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1" i="0" u="none" strike="noStrike" kern="1200" cap="none" spc="0" normalizeH="0" baseline="0" noProof="0">
                <a:ln>
                  <a:noFill/>
                </a:ln>
                <a:solidFill>
                  <a:srgbClr val="C00000"/>
                </a:solidFill>
                <a:effectLst/>
                <a:uLnTx/>
                <a:uFillTx/>
                <a:latin typeface="Arial"/>
                <a:ea typeface="Meiryo UI"/>
                <a:cs typeface="+mn-cs"/>
              </a:rPr>
              <a:t>競合各社のマーケットシェア</a:t>
            </a:r>
            <a:endParaRPr kumimoji="1" lang="en-US" altLang="ja-JP" sz="1200" b="1" i="0" u="none" strike="noStrike" kern="1200" cap="none" spc="0" normalizeH="0" baseline="0" noProof="0">
              <a:ln>
                <a:noFill/>
              </a:ln>
              <a:solidFill>
                <a:srgbClr val="C00000"/>
              </a:solidFill>
              <a:effectLst/>
              <a:uLnTx/>
              <a:uFillTx/>
              <a:latin typeface="Arial"/>
              <a:ea typeface="Meiryo UI"/>
              <a:cs typeface="+mn-cs"/>
            </a:endParaRPr>
          </a:p>
          <a:p>
            <a:pPr marL="230188"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競合との差別化ポイント</a:t>
            </a:r>
            <a:endParaRPr kumimoji="1" lang="en-US" sz="1200" b="0" i="0" u="none" strike="noStrike" kern="1200" cap="none" spc="0" normalizeH="0" baseline="0" noProof="0">
              <a:ln>
                <a:noFill/>
              </a:ln>
              <a:solidFill>
                <a:srgbClr val="000000"/>
              </a:solidFill>
              <a:effectLst/>
              <a:uLnTx/>
              <a:uFillTx/>
              <a:latin typeface="Arial"/>
              <a:ea typeface="Meiryo UI"/>
              <a:cs typeface="+mn-cs"/>
            </a:endParaRPr>
          </a:p>
        </p:txBody>
      </p:sp>
      <p:grpSp>
        <p:nvGrpSpPr>
          <p:cNvPr id="516" name="グループ化 6">
            <a:extLst>
              <a:ext uri="{FF2B5EF4-FFF2-40B4-BE49-F238E27FC236}">
                <a16:creationId xmlns:a16="http://schemas.microsoft.com/office/drawing/2014/main" id="{7CCCA662-05C3-CC95-2668-FFF7212B0EFB}"/>
              </a:ext>
            </a:extLst>
          </p:cNvPr>
          <p:cNvGrpSpPr/>
          <p:nvPr/>
        </p:nvGrpSpPr>
        <p:grpSpPr>
          <a:xfrm>
            <a:off x="132967" y="1055092"/>
            <a:ext cx="11886208" cy="1412980"/>
            <a:chOff x="69015" y="895288"/>
            <a:chExt cx="11904512" cy="1412980"/>
          </a:xfrm>
        </p:grpSpPr>
        <p:sp>
          <p:nvSpPr>
            <p:cNvPr id="517" name="正方形/長方形 3">
              <a:extLst>
                <a:ext uri="{FF2B5EF4-FFF2-40B4-BE49-F238E27FC236}">
                  <a16:creationId xmlns:a16="http://schemas.microsoft.com/office/drawing/2014/main" id="{F1A178E7-5C47-C0B2-DBC9-78B98B225593}"/>
                </a:ext>
              </a:extLst>
            </p:cNvPr>
            <p:cNvSpPr/>
            <p:nvPr/>
          </p:nvSpPr>
          <p:spPr>
            <a:xfrm>
              <a:off x="921380" y="907627"/>
              <a:ext cx="11052147" cy="844231"/>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227013"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400" b="0" i="0" u="none" strike="noStrike" kern="1200" cap="none" spc="0" normalizeH="0" baseline="0" noProof="0" dirty="0">
                  <a:ln>
                    <a:noFill/>
                  </a:ln>
                  <a:solidFill>
                    <a:srgbClr val="000000"/>
                  </a:solidFill>
                  <a:effectLst/>
                  <a:uLnTx/>
                  <a:uFillTx/>
                  <a:latin typeface="Arial"/>
                  <a:ea typeface="Meiryo UI"/>
                  <a:cs typeface="+mn-cs"/>
                </a:rPr>
                <a:t>EV/CV</a:t>
              </a: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の台頭により、ビジネスの主軸が新車販売からサービスに移行していくことを見据え、事業の在り方を根底から強化する必要があった。</a:t>
              </a:r>
              <a:endParaRPr kumimoji="1" lang="en-US" altLang="ja-JP" sz="1400" b="0" i="0" u="none" strike="noStrike" kern="1200" cap="none" spc="0" normalizeH="0" baseline="0" noProof="0" dirty="0">
                <a:ln>
                  <a:noFill/>
                </a:ln>
                <a:solidFill>
                  <a:srgbClr val="000000"/>
                </a:solidFill>
                <a:effectLst/>
                <a:uLnTx/>
                <a:uFillTx/>
                <a:latin typeface="Arial"/>
                <a:ea typeface="Meiryo UI"/>
                <a:cs typeface="+mn-cs"/>
              </a:endParaRPr>
            </a:p>
            <a:p>
              <a:pPr marL="227013"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それぞれの組織・機能が各領域に特化した事業運営をしてきたことから脱却し、組織横断的な顧客・販売・サービスデータの活用が求められるようになった。</a:t>
              </a:r>
              <a:endParaRPr kumimoji="1" lang="en-US" altLang="ja-JP" sz="1400" b="0" i="0" u="none" strike="noStrike" kern="1200" cap="none" spc="0" normalizeH="0" baseline="0" noProof="0" dirty="0">
                <a:ln>
                  <a:noFill/>
                </a:ln>
                <a:solidFill>
                  <a:srgbClr val="000000"/>
                </a:solidFill>
                <a:effectLst/>
                <a:uLnTx/>
                <a:uFillTx/>
                <a:latin typeface="Arial"/>
                <a:ea typeface="Meiryo UI"/>
                <a:cs typeface="+mn-cs"/>
              </a:endParaRPr>
            </a:p>
            <a:p>
              <a:pPr marL="227013"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販社に対するインセンティブや支援費、広告代理店等への販管費を削減し、次世代</a:t>
              </a:r>
              <a:r>
                <a:rPr kumimoji="1" lang="en-US" altLang="ja-JP" sz="1400" b="0" i="0" u="none" strike="noStrike" kern="1200" cap="none" spc="0" normalizeH="0" baseline="0" noProof="0" dirty="0">
                  <a:ln>
                    <a:noFill/>
                  </a:ln>
                  <a:solidFill>
                    <a:srgbClr val="000000"/>
                  </a:solidFill>
                  <a:effectLst/>
                  <a:uLnTx/>
                  <a:uFillTx/>
                  <a:latin typeface="Arial"/>
                  <a:ea typeface="Meiryo UI"/>
                  <a:cs typeface="+mn-cs"/>
                </a:rPr>
                <a:t>EV/CV</a:t>
              </a: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基盤開発のための全社的予算拠出に答える必要があった。</a:t>
              </a:r>
              <a:endParaRPr kumimoji="1" lang="en-US" altLang="ja-JP" sz="1400" b="0" i="0" u="none" strike="noStrike" kern="1200" cap="none" spc="0" normalizeH="0" baseline="0" noProof="0" dirty="0">
                <a:ln>
                  <a:noFill/>
                </a:ln>
                <a:solidFill>
                  <a:srgbClr val="000000"/>
                </a:solidFill>
                <a:effectLst/>
                <a:uLnTx/>
                <a:uFillTx/>
                <a:latin typeface="Arial"/>
                <a:ea typeface="Meiryo UI"/>
                <a:cs typeface="+mn-cs"/>
              </a:endParaRPr>
            </a:p>
          </p:txBody>
        </p:sp>
        <p:sp>
          <p:nvSpPr>
            <p:cNvPr id="518" name="正方形/長方形 2">
              <a:extLst>
                <a:ext uri="{FF2B5EF4-FFF2-40B4-BE49-F238E27FC236}">
                  <a16:creationId xmlns:a16="http://schemas.microsoft.com/office/drawing/2014/main" id="{0236E822-8990-BF60-3BDF-8FD6C30C0A8A}"/>
                </a:ext>
              </a:extLst>
            </p:cNvPr>
            <p:cNvSpPr/>
            <p:nvPr/>
          </p:nvSpPr>
          <p:spPr>
            <a:xfrm>
              <a:off x="921380" y="1857506"/>
              <a:ext cx="11052147" cy="450762"/>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227013" marR="0" lvl="0" indent="-1127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事業側で制定した</a:t>
              </a:r>
              <a:r>
                <a:rPr kumimoji="1" lang="en-US" altLang="ja-JP" sz="1400" b="0" i="0" u="none" strike="noStrike" kern="1200" cap="none" spc="0" normalizeH="0" baseline="0" noProof="0" dirty="0">
                  <a:ln>
                    <a:noFill/>
                  </a:ln>
                  <a:solidFill>
                    <a:srgbClr val="000000"/>
                  </a:solidFill>
                  <a:effectLst/>
                  <a:uLnTx/>
                  <a:uFillTx/>
                  <a:latin typeface="Arial"/>
                  <a:ea typeface="Meiryo UI"/>
                  <a:cs typeface="+mn-cs"/>
                </a:rPr>
                <a:t>KPI</a:t>
              </a: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の実現状況を客観的、かつリアルタイムで見れるようにすることで、人・物・金の再配置に関する適時的な意思決定を実現する。</a:t>
              </a:r>
              <a:endParaRPr kumimoji="1" lang="en-US" altLang="ja-JP" sz="1400" b="0" i="0" u="none" strike="noStrike" kern="1200" cap="none" spc="0" normalizeH="0" baseline="0" noProof="0" dirty="0">
                <a:ln>
                  <a:noFill/>
                </a:ln>
                <a:solidFill>
                  <a:srgbClr val="000000"/>
                </a:solidFill>
                <a:effectLst/>
                <a:uLnTx/>
                <a:uFillTx/>
                <a:latin typeface="Arial"/>
                <a:ea typeface="Meiryo UI"/>
                <a:cs typeface="+mn-cs"/>
              </a:endParaRPr>
            </a:p>
          </p:txBody>
        </p:sp>
        <p:sp>
          <p:nvSpPr>
            <p:cNvPr id="519" name="正方形/長方形 4">
              <a:extLst>
                <a:ext uri="{FF2B5EF4-FFF2-40B4-BE49-F238E27FC236}">
                  <a16:creationId xmlns:a16="http://schemas.microsoft.com/office/drawing/2014/main" id="{308A14E9-B9CA-F8A5-2444-C4FF4DAAEDB9}"/>
                </a:ext>
              </a:extLst>
            </p:cNvPr>
            <p:cNvSpPr/>
            <p:nvPr/>
          </p:nvSpPr>
          <p:spPr>
            <a:xfrm>
              <a:off x="69015" y="895288"/>
              <a:ext cx="852365" cy="873036"/>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rgbClr val="FFFFFF"/>
                  </a:solidFill>
                  <a:effectLst/>
                  <a:uLnTx/>
                  <a:uFillTx/>
                  <a:latin typeface="Arial"/>
                  <a:ea typeface="Meiryo UI"/>
                  <a:cs typeface="+mn-cs"/>
                </a:rPr>
                <a:t>背景</a:t>
              </a:r>
              <a:endParaRPr kumimoji="1" lang="en-US" altLang="ja-JP" sz="1600" b="0" i="0" u="none" strike="noStrike" kern="1200" cap="none" spc="0" normalizeH="0" baseline="0" noProof="0">
                <a:ln>
                  <a:noFill/>
                </a:ln>
                <a:solidFill>
                  <a:srgbClr val="FFFFFF"/>
                </a:solidFill>
                <a:effectLst/>
                <a:uLnTx/>
                <a:uFillTx/>
                <a:latin typeface="Arial"/>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rgbClr val="FFFFFF"/>
                  </a:solidFill>
                  <a:effectLst/>
                  <a:uLnTx/>
                  <a:uFillTx/>
                  <a:latin typeface="Arial"/>
                  <a:ea typeface="Meiryo UI"/>
                  <a:cs typeface="+mn-cs"/>
                </a:rPr>
                <a:t>課題</a:t>
              </a:r>
              <a:endParaRPr kumimoji="1" lang="en-US" altLang="ja-JP" sz="1600" b="0" i="0" u="none" strike="noStrike" kern="1200" cap="none" spc="0" normalizeH="0" baseline="0" noProof="0">
                <a:ln>
                  <a:noFill/>
                </a:ln>
                <a:solidFill>
                  <a:srgbClr val="FFFFFF"/>
                </a:solidFill>
                <a:effectLst/>
                <a:uLnTx/>
                <a:uFillTx/>
                <a:latin typeface="Arial"/>
                <a:ea typeface="Meiryo UI"/>
                <a:cs typeface="+mn-cs"/>
              </a:endParaRPr>
            </a:p>
          </p:txBody>
        </p:sp>
        <p:sp>
          <p:nvSpPr>
            <p:cNvPr id="520" name="正方形/長方形 5">
              <a:extLst>
                <a:ext uri="{FF2B5EF4-FFF2-40B4-BE49-F238E27FC236}">
                  <a16:creationId xmlns:a16="http://schemas.microsoft.com/office/drawing/2014/main" id="{876A8AC4-B26A-7DE8-E947-95606035EFF0}"/>
                </a:ext>
              </a:extLst>
            </p:cNvPr>
            <p:cNvSpPr/>
            <p:nvPr/>
          </p:nvSpPr>
          <p:spPr>
            <a:xfrm>
              <a:off x="69015" y="1860212"/>
              <a:ext cx="852365" cy="448056"/>
            </a:xfrm>
            <a:prstGeom prst="rect">
              <a:avLst/>
            </a:prstGeom>
            <a:ln>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srgbClr val="FFFFFF"/>
                  </a:solidFill>
                  <a:effectLst/>
                  <a:uLnTx/>
                  <a:uFillTx/>
                  <a:latin typeface="Arial"/>
                  <a:ea typeface="Meiryo UI"/>
                  <a:cs typeface="+mn-cs"/>
                </a:rPr>
                <a:t>解決策</a:t>
              </a:r>
              <a:endParaRPr kumimoji="1" lang="en-US" altLang="ja-JP" sz="1600" b="0" i="0" u="none" strike="noStrike" kern="1200" cap="none" spc="0" normalizeH="0" baseline="0" noProof="0" dirty="0">
                <a:ln>
                  <a:noFill/>
                </a:ln>
                <a:solidFill>
                  <a:srgbClr val="FFFFFF"/>
                </a:solidFill>
                <a:effectLst/>
                <a:uLnTx/>
                <a:uFillTx/>
                <a:latin typeface="Arial"/>
                <a:ea typeface="Meiryo UI"/>
                <a:cs typeface="+mn-cs"/>
              </a:endParaRPr>
            </a:p>
          </p:txBody>
        </p:sp>
      </p:grpSp>
      <p:sp>
        <p:nvSpPr>
          <p:cNvPr id="9" name="矢印: 五方向 18">
            <a:extLst>
              <a:ext uri="{FF2B5EF4-FFF2-40B4-BE49-F238E27FC236}">
                <a16:creationId xmlns:a16="http://schemas.microsoft.com/office/drawing/2014/main" id="{0270013D-0A15-9D16-7663-7B9762A8AC8F}"/>
              </a:ext>
            </a:extLst>
          </p:cNvPr>
          <p:cNvSpPr/>
          <p:nvPr/>
        </p:nvSpPr>
        <p:spPr>
          <a:xfrm>
            <a:off x="132967" y="2573720"/>
            <a:ext cx="4125963" cy="333074"/>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事業設計（事業部門）</a:t>
            </a:r>
          </a:p>
        </p:txBody>
      </p:sp>
      <p:sp>
        <p:nvSpPr>
          <p:cNvPr id="10" name="矢印: 五方向 18">
            <a:extLst>
              <a:ext uri="{FF2B5EF4-FFF2-40B4-BE49-F238E27FC236}">
                <a16:creationId xmlns:a16="http://schemas.microsoft.com/office/drawing/2014/main" id="{3136AFCC-D3E6-7AF0-3E39-413B03843D5A}"/>
              </a:ext>
            </a:extLst>
          </p:cNvPr>
          <p:cNvSpPr/>
          <p:nvPr/>
        </p:nvSpPr>
        <p:spPr>
          <a:xfrm>
            <a:off x="132968" y="3000410"/>
            <a:ext cx="1375321" cy="333074"/>
          </a:xfrm>
          <a:prstGeom prst="homePlate">
            <a:avLst/>
          </a:prstGeom>
          <a:solidFill>
            <a:schemeClr val="accent2"/>
          </a:solidFill>
          <a:ln w="3175">
            <a:solidFill>
              <a:schemeClr val="accent2">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FFFFFF"/>
                </a:solidFill>
                <a:effectLst/>
                <a:uLnTx/>
                <a:uFillTx/>
                <a:latin typeface="Arial"/>
                <a:ea typeface="Meiryo UI"/>
                <a:cs typeface="+mn-cs"/>
              </a:rPr>
              <a:t>課題・解決策の</a:t>
            </a:r>
            <a:endParaRPr kumimoji="1" lang="en-US" altLang="ja-JP" sz="1200" b="0" i="0" u="none" strike="noStrike" kern="1200" cap="none" spc="0" normalizeH="0" baseline="0" noProof="0" dirty="0">
              <a:ln>
                <a:noFill/>
              </a:ln>
              <a:solidFill>
                <a:srgbClr val="FFFFFF"/>
              </a:solidFill>
              <a:effectLst/>
              <a:uLnTx/>
              <a:uFillTx/>
              <a:latin typeface="Arial"/>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FFFFFF"/>
                </a:solidFill>
                <a:effectLst/>
                <a:uLnTx/>
                <a:uFillTx/>
                <a:latin typeface="Arial"/>
                <a:ea typeface="Meiryo UI"/>
                <a:cs typeface="+mn-cs"/>
              </a:rPr>
              <a:t>整理</a:t>
            </a:r>
          </a:p>
        </p:txBody>
      </p:sp>
      <p:sp>
        <p:nvSpPr>
          <p:cNvPr id="11" name="矢印: 五方向 18">
            <a:extLst>
              <a:ext uri="{FF2B5EF4-FFF2-40B4-BE49-F238E27FC236}">
                <a16:creationId xmlns:a16="http://schemas.microsoft.com/office/drawing/2014/main" id="{421F66CC-0AB8-6410-4CC9-514A2E9B68A8}"/>
              </a:ext>
            </a:extLst>
          </p:cNvPr>
          <p:cNvSpPr/>
          <p:nvPr/>
        </p:nvSpPr>
        <p:spPr>
          <a:xfrm>
            <a:off x="1508289" y="2956857"/>
            <a:ext cx="1375321" cy="404685"/>
          </a:xfrm>
          <a:prstGeom prst="homePlate">
            <a:avLst/>
          </a:prstGeom>
          <a:solidFill>
            <a:schemeClr val="accent2"/>
          </a:solidFill>
          <a:ln w="3175">
            <a:solidFill>
              <a:schemeClr val="accent2">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FFFFFF"/>
                </a:solidFill>
                <a:effectLst/>
                <a:uLnTx/>
                <a:uFillTx/>
                <a:latin typeface="Arial"/>
                <a:ea typeface="Meiryo UI"/>
                <a:cs typeface="+mn-cs"/>
              </a:rPr>
              <a:t>変革目標の設定</a:t>
            </a:r>
          </a:p>
        </p:txBody>
      </p:sp>
      <p:sp>
        <p:nvSpPr>
          <p:cNvPr id="12" name="矢印: 五方向 18">
            <a:extLst>
              <a:ext uri="{FF2B5EF4-FFF2-40B4-BE49-F238E27FC236}">
                <a16:creationId xmlns:a16="http://schemas.microsoft.com/office/drawing/2014/main" id="{1021112A-50B5-27B0-9095-C46FBF6D37A0}"/>
              </a:ext>
            </a:extLst>
          </p:cNvPr>
          <p:cNvSpPr/>
          <p:nvPr/>
        </p:nvSpPr>
        <p:spPr>
          <a:xfrm>
            <a:off x="2883610" y="2956857"/>
            <a:ext cx="1375321" cy="404685"/>
          </a:xfrm>
          <a:prstGeom prst="homePlate">
            <a:avLst/>
          </a:prstGeom>
          <a:solidFill>
            <a:schemeClr val="accent2"/>
          </a:solidFill>
          <a:ln w="3175">
            <a:solidFill>
              <a:schemeClr val="accent2">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FFFFFF"/>
                </a:solidFill>
                <a:effectLst/>
                <a:uLnTx/>
                <a:uFillTx/>
                <a:latin typeface="Arial"/>
                <a:ea typeface="Meiryo UI"/>
                <a:cs typeface="+mn-cs"/>
              </a:rPr>
              <a:t>目標実現に向けた</a:t>
            </a:r>
            <a:endParaRPr kumimoji="1" lang="en-US" altLang="ja-JP" sz="1200" b="0" i="0" u="none" strike="noStrike" kern="1200" cap="none" spc="0" normalizeH="0" baseline="0" noProof="0" dirty="0">
              <a:ln>
                <a:noFill/>
              </a:ln>
              <a:solidFill>
                <a:srgbClr val="FFFFFF"/>
              </a:solidFill>
              <a:effectLst/>
              <a:uLnTx/>
              <a:uFillTx/>
              <a:latin typeface="Arial"/>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FFFFFF"/>
                </a:solidFill>
                <a:effectLst/>
                <a:uLnTx/>
                <a:uFillTx/>
                <a:latin typeface="Arial"/>
                <a:ea typeface="Meiryo UI"/>
                <a:cs typeface="+mn-cs"/>
              </a:rPr>
              <a:t>KPI</a:t>
            </a:r>
            <a:r>
              <a:rPr kumimoji="1" lang="ja-JP" altLang="en-US" sz="1200" b="0" i="0" u="none" strike="noStrike" kern="1200" cap="none" spc="0" normalizeH="0" baseline="0" noProof="0" dirty="0">
                <a:ln>
                  <a:noFill/>
                </a:ln>
                <a:solidFill>
                  <a:srgbClr val="FFFFFF"/>
                </a:solidFill>
                <a:effectLst/>
                <a:uLnTx/>
                <a:uFillTx/>
                <a:latin typeface="Arial"/>
                <a:ea typeface="Meiryo UI"/>
                <a:cs typeface="+mn-cs"/>
              </a:rPr>
              <a:t>の設計</a:t>
            </a:r>
          </a:p>
        </p:txBody>
      </p:sp>
      <p:pic>
        <p:nvPicPr>
          <p:cNvPr id="13" name="図 10">
            <a:extLst>
              <a:ext uri="{FF2B5EF4-FFF2-40B4-BE49-F238E27FC236}">
                <a16:creationId xmlns:a16="http://schemas.microsoft.com/office/drawing/2014/main" id="{C1E0F2DB-6BD7-A3B1-66C1-8B63D80BB8E8}"/>
              </a:ext>
            </a:extLst>
          </p:cNvPr>
          <p:cNvPicPr>
            <a:picLocks noChangeAspect="1"/>
          </p:cNvPicPr>
          <p:nvPr/>
        </p:nvPicPr>
        <p:blipFill>
          <a:blip r:embed="rId2"/>
          <a:stretch>
            <a:fillRect/>
          </a:stretch>
        </p:blipFill>
        <p:spPr>
          <a:xfrm>
            <a:off x="515769" y="3444169"/>
            <a:ext cx="3474242" cy="1215940"/>
          </a:xfrm>
          <a:prstGeom prst="rect">
            <a:avLst/>
          </a:prstGeom>
        </p:spPr>
      </p:pic>
      <p:sp>
        <p:nvSpPr>
          <p:cNvPr id="14" name="矢印: 五方向 18">
            <a:extLst>
              <a:ext uri="{FF2B5EF4-FFF2-40B4-BE49-F238E27FC236}">
                <a16:creationId xmlns:a16="http://schemas.microsoft.com/office/drawing/2014/main" id="{0D29B64D-DBAA-FA90-9972-91347F8A154B}"/>
              </a:ext>
            </a:extLst>
          </p:cNvPr>
          <p:cNvSpPr/>
          <p:nvPr/>
        </p:nvSpPr>
        <p:spPr>
          <a:xfrm>
            <a:off x="4365602" y="2573720"/>
            <a:ext cx="4148458" cy="333074"/>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ソリューション設計（</a:t>
            </a:r>
            <a:r>
              <a:rPr kumimoji="1" lang="en-US" altLang="ja-JP" sz="1400" b="0" i="0" u="none" strike="noStrike" kern="1200" cap="none" spc="0" normalizeH="0" baseline="0" noProof="0" dirty="0">
                <a:ln>
                  <a:noFill/>
                </a:ln>
                <a:solidFill>
                  <a:srgbClr val="000000"/>
                </a:solidFill>
                <a:effectLst/>
                <a:uLnTx/>
                <a:uFillTx/>
                <a:latin typeface="Arial"/>
                <a:ea typeface="Meiryo UI"/>
                <a:cs typeface="+mn-cs"/>
              </a:rPr>
              <a:t>IT</a:t>
            </a: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部門）</a:t>
            </a:r>
          </a:p>
        </p:txBody>
      </p:sp>
      <p:sp>
        <p:nvSpPr>
          <p:cNvPr id="31" name="矢印: 五方向 18">
            <a:extLst>
              <a:ext uri="{FF2B5EF4-FFF2-40B4-BE49-F238E27FC236}">
                <a16:creationId xmlns:a16="http://schemas.microsoft.com/office/drawing/2014/main" id="{3B7DC2EE-9B73-72BD-6B90-A545BAC3EA04}"/>
              </a:ext>
            </a:extLst>
          </p:cNvPr>
          <p:cNvSpPr/>
          <p:nvPr/>
        </p:nvSpPr>
        <p:spPr>
          <a:xfrm>
            <a:off x="4365602" y="2956857"/>
            <a:ext cx="1375321" cy="404685"/>
          </a:xfrm>
          <a:prstGeom prst="homePlate">
            <a:avLst/>
          </a:prstGeom>
          <a:solidFill>
            <a:schemeClr val="accent2"/>
          </a:solidFill>
          <a:ln w="3175">
            <a:solidFill>
              <a:schemeClr val="accent2">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FFFFFF"/>
                </a:solidFill>
                <a:effectLst/>
                <a:uLnTx/>
                <a:uFillTx/>
                <a:latin typeface="Arial"/>
                <a:ea typeface="Meiryo UI"/>
                <a:cs typeface="+mn-cs"/>
              </a:rPr>
              <a:t>取得可能</a:t>
            </a:r>
            <a:endParaRPr kumimoji="1" lang="en-US" altLang="ja-JP" sz="1200" b="0" i="0" u="none" strike="noStrike" kern="1200" cap="none" spc="0" normalizeH="0" baseline="0" noProof="0" dirty="0">
              <a:ln>
                <a:noFill/>
              </a:ln>
              <a:solidFill>
                <a:srgbClr val="FFFFFF"/>
              </a:solidFill>
              <a:effectLst/>
              <a:uLnTx/>
              <a:uFillTx/>
              <a:latin typeface="Arial"/>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FFFFFF"/>
                </a:solidFill>
                <a:effectLst/>
                <a:uLnTx/>
                <a:uFillTx/>
                <a:latin typeface="Arial"/>
                <a:ea typeface="Meiryo UI"/>
                <a:cs typeface="+mn-cs"/>
              </a:rPr>
              <a:t>データの特定</a:t>
            </a:r>
          </a:p>
        </p:txBody>
      </p:sp>
      <p:sp>
        <p:nvSpPr>
          <p:cNvPr id="59" name="矢印: 五方向 18">
            <a:extLst>
              <a:ext uri="{FF2B5EF4-FFF2-40B4-BE49-F238E27FC236}">
                <a16:creationId xmlns:a16="http://schemas.microsoft.com/office/drawing/2014/main" id="{F3F7BA59-E451-BB5C-C33D-309A894EC75F}"/>
              </a:ext>
            </a:extLst>
          </p:cNvPr>
          <p:cNvSpPr/>
          <p:nvPr/>
        </p:nvSpPr>
        <p:spPr>
          <a:xfrm>
            <a:off x="5763418" y="2956857"/>
            <a:ext cx="1375321" cy="404685"/>
          </a:xfrm>
          <a:prstGeom prst="homePlate">
            <a:avLst/>
          </a:prstGeom>
          <a:solidFill>
            <a:schemeClr val="accent2"/>
          </a:solidFill>
          <a:ln w="3175">
            <a:solidFill>
              <a:schemeClr val="accent2">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FFFFFF"/>
                </a:solidFill>
                <a:effectLst/>
                <a:uLnTx/>
                <a:uFillTx/>
                <a:latin typeface="Arial"/>
                <a:ea typeface="Meiryo UI"/>
                <a:cs typeface="+mn-cs"/>
              </a:rPr>
              <a:t>運用プロセスの設計</a:t>
            </a:r>
          </a:p>
        </p:txBody>
      </p:sp>
      <p:sp>
        <p:nvSpPr>
          <p:cNvPr id="60" name="矢印: 五方向 18">
            <a:extLst>
              <a:ext uri="{FF2B5EF4-FFF2-40B4-BE49-F238E27FC236}">
                <a16:creationId xmlns:a16="http://schemas.microsoft.com/office/drawing/2014/main" id="{298E1CF7-AFD8-E529-FDB0-B3A071753CF8}"/>
              </a:ext>
            </a:extLst>
          </p:cNvPr>
          <p:cNvSpPr/>
          <p:nvPr/>
        </p:nvSpPr>
        <p:spPr>
          <a:xfrm>
            <a:off x="7138739" y="2956857"/>
            <a:ext cx="1375321" cy="404685"/>
          </a:xfrm>
          <a:prstGeom prst="homePlate">
            <a:avLst/>
          </a:prstGeom>
          <a:solidFill>
            <a:schemeClr val="accent2"/>
          </a:solidFill>
          <a:ln w="3175">
            <a:solidFill>
              <a:schemeClr val="accent2">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FFFFFF"/>
                </a:solidFill>
                <a:effectLst/>
                <a:uLnTx/>
                <a:uFillTx/>
                <a:latin typeface="Arial"/>
                <a:ea typeface="Meiryo UI"/>
                <a:cs typeface="+mn-cs"/>
              </a:rPr>
              <a:t>優先度付け・提案</a:t>
            </a:r>
          </a:p>
        </p:txBody>
      </p:sp>
      <p:pic>
        <p:nvPicPr>
          <p:cNvPr id="61" name="Picture 60">
            <a:extLst>
              <a:ext uri="{FF2B5EF4-FFF2-40B4-BE49-F238E27FC236}">
                <a16:creationId xmlns:a16="http://schemas.microsoft.com/office/drawing/2014/main" id="{A9F7FA8A-DA98-9FC2-6793-03E2FB8D3C18}"/>
              </a:ext>
            </a:extLst>
          </p:cNvPr>
          <p:cNvPicPr>
            <a:picLocks noChangeAspect="1"/>
          </p:cNvPicPr>
          <p:nvPr/>
        </p:nvPicPr>
        <p:blipFill>
          <a:blip r:embed="rId3"/>
          <a:stretch>
            <a:fillRect/>
          </a:stretch>
        </p:blipFill>
        <p:spPr>
          <a:xfrm>
            <a:off x="4675252" y="3444170"/>
            <a:ext cx="3474243" cy="1286086"/>
          </a:xfrm>
          <a:prstGeom prst="rect">
            <a:avLst/>
          </a:prstGeom>
        </p:spPr>
      </p:pic>
      <p:sp>
        <p:nvSpPr>
          <p:cNvPr id="62" name="矢印: 五方向 18">
            <a:extLst>
              <a:ext uri="{FF2B5EF4-FFF2-40B4-BE49-F238E27FC236}">
                <a16:creationId xmlns:a16="http://schemas.microsoft.com/office/drawing/2014/main" id="{500CA251-45B5-74C9-DE60-023BB7325FA3}"/>
              </a:ext>
            </a:extLst>
          </p:cNvPr>
          <p:cNvSpPr/>
          <p:nvPr/>
        </p:nvSpPr>
        <p:spPr>
          <a:xfrm>
            <a:off x="8620732" y="2573720"/>
            <a:ext cx="3398443" cy="333074"/>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開発・運用・改善（事業・</a:t>
            </a:r>
            <a:r>
              <a:rPr kumimoji="1" lang="en-US" altLang="ja-JP" sz="1400" b="0" i="0" u="none" strike="noStrike" kern="1200" cap="none" spc="0" normalizeH="0" baseline="0" noProof="0" dirty="0">
                <a:ln>
                  <a:noFill/>
                </a:ln>
                <a:solidFill>
                  <a:srgbClr val="000000"/>
                </a:solidFill>
                <a:effectLst/>
                <a:uLnTx/>
                <a:uFillTx/>
                <a:latin typeface="Arial"/>
                <a:ea typeface="Meiryo UI"/>
                <a:cs typeface="+mn-cs"/>
              </a:rPr>
              <a:t>IT</a:t>
            </a: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共同）</a:t>
            </a:r>
          </a:p>
        </p:txBody>
      </p:sp>
      <p:sp>
        <p:nvSpPr>
          <p:cNvPr id="63" name="矢印: 五方向 18">
            <a:extLst>
              <a:ext uri="{FF2B5EF4-FFF2-40B4-BE49-F238E27FC236}">
                <a16:creationId xmlns:a16="http://schemas.microsoft.com/office/drawing/2014/main" id="{54C7C31B-1A11-1AF5-23CF-DDDE4E87D103}"/>
              </a:ext>
            </a:extLst>
          </p:cNvPr>
          <p:cNvSpPr/>
          <p:nvPr/>
        </p:nvSpPr>
        <p:spPr>
          <a:xfrm>
            <a:off x="8620732" y="2956858"/>
            <a:ext cx="3398443" cy="177348"/>
          </a:xfrm>
          <a:prstGeom prst="homePlate">
            <a:avLst/>
          </a:prstGeom>
          <a:solidFill>
            <a:schemeClr val="accent2"/>
          </a:solidFill>
          <a:ln w="3175">
            <a:solidFill>
              <a:schemeClr val="accent2">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FFFFFF"/>
                </a:solidFill>
                <a:effectLst/>
                <a:uLnTx/>
                <a:uFillTx/>
                <a:latin typeface="Arial"/>
                <a:ea typeface="Meiryo UI"/>
                <a:cs typeface="+mn-cs"/>
              </a:rPr>
              <a:t>継続的な機能開発・データ整備（</a:t>
            </a:r>
            <a:r>
              <a:rPr kumimoji="1" lang="en-US" altLang="ja-JP" sz="1200" b="0" i="0" u="none" strike="noStrike" kern="1200" cap="none" spc="0" normalizeH="0" baseline="0" noProof="0" dirty="0">
                <a:ln>
                  <a:noFill/>
                </a:ln>
                <a:solidFill>
                  <a:srgbClr val="FFFFFF"/>
                </a:solidFill>
                <a:effectLst/>
                <a:uLnTx/>
                <a:uFillTx/>
                <a:latin typeface="Arial"/>
                <a:ea typeface="Meiryo UI"/>
                <a:cs typeface="+mn-cs"/>
              </a:rPr>
              <a:t>IT</a:t>
            </a:r>
            <a:r>
              <a:rPr kumimoji="1" lang="ja-JP" altLang="en-US" sz="1200" b="0" i="0" u="none" strike="noStrike" kern="1200" cap="none" spc="0" normalizeH="0" baseline="0" noProof="0" dirty="0">
                <a:ln>
                  <a:noFill/>
                </a:ln>
                <a:solidFill>
                  <a:srgbClr val="FFFFFF"/>
                </a:solidFill>
                <a:effectLst/>
                <a:uLnTx/>
                <a:uFillTx/>
                <a:latin typeface="Arial"/>
                <a:ea typeface="Meiryo UI"/>
                <a:cs typeface="+mn-cs"/>
              </a:rPr>
              <a:t>）</a:t>
            </a:r>
          </a:p>
        </p:txBody>
      </p:sp>
      <p:sp>
        <p:nvSpPr>
          <p:cNvPr id="448" name="矢印: 五方向 18">
            <a:extLst>
              <a:ext uri="{FF2B5EF4-FFF2-40B4-BE49-F238E27FC236}">
                <a16:creationId xmlns:a16="http://schemas.microsoft.com/office/drawing/2014/main" id="{95D6A665-3F18-6EC0-ECD0-06224E868939}"/>
              </a:ext>
            </a:extLst>
          </p:cNvPr>
          <p:cNvSpPr/>
          <p:nvPr/>
        </p:nvSpPr>
        <p:spPr>
          <a:xfrm>
            <a:off x="8620733" y="3190320"/>
            <a:ext cx="1699222" cy="177348"/>
          </a:xfrm>
          <a:prstGeom prst="homePlate">
            <a:avLst/>
          </a:prstGeom>
          <a:solidFill>
            <a:schemeClr val="accent2"/>
          </a:solidFill>
          <a:ln w="3175">
            <a:solidFill>
              <a:schemeClr val="accent2">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FFFFFF"/>
                </a:solidFill>
                <a:effectLst/>
                <a:uLnTx/>
                <a:uFillTx/>
                <a:latin typeface="Arial"/>
                <a:ea typeface="Meiryo UI"/>
                <a:cs typeface="+mn-cs"/>
              </a:rPr>
              <a:t>入力促進（事業）</a:t>
            </a:r>
          </a:p>
        </p:txBody>
      </p:sp>
      <p:sp>
        <p:nvSpPr>
          <p:cNvPr id="449" name="矢印: 五方向 18">
            <a:extLst>
              <a:ext uri="{FF2B5EF4-FFF2-40B4-BE49-F238E27FC236}">
                <a16:creationId xmlns:a16="http://schemas.microsoft.com/office/drawing/2014/main" id="{663D28D3-DFA3-CA3E-099F-8F5EED165A78}"/>
              </a:ext>
            </a:extLst>
          </p:cNvPr>
          <p:cNvSpPr/>
          <p:nvPr/>
        </p:nvSpPr>
        <p:spPr>
          <a:xfrm>
            <a:off x="10319953" y="3190320"/>
            <a:ext cx="1699222" cy="177348"/>
          </a:xfrm>
          <a:prstGeom prst="homePlate">
            <a:avLst/>
          </a:prstGeom>
          <a:solidFill>
            <a:schemeClr val="accent2"/>
          </a:solidFill>
          <a:ln w="3175">
            <a:solidFill>
              <a:schemeClr val="accent2">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FFFFFF"/>
                </a:solidFill>
                <a:effectLst/>
                <a:uLnTx/>
                <a:uFillTx/>
                <a:latin typeface="Arial"/>
                <a:ea typeface="Meiryo UI"/>
                <a:cs typeface="+mn-cs"/>
              </a:rPr>
              <a:t>分析観点の提供（経営）</a:t>
            </a:r>
          </a:p>
        </p:txBody>
      </p:sp>
      <p:sp>
        <p:nvSpPr>
          <p:cNvPr id="451" name="テキスト ボックス 98">
            <a:extLst>
              <a:ext uri="{FF2B5EF4-FFF2-40B4-BE49-F238E27FC236}">
                <a16:creationId xmlns:a16="http://schemas.microsoft.com/office/drawing/2014/main" id="{7C821CA2-9B8F-FA4E-DB16-24A32F1C7CAF}"/>
              </a:ext>
            </a:extLst>
          </p:cNvPr>
          <p:cNvSpPr txBox="1"/>
          <p:nvPr/>
        </p:nvSpPr>
        <p:spPr>
          <a:xfrm>
            <a:off x="10319953" y="3461948"/>
            <a:ext cx="1699222" cy="341843"/>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kumimoji="1" lang="ja-JP" altLang="en-US" sz="1100" b="1" i="0" u="sng" strike="noStrike" kern="1200" cap="none" spc="0" normalizeH="0" baseline="0" noProof="0" dirty="0">
                <a:ln>
                  <a:noFill/>
                </a:ln>
                <a:solidFill>
                  <a:srgbClr val="000000"/>
                </a:solidFill>
                <a:effectLst/>
                <a:uLnTx/>
                <a:uFillTx/>
                <a:latin typeface="Meiryo UI"/>
                <a:ea typeface="Meiryo UI"/>
                <a:cs typeface="+mn-cs"/>
              </a:rPr>
              <a:t>経営判断・振り返り</a:t>
            </a:r>
          </a:p>
        </p:txBody>
      </p:sp>
      <p:pic>
        <p:nvPicPr>
          <p:cNvPr id="485" name="Graphic 3" descr="Users with solid fill">
            <a:extLst>
              <a:ext uri="{FF2B5EF4-FFF2-40B4-BE49-F238E27FC236}">
                <a16:creationId xmlns:a16="http://schemas.microsoft.com/office/drawing/2014/main" id="{17961F3D-4298-C0A1-262E-BB7B2B17F8E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090355" y="3843750"/>
            <a:ext cx="968678" cy="968678"/>
          </a:xfrm>
          <a:prstGeom prst="rect">
            <a:avLst/>
          </a:prstGeom>
        </p:spPr>
      </p:pic>
      <p:pic>
        <p:nvPicPr>
          <p:cNvPr id="486" name="Graphic 4" descr="Teacher with solid fill">
            <a:extLst>
              <a:ext uri="{FF2B5EF4-FFF2-40B4-BE49-F238E27FC236}">
                <a16:creationId xmlns:a16="http://schemas.microsoft.com/office/drawing/2014/main" id="{306E5020-B76A-4092-C8A7-6F79174A6F4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405113" y="3595508"/>
            <a:ext cx="968677" cy="968677"/>
          </a:xfrm>
          <a:prstGeom prst="rect">
            <a:avLst/>
          </a:prstGeom>
        </p:spPr>
      </p:pic>
      <p:pic>
        <p:nvPicPr>
          <p:cNvPr id="497" name="Picture 496">
            <a:extLst>
              <a:ext uri="{FF2B5EF4-FFF2-40B4-BE49-F238E27FC236}">
                <a16:creationId xmlns:a16="http://schemas.microsoft.com/office/drawing/2014/main" id="{2E29E553-D9BC-5D2B-6834-AD0C116FABF7}"/>
              </a:ext>
            </a:extLst>
          </p:cNvPr>
          <p:cNvPicPr>
            <a:picLocks noChangeAspect="1"/>
          </p:cNvPicPr>
          <p:nvPr/>
        </p:nvPicPr>
        <p:blipFill>
          <a:blip r:embed="rId8"/>
          <a:stretch>
            <a:fillRect/>
          </a:stretch>
        </p:blipFill>
        <p:spPr>
          <a:xfrm>
            <a:off x="8729343" y="3722823"/>
            <a:ext cx="1479634" cy="897028"/>
          </a:xfrm>
          <a:prstGeom prst="rect">
            <a:avLst/>
          </a:prstGeom>
        </p:spPr>
      </p:pic>
      <p:sp>
        <p:nvSpPr>
          <p:cNvPr id="521" name="テキスト ボックス 98">
            <a:extLst>
              <a:ext uri="{FF2B5EF4-FFF2-40B4-BE49-F238E27FC236}">
                <a16:creationId xmlns:a16="http://schemas.microsoft.com/office/drawing/2014/main" id="{C8AF06B9-0765-CF67-729C-130CE1945406}"/>
              </a:ext>
            </a:extLst>
          </p:cNvPr>
          <p:cNvSpPr txBox="1"/>
          <p:nvPr/>
        </p:nvSpPr>
        <p:spPr>
          <a:xfrm>
            <a:off x="8584192" y="3461948"/>
            <a:ext cx="1699222" cy="341843"/>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kumimoji="1" lang="ja-JP" altLang="en-US" sz="1100" b="1" i="0" u="sng" strike="noStrike" kern="1200" cap="none" spc="0" normalizeH="0" baseline="0" noProof="0">
                <a:ln>
                  <a:noFill/>
                </a:ln>
                <a:solidFill>
                  <a:srgbClr val="000000"/>
                </a:solidFill>
                <a:effectLst/>
                <a:uLnTx/>
                <a:uFillTx/>
                <a:latin typeface="Meiryo UI"/>
                <a:ea typeface="Meiryo UI"/>
                <a:cs typeface="+mn-cs"/>
              </a:rPr>
              <a:t>入力促進</a:t>
            </a:r>
            <a:endParaRPr kumimoji="1" lang="ja-JP" altLang="en-US" sz="1100" b="1" i="0" u="sng" strike="noStrike" kern="1200" cap="none" spc="0" normalizeH="0" baseline="0" noProof="0" dirty="0">
              <a:ln>
                <a:noFill/>
              </a:ln>
              <a:solidFill>
                <a:srgbClr val="000000"/>
              </a:solidFill>
              <a:effectLst/>
              <a:uLnTx/>
              <a:uFillTx/>
              <a:latin typeface="Meiryo UI"/>
              <a:ea typeface="Meiryo UI"/>
              <a:cs typeface="+mn-cs"/>
            </a:endParaRPr>
          </a:p>
        </p:txBody>
      </p:sp>
      <p:sp>
        <p:nvSpPr>
          <p:cNvPr id="522" name="矢印: 折線 121">
            <a:extLst>
              <a:ext uri="{FF2B5EF4-FFF2-40B4-BE49-F238E27FC236}">
                <a16:creationId xmlns:a16="http://schemas.microsoft.com/office/drawing/2014/main" id="{472E6888-5A99-E104-A06B-029654CB9D5C}"/>
              </a:ext>
            </a:extLst>
          </p:cNvPr>
          <p:cNvSpPr/>
          <p:nvPr/>
        </p:nvSpPr>
        <p:spPr>
          <a:xfrm rot="16200000">
            <a:off x="6274927" y="803762"/>
            <a:ext cx="217085" cy="8043288"/>
          </a:xfrm>
          <a:prstGeom prst="bentArrow">
            <a:avLst/>
          </a:prstGeom>
          <a:solidFill>
            <a:srgbClr val="FDD7F7"/>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err="1">
              <a:ln>
                <a:noFill/>
              </a:ln>
              <a:solidFill>
                <a:srgbClr val="000000"/>
              </a:solidFill>
              <a:effectLst/>
              <a:uLnTx/>
              <a:uFillTx/>
              <a:latin typeface="Arial"/>
              <a:ea typeface="Meiryo UI"/>
              <a:cs typeface="+mn-cs"/>
            </a:endParaRPr>
          </a:p>
        </p:txBody>
      </p:sp>
      <p:sp>
        <p:nvSpPr>
          <p:cNvPr id="524" name="正方形/長方形 120">
            <a:extLst>
              <a:ext uri="{FF2B5EF4-FFF2-40B4-BE49-F238E27FC236}">
                <a16:creationId xmlns:a16="http://schemas.microsoft.com/office/drawing/2014/main" id="{61A6E0F3-B020-0101-B67B-1C7338E0663F}"/>
              </a:ext>
            </a:extLst>
          </p:cNvPr>
          <p:cNvSpPr/>
          <p:nvPr/>
        </p:nvSpPr>
        <p:spPr>
          <a:xfrm>
            <a:off x="10698083" y="4673104"/>
            <a:ext cx="942961" cy="26161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srgbClr val="000000"/>
                </a:solidFill>
                <a:effectLst/>
                <a:uLnTx/>
                <a:uFillTx/>
                <a:latin typeface="Meiryo UI"/>
                <a:ea typeface="Meiryo UI"/>
                <a:cs typeface="+mn-cs"/>
              </a:rPr>
              <a:t>フィードバック</a:t>
            </a:r>
            <a:endParaRPr kumimoji="1" lang="en-US" altLang="ja-JP" sz="1050" b="0" i="0" u="none" strike="noStrike" kern="1200" cap="none" spc="0" normalizeH="0" baseline="0" noProof="0" dirty="0">
              <a:ln>
                <a:noFill/>
              </a:ln>
              <a:solidFill>
                <a:srgbClr val="000000"/>
              </a:solidFill>
              <a:effectLst/>
              <a:uLnTx/>
              <a:uFillTx/>
              <a:latin typeface="Meiryo UI"/>
              <a:ea typeface="Meiryo UI"/>
              <a:cs typeface="+mn-cs"/>
            </a:endParaRPr>
          </a:p>
        </p:txBody>
      </p:sp>
      <p:sp>
        <p:nvSpPr>
          <p:cNvPr id="525" name="矢印: 折線 121">
            <a:extLst>
              <a:ext uri="{FF2B5EF4-FFF2-40B4-BE49-F238E27FC236}">
                <a16:creationId xmlns:a16="http://schemas.microsoft.com/office/drawing/2014/main" id="{864A2292-0CBA-5E30-33A0-2BBD8570D3BC}"/>
              </a:ext>
            </a:extLst>
          </p:cNvPr>
          <p:cNvSpPr/>
          <p:nvPr/>
        </p:nvSpPr>
        <p:spPr>
          <a:xfrm rot="16200000">
            <a:off x="8923066" y="3451899"/>
            <a:ext cx="217085" cy="2747012"/>
          </a:xfrm>
          <a:prstGeom prst="bentArrow">
            <a:avLst/>
          </a:prstGeom>
          <a:solidFill>
            <a:srgbClr val="FDD7F7"/>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err="1">
              <a:ln>
                <a:noFill/>
              </a:ln>
              <a:solidFill>
                <a:srgbClr val="000000"/>
              </a:solidFill>
              <a:effectLst/>
              <a:uLnTx/>
              <a:uFillTx/>
              <a:latin typeface="Arial"/>
              <a:ea typeface="Meiryo UI"/>
              <a:cs typeface="+mn-cs"/>
            </a:endParaRPr>
          </a:p>
        </p:txBody>
      </p:sp>
      <p:sp>
        <p:nvSpPr>
          <p:cNvPr id="526" name="矢印: 折線 121">
            <a:extLst>
              <a:ext uri="{FF2B5EF4-FFF2-40B4-BE49-F238E27FC236}">
                <a16:creationId xmlns:a16="http://schemas.microsoft.com/office/drawing/2014/main" id="{2AD9DA7C-E8BC-3110-F472-A131425BCFEE}"/>
              </a:ext>
            </a:extLst>
          </p:cNvPr>
          <p:cNvSpPr/>
          <p:nvPr/>
        </p:nvSpPr>
        <p:spPr>
          <a:xfrm rot="16200000">
            <a:off x="9766000" y="4294832"/>
            <a:ext cx="217085" cy="1061145"/>
          </a:xfrm>
          <a:prstGeom prst="bentArrow">
            <a:avLst/>
          </a:prstGeom>
          <a:solidFill>
            <a:srgbClr val="FDD7F7"/>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err="1">
              <a:ln>
                <a:noFill/>
              </a:ln>
              <a:solidFill>
                <a:srgbClr val="000000"/>
              </a:solidFill>
              <a:effectLst/>
              <a:uLnTx/>
              <a:uFillTx/>
              <a:latin typeface="Arial"/>
              <a:ea typeface="Meiryo UI"/>
              <a:cs typeface="+mn-cs"/>
            </a:endParaRPr>
          </a:p>
        </p:txBody>
      </p:sp>
      <p:sp>
        <p:nvSpPr>
          <p:cNvPr id="527" name="二等辺三角形 126">
            <a:extLst>
              <a:ext uri="{FF2B5EF4-FFF2-40B4-BE49-F238E27FC236}">
                <a16:creationId xmlns:a16="http://schemas.microsoft.com/office/drawing/2014/main" id="{E697CCBD-C10B-A878-B517-1593C304D9D4}"/>
              </a:ext>
            </a:extLst>
          </p:cNvPr>
          <p:cNvSpPr/>
          <p:nvPr/>
        </p:nvSpPr>
        <p:spPr>
          <a:xfrm rot="5400000">
            <a:off x="3903127" y="3990524"/>
            <a:ext cx="819151" cy="178714"/>
          </a:xfrm>
          <a:prstGeom prst="triangle">
            <a:avLst/>
          </a:prstGeom>
          <a:solidFill>
            <a:srgbClr val="FDD7F7"/>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err="1">
              <a:ln>
                <a:noFill/>
              </a:ln>
              <a:solidFill>
                <a:srgbClr val="000000"/>
              </a:solidFill>
              <a:effectLst/>
              <a:uLnTx/>
              <a:uFillTx/>
              <a:latin typeface="Arial"/>
              <a:ea typeface="Meiryo UI"/>
              <a:cs typeface="+mn-cs"/>
            </a:endParaRPr>
          </a:p>
        </p:txBody>
      </p:sp>
      <p:sp>
        <p:nvSpPr>
          <p:cNvPr id="528" name="二等辺三角形 126">
            <a:extLst>
              <a:ext uri="{FF2B5EF4-FFF2-40B4-BE49-F238E27FC236}">
                <a16:creationId xmlns:a16="http://schemas.microsoft.com/office/drawing/2014/main" id="{742B5282-25A9-94CA-7695-20A8250B5F18}"/>
              </a:ext>
            </a:extLst>
          </p:cNvPr>
          <p:cNvSpPr/>
          <p:nvPr/>
        </p:nvSpPr>
        <p:spPr>
          <a:xfrm rot="5400000">
            <a:off x="8091252" y="3990525"/>
            <a:ext cx="819151" cy="178714"/>
          </a:xfrm>
          <a:prstGeom prst="triangle">
            <a:avLst/>
          </a:prstGeom>
          <a:solidFill>
            <a:srgbClr val="FDD7F7"/>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err="1">
              <a:ln>
                <a:noFill/>
              </a:ln>
              <a:solidFill>
                <a:srgbClr val="000000"/>
              </a:solidFill>
              <a:effectLst/>
              <a:uLnTx/>
              <a:uFillTx/>
              <a:latin typeface="Arial"/>
              <a:ea typeface="Meiryo UI"/>
              <a:cs typeface="+mn-cs"/>
            </a:endParaRPr>
          </a:p>
        </p:txBody>
      </p:sp>
      <p:sp>
        <p:nvSpPr>
          <p:cNvPr id="529" name="二等辺三角形 126">
            <a:extLst>
              <a:ext uri="{FF2B5EF4-FFF2-40B4-BE49-F238E27FC236}">
                <a16:creationId xmlns:a16="http://schemas.microsoft.com/office/drawing/2014/main" id="{B4178FC7-7197-4202-CEFC-0AC35AC55819}"/>
              </a:ext>
            </a:extLst>
          </p:cNvPr>
          <p:cNvSpPr/>
          <p:nvPr/>
        </p:nvSpPr>
        <p:spPr>
          <a:xfrm rot="5400000">
            <a:off x="9943379" y="3990526"/>
            <a:ext cx="819151" cy="178714"/>
          </a:xfrm>
          <a:prstGeom prst="triangle">
            <a:avLst/>
          </a:prstGeom>
          <a:solidFill>
            <a:srgbClr val="FDD7F7"/>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err="1">
              <a:ln>
                <a:noFill/>
              </a:ln>
              <a:solidFill>
                <a:srgbClr val="000000"/>
              </a:solidFill>
              <a:effectLst/>
              <a:uLnTx/>
              <a:uFillTx/>
              <a:latin typeface="Arial"/>
              <a:ea typeface="Meiryo UI"/>
              <a:cs typeface="+mn-cs"/>
            </a:endParaRPr>
          </a:p>
        </p:txBody>
      </p:sp>
    </p:spTree>
    <p:extLst>
      <p:ext uri="{BB962C8B-B14F-4D97-AF65-F5344CB8AC3E}">
        <p14:creationId xmlns:p14="http://schemas.microsoft.com/office/powerpoint/2010/main" val="39079781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65E04-DB20-494A-BA4F-EB3F72449CE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5EBDD4E-0844-EFE2-5EA8-6ADDFBA84027}"/>
              </a:ext>
            </a:extLst>
          </p:cNvPr>
          <p:cNvSpPr>
            <a:spLocks noGrp="1"/>
          </p:cNvSpPr>
          <p:nvPr>
            <p:ph type="title"/>
          </p:nvPr>
        </p:nvSpPr>
        <p:spPr/>
        <p:txBody>
          <a:bodyPr/>
          <a:lstStyle/>
          <a:p>
            <a:r>
              <a:rPr lang="ja-JP" altLang="en-US" sz="1600" dirty="0">
                <a:solidFill>
                  <a:schemeClr val="accent2"/>
                </a:solidFill>
                <a:latin typeface="Meiryo UI" panose="020B0604030504040204" pitchFamily="50" charset="-128"/>
                <a:ea typeface="Meiryo UI" panose="020B0604030504040204" pitchFamily="50" charset="-128"/>
              </a:rPr>
              <a:t>事例①：自動車メーカー　</a:t>
            </a:r>
            <a:r>
              <a:rPr lang="en-US" altLang="ja-JP" sz="1600" dirty="0">
                <a:solidFill>
                  <a:schemeClr val="accent2"/>
                </a:solidFill>
                <a:latin typeface="Meiryo UI" panose="020B0604030504040204" pitchFamily="50" charset="-128"/>
                <a:ea typeface="Meiryo UI" panose="020B0604030504040204" pitchFamily="50" charset="-128"/>
              </a:rPr>
              <a:t>KPI</a:t>
            </a:r>
            <a:r>
              <a:rPr lang="ja-JP" altLang="en-US" sz="1600" dirty="0">
                <a:solidFill>
                  <a:schemeClr val="accent2"/>
                </a:solidFill>
                <a:latin typeface="Meiryo UI" panose="020B0604030504040204" pitchFamily="50" charset="-128"/>
                <a:ea typeface="Meiryo UI" panose="020B0604030504040204" pitchFamily="50" charset="-128"/>
              </a:rPr>
              <a:t>ダッシュボード化と事業適正化</a:t>
            </a:r>
            <a:br>
              <a:rPr lang="en-US" altLang="ja-JP" sz="3600" dirty="0">
                <a:solidFill>
                  <a:schemeClr val="accent2"/>
                </a:solidFill>
                <a:latin typeface="Meiryo UI" panose="020B0604030504040204" pitchFamily="50" charset="-128"/>
                <a:ea typeface="Meiryo UI" panose="020B0604030504040204" pitchFamily="50" charset="-128"/>
              </a:rPr>
            </a:br>
            <a:r>
              <a:rPr lang="ja-JP" altLang="en-US" sz="2400" dirty="0">
                <a:solidFill>
                  <a:schemeClr val="accent2"/>
                </a:solidFill>
                <a:latin typeface="Meiryo UI" panose="020B0604030504040204" pitchFamily="50" charset="-128"/>
                <a:ea typeface="Meiryo UI" panose="020B0604030504040204" pitchFamily="50" charset="-128"/>
              </a:rPr>
              <a:t>推進における課題（事業面）</a:t>
            </a:r>
          </a:p>
        </p:txBody>
      </p:sp>
      <p:sp>
        <p:nvSpPr>
          <p:cNvPr id="4" name="コンテンツ プレースホルダー 3">
            <a:extLst>
              <a:ext uri="{FF2B5EF4-FFF2-40B4-BE49-F238E27FC236}">
                <a16:creationId xmlns:a16="http://schemas.microsoft.com/office/drawing/2014/main" id="{A0671B1B-4960-B7C2-907A-4E17D0EB2773}"/>
              </a:ext>
            </a:extLst>
          </p:cNvPr>
          <p:cNvSpPr>
            <a:spLocks noGrp="1"/>
          </p:cNvSpPr>
          <p:nvPr>
            <p:ph sz="quarter" idx="10"/>
          </p:nvPr>
        </p:nvSpPr>
        <p:spPr>
          <a:xfrm>
            <a:off x="388603" y="945178"/>
            <a:ext cx="11448000" cy="746871"/>
          </a:xfrm>
        </p:spPr>
        <p:txBody>
          <a:bodyPr/>
          <a:lstStyle/>
          <a:p>
            <a:r>
              <a:rPr lang="ja-JP" altLang="en-US" dirty="0"/>
              <a:t>データ分析の大上段にある事業の方向性・目標の設定に上下間の合意形成が得られず、活動初期は</a:t>
            </a:r>
            <a:r>
              <a:rPr lang="en-US" altLang="ja-JP" dirty="0"/>
              <a:t>KPI</a:t>
            </a:r>
            <a:r>
              <a:rPr lang="ja-JP" altLang="en-US" dirty="0"/>
              <a:t>のための</a:t>
            </a:r>
            <a:r>
              <a:rPr lang="en-US" altLang="ja-JP" dirty="0"/>
              <a:t>KPI</a:t>
            </a:r>
            <a:r>
              <a:rPr lang="ja-JP" altLang="en-US" dirty="0"/>
              <a:t>と化してしまい思うようにことが進まなかった。</a:t>
            </a:r>
          </a:p>
        </p:txBody>
      </p:sp>
      <p:sp>
        <p:nvSpPr>
          <p:cNvPr id="13" name="正方形/長方形 95">
            <a:extLst>
              <a:ext uri="{FF2B5EF4-FFF2-40B4-BE49-F238E27FC236}">
                <a16:creationId xmlns:a16="http://schemas.microsoft.com/office/drawing/2014/main" id="{91352924-30D3-4DD6-35E4-55991B1DF052}"/>
              </a:ext>
            </a:extLst>
          </p:cNvPr>
          <p:cNvSpPr/>
          <p:nvPr/>
        </p:nvSpPr>
        <p:spPr>
          <a:xfrm>
            <a:off x="684716" y="1719314"/>
            <a:ext cx="5198828" cy="3742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srgbClr val="FFFFFF"/>
                </a:solidFill>
                <a:effectLst/>
                <a:uLnTx/>
                <a:uFillTx/>
                <a:latin typeface="Arial"/>
                <a:ea typeface="Meiryo UI"/>
                <a:cs typeface="+mn-cs"/>
              </a:rPr>
              <a:t>経営層（トップマネジメントレイヤー）</a:t>
            </a:r>
          </a:p>
        </p:txBody>
      </p:sp>
      <p:sp>
        <p:nvSpPr>
          <p:cNvPr id="14" name="正方形/長方形 95">
            <a:extLst>
              <a:ext uri="{FF2B5EF4-FFF2-40B4-BE49-F238E27FC236}">
                <a16:creationId xmlns:a16="http://schemas.microsoft.com/office/drawing/2014/main" id="{CEAED26F-AEAF-63D7-D4C4-2F773E66D777}"/>
              </a:ext>
            </a:extLst>
          </p:cNvPr>
          <p:cNvSpPr/>
          <p:nvPr/>
        </p:nvSpPr>
        <p:spPr>
          <a:xfrm>
            <a:off x="3496585" y="5725709"/>
            <a:ext cx="2386959" cy="374225"/>
          </a:xfrm>
          <a:prstGeom prst="rect">
            <a:avLst/>
          </a:prstGeom>
          <a:ln/>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srgbClr val="FFFFFF"/>
                </a:solidFill>
                <a:effectLst/>
                <a:uLnTx/>
                <a:uFillTx/>
                <a:latin typeface="Arial"/>
                <a:ea typeface="Meiryo UI"/>
                <a:cs typeface="+mn-cs"/>
              </a:rPr>
              <a:t>マーケッティング</a:t>
            </a:r>
          </a:p>
        </p:txBody>
      </p:sp>
      <p:sp>
        <p:nvSpPr>
          <p:cNvPr id="15" name="ホームベース 22">
            <a:extLst>
              <a:ext uri="{FF2B5EF4-FFF2-40B4-BE49-F238E27FC236}">
                <a16:creationId xmlns:a16="http://schemas.microsoft.com/office/drawing/2014/main" id="{866B0B91-732C-7EE0-54F9-4B64ACCC49B7}"/>
              </a:ext>
            </a:extLst>
          </p:cNvPr>
          <p:cNvSpPr/>
          <p:nvPr/>
        </p:nvSpPr>
        <p:spPr>
          <a:xfrm>
            <a:off x="684717" y="2306364"/>
            <a:ext cx="2386958" cy="72641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コネクテッドビークルを促進し、販売</a:t>
            </a:r>
            <a:b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b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台数を維持しつつアフタセールスの</a:t>
            </a: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One</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 </a:t>
            </a: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to</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 </a:t>
            </a: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One</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化を推進する。</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6" name="ホームベース 22">
            <a:extLst>
              <a:ext uri="{FF2B5EF4-FFF2-40B4-BE49-F238E27FC236}">
                <a16:creationId xmlns:a16="http://schemas.microsoft.com/office/drawing/2014/main" id="{B4E0B95C-6E43-22EB-9778-D26D2BAF57A1}"/>
              </a:ext>
            </a:extLst>
          </p:cNvPr>
          <p:cNvSpPr/>
          <p:nvPr/>
        </p:nvSpPr>
        <p:spPr>
          <a:xfrm>
            <a:off x="3496586" y="2306364"/>
            <a:ext cx="2386958" cy="72641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グローバルアフタセールスネットワークを整備・強化しシュリンクする日本市場から海外市場にシフトする。</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7" name="ホームベース 22">
            <a:extLst>
              <a:ext uri="{FF2B5EF4-FFF2-40B4-BE49-F238E27FC236}">
                <a16:creationId xmlns:a16="http://schemas.microsoft.com/office/drawing/2014/main" id="{1A3133E6-C35C-B6F8-1C2A-84809187F57E}"/>
              </a:ext>
            </a:extLst>
          </p:cNvPr>
          <p:cNvSpPr/>
          <p:nvPr/>
        </p:nvSpPr>
        <p:spPr>
          <a:xfrm>
            <a:off x="684717" y="4791963"/>
            <a:ext cx="2386958" cy="72641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アフタセールスの観点だけで部品の共通化を進めると商品ごとの特徴が薄れ売上に響く。</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8" name="ホームベース 22">
            <a:extLst>
              <a:ext uri="{FF2B5EF4-FFF2-40B4-BE49-F238E27FC236}">
                <a16:creationId xmlns:a16="http://schemas.microsoft.com/office/drawing/2014/main" id="{7B84F053-21AA-0FD3-E740-F23394B39184}"/>
              </a:ext>
            </a:extLst>
          </p:cNvPr>
          <p:cNvSpPr/>
          <p:nvPr/>
        </p:nvSpPr>
        <p:spPr>
          <a:xfrm>
            <a:off x="3496586" y="4791963"/>
            <a:ext cx="2386958" cy="72641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アノニマスデータと地区別売上データ・人流データ等を掛け合わせ地区・地域・国別動向予測を強化する。</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9" name="正方形/長方形 95">
            <a:extLst>
              <a:ext uri="{FF2B5EF4-FFF2-40B4-BE49-F238E27FC236}">
                <a16:creationId xmlns:a16="http://schemas.microsoft.com/office/drawing/2014/main" id="{5685207D-1F78-83B6-0CA9-70BB5B500B2C}"/>
              </a:ext>
            </a:extLst>
          </p:cNvPr>
          <p:cNvSpPr/>
          <p:nvPr/>
        </p:nvSpPr>
        <p:spPr>
          <a:xfrm>
            <a:off x="684716" y="5725709"/>
            <a:ext cx="2386959" cy="374225"/>
          </a:xfrm>
          <a:prstGeom prst="rect">
            <a:avLst/>
          </a:prstGeom>
          <a:ln/>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srgbClr val="FFFFFF"/>
                </a:solidFill>
                <a:effectLst/>
                <a:uLnTx/>
                <a:uFillTx/>
                <a:latin typeface="Arial"/>
                <a:ea typeface="Meiryo UI"/>
                <a:cs typeface="+mn-cs"/>
              </a:rPr>
              <a:t>商品企画</a:t>
            </a:r>
          </a:p>
        </p:txBody>
      </p:sp>
      <p:sp>
        <p:nvSpPr>
          <p:cNvPr id="20" name="正方形/長方形 95">
            <a:extLst>
              <a:ext uri="{FF2B5EF4-FFF2-40B4-BE49-F238E27FC236}">
                <a16:creationId xmlns:a16="http://schemas.microsoft.com/office/drawing/2014/main" id="{3C89CA3E-9E60-4045-3B79-1F70812D51B0}"/>
              </a:ext>
            </a:extLst>
          </p:cNvPr>
          <p:cNvSpPr/>
          <p:nvPr/>
        </p:nvSpPr>
        <p:spPr>
          <a:xfrm>
            <a:off x="6308454" y="5725709"/>
            <a:ext cx="2386959" cy="374225"/>
          </a:xfrm>
          <a:prstGeom prst="rect">
            <a:avLst/>
          </a:prstGeom>
          <a:ln/>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srgbClr val="FFFFFF"/>
                </a:solidFill>
                <a:effectLst/>
                <a:uLnTx/>
                <a:uFillTx/>
                <a:latin typeface="Arial"/>
                <a:ea typeface="Meiryo UI"/>
                <a:cs typeface="+mn-cs"/>
              </a:rPr>
              <a:t>営業・販社支援</a:t>
            </a:r>
          </a:p>
        </p:txBody>
      </p:sp>
      <p:sp>
        <p:nvSpPr>
          <p:cNvPr id="21" name="ホームベース 22">
            <a:extLst>
              <a:ext uri="{FF2B5EF4-FFF2-40B4-BE49-F238E27FC236}">
                <a16:creationId xmlns:a16="http://schemas.microsoft.com/office/drawing/2014/main" id="{918AEC8C-6AE5-8261-BCFA-BDF574D269FB}"/>
              </a:ext>
            </a:extLst>
          </p:cNvPr>
          <p:cNvSpPr/>
          <p:nvPr/>
        </p:nvSpPr>
        <p:spPr>
          <a:xfrm>
            <a:off x="6308455" y="4791963"/>
            <a:ext cx="2386958" cy="72641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各支社・支店要員の量的・質的</a:t>
            </a:r>
            <a:b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b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課題を改善するための施策により国内サービスケーパビリティを強化する。</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22" name="正方形/長方形 95">
            <a:extLst>
              <a:ext uri="{FF2B5EF4-FFF2-40B4-BE49-F238E27FC236}">
                <a16:creationId xmlns:a16="http://schemas.microsoft.com/office/drawing/2014/main" id="{B2D610FE-7AF4-EB8A-758B-D2F298654F93}"/>
              </a:ext>
            </a:extLst>
          </p:cNvPr>
          <p:cNvSpPr/>
          <p:nvPr/>
        </p:nvSpPr>
        <p:spPr>
          <a:xfrm>
            <a:off x="6308454" y="1719314"/>
            <a:ext cx="5198829" cy="374225"/>
          </a:xfrm>
          <a:prstGeom prst="rect">
            <a:avLst/>
          </a:prstGeom>
          <a:ln/>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srgbClr val="FFFFFF"/>
                </a:solidFill>
                <a:effectLst/>
                <a:uLnTx/>
                <a:uFillTx/>
                <a:latin typeface="Arial"/>
                <a:ea typeface="Meiryo UI"/>
                <a:cs typeface="+mn-cs"/>
              </a:rPr>
              <a:t>本部管理（ミドルマネジメントレイヤー）</a:t>
            </a:r>
          </a:p>
        </p:txBody>
      </p:sp>
      <p:sp>
        <p:nvSpPr>
          <p:cNvPr id="23" name="ホームベース 22">
            <a:extLst>
              <a:ext uri="{FF2B5EF4-FFF2-40B4-BE49-F238E27FC236}">
                <a16:creationId xmlns:a16="http://schemas.microsoft.com/office/drawing/2014/main" id="{9BE4AF79-A414-0865-BCF3-511D53D8031E}"/>
              </a:ext>
            </a:extLst>
          </p:cNvPr>
          <p:cNvSpPr/>
          <p:nvPr/>
        </p:nvSpPr>
        <p:spPr>
          <a:xfrm>
            <a:off x="6308455" y="2306364"/>
            <a:ext cx="2386958" cy="72641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新車販売への悪影響を避けるため</a:t>
            </a:r>
            <a:b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b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アフタセールスと並行した販売勧誘も</a:t>
            </a: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KPI</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として検討すべきである。</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24" name="ホームベース 22">
            <a:extLst>
              <a:ext uri="{FF2B5EF4-FFF2-40B4-BE49-F238E27FC236}">
                <a16:creationId xmlns:a16="http://schemas.microsoft.com/office/drawing/2014/main" id="{AF066E80-3ED9-78BB-3E6D-BB7C8864501F}"/>
              </a:ext>
            </a:extLst>
          </p:cNvPr>
          <p:cNvSpPr/>
          <p:nvPr/>
        </p:nvSpPr>
        <p:spPr>
          <a:xfrm>
            <a:off x="9120325" y="2306364"/>
            <a:ext cx="2386958" cy="72641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各機能・支社・販社からの情報を包括的に取りまとめ分析できる人員やスキルがない。</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25" name="正方形/長方形 95">
            <a:extLst>
              <a:ext uri="{FF2B5EF4-FFF2-40B4-BE49-F238E27FC236}">
                <a16:creationId xmlns:a16="http://schemas.microsoft.com/office/drawing/2014/main" id="{284A5641-E185-5450-5DF3-AAACFCCA821D}"/>
              </a:ext>
            </a:extLst>
          </p:cNvPr>
          <p:cNvSpPr/>
          <p:nvPr/>
        </p:nvSpPr>
        <p:spPr>
          <a:xfrm>
            <a:off x="9120323" y="5725709"/>
            <a:ext cx="2386959" cy="374225"/>
          </a:xfrm>
          <a:prstGeom prst="rect">
            <a:avLst/>
          </a:prstGeom>
          <a:ln/>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srgbClr val="FFFFFF"/>
                </a:solidFill>
                <a:effectLst/>
                <a:uLnTx/>
                <a:uFillTx/>
                <a:latin typeface="Arial"/>
                <a:ea typeface="Meiryo UI"/>
                <a:cs typeface="+mn-cs"/>
              </a:rPr>
              <a:t>販売会社</a:t>
            </a:r>
          </a:p>
        </p:txBody>
      </p:sp>
      <p:sp>
        <p:nvSpPr>
          <p:cNvPr id="26" name="ホームベース 22">
            <a:extLst>
              <a:ext uri="{FF2B5EF4-FFF2-40B4-BE49-F238E27FC236}">
                <a16:creationId xmlns:a16="http://schemas.microsoft.com/office/drawing/2014/main" id="{FADD7F03-9616-0E6F-1CD7-A51619203B88}"/>
              </a:ext>
            </a:extLst>
          </p:cNvPr>
          <p:cNvSpPr/>
          <p:nvPr/>
        </p:nvSpPr>
        <p:spPr>
          <a:xfrm>
            <a:off x="9120325" y="4791963"/>
            <a:ext cx="2386958" cy="72641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既存業務をこなすだけでも精一杯でありデータを集めたり整えられる人員などいない。</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28" name="正方形/長方形 95">
            <a:extLst>
              <a:ext uri="{FF2B5EF4-FFF2-40B4-BE49-F238E27FC236}">
                <a16:creationId xmlns:a16="http://schemas.microsoft.com/office/drawing/2014/main" id="{7B612C6E-C364-A0F9-25F2-A69070B4B369}"/>
              </a:ext>
            </a:extLst>
          </p:cNvPr>
          <p:cNvSpPr/>
          <p:nvPr/>
        </p:nvSpPr>
        <p:spPr>
          <a:xfrm>
            <a:off x="684715" y="3722511"/>
            <a:ext cx="10822567" cy="374225"/>
          </a:xfrm>
          <a:prstGeom prst="rect">
            <a:avLst/>
          </a:prstGeom>
          <a:solidFill>
            <a:srgbClr val="E42600"/>
          </a:solidFill>
          <a:ln>
            <a:solidFill>
              <a:srgbClr val="B22000"/>
            </a:solidFill>
          </a:ln>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a:ln>
                  <a:noFill/>
                </a:ln>
                <a:solidFill>
                  <a:srgbClr val="FFFFFF"/>
                </a:solidFill>
                <a:effectLst/>
                <a:uLnTx/>
                <a:uFillTx/>
                <a:latin typeface="Arial"/>
                <a:ea typeface="Meiryo UI"/>
                <a:cs typeface="+mn-cs"/>
              </a:rPr>
              <a:t>KPI</a:t>
            </a:r>
            <a:r>
              <a:rPr kumimoji="1" lang="ja-JP" altLang="en-US" sz="1400" b="1" i="0" u="none" strike="noStrike" kern="1200" cap="none" spc="0" normalizeH="0" baseline="0" noProof="0">
                <a:ln>
                  <a:noFill/>
                </a:ln>
                <a:solidFill>
                  <a:srgbClr val="FFFFFF"/>
                </a:solidFill>
                <a:effectLst/>
                <a:uLnTx/>
                <a:uFillTx/>
                <a:latin typeface="Arial"/>
                <a:ea typeface="Meiryo UI"/>
                <a:cs typeface="+mn-cs"/>
              </a:rPr>
              <a:t>の肥大化・非現実化</a:t>
            </a:r>
          </a:p>
        </p:txBody>
      </p:sp>
      <p:sp>
        <p:nvSpPr>
          <p:cNvPr id="29" name="Arrow: Down 28">
            <a:extLst>
              <a:ext uri="{FF2B5EF4-FFF2-40B4-BE49-F238E27FC236}">
                <a16:creationId xmlns:a16="http://schemas.microsoft.com/office/drawing/2014/main" id="{20B0CD02-83B6-34B4-4A1A-4EDC816C8A80}"/>
              </a:ext>
            </a:extLst>
          </p:cNvPr>
          <p:cNvSpPr/>
          <p:nvPr/>
        </p:nvSpPr>
        <p:spPr>
          <a:xfrm>
            <a:off x="1709520" y="3190530"/>
            <a:ext cx="337352" cy="374225"/>
          </a:xfrm>
          <a:prstGeom prst="downArrow">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0" normalizeH="0" baseline="0" noProof="0" err="1">
              <a:ln>
                <a:noFill/>
              </a:ln>
              <a:solidFill>
                <a:srgbClr val="000000"/>
              </a:solidFill>
              <a:effectLst/>
              <a:uLnTx/>
              <a:uFillTx/>
              <a:latin typeface="Arial"/>
              <a:ea typeface="Meiryo UI"/>
              <a:cs typeface="+mn-cs"/>
            </a:endParaRPr>
          </a:p>
        </p:txBody>
      </p:sp>
      <p:sp>
        <p:nvSpPr>
          <p:cNvPr id="30" name="Arrow: Down 29">
            <a:extLst>
              <a:ext uri="{FF2B5EF4-FFF2-40B4-BE49-F238E27FC236}">
                <a16:creationId xmlns:a16="http://schemas.microsoft.com/office/drawing/2014/main" id="{6252A396-2B92-0B4E-2176-D67C3D891815}"/>
              </a:ext>
            </a:extLst>
          </p:cNvPr>
          <p:cNvSpPr/>
          <p:nvPr/>
        </p:nvSpPr>
        <p:spPr>
          <a:xfrm>
            <a:off x="4521389" y="3190530"/>
            <a:ext cx="337352" cy="374225"/>
          </a:xfrm>
          <a:prstGeom prst="downArrow">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0" normalizeH="0" baseline="0" noProof="0" err="1">
              <a:ln>
                <a:noFill/>
              </a:ln>
              <a:solidFill>
                <a:srgbClr val="000000"/>
              </a:solidFill>
              <a:effectLst/>
              <a:uLnTx/>
              <a:uFillTx/>
              <a:latin typeface="Arial"/>
              <a:ea typeface="Meiryo UI"/>
              <a:cs typeface="+mn-cs"/>
            </a:endParaRPr>
          </a:p>
        </p:txBody>
      </p:sp>
      <p:sp>
        <p:nvSpPr>
          <p:cNvPr id="32" name="Arrow: Down 31">
            <a:extLst>
              <a:ext uri="{FF2B5EF4-FFF2-40B4-BE49-F238E27FC236}">
                <a16:creationId xmlns:a16="http://schemas.microsoft.com/office/drawing/2014/main" id="{585F063F-D872-6C77-4E87-9341BBA0EC71}"/>
              </a:ext>
            </a:extLst>
          </p:cNvPr>
          <p:cNvSpPr/>
          <p:nvPr/>
        </p:nvSpPr>
        <p:spPr>
          <a:xfrm>
            <a:off x="7333258" y="3190530"/>
            <a:ext cx="337352" cy="374225"/>
          </a:xfrm>
          <a:prstGeom prst="downArrow">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0" normalizeH="0" baseline="0" noProof="0" err="1">
              <a:ln>
                <a:noFill/>
              </a:ln>
              <a:solidFill>
                <a:srgbClr val="000000"/>
              </a:solidFill>
              <a:effectLst/>
              <a:uLnTx/>
              <a:uFillTx/>
              <a:latin typeface="Arial"/>
              <a:ea typeface="Meiryo UI"/>
              <a:cs typeface="+mn-cs"/>
            </a:endParaRPr>
          </a:p>
        </p:txBody>
      </p:sp>
      <p:sp>
        <p:nvSpPr>
          <p:cNvPr id="33" name="Arrow: Down 32">
            <a:extLst>
              <a:ext uri="{FF2B5EF4-FFF2-40B4-BE49-F238E27FC236}">
                <a16:creationId xmlns:a16="http://schemas.microsoft.com/office/drawing/2014/main" id="{88AB5ACF-54BB-1F3D-DA52-DC2601D74E5D}"/>
              </a:ext>
            </a:extLst>
          </p:cNvPr>
          <p:cNvSpPr/>
          <p:nvPr/>
        </p:nvSpPr>
        <p:spPr>
          <a:xfrm>
            <a:off x="10145128" y="3190530"/>
            <a:ext cx="337352" cy="374225"/>
          </a:xfrm>
          <a:prstGeom prst="downArrow">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0" normalizeH="0" baseline="0" noProof="0" err="1">
              <a:ln>
                <a:noFill/>
              </a:ln>
              <a:solidFill>
                <a:srgbClr val="000000"/>
              </a:solidFill>
              <a:effectLst/>
              <a:uLnTx/>
              <a:uFillTx/>
              <a:latin typeface="Arial"/>
              <a:ea typeface="Meiryo UI"/>
              <a:cs typeface="+mn-cs"/>
            </a:endParaRPr>
          </a:p>
        </p:txBody>
      </p:sp>
      <p:sp>
        <p:nvSpPr>
          <p:cNvPr id="38" name="Arrow: Down 37">
            <a:extLst>
              <a:ext uri="{FF2B5EF4-FFF2-40B4-BE49-F238E27FC236}">
                <a16:creationId xmlns:a16="http://schemas.microsoft.com/office/drawing/2014/main" id="{C8CA3A14-D496-2130-7F72-E2F71B7B8F42}"/>
              </a:ext>
            </a:extLst>
          </p:cNvPr>
          <p:cNvSpPr/>
          <p:nvPr/>
        </p:nvSpPr>
        <p:spPr>
          <a:xfrm flipV="1">
            <a:off x="1709520" y="4254492"/>
            <a:ext cx="337352" cy="374225"/>
          </a:xfrm>
          <a:prstGeom prst="downArrow">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0" normalizeH="0" baseline="0" noProof="0" err="1">
              <a:ln>
                <a:noFill/>
              </a:ln>
              <a:solidFill>
                <a:srgbClr val="000000"/>
              </a:solidFill>
              <a:effectLst/>
              <a:uLnTx/>
              <a:uFillTx/>
              <a:latin typeface="Arial"/>
              <a:ea typeface="Meiryo UI"/>
              <a:cs typeface="+mn-cs"/>
            </a:endParaRPr>
          </a:p>
        </p:txBody>
      </p:sp>
      <p:sp>
        <p:nvSpPr>
          <p:cNvPr id="39" name="Arrow: Down 38">
            <a:extLst>
              <a:ext uri="{FF2B5EF4-FFF2-40B4-BE49-F238E27FC236}">
                <a16:creationId xmlns:a16="http://schemas.microsoft.com/office/drawing/2014/main" id="{4600FA9A-9788-CF18-3B10-EEBA76596E94}"/>
              </a:ext>
            </a:extLst>
          </p:cNvPr>
          <p:cNvSpPr/>
          <p:nvPr/>
        </p:nvSpPr>
        <p:spPr>
          <a:xfrm flipV="1">
            <a:off x="4521389" y="4254492"/>
            <a:ext cx="337352" cy="374225"/>
          </a:xfrm>
          <a:prstGeom prst="downArrow">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0" normalizeH="0" baseline="0" noProof="0" err="1">
              <a:ln>
                <a:noFill/>
              </a:ln>
              <a:solidFill>
                <a:srgbClr val="000000"/>
              </a:solidFill>
              <a:effectLst/>
              <a:uLnTx/>
              <a:uFillTx/>
              <a:latin typeface="Arial"/>
              <a:ea typeface="Meiryo UI"/>
              <a:cs typeface="+mn-cs"/>
            </a:endParaRPr>
          </a:p>
        </p:txBody>
      </p:sp>
      <p:sp>
        <p:nvSpPr>
          <p:cNvPr id="40" name="Arrow: Down 39">
            <a:extLst>
              <a:ext uri="{FF2B5EF4-FFF2-40B4-BE49-F238E27FC236}">
                <a16:creationId xmlns:a16="http://schemas.microsoft.com/office/drawing/2014/main" id="{BF5E12FC-3694-E5D7-2193-6D336E002E49}"/>
              </a:ext>
            </a:extLst>
          </p:cNvPr>
          <p:cNvSpPr/>
          <p:nvPr/>
        </p:nvSpPr>
        <p:spPr>
          <a:xfrm flipV="1">
            <a:off x="7333258" y="4254492"/>
            <a:ext cx="337352" cy="374225"/>
          </a:xfrm>
          <a:prstGeom prst="downArrow">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0" normalizeH="0" baseline="0" noProof="0" err="1">
              <a:ln>
                <a:noFill/>
              </a:ln>
              <a:solidFill>
                <a:srgbClr val="000000"/>
              </a:solidFill>
              <a:effectLst/>
              <a:uLnTx/>
              <a:uFillTx/>
              <a:latin typeface="Arial"/>
              <a:ea typeface="Meiryo UI"/>
              <a:cs typeface="+mn-cs"/>
            </a:endParaRPr>
          </a:p>
        </p:txBody>
      </p:sp>
      <p:sp>
        <p:nvSpPr>
          <p:cNvPr id="41" name="Arrow: Down 40">
            <a:extLst>
              <a:ext uri="{FF2B5EF4-FFF2-40B4-BE49-F238E27FC236}">
                <a16:creationId xmlns:a16="http://schemas.microsoft.com/office/drawing/2014/main" id="{1643D0AE-AD6D-122F-3D88-F419AA519FD5}"/>
              </a:ext>
            </a:extLst>
          </p:cNvPr>
          <p:cNvSpPr/>
          <p:nvPr/>
        </p:nvSpPr>
        <p:spPr>
          <a:xfrm flipV="1">
            <a:off x="10145128" y="4254492"/>
            <a:ext cx="337352" cy="374225"/>
          </a:xfrm>
          <a:prstGeom prst="downArrow">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0" normalizeH="0" baseline="0" noProof="0" err="1">
              <a:ln>
                <a:noFill/>
              </a:ln>
              <a:solidFill>
                <a:srgbClr val="000000"/>
              </a:solidFill>
              <a:effectLst/>
              <a:uLnTx/>
              <a:uFillTx/>
              <a:latin typeface="Arial"/>
              <a:ea typeface="Meiryo UI"/>
              <a:cs typeface="+mn-cs"/>
            </a:endParaRPr>
          </a:p>
        </p:txBody>
      </p:sp>
    </p:spTree>
    <p:extLst>
      <p:ext uri="{BB962C8B-B14F-4D97-AF65-F5344CB8AC3E}">
        <p14:creationId xmlns:p14="http://schemas.microsoft.com/office/powerpoint/2010/main" val="26945610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07622-5899-6BD0-2EC5-2AD874F8D2D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35678E1-E481-2878-3132-BDB6E96FD9DE}"/>
              </a:ext>
            </a:extLst>
          </p:cNvPr>
          <p:cNvSpPr>
            <a:spLocks noGrp="1"/>
          </p:cNvSpPr>
          <p:nvPr>
            <p:ph type="title"/>
          </p:nvPr>
        </p:nvSpPr>
        <p:spPr/>
        <p:txBody>
          <a:bodyPr/>
          <a:lstStyle/>
          <a:p>
            <a:r>
              <a:rPr lang="ja-JP" altLang="en-US" sz="1600">
                <a:solidFill>
                  <a:schemeClr val="accent2"/>
                </a:solidFill>
                <a:latin typeface="Meiryo UI" panose="020B0604030504040204" pitchFamily="50" charset="-128"/>
                <a:ea typeface="Meiryo UI" panose="020B0604030504040204" pitchFamily="50" charset="-128"/>
              </a:rPr>
              <a:t>事例①：自動車メーカー　</a:t>
            </a:r>
            <a:r>
              <a:rPr lang="en-US" altLang="ja-JP" sz="1600">
                <a:solidFill>
                  <a:schemeClr val="accent2"/>
                </a:solidFill>
                <a:latin typeface="Meiryo UI" panose="020B0604030504040204" pitchFamily="50" charset="-128"/>
                <a:ea typeface="Meiryo UI" panose="020B0604030504040204" pitchFamily="50" charset="-128"/>
              </a:rPr>
              <a:t>KPI</a:t>
            </a:r>
            <a:r>
              <a:rPr lang="ja-JP" altLang="en-US" sz="1600">
                <a:solidFill>
                  <a:schemeClr val="accent2"/>
                </a:solidFill>
                <a:latin typeface="Meiryo UI" panose="020B0604030504040204" pitchFamily="50" charset="-128"/>
                <a:ea typeface="Meiryo UI" panose="020B0604030504040204" pitchFamily="50" charset="-128"/>
              </a:rPr>
              <a:t>ダッシュボード化と事業適正化</a:t>
            </a:r>
            <a:br>
              <a:rPr lang="en-US" altLang="ja-JP" sz="3600">
                <a:solidFill>
                  <a:schemeClr val="accent2"/>
                </a:solidFill>
                <a:latin typeface="Meiryo UI" panose="020B0604030504040204" pitchFamily="50" charset="-128"/>
                <a:ea typeface="Meiryo UI" panose="020B0604030504040204" pitchFamily="50" charset="-128"/>
              </a:rPr>
            </a:br>
            <a:r>
              <a:rPr lang="ja-JP" altLang="en-US" sz="2400">
                <a:solidFill>
                  <a:schemeClr val="accent2"/>
                </a:solidFill>
                <a:latin typeface="Meiryo UI" panose="020B0604030504040204" pitchFamily="50" charset="-128"/>
                <a:ea typeface="Meiryo UI" panose="020B0604030504040204" pitchFamily="50" charset="-128"/>
              </a:rPr>
              <a:t>推進における課題（</a:t>
            </a:r>
            <a:r>
              <a:rPr lang="en-US" altLang="ja-JP" sz="2400">
                <a:solidFill>
                  <a:schemeClr val="accent2"/>
                </a:solidFill>
                <a:latin typeface="Meiryo UI" panose="020B0604030504040204" pitchFamily="50" charset="-128"/>
                <a:ea typeface="Meiryo UI" panose="020B0604030504040204" pitchFamily="50" charset="-128"/>
              </a:rPr>
              <a:t>IT</a:t>
            </a:r>
            <a:r>
              <a:rPr lang="ja-JP" altLang="en-US" sz="2400">
                <a:solidFill>
                  <a:schemeClr val="accent2"/>
                </a:solidFill>
                <a:latin typeface="Meiryo UI" panose="020B0604030504040204" pitchFamily="50" charset="-128"/>
                <a:ea typeface="Meiryo UI" panose="020B0604030504040204" pitchFamily="50" charset="-128"/>
              </a:rPr>
              <a:t>面）</a:t>
            </a:r>
          </a:p>
        </p:txBody>
      </p:sp>
      <p:sp>
        <p:nvSpPr>
          <p:cNvPr id="4" name="コンテンツ プレースホルダー 3">
            <a:extLst>
              <a:ext uri="{FF2B5EF4-FFF2-40B4-BE49-F238E27FC236}">
                <a16:creationId xmlns:a16="http://schemas.microsoft.com/office/drawing/2014/main" id="{D2017088-1C56-157B-EF6F-02E72084ABE5}"/>
              </a:ext>
            </a:extLst>
          </p:cNvPr>
          <p:cNvSpPr>
            <a:spLocks noGrp="1"/>
          </p:cNvSpPr>
          <p:nvPr>
            <p:ph sz="quarter" idx="10"/>
          </p:nvPr>
        </p:nvSpPr>
        <p:spPr>
          <a:xfrm>
            <a:off x="388603" y="945178"/>
            <a:ext cx="11448000" cy="746871"/>
          </a:xfrm>
        </p:spPr>
        <p:txBody>
          <a:bodyPr/>
          <a:lstStyle/>
          <a:p>
            <a:r>
              <a:rPr lang="en-US" altLang="ja-JP"/>
              <a:t>KPI</a:t>
            </a:r>
            <a:r>
              <a:rPr lang="ja-JP" altLang="en-US"/>
              <a:t>の肥大化していくにつられ確保しないといけないデータの量や種類が増えたり、新しいデータを取得する必要が</a:t>
            </a:r>
            <a:br>
              <a:rPr lang="en-US" altLang="ja-JP"/>
            </a:br>
            <a:r>
              <a:rPr lang="ja-JP" altLang="en-US"/>
              <a:t>あったりなどで従来通りの方法論では</a:t>
            </a:r>
            <a:r>
              <a:rPr lang="en-US" altLang="ja-JP"/>
              <a:t>PJ</a:t>
            </a:r>
            <a:r>
              <a:rPr lang="ja-JP" altLang="en-US"/>
              <a:t>のコスト・期間が非現実的なものとなった。</a:t>
            </a:r>
          </a:p>
        </p:txBody>
      </p:sp>
      <p:sp>
        <p:nvSpPr>
          <p:cNvPr id="5" name="正方形/長方形 95">
            <a:extLst>
              <a:ext uri="{FF2B5EF4-FFF2-40B4-BE49-F238E27FC236}">
                <a16:creationId xmlns:a16="http://schemas.microsoft.com/office/drawing/2014/main" id="{FBFA110F-A475-ADFE-A6CF-7F0423760E5D}"/>
              </a:ext>
            </a:extLst>
          </p:cNvPr>
          <p:cNvSpPr/>
          <p:nvPr/>
        </p:nvSpPr>
        <p:spPr>
          <a:xfrm>
            <a:off x="684716" y="1784023"/>
            <a:ext cx="2386959" cy="374225"/>
          </a:xfrm>
          <a:prstGeom prst="rect">
            <a:avLst/>
          </a:prstGeom>
          <a:ln/>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srgbClr val="FFFFFF"/>
                </a:solidFill>
                <a:effectLst/>
                <a:uLnTx/>
                <a:uFillTx/>
                <a:latin typeface="Arial"/>
                <a:ea typeface="Meiryo UI"/>
                <a:cs typeface="+mn-cs"/>
              </a:rPr>
              <a:t>売上データ</a:t>
            </a:r>
          </a:p>
        </p:txBody>
      </p:sp>
      <p:sp>
        <p:nvSpPr>
          <p:cNvPr id="6" name="ホームベース 22">
            <a:extLst>
              <a:ext uri="{FF2B5EF4-FFF2-40B4-BE49-F238E27FC236}">
                <a16:creationId xmlns:a16="http://schemas.microsoft.com/office/drawing/2014/main" id="{9A485046-2BFA-5CB5-ECC6-995E4FD55D34}"/>
              </a:ext>
            </a:extLst>
          </p:cNvPr>
          <p:cNvSpPr/>
          <p:nvPr/>
        </p:nvSpPr>
        <p:spPr>
          <a:xfrm>
            <a:off x="684717" y="2306364"/>
            <a:ext cx="2386958"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A</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部門予測値</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pic>
        <p:nvPicPr>
          <p:cNvPr id="7" name="図 118">
            <a:extLst>
              <a:ext uri="{FF2B5EF4-FFF2-40B4-BE49-F238E27FC236}">
                <a16:creationId xmlns:a16="http://schemas.microsoft.com/office/drawing/2014/main" id="{B855D561-E998-4B34-3E09-E5775404F9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03397" y="2374860"/>
            <a:ext cx="237231" cy="237231"/>
          </a:xfrm>
          <a:prstGeom prst="rect">
            <a:avLst/>
          </a:prstGeom>
        </p:spPr>
      </p:pic>
      <p:sp>
        <p:nvSpPr>
          <p:cNvPr id="8" name="ホームベース 22">
            <a:extLst>
              <a:ext uri="{FF2B5EF4-FFF2-40B4-BE49-F238E27FC236}">
                <a16:creationId xmlns:a16="http://schemas.microsoft.com/office/drawing/2014/main" id="{D1C6CC33-F09A-EC55-39E8-7A30A4C198BD}"/>
              </a:ext>
            </a:extLst>
          </p:cNvPr>
          <p:cNvSpPr/>
          <p:nvPr/>
        </p:nvSpPr>
        <p:spPr>
          <a:xfrm>
            <a:off x="684717" y="2826516"/>
            <a:ext cx="2386958"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B</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部門役員報告用</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pic>
        <p:nvPicPr>
          <p:cNvPr id="9" name="図 118">
            <a:extLst>
              <a:ext uri="{FF2B5EF4-FFF2-40B4-BE49-F238E27FC236}">
                <a16:creationId xmlns:a16="http://schemas.microsoft.com/office/drawing/2014/main" id="{EA7A9B6B-69B9-C8AF-C887-202EC60392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03397" y="2897201"/>
            <a:ext cx="237231" cy="237231"/>
          </a:xfrm>
          <a:prstGeom prst="rect">
            <a:avLst/>
          </a:prstGeom>
        </p:spPr>
      </p:pic>
      <p:sp>
        <p:nvSpPr>
          <p:cNvPr id="10" name="ホームベース 22">
            <a:extLst>
              <a:ext uri="{FF2B5EF4-FFF2-40B4-BE49-F238E27FC236}">
                <a16:creationId xmlns:a16="http://schemas.microsoft.com/office/drawing/2014/main" id="{778653A1-8759-9FBF-1612-AC206C4AF829}"/>
              </a:ext>
            </a:extLst>
          </p:cNvPr>
          <p:cNvSpPr/>
          <p:nvPr/>
        </p:nvSpPr>
        <p:spPr>
          <a:xfrm>
            <a:off x="684717" y="3346668"/>
            <a:ext cx="2386958"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C</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部門販社集計データ</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1" name="Flowchart: Document 10">
            <a:extLst>
              <a:ext uri="{FF2B5EF4-FFF2-40B4-BE49-F238E27FC236}">
                <a16:creationId xmlns:a16="http://schemas.microsoft.com/office/drawing/2014/main" id="{9E53B3B1-C153-FEA2-5F61-D140E0CA15AD}"/>
              </a:ext>
            </a:extLst>
          </p:cNvPr>
          <p:cNvSpPr/>
          <p:nvPr/>
        </p:nvSpPr>
        <p:spPr>
          <a:xfrm>
            <a:off x="2424124" y="3388217"/>
            <a:ext cx="558545" cy="292660"/>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a:ea typeface="Meiryo UI"/>
                <a:cs typeface="+mn-cs"/>
              </a:rPr>
              <a:t>A</a:t>
            </a:r>
            <a:r>
              <a:rPr kumimoji="1" lang="ja-JP" altLang="en-US" sz="1000" b="0" i="0" u="none" strike="noStrike" kern="1200" cap="none" spc="0" normalizeH="0" baseline="0" noProof="0">
                <a:ln>
                  <a:noFill/>
                </a:ln>
                <a:solidFill>
                  <a:srgbClr val="000000"/>
                </a:solidFill>
                <a:effectLst/>
                <a:uLnTx/>
                <a:uFillTx/>
                <a:latin typeface="Meiryo UI"/>
                <a:ea typeface="Meiryo UI"/>
                <a:cs typeface="+mn-cs"/>
              </a:rPr>
              <a:t>システム</a:t>
            </a:r>
            <a:endParaRPr kumimoji="1" lang="en-US" sz="1000" b="0" i="0" u="none" strike="noStrike" kern="1200" cap="none" spc="0" normalizeH="0" baseline="0" noProof="0" err="1">
              <a:ln>
                <a:noFill/>
              </a:ln>
              <a:solidFill>
                <a:srgbClr val="000000"/>
              </a:solidFill>
              <a:effectLst/>
              <a:uLnTx/>
              <a:uFillTx/>
              <a:latin typeface="Meiryo UI"/>
              <a:ea typeface="Meiryo UI"/>
              <a:cs typeface="+mn-cs"/>
            </a:endParaRPr>
          </a:p>
        </p:txBody>
      </p:sp>
      <p:sp>
        <p:nvSpPr>
          <p:cNvPr id="12" name="ホームベース 22">
            <a:extLst>
              <a:ext uri="{FF2B5EF4-FFF2-40B4-BE49-F238E27FC236}">
                <a16:creationId xmlns:a16="http://schemas.microsoft.com/office/drawing/2014/main" id="{3174718A-AC45-D3DA-8F99-FD86EB39C821}"/>
              </a:ext>
            </a:extLst>
          </p:cNvPr>
          <p:cNvSpPr/>
          <p:nvPr/>
        </p:nvSpPr>
        <p:spPr>
          <a:xfrm>
            <a:off x="684717" y="3866820"/>
            <a:ext cx="2386958"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D</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部門部品出庫実績</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27" name="Flowchart: Document 26">
            <a:extLst>
              <a:ext uri="{FF2B5EF4-FFF2-40B4-BE49-F238E27FC236}">
                <a16:creationId xmlns:a16="http://schemas.microsoft.com/office/drawing/2014/main" id="{41ADDE92-915C-0AC2-8C03-BAD2CC8A1D60}"/>
              </a:ext>
            </a:extLst>
          </p:cNvPr>
          <p:cNvSpPr/>
          <p:nvPr/>
        </p:nvSpPr>
        <p:spPr>
          <a:xfrm>
            <a:off x="2162607" y="3906947"/>
            <a:ext cx="558545" cy="292660"/>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a:ea typeface="Meiryo UI"/>
                <a:cs typeface="+mn-cs"/>
              </a:rPr>
              <a:t>B</a:t>
            </a:r>
            <a:r>
              <a:rPr kumimoji="1" lang="ja-JP" altLang="en-US" sz="1000" b="0" i="0" u="none" strike="noStrike" kern="1200" cap="none" spc="0" normalizeH="0" baseline="0" noProof="0">
                <a:ln>
                  <a:noFill/>
                </a:ln>
                <a:solidFill>
                  <a:srgbClr val="000000"/>
                </a:solidFill>
                <a:effectLst/>
                <a:uLnTx/>
                <a:uFillTx/>
                <a:latin typeface="Meiryo UI"/>
                <a:ea typeface="Meiryo UI"/>
                <a:cs typeface="+mn-cs"/>
              </a:rPr>
              <a:t>システム</a:t>
            </a:r>
            <a:endParaRPr kumimoji="1" lang="en-US" sz="1000" b="0" i="0" u="none" strike="noStrike" kern="1200" cap="none" spc="0" normalizeH="0" baseline="0" noProof="0" err="1">
              <a:ln>
                <a:noFill/>
              </a:ln>
              <a:solidFill>
                <a:srgbClr val="000000"/>
              </a:solidFill>
              <a:effectLst/>
              <a:uLnTx/>
              <a:uFillTx/>
              <a:latin typeface="Meiryo UI"/>
              <a:ea typeface="Meiryo UI"/>
              <a:cs typeface="+mn-cs"/>
            </a:endParaRPr>
          </a:p>
        </p:txBody>
      </p:sp>
      <p:pic>
        <p:nvPicPr>
          <p:cNvPr id="31" name="図 118">
            <a:extLst>
              <a:ext uri="{FF2B5EF4-FFF2-40B4-BE49-F238E27FC236}">
                <a16:creationId xmlns:a16="http://schemas.microsoft.com/office/drawing/2014/main" id="{C61BCBFD-C438-89DE-13FA-CD42367738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68692" y="3934661"/>
            <a:ext cx="237231" cy="237231"/>
          </a:xfrm>
          <a:prstGeom prst="rect">
            <a:avLst/>
          </a:prstGeom>
        </p:spPr>
      </p:pic>
      <p:sp>
        <p:nvSpPr>
          <p:cNvPr id="34" name="ホームベース 22">
            <a:extLst>
              <a:ext uri="{FF2B5EF4-FFF2-40B4-BE49-F238E27FC236}">
                <a16:creationId xmlns:a16="http://schemas.microsoft.com/office/drawing/2014/main" id="{D7FAD9D7-0A36-553C-1AFE-1BA63DE18710}"/>
              </a:ext>
            </a:extLst>
          </p:cNvPr>
          <p:cNvSpPr/>
          <p:nvPr/>
        </p:nvSpPr>
        <p:spPr>
          <a:xfrm>
            <a:off x="684717" y="4386972"/>
            <a:ext cx="2386958"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E</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部門サービス売上データ</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35" name="Flowchart: Document 34">
            <a:extLst>
              <a:ext uri="{FF2B5EF4-FFF2-40B4-BE49-F238E27FC236}">
                <a16:creationId xmlns:a16="http://schemas.microsoft.com/office/drawing/2014/main" id="{0A6C3909-8917-5A05-B82A-E35140835681}"/>
              </a:ext>
            </a:extLst>
          </p:cNvPr>
          <p:cNvSpPr/>
          <p:nvPr/>
        </p:nvSpPr>
        <p:spPr>
          <a:xfrm>
            <a:off x="2424124" y="4425677"/>
            <a:ext cx="558545" cy="292660"/>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a:ea typeface="Meiryo UI"/>
                <a:cs typeface="+mn-cs"/>
              </a:rPr>
              <a:t>C</a:t>
            </a:r>
            <a:r>
              <a:rPr kumimoji="1" lang="ja-JP" altLang="en-US" sz="1000" b="0" i="0" u="none" strike="noStrike" kern="1200" cap="none" spc="0" normalizeH="0" baseline="0" noProof="0">
                <a:ln>
                  <a:noFill/>
                </a:ln>
                <a:solidFill>
                  <a:srgbClr val="000000"/>
                </a:solidFill>
                <a:effectLst/>
                <a:uLnTx/>
                <a:uFillTx/>
                <a:latin typeface="Meiryo UI"/>
                <a:ea typeface="Meiryo UI"/>
                <a:cs typeface="+mn-cs"/>
              </a:rPr>
              <a:t>システム</a:t>
            </a:r>
            <a:endParaRPr kumimoji="1" lang="en-US" sz="1000" b="0" i="0" u="none" strike="noStrike" kern="1200" cap="none" spc="0" normalizeH="0" baseline="0" noProof="0" err="1">
              <a:ln>
                <a:noFill/>
              </a:ln>
              <a:solidFill>
                <a:srgbClr val="000000"/>
              </a:solidFill>
              <a:effectLst/>
              <a:uLnTx/>
              <a:uFillTx/>
              <a:latin typeface="Meiryo UI"/>
              <a:ea typeface="Meiryo UI"/>
              <a:cs typeface="+mn-cs"/>
            </a:endParaRPr>
          </a:p>
        </p:txBody>
      </p:sp>
      <p:sp>
        <p:nvSpPr>
          <p:cNvPr id="36" name="ホームベース 22">
            <a:extLst>
              <a:ext uri="{FF2B5EF4-FFF2-40B4-BE49-F238E27FC236}">
                <a16:creationId xmlns:a16="http://schemas.microsoft.com/office/drawing/2014/main" id="{8A9341C1-3F07-E9D1-DFB2-820E7E8579AB}"/>
              </a:ext>
            </a:extLst>
          </p:cNvPr>
          <p:cNvSpPr/>
          <p:nvPr/>
        </p:nvSpPr>
        <p:spPr>
          <a:xfrm>
            <a:off x="684717" y="4907124"/>
            <a:ext cx="2386958"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F</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部門売上予測</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pic>
        <p:nvPicPr>
          <p:cNvPr id="42" name="図 118">
            <a:extLst>
              <a:ext uri="{FF2B5EF4-FFF2-40B4-BE49-F238E27FC236}">
                <a16:creationId xmlns:a16="http://schemas.microsoft.com/office/drawing/2014/main" id="{8627858F-32F1-86CF-296F-342A098EB2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03397" y="4975621"/>
            <a:ext cx="237231" cy="237231"/>
          </a:xfrm>
          <a:prstGeom prst="rect">
            <a:avLst/>
          </a:prstGeom>
        </p:spPr>
      </p:pic>
      <p:cxnSp>
        <p:nvCxnSpPr>
          <p:cNvPr id="44" name="Connector: Curved 43">
            <a:extLst>
              <a:ext uri="{FF2B5EF4-FFF2-40B4-BE49-F238E27FC236}">
                <a16:creationId xmlns:a16="http://schemas.microsoft.com/office/drawing/2014/main" id="{4CE83ADF-0163-C1CF-819F-EF42CA68DD2D}"/>
              </a:ext>
            </a:extLst>
          </p:cNvPr>
          <p:cNvCxnSpPr>
            <a:stCxn id="10" idx="1"/>
            <a:endCxn id="8" idx="1"/>
          </p:cNvCxnSpPr>
          <p:nvPr/>
        </p:nvCxnSpPr>
        <p:spPr>
          <a:xfrm rot="10800000">
            <a:off x="684717" y="3013629"/>
            <a:ext cx="12700" cy="520152"/>
          </a:xfrm>
          <a:prstGeom prst="curvedConnector3">
            <a:avLst>
              <a:gd name="adj1" fmla="val 1800000"/>
            </a:avLst>
          </a:prstGeom>
          <a:ln w="3175">
            <a:solidFill>
              <a:schemeClr val="tx1"/>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C4D89089-15CA-B2D2-0A35-5B7CA5B7A009}"/>
              </a:ext>
            </a:extLst>
          </p:cNvPr>
          <p:cNvSpPr txBox="1"/>
          <p:nvPr/>
        </p:nvSpPr>
        <p:spPr>
          <a:xfrm>
            <a:off x="184338" y="2921240"/>
            <a:ext cx="369332" cy="707886"/>
          </a:xfrm>
          <a:prstGeom prst="rect">
            <a:avLst/>
          </a:prstGeom>
          <a:noFill/>
        </p:spPr>
        <p:txBody>
          <a:bodyPr vert="eaVert"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合わない</a:t>
            </a:r>
            <a:endParaRPr kumimoji="1" lang="en-US" sz="12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p:txBody>
      </p:sp>
      <p:cxnSp>
        <p:nvCxnSpPr>
          <p:cNvPr id="46" name="Connector: Curved 45">
            <a:extLst>
              <a:ext uri="{FF2B5EF4-FFF2-40B4-BE49-F238E27FC236}">
                <a16:creationId xmlns:a16="http://schemas.microsoft.com/office/drawing/2014/main" id="{3A6EDC05-4A1B-740D-809C-A453F543DB99}"/>
              </a:ext>
            </a:extLst>
          </p:cNvPr>
          <p:cNvCxnSpPr>
            <a:cxnSpLocks/>
            <a:stCxn id="12" idx="3"/>
            <a:endCxn id="6" idx="3"/>
          </p:cNvCxnSpPr>
          <p:nvPr/>
        </p:nvCxnSpPr>
        <p:spPr>
          <a:xfrm flipV="1">
            <a:off x="3071675" y="2493477"/>
            <a:ext cx="12700" cy="1560456"/>
          </a:xfrm>
          <a:prstGeom prst="curvedConnector3">
            <a:avLst>
              <a:gd name="adj1" fmla="val 1800000"/>
            </a:avLst>
          </a:prstGeom>
          <a:ln w="3175">
            <a:solidFill>
              <a:schemeClr val="tx1"/>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CFD7FCC8-1593-D77E-3AE9-1E517E47A250}"/>
              </a:ext>
            </a:extLst>
          </p:cNvPr>
          <p:cNvSpPr txBox="1"/>
          <p:nvPr/>
        </p:nvSpPr>
        <p:spPr>
          <a:xfrm>
            <a:off x="3291151" y="2688601"/>
            <a:ext cx="369332" cy="1169551"/>
          </a:xfrm>
          <a:prstGeom prst="rect">
            <a:avLst/>
          </a:prstGeom>
          <a:noFill/>
        </p:spPr>
        <p:txBody>
          <a:bodyPr vert="eaVert"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ロジックが違う</a:t>
            </a:r>
            <a:endParaRPr kumimoji="1" lang="en-US" sz="12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p:txBody>
      </p:sp>
      <p:cxnSp>
        <p:nvCxnSpPr>
          <p:cNvPr id="50" name="Connector: Curved 49">
            <a:extLst>
              <a:ext uri="{FF2B5EF4-FFF2-40B4-BE49-F238E27FC236}">
                <a16:creationId xmlns:a16="http://schemas.microsoft.com/office/drawing/2014/main" id="{47001F98-1B79-8A1B-7054-480F64A7B6B9}"/>
              </a:ext>
            </a:extLst>
          </p:cNvPr>
          <p:cNvCxnSpPr>
            <a:cxnSpLocks/>
            <a:stCxn id="34" idx="3"/>
            <a:endCxn id="36" idx="3"/>
          </p:cNvCxnSpPr>
          <p:nvPr/>
        </p:nvCxnSpPr>
        <p:spPr>
          <a:xfrm>
            <a:off x="3071675" y="4574085"/>
            <a:ext cx="12700" cy="520152"/>
          </a:xfrm>
          <a:prstGeom prst="curvedConnector3">
            <a:avLst>
              <a:gd name="adj1" fmla="val 1800000"/>
            </a:avLst>
          </a:prstGeom>
          <a:ln w="3175">
            <a:solidFill>
              <a:schemeClr val="tx1"/>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A9276809-921D-CDAA-E064-21526D115B4B}"/>
              </a:ext>
            </a:extLst>
          </p:cNvPr>
          <p:cNvSpPr txBox="1"/>
          <p:nvPr/>
        </p:nvSpPr>
        <p:spPr>
          <a:xfrm>
            <a:off x="3291151" y="4246597"/>
            <a:ext cx="369332" cy="1323439"/>
          </a:xfrm>
          <a:prstGeom prst="rect">
            <a:avLst/>
          </a:prstGeom>
          <a:noFill/>
        </p:spPr>
        <p:txBody>
          <a:bodyPr vert="eaVert"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売上の定義が違う</a:t>
            </a:r>
            <a:endParaRPr kumimoji="1" lang="en-US" sz="12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p:txBody>
      </p:sp>
      <p:cxnSp>
        <p:nvCxnSpPr>
          <p:cNvPr id="54" name="Connector: Curved 53">
            <a:extLst>
              <a:ext uri="{FF2B5EF4-FFF2-40B4-BE49-F238E27FC236}">
                <a16:creationId xmlns:a16="http://schemas.microsoft.com/office/drawing/2014/main" id="{8D7BC62E-BF38-95BC-7113-2A88879DEAFD}"/>
              </a:ext>
            </a:extLst>
          </p:cNvPr>
          <p:cNvCxnSpPr>
            <a:cxnSpLocks/>
            <a:stCxn id="6" idx="1"/>
            <a:endCxn id="36" idx="1"/>
          </p:cNvCxnSpPr>
          <p:nvPr/>
        </p:nvCxnSpPr>
        <p:spPr>
          <a:xfrm rot="10800000" flipV="1">
            <a:off x="684717" y="2493477"/>
            <a:ext cx="12700" cy="2600760"/>
          </a:xfrm>
          <a:prstGeom prst="curvedConnector3">
            <a:avLst>
              <a:gd name="adj1" fmla="val 4666024"/>
            </a:avLst>
          </a:prstGeom>
          <a:ln w="3175">
            <a:solidFill>
              <a:schemeClr val="tx1"/>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18BC0DE-8998-F181-CC64-9638D4FD0959}"/>
              </a:ext>
            </a:extLst>
          </p:cNvPr>
          <p:cNvSpPr txBox="1"/>
          <p:nvPr/>
        </p:nvSpPr>
        <p:spPr>
          <a:xfrm>
            <a:off x="-9684" y="4549682"/>
            <a:ext cx="369332" cy="707886"/>
          </a:xfrm>
          <a:prstGeom prst="rect">
            <a:avLst/>
          </a:prstGeom>
        </p:spPr>
        <p:txBody>
          <a:bodyPr vert="eaVert"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合わない</a:t>
            </a:r>
            <a:endParaRPr kumimoji="1" lang="en-US" sz="12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p:txBody>
      </p:sp>
      <p:cxnSp>
        <p:nvCxnSpPr>
          <p:cNvPr id="59" name="Connector: Curved 58">
            <a:extLst>
              <a:ext uri="{FF2B5EF4-FFF2-40B4-BE49-F238E27FC236}">
                <a16:creationId xmlns:a16="http://schemas.microsoft.com/office/drawing/2014/main" id="{983641AF-1A42-619E-9999-6869CB6F42FA}"/>
              </a:ext>
            </a:extLst>
          </p:cNvPr>
          <p:cNvCxnSpPr>
            <a:cxnSpLocks/>
            <a:stCxn id="12" idx="1"/>
            <a:endCxn id="34" idx="1"/>
          </p:cNvCxnSpPr>
          <p:nvPr/>
        </p:nvCxnSpPr>
        <p:spPr>
          <a:xfrm rot="10800000" flipV="1">
            <a:off x="684717" y="4053933"/>
            <a:ext cx="12700" cy="520152"/>
          </a:xfrm>
          <a:prstGeom prst="curvedConnector3">
            <a:avLst>
              <a:gd name="adj1" fmla="val 1800000"/>
            </a:avLst>
          </a:prstGeom>
          <a:ln w="3175">
            <a:solidFill>
              <a:schemeClr val="tx1"/>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TextBox 61">
            <a:extLst>
              <a:ext uri="{FF2B5EF4-FFF2-40B4-BE49-F238E27FC236}">
                <a16:creationId xmlns:a16="http://schemas.microsoft.com/office/drawing/2014/main" id="{C471B7D4-4C51-BA8E-A8F5-3A03A6D2FB49}"/>
              </a:ext>
            </a:extLst>
          </p:cNvPr>
          <p:cNvSpPr txBox="1"/>
          <p:nvPr/>
        </p:nvSpPr>
        <p:spPr>
          <a:xfrm>
            <a:off x="184338" y="3838556"/>
            <a:ext cx="369332" cy="707886"/>
          </a:xfrm>
          <a:prstGeom prst="rect">
            <a:avLst/>
          </a:prstGeom>
        </p:spPr>
        <p:txBody>
          <a:bodyPr vert="eaVert"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連携拒否</a:t>
            </a:r>
            <a:endParaRPr kumimoji="1" lang="en-US" sz="12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p:txBody>
      </p:sp>
      <p:sp>
        <p:nvSpPr>
          <p:cNvPr id="63" name="正方形/長方形 95">
            <a:extLst>
              <a:ext uri="{FF2B5EF4-FFF2-40B4-BE49-F238E27FC236}">
                <a16:creationId xmlns:a16="http://schemas.microsoft.com/office/drawing/2014/main" id="{07B726E5-7B5A-09DA-2891-87620C1EEFD4}"/>
              </a:ext>
            </a:extLst>
          </p:cNvPr>
          <p:cNvSpPr/>
          <p:nvPr/>
        </p:nvSpPr>
        <p:spPr>
          <a:xfrm>
            <a:off x="3672052" y="1784023"/>
            <a:ext cx="2386959" cy="374225"/>
          </a:xfrm>
          <a:prstGeom prst="rect">
            <a:avLst/>
          </a:prstGeom>
          <a:ln/>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a:ln>
                  <a:noFill/>
                </a:ln>
                <a:solidFill>
                  <a:srgbClr val="FFFFFF"/>
                </a:solidFill>
                <a:effectLst/>
                <a:uLnTx/>
                <a:uFillTx/>
                <a:latin typeface="Arial"/>
                <a:ea typeface="Meiryo UI"/>
                <a:cs typeface="+mn-cs"/>
              </a:rPr>
              <a:t>KPI</a:t>
            </a:r>
            <a:r>
              <a:rPr kumimoji="1" lang="ja-JP" altLang="en-US" sz="1400" b="1" i="0" u="none" strike="noStrike" kern="1200" cap="none" spc="0" normalizeH="0" baseline="0" noProof="0">
                <a:ln>
                  <a:noFill/>
                </a:ln>
                <a:solidFill>
                  <a:srgbClr val="FFFFFF"/>
                </a:solidFill>
                <a:effectLst/>
                <a:uLnTx/>
                <a:uFillTx/>
                <a:latin typeface="Arial"/>
                <a:ea typeface="Meiryo UI"/>
                <a:cs typeface="+mn-cs"/>
              </a:rPr>
              <a:t>集計用</a:t>
            </a:r>
          </a:p>
        </p:txBody>
      </p:sp>
      <p:sp>
        <p:nvSpPr>
          <p:cNvPr id="66" name="ホームベース 22">
            <a:extLst>
              <a:ext uri="{FF2B5EF4-FFF2-40B4-BE49-F238E27FC236}">
                <a16:creationId xmlns:a16="http://schemas.microsoft.com/office/drawing/2014/main" id="{88E4D11E-2072-1A2F-310A-147167A66304}"/>
              </a:ext>
            </a:extLst>
          </p:cNvPr>
          <p:cNvSpPr/>
          <p:nvPr/>
        </p:nvSpPr>
        <p:spPr>
          <a:xfrm>
            <a:off x="3672053" y="2306364"/>
            <a:ext cx="2386958"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販社・支社の人員状況</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67" name="Rectangle 66">
            <a:extLst>
              <a:ext uri="{FF2B5EF4-FFF2-40B4-BE49-F238E27FC236}">
                <a16:creationId xmlns:a16="http://schemas.microsoft.com/office/drawing/2014/main" id="{488D8218-2A21-5FC4-9027-C8808A9C39E3}"/>
              </a:ext>
            </a:extLst>
          </p:cNvPr>
          <p:cNvSpPr/>
          <p:nvPr/>
        </p:nvSpPr>
        <p:spPr>
          <a:xfrm>
            <a:off x="5357674" y="2374860"/>
            <a:ext cx="612559" cy="237231"/>
          </a:xfrm>
          <a:prstGeom prst="rect">
            <a:avLst/>
          </a:prstGeom>
          <a:solidFill>
            <a:srgbClr val="E42600"/>
          </a:solidFill>
          <a:ln w="3175">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solidFill>
                <a:effectLst/>
                <a:uLnTx/>
                <a:uFillTx/>
                <a:latin typeface="Meiryo UI"/>
                <a:ea typeface="Meiryo UI"/>
                <a:cs typeface="+mn-cs"/>
              </a:rPr>
              <a:t>データなし</a:t>
            </a:r>
            <a:endParaRPr kumimoji="1" lang="en-US" sz="1000" b="0" i="0" u="none" strike="noStrike" kern="1200" cap="none" spc="0" normalizeH="0" baseline="0" noProof="0" err="1">
              <a:ln>
                <a:noFill/>
              </a:ln>
              <a:solidFill>
                <a:srgbClr val="000000"/>
              </a:solidFill>
              <a:effectLst/>
              <a:uLnTx/>
              <a:uFillTx/>
              <a:latin typeface="Meiryo UI"/>
              <a:ea typeface="Meiryo UI"/>
              <a:cs typeface="+mn-cs"/>
            </a:endParaRPr>
          </a:p>
        </p:txBody>
      </p:sp>
      <p:sp>
        <p:nvSpPr>
          <p:cNvPr id="68" name="ホームベース 22">
            <a:extLst>
              <a:ext uri="{FF2B5EF4-FFF2-40B4-BE49-F238E27FC236}">
                <a16:creationId xmlns:a16="http://schemas.microsoft.com/office/drawing/2014/main" id="{5EBC4950-4E19-1634-A007-C472EF93F16F}"/>
              </a:ext>
            </a:extLst>
          </p:cNvPr>
          <p:cNvSpPr/>
          <p:nvPr/>
        </p:nvSpPr>
        <p:spPr>
          <a:xfrm>
            <a:off x="3672053" y="2827372"/>
            <a:ext cx="2386958"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顧客動向分析データ</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69" name="Rectangle 68">
            <a:extLst>
              <a:ext uri="{FF2B5EF4-FFF2-40B4-BE49-F238E27FC236}">
                <a16:creationId xmlns:a16="http://schemas.microsoft.com/office/drawing/2014/main" id="{3DD0934C-F0C7-7F94-E94B-E80E4081C546}"/>
              </a:ext>
            </a:extLst>
          </p:cNvPr>
          <p:cNvSpPr/>
          <p:nvPr/>
        </p:nvSpPr>
        <p:spPr>
          <a:xfrm>
            <a:off x="5357674" y="2891805"/>
            <a:ext cx="612559" cy="237231"/>
          </a:xfrm>
          <a:prstGeom prst="rect">
            <a:avLst/>
          </a:prstGeom>
          <a:solidFill>
            <a:srgbClr val="E42600"/>
          </a:solidFill>
          <a:ln w="3175">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solidFill>
                <a:effectLst/>
                <a:uLnTx/>
                <a:uFillTx/>
                <a:latin typeface="Meiryo UI"/>
                <a:ea typeface="Meiryo UI"/>
                <a:cs typeface="+mn-cs"/>
              </a:rPr>
              <a:t>データなし</a:t>
            </a:r>
            <a:endParaRPr kumimoji="1" lang="en-US" sz="1000" b="0" i="0" u="none" strike="noStrike" kern="1200" cap="none" spc="0" normalizeH="0" baseline="0" noProof="0" err="1">
              <a:ln>
                <a:noFill/>
              </a:ln>
              <a:solidFill>
                <a:srgbClr val="000000"/>
              </a:solidFill>
              <a:effectLst/>
              <a:uLnTx/>
              <a:uFillTx/>
              <a:latin typeface="Meiryo UI"/>
              <a:ea typeface="Meiryo UI"/>
              <a:cs typeface="+mn-cs"/>
            </a:endParaRPr>
          </a:p>
        </p:txBody>
      </p:sp>
      <p:sp>
        <p:nvSpPr>
          <p:cNvPr id="70" name="ホームベース 22">
            <a:extLst>
              <a:ext uri="{FF2B5EF4-FFF2-40B4-BE49-F238E27FC236}">
                <a16:creationId xmlns:a16="http://schemas.microsoft.com/office/drawing/2014/main" id="{EF467EAE-EB6A-5EF7-CC9C-354B7FA20E5C}"/>
              </a:ext>
            </a:extLst>
          </p:cNvPr>
          <p:cNvSpPr/>
          <p:nvPr/>
        </p:nvSpPr>
        <p:spPr>
          <a:xfrm>
            <a:off x="3672053" y="3347435"/>
            <a:ext cx="2386958"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地区別サービス売上動向</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71" name="Rectangle 70">
            <a:extLst>
              <a:ext uri="{FF2B5EF4-FFF2-40B4-BE49-F238E27FC236}">
                <a16:creationId xmlns:a16="http://schemas.microsoft.com/office/drawing/2014/main" id="{8A168500-A4BF-A432-00F5-0D2927721735}"/>
              </a:ext>
            </a:extLst>
          </p:cNvPr>
          <p:cNvSpPr/>
          <p:nvPr/>
        </p:nvSpPr>
        <p:spPr>
          <a:xfrm>
            <a:off x="5357674" y="3411868"/>
            <a:ext cx="612559" cy="237231"/>
          </a:xfrm>
          <a:prstGeom prst="rect">
            <a:avLst/>
          </a:prstGeom>
          <a:solidFill>
            <a:srgbClr val="FFC400"/>
          </a:solidFill>
          <a:ln w="3175">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solidFill>
                <a:effectLst/>
                <a:uLnTx/>
                <a:uFillTx/>
                <a:latin typeface="Meiryo UI"/>
                <a:ea typeface="Meiryo UI"/>
                <a:cs typeface="+mn-cs"/>
              </a:rPr>
              <a:t>一部存在</a:t>
            </a:r>
            <a:endParaRPr kumimoji="1" lang="en-US" sz="1000" b="0" i="0" u="none" strike="noStrike" kern="1200" cap="none" spc="0" normalizeH="0" baseline="0" noProof="0" err="1">
              <a:ln>
                <a:noFill/>
              </a:ln>
              <a:solidFill>
                <a:srgbClr val="000000"/>
              </a:solidFill>
              <a:effectLst/>
              <a:uLnTx/>
              <a:uFillTx/>
              <a:latin typeface="Meiryo UI"/>
              <a:ea typeface="Meiryo UI"/>
              <a:cs typeface="+mn-cs"/>
            </a:endParaRPr>
          </a:p>
        </p:txBody>
      </p:sp>
      <p:sp>
        <p:nvSpPr>
          <p:cNvPr id="74" name="ホームベース 22">
            <a:extLst>
              <a:ext uri="{FF2B5EF4-FFF2-40B4-BE49-F238E27FC236}">
                <a16:creationId xmlns:a16="http://schemas.microsoft.com/office/drawing/2014/main" id="{63028A21-B7B6-E330-B81E-61CECA66EB17}"/>
              </a:ext>
            </a:extLst>
          </p:cNvPr>
          <p:cNvSpPr/>
          <p:nvPr/>
        </p:nvSpPr>
        <p:spPr>
          <a:xfrm>
            <a:off x="684717" y="5427274"/>
            <a:ext cx="2386958"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G</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部門販売予測</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pic>
        <p:nvPicPr>
          <p:cNvPr id="75" name="図 118">
            <a:extLst>
              <a:ext uri="{FF2B5EF4-FFF2-40B4-BE49-F238E27FC236}">
                <a16:creationId xmlns:a16="http://schemas.microsoft.com/office/drawing/2014/main" id="{7DF90C7D-61BF-4E0A-4DE9-135270C1471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03397" y="5495770"/>
            <a:ext cx="237231" cy="237231"/>
          </a:xfrm>
          <a:prstGeom prst="rect">
            <a:avLst/>
          </a:prstGeom>
        </p:spPr>
      </p:pic>
      <p:sp>
        <p:nvSpPr>
          <p:cNvPr id="76" name="TextBox 75">
            <a:extLst>
              <a:ext uri="{FF2B5EF4-FFF2-40B4-BE49-F238E27FC236}">
                <a16:creationId xmlns:a16="http://schemas.microsoft.com/office/drawing/2014/main" id="{AB18A093-3D1E-74B2-FA2A-8F8DE37D1B1F}"/>
              </a:ext>
            </a:extLst>
          </p:cNvPr>
          <p:cNvSpPr txBox="1"/>
          <p:nvPr/>
        </p:nvSpPr>
        <p:spPr>
          <a:xfrm>
            <a:off x="184338" y="5277850"/>
            <a:ext cx="369332" cy="707886"/>
          </a:xfrm>
          <a:prstGeom prst="rect">
            <a:avLst/>
          </a:prstGeom>
        </p:spPr>
        <p:txBody>
          <a:bodyPr vert="eaVert"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提供拒否</a:t>
            </a:r>
            <a:endParaRPr kumimoji="1" lang="en-US" sz="12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p:txBody>
      </p:sp>
      <p:cxnSp>
        <p:nvCxnSpPr>
          <p:cNvPr id="78" name="Straight Arrow Connector 77">
            <a:extLst>
              <a:ext uri="{FF2B5EF4-FFF2-40B4-BE49-F238E27FC236}">
                <a16:creationId xmlns:a16="http://schemas.microsoft.com/office/drawing/2014/main" id="{E7607FC5-1AF4-C1DA-8BFE-C3A206AE4030}"/>
              </a:ext>
            </a:extLst>
          </p:cNvPr>
          <p:cNvCxnSpPr>
            <a:stCxn id="76" idx="3"/>
            <a:endCxn id="74" idx="1"/>
          </p:cNvCxnSpPr>
          <p:nvPr/>
        </p:nvCxnSpPr>
        <p:spPr>
          <a:xfrm flipV="1">
            <a:off x="553670" y="5614387"/>
            <a:ext cx="131047" cy="17406"/>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9" name="正方形/長方形 95">
            <a:extLst>
              <a:ext uri="{FF2B5EF4-FFF2-40B4-BE49-F238E27FC236}">
                <a16:creationId xmlns:a16="http://schemas.microsoft.com/office/drawing/2014/main" id="{98FD17AD-A9C2-60B9-F1C1-149431E70C73}"/>
              </a:ext>
            </a:extLst>
          </p:cNvPr>
          <p:cNvSpPr/>
          <p:nvPr/>
        </p:nvSpPr>
        <p:spPr>
          <a:xfrm>
            <a:off x="7011747" y="1784023"/>
            <a:ext cx="4495537" cy="374225"/>
          </a:xfrm>
          <a:prstGeom prst="rect">
            <a:avLst/>
          </a:prstGeom>
          <a:ln/>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a:ln>
                  <a:noFill/>
                </a:ln>
                <a:solidFill>
                  <a:srgbClr val="FFFFFF"/>
                </a:solidFill>
                <a:effectLst/>
                <a:uLnTx/>
                <a:uFillTx/>
                <a:latin typeface="Arial"/>
                <a:ea typeface="Meiryo UI"/>
                <a:cs typeface="+mn-cs"/>
              </a:rPr>
              <a:t>PJ</a:t>
            </a:r>
            <a:r>
              <a:rPr kumimoji="1" lang="ja-JP" altLang="en-US" sz="1400" b="1" i="0" u="none" strike="noStrike" kern="1200" cap="none" spc="0" normalizeH="0" baseline="0" noProof="0">
                <a:ln>
                  <a:noFill/>
                </a:ln>
                <a:solidFill>
                  <a:srgbClr val="FFFFFF"/>
                </a:solidFill>
                <a:effectLst/>
                <a:uLnTx/>
                <a:uFillTx/>
                <a:latin typeface="Arial"/>
                <a:ea typeface="Meiryo UI"/>
                <a:cs typeface="+mn-cs"/>
              </a:rPr>
              <a:t>化に際する課題</a:t>
            </a:r>
          </a:p>
        </p:txBody>
      </p:sp>
      <p:sp>
        <p:nvSpPr>
          <p:cNvPr id="80" name="Isosceles Triangle 79">
            <a:extLst>
              <a:ext uri="{FF2B5EF4-FFF2-40B4-BE49-F238E27FC236}">
                <a16:creationId xmlns:a16="http://schemas.microsoft.com/office/drawing/2014/main" id="{21D072F0-7B00-27C7-F40D-0243C25C872F}"/>
              </a:ext>
            </a:extLst>
          </p:cNvPr>
          <p:cNvSpPr/>
          <p:nvPr/>
        </p:nvSpPr>
        <p:spPr>
          <a:xfrm rot="5400000">
            <a:off x="5887558" y="3892367"/>
            <a:ext cx="1296140" cy="321819"/>
          </a:xfrm>
          <a:prstGeom prst="triangl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0" normalizeH="0" baseline="0" noProof="0" err="1">
              <a:ln>
                <a:noFill/>
              </a:ln>
              <a:solidFill>
                <a:srgbClr val="000000"/>
              </a:solidFill>
              <a:effectLst/>
              <a:uLnTx/>
              <a:uFillTx/>
              <a:latin typeface="Arial"/>
              <a:ea typeface="Meiryo UI"/>
              <a:cs typeface="+mn-cs"/>
            </a:endParaRPr>
          </a:p>
        </p:txBody>
      </p:sp>
      <p:sp>
        <p:nvSpPr>
          <p:cNvPr id="81" name="TextBox 80">
            <a:extLst>
              <a:ext uri="{FF2B5EF4-FFF2-40B4-BE49-F238E27FC236}">
                <a16:creationId xmlns:a16="http://schemas.microsoft.com/office/drawing/2014/main" id="{9E8A75AA-4093-433B-D047-8DD3F4E1CD38}"/>
              </a:ext>
            </a:extLst>
          </p:cNvPr>
          <p:cNvSpPr txBox="1"/>
          <p:nvPr/>
        </p:nvSpPr>
        <p:spPr>
          <a:xfrm>
            <a:off x="4634698" y="3788252"/>
            <a:ext cx="461665" cy="784830"/>
          </a:xfrm>
          <a:prstGeom prst="rect">
            <a:avLst/>
          </a:prstGeom>
          <a:noFill/>
        </p:spPr>
        <p:txBody>
          <a:bodyPr vert="eaVert"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a:t>
            </a:r>
            <a:endParaRPr kumimoji="1" lang="en-US" sz="18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p:txBody>
      </p:sp>
      <p:sp>
        <p:nvSpPr>
          <p:cNvPr id="82" name="TextBox 81">
            <a:extLst>
              <a:ext uri="{FF2B5EF4-FFF2-40B4-BE49-F238E27FC236}">
                <a16:creationId xmlns:a16="http://schemas.microsoft.com/office/drawing/2014/main" id="{20C5B7D4-676D-F3E0-9D98-DBA380822BDB}"/>
              </a:ext>
            </a:extLst>
          </p:cNvPr>
          <p:cNvSpPr txBox="1"/>
          <p:nvPr/>
        </p:nvSpPr>
        <p:spPr>
          <a:xfrm>
            <a:off x="1647362" y="5733001"/>
            <a:ext cx="461665" cy="784830"/>
          </a:xfrm>
          <a:prstGeom prst="rect">
            <a:avLst/>
          </a:prstGeom>
          <a:noFill/>
        </p:spPr>
        <p:txBody>
          <a:bodyPr vert="eaVert"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a:t>
            </a:r>
            <a:endParaRPr kumimoji="1" lang="en-US" sz="18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p:txBody>
      </p:sp>
      <p:sp>
        <p:nvSpPr>
          <p:cNvPr id="84" name="ホームベース 22">
            <a:extLst>
              <a:ext uri="{FF2B5EF4-FFF2-40B4-BE49-F238E27FC236}">
                <a16:creationId xmlns:a16="http://schemas.microsoft.com/office/drawing/2014/main" id="{A55B3B78-39B1-9706-FA6F-7DF3C39DC8A4}"/>
              </a:ext>
            </a:extLst>
          </p:cNvPr>
          <p:cNvSpPr/>
          <p:nvPr/>
        </p:nvSpPr>
        <p:spPr>
          <a:xfrm>
            <a:off x="7011746" y="2306364"/>
            <a:ext cx="4495535"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データを集めるためのシステム間連携のためのベンダー間調整が山積み。</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85" name="ホームベース 22">
            <a:extLst>
              <a:ext uri="{FF2B5EF4-FFF2-40B4-BE49-F238E27FC236}">
                <a16:creationId xmlns:a16="http://schemas.microsoft.com/office/drawing/2014/main" id="{16494992-5124-714D-F750-3B1A3C96A5E7}"/>
              </a:ext>
            </a:extLst>
          </p:cNvPr>
          <p:cNvSpPr/>
          <p:nvPr/>
        </p:nvSpPr>
        <p:spPr>
          <a:xfrm>
            <a:off x="7011746" y="2826515"/>
            <a:ext cx="4495535"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システム化されてないデータをシステム化するための追加開発費用発生。</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86" name="ホームベース 22">
            <a:extLst>
              <a:ext uri="{FF2B5EF4-FFF2-40B4-BE49-F238E27FC236}">
                <a16:creationId xmlns:a16="http://schemas.microsoft.com/office/drawing/2014/main" id="{4D6ADC94-398A-BF38-F902-1D339181B49C}"/>
              </a:ext>
            </a:extLst>
          </p:cNvPr>
          <p:cNvSpPr/>
          <p:nvPr/>
        </p:nvSpPr>
        <p:spPr>
          <a:xfrm>
            <a:off x="7011746" y="3346666"/>
            <a:ext cx="4495535"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体系化すらされていない感・経験のデータ化と提供元への働きかけは？</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87" name="ホームベース 22">
            <a:extLst>
              <a:ext uri="{FF2B5EF4-FFF2-40B4-BE49-F238E27FC236}">
                <a16:creationId xmlns:a16="http://schemas.microsoft.com/office/drawing/2014/main" id="{5A7C662B-1B58-3B64-F9BB-9FE9443F32C9}"/>
              </a:ext>
            </a:extLst>
          </p:cNvPr>
          <p:cNvSpPr/>
          <p:nvPr/>
        </p:nvSpPr>
        <p:spPr>
          <a:xfrm>
            <a:off x="7011746" y="3866817"/>
            <a:ext cx="4495535"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定義の異なるデータをどうやってマージすべきか。</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88" name="ホームベース 22">
            <a:extLst>
              <a:ext uri="{FF2B5EF4-FFF2-40B4-BE49-F238E27FC236}">
                <a16:creationId xmlns:a16="http://schemas.microsoft.com/office/drawing/2014/main" id="{252DBA38-7D2A-B887-95E5-21AEDC6CD7A7}"/>
              </a:ext>
            </a:extLst>
          </p:cNvPr>
          <p:cNvSpPr/>
          <p:nvPr/>
        </p:nvSpPr>
        <p:spPr>
          <a:xfrm>
            <a:off x="7011746" y="4386968"/>
            <a:ext cx="4495535"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そもそも正しいデータとは何か。</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89" name="ホームベース 22">
            <a:extLst>
              <a:ext uri="{FF2B5EF4-FFF2-40B4-BE49-F238E27FC236}">
                <a16:creationId xmlns:a16="http://schemas.microsoft.com/office/drawing/2014/main" id="{89243E2A-94B9-AB1F-3549-5F8552C2E361}"/>
              </a:ext>
            </a:extLst>
          </p:cNvPr>
          <p:cNvSpPr/>
          <p:nvPr/>
        </p:nvSpPr>
        <p:spPr>
          <a:xfrm>
            <a:off x="7011746" y="4907119"/>
            <a:ext cx="4495535"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システム開発後の各システムとの連携テストにかかる期間と時期は？</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90" name="ホームベース 22">
            <a:extLst>
              <a:ext uri="{FF2B5EF4-FFF2-40B4-BE49-F238E27FC236}">
                <a16:creationId xmlns:a16="http://schemas.microsoft.com/office/drawing/2014/main" id="{89200AFE-B3A8-2E93-F476-6F5A2E97D510}"/>
              </a:ext>
            </a:extLst>
          </p:cNvPr>
          <p:cNvSpPr/>
          <p:nvPr/>
        </p:nvSpPr>
        <p:spPr>
          <a:xfrm>
            <a:off x="7011746" y="5427272"/>
            <a:ext cx="4495535"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データが入力されない場合、だれがその責任を取って入力を促すか。</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93" name="ホームベース 22">
            <a:extLst>
              <a:ext uri="{FF2B5EF4-FFF2-40B4-BE49-F238E27FC236}">
                <a16:creationId xmlns:a16="http://schemas.microsoft.com/office/drawing/2014/main" id="{0F7D51D3-836B-BE91-5424-A36DE36B2EE9}"/>
              </a:ext>
            </a:extLst>
          </p:cNvPr>
          <p:cNvSpPr/>
          <p:nvPr/>
        </p:nvSpPr>
        <p:spPr>
          <a:xfrm>
            <a:off x="7011746" y="5947425"/>
            <a:ext cx="4495535"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ここまでコストをかけてそれに見合ったリターンが期待されるか？</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41012952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C99B8-647F-9B26-91B8-F7DE01AFB29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924B3FC-D4B0-F6FA-4BC8-5993A7BDF153}"/>
              </a:ext>
            </a:extLst>
          </p:cNvPr>
          <p:cNvSpPr>
            <a:spLocks noGrp="1"/>
          </p:cNvSpPr>
          <p:nvPr>
            <p:ph type="title"/>
          </p:nvPr>
        </p:nvSpPr>
        <p:spPr/>
        <p:txBody>
          <a:bodyPr/>
          <a:lstStyle/>
          <a:p>
            <a:r>
              <a:rPr lang="ja-JP" altLang="en-US" sz="1600" dirty="0">
                <a:solidFill>
                  <a:schemeClr val="accent2"/>
                </a:solidFill>
                <a:latin typeface="Meiryo UI" panose="020B0604030504040204" pitchFamily="50" charset="-128"/>
                <a:ea typeface="Meiryo UI" panose="020B0604030504040204" pitchFamily="50" charset="-128"/>
              </a:rPr>
              <a:t>事例①：自動車メーカー　</a:t>
            </a:r>
            <a:r>
              <a:rPr lang="en-US" altLang="ja-JP" sz="1600" dirty="0">
                <a:solidFill>
                  <a:schemeClr val="accent2"/>
                </a:solidFill>
                <a:latin typeface="Meiryo UI" panose="020B0604030504040204" pitchFamily="50" charset="-128"/>
                <a:ea typeface="Meiryo UI" panose="020B0604030504040204" pitchFamily="50" charset="-128"/>
              </a:rPr>
              <a:t>KPI</a:t>
            </a:r>
            <a:r>
              <a:rPr lang="ja-JP" altLang="en-US" sz="1600" dirty="0">
                <a:solidFill>
                  <a:schemeClr val="accent2"/>
                </a:solidFill>
                <a:latin typeface="Meiryo UI" panose="020B0604030504040204" pitchFamily="50" charset="-128"/>
                <a:ea typeface="Meiryo UI" panose="020B0604030504040204" pitchFamily="50" charset="-128"/>
              </a:rPr>
              <a:t>ダッシュボード化と事業適正化</a:t>
            </a:r>
            <a:br>
              <a:rPr lang="en-US" altLang="ja-JP" sz="3600" dirty="0">
                <a:solidFill>
                  <a:schemeClr val="accent2"/>
                </a:solidFill>
                <a:latin typeface="Meiryo UI" panose="020B0604030504040204" pitchFamily="50" charset="-128"/>
                <a:ea typeface="Meiryo UI" panose="020B0604030504040204" pitchFamily="50" charset="-128"/>
              </a:rPr>
            </a:br>
            <a:r>
              <a:rPr lang="ja-JP" altLang="en-US" sz="2400" dirty="0">
                <a:solidFill>
                  <a:schemeClr val="accent2"/>
                </a:solidFill>
                <a:latin typeface="Meiryo UI" panose="020B0604030504040204" pitchFamily="50" charset="-128"/>
                <a:ea typeface="Meiryo UI" panose="020B0604030504040204" pitchFamily="50" charset="-128"/>
              </a:rPr>
              <a:t>解決に向けた営み（</a:t>
            </a:r>
            <a:r>
              <a:rPr lang="en-US" altLang="ja-JP" sz="2400" dirty="0">
                <a:solidFill>
                  <a:schemeClr val="accent2"/>
                </a:solidFill>
                <a:latin typeface="Meiryo UI" panose="020B0604030504040204" pitchFamily="50" charset="-128"/>
                <a:ea typeface="Meiryo UI" panose="020B0604030504040204" pitchFamily="50" charset="-128"/>
              </a:rPr>
              <a:t>1/2</a:t>
            </a:r>
            <a:r>
              <a:rPr lang="ja-JP" altLang="en-US" sz="2400" dirty="0">
                <a:solidFill>
                  <a:schemeClr val="accent2"/>
                </a:solidFill>
                <a:latin typeface="Meiryo UI" panose="020B0604030504040204" pitchFamily="50" charset="-128"/>
                <a:ea typeface="Meiryo UI" panose="020B0604030504040204" pitchFamily="50" charset="-128"/>
              </a:rPr>
              <a:t>）</a:t>
            </a:r>
          </a:p>
        </p:txBody>
      </p:sp>
      <p:sp>
        <p:nvSpPr>
          <p:cNvPr id="4" name="コンテンツ プレースホルダー 3">
            <a:extLst>
              <a:ext uri="{FF2B5EF4-FFF2-40B4-BE49-F238E27FC236}">
                <a16:creationId xmlns:a16="http://schemas.microsoft.com/office/drawing/2014/main" id="{1C905A4D-CB7D-4A54-0B0E-1ACAB1126FE5}"/>
              </a:ext>
            </a:extLst>
          </p:cNvPr>
          <p:cNvSpPr>
            <a:spLocks noGrp="1"/>
          </p:cNvSpPr>
          <p:nvPr>
            <p:ph sz="quarter" idx="10"/>
          </p:nvPr>
        </p:nvSpPr>
        <p:spPr>
          <a:xfrm>
            <a:off x="388603" y="945178"/>
            <a:ext cx="11448000" cy="746871"/>
          </a:xfrm>
        </p:spPr>
        <p:txBody>
          <a:bodyPr/>
          <a:lstStyle/>
          <a:p>
            <a:r>
              <a:rPr lang="ja-JP" altLang="en-US"/>
              <a:t>すべてを同時進行で進めるには事業・</a:t>
            </a:r>
            <a:r>
              <a:rPr lang="en-US" altLang="ja-JP"/>
              <a:t>IT</a:t>
            </a:r>
            <a:r>
              <a:rPr lang="ja-JP" altLang="en-US"/>
              <a:t>共に人的・物的資源の限界があることが</a:t>
            </a:r>
            <a:r>
              <a:rPr lang="en-US" altLang="ja-JP"/>
              <a:t>1</a:t>
            </a:r>
            <a:r>
              <a:rPr lang="ja-JP" altLang="en-US"/>
              <a:t>年弱の検討で判明し短期的な成果を上げ続ける営みと中長期的な目標・方針を取り決める営みを分けて進めることになった。</a:t>
            </a:r>
          </a:p>
        </p:txBody>
      </p:sp>
      <p:sp>
        <p:nvSpPr>
          <p:cNvPr id="3" name="正方形/長方形 95">
            <a:extLst>
              <a:ext uri="{FF2B5EF4-FFF2-40B4-BE49-F238E27FC236}">
                <a16:creationId xmlns:a16="http://schemas.microsoft.com/office/drawing/2014/main" id="{D2782078-A58A-75F5-86A4-B76EB1DE4832}"/>
              </a:ext>
            </a:extLst>
          </p:cNvPr>
          <p:cNvSpPr/>
          <p:nvPr/>
        </p:nvSpPr>
        <p:spPr>
          <a:xfrm>
            <a:off x="684716" y="1742217"/>
            <a:ext cx="5198828" cy="24479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srgbClr val="FFFFFF"/>
                </a:solidFill>
                <a:effectLst/>
                <a:uLnTx/>
                <a:uFillTx/>
                <a:latin typeface="Arial"/>
                <a:ea typeface="Meiryo UI"/>
                <a:cs typeface="+mn-cs"/>
              </a:rPr>
              <a:t>ステアリングコミッティー</a:t>
            </a:r>
          </a:p>
        </p:txBody>
      </p:sp>
      <p:sp>
        <p:nvSpPr>
          <p:cNvPr id="13" name="ホームベース 22">
            <a:extLst>
              <a:ext uri="{FF2B5EF4-FFF2-40B4-BE49-F238E27FC236}">
                <a16:creationId xmlns:a16="http://schemas.microsoft.com/office/drawing/2014/main" id="{D7AA78E9-3E01-9485-4E56-D3978726CB08}"/>
              </a:ext>
            </a:extLst>
          </p:cNvPr>
          <p:cNvSpPr/>
          <p:nvPr/>
        </p:nvSpPr>
        <p:spPr>
          <a:xfrm>
            <a:off x="684716" y="2102177"/>
            <a:ext cx="797855"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主催</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4" name="ホームベース 22">
            <a:extLst>
              <a:ext uri="{FF2B5EF4-FFF2-40B4-BE49-F238E27FC236}">
                <a16:creationId xmlns:a16="http://schemas.microsoft.com/office/drawing/2014/main" id="{A4D2BE3C-48C5-50ED-A60A-CC3688E3BFD1}"/>
              </a:ext>
            </a:extLst>
          </p:cNvPr>
          <p:cNvSpPr/>
          <p:nvPr/>
        </p:nvSpPr>
        <p:spPr>
          <a:xfrm>
            <a:off x="1590238" y="2102177"/>
            <a:ext cx="4293306"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アフタセールス担当役員</a:t>
            </a:r>
            <a:endPar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5" name="ホームベース 22">
            <a:extLst>
              <a:ext uri="{FF2B5EF4-FFF2-40B4-BE49-F238E27FC236}">
                <a16:creationId xmlns:a16="http://schemas.microsoft.com/office/drawing/2014/main" id="{5C211FF9-29DA-B131-7C7E-78AEB27DE0C7}"/>
              </a:ext>
            </a:extLst>
          </p:cNvPr>
          <p:cNvSpPr/>
          <p:nvPr/>
        </p:nvSpPr>
        <p:spPr>
          <a:xfrm>
            <a:off x="684716" y="2591572"/>
            <a:ext cx="797855"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座長</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6" name="ホームベース 22">
            <a:extLst>
              <a:ext uri="{FF2B5EF4-FFF2-40B4-BE49-F238E27FC236}">
                <a16:creationId xmlns:a16="http://schemas.microsoft.com/office/drawing/2014/main" id="{054BD4F0-DB6F-625E-B86D-7FBD7B4EB464}"/>
              </a:ext>
            </a:extLst>
          </p:cNvPr>
          <p:cNvSpPr/>
          <p:nvPr/>
        </p:nvSpPr>
        <p:spPr>
          <a:xfrm>
            <a:off x="1590238" y="2591572"/>
            <a:ext cx="4293306"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IT</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本部長</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7" name="ホームベース 22">
            <a:extLst>
              <a:ext uri="{FF2B5EF4-FFF2-40B4-BE49-F238E27FC236}">
                <a16:creationId xmlns:a16="http://schemas.microsoft.com/office/drawing/2014/main" id="{483C6EFB-F942-C6A3-22FF-51028F6DE996}"/>
              </a:ext>
            </a:extLst>
          </p:cNvPr>
          <p:cNvSpPr/>
          <p:nvPr/>
        </p:nvSpPr>
        <p:spPr>
          <a:xfrm>
            <a:off x="684716" y="3080967"/>
            <a:ext cx="797855"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参加</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8" name="ホームベース 22">
            <a:extLst>
              <a:ext uri="{FF2B5EF4-FFF2-40B4-BE49-F238E27FC236}">
                <a16:creationId xmlns:a16="http://schemas.microsoft.com/office/drawing/2014/main" id="{27685321-4471-C4A6-417D-0DC99F5E7097}"/>
              </a:ext>
            </a:extLst>
          </p:cNvPr>
          <p:cNvSpPr/>
          <p:nvPr/>
        </p:nvSpPr>
        <p:spPr>
          <a:xfrm>
            <a:off x="1590238" y="3080967"/>
            <a:ext cx="4293306"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営業・マーケッティング・販売会社支援担当部長</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9" name="ホームベース 22">
            <a:extLst>
              <a:ext uri="{FF2B5EF4-FFF2-40B4-BE49-F238E27FC236}">
                <a16:creationId xmlns:a16="http://schemas.microsoft.com/office/drawing/2014/main" id="{0F579FA3-C0B1-1782-5616-511696C39DE0}"/>
              </a:ext>
            </a:extLst>
          </p:cNvPr>
          <p:cNvSpPr/>
          <p:nvPr/>
        </p:nvSpPr>
        <p:spPr>
          <a:xfrm>
            <a:off x="1590237" y="3570362"/>
            <a:ext cx="4293306"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年間の活動ゴール・方針の最終意思決定。</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20" name="ホームベース 22">
            <a:extLst>
              <a:ext uri="{FF2B5EF4-FFF2-40B4-BE49-F238E27FC236}">
                <a16:creationId xmlns:a16="http://schemas.microsoft.com/office/drawing/2014/main" id="{6C60468C-CBCD-47F6-5FAD-0ED6F05607CA}"/>
              </a:ext>
            </a:extLst>
          </p:cNvPr>
          <p:cNvSpPr/>
          <p:nvPr/>
        </p:nvSpPr>
        <p:spPr>
          <a:xfrm>
            <a:off x="684716" y="3570362"/>
            <a:ext cx="797855" cy="184241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活動概要</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21" name="ホームベース 22">
            <a:extLst>
              <a:ext uri="{FF2B5EF4-FFF2-40B4-BE49-F238E27FC236}">
                <a16:creationId xmlns:a16="http://schemas.microsoft.com/office/drawing/2014/main" id="{CC0379F3-7272-DB14-7ECE-80D0463C3835}"/>
              </a:ext>
            </a:extLst>
          </p:cNvPr>
          <p:cNvSpPr/>
          <p:nvPr/>
        </p:nvSpPr>
        <p:spPr>
          <a:xfrm>
            <a:off x="1590237" y="4059757"/>
            <a:ext cx="4293306"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部門間調整ごとに関する仲裁・指揮命令。</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22" name="ホームベース 22">
            <a:extLst>
              <a:ext uri="{FF2B5EF4-FFF2-40B4-BE49-F238E27FC236}">
                <a16:creationId xmlns:a16="http://schemas.microsoft.com/office/drawing/2014/main" id="{CA3C845F-5995-A14A-9287-AB1B6789C1B0}"/>
              </a:ext>
            </a:extLst>
          </p:cNvPr>
          <p:cNvSpPr/>
          <p:nvPr/>
        </p:nvSpPr>
        <p:spPr>
          <a:xfrm>
            <a:off x="1590237" y="4549152"/>
            <a:ext cx="4293306"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現行</a:t>
            </a: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PJ</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の進捗報告へのフィードバック。</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23" name="ホームベース 22">
            <a:extLst>
              <a:ext uri="{FF2B5EF4-FFF2-40B4-BE49-F238E27FC236}">
                <a16:creationId xmlns:a16="http://schemas.microsoft.com/office/drawing/2014/main" id="{EC28FBB9-94D0-1CD9-2356-AEBDF09A19F6}"/>
              </a:ext>
            </a:extLst>
          </p:cNvPr>
          <p:cNvSpPr/>
          <p:nvPr/>
        </p:nvSpPr>
        <p:spPr>
          <a:xfrm>
            <a:off x="1590237" y="5038547"/>
            <a:ext cx="4293306"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KPI</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開発・ダッシュボード開発活動の優先度決め。</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24" name="正方形/長方形 95">
            <a:extLst>
              <a:ext uri="{FF2B5EF4-FFF2-40B4-BE49-F238E27FC236}">
                <a16:creationId xmlns:a16="http://schemas.microsoft.com/office/drawing/2014/main" id="{8153C4BC-F69A-CB2C-D2C6-E82710518F54}"/>
              </a:ext>
            </a:extLst>
          </p:cNvPr>
          <p:cNvSpPr/>
          <p:nvPr/>
        </p:nvSpPr>
        <p:spPr>
          <a:xfrm>
            <a:off x="6308458" y="1742217"/>
            <a:ext cx="5198828" cy="24479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srgbClr val="FFFFFF"/>
                </a:solidFill>
                <a:effectLst/>
                <a:uLnTx/>
                <a:uFillTx/>
                <a:latin typeface="Arial"/>
                <a:ea typeface="Meiryo UI"/>
                <a:cs typeface="+mn-cs"/>
              </a:rPr>
              <a:t>共同検討チーム</a:t>
            </a:r>
          </a:p>
        </p:txBody>
      </p:sp>
      <p:sp>
        <p:nvSpPr>
          <p:cNvPr id="25" name="ホームベース 22">
            <a:extLst>
              <a:ext uri="{FF2B5EF4-FFF2-40B4-BE49-F238E27FC236}">
                <a16:creationId xmlns:a16="http://schemas.microsoft.com/office/drawing/2014/main" id="{884DA3A7-EDFC-23A6-1BE4-94209CC13184}"/>
              </a:ext>
            </a:extLst>
          </p:cNvPr>
          <p:cNvSpPr/>
          <p:nvPr/>
        </p:nvSpPr>
        <p:spPr>
          <a:xfrm>
            <a:off x="6308458" y="2102177"/>
            <a:ext cx="797855" cy="58543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共同</a:t>
            </a: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PM</a:t>
            </a:r>
          </a:p>
        </p:txBody>
      </p:sp>
      <p:sp>
        <p:nvSpPr>
          <p:cNvPr id="26" name="ホームベース 22">
            <a:extLst>
              <a:ext uri="{FF2B5EF4-FFF2-40B4-BE49-F238E27FC236}">
                <a16:creationId xmlns:a16="http://schemas.microsoft.com/office/drawing/2014/main" id="{4BCAD8CB-9A97-B0CE-5A8D-24B196A35A44}"/>
              </a:ext>
            </a:extLst>
          </p:cNvPr>
          <p:cNvSpPr/>
          <p:nvPr/>
        </p:nvSpPr>
        <p:spPr>
          <a:xfrm>
            <a:off x="7213980" y="2102178"/>
            <a:ext cx="4293306" cy="24479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アフタセールス事業部門の</a:t>
            </a: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PJ</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責任者</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28" name="ホームベース 22">
            <a:extLst>
              <a:ext uri="{FF2B5EF4-FFF2-40B4-BE49-F238E27FC236}">
                <a16:creationId xmlns:a16="http://schemas.microsoft.com/office/drawing/2014/main" id="{EAF124AB-FB6E-10D0-53B2-D89FCED1623E}"/>
              </a:ext>
            </a:extLst>
          </p:cNvPr>
          <p:cNvSpPr/>
          <p:nvPr/>
        </p:nvSpPr>
        <p:spPr>
          <a:xfrm>
            <a:off x="7213980" y="2442823"/>
            <a:ext cx="4293306" cy="24479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IT</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部門の</a:t>
            </a: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PJ</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責任者</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29" name="ホームベース 22">
            <a:extLst>
              <a:ext uri="{FF2B5EF4-FFF2-40B4-BE49-F238E27FC236}">
                <a16:creationId xmlns:a16="http://schemas.microsoft.com/office/drawing/2014/main" id="{23D3E562-DA33-35F7-DB5D-6D066FE18EF7}"/>
              </a:ext>
            </a:extLst>
          </p:cNvPr>
          <p:cNvSpPr/>
          <p:nvPr/>
        </p:nvSpPr>
        <p:spPr>
          <a:xfrm>
            <a:off x="7213980" y="2783468"/>
            <a:ext cx="4293306" cy="24479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事業部門の</a:t>
            </a: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DX</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推進要員（月</a:t>
            </a: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0.5+</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稼働）</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30" name="ホームベース 22">
            <a:extLst>
              <a:ext uri="{FF2B5EF4-FFF2-40B4-BE49-F238E27FC236}">
                <a16:creationId xmlns:a16="http://schemas.microsoft.com/office/drawing/2014/main" id="{FEDCE6CD-6242-516D-AEAC-B9AB54E397F6}"/>
              </a:ext>
            </a:extLst>
          </p:cNvPr>
          <p:cNvSpPr/>
          <p:nvPr/>
        </p:nvSpPr>
        <p:spPr>
          <a:xfrm>
            <a:off x="6308458" y="2783467"/>
            <a:ext cx="797855" cy="1249009"/>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メンバー</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32" name="ホームベース 22">
            <a:extLst>
              <a:ext uri="{FF2B5EF4-FFF2-40B4-BE49-F238E27FC236}">
                <a16:creationId xmlns:a16="http://schemas.microsoft.com/office/drawing/2014/main" id="{CAC79992-64C4-628B-6BB7-46A9BBA6544B}"/>
              </a:ext>
            </a:extLst>
          </p:cNvPr>
          <p:cNvSpPr/>
          <p:nvPr/>
        </p:nvSpPr>
        <p:spPr>
          <a:xfrm>
            <a:off x="7213980" y="3124113"/>
            <a:ext cx="4293306" cy="24479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IT</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側の</a:t>
            </a: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DX</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推進要員（月</a:t>
            </a: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0.5+</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稼働）</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33" name="ホームベース 22">
            <a:extLst>
              <a:ext uri="{FF2B5EF4-FFF2-40B4-BE49-F238E27FC236}">
                <a16:creationId xmlns:a16="http://schemas.microsoft.com/office/drawing/2014/main" id="{D73C2E89-075B-6150-DDE7-B3B936F0AFF2}"/>
              </a:ext>
            </a:extLst>
          </p:cNvPr>
          <p:cNvSpPr/>
          <p:nvPr/>
        </p:nvSpPr>
        <p:spPr>
          <a:xfrm>
            <a:off x="7213980" y="3464758"/>
            <a:ext cx="4293306" cy="24479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事業・</a:t>
            </a: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IT</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側の</a:t>
            </a: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DX</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推進補佐（外注、専任～</a:t>
            </a: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0.5</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稼働）</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37" name="ホームベース 22">
            <a:extLst>
              <a:ext uri="{FF2B5EF4-FFF2-40B4-BE49-F238E27FC236}">
                <a16:creationId xmlns:a16="http://schemas.microsoft.com/office/drawing/2014/main" id="{2304C2FD-9F7F-ED18-5E5F-E3A3923FAD54}"/>
              </a:ext>
            </a:extLst>
          </p:cNvPr>
          <p:cNvSpPr/>
          <p:nvPr/>
        </p:nvSpPr>
        <p:spPr>
          <a:xfrm>
            <a:off x="7213980" y="3805403"/>
            <a:ext cx="4293306" cy="24479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開発</a:t>
            </a: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PM</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・開発者</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38" name="ホームベース 22">
            <a:extLst>
              <a:ext uri="{FF2B5EF4-FFF2-40B4-BE49-F238E27FC236}">
                <a16:creationId xmlns:a16="http://schemas.microsoft.com/office/drawing/2014/main" id="{BEE2E331-1959-8E84-444A-97F7E8503763}"/>
              </a:ext>
            </a:extLst>
          </p:cNvPr>
          <p:cNvSpPr/>
          <p:nvPr/>
        </p:nvSpPr>
        <p:spPr>
          <a:xfrm>
            <a:off x="6308458" y="4146048"/>
            <a:ext cx="797855" cy="1266724"/>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主な活動</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39" name="ホームベース 22">
            <a:extLst>
              <a:ext uri="{FF2B5EF4-FFF2-40B4-BE49-F238E27FC236}">
                <a16:creationId xmlns:a16="http://schemas.microsoft.com/office/drawing/2014/main" id="{963260CD-4B83-C814-EEAF-E07E53176735}"/>
              </a:ext>
            </a:extLst>
          </p:cNvPr>
          <p:cNvSpPr/>
          <p:nvPr/>
        </p:nvSpPr>
        <p:spPr>
          <a:xfrm>
            <a:off x="7213980" y="4146048"/>
            <a:ext cx="4293306" cy="24479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ダッシュボード化対象の</a:t>
            </a:r>
            <a: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KPI</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選定・システム化可否の判定。</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40" name="ホームベース 22">
            <a:extLst>
              <a:ext uri="{FF2B5EF4-FFF2-40B4-BE49-F238E27FC236}">
                <a16:creationId xmlns:a16="http://schemas.microsoft.com/office/drawing/2014/main" id="{2D9FE249-610F-95D6-7A6F-02E47AC55212}"/>
              </a:ext>
            </a:extLst>
          </p:cNvPr>
          <p:cNvSpPr/>
          <p:nvPr/>
        </p:nvSpPr>
        <p:spPr>
          <a:xfrm>
            <a:off x="7213980" y="4486693"/>
            <a:ext cx="4293306" cy="24479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ダッシュボード作成にかかるコスト・工期の試算とスコープ調整。</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41" name="ホームベース 22">
            <a:extLst>
              <a:ext uri="{FF2B5EF4-FFF2-40B4-BE49-F238E27FC236}">
                <a16:creationId xmlns:a16="http://schemas.microsoft.com/office/drawing/2014/main" id="{9E3B143A-0F49-6C9C-284F-FAF1E167602E}"/>
              </a:ext>
            </a:extLst>
          </p:cNvPr>
          <p:cNvSpPr/>
          <p:nvPr/>
        </p:nvSpPr>
        <p:spPr>
          <a:xfrm>
            <a:off x="7213980" y="4827338"/>
            <a:ext cx="4293306" cy="24479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はみ出しスコープの対応時期・期間とその間の回避策検討。</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43" name="ホームベース 22">
            <a:extLst>
              <a:ext uri="{FF2B5EF4-FFF2-40B4-BE49-F238E27FC236}">
                <a16:creationId xmlns:a16="http://schemas.microsoft.com/office/drawing/2014/main" id="{C59FB550-3CF5-7818-6311-ADD1EEEBCA8A}"/>
              </a:ext>
            </a:extLst>
          </p:cNvPr>
          <p:cNvSpPr/>
          <p:nvPr/>
        </p:nvSpPr>
        <p:spPr>
          <a:xfrm>
            <a:off x="7213980" y="5167982"/>
            <a:ext cx="4293306" cy="24479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ステアリングコミッティーへの上申内容の協議と取りまとめ。</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47" name="Isosceles Triangle 46">
            <a:extLst>
              <a:ext uri="{FF2B5EF4-FFF2-40B4-BE49-F238E27FC236}">
                <a16:creationId xmlns:a16="http://schemas.microsoft.com/office/drawing/2014/main" id="{0FB28FCE-6FE2-4240-52F6-3B0E56A689A3}"/>
              </a:ext>
            </a:extLst>
          </p:cNvPr>
          <p:cNvSpPr/>
          <p:nvPr/>
        </p:nvSpPr>
        <p:spPr>
          <a:xfrm rot="10800000">
            <a:off x="4403323" y="5526344"/>
            <a:ext cx="3382393" cy="203484"/>
          </a:xfrm>
          <a:prstGeom prst="triangl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0" normalizeH="0" baseline="0" noProof="0" err="1">
              <a:ln>
                <a:noFill/>
              </a:ln>
              <a:solidFill>
                <a:srgbClr val="000000"/>
              </a:solidFill>
              <a:effectLst/>
              <a:uLnTx/>
              <a:uFillTx/>
              <a:latin typeface="Arial"/>
              <a:ea typeface="Meiryo UI"/>
              <a:cs typeface="+mn-cs"/>
            </a:endParaRPr>
          </a:p>
        </p:txBody>
      </p:sp>
      <p:sp>
        <p:nvSpPr>
          <p:cNvPr id="48" name="ホームベース 22">
            <a:extLst>
              <a:ext uri="{FF2B5EF4-FFF2-40B4-BE49-F238E27FC236}">
                <a16:creationId xmlns:a16="http://schemas.microsoft.com/office/drawing/2014/main" id="{58FB0C2D-2C0E-864B-F5D7-78B7AA6B6141}"/>
              </a:ext>
            </a:extLst>
          </p:cNvPr>
          <p:cNvSpPr/>
          <p:nvPr/>
        </p:nvSpPr>
        <p:spPr>
          <a:xfrm>
            <a:off x="684716" y="5866988"/>
            <a:ext cx="5198828" cy="551857"/>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型を決めてから着手するのではなく、手中にあるデータで簡単にできるものから着手し目に</a:t>
            </a:r>
            <a:r>
              <a:rPr kumimoji="1" lang="ja-JP" altLang="en-US" sz="12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見える成果を一定期間内で出す</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ことが重要である。</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51" name="ホームベース 22">
            <a:extLst>
              <a:ext uri="{FF2B5EF4-FFF2-40B4-BE49-F238E27FC236}">
                <a16:creationId xmlns:a16="http://schemas.microsoft.com/office/drawing/2014/main" id="{F7CD3CEA-896C-9446-32BA-1C389739BF15}"/>
              </a:ext>
            </a:extLst>
          </p:cNvPr>
          <p:cNvSpPr/>
          <p:nvPr/>
        </p:nvSpPr>
        <p:spPr>
          <a:xfrm>
            <a:off x="6308458" y="5866988"/>
            <a:ext cx="5198828" cy="551857"/>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部門や機能、会社の</a:t>
            </a:r>
            <a:r>
              <a:rPr kumimoji="1" lang="ja-JP" altLang="en-US" sz="12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枠を超えた密な意思疎通</a:t>
            </a: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の場を設け、一蓮托生で取り組む</a:t>
            </a:r>
            <a:br>
              <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br>
            <a:r>
              <a:rPr kumimoji="1" lang="ja-JP" altLang="en-US"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ことが成功のカギとなる。</a:t>
            </a:r>
            <a:endParaRPr kumimoji="1" lang="en-US" altLang="ja-JP" sz="12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36560672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DDED3-D56E-FB8B-5377-533E6F4C076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B0C85FD-4D35-F503-1D53-F2E69CAAA81E}"/>
              </a:ext>
            </a:extLst>
          </p:cNvPr>
          <p:cNvSpPr>
            <a:spLocks noGrp="1"/>
          </p:cNvSpPr>
          <p:nvPr>
            <p:ph type="title"/>
          </p:nvPr>
        </p:nvSpPr>
        <p:spPr/>
        <p:txBody>
          <a:bodyPr/>
          <a:lstStyle/>
          <a:p>
            <a:r>
              <a:rPr lang="ja-JP" altLang="en-US" sz="1600" dirty="0">
                <a:solidFill>
                  <a:schemeClr val="accent2"/>
                </a:solidFill>
                <a:latin typeface="Meiryo UI" panose="020B0604030504040204" pitchFamily="50" charset="-128"/>
                <a:ea typeface="Meiryo UI" panose="020B0604030504040204" pitchFamily="50" charset="-128"/>
              </a:rPr>
              <a:t>事例①：自動車メーカー　</a:t>
            </a:r>
            <a:r>
              <a:rPr lang="en-US" altLang="ja-JP" sz="1600" dirty="0">
                <a:solidFill>
                  <a:schemeClr val="accent2"/>
                </a:solidFill>
                <a:latin typeface="Meiryo UI" panose="020B0604030504040204" pitchFamily="50" charset="-128"/>
                <a:ea typeface="Meiryo UI" panose="020B0604030504040204" pitchFamily="50" charset="-128"/>
              </a:rPr>
              <a:t>KPI</a:t>
            </a:r>
            <a:r>
              <a:rPr lang="ja-JP" altLang="en-US" sz="1600" dirty="0">
                <a:solidFill>
                  <a:schemeClr val="accent2"/>
                </a:solidFill>
                <a:latin typeface="Meiryo UI" panose="020B0604030504040204" pitchFamily="50" charset="-128"/>
                <a:ea typeface="Meiryo UI" panose="020B0604030504040204" pitchFamily="50" charset="-128"/>
              </a:rPr>
              <a:t>ダッシュボード化と事業適正化</a:t>
            </a:r>
            <a:br>
              <a:rPr lang="en-US" altLang="ja-JP" sz="3600" dirty="0">
                <a:solidFill>
                  <a:schemeClr val="accent2"/>
                </a:solidFill>
                <a:latin typeface="Meiryo UI" panose="020B0604030504040204" pitchFamily="50" charset="-128"/>
                <a:ea typeface="Meiryo UI" panose="020B0604030504040204" pitchFamily="50" charset="-128"/>
              </a:rPr>
            </a:br>
            <a:r>
              <a:rPr lang="ja-JP" altLang="en-US" sz="2400" dirty="0">
                <a:solidFill>
                  <a:schemeClr val="accent2"/>
                </a:solidFill>
                <a:latin typeface="Meiryo UI" panose="020B0604030504040204" pitchFamily="50" charset="-128"/>
                <a:ea typeface="Meiryo UI" panose="020B0604030504040204" pitchFamily="50" charset="-128"/>
              </a:rPr>
              <a:t>解決に向けた営み（</a:t>
            </a:r>
            <a:r>
              <a:rPr lang="en-US" altLang="ja-JP" sz="2400" dirty="0">
                <a:solidFill>
                  <a:schemeClr val="accent2"/>
                </a:solidFill>
                <a:latin typeface="Meiryo UI" panose="020B0604030504040204" pitchFamily="50" charset="-128"/>
                <a:ea typeface="Meiryo UI" panose="020B0604030504040204" pitchFamily="50" charset="-128"/>
              </a:rPr>
              <a:t>2/2</a:t>
            </a:r>
            <a:r>
              <a:rPr lang="ja-JP" altLang="en-US" sz="2400" dirty="0">
                <a:solidFill>
                  <a:schemeClr val="accent2"/>
                </a:solidFill>
                <a:latin typeface="Meiryo UI" panose="020B0604030504040204" pitchFamily="50" charset="-128"/>
                <a:ea typeface="Meiryo UI" panose="020B0604030504040204" pitchFamily="50" charset="-128"/>
              </a:rPr>
              <a:t>）</a:t>
            </a:r>
          </a:p>
        </p:txBody>
      </p:sp>
      <p:sp>
        <p:nvSpPr>
          <p:cNvPr id="4" name="コンテンツ プレースホルダー 3">
            <a:extLst>
              <a:ext uri="{FF2B5EF4-FFF2-40B4-BE49-F238E27FC236}">
                <a16:creationId xmlns:a16="http://schemas.microsoft.com/office/drawing/2014/main" id="{CE740FAC-A4ED-56DB-A6FD-9AAE0F1AD96C}"/>
              </a:ext>
            </a:extLst>
          </p:cNvPr>
          <p:cNvSpPr>
            <a:spLocks noGrp="1"/>
          </p:cNvSpPr>
          <p:nvPr>
            <p:ph sz="quarter" idx="10"/>
          </p:nvPr>
        </p:nvSpPr>
        <p:spPr>
          <a:xfrm>
            <a:off x="388603" y="945178"/>
            <a:ext cx="11448000" cy="746871"/>
          </a:xfrm>
        </p:spPr>
        <p:txBody>
          <a:bodyPr/>
          <a:lstStyle/>
          <a:p>
            <a:r>
              <a:rPr lang="ja-JP" altLang="en-US" dirty="0"/>
              <a:t>対象となる業務やデータが不明確、または未定義な場合が多かったため、まずは目に見えるところから自動化を図り、データの不揃い等は後付で徐々に解消していったことでプロジェクトを前に進めることができた。</a:t>
            </a:r>
          </a:p>
        </p:txBody>
      </p:sp>
      <p:pic>
        <p:nvPicPr>
          <p:cNvPr id="8" name="Graphic 82" descr="Bar graph with upward trend with solid fill">
            <a:extLst>
              <a:ext uri="{FF2B5EF4-FFF2-40B4-BE49-F238E27FC236}">
                <a16:creationId xmlns:a16="http://schemas.microsoft.com/office/drawing/2014/main" id="{C9429C7E-FF2C-E14A-913B-5BF60E3884C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21703" y="2725998"/>
            <a:ext cx="505710" cy="330924"/>
          </a:xfrm>
          <a:prstGeom prst="rect">
            <a:avLst/>
          </a:prstGeom>
        </p:spPr>
      </p:pic>
      <p:pic>
        <p:nvPicPr>
          <p:cNvPr id="9" name="Graphic 83" descr="Normal Distribution with solid fill">
            <a:extLst>
              <a:ext uri="{FF2B5EF4-FFF2-40B4-BE49-F238E27FC236}">
                <a16:creationId xmlns:a16="http://schemas.microsoft.com/office/drawing/2014/main" id="{2E4201DD-847F-7C2C-DAD6-99DEDF0DF70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80547" y="2725998"/>
            <a:ext cx="505710" cy="330924"/>
          </a:xfrm>
          <a:prstGeom prst="rect">
            <a:avLst/>
          </a:prstGeom>
        </p:spPr>
      </p:pic>
      <p:pic>
        <p:nvPicPr>
          <p:cNvPr id="10" name="Graphic 84" descr="Laptop with solid fill">
            <a:extLst>
              <a:ext uri="{FF2B5EF4-FFF2-40B4-BE49-F238E27FC236}">
                <a16:creationId xmlns:a16="http://schemas.microsoft.com/office/drawing/2014/main" id="{5CF54EBA-1C90-6997-A1EB-02889C9FBE8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43309" y="2432270"/>
            <a:ext cx="1533710" cy="1003622"/>
          </a:xfrm>
          <a:prstGeom prst="rect">
            <a:avLst/>
          </a:prstGeom>
        </p:spPr>
      </p:pic>
      <p:sp>
        <p:nvSpPr>
          <p:cNvPr id="11" name="TextBox 85">
            <a:extLst>
              <a:ext uri="{FF2B5EF4-FFF2-40B4-BE49-F238E27FC236}">
                <a16:creationId xmlns:a16="http://schemas.microsoft.com/office/drawing/2014/main" id="{F8CD8985-C095-4598-1806-B0EF51345CDB}"/>
              </a:ext>
            </a:extLst>
          </p:cNvPr>
          <p:cNvSpPr txBox="1"/>
          <p:nvPr/>
        </p:nvSpPr>
        <p:spPr>
          <a:xfrm>
            <a:off x="4739420" y="3211999"/>
            <a:ext cx="741489" cy="239915"/>
          </a:xfrm>
          <a:prstGeom prst="rect">
            <a:avLst/>
          </a:prstGeom>
        </p:spPr>
        <p:txBody>
          <a:bodyPr wrap="none" lIns="72000" tIns="72000" rIns="72000" bIns="72000" rtlCol="0" anchor="ctr" anchorCtr="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ja-JP" sz="800" b="0" i="0" u="none" strike="noStrike" kern="0" cap="none" spc="0" normalizeH="0" baseline="0" noProof="0" dirty="0">
                <a:ln>
                  <a:noFill/>
                </a:ln>
                <a:solidFill>
                  <a:srgbClr val="000000"/>
                </a:solidFill>
                <a:effectLst/>
                <a:uLnTx/>
                <a:uFillTx/>
                <a:latin typeface="Meiryo UI"/>
                <a:ea typeface="Meiryo UI"/>
                <a:cs typeface="+mn-cs"/>
              </a:rPr>
              <a:t>BI</a:t>
            </a:r>
            <a:r>
              <a:rPr kumimoji="0" lang="ja-JP" altLang="en-US" sz="800" b="0" i="0" u="none" strike="noStrike" kern="0" cap="none" spc="0" normalizeH="0" baseline="0" noProof="0" dirty="0">
                <a:ln>
                  <a:noFill/>
                </a:ln>
                <a:solidFill>
                  <a:srgbClr val="000000"/>
                </a:solidFill>
                <a:effectLst/>
                <a:uLnTx/>
                <a:uFillTx/>
                <a:latin typeface="Meiryo UI"/>
                <a:ea typeface="Meiryo UI"/>
                <a:cs typeface="+mn-cs"/>
              </a:rPr>
              <a:t>・ダッシュボード</a:t>
            </a:r>
            <a:endParaRPr kumimoji="0" lang="en-US" sz="800" b="0" i="0" u="none" strike="noStrike" kern="0" cap="none" spc="0" normalizeH="0" baseline="0" noProof="0" dirty="0">
              <a:ln>
                <a:noFill/>
              </a:ln>
              <a:solidFill>
                <a:srgbClr val="000000"/>
              </a:solidFill>
              <a:effectLst/>
              <a:uLnTx/>
              <a:uFillTx/>
              <a:latin typeface="Meiryo UI"/>
              <a:ea typeface="Meiryo UI"/>
              <a:cs typeface="+mn-cs"/>
            </a:endParaRPr>
          </a:p>
        </p:txBody>
      </p:sp>
      <p:pic>
        <p:nvPicPr>
          <p:cNvPr id="46" name="Picture 4" descr="Excel, logo, logos icon - Free download on Iconfinder">
            <a:extLst>
              <a:ext uri="{FF2B5EF4-FFF2-40B4-BE49-F238E27FC236}">
                <a16:creationId xmlns:a16="http://schemas.microsoft.com/office/drawing/2014/main" id="{3172485F-DDCB-BC1C-0098-A25189DBA6D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1093" y="2146124"/>
            <a:ext cx="449182" cy="293933"/>
          </a:xfrm>
          <a:prstGeom prst="rect">
            <a:avLst/>
          </a:prstGeom>
          <a:extLst>
            <a:ext uri="{909E8E84-426E-40DD-AFC4-6F175D3DCCD1}">
              <a14:hiddenFill xmlns:a14="http://schemas.microsoft.com/office/drawing/2010/main">
                <a:solidFill>
                  <a:srgbClr val="FFFFFF"/>
                </a:solidFill>
              </a14:hiddenFill>
            </a:ext>
          </a:extLst>
        </p:spPr>
      </p:pic>
      <p:pic>
        <p:nvPicPr>
          <p:cNvPr id="49" name="Picture 6" descr="Brand, brands, logo, logos, word icon - Free download">
            <a:extLst>
              <a:ext uri="{FF2B5EF4-FFF2-40B4-BE49-F238E27FC236}">
                <a16:creationId xmlns:a16="http://schemas.microsoft.com/office/drawing/2014/main" id="{B0B43DEF-9111-FEC2-9BD7-2D5346317F2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1093" y="2501421"/>
            <a:ext cx="449182" cy="293933"/>
          </a:xfrm>
          <a:prstGeom prst="rect">
            <a:avLst/>
          </a:prstGeom>
          <a:extLst>
            <a:ext uri="{909E8E84-426E-40DD-AFC4-6F175D3DCCD1}">
              <a14:hiddenFill xmlns:a14="http://schemas.microsoft.com/office/drawing/2010/main">
                <a:solidFill>
                  <a:srgbClr val="FFFFFF"/>
                </a:solidFill>
              </a14:hiddenFill>
            </a:ext>
          </a:extLst>
        </p:spPr>
      </p:pic>
      <p:pic>
        <p:nvPicPr>
          <p:cNvPr id="50" name="Picture 8" descr="Brand, brands, logo, logos, powerpoint icon - Free download">
            <a:extLst>
              <a:ext uri="{FF2B5EF4-FFF2-40B4-BE49-F238E27FC236}">
                <a16:creationId xmlns:a16="http://schemas.microsoft.com/office/drawing/2014/main" id="{617995F6-009D-DEDC-509C-69915BD73E4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1093" y="2856719"/>
            <a:ext cx="449182" cy="293933"/>
          </a:xfrm>
          <a:prstGeom prst="rect">
            <a:avLst/>
          </a:prstGeom>
          <a:extLst>
            <a:ext uri="{909E8E84-426E-40DD-AFC4-6F175D3DCCD1}">
              <a14:hiddenFill xmlns:a14="http://schemas.microsoft.com/office/drawing/2010/main">
                <a:solidFill>
                  <a:srgbClr val="FFFFFF"/>
                </a:solidFill>
              </a14:hiddenFill>
            </a:ext>
          </a:extLst>
        </p:spPr>
      </p:pic>
      <p:cxnSp>
        <p:nvCxnSpPr>
          <p:cNvPr id="56" name="Connector: Elbow 129">
            <a:extLst>
              <a:ext uri="{FF2B5EF4-FFF2-40B4-BE49-F238E27FC236}">
                <a16:creationId xmlns:a16="http://schemas.microsoft.com/office/drawing/2014/main" id="{22F9C419-A9F4-7BFF-CD97-D4CFD36D3138}"/>
              </a:ext>
            </a:extLst>
          </p:cNvPr>
          <p:cNvCxnSpPr>
            <a:cxnSpLocks/>
            <a:stCxn id="50" idx="3"/>
            <a:endCxn id="121" idx="1"/>
          </p:cNvCxnSpPr>
          <p:nvPr/>
        </p:nvCxnSpPr>
        <p:spPr>
          <a:xfrm flipV="1">
            <a:off x="1090275" y="2934082"/>
            <a:ext cx="427873" cy="69604"/>
          </a:xfrm>
          <a:prstGeom prst="bentConnector3">
            <a:avLst/>
          </a:prstGeom>
          <a:noFill/>
          <a:ln w="6350" cap="flat" cmpd="sng" algn="ctr">
            <a:solidFill>
              <a:srgbClr val="000000"/>
            </a:solidFill>
            <a:prstDash val="solid"/>
            <a:miter lim="800000"/>
            <a:tailEnd type="triangle"/>
          </a:ln>
          <a:effectLst/>
        </p:spPr>
      </p:cxnSp>
      <p:cxnSp>
        <p:nvCxnSpPr>
          <p:cNvPr id="57" name="Connector: Elbow 131">
            <a:extLst>
              <a:ext uri="{FF2B5EF4-FFF2-40B4-BE49-F238E27FC236}">
                <a16:creationId xmlns:a16="http://schemas.microsoft.com/office/drawing/2014/main" id="{ADCEF7F3-6095-D06F-E556-5C05C7206479}"/>
              </a:ext>
            </a:extLst>
          </p:cNvPr>
          <p:cNvCxnSpPr>
            <a:cxnSpLocks/>
            <a:stCxn id="49" idx="3"/>
            <a:endCxn id="121" idx="1"/>
          </p:cNvCxnSpPr>
          <p:nvPr/>
        </p:nvCxnSpPr>
        <p:spPr>
          <a:xfrm>
            <a:off x="1090275" y="2648388"/>
            <a:ext cx="427873" cy="285694"/>
          </a:xfrm>
          <a:prstGeom prst="bentConnector3">
            <a:avLst/>
          </a:prstGeom>
          <a:noFill/>
          <a:ln w="6350" cap="flat" cmpd="sng" algn="ctr">
            <a:solidFill>
              <a:srgbClr val="000000"/>
            </a:solidFill>
            <a:prstDash val="solid"/>
            <a:miter lim="800000"/>
            <a:tailEnd type="triangle"/>
          </a:ln>
          <a:effectLst/>
        </p:spPr>
      </p:cxnSp>
      <p:cxnSp>
        <p:nvCxnSpPr>
          <p:cNvPr id="58" name="Connector: Elbow 133">
            <a:extLst>
              <a:ext uri="{FF2B5EF4-FFF2-40B4-BE49-F238E27FC236}">
                <a16:creationId xmlns:a16="http://schemas.microsoft.com/office/drawing/2014/main" id="{DA0AD53E-AA75-B20A-46B9-B59766D884BA}"/>
              </a:ext>
            </a:extLst>
          </p:cNvPr>
          <p:cNvCxnSpPr>
            <a:cxnSpLocks/>
            <a:stCxn id="46" idx="3"/>
            <a:endCxn id="121" idx="1"/>
          </p:cNvCxnSpPr>
          <p:nvPr/>
        </p:nvCxnSpPr>
        <p:spPr>
          <a:xfrm>
            <a:off x="1090275" y="2293091"/>
            <a:ext cx="427873" cy="640991"/>
          </a:xfrm>
          <a:prstGeom prst="bentConnector3">
            <a:avLst/>
          </a:prstGeom>
          <a:noFill/>
          <a:ln w="6350" cap="flat" cmpd="sng" algn="ctr">
            <a:solidFill>
              <a:srgbClr val="000000"/>
            </a:solidFill>
            <a:prstDash val="solid"/>
            <a:miter lim="800000"/>
            <a:tailEnd type="triangle"/>
          </a:ln>
          <a:effectLst/>
        </p:spPr>
      </p:cxnSp>
      <p:grpSp>
        <p:nvGrpSpPr>
          <p:cNvPr id="77" name="Group 184">
            <a:extLst>
              <a:ext uri="{FF2B5EF4-FFF2-40B4-BE49-F238E27FC236}">
                <a16:creationId xmlns:a16="http://schemas.microsoft.com/office/drawing/2014/main" id="{05131B0C-94CD-8748-62BE-8BE60ACAA50E}"/>
              </a:ext>
            </a:extLst>
          </p:cNvPr>
          <p:cNvGrpSpPr/>
          <p:nvPr/>
        </p:nvGrpSpPr>
        <p:grpSpPr>
          <a:xfrm>
            <a:off x="6368987" y="2146124"/>
            <a:ext cx="5287187" cy="1569291"/>
            <a:chOff x="6423135" y="2237745"/>
            <a:chExt cx="5381570" cy="2440961"/>
          </a:xfrm>
        </p:grpSpPr>
        <p:grpSp>
          <p:nvGrpSpPr>
            <p:cNvPr id="78" name="Group 119">
              <a:extLst>
                <a:ext uri="{FF2B5EF4-FFF2-40B4-BE49-F238E27FC236}">
                  <a16:creationId xmlns:a16="http://schemas.microsoft.com/office/drawing/2014/main" id="{2C7F4E44-3131-C3F9-80B9-1E3640DB0FEA}"/>
                </a:ext>
              </a:extLst>
            </p:cNvPr>
            <p:cNvGrpSpPr/>
            <p:nvPr/>
          </p:nvGrpSpPr>
          <p:grpSpPr>
            <a:xfrm>
              <a:off x="6988548" y="3084157"/>
              <a:ext cx="1468735" cy="792200"/>
              <a:chOff x="6906676" y="2949224"/>
              <a:chExt cx="1468735" cy="792200"/>
            </a:xfrm>
          </p:grpSpPr>
          <p:grpSp>
            <p:nvGrpSpPr>
              <p:cNvPr id="114" name="Group 116">
                <a:extLst>
                  <a:ext uri="{FF2B5EF4-FFF2-40B4-BE49-F238E27FC236}">
                    <a16:creationId xmlns:a16="http://schemas.microsoft.com/office/drawing/2014/main" id="{62C81342-5731-EB65-6534-44E65D4223B6}"/>
                  </a:ext>
                </a:extLst>
              </p:cNvPr>
              <p:cNvGrpSpPr/>
              <p:nvPr/>
            </p:nvGrpSpPr>
            <p:grpSpPr>
              <a:xfrm>
                <a:off x="6906676" y="2949224"/>
                <a:ext cx="1468735" cy="792200"/>
                <a:chOff x="6857703" y="2934029"/>
                <a:chExt cx="1468735" cy="792200"/>
              </a:xfrm>
            </p:grpSpPr>
            <p:sp>
              <p:nvSpPr>
                <p:cNvPr id="116" name="Flowchart: Magnetic Disk 96">
                  <a:extLst>
                    <a:ext uri="{FF2B5EF4-FFF2-40B4-BE49-F238E27FC236}">
                      <a16:creationId xmlns:a16="http://schemas.microsoft.com/office/drawing/2014/main" id="{81E97D0F-8856-17C9-901B-9DF6BEA6FDF8}"/>
                    </a:ext>
                  </a:extLst>
                </p:cNvPr>
                <p:cNvSpPr/>
                <p:nvPr/>
              </p:nvSpPr>
              <p:spPr>
                <a:xfrm>
                  <a:off x="7254858" y="2934029"/>
                  <a:ext cx="666055" cy="792200"/>
                </a:xfrm>
                <a:prstGeom prst="flowChartMagneticDisk">
                  <a:avLst/>
                </a:prstGeom>
                <a:solidFill>
                  <a:srgbClr val="24B9EA"/>
                </a:solidFill>
                <a:ln w="28575" cap="flat" cmpd="sng" algn="ctr">
                  <a:solidFill>
                    <a:srgbClr val="7198CE">
                      <a:lumMod val="50000"/>
                    </a:srgbClr>
                  </a:solidFill>
                  <a:prstDash val="solid"/>
                  <a:miter lim="800000"/>
                </a:ln>
                <a:effectLst/>
              </p:spPr>
              <p:txBody>
                <a:bodyPr wrap="none"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Meiryo UI"/>
                    <a:ea typeface="Meiryo UI"/>
                    <a:cs typeface="+mn-cs"/>
                  </a:endParaRPr>
                </a:p>
              </p:txBody>
            </p:sp>
            <p:sp>
              <p:nvSpPr>
                <p:cNvPr id="117" name="Freeform: Shape 109">
                  <a:extLst>
                    <a:ext uri="{FF2B5EF4-FFF2-40B4-BE49-F238E27FC236}">
                      <a16:creationId xmlns:a16="http://schemas.microsoft.com/office/drawing/2014/main" id="{80DBFF49-5AA3-7881-69EA-80189B8C9A86}"/>
                    </a:ext>
                  </a:extLst>
                </p:cNvPr>
                <p:cNvSpPr/>
                <p:nvPr/>
              </p:nvSpPr>
              <p:spPr>
                <a:xfrm>
                  <a:off x="6891669" y="3084579"/>
                  <a:ext cx="1400803" cy="391930"/>
                </a:xfrm>
                <a:custGeom>
                  <a:avLst/>
                  <a:gdLst>
                    <a:gd name="connsiteX0" fmla="*/ 5437 w 1400803"/>
                    <a:gd name="connsiteY0" fmla="*/ 0 h 391930"/>
                    <a:gd name="connsiteX1" fmla="*/ 6867 w 1400803"/>
                    <a:gd name="connsiteY1" fmla="*/ 14190 h 391930"/>
                    <a:gd name="connsiteX2" fmla="*/ 338001 w 1400803"/>
                    <a:gd name="connsiteY2" fmla="*/ 284072 h 391930"/>
                    <a:gd name="connsiteX3" fmla="*/ 469566 w 1400803"/>
                    <a:gd name="connsiteY3" fmla="*/ 257510 h 391930"/>
                    <a:gd name="connsiteX4" fmla="*/ 515792 w 1400803"/>
                    <a:gd name="connsiteY4" fmla="*/ 232420 h 391930"/>
                    <a:gd name="connsiteX5" fmla="*/ 562017 w 1400803"/>
                    <a:gd name="connsiteY5" fmla="*/ 257510 h 391930"/>
                    <a:gd name="connsiteX6" fmla="*/ 693583 w 1400803"/>
                    <a:gd name="connsiteY6" fmla="*/ 284072 h 391930"/>
                    <a:gd name="connsiteX7" fmla="*/ 825149 w 1400803"/>
                    <a:gd name="connsiteY7" fmla="*/ 257510 h 391930"/>
                    <a:gd name="connsiteX8" fmla="*/ 878193 w 1400803"/>
                    <a:gd name="connsiteY8" fmla="*/ 228719 h 391930"/>
                    <a:gd name="connsiteX9" fmla="*/ 931237 w 1400803"/>
                    <a:gd name="connsiteY9" fmla="*/ 257510 h 391930"/>
                    <a:gd name="connsiteX10" fmla="*/ 1062802 w 1400803"/>
                    <a:gd name="connsiteY10" fmla="*/ 284072 h 391930"/>
                    <a:gd name="connsiteX11" fmla="*/ 1393936 w 1400803"/>
                    <a:gd name="connsiteY11" fmla="*/ 14190 h 391930"/>
                    <a:gd name="connsiteX12" fmla="*/ 1395367 w 1400803"/>
                    <a:gd name="connsiteY12" fmla="*/ 0 h 391930"/>
                    <a:gd name="connsiteX13" fmla="*/ 1400803 w 1400803"/>
                    <a:gd name="connsiteY13" fmla="*/ 53929 h 391930"/>
                    <a:gd name="connsiteX14" fmla="*/ 1062802 w 1400803"/>
                    <a:gd name="connsiteY14" fmla="*/ 391930 h 391930"/>
                    <a:gd name="connsiteX15" fmla="*/ 931237 w 1400803"/>
                    <a:gd name="connsiteY15" fmla="*/ 365368 h 391930"/>
                    <a:gd name="connsiteX16" fmla="*/ 878193 w 1400803"/>
                    <a:gd name="connsiteY16" fmla="*/ 336577 h 391930"/>
                    <a:gd name="connsiteX17" fmla="*/ 825149 w 1400803"/>
                    <a:gd name="connsiteY17" fmla="*/ 365368 h 391930"/>
                    <a:gd name="connsiteX18" fmla="*/ 693583 w 1400803"/>
                    <a:gd name="connsiteY18" fmla="*/ 391930 h 391930"/>
                    <a:gd name="connsiteX19" fmla="*/ 562017 w 1400803"/>
                    <a:gd name="connsiteY19" fmla="*/ 365368 h 391930"/>
                    <a:gd name="connsiteX20" fmla="*/ 515792 w 1400803"/>
                    <a:gd name="connsiteY20" fmla="*/ 340278 h 391930"/>
                    <a:gd name="connsiteX21" fmla="*/ 469566 w 1400803"/>
                    <a:gd name="connsiteY21" fmla="*/ 365368 h 391930"/>
                    <a:gd name="connsiteX22" fmla="*/ 338001 w 1400803"/>
                    <a:gd name="connsiteY22" fmla="*/ 391930 h 391930"/>
                    <a:gd name="connsiteX23" fmla="*/ 0 w 1400803"/>
                    <a:gd name="connsiteY23" fmla="*/ 53929 h 39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00803" h="391930">
                      <a:moveTo>
                        <a:pt x="5437" y="0"/>
                      </a:moveTo>
                      <a:lnTo>
                        <a:pt x="6867" y="14190"/>
                      </a:lnTo>
                      <a:cubicBezTo>
                        <a:pt x="38385" y="168212"/>
                        <a:pt x="174662" y="284072"/>
                        <a:pt x="338001" y="284072"/>
                      </a:cubicBezTo>
                      <a:cubicBezTo>
                        <a:pt x="384669" y="284072"/>
                        <a:pt x="429128" y="274614"/>
                        <a:pt x="469566" y="257510"/>
                      </a:cubicBezTo>
                      <a:lnTo>
                        <a:pt x="515792" y="232420"/>
                      </a:lnTo>
                      <a:lnTo>
                        <a:pt x="562017" y="257510"/>
                      </a:lnTo>
                      <a:cubicBezTo>
                        <a:pt x="602455" y="274614"/>
                        <a:pt x="646915" y="284072"/>
                        <a:pt x="693583" y="284072"/>
                      </a:cubicBezTo>
                      <a:cubicBezTo>
                        <a:pt x="740252" y="284072"/>
                        <a:pt x="784711" y="274614"/>
                        <a:pt x="825149" y="257510"/>
                      </a:cubicBezTo>
                      <a:lnTo>
                        <a:pt x="878193" y="228719"/>
                      </a:lnTo>
                      <a:lnTo>
                        <a:pt x="931237" y="257510"/>
                      </a:lnTo>
                      <a:cubicBezTo>
                        <a:pt x="971675" y="274614"/>
                        <a:pt x="1016134" y="284072"/>
                        <a:pt x="1062802" y="284072"/>
                      </a:cubicBezTo>
                      <a:cubicBezTo>
                        <a:pt x="1226141" y="284072"/>
                        <a:pt x="1362419" y="168212"/>
                        <a:pt x="1393936" y="14190"/>
                      </a:cubicBezTo>
                      <a:lnTo>
                        <a:pt x="1395367" y="0"/>
                      </a:lnTo>
                      <a:lnTo>
                        <a:pt x="1400803" y="53929"/>
                      </a:lnTo>
                      <a:cubicBezTo>
                        <a:pt x="1400803" y="240602"/>
                        <a:pt x="1249475" y="391930"/>
                        <a:pt x="1062802" y="391930"/>
                      </a:cubicBezTo>
                      <a:cubicBezTo>
                        <a:pt x="1016134" y="391930"/>
                        <a:pt x="971675" y="382472"/>
                        <a:pt x="931237" y="365368"/>
                      </a:cubicBezTo>
                      <a:lnTo>
                        <a:pt x="878193" y="336577"/>
                      </a:lnTo>
                      <a:lnTo>
                        <a:pt x="825149" y="365368"/>
                      </a:lnTo>
                      <a:cubicBezTo>
                        <a:pt x="784711" y="382472"/>
                        <a:pt x="740252" y="391930"/>
                        <a:pt x="693583" y="391930"/>
                      </a:cubicBezTo>
                      <a:cubicBezTo>
                        <a:pt x="646915" y="391930"/>
                        <a:pt x="602455" y="382472"/>
                        <a:pt x="562017" y="365368"/>
                      </a:cubicBezTo>
                      <a:lnTo>
                        <a:pt x="515792" y="340278"/>
                      </a:lnTo>
                      <a:lnTo>
                        <a:pt x="469566" y="365368"/>
                      </a:lnTo>
                      <a:cubicBezTo>
                        <a:pt x="429128" y="382472"/>
                        <a:pt x="384669" y="391930"/>
                        <a:pt x="338001" y="391930"/>
                      </a:cubicBezTo>
                      <a:cubicBezTo>
                        <a:pt x="151328" y="391930"/>
                        <a:pt x="0" y="240602"/>
                        <a:pt x="0" y="53929"/>
                      </a:cubicBezTo>
                      <a:close/>
                    </a:path>
                  </a:pathLst>
                </a:custGeom>
                <a:solidFill>
                  <a:srgbClr val="FFFFFF"/>
                </a:solidFill>
                <a:ln w="12700" cap="flat" cmpd="sng" algn="ctr">
                  <a:solidFill>
                    <a:srgbClr val="7198CE">
                      <a:lumMod val="50000"/>
                    </a:srgbClr>
                  </a:solidFill>
                  <a:prstDash val="solid"/>
                  <a:miter lim="800000"/>
                </a:ln>
                <a:effectLst/>
              </p:spPr>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Meiryo UI"/>
                    <a:ea typeface="Meiryo UI"/>
                    <a:cs typeface="+mn-cs"/>
                  </a:endParaRPr>
                </a:p>
              </p:txBody>
            </p:sp>
            <p:sp>
              <p:nvSpPr>
                <p:cNvPr id="118" name="Rectangle 114">
                  <a:extLst>
                    <a:ext uri="{FF2B5EF4-FFF2-40B4-BE49-F238E27FC236}">
                      <a16:creationId xmlns:a16="http://schemas.microsoft.com/office/drawing/2014/main" id="{92677AEB-78E1-5520-7D34-C7326D4D25CE}"/>
                    </a:ext>
                  </a:extLst>
                </p:cNvPr>
                <p:cNvSpPr/>
                <p:nvPr/>
              </p:nvSpPr>
              <p:spPr>
                <a:xfrm>
                  <a:off x="7932024" y="3036577"/>
                  <a:ext cx="394414" cy="563873"/>
                </a:xfrm>
                <a:prstGeom prst="rect">
                  <a:avLst/>
                </a:prstGeom>
                <a:solidFill>
                  <a:srgbClr val="FFFFFF"/>
                </a:solidFill>
                <a:ln w="12700" cap="flat" cmpd="sng" algn="ctr">
                  <a:noFill/>
                  <a:prstDash val="solid"/>
                  <a:miter lim="800000"/>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Meiryo UI"/>
                    <a:ea typeface="Meiryo UI"/>
                    <a:cs typeface="+mn-cs"/>
                  </a:endParaRPr>
                </a:p>
              </p:txBody>
            </p:sp>
            <p:sp>
              <p:nvSpPr>
                <p:cNvPr id="119" name="Rectangle 115">
                  <a:extLst>
                    <a:ext uri="{FF2B5EF4-FFF2-40B4-BE49-F238E27FC236}">
                      <a16:creationId xmlns:a16="http://schemas.microsoft.com/office/drawing/2014/main" id="{B50E6F07-B60E-9905-630C-A48F7997A0F2}"/>
                    </a:ext>
                  </a:extLst>
                </p:cNvPr>
                <p:cNvSpPr/>
                <p:nvPr/>
              </p:nvSpPr>
              <p:spPr>
                <a:xfrm>
                  <a:off x="6857703" y="3036579"/>
                  <a:ext cx="385878" cy="563872"/>
                </a:xfrm>
                <a:prstGeom prst="rect">
                  <a:avLst/>
                </a:prstGeom>
                <a:solidFill>
                  <a:srgbClr val="FFFFFF"/>
                </a:solidFill>
                <a:ln w="12700" cap="flat" cmpd="sng" algn="ctr">
                  <a:noFill/>
                  <a:prstDash val="solid"/>
                  <a:miter lim="800000"/>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Meiryo UI"/>
                    <a:ea typeface="Meiryo UI"/>
                    <a:cs typeface="+mn-cs"/>
                  </a:endParaRPr>
                </a:p>
              </p:txBody>
            </p:sp>
          </p:grpSp>
          <p:sp>
            <p:nvSpPr>
              <p:cNvPr id="115" name="Flowchart: Magnetic Disk 113">
                <a:extLst>
                  <a:ext uri="{FF2B5EF4-FFF2-40B4-BE49-F238E27FC236}">
                    <a16:creationId xmlns:a16="http://schemas.microsoft.com/office/drawing/2014/main" id="{DC3A35E3-8FF7-DD3E-5C80-74DE88B85F3E}"/>
                  </a:ext>
                </a:extLst>
              </p:cNvPr>
              <p:cNvSpPr/>
              <p:nvPr/>
            </p:nvSpPr>
            <p:spPr>
              <a:xfrm>
                <a:off x="7303831" y="2949224"/>
                <a:ext cx="666055" cy="792200"/>
              </a:xfrm>
              <a:prstGeom prst="flowChartMagneticDisk">
                <a:avLst/>
              </a:prstGeom>
              <a:noFill/>
              <a:ln w="28575" cap="flat" cmpd="sng" algn="ctr">
                <a:solidFill>
                  <a:srgbClr val="7198CE">
                    <a:lumMod val="50000"/>
                  </a:srgbClr>
                </a:solidFill>
                <a:prstDash val="solid"/>
                <a:miter lim="800000"/>
              </a:ln>
              <a:effectLst/>
            </p:spPr>
            <p:txBody>
              <a:bodyPr wrap="none"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Meiryo UI"/>
                  <a:ea typeface="Meiryo UI"/>
                  <a:cs typeface="+mn-cs"/>
                </a:endParaRPr>
              </a:p>
            </p:txBody>
          </p:sp>
        </p:grpSp>
        <p:pic>
          <p:nvPicPr>
            <p:cNvPr id="79" name="Graphic 82" descr="Bar graph with upward trend with solid fill">
              <a:extLst>
                <a:ext uri="{FF2B5EF4-FFF2-40B4-BE49-F238E27FC236}">
                  <a16:creationId xmlns:a16="http://schemas.microsoft.com/office/drawing/2014/main" id="{D85DD813-011F-09D3-4063-13DB1E6F39A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26980" y="3139712"/>
              <a:ext cx="514738" cy="514738"/>
            </a:xfrm>
            <a:prstGeom prst="rect">
              <a:avLst/>
            </a:prstGeom>
          </p:spPr>
        </p:pic>
        <p:pic>
          <p:nvPicPr>
            <p:cNvPr id="80" name="Graphic 83" descr="Normal Distribution with solid fill">
              <a:extLst>
                <a:ext uri="{FF2B5EF4-FFF2-40B4-BE49-F238E27FC236}">
                  <a16:creationId xmlns:a16="http://schemas.microsoft.com/office/drawing/2014/main" id="{0A4704FB-8B26-F926-4A42-D3FFF6F687C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994015" y="3139712"/>
              <a:ext cx="514738" cy="514738"/>
            </a:xfrm>
            <a:prstGeom prst="rect">
              <a:avLst/>
            </a:prstGeom>
          </p:spPr>
        </p:pic>
        <p:pic>
          <p:nvPicPr>
            <p:cNvPr id="81" name="Graphic 84" descr="Laptop with solid fill">
              <a:extLst>
                <a:ext uri="{FF2B5EF4-FFF2-40B4-BE49-F238E27FC236}">
                  <a16:creationId xmlns:a16="http://schemas.microsoft.com/office/drawing/2014/main" id="{F48769A8-AC94-037D-AE1E-67E29B5AEF6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243616" y="2682832"/>
              <a:ext cx="1561089" cy="1561089"/>
            </a:xfrm>
            <a:prstGeom prst="rect">
              <a:avLst/>
            </a:prstGeom>
          </p:spPr>
        </p:pic>
        <p:sp>
          <p:nvSpPr>
            <p:cNvPr id="82" name="TextBox 85">
              <a:extLst>
                <a:ext uri="{FF2B5EF4-FFF2-40B4-BE49-F238E27FC236}">
                  <a16:creationId xmlns:a16="http://schemas.microsoft.com/office/drawing/2014/main" id="{9A2CF59E-9899-D90F-A9C8-C017808FB421}"/>
                </a:ext>
              </a:extLst>
            </p:cNvPr>
            <p:cNvSpPr txBox="1"/>
            <p:nvPr/>
          </p:nvSpPr>
          <p:spPr>
            <a:xfrm>
              <a:off x="10646798" y="3895666"/>
              <a:ext cx="754726" cy="373177"/>
            </a:xfrm>
            <a:prstGeom prst="rect">
              <a:avLst/>
            </a:prstGeom>
          </p:spPr>
          <p:txBody>
            <a:bodyPr wrap="none" lIns="72000" tIns="72000" rIns="72000" bIns="72000" rtlCol="0" anchor="ctr" anchorCtr="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ja-JP" sz="800" b="0" i="0" u="none" strike="noStrike" kern="0" cap="none" spc="0" normalizeH="0" baseline="0" noProof="0" dirty="0">
                  <a:ln>
                    <a:noFill/>
                  </a:ln>
                  <a:solidFill>
                    <a:srgbClr val="000000"/>
                  </a:solidFill>
                  <a:effectLst/>
                  <a:uLnTx/>
                  <a:uFillTx/>
                  <a:latin typeface="Meiryo UI"/>
                  <a:ea typeface="Meiryo UI"/>
                  <a:cs typeface="+mn-cs"/>
                </a:rPr>
                <a:t>BI</a:t>
              </a:r>
              <a:r>
                <a:rPr kumimoji="0" lang="ja-JP" altLang="en-US" sz="800" b="0" i="0" u="none" strike="noStrike" kern="0" cap="none" spc="0" normalizeH="0" baseline="0" noProof="0" dirty="0">
                  <a:ln>
                    <a:noFill/>
                  </a:ln>
                  <a:solidFill>
                    <a:srgbClr val="000000"/>
                  </a:solidFill>
                  <a:effectLst/>
                  <a:uLnTx/>
                  <a:uFillTx/>
                  <a:latin typeface="Meiryo UI"/>
                  <a:ea typeface="Meiryo UI"/>
                  <a:cs typeface="+mn-cs"/>
                </a:rPr>
                <a:t>・ダッシュボード</a:t>
              </a:r>
              <a:endParaRPr kumimoji="0" lang="en-US" sz="800" b="0" i="0" u="none" strike="noStrike" kern="0" cap="none" spc="0" normalizeH="0" baseline="0" noProof="0" dirty="0">
                <a:ln>
                  <a:noFill/>
                </a:ln>
                <a:solidFill>
                  <a:srgbClr val="000000"/>
                </a:solidFill>
                <a:effectLst/>
                <a:uLnTx/>
                <a:uFillTx/>
                <a:latin typeface="Meiryo UI"/>
                <a:ea typeface="Meiryo UI"/>
                <a:cs typeface="+mn-cs"/>
              </a:endParaRPr>
            </a:p>
          </p:txBody>
        </p:sp>
        <p:sp>
          <p:nvSpPr>
            <p:cNvPr id="83" name="Flowchart: Predefined Process 86">
              <a:extLst>
                <a:ext uri="{FF2B5EF4-FFF2-40B4-BE49-F238E27FC236}">
                  <a16:creationId xmlns:a16="http://schemas.microsoft.com/office/drawing/2014/main" id="{1A90FD51-B155-7F45-954B-473BCB9AB0B4}"/>
                </a:ext>
              </a:extLst>
            </p:cNvPr>
            <p:cNvSpPr/>
            <p:nvPr/>
          </p:nvSpPr>
          <p:spPr>
            <a:xfrm>
              <a:off x="9401118" y="2245049"/>
              <a:ext cx="672795" cy="319324"/>
            </a:xfrm>
            <a:prstGeom prst="flowChartPredefinedProcess">
              <a:avLst/>
            </a:prstGeom>
            <a:solidFill>
              <a:srgbClr val="FFFFFF"/>
            </a:solidFill>
            <a:ln w="28575" cap="flat" cmpd="sng" algn="ctr">
              <a:solidFill>
                <a:srgbClr val="7198CE">
                  <a:lumMod val="50000"/>
                </a:srgbClr>
              </a:solidFill>
              <a:prstDash val="solid"/>
              <a:miter lim="800000"/>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ja-JP" altLang="en-US" sz="800" b="0" i="0" u="none" strike="noStrike" kern="0" cap="none" spc="0" normalizeH="0" baseline="0" noProof="0" dirty="0">
                  <a:ln>
                    <a:noFill/>
                  </a:ln>
                  <a:solidFill>
                    <a:srgbClr val="000000"/>
                  </a:solidFill>
                  <a:effectLst/>
                  <a:uLnTx/>
                  <a:uFillTx/>
                  <a:latin typeface="Meiryo UI"/>
                  <a:ea typeface="Meiryo UI"/>
                  <a:cs typeface="+mn-cs"/>
                </a:rPr>
                <a:t>ビュー</a:t>
              </a:r>
              <a:r>
                <a:rPr kumimoji="0" lang="en-US" altLang="ja-JP" sz="800" b="0" i="0" u="none" strike="noStrike" kern="0" cap="none" spc="0" normalizeH="0" baseline="0" noProof="0" dirty="0">
                  <a:ln>
                    <a:noFill/>
                  </a:ln>
                  <a:solidFill>
                    <a:srgbClr val="000000"/>
                  </a:solidFill>
                  <a:effectLst/>
                  <a:uLnTx/>
                  <a:uFillTx/>
                  <a:latin typeface="Meiryo UI"/>
                  <a:ea typeface="Meiryo UI"/>
                  <a:cs typeface="+mn-cs"/>
                </a:rPr>
                <a:t>A</a:t>
              </a:r>
              <a:endParaRPr kumimoji="0" lang="en-US" sz="800" b="0" i="0" u="none" strike="noStrike" kern="0" cap="none" spc="0" normalizeH="0" baseline="0" noProof="0" dirty="0">
                <a:ln>
                  <a:noFill/>
                </a:ln>
                <a:solidFill>
                  <a:srgbClr val="000000"/>
                </a:solidFill>
                <a:effectLst/>
                <a:uLnTx/>
                <a:uFillTx/>
                <a:latin typeface="Meiryo UI"/>
                <a:ea typeface="Meiryo UI"/>
                <a:cs typeface="+mn-cs"/>
              </a:endParaRPr>
            </a:p>
          </p:txBody>
        </p:sp>
        <p:sp>
          <p:nvSpPr>
            <p:cNvPr id="84" name="Flowchart: Predefined Process 87">
              <a:extLst>
                <a:ext uri="{FF2B5EF4-FFF2-40B4-BE49-F238E27FC236}">
                  <a16:creationId xmlns:a16="http://schemas.microsoft.com/office/drawing/2014/main" id="{FAD739FF-B8B2-D05A-5600-5E8EDFEF9111}"/>
                </a:ext>
              </a:extLst>
            </p:cNvPr>
            <p:cNvSpPr/>
            <p:nvPr/>
          </p:nvSpPr>
          <p:spPr>
            <a:xfrm>
              <a:off x="9401118" y="2773632"/>
              <a:ext cx="672795" cy="319324"/>
            </a:xfrm>
            <a:prstGeom prst="flowChartPredefinedProcess">
              <a:avLst/>
            </a:prstGeom>
            <a:solidFill>
              <a:srgbClr val="FFFFFF"/>
            </a:solidFill>
            <a:ln w="28575" cap="flat" cmpd="sng" algn="ctr">
              <a:solidFill>
                <a:srgbClr val="7198CE">
                  <a:lumMod val="50000"/>
                </a:srgbClr>
              </a:solidFill>
              <a:prstDash val="solid"/>
              <a:miter lim="800000"/>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ja-JP" altLang="en-US" sz="800" b="0" i="0" u="none" strike="noStrike" kern="0" cap="none" spc="0" normalizeH="0" baseline="0" noProof="0" dirty="0">
                  <a:ln>
                    <a:noFill/>
                  </a:ln>
                  <a:solidFill>
                    <a:srgbClr val="000000"/>
                  </a:solidFill>
                  <a:effectLst/>
                  <a:uLnTx/>
                  <a:uFillTx/>
                  <a:latin typeface="Meiryo UI"/>
                  <a:ea typeface="Meiryo UI"/>
                  <a:cs typeface="+mn-cs"/>
                </a:rPr>
                <a:t>ビュー</a:t>
              </a:r>
              <a:r>
                <a:rPr kumimoji="0" lang="en-US" altLang="ja-JP" sz="800" b="0" i="0" u="none" strike="noStrike" kern="0" cap="none" spc="0" normalizeH="0" baseline="0" noProof="0" dirty="0">
                  <a:ln>
                    <a:noFill/>
                  </a:ln>
                  <a:solidFill>
                    <a:srgbClr val="000000"/>
                  </a:solidFill>
                  <a:effectLst/>
                  <a:uLnTx/>
                  <a:uFillTx/>
                  <a:latin typeface="Meiryo UI"/>
                  <a:ea typeface="Meiryo UI"/>
                  <a:cs typeface="+mn-cs"/>
                </a:rPr>
                <a:t>B</a:t>
              </a:r>
              <a:endParaRPr kumimoji="0" lang="en-US" sz="800" b="0" i="0" u="none" strike="noStrike" kern="0" cap="none" spc="0" normalizeH="0" baseline="0" noProof="0" dirty="0">
                <a:ln>
                  <a:noFill/>
                </a:ln>
                <a:solidFill>
                  <a:srgbClr val="000000"/>
                </a:solidFill>
                <a:effectLst/>
                <a:uLnTx/>
                <a:uFillTx/>
                <a:latin typeface="Meiryo UI"/>
                <a:ea typeface="Meiryo UI"/>
                <a:cs typeface="+mn-cs"/>
              </a:endParaRPr>
            </a:p>
          </p:txBody>
        </p:sp>
        <p:sp>
          <p:nvSpPr>
            <p:cNvPr id="85" name="Flowchart: Predefined Process 88">
              <a:extLst>
                <a:ext uri="{FF2B5EF4-FFF2-40B4-BE49-F238E27FC236}">
                  <a16:creationId xmlns:a16="http://schemas.microsoft.com/office/drawing/2014/main" id="{DCBBDA08-C812-AE1D-83F1-A6B6A4CF979C}"/>
                </a:ext>
              </a:extLst>
            </p:cNvPr>
            <p:cNvSpPr/>
            <p:nvPr/>
          </p:nvSpPr>
          <p:spPr>
            <a:xfrm>
              <a:off x="9401118" y="3830798"/>
              <a:ext cx="672795" cy="319324"/>
            </a:xfrm>
            <a:prstGeom prst="flowChartPredefinedProcess">
              <a:avLst/>
            </a:prstGeom>
            <a:solidFill>
              <a:srgbClr val="FFFFFF"/>
            </a:solidFill>
            <a:ln w="28575" cap="flat" cmpd="sng" algn="ctr">
              <a:solidFill>
                <a:srgbClr val="7198CE">
                  <a:lumMod val="50000"/>
                </a:srgbClr>
              </a:solidFill>
              <a:prstDash val="solid"/>
              <a:miter lim="800000"/>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ja-JP" altLang="en-US" sz="800" b="0" i="0" u="none" strike="noStrike" kern="0" cap="none" spc="0" normalizeH="0" baseline="0" noProof="0" dirty="0">
                  <a:ln>
                    <a:noFill/>
                  </a:ln>
                  <a:solidFill>
                    <a:srgbClr val="000000"/>
                  </a:solidFill>
                  <a:effectLst/>
                  <a:uLnTx/>
                  <a:uFillTx/>
                  <a:latin typeface="Meiryo UI"/>
                  <a:ea typeface="Meiryo UI"/>
                  <a:cs typeface="+mn-cs"/>
                </a:rPr>
                <a:t>ビュー</a:t>
              </a:r>
              <a:r>
                <a:rPr kumimoji="0" lang="en-US" altLang="ja-JP" sz="800" b="0" i="0" u="none" strike="noStrike" kern="0" cap="none" spc="0" normalizeH="0" baseline="0" noProof="0" dirty="0">
                  <a:ln>
                    <a:noFill/>
                  </a:ln>
                  <a:solidFill>
                    <a:srgbClr val="000000"/>
                  </a:solidFill>
                  <a:effectLst/>
                  <a:uLnTx/>
                  <a:uFillTx/>
                  <a:latin typeface="Meiryo UI"/>
                  <a:ea typeface="Meiryo UI"/>
                  <a:cs typeface="+mn-cs"/>
                </a:rPr>
                <a:t>D</a:t>
              </a:r>
              <a:endParaRPr kumimoji="0" lang="en-US" sz="800" b="0" i="0" u="none" strike="noStrike" kern="0" cap="none" spc="0" normalizeH="0" baseline="0" noProof="0" dirty="0">
                <a:ln>
                  <a:noFill/>
                </a:ln>
                <a:solidFill>
                  <a:srgbClr val="000000"/>
                </a:solidFill>
                <a:effectLst/>
                <a:uLnTx/>
                <a:uFillTx/>
                <a:latin typeface="Meiryo UI"/>
                <a:ea typeface="Meiryo UI"/>
                <a:cs typeface="+mn-cs"/>
              </a:endParaRPr>
            </a:p>
          </p:txBody>
        </p:sp>
        <p:sp>
          <p:nvSpPr>
            <p:cNvPr id="86" name="Flowchart: Predefined Process 90">
              <a:extLst>
                <a:ext uri="{FF2B5EF4-FFF2-40B4-BE49-F238E27FC236}">
                  <a16:creationId xmlns:a16="http://schemas.microsoft.com/office/drawing/2014/main" id="{A87D6DC4-F030-4B32-153D-F7CD2432572E}"/>
                </a:ext>
              </a:extLst>
            </p:cNvPr>
            <p:cNvSpPr/>
            <p:nvPr/>
          </p:nvSpPr>
          <p:spPr>
            <a:xfrm>
              <a:off x="9401118" y="3302215"/>
              <a:ext cx="672795" cy="319324"/>
            </a:xfrm>
            <a:prstGeom prst="flowChartPredefinedProcess">
              <a:avLst/>
            </a:prstGeom>
            <a:solidFill>
              <a:srgbClr val="FFFFFF"/>
            </a:solidFill>
            <a:ln w="28575" cap="flat" cmpd="sng" algn="ctr">
              <a:solidFill>
                <a:srgbClr val="7198CE">
                  <a:lumMod val="50000"/>
                </a:srgbClr>
              </a:solidFill>
              <a:prstDash val="solid"/>
              <a:miter lim="800000"/>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ja-JP" altLang="en-US" sz="800" b="0" i="0" u="none" strike="noStrike" kern="0" cap="none" spc="0" normalizeH="0" baseline="0" noProof="0" dirty="0">
                  <a:ln>
                    <a:noFill/>
                  </a:ln>
                  <a:solidFill>
                    <a:srgbClr val="000000"/>
                  </a:solidFill>
                  <a:effectLst/>
                  <a:uLnTx/>
                  <a:uFillTx/>
                  <a:latin typeface="Meiryo UI"/>
                  <a:ea typeface="Meiryo UI"/>
                  <a:cs typeface="+mn-cs"/>
                </a:rPr>
                <a:t>ビュー</a:t>
              </a:r>
              <a:r>
                <a:rPr kumimoji="0" lang="en-US" altLang="ja-JP" sz="800" b="0" i="0" u="none" strike="noStrike" kern="0" cap="none" spc="0" normalizeH="0" baseline="0" noProof="0" dirty="0">
                  <a:ln>
                    <a:noFill/>
                  </a:ln>
                  <a:solidFill>
                    <a:srgbClr val="000000"/>
                  </a:solidFill>
                  <a:effectLst/>
                  <a:uLnTx/>
                  <a:uFillTx/>
                  <a:latin typeface="Meiryo UI"/>
                  <a:ea typeface="Meiryo UI"/>
                  <a:cs typeface="+mn-cs"/>
                </a:rPr>
                <a:t>C</a:t>
              </a:r>
              <a:endParaRPr kumimoji="0" lang="en-US" sz="800" b="0" i="0" u="none" strike="noStrike" kern="0" cap="none" spc="0" normalizeH="0" baseline="0" noProof="0" dirty="0">
                <a:ln>
                  <a:noFill/>
                </a:ln>
                <a:solidFill>
                  <a:srgbClr val="000000"/>
                </a:solidFill>
                <a:effectLst/>
                <a:uLnTx/>
                <a:uFillTx/>
                <a:latin typeface="Meiryo UI"/>
                <a:ea typeface="Meiryo UI"/>
                <a:cs typeface="+mn-cs"/>
              </a:endParaRPr>
            </a:p>
          </p:txBody>
        </p:sp>
        <p:sp>
          <p:nvSpPr>
            <p:cNvPr id="87" name="Flowchart: Predefined Process 91">
              <a:extLst>
                <a:ext uri="{FF2B5EF4-FFF2-40B4-BE49-F238E27FC236}">
                  <a16:creationId xmlns:a16="http://schemas.microsoft.com/office/drawing/2014/main" id="{20160FC8-FCF9-1E96-F131-A958448147B6}"/>
                </a:ext>
              </a:extLst>
            </p:cNvPr>
            <p:cNvSpPr/>
            <p:nvPr/>
          </p:nvSpPr>
          <p:spPr>
            <a:xfrm>
              <a:off x="9401118" y="4359382"/>
              <a:ext cx="672795" cy="319324"/>
            </a:xfrm>
            <a:prstGeom prst="flowChartPredefinedProcess">
              <a:avLst/>
            </a:prstGeom>
            <a:solidFill>
              <a:srgbClr val="FFFFFF"/>
            </a:solidFill>
            <a:ln w="28575" cap="flat" cmpd="sng" algn="ctr">
              <a:solidFill>
                <a:srgbClr val="7198CE">
                  <a:lumMod val="50000"/>
                </a:srgbClr>
              </a:solidFill>
              <a:prstDash val="solid"/>
              <a:miter lim="800000"/>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ja-JP" altLang="en-US" sz="800" b="0" i="0" u="none" strike="noStrike" kern="0" cap="none" spc="0" normalizeH="0" baseline="0" noProof="0" dirty="0">
                  <a:ln>
                    <a:noFill/>
                  </a:ln>
                  <a:solidFill>
                    <a:srgbClr val="000000"/>
                  </a:solidFill>
                  <a:effectLst/>
                  <a:uLnTx/>
                  <a:uFillTx/>
                  <a:latin typeface="Meiryo UI"/>
                  <a:ea typeface="Meiryo UI"/>
                  <a:cs typeface="+mn-cs"/>
                </a:rPr>
                <a:t>ビュー</a:t>
              </a:r>
              <a:r>
                <a:rPr kumimoji="0" lang="en-US" altLang="ja-JP" sz="800" b="0" i="0" u="none" strike="noStrike" kern="0" cap="none" spc="0" normalizeH="0" baseline="0" noProof="0" dirty="0">
                  <a:ln>
                    <a:noFill/>
                  </a:ln>
                  <a:solidFill>
                    <a:srgbClr val="000000"/>
                  </a:solidFill>
                  <a:effectLst/>
                  <a:uLnTx/>
                  <a:uFillTx/>
                  <a:latin typeface="Meiryo UI"/>
                  <a:ea typeface="Meiryo UI"/>
                  <a:cs typeface="+mn-cs"/>
                </a:rPr>
                <a:t>E</a:t>
              </a:r>
              <a:endParaRPr kumimoji="0" lang="en-US" sz="800" b="0" i="0" u="none" strike="noStrike" kern="0" cap="none" spc="0" normalizeH="0" baseline="0" noProof="0" dirty="0">
                <a:ln>
                  <a:noFill/>
                </a:ln>
                <a:solidFill>
                  <a:srgbClr val="000000"/>
                </a:solidFill>
                <a:effectLst/>
                <a:uLnTx/>
                <a:uFillTx/>
                <a:latin typeface="Meiryo UI"/>
                <a:ea typeface="Meiryo UI"/>
                <a:cs typeface="+mn-cs"/>
              </a:endParaRPr>
            </a:p>
          </p:txBody>
        </p:sp>
        <p:sp>
          <p:nvSpPr>
            <p:cNvPr id="88" name="Flowchart: Magnetic Disk 93">
              <a:extLst>
                <a:ext uri="{FF2B5EF4-FFF2-40B4-BE49-F238E27FC236}">
                  <a16:creationId xmlns:a16="http://schemas.microsoft.com/office/drawing/2014/main" id="{A5B35826-1C65-A9E5-5727-5656DF645122}"/>
                </a:ext>
              </a:extLst>
            </p:cNvPr>
            <p:cNvSpPr/>
            <p:nvPr/>
          </p:nvSpPr>
          <p:spPr>
            <a:xfrm>
              <a:off x="8352440" y="2429309"/>
              <a:ext cx="719832" cy="479388"/>
            </a:xfrm>
            <a:prstGeom prst="flowChartMagneticDisk">
              <a:avLst/>
            </a:prstGeom>
            <a:solidFill>
              <a:srgbClr val="FFFFFF"/>
            </a:solidFill>
            <a:ln w="28575" cap="flat" cmpd="sng" algn="ctr">
              <a:solidFill>
                <a:srgbClr val="7198CE">
                  <a:lumMod val="50000"/>
                </a:srgbClr>
              </a:solidFill>
              <a:prstDash val="solid"/>
              <a:miter lim="800000"/>
            </a:ln>
            <a:effectLst/>
          </p:spPr>
          <p:txBody>
            <a:bodyPr wrap="none"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ja-JP" altLang="en-US" sz="800" b="0" i="0" u="none" strike="noStrike" kern="0" cap="none" spc="0" normalizeH="0" baseline="0" noProof="0" dirty="0">
                  <a:ln>
                    <a:noFill/>
                  </a:ln>
                  <a:solidFill>
                    <a:srgbClr val="000000"/>
                  </a:solidFill>
                  <a:effectLst/>
                  <a:uLnTx/>
                  <a:uFillTx/>
                  <a:latin typeface="Meiryo UI"/>
                  <a:ea typeface="Meiryo UI"/>
                  <a:cs typeface="+mn-cs"/>
                </a:rPr>
                <a:t>データマート</a:t>
              </a:r>
              <a:r>
                <a:rPr kumimoji="0" lang="en-US" altLang="ja-JP" sz="800" b="0" i="0" u="none" strike="noStrike" kern="0" cap="none" spc="0" normalizeH="0" baseline="0" noProof="0" dirty="0">
                  <a:ln>
                    <a:noFill/>
                  </a:ln>
                  <a:solidFill>
                    <a:srgbClr val="000000"/>
                  </a:solidFill>
                  <a:effectLst/>
                  <a:uLnTx/>
                  <a:uFillTx/>
                  <a:latin typeface="Meiryo UI"/>
                  <a:ea typeface="Meiryo UI"/>
                  <a:cs typeface="+mn-cs"/>
                </a:rPr>
                <a:t>A</a:t>
              </a:r>
              <a:endParaRPr kumimoji="0" lang="en-US" sz="800" b="0" i="0" u="none" strike="noStrike" kern="0" cap="none" spc="0" normalizeH="0" baseline="0" noProof="0" dirty="0">
                <a:ln>
                  <a:noFill/>
                </a:ln>
                <a:solidFill>
                  <a:srgbClr val="000000"/>
                </a:solidFill>
                <a:effectLst/>
                <a:uLnTx/>
                <a:uFillTx/>
                <a:latin typeface="Meiryo UI"/>
                <a:ea typeface="Meiryo UI"/>
                <a:cs typeface="+mn-cs"/>
              </a:endParaRPr>
            </a:p>
          </p:txBody>
        </p:sp>
        <p:sp>
          <p:nvSpPr>
            <p:cNvPr id="89" name="Flowchart: Magnetic Disk 95">
              <a:extLst>
                <a:ext uri="{FF2B5EF4-FFF2-40B4-BE49-F238E27FC236}">
                  <a16:creationId xmlns:a16="http://schemas.microsoft.com/office/drawing/2014/main" id="{AC238EB5-0BB1-7678-119D-695A71178241}"/>
                </a:ext>
              </a:extLst>
            </p:cNvPr>
            <p:cNvSpPr/>
            <p:nvPr/>
          </p:nvSpPr>
          <p:spPr>
            <a:xfrm>
              <a:off x="8352440" y="4015059"/>
              <a:ext cx="719832" cy="479388"/>
            </a:xfrm>
            <a:prstGeom prst="flowChartMagneticDisk">
              <a:avLst/>
            </a:prstGeom>
            <a:solidFill>
              <a:srgbClr val="FFFFFF"/>
            </a:solidFill>
            <a:ln w="28575" cap="flat" cmpd="sng" algn="ctr">
              <a:solidFill>
                <a:srgbClr val="7198CE">
                  <a:lumMod val="50000"/>
                </a:srgbClr>
              </a:solidFill>
              <a:prstDash val="solid"/>
              <a:miter lim="800000"/>
            </a:ln>
            <a:effectLst/>
          </p:spPr>
          <p:txBody>
            <a:bodyPr wrap="none"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ja-JP" altLang="en-US" sz="800" b="0" i="0" u="none" strike="noStrike" kern="0" cap="none" spc="0" normalizeH="0" baseline="0" noProof="0" dirty="0">
                  <a:ln>
                    <a:noFill/>
                  </a:ln>
                  <a:solidFill>
                    <a:srgbClr val="000000"/>
                  </a:solidFill>
                  <a:effectLst/>
                  <a:uLnTx/>
                  <a:uFillTx/>
                  <a:latin typeface="Meiryo UI"/>
                  <a:ea typeface="Meiryo UI"/>
                  <a:cs typeface="+mn-cs"/>
                </a:rPr>
                <a:t>データマート</a:t>
              </a:r>
              <a:r>
                <a:rPr kumimoji="0" lang="en-US" altLang="ja-JP" sz="800" b="0" i="0" u="none" strike="noStrike" kern="0" cap="none" spc="0" normalizeH="0" baseline="0" noProof="0" dirty="0">
                  <a:ln>
                    <a:noFill/>
                  </a:ln>
                  <a:solidFill>
                    <a:srgbClr val="000000"/>
                  </a:solidFill>
                  <a:effectLst/>
                  <a:uLnTx/>
                  <a:uFillTx/>
                  <a:latin typeface="Meiryo UI"/>
                  <a:ea typeface="Meiryo UI"/>
                  <a:cs typeface="+mn-cs"/>
                </a:rPr>
                <a:t>C</a:t>
              </a:r>
              <a:endParaRPr kumimoji="0" lang="en-US" sz="800" b="0" i="0" u="none" strike="noStrike" kern="0" cap="none" spc="0" normalizeH="0" baseline="0" noProof="0" dirty="0">
                <a:ln>
                  <a:noFill/>
                </a:ln>
                <a:solidFill>
                  <a:srgbClr val="000000"/>
                </a:solidFill>
                <a:effectLst/>
                <a:uLnTx/>
                <a:uFillTx/>
                <a:latin typeface="Meiryo UI"/>
                <a:ea typeface="Meiryo UI"/>
                <a:cs typeface="+mn-cs"/>
              </a:endParaRPr>
            </a:p>
          </p:txBody>
        </p:sp>
        <p:sp>
          <p:nvSpPr>
            <p:cNvPr id="90" name="Flowchart: Magnetic Disk 94">
              <a:extLst>
                <a:ext uri="{FF2B5EF4-FFF2-40B4-BE49-F238E27FC236}">
                  <a16:creationId xmlns:a16="http://schemas.microsoft.com/office/drawing/2014/main" id="{8FC59041-B179-7287-EF5C-88144E3A15C7}"/>
                </a:ext>
              </a:extLst>
            </p:cNvPr>
            <p:cNvSpPr/>
            <p:nvPr/>
          </p:nvSpPr>
          <p:spPr>
            <a:xfrm>
              <a:off x="8352440" y="3222184"/>
              <a:ext cx="719832" cy="479388"/>
            </a:xfrm>
            <a:prstGeom prst="flowChartMagneticDisk">
              <a:avLst/>
            </a:prstGeom>
            <a:solidFill>
              <a:srgbClr val="FFFFFF"/>
            </a:solidFill>
            <a:ln w="28575" cap="flat" cmpd="sng" algn="ctr">
              <a:solidFill>
                <a:srgbClr val="7198CE">
                  <a:lumMod val="50000"/>
                </a:srgbClr>
              </a:solidFill>
              <a:prstDash val="solid"/>
              <a:miter lim="800000"/>
            </a:ln>
            <a:effectLst/>
          </p:spPr>
          <p:txBody>
            <a:bodyPr wrap="none"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ja-JP" altLang="en-US" sz="800" b="0" i="0" u="none" strike="noStrike" kern="0" cap="none" spc="0" normalizeH="0" baseline="0" noProof="0" dirty="0">
                  <a:ln>
                    <a:noFill/>
                  </a:ln>
                  <a:solidFill>
                    <a:srgbClr val="000000"/>
                  </a:solidFill>
                  <a:effectLst/>
                  <a:uLnTx/>
                  <a:uFillTx/>
                  <a:latin typeface="Meiryo UI"/>
                  <a:ea typeface="Meiryo UI"/>
                  <a:cs typeface="+mn-cs"/>
                </a:rPr>
                <a:t>データマート</a:t>
              </a:r>
              <a:r>
                <a:rPr kumimoji="0" lang="en-US" altLang="ja-JP" sz="800" b="0" i="0" u="none" strike="noStrike" kern="0" cap="none" spc="0" normalizeH="0" baseline="0" noProof="0" dirty="0">
                  <a:ln>
                    <a:noFill/>
                  </a:ln>
                  <a:solidFill>
                    <a:srgbClr val="000000"/>
                  </a:solidFill>
                  <a:effectLst/>
                  <a:uLnTx/>
                  <a:uFillTx/>
                  <a:latin typeface="Meiryo UI"/>
                  <a:ea typeface="Meiryo UI"/>
                  <a:cs typeface="+mn-cs"/>
                </a:rPr>
                <a:t>B</a:t>
              </a:r>
              <a:endParaRPr kumimoji="0" lang="en-US" sz="800" b="0" i="0" u="none" strike="noStrike" kern="0" cap="none" spc="0" normalizeH="0" baseline="0" noProof="0" dirty="0">
                <a:ln>
                  <a:noFill/>
                </a:ln>
                <a:solidFill>
                  <a:srgbClr val="000000"/>
                </a:solidFill>
                <a:effectLst/>
                <a:uLnTx/>
                <a:uFillTx/>
                <a:latin typeface="Meiryo UI"/>
                <a:ea typeface="Meiryo UI"/>
                <a:cs typeface="+mn-cs"/>
              </a:endParaRPr>
            </a:p>
          </p:txBody>
        </p:sp>
        <p:sp>
          <p:nvSpPr>
            <p:cNvPr id="91" name="TextBox 118">
              <a:extLst>
                <a:ext uri="{FF2B5EF4-FFF2-40B4-BE49-F238E27FC236}">
                  <a16:creationId xmlns:a16="http://schemas.microsoft.com/office/drawing/2014/main" id="{342D9926-BA62-C348-5FB8-F54C2323E54C}"/>
                </a:ext>
              </a:extLst>
            </p:cNvPr>
            <p:cNvSpPr txBox="1"/>
            <p:nvPr/>
          </p:nvSpPr>
          <p:spPr>
            <a:xfrm>
              <a:off x="7443259" y="3792074"/>
              <a:ext cx="549173" cy="373177"/>
            </a:xfrm>
            <a:prstGeom prst="rect">
              <a:avLst/>
            </a:prstGeom>
          </p:spPr>
          <p:txBody>
            <a:bodyPr wrap="none" lIns="72000" tIns="72000" rIns="72000" bIns="72000" rtlCol="0" anchor="ctr" anchorCtr="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ja-JP" altLang="en-US" sz="800" b="0" i="0" u="none" strike="noStrike" kern="0" cap="none" spc="0" normalizeH="0" baseline="0" noProof="0" dirty="0">
                  <a:ln>
                    <a:noFill/>
                  </a:ln>
                  <a:solidFill>
                    <a:srgbClr val="000000"/>
                  </a:solidFill>
                  <a:effectLst/>
                  <a:uLnTx/>
                  <a:uFillTx/>
                  <a:latin typeface="Meiryo UI"/>
                  <a:ea typeface="Meiryo UI"/>
                  <a:cs typeface="+mn-cs"/>
                </a:rPr>
                <a:t>データレイク</a:t>
              </a:r>
              <a:endParaRPr kumimoji="0" lang="en-US" sz="800" b="0" i="0" u="none" strike="noStrike" kern="0" cap="none" spc="0" normalizeH="0" baseline="0" noProof="0" dirty="0">
                <a:ln>
                  <a:noFill/>
                </a:ln>
                <a:solidFill>
                  <a:srgbClr val="000000"/>
                </a:solidFill>
                <a:effectLst/>
                <a:uLnTx/>
                <a:uFillTx/>
                <a:latin typeface="Meiryo UI"/>
                <a:ea typeface="Meiryo UI"/>
                <a:cs typeface="+mn-cs"/>
              </a:endParaRPr>
            </a:p>
          </p:txBody>
        </p:sp>
        <p:pic>
          <p:nvPicPr>
            <p:cNvPr id="92" name="Picture 4" descr="Excel, logo, logos icon - Free download on Iconfinder">
              <a:extLst>
                <a:ext uri="{FF2B5EF4-FFF2-40B4-BE49-F238E27FC236}">
                  <a16:creationId xmlns:a16="http://schemas.microsoft.com/office/drawing/2014/main" id="{548FEA04-7442-CF4C-8F3D-0A1FFDC8EE6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75311" y="2237745"/>
              <a:ext cx="457200" cy="457200"/>
            </a:xfrm>
            <a:prstGeom prst="rect">
              <a:avLst/>
            </a:prstGeom>
            <a:extLst>
              <a:ext uri="{909E8E84-426E-40DD-AFC4-6F175D3DCCD1}">
                <a14:hiddenFill xmlns:a14="http://schemas.microsoft.com/office/drawing/2010/main">
                  <a:solidFill>
                    <a:srgbClr val="FFFFFF"/>
                  </a:solidFill>
                </a14:hiddenFill>
              </a:ext>
            </a:extLst>
          </p:spPr>
        </p:pic>
        <p:pic>
          <p:nvPicPr>
            <p:cNvPr id="93" name="Picture 6" descr="Brand, brands, logo, logos, word icon - Free download">
              <a:extLst>
                <a:ext uri="{FF2B5EF4-FFF2-40B4-BE49-F238E27FC236}">
                  <a16:creationId xmlns:a16="http://schemas.microsoft.com/office/drawing/2014/main" id="{B6D2F268-1FB2-F06E-A96F-EB2DC0E7CBD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75311" y="2790394"/>
              <a:ext cx="457200" cy="457200"/>
            </a:xfrm>
            <a:prstGeom prst="rect">
              <a:avLst/>
            </a:prstGeom>
            <a:extLst>
              <a:ext uri="{909E8E84-426E-40DD-AFC4-6F175D3DCCD1}">
                <a14:hiddenFill xmlns:a14="http://schemas.microsoft.com/office/drawing/2010/main">
                  <a:solidFill>
                    <a:srgbClr val="FFFFFF"/>
                  </a:solidFill>
                </a14:hiddenFill>
              </a:ext>
            </a:extLst>
          </p:spPr>
        </p:pic>
        <p:pic>
          <p:nvPicPr>
            <p:cNvPr id="94" name="Picture 8" descr="Brand, brands, logo, logos, powerpoint icon - Free download">
              <a:extLst>
                <a:ext uri="{FF2B5EF4-FFF2-40B4-BE49-F238E27FC236}">
                  <a16:creationId xmlns:a16="http://schemas.microsoft.com/office/drawing/2014/main" id="{DCCE3EC7-66B0-C9B6-CFF1-45480C4B6CF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75311" y="3343043"/>
              <a:ext cx="457200" cy="457200"/>
            </a:xfrm>
            <a:prstGeom prst="rect">
              <a:avLst/>
            </a:prstGeom>
            <a:extLst>
              <a:ext uri="{909E8E84-426E-40DD-AFC4-6F175D3DCCD1}">
                <a14:hiddenFill xmlns:a14="http://schemas.microsoft.com/office/drawing/2010/main">
                  <a:solidFill>
                    <a:srgbClr val="FFFFFF"/>
                  </a:solidFill>
                </a14:hiddenFill>
              </a:ext>
            </a:extLst>
          </p:spPr>
        </p:pic>
        <p:pic>
          <p:nvPicPr>
            <p:cNvPr id="95" name="Graphic 122" descr="Web design with solid fill">
              <a:extLst>
                <a:ext uri="{FF2B5EF4-FFF2-40B4-BE49-F238E27FC236}">
                  <a16:creationId xmlns:a16="http://schemas.microsoft.com/office/drawing/2014/main" id="{939E1AED-CFB8-F09B-F5C5-B7BA45844ED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425938" y="3863554"/>
              <a:ext cx="555946" cy="555946"/>
            </a:xfrm>
            <a:prstGeom prst="rect">
              <a:avLst/>
            </a:prstGeom>
          </p:spPr>
        </p:pic>
        <p:sp>
          <p:nvSpPr>
            <p:cNvPr id="96" name="TextBox 123">
              <a:extLst>
                <a:ext uri="{FF2B5EF4-FFF2-40B4-BE49-F238E27FC236}">
                  <a16:creationId xmlns:a16="http://schemas.microsoft.com/office/drawing/2014/main" id="{C9283BA4-C9D9-C922-050A-C5447F8DDA72}"/>
                </a:ext>
              </a:extLst>
            </p:cNvPr>
            <p:cNvSpPr txBox="1"/>
            <p:nvPr/>
          </p:nvSpPr>
          <p:spPr>
            <a:xfrm>
              <a:off x="6423135" y="4261753"/>
              <a:ext cx="565209" cy="373177"/>
            </a:xfrm>
            <a:prstGeom prst="rect">
              <a:avLst/>
            </a:prstGeom>
          </p:spPr>
          <p:txBody>
            <a:bodyPr wrap="none" lIns="72000" tIns="72000" rIns="72000" bIns="72000" rtlCol="0" anchor="ctr" anchorCtr="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ja-JP" altLang="en-US" sz="800" b="0" i="0" u="none" strike="noStrike" kern="0" cap="none" spc="0" normalizeH="0" baseline="0" noProof="0" dirty="0">
                  <a:ln>
                    <a:noFill/>
                  </a:ln>
                  <a:solidFill>
                    <a:srgbClr val="000000"/>
                  </a:solidFill>
                  <a:effectLst/>
                  <a:uLnTx/>
                  <a:uFillTx/>
                  <a:latin typeface="Meiryo UI"/>
                  <a:ea typeface="Meiryo UI"/>
                  <a:cs typeface="+mn-cs"/>
                </a:rPr>
                <a:t>データソース</a:t>
              </a:r>
              <a:endParaRPr kumimoji="0" lang="en-US" sz="800" b="0" i="0" u="none" strike="noStrike" kern="0" cap="none" spc="0" normalizeH="0" baseline="0" noProof="0" dirty="0">
                <a:ln>
                  <a:noFill/>
                </a:ln>
                <a:solidFill>
                  <a:srgbClr val="000000"/>
                </a:solidFill>
                <a:effectLst/>
                <a:uLnTx/>
                <a:uFillTx/>
                <a:latin typeface="Meiryo UI"/>
                <a:ea typeface="Meiryo UI"/>
                <a:cs typeface="+mn-cs"/>
              </a:endParaRPr>
            </a:p>
          </p:txBody>
        </p:sp>
        <p:sp>
          <p:nvSpPr>
            <p:cNvPr id="97" name="Flowchart: Magnetic Disk 125">
              <a:extLst>
                <a:ext uri="{FF2B5EF4-FFF2-40B4-BE49-F238E27FC236}">
                  <a16:creationId xmlns:a16="http://schemas.microsoft.com/office/drawing/2014/main" id="{24BB72BC-2369-0254-2956-D7B9003D7944}"/>
                </a:ext>
              </a:extLst>
            </p:cNvPr>
            <p:cNvSpPr/>
            <p:nvPr/>
          </p:nvSpPr>
          <p:spPr>
            <a:xfrm>
              <a:off x="7383760" y="3085458"/>
              <a:ext cx="666055" cy="792200"/>
            </a:xfrm>
            <a:prstGeom prst="flowChartMagneticDisk">
              <a:avLst/>
            </a:prstGeom>
            <a:noFill/>
            <a:ln w="28575" cap="flat" cmpd="sng" algn="ctr">
              <a:solidFill>
                <a:srgbClr val="7198CE">
                  <a:lumMod val="50000"/>
                </a:srgbClr>
              </a:solidFill>
              <a:prstDash val="solid"/>
              <a:miter lim="800000"/>
            </a:ln>
            <a:effectLst/>
          </p:spPr>
          <p:txBody>
            <a:bodyPr wrap="none"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Meiryo UI"/>
                <a:ea typeface="Meiryo UI"/>
                <a:cs typeface="+mn-cs"/>
              </a:endParaRPr>
            </a:p>
          </p:txBody>
        </p:sp>
        <p:cxnSp>
          <p:nvCxnSpPr>
            <p:cNvPr id="98" name="Connector: Elbow 127">
              <a:extLst>
                <a:ext uri="{FF2B5EF4-FFF2-40B4-BE49-F238E27FC236}">
                  <a16:creationId xmlns:a16="http://schemas.microsoft.com/office/drawing/2014/main" id="{5F48BD88-9DD6-3D8E-C17D-A080F514171B}"/>
                </a:ext>
              </a:extLst>
            </p:cNvPr>
            <p:cNvCxnSpPr>
              <a:cxnSpLocks/>
              <a:stCxn id="95" idx="3"/>
              <a:endCxn id="116" idx="2"/>
            </p:cNvCxnSpPr>
            <p:nvPr/>
          </p:nvCxnSpPr>
          <p:spPr>
            <a:xfrm flipV="1">
              <a:off x="6981884" y="3480257"/>
              <a:ext cx="403819" cy="661270"/>
            </a:xfrm>
            <a:prstGeom prst="bentConnector3">
              <a:avLst>
                <a:gd name="adj1" fmla="val 44424"/>
              </a:avLst>
            </a:prstGeom>
            <a:noFill/>
            <a:ln w="6350" cap="flat" cmpd="sng" algn="ctr">
              <a:solidFill>
                <a:srgbClr val="000000"/>
              </a:solidFill>
              <a:prstDash val="solid"/>
              <a:miter lim="800000"/>
              <a:tailEnd type="triangle"/>
            </a:ln>
            <a:effectLst/>
          </p:spPr>
        </p:cxnSp>
        <p:cxnSp>
          <p:nvCxnSpPr>
            <p:cNvPr id="99" name="Connector: Elbow 129">
              <a:extLst>
                <a:ext uri="{FF2B5EF4-FFF2-40B4-BE49-F238E27FC236}">
                  <a16:creationId xmlns:a16="http://schemas.microsoft.com/office/drawing/2014/main" id="{1016EF27-1C3F-7176-DE92-055EC56AE8B7}"/>
                </a:ext>
              </a:extLst>
            </p:cNvPr>
            <p:cNvCxnSpPr>
              <a:stCxn id="94" idx="3"/>
              <a:endCxn id="97" idx="2"/>
            </p:cNvCxnSpPr>
            <p:nvPr/>
          </p:nvCxnSpPr>
          <p:spPr>
            <a:xfrm flipV="1">
              <a:off x="6932511" y="3481558"/>
              <a:ext cx="451249" cy="90085"/>
            </a:xfrm>
            <a:prstGeom prst="bentConnector3">
              <a:avLst/>
            </a:prstGeom>
            <a:noFill/>
            <a:ln w="6350" cap="flat" cmpd="sng" algn="ctr">
              <a:solidFill>
                <a:srgbClr val="000000"/>
              </a:solidFill>
              <a:prstDash val="solid"/>
              <a:miter lim="800000"/>
              <a:tailEnd type="triangle"/>
            </a:ln>
            <a:effectLst/>
          </p:spPr>
        </p:cxnSp>
        <p:cxnSp>
          <p:nvCxnSpPr>
            <p:cNvPr id="100" name="Connector: Elbow 131">
              <a:extLst>
                <a:ext uri="{FF2B5EF4-FFF2-40B4-BE49-F238E27FC236}">
                  <a16:creationId xmlns:a16="http://schemas.microsoft.com/office/drawing/2014/main" id="{0029A1B4-39F6-D13B-D68C-3D5E3B058DFA}"/>
                </a:ext>
              </a:extLst>
            </p:cNvPr>
            <p:cNvCxnSpPr>
              <a:stCxn id="93" idx="3"/>
              <a:endCxn id="97" idx="2"/>
            </p:cNvCxnSpPr>
            <p:nvPr/>
          </p:nvCxnSpPr>
          <p:spPr>
            <a:xfrm>
              <a:off x="6932511" y="3018994"/>
              <a:ext cx="451249" cy="462564"/>
            </a:xfrm>
            <a:prstGeom prst="bentConnector3">
              <a:avLst/>
            </a:prstGeom>
            <a:noFill/>
            <a:ln w="6350" cap="flat" cmpd="sng" algn="ctr">
              <a:solidFill>
                <a:srgbClr val="000000"/>
              </a:solidFill>
              <a:prstDash val="solid"/>
              <a:miter lim="800000"/>
              <a:tailEnd type="triangle"/>
            </a:ln>
            <a:effectLst/>
          </p:spPr>
        </p:cxnSp>
        <p:cxnSp>
          <p:nvCxnSpPr>
            <p:cNvPr id="101" name="Connector: Elbow 133">
              <a:extLst>
                <a:ext uri="{FF2B5EF4-FFF2-40B4-BE49-F238E27FC236}">
                  <a16:creationId xmlns:a16="http://schemas.microsoft.com/office/drawing/2014/main" id="{726DAB84-B002-2150-999A-08C1271D4433}"/>
                </a:ext>
              </a:extLst>
            </p:cNvPr>
            <p:cNvCxnSpPr>
              <a:stCxn id="92" idx="3"/>
              <a:endCxn id="116" idx="2"/>
            </p:cNvCxnSpPr>
            <p:nvPr/>
          </p:nvCxnSpPr>
          <p:spPr>
            <a:xfrm>
              <a:off x="6932511" y="2466345"/>
              <a:ext cx="453192" cy="1013912"/>
            </a:xfrm>
            <a:prstGeom prst="bentConnector3">
              <a:avLst/>
            </a:prstGeom>
            <a:noFill/>
            <a:ln w="6350" cap="flat" cmpd="sng" algn="ctr">
              <a:solidFill>
                <a:srgbClr val="000000"/>
              </a:solidFill>
              <a:prstDash val="solid"/>
              <a:miter lim="800000"/>
              <a:tailEnd type="triangle"/>
            </a:ln>
            <a:effectLst/>
          </p:spPr>
        </p:cxnSp>
        <p:cxnSp>
          <p:nvCxnSpPr>
            <p:cNvPr id="102" name="Connector: Elbow 137">
              <a:extLst>
                <a:ext uri="{FF2B5EF4-FFF2-40B4-BE49-F238E27FC236}">
                  <a16:creationId xmlns:a16="http://schemas.microsoft.com/office/drawing/2014/main" id="{7FBC3C3F-B3D5-F045-2FDC-F23997B1A443}"/>
                </a:ext>
              </a:extLst>
            </p:cNvPr>
            <p:cNvCxnSpPr>
              <a:cxnSpLocks/>
              <a:stCxn id="97" idx="4"/>
              <a:endCxn id="88" idx="2"/>
            </p:cNvCxnSpPr>
            <p:nvPr/>
          </p:nvCxnSpPr>
          <p:spPr>
            <a:xfrm flipV="1">
              <a:off x="8049815" y="2669003"/>
              <a:ext cx="302625" cy="812555"/>
            </a:xfrm>
            <a:prstGeom prst="bentConnector3">
              <a:avLst/>
            </a:prstGeom>
            <a:noFill/>
            <a:ln w="6350" cap="flat" cmpd="sng" algn="ctr">
              <a:solidFill>
                <a:srgbClr val="000000"/>
              </a:solidFill>
              <a:prstDash val="solid"/>
              <a:miter lim="800000"/>
              <a:tailEnd type="triangle"/>
            </a:ln>
            <a:effectLst/>
          </p:spPr>
        </p:cxnSp>
        <p:cxnSp>
          <p:nvCxnSpPr>
            <p:cNvPr id="103" name="Connector: Elbow 140">
              <a:extLst>
                <a:ext uri="{FF2B5EF4-FFF2-40B4-BE49-F238E27FC236}">
                  <a16:creationId xmlns:a16="http://schemas.microsoft.com/office/drawing/2014/main" id="{41685B82-DB87-AD16-0346-E4EE891CC9D2}"/>
                </a:ext>
              </a:extLst>
            </p:cNvPr>
            <p:cNvCxnSpPr>
              <a:cxnSpLocks/>
              <a:stCxn id="97" idx="4"/>
              <a:endCxn id="89" idx="2"/>
            </p:cNvCxnSpPr>
            <p:nvPr/>
          </p:nvCxnSpPr>
          <p:spPr>
            <a:xfrm>
              <a:off x="8049815" y="3481558"/>
              <a:ext cx="302625" cy="773195"/>
            </a:xfrm>
            <a:prstGeom prst="bentConnector3">
              <a:avLst>
                <a:gd name="adj1" fmla="val 50000"/>
              </a:avLst>
            </a:prstGeom>
            <a:noFill/>
            <a:ln w="6350" cap="flat" cmpd="sng" algn="ctr">
              <a:solidFill>
                <a:srgbClr val="000000"/>
              </a:solidFill>
              <a:prstDash val="solid"/>
              <a:miter lim="800000"/>
              <a:tailEnd type="triangle"/>
            </a:ln>
            <a:effectLst/>
          </p:spPr>
        </p:cxnSp>
        <p:cxnSp>
          <p:nvCxnSpPr>
            <p:cNvPr id="104" name="Connector: Elbow 147">
              <a:extLst>
                <a:ext uri="{FF2B5EF4-FFF2-40B4-BE49-F238E27FC236}">
                  <a16:creationId xmlns:a16="http://schemas.microsoft.com/office/drawing/2014/main" id="{271F06C9-80C9-88B8-42E7-0245851E44F8}"/>
                </a:ext>
              </a:extLst>
            </p:cNvPr>
            <p:cNvCxnSpPr>
              <a:cxnSpLocks/>
              <a:stCxn id="97" idx="4"/>
              <a:endCxn id="90" idx="2"/>
            </p:cNvCxnSpPr>
            <p:nvPr/>
          </p:nvCxnSpPr>
          <p:spPr>
            <a:xfrm flipV="1">
              <a:off x="8049815" y="3461878"/>
              <a:ext cx="302625" cy="19680"/>
            </a:xfrm>
            <a:prstGeom prst="bentConnector3">
              <a:avLst>
                <a:gd name="adj1" fmla="val 50000"/>
              </a:avLst>
            </a:prstGeom>
            <a:noFill/>
            <a:ln w="6350" cap="flat" cmpd="sng" algn="ctr">
              <a:solidFill>
                <a:srgbClr val="000000"/>
              </a:solidFill>
              <a:prstDash val="solid"/>
              <a:miter lim="800000"/>
              <a:tailEnd type="triangle"/>
            </a:ln>
            <a:effectLst/>
          </p:spPr>
        </p:cxnSp>
        <p:cxnSp>
          <p:nvCxnSpPr>
            <p:cNvPr id="105" name="Straight Arrow Connector 157">
              <a:extLst>
                <a:ext uri="{FF2B5EF4-FFF2-40B4-BE49-F238E27FC236}">
                  <a16:creationId xmlns:a16="http://schemas.microsoft.com/office/drawing/2014/main" id="{696E9FEF-2782-1F6E-E1A3-AE1F4992310E}"/>
                </a:ext>
              </a:extLst>
            </p:cNvPr>
            <p:cNvCxnSpPr>
              <a:stCxn id="88" idx="4"/>
              <a:endCxn id="83" idx="1"/>
            </p:cNvCxnSpPr>
            <p:nvPr/>
          </p:nvCxnSpPr>
          <p:spPr>
            <a:xfrm flipV="1">
              <a:off x="9072272" y="2404711"/>
              <a:ext cx="328846" cy="264292"/>
            </a:xfrm>
            <a:prstGeom prst="straightConnector1">
              <a:avLst/>
            </a:prstGeom>
            <a:noFill/>
            <a:ln w="6350" cap="flat" cmpd="sng" algn="ctr">
              <a:solidFill>
                <a:srgbClr val="000000"/>
              </a:solidFill>
              <a:prstDash val="solid"/>
              <a:miter lim="800000"/>
              <a:tailEnd type="triangle"/>
            </a:ln>
            <a:effectLst/>
          </p:spPr>
        </p:cxnSp>
        <p:cxnSp>
          <p:nvCxnSpPr>
            <p:cNvPr id="106" name="Straight Arrow Connector 158">
              <a:extLst>
                <a:ext uri="{FF2B5EF4-FFF2-40B4-BE49-F238E27FC236}">
                  <a16:creationId xmlns:a16="http://schemas.microsoft.com/office/drawing/2014/main" id="{1134B318-4EFD-5F1B-31A8-F72D06AA3BAB}"/>
                </a:ext>
              </a:extLst>
            </p:cNvPr>
            <p:cNvCxnSpPr>
              <a:cxnSpLocks/>
              <a:stCxn id="88" idx="4"/>
              <a:endCxn id="86" idx="1"/>
            </p:cNvCxnSpPr>
            <p:nvPr/>
          </p:nvCxnSpPr>
          <p:spPr>
            <a:xfrm>
              <a:off x="9072272" y="2669003"/>
              <a:ext cx="328846" cy="792874"/>
            </a:xfrm>
            <a:prstGeom prst="straightConnector1">
              <a:avLst/>
            </a:prstGeom>
            <a:noFill/>
            <a:ln w="6350" cap="flat" cmpd="sng" algn="ctr">
              <a:solidFill>
                <a:srgbClr val="000000"/>
              </a:solidFill>
              <a:prstDash val="solid"/>
              <a:miter lim="800000"/>
              <a:tailEnd type="triangle"/>
            </a:ln>
            <a:effectLst/>
          </p:spPr>
        </p:cxnSp>
        <p:cxnSp>
          <p:nvCxnSpPr>
            <p:cNvPr id="107" name="Straight Arrow Connector 162">
              <a:extLst>
                <a:ext uri="{FF2B5EF4-FFF2-40B4-BE49-F238E27FC236}">
                  <a16:creationId xmlns:a16="http://schemas.microsoft.com/office/drawing/2014/main" id="{60F74FF5-9457-3179-2267-D9DE15FDA3A0}"/>
                </a:ext>
              </a:extLst>
            </p:cNvPr>
            <p:cNvCxnSpPr>
              <a:cxnSpLocks/>
              <a:stCxn id="90" idx="4"/>
              <a:endCxn id="84" idx="1"/>
            </p:cNvCxnSpPr>
            <p:nvPr/>
          </p:nvCxnSpPr>
          <p:spPr>
            <a:xfrm flipV="1">
              <a:off x="9072272" y="2933294"/>
              <a:ext cx="328846" cy="528584"/>
            </a:xfrm>
            <a:prstGeom prst="straightConnector1">
              <a:avLst/>
            </a:prstGeom>
            <a:noFill/>
            <a:ln w="6350" cap="flat" cmpd="sng" algn="ctr">
              <a:solidFill>
                <a:srgbClr val="000000"/>
              </a:solidFill>
              <a:prstDash val="solid"/>
              <a:miter lim="800000"/>
              <a:tailEnd type="triangle"/>
            </a:ln>
            <a:effectLst/>
          </p:spPr>
        </p:cxnSp>
        <p:cxnSp>
          <p:nvCxnSpPr>
            <p:cNvPr id="108" name="Straight Arrow Connector 165">
              <a:extLst>
                <a:ext uri="{FF2B5EF4-FFF2-40B4-BE49-F238E27FC236}">
                  <a16:creationId xmlns:a16="http://schemas.microsoft.com/office/drawing/2014/main" id="{8079ED85-90E3-9979-618B-C346BCF63A40}"/>
                </a:ext>
              </a:extLst>
            </p:cNvPr>
            <p:cNvCxnSpPr>
              <a:cxnSpLocks/>
              <a:stCxn id="90" idx="4"/>
              <a:endCxn id="85" idx="1"/>
            </p:cNvCxnSpPr>
            <p:nvPr/>
          </p:nvCxnSpPr>
          <p:spPr>
            <a:xfrm>
              <a:off x="9072272" y="3461878"/>
              <a:ext cx="328846" cy="528582"/>
            </a:xfrm>
            <a:prstGeom prst="straightConnector1">
              <a:avLst/>
            </a:prstGeom>
            <a:noFill/>
            <a:ln w="6350" cap="flat" cmpd="sng" algn="ctr">
              <a:solidFill>
                <a:srgbClr val="000000"/>
              </a:solidFill>
              <a:prstDash val="solid"/>
              <a:miter lim="800000"/>
              <a:tailEnd type="triangle"/>
            </a:ln>
            <a:effectLst/>
          </p:spPr>
        </p:cxnSp>
        <p:cxnSp>
          <p:nvCxnSpPr>
            <p:cNvPr id="109" name="Straight Arrow Connector 168">
              <a:extLst>
                <a:ext uri="{FF2B5EF4-FFF2-40B4-BE49-F238E27FC236}">
                  <a16:creationId xmlns:a16="http://schemas.microsoft.com/office/drawing/2014/main" id="{50A4F0E3-4B62-8031-6FBC-B985F242C32F}"/>
                </a:ext>
              </a:extLst>
            </p:cNvPr>
            <p:cNvCxnSpPr>
              <a:cxnSpLocks/>
              <a:stCxn id="90" idx="4"/>
              <a:endCxn id="83" idx="1"/>
            </p:cNvCxnSpPr>
            <p:nvPr/>
          </p:nvCxnSpPr>
          <p:spPr>
            <a:xfrm flipV="1">
              <a:off x="9072272" y="2404711"/>
              <a:ext cx="328846" cy="1057167"/>
            </a:xfrm>
            <a:prstGeom prst="straightConnector1">
              <a:avLst/>
            </a:prstGeom>
            <a:noFill/>
            <a:ln w="6350" cap="flat" cmpd="sng" algn="ctr">
              <a:solidFill>
                <a:srgbClr val="000000"/>
              </a:solidFill>
              <a:prstDash val="solid"/>
              <a:miter lim="800000"/>
              <a:tailEnd type="triangle"/>
            </a:ln>
            <a:effectLst/>
          </p:spPr>
        </p:cxnSp>
        <p:cxnSp>
          <p:nvCxnSpPr>
            <p:cNvPr id="110" name="Straight Arrow Connector 171">
              <a:extLst>
                <a:ext uri="{FF2B5EF4-FFF2-40B4-BE49-F238E27FC236}">
                  <a16:creationId xmlns:a16="http://schemas.microsoft.com/office/drawing/2014/main" id="{6BCC10F7-968A-C7F0-047C-8F4756982AF0}"/>
                </a:ext>
              </a:extLst>
            </p:cNvPr>
            <p:cNvCxnSpPr>
              <a:cxnSpLocks/>
              <a:stCxn id="89" idx="4"/>
              <a:endCxn id="87" idx="1"/>
            </p:cNvCxnSpPr>
            <p:nvPr/>
          </p:nvCxnSpPr>
          <p:spPr>
            <a:xfrm>
              <a:off x="9072272" y="4254753"/>
              <a:ext cx="328846" cy="264291"/>
            </a:xfrm>
            <a:prstGeom prst="straightConnector1">
              <a:avLst/>
            </a:prstGeom>
            <a:noFill/>
            <a:ln w="6350" cap="flat" cmpd="sng" algn="ctr">
              <a:solidFill>
                <a:srgbClr val="000000"/>
              </a:solidFill>
              <a:prstDash val="solid"/>
              <a:miter lim="800000"/>
              <a:tailEnd type="triangle"/>
            </a:ln>
            <a:effectLst/>
          </p:spPr>
        </p:cxnSp>
        <p:cxnSp>
          <p:nvCxnSpPr>
            <p:cNvPr id="111" name="Straight Arrow Connector 174">
              <a:extLst>
                <a:ext uri="{FF2B5EF4-FFF2-40B4-BE49-F238E27FC236}">
                  <a16:creationId xmlns:a16="http://schemas.microsoft.com/office/drawing/2014/main" id="{45B87842-E3BD-AB62-7800-84C52189D70F}"/>
                </a:ext>
              </a:extLst>
            </p:cNvPr>
            <p:cNvCxnSpPr>
              <a:cxnSpLocks/>
              <a:stCxn id="89" idx="4"/>
              <a:endCxn id="85" idx="1"/>
            </p:cNvCxnSpPr>
            <p:nvPr/>
          </p:nvCxnSpPr>
          <p:spPr>
            <a:xfrm flipV="1">
              <a:off x="9072272" y="3990460"/>
              <a:ext cx="328846" cy="264293"/>
            </a:xfrm>
            <a:prstGeom prst="straightConnector1">
              <a:avLst/>
            </a:prstGeom>
            <a:noFill/>
            <a:ln w="6350" cap="flat" cmpd="sng" algn="ctr">
              <a:solidFill>
                <a:srgbClr val="000000"/>
              </a:solidFill>
              <a:prstDash val="solid"/>
              <a:miter lim="800000"/>
              <a:tailEnd type="triangle"/>
            </a:ln>
            <a:effectLst/>
          </p:spPr>
        </p:cxnSp>
        <p:cxnSp>
          <p:nvCxnSpPr>
            <p:cNvPr id="112" name="Straight Arrow Connector 177">
              <a:extLst>
                <a:ext uri="{FF2B5EF4-FFF2-40B4-BE49-F238E27FC236}">
                  <a16:creationId xmlns:a16="http://schemas.microsoft.com/office/drawing/2014/main" id="{4C6262CE-D0A9-3663-BD2D-B64694139543}"/>
                </a:ext>
              </a:extLst>
            </p:cNvPr>
            <p:cNvCxnSpPr>
              <a:cxnSpLocks/>
              <a:stCxn id="89" idx="4"/>
              <a:endCxn id="86" idx="1"/>
            </p:cNvCxnSpPr>
            <p:nvPr/>
          </p:nvCxnSpPr>
          <p:spPr>
            <a:xfrm flipV="1">
              <a:off x="9072272" y="3461877"/>
              <a:ext cx="328846" cy="792876"/>
            </a:xfrm>
            <a:prstGeom prst="straightConnector1">
              <a:avLst/>
            </a:prstGeom>
            <a:noFill/>
            <a:ln w="6350" cap="flat" cmpd="sng" algn="ctr">
              <a:solidFill>
                <a:srgbClr val="000000"/>
              </a:solidFill>
              <a:prstDash val="solid"/>
              <a:miter lim="800000"/>
              <a:tailEnd type="triangle"/>
            </a:ln>
            <a:effectLst/>
          </p:spPr>
        </p:cxnSp>
        <p:cxnSp>
          <p:nvCxnSpPr>
            <p:cNvPr id="113" name="Connector: Elbow 180">
              <a:extLst>
                <a:ext uri="{FF2B5EF4-FFF2-40B4-BE49-F238E27FC236}">
                  <a16:creationId xmlns:a16="http://schemas.microsoft.com/office/drawing/2014/main" id="{9B4AB889-1AE3-AB54-47B8-BEE965FAFECA}"/>
                </a:ext>
              </a:extLst>
            </p:cNvPr>
            <p:cNvCxnSpPr>
              <a:cxnSpLocks/>
              <a:stCxn id="83" idx="3"/>
              <a:endCxn id="79" idx="1"/>
            </p:cNvCxnSpPr>
            <p:nvPr/>
          </p:nvCxnSpPr>
          <p:spPr>
            <a:xfrm>
              <a:off x="10073913" y="2404711"/>
              <a:ext cx="453067" cy="992370"/>
            </a:xfrm>
            <a:prstGeom prst="bentConnector3">
              <a:avLst>
                <a:gd name="adj1" fmla="val 50000"/>
              </a:avLst>
            </a:prstGeom>
            <a:noFill/>
            <a:ln w="6350" cap="flat" cmpd="sng" algn="ctr">
              <a:solidFill>
                <a:srgbClr val="000000"/>
              </a:solidFill>
              <a:prstDash val="solid"/>
              <a:miter lim="800000"/>
              <a:tailEnd type="triangle"/>
            </a:ln>
            <a:effectLst/>
          </p:spPr>
        </p:cxnSp>
      </p:grpSp>
      <p:sp>
        <p:nvSpPr>
          <p:cNvPr id="120" name="正方形/長方形 95">
            <a:extLst>
              <a:ext uri="{FF2B5EF4-FFF2-40B4-BE49-F238E27FC236}">
                <a16:creationId xmlns:a16="http://schemas.microsoft.com/office/drawing/2014/main" id="{0443D23E-8A7E-C0A2-E994-2BA77771BE52}"/>
              </a:ext>
            </a:extLst>
          </p:cNvPr>
          <p:cNvSpPr/>
          <p:nvPr/>
        </p:nvSpPr>
        <p:spPr>
          <a:xfrm>
            <a:off x="684716" y="1742217"/>
            <a:ext cx="5198828" cy="24479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srgbClr val="FFFFFF"/>
                </a:solidFill>
                <a:effectLst/>
                <a:uLnTx/>
                <a:uFillTx/>
                <a:latin typeface="Arial"/>
                <a:ea typeface="Meiryo UI"/>
                <a:cs typeface="+mn-cs"/>
              </a:rPr>
              <a:t>初期</a:t>
            </a:r>
          </a:p>
        </p:txBody>
      </p:sp>
      <p:pic>
        <p:nvPicPr>
          <p:cNvPr id="121" name="Picture 4" descr="Excel, logo, logos icon - Free download on Iconfinder">
            <a:extLst>
              <a:ext uri="{FF2B5EF4-FFF2-40B4-BE49-F238E27FC236}">
                <a16:creationId xmlns:a16="http://schemas.microsoft.com/office/drawing/2014/main" id="{9062B08D-0C31-98B8-67E6-ED6326ADAE6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18148" y="2787115"/>
            <a:ext cx="449182" cy="293933"/>
          </a:xfrm>
          <a:prstGeom prst="rect">
            <a:avLst/>
          </a:prstGeom>
          <a:extLst>
            <a:ext uri="{909E8E84-426E-40DD-AFC4-6F175D3DCCD1}">
              <a14:hiddenFill xmlns:a14="http://schemas.microsoft.com/office/drawing/2010/main">
                <a:solidFill>
                  <a:srgbClr val="FFFFFF"/>
                </a:solidFill>
              </a14:hiddenFill>
            </a:ext>
          </a:extLst>
        </p:spPr>
      </p:pic>
      <p:sp>
        <p:nvSpPr>
          <p:cNvPr id="122" name="TextBox 123">
            <a:extLst>
              <a:ext uri="{FF2B5EF4-FFF2-40B4-BE49-F238E27FC236}">
                <a16:creationId xmlns:a16="http://schemas.microsoft.com/office/drawing/2014/main" id="{6E1566E6-43B0-3A07-9511-CA3293A996AB}"/>
              </a:ext>
            </a:extLst>
          </p:cNvPr>
          <p:cNvSpPr txBox="1"/>
          <p:nvPr/>
        </p:nvSpPr>
        <p:spPr>
          <a:xfrm>
            <a:off x="1491710" y="3088729"/>
            <a:ext cx="1235448" cy="268517"/>
          </a:xfrm>
          <a:prstGeom prst="rect">
            <a:avLst/>
          </a:prstGeom>
        </p:spPr>
        <p:txBody>
          <a:bodyPr wrap="none" lIns="72000" tIns="72000" rIns="72000" bIns="72000" rtlCol="0" anchor="ctr" anchorCtr="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ja-JP" altLang="en-US" sz="800" b="0" i="0" u="none" strike="noStrike" kern="0" cap="none" spc="0" normalizeH="0" baseline="0" noProof="0">
                <a:ln>
                  <a:noFill/>
                </a:ln>
                <a:solidFill>
                  <a:srgbClr val="000000"/>
                </a:solidFill>
                <a:effectLst/>
                <a:uLnTx/>
                <a:uFillTx/>
                <a:latin typeface="Meiryo UI"/>
                <a:ea typeface="Meiryo UI"/>
                <a:cs typeface="+mn-cs"/>
              </a:rPr>
              <a:t>手作業でデータ補正・追加</a:t>
            </a:r>
            <a:endParaRPr kumimoji="0" lang="en-US" sz="800" b="0" i="0" u="none" strike="noStrike" kern="0" cap="none" spc="0" normalizeH="0" baseline="0" noProof="0" dirty="0">
              <a:ln>
                <a:noFill/>
              </a:ln>
              <a:solidFill>
                <a:srgbClr val="000000"/>
              </a:solidFill>
              <a:effectLst/>
              <a:uLnTx/>
              <a:uFillTx/>
              <a:latin typeface="Meiryo UI"/>
              <a:ea typeface="Meiryo UI"/>
              <a:cs typeface="+mn-cs"/>
            </a:endParaRPr>
          </a:p>
        </p:txBody>
      </p:sp>
      <p:cxnSp>
        <p:nvCxnSpPr>
          <p:cNvPr id="127" name="Straight Arrow Connector 126">
            <a:extLst>
              <a:ext uri="{FF2B5EF4-FFF2-40B4-BE49-F238E27FC236}">
                <a16:creationId xmlns:a16="http://schemas.microsoft.com/office/drawing/2014/main" id="{BCC3BCFC-5FE1-AD15-3AA8-96C6E14AE922}"/>
              </a:ext>
            </a:extLst>
          </p:cNvPr>
          <p:cNvCxnSpPr>
            <a:cxnSpLocks/>
            <a:stCxn id="121" idx="3"/>
          </p:cNvCxnSpPr>
          <p:nvPr/>
        </p:nvCxnSpPr>
        <p:spPr>
          <a:xfrm>
            <a:off x="1967330" y="2934082"/>
            <a:ext cx="2576319"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5" name="ホームベース 22">
            <a:extLst>
              <a:ext uri="{FF2B5EF4-FFF2-40B4-BE49-F238E27FC236}">
                <a16:creationId xmlns:a16="http://schemas.microsoft.com/office/drawing/2014/main" id="{AFCF8BCE-B28A-53BF-0FF5-2EB988117556}"/>
              </a:ext>
            </a:extLst>
          </p:cNvPr>
          <p:cNvSpPr/>
          <p:nvPr/>
        </p:nvSpPr>
        <p:spPr>
          <a:xfrm>
            <a:off x="641093" y="3763648"/>
            <a:ext cx="5235926" cy="2294252"/>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初期段階ではデータが不足、またはデータ間の定義が定まっていないこともあり、</a:t>
            </a:r>
            <a:br>
              <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b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恣意的にデータを修正しながら</a:t>
            </a:r>
            <a:r>
              <a:rPr kumimoji="1" lang="ja-JP" altLang="en-US" sz="1200" b="1" i="0" u="none" strike="noStrike" kern="120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n-cs"/>
              </a:rPr>
              <a:t>必要なダッシュボードを作ることに専念</a:t>
            </a: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した。</a:t>
            </a:r>
            <a:endPar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一見、既存のワード・パワポの作業を</a:t>
            </a:r>
            <a:r>
              <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BI</a:t>
            </a: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ツールに置き換えただけに見えたが、実際にツールを使ってみることで</a:t>
            </a:r>
            <a:r>
              <a:rPr kumimoji="1" lang="ja-JP" altLang="en-US" sz="1200" b="1" i="0" u="none" strike="noStrike" kern="120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n-cs"/>
              </a:rPr>
              <a:t>計算ミスの防止やデータのまとめ方の平準化</a:t>
            </a: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等、業務の現場におけるメリットを実務者が体験できた。</a:t>
            </a:r>
            <a:endPar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また、いちいち会議の場を設定せずとも、</a:t>
            </a:r>
            <a:r>
              <a:rPr kumimoji="1" lang="ja-JP" altLang="en-US" sz="1200" b="1" i="0" u="none" strike="noStrike" kern="120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n-cs"/>
              </a:rPr>
              <a:t>これまでと同等の精度の情報</a:t>
            </a: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を、</a:t>
            </a:r>
            <a:r>
              <a:rPr kumimoji="1" lang="ja-JP" altLang="en-US" sz="1200" b="1" i="0" u="none" strike="noStrike" kern="120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n-cs"/>
              </a:rPr>
              <a:t>見たい</a:t>
            </a:r>
            <a:br>
              <a:rPr kumimoji="1" lang="en-US" altLang="ja-JP" sz="1200" b="1" i="0" u="none" strike="noStrike" kern="120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n-cs"/>
              </a:rPr>
            </a:br>
            <a:r>
              <a:rPr kumimoji="1" lang="ja-JP" altLang="en-US" sz="1200" b="1" i="0" u="none" strike="noStrike" kern="120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n-cs"/>
              </a:rPr>
              <a:t>とき見たい軸で見れる</a:t>
            </a: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ということで上層部からも評価された。</a:t>
            </a:r>
            <a:endPar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36" name="正方形/長方形 95">
            <a:extLst>
              <a:ext uri="{FF2B5EF4-FFF2-40B4-BE49-F238E27FC236}">
                <a16:creationId xmlns:a16="http://schemas.microsoft.com/office/drawing/2014/main" id="{99D633AB-56D9-7C4A-F0A2-A028F4031838}"/>
              </a:ext>
            </a:extLst>
          </p:cNvPr>
          <p:cNvSpPr/>
          <p:nvPr/>
        </p:nvSpPr>
        <p:spPr>
          <a:xfrm>
            <a:off x="6413167" y="1742217"/>
            <a:ext cx="5198828" cy="24479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srgbClr val="FFFFFF"/>
                </a:solidFill>
                <a:effectLst/>
                <a:uLnTx/>
                <a:uFillTx/>
                <a:latin typeface="Arial"/>
                <a:ea typeface="Meiryo UI"/>
                <a:cs typeface="+mn-cs"/>
              </a:rPr>
              <a:t>最終系</a:t>
            </a:r>
          </a:p>
        </p:txBody>
      </p:sp>
      <p:sp>
        <p:nvSpPr>
          <p:cNvPr id="137" name="ホームベース 22">
            <a:extLst>
              <a:ext uri="{FF2B5EF4-FFF2-40B4-BE49-F238E27FC236}">
                <a16:creationId xmlns:a16="http://schemas.microsoft.com/office/drawing/2014/main" id="{2239C646-288C-B5D8-8685-14088C55B9D0}"/>
              </a:ext>
            </a:extLst>
          </p:cNvPr>
          <p:cNvSpPr/>
          <p:nvPr/>
        </p:nvSpPr>
        <p:spPr>
          <a:xfrm>
            <a:off x="6394618" y="3763648"/>
            <a:ext cx="5235926" cy="2294252"/>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徐々にデータを</a:t>
            </a:r>
            <a:r>
              <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BI</a:t>
            </a: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ツールの型に合わせて正規化したことで、</a:t>
            </a:r>
            <a:r>
              <a:rPr kumimoji="1" lang="ja-JP" altLang="en-US" sz="1200" b="1" i="0" u="none" strike="noStrike" kern="120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n-cs"/>
              </a:rPr>
              <a:t>入力の自動化が進み手作業が徐々になくなっていった</a:t>
            </a: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a:t>
            </a:r>
            <a:r>
              <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1.5</a:t>
            </a: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年）</a:t>
            </a:r>
            <a:endPar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上層部からの</a:t>
            </a:r>
            <a:r>
              <a:rPr kumimoji="1" lang="ja-JP" altLang="en-US" sz="1200" b="1" i="0" u="none" strike="noStrike" kern="120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n-cs"/>
              </a:rPr>
              <a:t>適時的なフィードバックを受け、目標や</a:t>
            </a:r>
            <a:r>
              <a:rPr kumimoji="1" lang="en-US" altLang="ja-JP" sz="1200" b="1" i="0" u="none" strike="noStrike" kern="120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n-cs"/>
              </a:rPr>
              <a:t>KPI</a:t>
            </a:r>
            <a:r>
              <a:rPr kumimoji="1" lang="ja-JP" altLang="en-US" sz="1200" b="1" i="0" u="none" strike="noStrike" kern="120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n-cs"/>
              </a:rPr>
              <a:t>自体をこまめに修正</a:t>
            </a:r>
            <a:br>
              <a:rPr kumimoji="1" lang="en-US" altLang="ja-JP" sz="1200" b="1" i="0" u="none" strike="noStrike" kern="120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n-cs"/>
              </a:rPr>
            </a:b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できたことで、上下共に成果を実感できる</a:t>
            </a:r>
            <a:r>
              <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KPI</a:t>
            </a: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に仕上がっていった。（～</a:t>
            </a:r>
            <a:r>
              <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3</a:t>
            </a: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年）</a:t>
            </a:r>
            <a:endPar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上層部向けだけではなく、これまでやりたくても部署の壁やツールの不在等で実現</a:t>
            </a:r>
            <a:br>
              <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b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できなかった分析を徐々に</a:t>
            </a:r>
            <a:r>
              <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BI</a:t>
            </a: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ツールに取り込めるようになった。（～</a:t>
            </a:r>
            <a:r>
              <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5</a:t>
            </a: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年）</a:t>
            </a:r>
            <a:endPar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1825921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86E5B-A209-88E7-A10F-4ED31BBE891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374197-F696-48DE-8A33-09A02D650153}"/>
              </a:ext>
            </a:extLst>
          </p:cNvPr>
          <p:cNvSpPr>
            <a:spLocks noGrp="1"/>
          </p:cNvSpPr>
          <p:nvPr>
            <p:ph type="title"/>
          </p:nvPr>
        </p:nvSpPr>
        <p:spPr/>
        <p:txBody>
          <a:bodyPr/>
          <a:lstStyle/>
          <a:p>
            <a:r>
              <a:rPr lang="ja-JP" altLang="en-US" sz="1600" dirty="0">
                <a:solidFill>
                  <a:schemeClr val="accent2"/>
                </a:solidFill>
                <a:latin typeface="Meiryo UI" panose="020B0604030504040204" pitchFamily="50" charset="-128"/>
                <a:ea typeface="Meiryo UI" panose="020B0604030504040204" pitchFamily="50" charset="-128"/>
              </a:rPr>
              <a:t>事例①：自動車メーカー　</a:t>
            </a:r>
            <a:r>
              <a:rPr lang="en-US" altLang="ja-JP" sz="1600" dirty="0">
                <a:solidFill>
                  <a:schemeClr val="accent2"/>
                </a:solidFill>
                <a:latin typeface="Meiryo UI" panose="020B0604030504040204" pitchFamily="50" charset="-128"/>
                <a:ea typeface="Meiryo UI" panose="020B0604030504040204" pitchFamily="50" charset="-128"/>
              </a:rPr>
              <a:t>KPI</a:t>
            </a:r>
            <a:r>
              <a:rPr lang="ja-JP" altLang="en-US" sz="1600" dirty="0">
                <a:solidFill>
                  <a:schemeClr val="accent2"/>
                </a:solidFill>
                <a:latin typeface="Meiryo UI" panose="020B0604030504040204" pitchFamily="50" charset="-128"/>
                <a:ea typeface="Meiryo UI" panose="020B0604030504040204" pitchFamily="50" charset="-128"/>
              </a:rPr>
              <a:t>ダッシュボード化と事業適正化</a:t>
            </a:r>
            <a:br>
              <a:rPr lang="en-US" altLang="ja-JP" sz="3600" dirty="0">
                <a:solidFill>
                  <a:schemeClr val="accent2"/>
                </a:solidFill>
                <a:latin typeface="Meiryo UI" panose="020B0604030504040204" pitchFamily="50" charset="-128"/>
                <a:ea typeface="Meiryo UI" panose="020B0604030504040204" pitchFamily="50" charset="-128"/>
              </a:rPr>
            </a:br>
            <a:r>
              <a:rPr lang="ja-JP" altLang="en-US" sz="2400" dirty="0">
                <a:solidFill>
                  <a:schemeClr val="accent2"/>
                </a:solidFill>
                <a:latin typeface="Meiryo UI" panose="020B0604030504040204" pitchFamily="50" charset="-128"/>
                <a:ea typeface="Meiryo UI" panose="020B0604030504040204" pitchFamily="50" charset="-128"/>
              </a:rPr>
              <a:t>効果と示唆</a:t>
            </a:r>
          </a:p>
        </p:txBody>
      </p:sp>
      <p:sp>
        <p:nvSpPr>
          <p:cNvPr id="7" name="正方形/長方形 95">
            <a:extLst>
              <a:ext uri="{FF2B5EF4-FFF2-40B4-BE49-F238E27FC236}">
                <a16:creationId xmlns:a16="http://schemas.microsoft.com/office/drawing/2014/main" id="{D46D4BDE-4286-119E-5E70-135E6C4625DA}"/>
              </a:ext>
            </a:extLst>
          </p:cNvPr>
          <p:cNvSpPr/>
          <p:nvPr/>
        </p:nvSpPr>
        <p:spPr>
          <a:xfrm>
            <a:off x="371475" y="1052513"/>
            <a:ext cx="2386959" cy="374225"/>
          </a:xfrm>
          <a:prstGeom prst="rect">
            <a:avLst/>
          </a:prstGeom>
          <a:ln/>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srgbClr val="FFFFFF"/>
                </a:solidFill>
                <a:effectLst/>
                <a:uLnTx/>
                <a:uFillTx/>
                <a:latin typeface="Arial"/>
                <a:ea typeface="Meiryo UI"/>
                <a:cs typeface="+mn-cs"/>
              </a:rPr>
              <a:t>効果</a:t>
            </a:r>
          </a:p>
        </p:txBody>
      </p:sp>
      <p:sp>
        <p:nvSpPr>
          <p:cNvPr id="8" name="ホームベース 22">
            <a:extLst>
              <a:ext uri="{FF2B5EF4-FFF2-40B4-BE49-F238E27FC236}">
                <a16:creationId xmlns:a16="http://schemas.microsoft.com/office/drawing/2014/main" id="{7A149FE5-5EDD-B319-E833-93392D094908}"/>
              </a:ext>
            </a:extLst>
          </p:cNvPr>
          <p:cNvSpPr/>
          <p:nvPr/>
        </p:nvSpPr>
        <p:spPr>
          <a:xfrm>
            <a:off x="370799" y="1561338"/>
            <a:ext cx="11449725"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経営から見た事業の透過性が向上し、実務上の無駄な業務プロセスのスリム化を実現した。</a:t>
            </a:r>
            <a:endParaRPr kumimoji="1" lang="en-US" altLang="ja-JP" sz="14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9" name="ホームベース 22">
            <a:extLst>
              <a:ext uri="{FF2B5EF4-FFF2-40B4-BE49-F238E27FC236}">
                <a16:creationId xmlns:a16="http://schemas.microsoft.com/office/drawing/2014/main" id="{814638F6-82C9-C361-0348-6C601D767AE2}"/>
              </a:ext>
            </a:extLst>
          </p:cNvPr>
          <p:cNvSpPr/>
          <p:nvPr/>
        </p:nvSpPr>
        <p:spPr>
          <a:xfrm>
            <a:off x="370799" y="2070163"/>
            <a:ext cx="11449725"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それまで各部門の中に経験と勘として持っていた知見をシステム化することで、前後工程に対する理解度を習熟させると共に新しい切り口でのプロセスが生まれた。</a:t>
            </a:r>
            <a:endParaRPr kumimoji="1" lang="en-US" altLang="ja-JP" sz="14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0" name="ホームベース 22">
            <a:extLst>
              <a:ext uri="{FF2B5EF4-FFF2-40B4-BE49-F238E27FC236}">
                <a16:creationId xmlns:a16="http://schemas.microsoft.com/office/drawing/2014/main" id="{A6D79F02-4538-9EAE-7AFE-1EAF5998CBD9}"/>
              </a:ext>
            </a:extLst>
          </p:cNvPr>
          <p:cNvSpPr/>
          <p:nvPr/>
        </p:nvSpPr>
        <p:spPr>
          <a:xfrm>
            <a:off x="370799" y="2578988"/>
            <a:ext cx="11449725"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別途社内で管理していた販管費・間接費やプロジェクト収支管理のデータと組み合わせることで予算の適正化と組み換えを根拠を持って進められるようになった。</a:t>
            </a:r>
            <a:endParaRPr kumimoji="1" lang="en-US" altLang="ja-JP" sz="14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1" name="正方形/長方形 95">
            <a:extLst>
              <a:ext uri="{FF2B5EF4-FFF2-40B4-BE49-F238E27FC236}">
                <a16:creationId xmlns:a16="http://schemas.microsoft.com/office/drawing/2014/main" id="{D81836AE-B92F-A478-6AB6-E2C1F8F7033B}"/>
              </a:ext>
            </a:extLst>
          </p:cNvPr>
          <p:cNvSpPr/>
          <p:nvPr/>
        </p:nvSpPr>
        <p:spPr>
          <a:xfrm>
            <a:off x="371475" y="3333076"/>
            <a:ext cx="2386959" cy="374225"/>
          </a:xfrm>
          <a:prstGeom prst="rect">
            <a:avLst/>
          </a:prstGeom>
          <a:ln/>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srgbClr val="FFFFFF"/>
                </a:solidFill>
                <a:effectLst/>
                <a:uLnTx/>
                <a:uFillTx/>
                <a:latin typeface="Arial"/>
                <a:ea typeface="Meiryo UI"/>
                <a:cs typeface="+mn-cs"/>
              </a:rPr>
              <a:t>示唆</a:t>
            </a:r>
          </a:p>
        </p:txBody>
      </p:sp>
      <p:sp>
        <p:nvSpPr>
          <p:cNvPr id="12" name="ホームベース 22">
            <a:extLst>
              <a:ext uri="{FF2B5EF4-FFF2-40B4-BE49-F238E27FC236}">
                <a16:creationId xmlns:a16="http://schemas.microsoft.com/office/drawing/2014/main" id="{DFCF3DCC-E3A2-5AF9-B150-07511C7361F7}"/>
              </a:ext>
            </a:extLst>
          </p:cNvPr>
          <p:cNvSpPr/>
          <p:nvPr/>
        </p:nvSpPr>
        <p:spPr>
          <a:xfrm>
            <a:off x="370799" y="3841901"/>
            <a:ext cx="11449725"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課題と目的を明確に定義し、それに基づいたシステム化を現場と経営双方の観点で常に議論しながら進めることでより具体的かつ実現性のある施策が実施できる。</a:t>
            </a:r>
            <a:endParaRPr kumimoji="1" lang="en-US" altLang="ja-JP" sz="14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27" name="ホームベース 22">
            <a:extLst>
              <a:ext uri="{FF2B5EF4-FFF2-40B4-BE49-F238E27FC236}">
                <a16:creationId xmlns:a16="http://schemas.microsoft.com/office/drawing/2014/main" id="{EF384E72-EA09-C656-DEC6-CBB7CD24CD06}"/>
              </a:ext>
            </a:extLst>
          </p:cNvPr>
          <p:cNvSpPr/>
          <p:nvPr/>
        </p:nvSpPr>
        <p:spPr>
          <a:xfrm>
            <a:off x="370799" y="4350726"/>
            <a:ext cx="11449725"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個人の技量向上だけでなく、組織として個人の知見を蓄積し多工程・多技能化を進めることで人が入れ替わってもビジネスの継続性を保てられるようにする。</a:t>
            </a:r>
            <a:endParaRPr kumimoji="1" lang="en-US" altLang="ja-JP" sz="14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31" name="ホームベース 22">
            <a:extLst>
              <a:ext uri="{FF2B5EF4-FFF2-40B4-BE49-F238E27FC236}">
                <a16:creationId xmlns:a16="http://schemas.microsoft.com/office/drawing/2014/main" id="{FCC161B4-BC9C-2894-84C7-0E4807BCE1C5}"/>
              </a:ext>
            </a:extLst>
          </p:cNvPr>
          <p:cNvSpPr/>
          <p:nvPr/>
        </p:nvSpPr>
        <p:spPr>
          <a:xfrm>
            <a:off x="370799" y="4859551"/>
            <a:ext cx="11449725"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これまでやったことのないプロセスに携わる際に参考にできる情報・データ・仕組みを揃えておくことで、従業員個々人の意識改革を促す。</a:t>
            </a:r>
            <a:endParaRPr kumimoji="1" lang="en-US" altLang="ja-JP" sz="14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35" name="ホームベース 22">
            <a:extLst>
              <a:ext uri="{FF2B5EF4-FFF2-40B4-BE49-F238E27FC236}">
                <a16:creationId xmlns:a16="http://schemas.microsoft.com/office/drawing/2014/main" id="{3CB07568-6EFB-6A1E-193B-FD942837F588}"/>
              </a:ext>
            </a:extLst>
          </p:cNvPr>
          <p:cNvSpPr/>
          <p:nvPr/>
        </p:nvSpPr>
        <p:spPr>
          <a:xfrm>
            <a:off x="370799" y="5369138"/>
            <a:ext cx="11449725"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自部門の変革に対する熱意のある要員を中心に地に足の着いた改善案を作り出しつつ、経営層の革新的な改革案との折衷を図りながら検討を進める。</a:t>
            </a:r>
            <a:endParaRPr kumimoji="1" lang="en-US" altLang="ja-JP" sz="14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36" name="ホームベース 22">
            <a:extLst>
              <a:ext uri="{FF2B5EF4-FFF2-40B4-BE49-F238E27FC236}">
                <a16:creationId xmlns:a16="http://schemas.microsoft.com/office/drawing/2014/main" id="{BEA63A9B-8360-77E6-A673-24F64B27D320}"/>
              </a:ext>
            </a:extLst>
          </p:cNvPr>
          <p:cNvSpPr/>
          <p:nvPr/>
        </p:nvSpPr>
        <p:spPr>
          <a:xfrm>
            <a:off x="370799" y="5878725"/>
            <a:ext cx="11449725" cy="374225"/>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経営・現場・</a:t>
            </a:r>
            <a:r>
              <a:rPr kumimoji="1" lang="en-US" altLang="ja-JP" sz="14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IT</a:t>
            </a:r>
            <a:r>
              <a:rPr kumimoji="1" lang="ja-JP" altLang="en-US" sz="14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の</a:t>
            </a:r>
            <a:r>
              <a:rPr kumimoji="1" lang="en-US" altLang="ja-JP" sz="14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3</a:t>
            </a:r>
            <a:r>
              <a:rPr kumimoji="1" lang="ja-JP" altLang="en-US" sz="14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者が絶えずお互いの観点をぶつけ合いながら費用対効果の最大化を図る。</a:t>
            </a:r>
            <a:endParaRPr kumimoji="1" lang="en-US" altLang="ja-JP" sz="14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1862190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0B7206-7F1C-F6D5-C6A5-47F14B9008C5}"/>
              </a:ext>
            </a:extLst>
          </p:cNvPr>
          <p:cNvSpPr>
            <a:spLocks noGrp="1"/>
          </p:cNvSpPr>
          <p:nvPr>
            <p:ph type="title"/>
          </p:nvPr>
        </p:nvSpPr>
        <p:spPr/>
        <p:txBody>
          <a:bodyPr vert="horz" lIns="0" tIns="0" rIns="0" bIns="0" rtlCol="0" anchor="t" anchorCtr="0">
            <a:noAutofit/>
          </a:bodyPr>
          <a:lstStyle/>
          <a:p>
            <a:r>
              <a:rPr lang="ja-JP" altLang="en-US" sz="2400" dirty="0">
                <a:solidFill>
                  <a:schemeClr val="accent2"/>
                </a:solidFill>
                <a:latin typeface="Meiryo UI" panose="020B0604030504040204" pitchFamily="50" charset="-128"/>
                <a:ea typeface="Meiryo UI" panose="020B0604030504040204" pitchFamily="50" charset="-128"/>
              </a:rPr>
              <a:t>事例③：医療機器メーカー　試薬販売予測システム</a:t>
            </a:r>
          </a:p>
        </p:txBody>
      </p:sp>
      <p:sp>
        <p:nvSpPr>
          <p:cNvPr id="6" name="Flowchart: Document 2">
            <a:extLst>
              <a:ext uri="{FF2B5EF4-FFF2-40B4-BE49-F238E27FC236}">
                <a16:creationId xmlns:a16="http://schemas.microsoft.com/office/drawing/2014/main" id="{7942F7A3-552B-7D32-F4CA-DC7B3F5A1FA4}"/>
              </a:ext>
            </a:extLst>
          </p:cNvPr>
          <p:cNvSpPr/>
          <p:nvPr/>
        </p:nvSpPr>
        <p:spPr>
          <a:xfrm>
            <a:off x="321174" y="3043866"/>
            <a:ext cx="1799580" cy="758609"/>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Arial"/>
                <a:ea typeface="Meiryo UI"/>
                <a:cs typeface="+mn-cs"/>
              </a:rPr>
              <a:t>A</a:t>
            </a: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病院</a:t>
            </a:r>
            <a:endParaRPr kumimoji="1" lang="en-US" altLang="ja-JP" sz="1200" b="0" i="0" u="none" strike="noStrike" kern="1200" cap="none" spc="0" normalizeH="0" baseline="0" noProof="0" dirty="0">
              <a:ln>
                <a:noFill/>
              </a:ln>
              <a:solidFill>
                <a:srgbClr val="000000"/>
              </a:solidFill>
              <a:effectLst/>
              <a:uLnTx/>
              <a:uFillTx/>
              <a:latin typeface="Arial"/>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過去取引データ</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sp>
        <p:nvSpPr>
          <p:cNvPr id="7" name="Flowchart: Document 3">
            <a:extLst>
              <a:ext uri="{FF2B5EF4-FFF2-40B4-BE49-F238E27FC236}">
                <a16:creationId xmlns:a16="http://schemas.microsoft.com/office/drawing/2014/main" id="{0AABCC06-70E1-CC26-56E4-7BFFC3B30053}"/>
              </a:ext>
            </a:extLst>
          </p:cNvPr>
          <p:cNvSpPr/>
          <p:nvPr/>
        </p:nvSpPr>
        <p:spPr>
          <a:xfrm>
            <a:off x="331244" y="4767847"/>
            <a:ext cx="1799580" cy="756247"/>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Arial"/>
                <a:ea typeface="Meiryo UI"/>
                <a:cs typeface="+mn-cs"/>
              </a:rPr>
              <a:t>B</a:t>
            </a:r>
            <a:r>
              <a:rPr kumimoji="1" lang="ja-JP" altLang="en-US" sz="1200" b="0" i="0" u="none" strike="noStrike" kern="1200" cap="none" spc="0" normalizeH="0" baseline="0" noProof="0">
                <a:ln>
                  <a:noFill/>
                </a:ln>
                <a:solidFill>
                  <a:srgbClr val="000000"/>
                </a:solidFill>
                <a:effectLst/>
                <a:uLnTx/>
                <a:uFillTx/>
                <a:latin typeface="Arial"/>
                <a:ea typeface="Meiryo UI"/>
                <a:cs typeface="+mn-cs"/>
              </a:rPr>
              <a:t>病院</a:t>
            </a:r>
            <a:endParaRPr kumimoji="1" lang="en-US" altLang="ja-JP" sz="1200" b="0" i="0" u="none" strike="noStrike" kern="1200" cap="none" spc="0" normalizeH="0" baseline="0" noProof="0">
              <a:ln>
                <a:noFill/>
              </a:ln>
              <a:solidFill>
                <a:srgbClr val="000000"/>
              </a:solidFill>
              <a:effectLst/>
              <a:uLnTx/>
              <a:uFillTx/>
              <a:latin typeface="Arial"/>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過去取引データ</a:t>
            </a:r>
            <a:endParaRPr kumimoji="1" lang="en-US" sz="1200" b="0" i="0" u="none" strike="noStrike" kern="1200" cap="none" spc="0" normalizeH="0" baseline="0" noProof="0" err="1">
              <a:ln>
                <a:noFill/>
              </a:ln>
              <a:solidFill>
                <a:srgbClr val="000000"/>
              </a:solidFill>
              <a:effectLst/>
              <a:uLnTx/>
              <a:uFillTx/>
              <a:latin typeface="Arial"/>
              <a:ea typeface="Meiryo UI"/>
              <a:cs typeface="+mn-cs"/>
            </a:endParaRPr>
          </a:p>
        </p:txBody>
      </p:sp>
      <p:sp>
        <p:nvSpPr>
          <p:cNvPr id="9" name="Flowchart: Document 6">
            <a:extLst>
              <a:ext uri="{FF2B5EF4-FFF2-40B4-BE49-F238E27FC236}">
                <a16:creationId xmlns:a16="http://schemas.microsoft.com/office/drawing/2014/main" id="{8DD290A4-3F2F-29F8-8F00-25D01D70BB3C}"/>
              </a:ext>
            </a:extLst>
          </p:cNvPr>
          <p:cNvSpPr/>
          <p:nvPr/>
        </p:nvSpPr>
        <p:spPr>
          <a:xfrm>
            <a:off x="2480794" y="3043866"/>
            <a:ext cx="1224136" cy="408316"/>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試薬</a:t>
            </a:r>
            <a:r>
              <a:rPr kumimoji="1" lang="en-US" altLang="ja-JP" sz="1200" b="0" i="0" u="none" strike="noStrike" kern="1200" cap="none" spc="0" normalizeH="0" baseline="0" noProof="0" dirty="0">
                <a:ln>
                  <a:noFill/>
                </a:ln>
                <a:solidFill>
                  <a:srgbClr val="000000"/>
                </a:solidFill>
                <a:effectLst/>
                <a:uLnTx/>
                <a:uFillTx/>
                <a:latin typeface="Arial"/>
                <a:ea typeface="Meiryo UI"/>
                <a:cs typeface="+mn-cs"/>
              </a:rPr>
              <a:t>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販売データ</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sp>
        <p:nvSpPr>
          <p:cNvPr id="10" name="Flowchart: Document 7">
            <a:extLst>
              <a:ext uri="{FF2B5EF4-FFF2-40B4-BE49-F238E27FC236}">
                <a16:creationId xmlns:a16="http://schemas.microsoft.com/office/drawing/2014/main" id="{4A1F2E7C-7770-C120-1A8A-C27C64462131}"/>
              </a:ext>
            </a:extLst>
          </p:cNvPr>
          <p:cNvSpPr/>
          <p:nvPr/>
        </p:nvSpPr>
        <p:spPr>
          <a:xfrm>
            <a:off x="2480794" y="3394159"/>
            <a:ext cx="1224136" cy="408316"/>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試薬</a:t>
            </a:r>
            <a:r>
              <a:rPr kumimoji="1" lang="en-US" altLang="ja-JP" sz="1200" b="0" i="0" u="none" strike="noStrike" kern="1200" cap="none" spc="0" normalizeH="0" baseline="0" noProof="0">
                <a:ln>
                  <a:noFill/>
                </a:ln>
                <a:solidFill>
                  <a:srgbClr val="000000"/>
                </a:solidFill>
                <a:effectLst/>
                <a:uLnTx/>
                <a:uFillTx/>
                <a:latin typeface="Arial"/>
                <a:ea typeface="Meiryo UI"/>
                <a:cs typeface="+mn-cs"/>
              </a:rPr>
              <a:t>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販売データ</a:t>
            </a:r>
            <a:endParaRPr kumimoji="1" lang="en-US" sz="1200" b="0" i="0" u="none" strike="noStrike" kern="1200" cap="none" spc="0" normalizeH="0" baseline="0" noProof="0" err="1">
              <a:ln>
                <a:noFill/>
              </a:ln>
              <a:solidFill>
                <a:srgbClr val="000000"/>
              </a:solidFill>
              <a:effectLst/>
              <a:uLnTx/>
              <a:uFillTx/>
              <a:latin typeface="Arial"/>
              <a:ea typeface="Meiryo UI"/>
              <a:cs typeface="+mn-cs"/>
            </a:endParaRPr>
          </a:p>
        </p:txBody>
      </p:sp>
      <p:sp>
        <p:nvSpPr>
          <p:cNvPr id="11" name="TextBox 8">
            <a:extLst>
              <a:ext uri="{FF2B5EF4-FFF2-40B4-BE49-F238E27FC236}">
                <a16:creationId xmlns:a16="http://schemas.microsoft.com/office/drawing/2014/main" id="{46AC6E9A-25DF-ADB6-6030-4446E4BAFDF5}"/>
              </a:ext>
            </a:extLst>
          </p:cNvPr>
          <p:cNvSpPr txBox="1"/>
          <p:nvPr/>
        </p:nvSpPr>
        <p:spPr>
          <a:xfrm>
            <a:off x="2635662" y="3778554"/>
            <a:ext cx="914400" cy="515535"/>
          </a:xfrm>
          <a:prstGeom prst="rect">
            <a:avLst/>
          </a:prstGeom>
        </p:spPr>
        <p:txBody>
          <a:bodyPr vert="eaVert" wrap="none" lIns="0" rIns="0" rtlCol="0" anchor="ctr">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Meiryo UI"/>
                <a:ea typeface="Meiryo UI"/>
                <a:cs typeface="+mn-cs"/>
              </a:rPr>
              <a:t>・・・</a:t>
            </a:r>
            <a:endParaRPr kumimoji="1" lang="en-US" sz="1200" b="0" i="0" u="none" strike="noStrike" kern="1200" cap="none" spc="0" normalizeH="0" baseline="0" noProof="0">
              <a:ln>
                <a:noFill/>
              </a:ln>
              <a:solidFill>
                <a:srgbClr val="000000"/>
              </a:solidFill>
              <a:effectLst/>
              <a:uLnTx/>
              <a:uFillTx/>
              <a:latin typeface="Meiryo UI"/>
              <a:ea typeface="Meiryo UI"/>
              <a:cs typeface="+mn-cs"/>
            </a:endParaRPr>
          </a:p>
        </p:txBody>
      </p:sp>
      <p:sp>
        <p:nvSpPr>
          <p:cNvPr id="12" name="Flowchart: Document 9">
            <a:extLst>
              <a:ext uri="{FF2B5EF4-FFF2-40B4-BE49-F238E27FC236}">
                <a16:creationId xmlns:a16="http://schemas.microsoft.com/office/drawing/2014/main" id="{FD8C8FF6-648C-4E2B-1ABE-386F7E4C4D63}"/>
              </a:ext>
            </a:extLst>
          </p:cNvPr>
          <p:cNvSpPr/>
          <p:nvPr/>
        </p:nvSpPr>
        <p:spPr>
          <a:xfrm>
            <a:off x="2480794" y="4767847"/>
            <a:ext cx="1224136" cy="408316"/>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試薬</a:t>
            </a:r>
            <a:r>
              <a:rPr kumimoji="1" lang="en-US" altLang="ja-JP" sz="1200" b="0" i="0" u="none" strike="noStrike" kern="1200" cap="none" spc="0" normalizeH="0" baseline="0" noProof="0">
                <a:ln>
                  <a:noFill/>
                </a:ln>
                <a:solidFill>
                  <a:srgbClr val="000000"/>
                </a:solidFill>
                <a:effectLst/>
                <a:uLnTx/>
                <a:uFillTx/>
                <a:latin typeface="Arial"/>
                <a:ea typeface="Meiryo UI"/>
                <a:cs typeface="+mn-cs"/>
              </a:rPr>
              <a:t>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販売データ</a:t>
            </a:r>
            <a:endParaRPr kumimoji="1" lang="en-US" sz="1200" b="0" i="0" u="none" strike="noStrike" kern="1200" cap="none" spc="0" normalizeH="0" baseline="0" noProof="0" err="1">
              <a:ln>
                <a:noFill/>
              </a:ln>
              <a:solidFill>
                <a:srgbClr val="000000"/>
              </a:solidFill>
              <a:effectLst/>
              <a:uLnTx/>
              <a:uFillTx/>
              <a:latin typeface="Arial"/>
              <a:ea typeface="Meiryo UI"/>
              <a:cs typeface="+mn-cs"/>
            </a:endParaRPr>
          </a:p>
        </p:txBody>
      </p:sp>
      <p:sp>
        <p:nvSpPr>
          <p:cNvPr id="13" name="Flowchart: Document 10">
            <a:extLst>
              <a:ext uri="{FF2B5EF4-FFF2-40B4-BE49-F238E27FC236}">
                <a16:creationId xmlns:a16="http://schemas.microsoft.com/office/drawing/2014/main" id="{84B907B6-DF55-C0BC-02FD-B11374482F5D}"/>
              </a:ext>
            </a:extLst>
          </p:cNvPr>
          <p:cNvSpPr/>
          <p:nvPr/>
        </p:nvSpPr>
        <p:spPr>
          <a:xfrm>
            <a:off x="2480794" y="5115778"/>
            <a:ext cx="1224136" cy="408316"/>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試薬</a:t>
            </a:r>
            <a:r>
              <a:rPr kumimoji="1" lang="en-US" altLang="ja-JP" sz="1200" b="0" i="0" u="none" strike="noStrike" kern="1200" cap="none" spc="0" normalizeH="0" baseline="0" noProof="0">
                <a:ln>
                  <a:noFill/>
                </a:ln>
                <a:solidFill>
                  <a:srgbClr val="000000"/>
                </a:solidFill>
                <a:effectLst/>
                <a:uLnTx/>
                <a:uFillTx/>
                <a:latin typeface="Arial"/>
                <a:ea typeface="Meiryo UI"/>
                <a:cs typeface="+mn-cs"/>
              </a:rPr>
              <a:t>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販売データ</a:t>
            </a:r>
            <a:endParaRPr kumimoji="1" lang="en-US" sz="1200" b="0" i="0" u="none" strike="noStrike" kern="1200" cap="none" spc="0" normalizeH="0" baseline="0" noProof="0" err="1">
              <a:ln>
                <a:noFill/>
              </a:ln>
              <a:solidFill>
                <a:srgbClr val="000000"/>
              </a:solidFill>
              <a:effectLst/>
              <a:uLnTx/>
              <a:uFillTx/>
              <a:latin typeface="Arial"/>
              <a:ea typeface="Meiryo UI"/>
              <a:cs typeface="+mn-cs"/>
            </a:endParaRPr>
          </a:p>
        </p:txBody>
      </p:sp>
      <p:sp>
        <p:nvSpPr>
          <p:cNvPr id="14" name="TextBox 11">
            <a:extLst>
              <a:ext uri="{FF2B5EF4-FFF2-40B4-BE49-F238E27FC236}">
                <a16:creationId xmlns:a16="http://schemas.microsoft.com/office/drawing/2014/main" id="{618D9D40-63CD-889F-2C30-B48FBBF4CA42}"/>
              </a:ext>
            </a:extLst>
          </p:cNvPr>
          <p:cNvSpPr txBox="1"/>
          <p:nvPr/>
        </p:nvSpPr>
        <p:spPr>
          <a:xfrm>
            <a:off x="2635662" y="5500173"/>
            <a:ext cx="914400" cy="515535"/>
          </a:xfrm>
          <a:prstGeom prst="rect">
            <a:avLst/>
          </a:prstGeom>
        </p:spPr>
        <p:txBody>
          <a:bodyPr vert="eaVert" wrap="none" lIns="0" rIns="0" rtlCol="0" anchor="ctr">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Meiryo UI"/>
                <a:ea typeface="Meiryo UI"/>
                <a:cs typeface="+mn-cs"/>
              </a:rPr>
              <a:t>・・・</a:t>
            </a:r>
            <a:endParaRPr kumimoji="1" lang="en-US" sz="1200" b="0" i="0" u="none" strike="noStrike" kern="1200" cap="none" spc="0" normalizeH="0" baseline="0" noProof="0">
              <a:ln>
                <a:noFill/>
              </a:ln>
              <a:solidFill>
                <a:srgbClr val="000000"/>
              </a:solidFill>
              <a:effectLst/>
              <a:uLnTx/>
              <a:uFillTx/>
              <a:latin typeface="Meiryo UI"/>
              <a:ea typeface="Meiryo UI"/>
              <a:cs typeface="+mn-cs"/>
            </a:endParaRPr>
          </a:p>
        </p:txBody>
      </p:sp>
      <p:sp>
        <p:nvSpPr>
          <p:cNvPr id="15" name="Flowchart: Magnetic Disk 12">
            <a:extLst>
              <a:ext uri="{FF2B5EF4-FFF2-40B4-BE49-F238E27FC236}">
                <a16:creationId xmlns:a16="http://schemas.microsoft.com/office/drawing/2014/main" id="{6BA8EA45-18AF-F2EF-DA44-22B05E0ADD7A}"/>
              </a:ext>
            </a:extLst>
          </p:cNvPr>
          <p:cNvSpPr/>
          <p:nvPr/>
        </p:nvSpPr>
        <p:spPr>
          <a:xfrm>
            <a:off x="4965070" y="3044942"/>
            <a:ext cx="1224136" cy="528773"/>
          </a:xfrm>
          <a:prstGeom prst="flowChartMagneticDisk">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統合</a:t>
            </a:r>
            <a:r>
              <a:rPr kumimoji="1" lang="en-US" altLang="ja-JP" sz="1200" b="0" i="0" u="none" strike="noStrike" kern="1200" cap="none" spc="0" normalizeH="0" baseline="0" noProof="0">
                <a:ln>
                  <a:noFill/>
                </a:ln>
                <a:solidFill>
                  <a:srgbClr val="000000"/>
                </a:solidFill>
                <a:effectLst/>
                <a:uLnTx/>
                <a:uFillTx/>
                <a:latin typeface="Arial"/>
                <a:ea typeface="Meiryo UI"/>
                <a:cs typeface="+mn-cs"/>
              </a:rPr>
              <a:t>DB</a:t>
            </a:r>
            <a:endParaRPr kumimoji="1" lang="en-US" sz="1200" b="0" i="0" u="none" strike="noStrike" kern="1200" cap="none" spc="0" normalizeH="0" baseline="0" noProof="0">
              <a:ln>
                <a:noFill/>
              </a:ln>
              <a:solidFill>
                <a:srgbClr val="000000"/>
              </a:solidFill>
              <a:effectLst/>
              <a:uLnTx/>
              <a:uFillTx/>
              <a:latin typeface="Arial"/>
              <a:ea typeface="Meiryo UI"/>
              <a:cs typeface="+mn-cs"/>
            </a:endParaRPr>
          </a:p>
        </p:txBody>
      </p:sp>
      <p:cxnSp>
        <p:nvCxnSpPr>
          <p:cNvPr id="16" name="Connector: Elbow 14">
            <a:extLst>
              <a:ext uri="{FF2B5EF4-FFF2-40B4-BE49-F238E27FC236}">
                <a16:creationId xmlns:a16="http://schemas.microsoft.com/office/drawing/2014/main" id="{DD34D93A-B4CF-B845-F9B2-E7C8DF1DFCC2}"/>
              </a:ext>
            </a:extLst>
          </p:cNvPr>
          <p:cNvCxnSpPr>
            <a:cxnSpLocks/>
            <a:stCxn id="9" idx="3"/>
            <a:endCxn id="15" idx="2"/>
          </p:cNvCxnSpPr>
          <p:nvPr/>
        </p:nvCxnSpPr>
        <p:spPr>
          <a:xfrm>
            <a:off x="3704930" y="3248024"/>
            <a:ext cx="1260140" cy="61305"/>
          </a:xfrm>
          <a:prstGeom prst="bentConnector3">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Connector: Elbow 16">
            <a:extLst>
              <a:ext uri="{FF2B5EF4-FFF2-40B4-BE49-F238E27FC236}">
                <a16:creationId xmlns:a16="http://schemas.microsoft.com/office/drawing/2014/main" id="{45DD1CDD-4188-4F2A-3339-43CEDA378005}"/>
              </a:ext>
            </a:extLst>
          </p:cNvPr>
          <p:cNvCxnSpPr>
            <a:cxnSpLocks/>
            <a:stCxn id="10" idx="3"/>
            <a:endCxn id="15" idx="2"/>
          </p:cNvCxnSpPr>
          <p:nvPr/>
        </p:nvCxnSpPr>
        <p:spPr>
          <a:xfrm flipV="1">
            <a:off x="3704930" y="3309329"/>
            <a:ext cx="1260140" cy="288988"/>
          </a:xfrm>
          <a:prstGeom prst="bentConnector3">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Connector: Elbow 19">
            <a:extLst>
              <a:ext uri="{FF2B5EF4-FFF2-40B4-BE49-F238E27FC236}">
                <a16:creationId xmlns:a16="http://schemas.microsoft.com/office/drawing/2014/main" id="{2EE8581F-9266-2106-67F9-1597986A762D}"/>
              </a:ext>
            </a:extLst>
          </p:cNvPr>
          <p:cNvCxnSpPr>
            <a:cxnSpLocks/>
            <a:stCxn id="12" idx="3"/>
            <a:endCxn id="15" idx="2"/>
          </p:cNvCxnSpPr>
          <p:nvPr/>
        </p:nvCxnSpPr>
        <p:spPr>
          <a:xfrm flipV="1">
            <a:off x="3704930" y="3309329"/>
            <a:ext cx="1260140" cy="1662676"/>
          </a:xfrm>
          <a:prstGeom prst="bentConnector3">
            <a:avLst>
              <a:gd name="adj1" fmla="val 50000"/>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9" name="Connector: Elbow 22">
            <a:extLst>
              <a:ext uri="{FF2B5EF4-FFF2-40B4-BE49-F238E27FC236}">
                <a16:creationId xmlns:a16="http://schemas.microsoft.com/office/drawing/2014/main" id="{5268D19B-2DBC-D2A1-EFC1-20BAD10814E1}"/>
              </a:ext>
            </a:extLst>
          </p:cNvPr>
          <p:cNvCxnSpPr>
            <a:cxnSpLocks/>
            <a:stCxn id="13" idx="3"/>
            <a:endCxn id="15" idx="2"/>
          </p:cNvCxnSpPr>
          <p:nvPr/>
        </p:nvCxnSpPr>
        <p:spPr>
          <a:xfrm flipV="1">
            <a:off x="3704930" y="3309329"/>
            <a:ext cx="1260140" cy="2010607"/>
          </a:xfrm>
          <a:prstGeom prst="bentConnector3">
            <a:avLst>
              <a:gd name="adj1" fmla="val 50000"/>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Flowchart: Magnetic Disk 34">
            <a:extLst>
              <a:ext uri="{FF2B5EF4-FFF2-40B4-BE49-F238E27FC236}">
                <a16:creationId xmlns:a16="http://schemas.microsoft.com/office/drawing/2014/main" id="{D9B33CF3-6188-1278-B2BD-E1A1C9E8BD61}"/>
              </a:ext>
            </a:extLst>
          </p:cNvPr>
          <p:cNvSpPr/>
          <p:nvPr/>
        </p:nvSpPr>
        <p:spPr>
          <a:xfrm>
            <a:off x="6273888" y="3676484"/>
            <a:ext cx="1224136" cy="447229"/>
          </a:xfrm>
          <a:prstGeom prst="flowChartMagneticDisk">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病院別</a:t>
            </a:r>
            <a:endParaRPr kumimoji="1" 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2" name="Flowchart: Magnetic Disk 35">
            <a:extLst>
              <a:ext uri="{FF2B5EF4-FFF2-40B4-BE49-F238E27FC236}">
                <a16:creationId xmlns:a16="http://schemas.microsoft.com/office/drawing/2014/main" id="{095A8FD8-FB59-1317-A9F1-4A4C25956A22}"/>
              </a:ext>
            </a:extLst>
          </p:cNvPr>
          <p:cNvSpPr/>
          <p:nvPr/>
        </p:nvSpPr>
        <p:spPr>
          <a:xfrm>
            <a:off x="6273888" y="4226482"/>
            <a:ext cx="1224136" cy="447229"/>
          </a:xfrm>
          <a:prstGeom prst="flowChartMagneticDisk">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試薬別</a:t>
            </a:r>
            <a:endParaRPr kumimoji="1" 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3" name="Flowchart: Magnetic Disk 36">
            <a:extLst>
              <a:ext uri="{FF2B5EF4-FFF2-40B4-BE49-F238E27FC236}">
                <a16:creationId xmlns:a16="http://schemas.microsoft.com/office/drawing/2014/main" id="{8D748508-1D57-567E-511D-526483090103}"/>
              </a:ext>
            </a:extLst>
          </p:cNvPr>
          <p:cNvSpPr/>
          <p:nvPr/>
        </p:nvSpPr>
        <p:spPr>
          <a:xfrm>
            <a:off x="6278158" y="4776480"/>
            <a:ext cx="1224136" cy="447229"/>
          </a:xfrm>
          <a:prstGeom prst="flowChartMagneticDisk">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販売地区別</a:t>
            </a:r>
            <a:endParaRPr kumimoji="1" 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4" name="Flowchart: Magnetic Disk 37">
            <a:extLst>
              <a:ext uri="{FF2B5EF4-FFF2-40B4-BE49-F238E27FC236}">
                <a16:creationId xmlns:a16="http://schemas.microsoft.com/office/drawing/2014/main" id="{614E45C7-3F66-2F6A-E523-4B08B5530C09}"/>
              </a:ext>
            </a:extLst>
          </p:cNvPr>
          <p:cNvSpPr/>
          <p:nvPr/>
        </p:nvSpPr>
        <p:spPr>
          <a:xfrm>
            <a:off x="6278158" y="5326476"/>
            <a:ext cx="1224136" cy="447229"/>
          </a:xfrm>
          <a:prstGeom prst="flowChartMagneticDisk">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生産ライン別</a:t>
            </a:r>
            <a:endParaRPr kumimoji="1" lang="en-US" sz="1200" b="0" i="0" u="none" strike="noStrike" kern="1200" cap="none" spc="0" normalizeH="0" baseline="0" noProof="0">
              <a:ln>
                <a:noFill/>
              </a:ln>
              <a:solidFill>
                <a:srgbClr val="000000"/>
              </a:solidFill>
              <a:effectLst/>
              <a:uLnTx/>
              <a:uFillTx/>
              <a:latin typeface="Arial"/>
              <a:ea typeface="Meiryo UI"/>
              <a:cs typeface="+mn-cs"/>
            </a:endParaRPr>
          </a:p>
        </p:txBody>
      </p:sp>
      <p:cxnSp>
        <p:nvCxnSpPr>
          <p:cNvPr id="25" name="Connector: Elbow 38">
            <a:extLst>
              <a:ext uri="{FF2B5EF4-FFF2-40B4-BE49-F238E27FC236}">
                <a16:creationId xmlns:a16="http://schemas.microsoft.com/office/drawing/2014/main" id="{0289A0C1-8EA3-F978-9107-E1F6624439E0}"/>
              </a:ext>
            </a:extLst>
          </p:cNvPr>
          <p:cNvCxnSpPr>
            <a:cxnSpLocks/>
            <a:stCxn id="15" idx="3"/>
            <a:endCxn id="21" idx="2"/>
          </p:cNvCxnSpPr>
          <p:nvPr/>
        </p:nvCxnSpPr>
        <p:spPr>
          <a:xfrm rot="16200000" flipH="1">
            <a:off x="5762321" y="3388532"/>
            <a:ext cx="326384" cy="696750"/>
          </a:xfrm>
          <a:prstGeom prst="bentConnector2">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6" name="Connector: Elbow 42">
            <a:extLst>
              <a:ext uri="{FF2B5EF4-FFF2-40B4-BE49-F238E27FC236}">
                <a16:creationId xmlns:a16="http://schemas.microsoft.com/office/drawing/2014/main" id="{C7667214-DA97-223C-985D-17004BB55136}"/>
              </a:ext>
            </a:extLst>
          </p:cNvPr>
          <p:cNvCxnSpPr>
            <a:cxnSpLocks/>
            <a:stCxn id="15" idx="3"/>
            <a:endCxn id="22" idx="2"/>
          </p:cNvCxnSpPr>
          <p:nvPr/>
        </p:nvCxnSpPr>
        <p:spPr>
          <a:xfrm rot="16200000" flipH="1">
            <a:off x="5487322" y="3663531"/>
            <a:ext cx="876382" cy="696750"/>
          </a:xfrm>
          <a:prstGeom prst="bentConnector2">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7" name="Connector: Elbow 45">
            <a:extLst>
              <a:ext uri="{FF2B5EF4-FFF2-40B4-BE49-F238E27FC236}">
                <a16:creationId xmlns:a16="http://schemas.microsoft.com/office/drawing/2014/main" id="{F6CAB71E-CF8F-6D88-4F13-59013BF99607}"/>
              </a:ext>
            </a:extLst>
          </p:cNvPr>
          <p:cNvCxnSpPr>
            <a:cxnSpLocks/>
            <a:stCxn id="15" idx="3"/>
            <a:endCxn id="23" idx="2"/>
          </p:cNvCxnSpPr>
          <p:nvPr/>
        </p:nvCxnSpPr>
        <p:spPr>
          <a:xfrm rot="16200000" flipH="1">
            <a:off x="5214458" y="3936395"/>
            <a:ext cx="1426380" cy="701020"/>
          </a:xfrm>
          <a:prstGeom prst="bentConnector2">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8" name="Connector: Elbow 48">
            <a:extLst>
              <a:ext uri="{FF2B5EF4-FFF2-40B4-BE49-F238E27FC236}">
                <a16:creationId xmlns:a16="http://schemas.microsoft.com/office/drawing/2014/main" id="{1CF1CA96-6A71-F27B-39E7-7B2A1B4CBF84}"/>
              </a:ext>
            </a:extLst>
          </p:cNvPr>
          <p:cNvCxnSpPr>
            <a:cxnSpLocks/>
            <a:stCxn id="15" idx="3"/>
            <a:endCxn id="24" idx="2"/>
          </p:cNvCxnSpPr>
          <p:nvPr/>
        </p:nvCxnSpPr>
        <p:spPr>
          <a:xfrm rot="16200000" flipH="1">
            <a:off x="4939460" y="4211393"/>
            <a:ext cx="1976376" cy="701020"/>
          </a:xfrm>
          <a:prstGeom prst="bentConnector2">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85" name="グループ化 84">
            <a:extLst>
              <a:ext uri="{FF2B5EF4-FFF2-40B4-BE49-F238E27FC236}">
                <a16:creationId xmlns:a16="http://schemas.microsoft.com/office/drawing/2014/main" id="{99C75717-1B24-FD8B-43CF-CFA3886711E1}"/>
              </a:ext>
            </a:extLst>
          </p:cNvPr>
          <p:cNvGrpSpPr/>
          <p:nvPr/>
        </p:nvGrpSpPr>
        <p:grpSpPr>
          <a:xfrm>
            <a:off x="7891593" y="3958265"/>
            <a:ext cx="914400" cy="758609"/>
            <a:chOff x="7891593" y="3802475"/>
            <a:chExt cx="914400" cy="914400"/>
          </a:xfrm>
        </p:grpSpPr>
        <p:sp>
          <p:nvSpPr>
            <p:cNvPr id="76" name="正方形/長方形 75">
              <a:extLst>
                <a:ext uri="{FF2B5EF4-FFF2-40B4-BE49-F238E27FC236}">
                  <a16:creationId xmlns:a16="http://schemas.microsoft.com/office/drawing/2014/main" id="{15C155ED-91C1-8373-4BEA-3B0D04AB6094}"/>
                </a:ext>
              </a:extLst>
            </p:cNvPr>
            <p:cNvSpPr/>
            <p:nvPr/>
          </p:nvSpPr>
          <p:spPr>
            <a:xfrm>
              <a:off x="8166141" y="4134864"/>
              <a:ext cx="180161" cy="19249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pic>
          <p:nvPicPr>
            <p:cNvPr id="29" name="Graphic 66" descr="Idea with solid fill">
              <a:extLst>
                <a:ext uri="{FF2B5EF4-FFF2-40B4-BE49-F238E27FC236}">
                  <a16:creationId xmlns:a16="http://schemas.microsoft.com/office/drawing/2014/main" id="{B4030B2E-B593-A97B-BEA1-AF6F41B449E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891593" y="3802475"/>
              <a:ext cx="914400" cy="914400"/>
            </a:xfrm>
            <a:prstGeom prst="rect">
              <a:avLst/>
            </a:prstGeom>
          </p:spPr>
        </p:pic>
      </p:grpSp>
      <p:sp>
        <p:nvSpPr>
          <p:cNvPr id="30" name="TextBox 67">
            <a:extLst>
              <a:ext uri="{FF2B5EF4-FFF2-40B4-BE49-F238E27FC236}">
                <a16:creationId xmlns:a16="http://schemas.microsoft.com/office/drawing/2014/main" id="{C03E5774-9BDC-B19A-4D94-BA91D30DF562}"/>
              </a:ext>
            </a:extLst>
          </p:cNvPr>
          <p:cNvSpPr txBox="1"/>
          <p:nvPr/>
        </p:nvSpPr>
        <p:spPr>
          <a:xfrm>
            <a:off x="7891593" y="5027936"/>
            <a:ext cx="914400" cy="575318"/>
          </a:xfrm>
          <a:prstGeom prst="rect">
            <a:avLst/>
          </a:prstGeom>
          <a:noFill/>
        </p:spPr>
        <p:txBody>
          <a:bodyPr wrap="non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Meiryo UI"/>
                <a:ea typeface="Meiryo UI"/>
                <a:cs typeface="+mn-cs"/>
              </a:rPr>
              <a:t>機械学習</a:t>
            </a:r>
            <a:endParaRPr kumimoji="1" lang="en-US" altLang="ja-JP" sz="1200" b="0" i="0" u="none" strike="noStrike" kern="1200" cap="none" spc="0" normalizeH="0" baseline="0" noProof="0">
              <a:ln>
                <a:noFill/>
              </a:ln>
              <a:solidFill>
                <a:srgbClr val="000000"/>
              </a:solidFill>
              <a:effectLst/>
              <a:uLnTx/>
              <a:uFillTx/>
              <a:latin typeface="Meiryo UI"/>
              <a:ea typeface="Meiryo UI"/>
              <a:cs typeface="+mn-cs"/>
            </a:endParaRPr>
          </a:p>
          <a:p>
            <a:pPr marL="0" marR="0" lvl="0" indent="0" algn="ctr" defTabSz="2880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Meiryo UI"/>
                <a:ea typeface="Meiryo UI"/>
                <a:cs typeface="+mn-cs"/>
              </a:rPr>
              <a:t>アルゴリズム</a:t>
            </a:r>
            <a:endParaRPr kumimoji="1" lang="en-US" sz="1200" b="0" i="0" u="none" strike="noStrike" kern="1200" cap="none" spc="0" normalizeH="0" baseline="0" noProof="0">
              <a:ln>
                <a:noFill/>
              </a:ln>
              <a:solidFill>
                <a:srgbClr val="000000"/>
              </a:solidFill>
              <a:effectLst/>
              <a:uLnTx/>
              <a:uFillTx/>
              <a:latin typeface="Meiryo UI"/>
              <a:ea typeface="Meiryo UI"/>
              <a:cs typeface="+mn-cs"/>
            </a:endParaRPr>
          </a:p>
        </p:txBody>
      </p:sp>
      <p:cxnSp>
        <p:nvCxnSpPr>
          <p:cNvPr id="31" name="Connector: Elbow 68">
            <a:extLst>
              <a:ext uri="{FF2B5EF4-FFF2-40B4-BE49-F238E27FC236}">
                <a16:creationId xmlns:a16="http://schemas.microsoft.com/office/drawing/2014/main" id="{F2FEB828-F320-53D1-DC07-BC19A84ECA53}"/>
              </a:ext>
            </a:extLst>
          </p:cNvPr>
          <p:cNvCxnSpPr>
            <a:cxnSpLocks/>
            <a:stCxn id="21" idx="4"/>
            <a:endCxn id="76" idx="1"/>
          </p:cNvCxnSpPr>
          <p:nvPr/>
        </p:nvCxnSpPr>
        <p:spPr>
          <a:xfrm>
            <a:off x="7498024" y="3900099"/>
            <a:ext cx="668117" cy="413775"/>
          </a:xfrm>
          <a:prstGeom prst="bentConnector3">
            <a:avLst>
              <a:gd name="adj1" fmla="val 50000"/>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2" name="Connector: Elbow 72">
            <a:extLst>
              <a:ext uri="{FF2B5EF4-FFF2-40B4-BE49-F238E27FC236}">
                <a16:creationId xmlns:a16="http://schemas.microsoft.com/office/drawing/2014/main" id="{DF6B50C7-FCBB-86C2-765A-E022F084C8C9}"/>
              </a:ext>
            </a:extLst>
          </p:cNvPr>
          <p:cNvCxnSpPr>
            <a:cxnSpLocks/>
            <a:stCxn id="22" idx="4"/>
            <a:endCxn id="76" idx="1"/>
          </p:cNvCxnSpPr>
          <p:nvPr/>
        </p:nvCxnSpPr>
        <p:spPr>
          <a:xfrm flipV="1">
            <a:off x="7498024" y="4313874"/>
            <a:ext cx="668117" cy="136223"/>
          </a:xfrm>
          <a:prstGeom prst="bentConnector3">
            <a:avLst>
              <a:gd name="adj1" fmla="val 50000"/>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3" name="Connector: Elbow 75">
            <a:extLst>
              <a:ext uri="{FF2B5EF4-FFF2-40B4-BE49-F238E27FC236}">
                <a16:creationId xmlns:a16="http://schemas.microsoft.com/office/drawing/2014/main" id="{DB04E65D-76EF-AD28-E49A-8341167F4FF3}"/>
              </a:ext>
            </a:extLst>
          </p:cNvPr>
          <p:cNvCxnSpPr>
            <a:cxnSpLocks/>
            <a:stCxn id="23" idx="4"/>
            <a:endCxn id="76" idx="1"/>
          </p:cNvCxnSpPr>
          <p:nvPr/>
        </p:nvCxnSpPr>
        <p:spPr>
          <a:xfrm flipV="1">
            <a:off x="7502294" y="4313874"/>
            <a:ext cx="663847" cy="686221"/>
          </a:xfrm>
          <a:prstGeom prst="bentConnector3">
            <a:avLst>
              <a:gd name="adj1" fmla="val 50000"/>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4" name="Connector: Elbow 78">
            <a:extLst>
              <a:ext uri="{FF2B5EF4-FFF2-40B4-BE49-F238E27FC236}">
                <a16:creationId xmlns:a16="http://schemas.microsoft.com/office/drawing/2014/main" id="{BDD3C9A7-B2F3-A0B1-FA56-9590EE566A9F}"/>
              </a:ext>
            </a:extLst>
          </p:cNvPr>
          <p:cNvCxnSpPr>
            <a:cxnSpLocks/>
            <a:stCxn id="24" idx="4"/>
            <a:endCxn id="76" idx="1"/>
          </p:cNvCxnSpPr>
          <p:nvPr/>
        </p:nvCxnSpPr>
        <p:spPr>
          <a:xfrm flipV="1">
            <a:off x="7502294" y="4313874"/>
            <a:ext cx="663847" cy="1236217"/>
          </a:xfrm>
          <a:prstGeom prst="bentConnector3">
            <a:avLst>
              <a:gd name="adj1" fmla="val 50000"/>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5" name="Rectangle 85">
            <a:extLst>
              <a:ext uri="{FF2B5EF4-FFF2-40B4-BE49-F238E27FC236}">
                <a16:creationId xmlns:a16="http://schemas.microsoft.com/office/drawing/2014/main" id="{4068ACA2-3891-6CB4-09A9-AE440E9A3EF8}"/>
              </a:ext>
            </a:extLst>
          </p:cNvPr>
          <p:cNvSpPr/>
          <p:nvPr/>
        </p:nvSpPr>
        <p:spPr>
          <a:xfrm>
            <a:off x="9205144" y="3801763"/>
            <a:ext cx="2492674" cy="328821"/>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売上予測</a:t>
            </a:r>
            <a:endParaRPr kumimoji="1" lang="en-US" sz="1200" b="0" i="0" u="none" strike="noStrike" kern="1200" cap="none" spc="0" normalizeH="0" baseline="0" noProof="0" err="1">
              <a:ln>
                <a:noFill/>
              </a:ln>
              <a:solidFill>
                <a:srgbClr val="000000"/>
              </a:solidFill>
              <a:effectLst/>
              <a:uLnTx/>
              <a:uFillTx/>
              <a:latin typeface="Arial"/>
              <a:ea typeface="Meiryo UI"/>
              <a:cs typeface="+mn-cs"/>
            </a:endParaRPr>
          </a:p>
        </p:txBody>
      </p:sp>
      <p:sp>
        <p:nvSpPr>
          <p:cNvPr id="36" name="Rectangle 86">
            <a:extLst>
              <a:ext uri="{FF2B5EF4-FFF2-40B4-BE49-F238E27FC236}">
                <a16:creationId xmlns:a16="http://schemas.microsoft.com/office/drawing/2014/main" id="{51B7F7C1-4090-9C71-190B-3A07E04D8FB8}"/>
              </a:ext>
            </a:extLst>
          </p:cNvPr>
          <p:cNvSpPr/>
          <p:nvPr/>
        </p:nvSpPr>
        <p:spPr>
          <a:xfrm>
            <a:off x="9205144" y="4181978"/>
            <a:ext cx="2492674" cy="328821"/>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在庫予測</a:t>
            </a:r>
            <a:endParaRPr kumimoji="1" lang="en-US" sz="1200" b="0" i="0" u="none" strike="noStrike" kern="1200" cap="none" spc="0" normalizeH="0" baseline="0" noProof="0" err="1">
              <a:ln>
                <a:noFill/>
              </a:ln>
              <a:solidFill>
                <a:srgbClr val="000000"/>
              </a:solidFill>
              <a:effectLst/>
              <a:uLnTx/>
              <a:uFillTx/>
              <a:latin typeface="Arial"/>
              <a:ea typeface="Meiryo UI"/>
              <a:cs typeface="+mn-cs"/>
            </a:endParaRPr>
          </a:p>
        </p:txBody>
      </p:sp>
      <p:sp>
        <p:nvSpPr>
          <p:cNvPr id="37" name="Rectangle 87">
            <a:extLst>
              <a:ext uri="{FF2B5EF4-FFF2-40B4-BE49-F238E27FC236}">
                <a16:creationId xmlns:a16="http://schemas.microsoft.com/office/drawing/2014/main" id="{725C03A7-58E5-8971-221A-49D0BC05556C}"/>
              </a:ext>
            </a:extLst>
          </p:cNvPr>
          <p:cNvSpPr/>
          <p:nvPr/>
        </p:nvSpPr>
        <p:spPr>
          <a:xfrm>
            <a:off x="9205144" y="4562193"/>
            <a:ext cx="2492674" cy="328821"/>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補充時期・訪問優先度</a:t>
            </a:r>
            <a:endParaRPr kumimoji="1" lang="en-US" sz="1200" b="0" i="0" u="none" strike="noStrike" kern="1200" cap="none" spc="0" normalizeH="0" baseline="0" noProof="0" err="1">
              <a:ln>
                <a:noFill/>
              </a:ln>
              <a:solidFill>
                <a:srgbClr val="000000"/>
              </a:solidFill>
              <a:effectLst/>
              <a:uLnTx/>
              <a:uFillTx/>
              <a:latin typeface="Arial"/>
              <a:ea typeface="Meiryo UI"/>
              <a:cs typeface="+mn-cs"/>
            </a:endParaRPr>
          </a:p>
        </p:txBody>
      </p:sp>
      <p:sp>
        <p:nvSpPr>
          <p:cNvPr id="38" name="Rectangle 88">
            <a:extLst>
              <a:ext uri="{FF2B5EF4-FFF2-40B4-BE49-F238E27FC236}">
                <a16:creationId xmlns:a16="http://schemas.microsoft.com/office/drawing/2014/main" id="{6B41BB7F-01B0-9CAB-3F38-7715D8CA04B3}"/>
              </a:ext>
            </a:extLst>
          </p:cNvPr>
          <p:cNvSpPr/>
          <p:nvPr/>
        </p:nvSpPr>
        <p:spPr>
          <a:xfrm>
            <a:off x="9205144" y="4942408"/>
            <a:ext cx="2492674" cy="328821"/>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試薬別</a:t>
            </a:r>
            <a:r>
              <a:rPr kumimoji="1" lang="en-US" altLang="ja-JP" sz="1200" b="0" i="0" u="none" strike="noStrike" kern="1200" cap="none" spc="0" normalizeH="0" baseline="0" noProof="0" err="1">
                <a:ln>
                  <a:noFill/>
                </a:ln>
                <a:solidFill>
                  <a:srgbClr val="000000"/>
                </a:solidFill>
                <a:effectLst/>
                <a:uLnTx/>
                <a:uFillTx/>
                <a:latin typeface="Arial"/>
                <a:ea typeface="Meiryo UI"/>
                <a:cs typeface="+mn-cs"/>
              </a:rPr>
              <a:t>RoI</a:t>
            </a:r>
            <a:endParaRPr kumimoji="1" 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39" name="TextBox 90">
            <a:extLst>
              <a:ext uri="{FF2B5EF4-FFF2-40B4-BE49-F238E27FC236}">
                <a16:creationId xmlns:a16="http://schemas.microsoft.com/office/drawing/2014/main" id="{7AAEDBC2-7EC3-BD06-69EA-BB38F05EA47E}"/>
              </a:ext>
            </a:extLst>
          </p:cNvPr>
          <p:cNvSpPr txBox="1"/>
          <p:nvPr/>
        </p:nvSpPr>
        <p:spPr>
          <a:xfrm>
            <a:off x="9994281" y="5440197"/>
            <a:ext cx="914400" cy="758609"/>
          </a:xfrm>
          <a:prstGeom prst="rect">
            <a:avLst/>
          </a:prstGeom>
        </p:spPr>
        <p:txBody>
          <a:bodyPr vert="eaVert" wrap="none" lIns="0" rIns="0" rtlCol="0" anchor="ctr">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a:ln>
                  <a:noFill/>
                </a:ln>
                <a:solidFill>
                  <a:srgbClr val="000000"/>
                </a:solidFill>
                <a:effectLst/>
                <a:uLnTx/>
                <a:uFillTx/>
                <a:latin typeface="Meiryo UI"/>
                <a:ea typeface="Meiryo UI"/>
                <a:cs typeface="+mn-cs"/>
              </a:rPr>
              <a:t>・・・</a:t>
            </a:r>
            <a:endParaRPr kumimoji="1" lang="en-US" sz="1800" b="0" i="0" u="none" strike="noStrike" kern="1200" cap="none" spc="0" normalizeH="0" baseline="0" noProof="0">
              <a:ln>
                <a:noFill/>
              </a:ln>
              <a:solidFill>
                <a:srgbClr val="000000"/>
              </a:solidFill>
              <a:effectLst/>
              <a:uLnTx/>
              <a:uFillTx/>
              <a:latin typeface="Meiryo UI"/>
              <a:ea typeface="Meiryo UI"/>
              <a:cs typeface="+mn-cs"/>
            </a:endParaRPr>
          </a:p>
        </p:txBody>
      </p:sp>
      <p:cxnSp>
        <p:nvCxnSpPr>
          <p:cNvPr id="40" name="Connector: Elbow 91">
            <a:extLst>
              <a:ext uri="{FF2B5EF4-FFF2-40B4-BE49-F238E27FC236}">
                <a16:creationId xmlns:a16="http://schemas.microsoft.com/office/drawing/2014/main" id="{4B211F98-B8D9-08C6-C902-366DE702FAD1}"/>
              </a:ext>
            </a:extLst>
          </p:cNvPr>
          <p:cNvCxnSpPr>
            <a:cxnSpLocks/>
            <a:stCxn id="29" idx="3"/>
            <a:endCxn id="35" idx="1"/>
          </p:cNvCxnSpPr>
          <p:nvPr/>
        </p:nvCxnSpPr>
        <p:spPr>
          <a:xfrm flipV="1">
            <a:off x="8805993" y="3966174"/>
            <a:ext cx="399151" cy="371396"/>
          </a:xfrm>
          <a:prstGeom prst="bentConnector3">
            <a:avLst>
              <a:gd name="adj1" fmla="val 50000"/>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1" name="Connector: Elbow 94">
            <a:extLst>
              <a:ext uri="{FF2B5EF4-FFF2-40B4-BE49-F238E27FC236}">
                <a16:creationId xmlns:a16="http://schemas.microsoft.com/office/drawing/2014/main" id="{21B1E879-C9A8-AFBE-B90A-2F6BC499A42D}"/>
              </a:ext>
            </a:extLst>
          </p:cNvPr>
          <p:cNvCxnSpPr>
            <a:cxnSpLocks/>
            <a:stCxn id="29" idx="3"/>
            <a:endCxn id="36" idx="1"/>
          </p:cNvCxnSpPr>
          <p:nvPr/>
        </p:nvCxnSpPr>
        <p:spPr>
          <a:xfrm>
            <a:off x="8805993" y="4337570"/>
            <a:ext cx="399151" cy="8819"/>
          </a:xfrm>
          <a:prstGeom prst="bentConnector3">
            <a:avLst>
              <a:gd name="adj1" fmla="val 50000"/>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2" name="Connector: Elbow 97">
            <a:extLst>
              <a:ext uri="{FF2B5EF4-FFF2-40B4-BE49-F238E27FC236}">
                <a16:creationId xmlns:a16="http://schemas.microsoft.com/office/drawing/2014/main" id="{34F34546-87BC-203B-E51F-3819FE75F231}"/>
              </a:ext>
            </a:extLst>
          </p:cNvPr>
          <p:cNvCxnSpPr>
            <a:cxnSpLocks/>
            <a:stCxn id="29" idx="3"/>
            <a:endCxn id="37" idx="1"/>
          </p:cNvCxnSpPr>
          <p:nvPr/>
        </p:nvCxnSpPr>
        <p:spPr>
          <a:xfrm>
            <a:off x="8805993" y="4337570"/>
            <a:ext cx="399151" cy="389034"/>
          </a:xfrm>
          <a:prstGeom prst="bentConnector3">
            <a:avLst>
              <a:gd name="adj1" fmla="val 50000"/>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3" name="Connector: Elbow 100">
            <a:extLst>
              <a:ext uri="{FF2B5EF4-FFF2-40B4-BE49-F238E27FC236}">
                <a16:creationId xmlns:a16="http://schemas.microsoft.com/office/drawing/2014/main" id="{9A1D029B-B1C0-E41A-41B2-A3464A18E775}"/>
              </a:ext>
            </a:extLst>
          </p:cNvPr>
          <p:cNvCxnSpPr>
            <a:cxnSpLocks/>
            <a:stCxn id="29" idx="3"/>
            <a:endCxn id="38" idx="1"/>
          </p:cNvCxnSpPr>
          <p:nvPr/>
        </p:nvCxnSpPr>
        <p:spPr>
          <a:xfrm>
            <a:off x="8805993" y="4337570"/>
            <a:ext cx="399151" cy="769249"/>
          </a:xfrm>
          <a:prstGeom prst="bentConnector3">
            <a:avLst>
              <a:gd name="adj1" fmla="val 50000"/>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6" name="Rectangle 106">
            <a:extLst>
              <a:ext uri="{FF2B5EF4-FFF2-40B4-BE49-F238E27FC236}">
                <a16:creationId xmlns:a16="http://schemas.microsoft.com/office/drawing/2014/main" id="{1C1659E2-F5EA-8E89-8D97-B90A3DBE441A}"/>
              </a:ext>
            </a:extLst>
          </p:cNvPr>
          <p:cNvSpPr/>
          <p:nvPr/>
        </p:nvSpPr>
        <p:spPr>
          <a:xfrm>
            <a:off x="4994684" y="5880270"/>
            <a:ext cx="2844316" cy="617000"/>
          </a:xfrm>
          <a:prstGeom prst="rect">
            <a:avLst/>
          </a:prstGeom>
          <a:solidFill>
            <a:schemeClr val="bg1"/>
          </a:solidFill>
          <a:ln w="28575">
            <a:solidFill>
              <a:schemeClr val="bg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示唆</a:t>
            </a:r>
            <a:r>
              <a:rPr kumimoji="1" lang="en-US" altLang="ja-JP" sz="1200" b="0" i="0" u="none" strike="noStrike" kern="1200" cap="none" spc="0" normalizeH="0" baseline="0" noProof="0">
                <a:ln>
                  <a:noFill/>
                </a:ln>
                <a:solidFill>
                  <a:srgbClr val="000000"/>
                </a:solidFill>
                <a:effectLst/>
                <a:uLnTx/>
                <a:uFillTx/>
                <a:latin typeface="Arial"/>
                <a:ea typeface="Meiryo UI"/>
                <a:cs typeface="+mn-cs"/>
              </a:rPr>
              <a:t>2</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単なる目先の売上だけでなく、セールスや生産管理に役立つ分析軸を整理することが重要。</a:t>
            </a:r>
            <a:endParaRPr kumimoji="1" lang="en-US" sz="1200" b="0" i="0" u="none" strike="noStrike" kern="1200" cap="none" spc="0" normalizeH="0" baseline="0" noProof="0" err="1">
              <a:ln>
                <a:noFill/>
              </a:ln>
              <a:solidFill>
                <a:srgbClr val="000000"/>
              </a:solidFill>
              <a:effectLst/>
              <a:uLnTx/>
              <a:uFillTx/>
              <a:latin typeface="Arial"/>
              <a:ea typeface="Meiryo UI"/>
              <a:cs typeface="+mn-cs"/>
            </a:endParaRPr>
          </a:p>
        </p:txBody>
      </p:sp>
      <p:sp>
        <p:nvSpPr>
          <p:cNvPr id="47" name="Rectangle 105">
            <a:extLst>
              <a:ext uri="{FF2B5EF4-FFF2-40B4-BE49-F238E27FC236}">
                <a16:creationId xmlns:a16="http://schemas.microsoft.com/office/drawing/2014/main" id="{03B35EB7-147F-0A83-AB55-4FA20DF2D23C}"/>
              </a:ext>
            </a:extLst>
          </p:cNvPr>
          <p:cNvSpPr/>
          <p:nvPr/>
        </p:nvSpPr>
        <p:spPr>
          <a:xfrm>
            <a:off x="1490684" y="5868316"/>
            <a:ext cx="2844316" cy="617000"/>
          </a:xfrm>
          <a:prstGeom prst="rect">
            <a:avLst/>
          </a:prstGeom>
          <a:solidFill>
            <a:schemeClr val="bg1"/>
          </a:solidFill>
          <a:ln w="28575">
            <a:solidFill>
              <a:schemeClr val="bg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示唆</a:t>
            </a:r>
            <a:r>
              <a:rPr kumimoji="1" lang="en-US" altLang="ja-JP" sz="1200" b="0" i="0" u="none" strike="noStrike" kern="1200" cap="none" spc="0" normalizeH="0" baseline="0" noProof="0" dirty="0">
                <a:ln>
                  <a:noFill/>
                </a:ln>
                <a:solidFill>
                  <a:srgbClr val="000000"/>
                </a:solidFill>
                <a:effectLst/>
                <a:uLnTx/>
                <a:uFillTx/>
                <a:latin typeface="Arial"/>
                <a:ea typeface="Meiryo UI"/>
                <a:cs typeface="+mn-cs"/>
              </a:rPr>
              <a:t>1</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ポートフォリオ管理に必要な元データを適正な形・粒度で収集し共通化しておくことが重要。</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grpSp>
        <p:nvGrpSpPr>
          <p:cNvPr id="3" name="グループ化 2">
            <a:extLst>
              <a:ext uri="{FF2B5EF4-FFF2-40B4-BE49-F238E27FC236}">
                <a16:creationId xmlns:a16="http://schemas.microsoft.com/office/drawing/2014/main" id="{9176047C-5BEE-E7A2-92CB-BC8B16E9F667}"/>
              </a:ext>
            </a:extLst>
          </p:cNvPr>
          <p:cNvGrpSpPr/>
          <p:nvPr/>
        </p:nvGrpSpPr>
        <p:grpSpPr>
          <a:xfrm>
            <a:off x="69015" y="895288"/>
            <a:ext cx="11904512" cy="1425906"/>
            <a:chOff x="69015" y="895288"/>
            <a:chExt cx="11904512" cy="1425906"/>
          </a:xfrm>
        </p:grpSpPr>
        <p:sp>
          <p:nvSpPr>
            <p:cNvPr id="5" name="正方形/長方形 4">
              <a:extLst>
                <a:ext uri="{FF2B5EF4-FFF2-40B4-BE49-F238E27FC236}">
                  <a16:creationId xmlns:a16="http://schemas.microsoft.com/office/drawing/2014/main" id="{845210F9-8593-4DD6-4732-43F178E571C5}"/>
                </a:ext>
              </a:extLst>
            </p:cNvPr>
            <p:cNvSpPr/>
            <p:nvPr/>
          </p:nvSpPr>
          <p:spPr>
            <a:xfrm>
              <a:off x="921380" y="907627"/>
              <a:ext cx="11052147" cy="844231"/>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2857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各</a:t>
              </a:r>
              <a:r>
                <a:rPr kumimoji="1" lang="en-US" altLang="ja-JP" sz="1400" b="0" i="0" u="none" strike="noStrike" kern="1200" cap="none" spc="0" normalizeH="0" baseline="0" noProof="0" dirty="0">
                  <a:ln>
                    <a:noFill/>
                  </a:ln>
                  <a:solidFill>
                    <a:srgbClr val="000000"/>
                  </a:solidFill>
                  <a:effectLst/>
                  <a:uLnTx/>
                  <a:uFillTx/>
                  <a:latin typeface="Arial"/>
                  <a:ea typeface="Meiryo UI"/>
                  <a:cs typeface="+mn-cs"/>
                </a:rPr>
                <a:t>MR</a:t>
              </a: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が闇雲に担当病院を巡回して案件を取ってくるプロセスの定常化により、個人のセンスや技量によって売上や占有率に大きな差が発生する。</a:t>
              </a:r>
              <a:endParaRPr kumimoji="1" lang="en-US" altLang="ja-JP" sz="1400" b="0" i="0" u="none" strike="noStrike" kern="1200" cap="none" spc="0" normalizeH="0" baseline="0" noProof="0" dirty="0">
                <a:ln>
                  <a:noFill/>
                </a:ln>
                <a:solidFill>
                  <a:srgbClr val="000000"/>
                </a:solidFill>
                <a:effectLst/>
                <a:uLnTx/>
                <a:uFillTx/>
                <a:latin typeface="Arial"/>
                <a:ea typeface="Meiryo UI"/>
                <a:cs typeface="+mn-cs"/>
              </a:endParaRPr>
            </a:p>
            <a:p>
              <a:pPr marL="2857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400" b="0" i="0" u="none" strike="noStrike" kern="1200" cap="none" spc="0" normalizeH="0" baseline="0" noProof="0" dirty="0">
                  <a:ln>
                    <a:noFill/>
                  </a:ln>
                  <a:solidFill>
                    <a:srgbClr val="000000"/>
                  </a:solidFill>
                  <a:effectLst/>
                  <a:uLnTx/>
                  <a:uFillTx/>
                  <a:latin typeface="Arial"/>
                  <a:ea typeface="Meiryo UI"/>
                  <a:cs typeface="+mn-cs"/>
                </a:rPr>
                <a:t>MR</a:t>
              </a: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一人一人の給与に対し、成績がそれを下回るケースも多い反面、人と人とのリレーションシップも無視できない要素となるため、今いる人員を最大限</a:t>
              </a:r>
              <a:br>
                <a:rPr kumimoji="1" lang="en-US" altLang="ja-JP" sz="1400" b="0" i="0" u="none" strike="noStrike" kern="1200" cap="none" spc="0" normalizeH="0" baseline="0" noProof="0" dirty="0">
                  <a:ln>
                    <a:noFill/>
                  </a:ln>
                  <a:solidFill>
                    <a:srgbClr val="000000"/>
                  </a:solidFill>
                  <a:effectLst/>
                  <a:uLnTx/>
                  <a:uFillTx/>
                  <a:latin typeface="Arial"/>
                  <a:ea typeface="Meiryo UI"/>
                  <a:cs typeface="+mn-cs"/>
                </a:rPr>
              </a:b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効果的に活用する必要がある。</a:t>
              </a:r>
              <a:endParaRPr kumimoji="1" lang="en-US" altLang="ja-JP" sz="1400" b="0" i="0" u="none" strike="noStrike" kern="1200" cap="none" spc="0" normalizeH="0" baseline="0" noProof="0" dirty="0">
                <a:ln>
                  <a:noFill/>
                </a:ln>
                <a:solidFill>
                  <a:srgbClr val="000000"/>
                </a:solidFill>
                <a:effectLst/>
                <a:uLnTx/>
                <a:uFillTx/>
                <a:latin typeface="Arial"/>
                <a:ea typeface="Meiryo UI"/>
                <a:cs typeface="+mn-cs"/>
              </a:endParaRPr>
            </a:p>
          </p:txBody>
        </p:sp>
        <p:sp>
          <p:nvSpPr>
            <p:cNvPr id="48" name="正方形/長方形 47">
              <a:extLst>
                <a:ext uri="{FF2B5EF4-FFF2-40B4-BE49-F238E27FC236}">
                  <a16:creationId xmlns:a16="http://schemas.microsoft.com/office/drawing/2014/main" id="{13083F91-EFFA-B759-0C70-0EC5E530F92A}"/>
                </a:ext>
              </a:extLst>
            </p:cNvPr>
            <p:cNvSpPr/>
            <p:nvPr/>
          </p:nvSpPr>
          <p:spPr>
            <a:xfrm>
              <a:off x="921380" y="1857506"/>
              <a:ext cx="11052147" cy="450762"/>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2857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組織の過去実績データを基に、各</a:t>
              </a:r>
              <a:r>
                <a:rPr kumimoji="1" lang="en-US" altLang="ja-JP" sz="1400" b="0" i="0" u="none" strike="noStrike" kern="1200" cap="none" spc="0" normalizeH="0" baseline="0" noProof="0" dirty="0">
                  <a:ln>
                    <a:noFill/>
                  </a:ln>
                  <a:solidFill>
                    <a:srgbClr val="000000"/>
                  </a:solidFill>
                  <a:effectLst/>
                  <a:uLnTx/>
                  <a:uFillTx/>
                  <a:latin typeface="Arial"/>
                  <a:ea typeface="Meiryo UI"/>
                  <a:cs typeface="+mn-cs"/>
                </a:rPr>
                <a:t>MR</a:t>
              </a: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の担当地域・病院の訪問優先度を期待売上や商材、移動経路等を総合的に鑑みて提案する</a:t>
              </a:r>
              <a:r>
                <a:rPr kumimoji="1" lang="en-US" altLang="ja-JP" sz="1400" b="0" i="0" u="none" strike="noStrike" kern="1200" cap="none" spc="0" normalizeH="0" baseline="0" noProof="0" dirty="0">
                  <a:ln>
                    <a:noFill/>
                  </a:ln>
                  <a:solidFill>
                    <a:srgbClr val="000000"/>
                  </a:solidFill>
                  <a:effectLst/>
                  <a:uLnTx/>
                  <a:uFillTx/>
                  <a:latin typeface="Arial"/>
                  <a:ea typeface="Meiryo UI"/>
                  <a:cs typeface="+mn-cs"/>
                </a:rPr>
                <a:t>AI</a:t>
              </a: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技術を導入する。</a:t>
              </a:r>
              <a:endParaRPr kumimoji="1" lang="en-US" altLang="ja-JP" sz="1400" b="0" i="0" u="none" strike="noStrike" kern="1200" cap="none" spc="0" normalizeH="0" baseline="0" noProof="0" dirty="0">
                <a:ln>
                  <a:noFill/>
                </a:ln>
                <a:solidFill>
                  <a:srgbClr val="000000"/>
                </a:solidFill>
                <a:effectLst/>
                <a:uLnTx/>
                <a:uFillTx/>
                <a:latin typeface="Arial"/>
                <a:ea typeface="Meiryo UI"/>
                <a:cs typeface="+mn-cs"/>
              </a:endParaRPr>
            </a:p>
          </p:txBody>
        </p:sp>
        <p:sp>
          <p:nvSpPr>
            <p:cNvPr id="49" name="正方形/長方形 48">
              <a:extLst>
                <a:ext uri="{FF2B5EF4-FFF2-40B4-BE49-F238E27FC236}">
                  <a16:creationId xmlns:a16="http://schemas.microsoft.com/office/drawing/2014/main" id="{126829C7-AB02-2521-FE39-841935FEED48}"/>
                </a:ext>
              </a:extLst>
            </p:cNvPr>
            <p:cNvSpPr/>
            <p:nvPr/>
          </p:nvSpPr>
          <p:spPr>
            <a:xfrm>
              <a:off x="69015" y="895288"/>
              <a:ext cx="852365" cy="873036"/>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rgbClr val="FFFFFF"/>
                  </a:solidFill>
                  <a:effectLst/>
                  <a:uLnTx/>
                  <a:uFillTx/>
                  <a:latin typeface="Arial"/>
                  <a:ea typeface="Meiryo UI"/>
                  <a:cs typeface="+mn-cs"/>
                </a:rPr>
                <a:t>背景</a:t>
              </a:r>
              <a:endParaRPr kumimoji="1" lang="en-US" altLang="ja-JP" sz="1600" b="0" i="0" u="none" strike="noStrike" kern="1200" cap="none" spc="0" normalizeH="0" baseline="0" noProof="0">
                <a:ln>
                  <a:noFill/>
                </a:ln>
                <a:solidFill>
                  <a:srgbClr val="FFFFFF"/>
                </a:solidFill>
                <a:effectLst/>
                <a:uLnTx/>
                <a:uFillTx/>
                <a:latin typeface="Arial"/>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rgbClr val="FFFFFF"/>
                  </a:solidFill>
                  <a:effectLst/>
                  <a:uLnTx/>
                  <a:uFillTx/>
                  <a:latin typeface="Arial"/>
                  <a:ea typeface="Meiryo UI"/>
                  <a:cs typeface="+mn-cs"/>
                </a:rPr>
                <a:t>課題</a:t>
              </a:r>
              <a:endParaRPr kumimoji="1" lang="en-US" altLang="ja-JP" sz="1600" b="0" i="0" u="none" strike="noStrike" kern="1200" cap="none" spc="0" normalizeH="0" baseline="0" noProof="0">
                <a:ln>
                  <a:noFill/>
                </a:ln>
                <a:solidFill>
                  <a:srgbClr val="FFFFFF"/>
                </a:solidFill>
                <a:effectLst/>
                <a:uLnTx/>
                <a:uFillTx/>
                <a:latin typeface="Arial"/>
                <a:ea typeface="Meiryo UI"/>
                <a:cs typeface="+mn-cs"/>
              </a:endParaRPr>
            </a:p>
          </p:txBody>
        </p:sp>
        <p:sp>
          <p:nvSpPr>
            <p:cNvPr id="50" name="正方形/長方形 49">
              <a:extLst>
                <a:ext uri="{FF2B5EF4-FFF2-40B4-BE49-F238E27FC236}">
                  <a16:creationId xmlns:a16="http://schemas.microsoft.com/office/drawing/2014/main" id="{2F771CE4-154D-9B69-0FB8-3E9E29BC61FB}"/>
                </a:ext>
              </a:extLst>
            </p:cNvPr>
            <p:cNvSpPr/>
            <p:nvPr/>
          </p:nvSpPr>
          <p:spPr>
            <a:xfrm>
              <a:off x="69015" y="1844621"/>
              <a:ext cx="852365" cy="476573"/>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rgbClr val="FFFFFF"/>
                  </a:solidFill>
                  <a:effectLst/>
                  <a:uLnTx/>
                  <a:uFillTx/>
                  <a:latin typeface="Arial"/>
                  <a:ea typeface="Meiryo UI"/>
                  <a:cs typeface="+mn-cs"/>
                </a:rPr>
                <a:t>解決策</a:t>
              </a:r>
              <a:endParaRPr kumimoji="1" lang="en-US" altLang="ja-JP" sz="1600" b="0" i="0" u="none" strike="noStrike" kern="1200" cap="none" spc="0" normalizeH="0" baseline="0" noProof="0">
                <a:ln>
                  <a:noFill/>
                </a:ln>
                <a:solidFill>
                  <a:srgbClr val="FFFFFF"/>
                </a:solidFill>
                <a:effectLst/>
                <a:uLnTx/>
                <a:uFillTx/>
                <a:latin typeface="Arial"/>
                <a:ea typeface="Meiryo UI"/>
                <a:cs typeface="+mn-cs"/>
              </a:endParaRPr>
            </a:p>
          </p:txBody>
        </p:sp>
      </p:grpSp>
      <p:sp>
        <p:nvSpPr>
          <p:cNvPr id="90" name="TextBox 90">
            <a:extLst>
              <a:ext uri="{FF2B5EF4-FFF2-40B4-BE49-F238E27FC236}">
                <a16:creationId xmlns:a16="http://schemas.microsoft.com/office/drawing/2014/main" id="{9964FFA0-6E35-7250-7434-AA1BBFB12E6B}"/>
              </a:ext>
            </a:extLst>
          </p:cNvPr>
          <p:cNvSpPr txBox="1"/>
          <p:nvPr/>
        </p:nvSpPr>
        <p:spPr>
          <a:xfrm>
            <a:off x="710506" y="5550091"/>
            <a:ext cx="914400" cy="758609"/>
          </a:xfrm>
          <a:prstGeom prst="rect">
            <a:avLst/>
          </a:prstGeom>
        </p:spPr>
        <p:txBody>
          <a:bodyPr vert="eaVert" wrap="none" lIns="0" rIns="0" rtlCol="0" anchor="ctr">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sz="1800" b="0" i="0" u="none" strike="noStrike" kern="1200" cap="none" spc="0" normalizeH="0" baseline="0" noProof="0" dirty="0">
              <a:ln>
                <a:noFill/>
              </a:ln>
              <a:solidFill>
                <a:srgbClr val="000000"/>
              </a:solidFill>
              <a:effectLst/>
              <a:uLnTx/>
              <a:uFillTx/>
              <a:latin typeface="Meiryo UI"/>
              <a:ea typeface="Meiryo UI"/>
              <a:cs typeface="+mn-cs"/>
            </a:endParaRPr>
          </a:p>
        </p:txBody>
      </p:sp>
      <p:sp>
        <p:nvSpPr>
          <p:cNvPr id="8" name="Rectangle 106">
            <a:extLst>
              <a:ext uri="{FF2B5EF4-FFF2-40B4-BE49-F238E27FC236}">
                <a16:creationId xmlns:a16="http://schemas.microsoft.com/office/drawing/2014/main" id="{05FB72EE-96BF-AE50-D625-F9441BB0AB6A}"/>
              </a:ext>
            </a:extLst>
          </p:cNvPr>
          <p:cNvSpPr/>
          <p:nvPr/>
        </p:nvSpPr>
        <p:spPr>
          <a:xfrm>
            <a:off x="8150366" y="5665803"/>
            <a:ext cx="3668434" cy="819513"/>
          </a:xfrm>
          <a:prstGeom prst="rect">
            <a:avLst/>
          </a:prstGeom>
          <a:solidFill>
            <a:schemeClr val="bg1"/>
          </a:solidFill>
          <a:ln w="28575">
            <a:solidFill>
              <a:schemeClr val="bg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示唆</a:t>
            </a:r>
            <a:r>
              <a:rPr kumimoji="1" lang="en-US" altLang="ja-JP" sz="1200" b="0" i="0" u="none" strike="noStrike" kern="1200" cap="none" spc="0" normalizeH="0" baseline="0" noProof="0" dirty="0">
                <a:ln>
                  <a:noFill/>
                </a:ln>
                <a:solidFill>
                  <a:srgbClr val="000000"/>
                </a:solidFill>
                <a:effectLst/>
                <a:uLnTx/>
                <a:uFillTx/>
                <a:latin typeface="Arial"/>
                <a:ea typeface="Meiryo UI"/>
                <a:cs typeface="+mn-cs"/>
              </a:rPr>
              <a:t>3</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各要員の自主的な業務効率向上だけに頼らず、会社としてすでにある情報を駆使し「経験と勘」</a:t>
            </a:r>
            <a:r>
              <a:rPr kumimoji="1" lang="ja-JP" altLang="en-US" sz="1200" b="0" i="0" u="none" strike="noStrike" kern="1200" cap="none" spc="0" normalizeH="0" baseline="0" noProof="0">
                <a:ln>
                  <a:noFill/>
                </a:ln>
                <a:solidFill>
                  <a:srgbClr val="000000"/>
                </a:solidFill>
                <a:effectLst/>
                <a:uLnTx/>
                <a:uFillTx/>
                <a:latin typeface="Arial"/>
                <a:ea typeface="Meiryo UI"/>
                <a:cs typeface="+mn-cs"/>
              </a:rPr>
              <a:t>以上の合理的かつ実効性のある情報を提供する体制を構築することが望ましい。</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sp>
        <p:nvSpPr>
          <p:cNvPr id="75" name="Rectangle 105">
            <a:extLst>
              <a:ext uri="{FF2B5EF4-FFF2-40B4-BE49-F238E27FC236}">
                <a16:creationId xmlns:a16="http://schemas.microsoft.com/office/drawing/2014/main" id="{ADF3F200-1259-1485-6F1F-AF6CCEC2AB70}"/>
              </a:ext>
            </a:extLst>
          </p:cNvPr>
          <p:cNvSpPr/>
          <p:nvPr/>
        </p:nvSpPr>
        <p:spPr>
          <a:xfrm>
            <a:off x="6924144" y="2393799"/>
            <a:ext cx="4896382" cy="1106632"/>
          </a:xfrm>
          <a:prstGeom prst="rect">
            <a:avLst/>
          </a:prstGeom>
          <a:solidFill>
            <a:schemeClr val="bg1"/>
          </a:solid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成功要因</a:t>
            </a:r>
            <a:endParaRPr kumimoji="1" lang="en-US" altLang="ja-JP" sz="1200" b="0" i="0" u="none" strike="noStrike" kern="1200" cap="none" spc="0" normalizeH="0" baseline="0" noProof="0" dirty="0">
              <a:ln>
                <a:noFill/>
              </a:ln>
              <a:solidFill>
                <a:srgbClr val="000000"/>
              </a:solidFill>
              <a:effectLst/>
              <a:uLnTx/>
              <a:uFillTx/>
              <a:latin typeface="Arial"/>
              <a:ea typeface="Meiryo U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高単価だが優秀な外部の個人事業主（のちに社員として採用）を見つけ出し、彼を軸にセル型組織を作り上げたことで膨大に散らかっていたデータを教師データとして再定義したりアルゴリズムをこまめに修正しながら精度向上を図ることができた。</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cxnSp>
        <p:nvCxnSpPr>
          <p:cNvPr id="78" name="Straight Arrow Connector 77">
            <a:extLst>
              <a:ext uri="{FF2B5EF4-FFF2-40B4-BE49-F238E27FC236}">
                <a16:creationId xmlns:a16="http://schemas.microsoft.com/office/drawing/2014/main" id="{C832C2C7-47B1-268F-6E3E-F3E42C81CFEE}"/>
              </a:ext>
            </a:extLst>
          </p:cNvPr>
          <p:cNvCxnSpPr>
            <a:cxnSpLocks/>
            <a:stCxn id="75" idx="2"/>
            <a:endCxn id="29" idx="0"/>
          </p:cNvCxnSpPr>
          <p:nvPr/>
        </p:nvCxnSpPr>
        <p:spPr>
          <a:xfrm flipH="1">
            <a:off x="8348793" y="3500431"/>
            <a:ext cx="1023542" cy="457834"/>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362189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D6DC7-4A87-28DD-12CD-A542661F9B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86C0A28-C016-D569-E699-C02869D241E4}"/>
              </a:ext>
            </a:extLst>
          </p:cNvPr>
          <p:cNvSpPr>
            <a:spLocks noGrp="1"/>
          </p:cNvSpPr>
          <p:nvPr>
            <p:ph type="title"/>
          </p:nvPr>
        </p:nvSpPr>
        <p:spPr/>
        <p:txBody>
          <a:bodyPr/>
          <a:lstStyle/>
          <a:p>
            <a:r>
              <a:rPr lang="ja-JP" altLang="en-US" sz="1600" dirty="0">
                <a:solidFill>
                  <a:schemeClr val="accent2"/>
                </a:solidFill>
                <a:latin typeface="Meiryo UI" panose="020B0604030504040204" pitchFamily="50" charset="-128"/>
                <a:ea typeface="Meiryo UI" panose="020B0604030504040204" pitchFamily="50" charset="-128"/>
              </a:rPr>
              <a:t>事例③：医療機器メーカー　試薬販売予測システム</a:t>
            </a:r>
            <a:br>
              <a:rPr lang="en-US" altLang="ja-JP" sz="3600" dirty="0">
                <a:solidFill>
                  <a:schemeClr val="accent2"/>
                </a:solidFill>
                <a:latin typeface="Meiryo UI" panose="020B0604030504040204" pitchFamily="50" charset="-128"/>
                <a:ea typeface="Meiryo UI" panose="020B0604030504040204" pitchFamily="50" charset="-128"/>
              </a:rPr>
            </a:br>
            <a:r>
              <a:rPr lang="ja-JP" altLang="en-US" sz="2400" dirty="0">
                <a:solidFill>
                  <a:schemeClr val="accent2"/>
                </a:solidFill>
                <a:latin typeface="Meiryo UI" panose="020B0604030504040204" pitchFamily="50" charset="-128"/>
                <a:ea typeface="Meiryo UI" panose="020B0604030504040204" pitchFamily="50" charset="-128"/>
              </a:rPr>
              <a:t>推進における課題</a:t>
            </a:r>
          </a:p>
        </p:txBody>
      </p:sp>
      <p:sp>
        <p:nvSpPr>
          <p:cNvPr id="3" name="コンテンツ プレースホルダー 3">
            <a:extLst>
              <a:ext uri="{FF2B5EF4-FFF2-40B4-BE49-F238E27FC236}">
                <a16:creationId xmlns:a16="http://schemas.microsoft.com/office/drawing/2014/main" id="{1CA2E4B7-8E65-45BE-227D-2601F344FB3D}"/>
              </a:ext>
            </a:extLst>
          </p:cNvPr>
          <p:cNvSpPr>
            <a:spLocks noGrp="1"/>
          </p:cNvSpPr>
          <p:nvPr>
            <p:ph sz="quarter" idx="10"/>
          </p:nvPr>
        </p:nvSpPr>
        <p:spPr>
          <a:xfrm>
            <a:off x="388603" y="945178"/>
            <a:ext cx="11448000" cy="746871"/>
          </a:xfrm>
        </p:spPr>
        <p:txBody>
          <a:bodyPr/>
          <a:lstStyle/>
          <a:p>
            <a:r>
              <a:rPr lang="en-US" altLang="ja-JP" dirty="0"/>
              <a:t>MR</a:t>
            </a:r>
            <a:r>
              <a:rPr lang="ja-JP" altLang="en-US" dirty="0"/>
              <a:t>の日報等のデータをクラウド上に貯める習慣が根付いたが、データ量が多すぎるうえ、社内に</a:t>
            </a:r>
            <a:r>
              <a:rPr lang="en-US" altLang="ja-JP" dirty="0"/>
              <a:t>AI</a:t>
            </a:r>
            <a:r>
              <a:rPr lang="ja-JP" altLang="en-US" dirty="0"/>
              <a:t>や機械学習、</a:t>
            </a:r>
            <a:br>
              <a:rPr lang="en-US" altLang="ja-JP" dirty="0"/>
            </a:br>
            <a:r>
              <a:rPr lang="ja-JP" altLang="en-US" dirty="0"/>
              <a:t>データ活用の知見を持つ人材がおらず</a:t>
            </a:r>
            <a:r>
              <a:rPr lang="en-US" altLang="ja-JP" dirty="0"/>
              <a:t>PJ</a:t>
            </a:r>
            <a:r>
              <a:rPr lang="ja-JP" altLang="en-US" dirty="0"/>
              <a:t>の計画すら立てられなかった。</a:t>
            </a:r>
          </a:p>
        </p:txBody>
      </p:sp>
      <p:sp>
        <p:nvSpPr>
          <p:cNvPr id="4" name="Flowchart: Document 2">
            <a:extLst>
              <a:ext uri="{FF2B5EF4-FFF2-40B4-BE49-F238E27FC236}">
                <a16:creationId xmlns:a16="http://schemas.microsoft.com/office/drawing/2014/main" id="{F636FC5F-60E3-6BC5-6DF7-B61D6DB70A60}"/>
              </a:ext>
            </a:extLst>
          </p:cNvPr>
          <p:cNvSpPr/>
          <p:nvPr/>
        </p:nvSpPr>
        <p:spPr>
          <a:xfrm>
            <a:off x="370800" y="1734165"/>
            <a:ext cx="1413614" cy="636173"/>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Arial"/>
                <a:ea typeface="Meiryo UI"/>
                <a:cs typeface="+mn-cs"/>
              </a:rPr>
              <a:t>XX</a:t>
            </a: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事業所</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sp>
        <p:nvSpPr>
          <p:cNvPr id="5" name="Flowchart: Document 2">
            <a:extLst>
              <a:ext uri="{FF2B5EF4-FFF2-40B4-BE49-F238E27FC236}">
                <a16:creationId xmlns:a16="http://schemas.microsoft.com/office/drawing/2014/main" id="{BAF8740B-626A-C3D3-C7EC-EC6E144826B0}"/>
              </a:ext>
            </a:extLst>
          </p:cNvPr>
          <p:cNvSpPr/>
          <p:nvPr/>
        </p:nvSpPr>
        <p:spPr>
          <a:xfrm>
            <a:off x="2043198" y="1734165"/>
            <a:ext cx="1413614" cy="636173"/>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Arial"/>
                <a:ea typeface="Meiryo UI"/>
                <a:cs typeface="+mn-cs"/>
              </a:rPr>
              <a:t>YY</a:t>
            </a: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地区</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cxnSp>
        <p:nvCxnSpPr>
          <p:cNvPr id="13" name="Straight Arrow Connector 12">
            <a:extLst>
              <a:ext uri="{FF2B5EF4-FFF2-40B4-BE49-F238E27FC236}">
                <a16:creationId xmlns:a16="http://schemas.microsoft.com/office/drawing/2014/main" id="{6B790B55-EF49-01DC-4179-A0D8A9188411}"/>
              </a:ext>
            </a:extLst>
          </p:cNvPr>
          <p:cNvCxnSpPr>
            <a:cxnSpLocks/>
            <a:stCxn id="4" idx="3"/>
            <a:endCxn id="5" idx="1"/>
          </p:cNvCxnSpPr>
          <p:nvPr/>
        </p:nvCxnSpPr>
        <p:spPr>
          <a:xfrm>
            <a:off x="1784414" y="2052252"/>
            <a:ext cx="258784"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Flowchart: Document 2">
            <a:extLst>
              <a:ext uri="{FF2B5EF4-FFF2-40B4-BE49-F238E27FC236}">
                <a16:creationId xmlns:a16="http://schemas.microsoft.com/office/drawing/2014/main" id="{C94BA91C-B22F-68A3-D8AA-926DB8DA4935}"/>
              </a:ext>
            </a:extLst>
          </p:cNvPr>
          <p:cNvSpPr/>
          <p:nvPr/>
        </p:nvSpPr>
        <p:spPr>
          <a:xfrm>
            <a:off x="3715596" y="1734165"/>
            <a:ext cx="1413614" cy="636173"/>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Arial"/>
                <a:ea typeface="Meiryo UI"/>
                <a:cs typeface="+mn-cs"/>
              </a:rPr>
              <a:t>MR</a:t>
            </a: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　</a:t>
            </a:r>
            <a:r>
              <a:rPr kumimoji="1" lang="en-US" altLang="ja-JP" sz="1200" b="0" i="0" u="none" strike="noStrike" kern="1200" cap="none" spc="0" normalizeH="0" baseline="0" noProof="0" dirty="0">
                <a:ln>
                  <a:noFill/>
                </a:ln>
                <a:solidFill>
                  <a:srgbClr val="000000"/>
                </a:solidFill>
                <a:effectLst/>
                <a:uLnTx/>
                <a:uFillTx/>
                <a:latin typeface="Arial"/>
                <a:ea typeface="Meiryo UI"/>
                <a:cs typeface="+mn-cs"/>
              </a:rPr>
              <a:t>A</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cxnSp>
        <p:nvCxnSpPr>
          <p:cNvPr id="16" name="Straight Arrow Connector 15">
            <a:extLst>
              <a:ext uri="{FF2B5EF4-FFF2-40B4-BE49-F238E27FC236}">
                <a16:creationId xmlns:a16="http://schemas.microsoft.com/office/drawing/2014/main" id="{2886D3A0-1CBE-EBBF-C85C-707AA64AD012}"/>
              </a:ext>
            </a:extLst>
          </p:cNvPr>
          <p:cNvCxnSpPr>
            <a:cxnSpLocks/>
            <a:stCxn id="5" idx="3"/>
            <a:endCxn id="15" idx="1"/>
          </p:cNvCxnSpPr>
          <p:nvPr/>
        </p:nvCxnSpPr>
        <p:spPr>
          <a:xfrm>
            <a:off x="3456812" y="2052252"/>
            <a:ext cx="258784"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Flowchart: Document 2">
            <a:extLst>
              <a:ext uri="{FF2B5EF4-FFF2-40B4-BE49-F238E27FC236}">
                <a16:creationId xmlns:a16="http://schemas.microsoft.com/office/drawing/2014/main" id="{392A33FB-4B4F-38A5-D2F2-8FBDF18CC68A}"/>
              </a:ext>
            </a:extLst>
          </p:cNvPr>
          <p:cNvSpPr/>
          <p:nvPr/>
        </p:nvSpPr>
        <p:spPr>
          <a:xfrm>
            <a:off x="5387994" y="1734165"/>
            <a:ext cx="1413614" cy="636173"/>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Arial"/>
                <a:ea typeface="Meiryo UI"/>
                <a:cs typeface="+mn-cs"/>
              </a:rPr>
              <a:t>AA</a:t>
            </a: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病院</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cxnSp>
        <p:nvCxnSpPr>
          <p:cNvPr id="22" name="Straight Arrow Connector 21">
            <a:extLst>
              <a:ext uri="{FF2B5EF4-FFF2-40B4-BE49-F238E27FC236}">
                <a16:creationId xmlns:a16="http://schemas.microsoft.com/office/drawing/2014/main" id="{13868E2D-7122-C334-861D-8A6541D9AD51}"/>
              </a:ext>
            </a:extLst>
          </p:cNvPr>
          <p:cNvCxnSpPr>
            <a:cxnSpLocks/>
            <a:stCxn id="15" idx="3"/>
            <a:endCxn id="20" idx="1"/>
          </p:cNvCxnSpPr>
          <p:nvPr/>
        </p:nvCxnSpPr>
        <p:spPr>
          <a:xfrm>
            <a:off x="5129210" y="2052252"/>
            <a:ext cx="258784"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0" name="Flowchart: Document 2">
            <a:extLst>
              <a:ext uri="{FF2B5EF4-FFF2-40B4-BE49-F238E27FC236}">
                <a16:creationId xmlns:a16="http://schemas.microsoft.com/office/drawing/2014/main" id="{23412BB9-2E5E-B1EC-89EB-03F898623FF2}"/>
              </a:ext>
            </a:extLst>
          </p:cNvPr>
          <p:cNvSpPr/>
          <p:nvPr/>
        </p:nvSpPr>
        <p:spPr>
          <a:xfrm>
            <a:off x="7060392" y="1734165"/>
            <a:ext cx="1413614" cy="636173"/>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〇〇先生</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cxnSp>
        <p:nvCxnSpPr>
          <p:cNvPr id="41" name="Straight Arrow Connector 40">
            <a:extLst>
              <a:ext uri="{FF2B5EF4-FFF2-40B4-BE49-F238E27FC236}">
                <a16:creationId xmlns:a16="http://schemas.microsoft.com/office/drawing/2014/main" id="{C5397478-DDA6-7A4F-464B-7E646FCEF931}"/>
              </a:ext>
            </a:extLst>
          </p:cNvPr>
          <p:cNvCxnSpPr>
            <a:cxnSpLocks/>
            <a:stCxn id="20" idx="3"/>
            <a:endCxn id="40" idx="1"/>
          </p:cNvCxnSpPr>
          <p:nvPr/>
        </p:nvCxnSpPr>
        <p:spPr>
          <a:xfrm>
            <a:off x="6801608" y="2052252"/>
            <a:ext cx="258784"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5" name="Flowchart: Document 2">
            <a:extLst>
              <a:ext uri="{FF2B5EF4-FFF2-40B4-BE49-F238E27FC236}">
                <a16:creationId xmlns:a16="http://schemas.microsoft.com/office/drawing/2014/main" id="{B5BC55E5-EA3A-7512-870D-AA533EA72907}"/>
              </a:ext>
            </a:extLst>
          </p:cNvPr>
          <p:cNvSpPr/>
          <p:nvPr/>
        </p:nvSpPr>
        <p:spPr>
          <a:xfrm>
            <a:off x="8732790" y="1734165"/>
            <a:ext cx="1413614" cy="636173"/>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商材</a:t>
            </a:r>
            <a:r>
              <a:rPr kumimoji="1" lang="en-US" altLang="ja-JP" sz="1200" b="0" i="0" u="none" strike="noStrike" kern="1200" cap="none" spc="0" normalizeH="0" baseline="0" noProof="0" dirty="0">
                <a:ln>
                  <a:noFill/>
                </a:ln>
                <a:solidFill>
                  <a:srgbClr val="000000"/>
                </a:solidFill>
                <a:effectLst/>
                <a:uLnTx/>
                <a:uFillTx/>
                <a:latin typeface="Arial"/>
                <a:ea typeface="Meiryo UI"/>
                <a:cs typeface="+mn-cs"/>
              </a:rPr>
              <a:t>A</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sp>
        <p:nvSpPr>
          <p:cNvPr id="46" name="Flowchart: Document 2">
            <a:extLst>
              <a:ext uri="{FF2B5EF4-FFF2-40B4-BE49-F238E27FC236}">
                <a16:creationId xmlns:a16="http://schemas.microsoft.com/office/drawing/2014/main" id="{E14DD1F7-07A3-8CE4-79AA-5C8DE9B70473}"/>
              </a:ext>
            </a:extLst>
          </p:cNvPr>
          <p:cNvSpPr/>
          <p:nvPr/>
        </p:nvSpPr>
        <p:spPr>
          <a:xfrm>
            <a:off x="10405186" y="1734166"/>
            <a:ext cx="1413614" cy="431988"/>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売上予測</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cxnSp>
        <p:nvCxnSpPr>
          <p:cNvPr id="56" name="Straight Arrow Connector 55">
            <a:extLst>
              <a:ext uri="{FF2B5EF4-FFF2-40B4-BE49-F238E27FC236}">
                <a16:creationId xmlns:a16="http://schemas.microsoft.com/office/drawing/2014/main" id="{839CC1D7-7B4F-BB4D-AF9C-FD095528424F}"/>
              </a:ext>
            </a:extLst>
          </p:cNvPr>
          <p:cNvCxnSpPr>
            <a:cxnSpLocks/>
            <a:stCxn id="40" idx="3"/>
            <a:endCxn id="45" idx="1"/>
          </p:cNvCxnSpPr>
          <p:nvPr/>
        </p:nvCxnSpPr>
        <p:spPr>
          <a:xfrm>
            <a:off x="8474006" y="2052252"/>
            <a:ext cx="258784" cy="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3" name="Flowchart: Document 2">
            <a:extLst>
              <a:ext uri="{FF2B5EF4-FFF2-40B4-BE49-F238E27FC236}">
                <a16:creationId xmlns:a16="http://schemas.microsoft.com/office/drawing/2014/main" id="{360FFF2D-7A49-9470-C9C1-5FD2C8210FA9}"/>
              </a:ext>
            </a:extLst>
          </p:cNvPr>
          <p:cNvSpPr/>
          <p:nvPr/>
        </p:nvSpPr>
        <p:spPr>
          <a:xfrm>
            <a:off x="10405186" y="2218141"/>
            <a:ext cx="1413614" cy="431988"/>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売上実績</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sp>
        <p:nvSpPr>
          <p:cNvPr id="64" name="Flowchart: Document 2">
            <a:extLst>
              <a:ext uri="{FF2B5EF4-FFF2-40B4-BE49-F238E27FC236}">
                <a16:creationId xmlns:a16="http://schemas.microsoft.com/office/drawing/2014/main" id="{6CE87C66-9E01-93E7-78E1-E4031837B107}"/>
              </a:ext>
            </a:extLst>
          </p:cNvPr>
          <p:cNvSpPr/>
          <p:nvPr/>
        </p:nvSpPr>
        <p:spPr>
          <a:xfrm>
            <a:off x="10405186" y="2696840"/>
            <a:ext cx="1413614" cy="431988"/>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利益率</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sp>
        <p:nvSpPr>
          <p:cNvPr id="65" name="Flowchart: Document 2">
            <a:extLst>
              <a:ext uri="{FF2B5EF4-FFF2-40B4-BE49-F238E27FC236}">
                <a16:creationId xmlns:a16="http://schemas.microsoft.com/office/drawing/2014/main" id="{327149C2-19A6-53A7-D459-8DC7A82CF47E}"/>
              </a:ext>
            </a:extLst>
          </p:cNvPr>
          <p:cNvSpPr/>
          <p:nvPr/>
        </p:nvSpPr>
        <p:spPr>
          <a:xfrm>
            <a:off x="10405186" y="3175539"/>
            <a:ext cx="1413614" cy="431988"/>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販売量</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cxnSp>
        <p:nvCxnSpPr>
          <p:cNvPr id="72" name="Connector: Elbow 71">
            <a:extLst>
              <a:ext uri="{FF2B5EF4-FFF2-40B4-BE49-F238E27FC236}">
                <a16:creationId xmlns:a16="http://schemas.microsoft.com/office/drawing/2014/main" id="{A3CC3234-A3D2-B3A3-B191-D732CE83AEBF}"/>
              </a:ext>
            </a:extLst>
          </p:cNvPr>
          <p:cNvCxnSpPr>
            <a:cxnSpLocks/>
            <a:stCxn id="45" idx="3"/>
            <a:endCxn id="63" idx="1"/>
          </p:cNvCxnSpPr>
          <p:nvPr/>
        </p:nvCxnSpPr>
        <p:spPr>
          <a:xfrm>
            <a:off x="10146404" y="2052252"/>
            <a:ext cx="258782" cy="381883"/>
          </a:xfrm>
          <a:prstGeom prst="bentConnector3">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3" name="Connector: Elbow 72">
            <a:extLst>
              <a:ext uri="{FF2B5EF4-FFF2-40B4-BE49-F238E27FC236}">
                <a16:creationId xmlns:a16="http://schemas.microsoft.com/office/drawing/2014/main" id="{5F80104A-6A2B-E3D6-A296-5BE8935AA0F9}"/>
              </a:ext>
            </a:extLst>
          </p:cNvPr>
          <p:cNvCxnSpPr>
            <a:cxnSpLocks/>
            <a:stCxn id="45" idx="3"/>
            <a:endCxn id="64" idx="1"/>
          </p:cNvCxnSpPr>
          <p:nvPr/>
        </p:nvCxnSpPr>
        <p:spPr>
          <a:xfrm>
            <a:off x="10146404" y="2052252"/>
            <a:ext cx="258782" cy="860582"/>
          </a:xfrm>
          <a:prstGeom prst="bentConnector3">
            <a:avLst>
              <a:gd name="adj1" fmla="val 50000"/>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6" name="Connector: Elbow 75">
            <a:extLst>
              <a:ext uri="{FF2B5EF4-FFF2-40B4-BE49-F238E27FC236}">
                <a16:creationId xmlns:a16="http://schemas.microsoft.com/office/drawing/2014/main" id="{E5E539EB-E21D-BBC9-4DEF-699DD61F6D4C}"/>
              </a:ext>
            </a:extLst>
          </p:cNvPr>
          <p:cNvCxnSpPr>
            <a:cxnSpLocks/>
            <a:stCxn id="45" idx="3"/>
            <a:endCxn id="65" idx="1"/>
          </p:cNvCxnSpPr>
          <p:nvPr/>
        </p:nvCxnSpPr>
        <p:spPr>
          <a:xfrm>
            <a:off x="10146404" y="2052252"/>
            <a:ext cx="258782" cy="1339281"/>
          </a:xfrm>
          <a:prstGeom prst="bentConnector3">
            <a:avLst>
              <a:gd name="adj1" fmla="val 50000"/>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5" name="Flowchart: Document 2">
            <a:extLst>
              <a:ext uri="{FF2B5EF4-FFF2-40B4-BE49-F238E27FC236}">
                <a16:creationId xmlns:a16="http://schemas.microsoft.com/office/drawing/2014/main" id="{CE3E54EE-7BA3-8A71-82EE-F30F34DAC6A2}"/>
              </a:ext>
            </a:extLst>
          </p:cNvPr>
          <p:cNvSpPr/>
          <p:nvPr/>
        </p:nvSpPr>
        <p:spPr>
          <a:xfrm>
            <a:off x="7060392" y="3314389"/>
            <a:ext cx="1413614" cy="636173"/>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Arial"/>
                <a:ea typeface="Meiryo UI"/>
                <a:cs typeface="+mn-cs"/>
              </a:rPr>
              <a:t>XX</a:t>
            </a: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先生</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sp>
        <p:nvSpPr>
          <p:cNvPr id="91" name="Flowchart: Document 2">
            <a:extLst>
              <a:ext uri="{FF2B5EF4-FFF2-40B4-BE49-F238E27FC236}">
                <a16:creationId xmlns:a16="http://schemas.microsoft.com/office/drawing/2014/main" id="{B6955299-A38E-04F0-7E70-ED64E67A5734}"/>
              </a:ext>
            </a:extLst>
          </p:cNvPr>
          <p:cNvSpPr/>
          <p:nvPr/>
        </p:nvSpPr>
        <p:spPr>
          <a:xfrm>
            <a:off x="8732790" y="3512595"/>
            <a:ext cx="1413614" cy="636173"/>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商材</a:t>
            </a:r>
            <a:r>
              <a:rPr kumimoji="1" lang="en-US" altLang="ja-JP" sz="1200" b="0" i="0" u="none" strike="noStrike" kern="1200" cap="none" spc="0" normalizeH="0" baseline="0" noProof="0" dirty="0">
                <a:ln>
                  <a:noFill/>
                </a:ln>
                <a:solidFill>
                  <a:srgbClr val="000000"/>
                </a:solidFill>
                <a:effectLst/>
                <a:uLnTx/>
                <a:uFillTx/>
                <a:latin typeface="Arial"/>
                <a:ea typeface="Meiryo UI"/>
                <a:cs typeface="+mn-cs"/>
              </a:rPr>
              <a:t>B</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cxnSp>
        <p:nvCxnSpPr>
          <p:cNvPr id="96" name="Connector: Elbow 95">
            <a:extLst>
              <a:ext uri="{FF2B5EF4-FFF2-40B4-BE49-F238E27FC236}">
                <a16:creationId xmlns:a16="http://schemas.microsoft.com/office/drawing/2014/main" id="{B2D591D7-4A48-5BFA-D70C-C0FDB1C2A0AE}"/>
              </a:ext>
            </a:extLst>
          </p:cNvPr>
          <p:cNvCxnSpPr>
            <a:cxnSpLocks/>
            <a:stCxn id="45" idx="3"/>
            <a:endCxn id="46" idx="1"/>
          </p:cNvCxnSpPr>
          <p:nvPr/>
        </p:nvCxnSpPr>
        <p:spPr>
          <a:xfrm flipV="1">
            <a:off x="10146404" y="1950160"/>
            <a:ext cx="258782" cy="102092"/>
          </a:xfrm>
          <a:prstGeom prst="bentConnector3">
            <a:avLst>
              <a:gd name="adj1" fmla="val 50000"/>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2" name="TextBox 90">
            <a:extLst>
              <a:ext uri="{FF2B5EF4-FFF2-40B4-BE49-F238E27FC236}">
                <a16:creationId xmlns:a16="http://schemas.microsoft.com/office/drawing/2014/main" id="{79839878-65C1-4675-6AA8-3A30AC7EC80B}"/>
              </a:ext>
            </a:extLst>
          </p:cNvPr>
          <p:cNvSpPr txBox="1"/>
          <p:nvPr/>
        </p:nvSpPr>
        <p:spPr>
          <a:xfrm>
            <a:off x="10654793" y="3571258"/>
            <a:ext cx="914400" cy="507376"/>
          </a:xfrm>
          <a:prstGeom prst="rect">
            <a:avLst/>
          </a:prstGeom>
        </p:spPr>
        <p:txBody>
          <a:bodyPr vert="eaVert" wrap="none" lIns="0" rIns="0" rtlCol="0" anchor="ctr">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sz="1200" b="0" i="0" u="none" strike="noStrike" kern="1200" cap="none" spc="0" normalizeH="0" baseline="0" noProof="0" dirty="0">
              <a:ln>
                <a:noFill/>
              </a:ln>
              <a:solidFill>
                <a:srgbClr val="000000"/>
              </a:solidFill>
              <a:effectLst/>
              <a:uLnTx/>
              <a:uFillTx/>
              <a:latin typeface="Meiryo UI"/>
              <a:ea typeface="Meiryo UI"/>
              <a:cs typeface="+mn-cs"/>
            </a:endParaRPr>
          </a:p>
        </p:txBody>
      </p:sp>
      <p:cxnSp>
        <p:nvCxnSpPr>
          <p:cNvPr id="103" name="Connector: Elbow 102">
            <a:extLst>
              <a:ext uri="{FF2B5EF4-FFF2-40B4-BE49-F238E27FC236}">
                <a16:creationId xmlns:a16="http://schemas.microsoft.com/office/drawing/2014/main" id="{C3F3A4B0-06D0-9617-71B4-7E2D48B376B0}"/>
              </a:ext>
            </a:extLst>
          </p:cNvPr>
          <p:cNvCxnSpPr>
            <a:cxnSpLocks/>
            <a:stCxn id="20" idx="3"/>
            <a:endCxn id="85" idx="1"/>
          </p:cNvCxnSpPr>
          <p:nvPr/>
        </p:nvCxnSpPr>
        <p:spPr>
          <a:xfrm>
            <a:off x="6801608" y="2052252"/>
            <a:ext cx="258784" cy="1580224"/>
          </a:xfrm>
          <a:prstGeom prst="bentConnector3">
            <a:avLst>
              <a:gd name="adj1" fmla="val 50000"/>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6" name="Connector: Elbow 105">
            <a:extLst>
              <a:ext uri="{FF2B5EF4-FFF2-40B4-BE49-F238E27FC236}">
                <a16:creationId xmlns:a16="http://schemas.microsoft.com/office/drawing/2014/main" id="{EC31AF1F-7AC4-EBA5-C5D0-57450F3A98B7}"/>
              </a:ext>
            </a:extLst>
          </p:cNvPr>
          <p:cNvCxnSpPr>
            <a:cxnSpLocks/>
            <a:stCxn id="85" idx="3"/>
            <a:endCxn id="45" idx="1"/>
          </p:cNvCxnSpPr>
          <p:nvPr/>
        </p:nvCxnSpPr>
        <p:spPr>
          <a:xfrm flipV="1">
            <a:off x="8474006" y="2052252"/>
            <a:ext cx="258784" cy="1580224"/>
          </a:xfrm>
          <a:prstGeom prst="bentConnector3">
            <a:avLst>
              <a:gd name="adj1" fmla="val 50000"/>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9" name="Connector: Elbow 108">
            <a:extLst>
              <a:ext uri="{FF2B5EF4-FFF2-40B4-BE49-F238E27FC236}">
                <a16:creationId xmlns:a16="http://schemas.microsoft.com/office/drawing/2014/main" id="{9FC079CD-6191-398D-66F3-82397BBEA9D0}"/>
              </a:ext>
            </a:extLst>
          </p:cNvPr>
          <p:cNvCxnSpPr>
            <a:cxnSpLocks/>
            <a:stCxn id="85" idx="3"/>
            <a:endCxn id="91" idx="1"/>
          </p:cNvCxnSpPr>
          <p:nvPr/>
        </p:nvCxnSpPr>
        <p:spPr>
          <a:xfrm>
            <a:off x="8474006" y="3632476"/>
            <a:ext cx="258784" cy="198206"/>
          </a:xfrm>
          <a:prstGeom prst="bentConnector3">
            <a:avLst>
              <a:gd name="adj1" fmla="val 50000"/>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3" name="TextBox 90">
            <a:extLst>
              <a:ext uri="{FF2B5EF4-FFF2-40B4-BE49-F238E27FC236}">
                <a16:creationId xmlns:a16="http://schemas.microsoft.com/office/drawing/2014/main" id="{B6931ACB-A771-BC60-37B6-AB12DEFFA0AB}"/>
              </a:ext>
            </a:extLst>
          </p:cNvPr>
          <p:cNvSpPr txBox="1"/>
          <p:nvPr/>
        </p:nvSpPr>
        <p:spPr>
          <a:xfrm>
            <a:off x="8982397" y="4123644"/>
            <a:ext cx="914400" cy="507376"/>
          </a:xfrm>
          <a:prstGeom prst="rect">
            <a:avLst/>
          </a:prstGeom>
        </p:spPr>
        <p:txBody>
          <a:bodyPr vert="eaVert" wrap="none" lIns="0" rIns="0" rtlCol="0" anchor="ctr">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sz="1200" b="0" i="0" u="none" strike="noStrike" kern="1200" cap="none" spc="0" normalizeH="0" baseline="0" noProof="0" dirty="0">
              <a:ln>
                <a:noFill/>
              </a:ln>
              <a:solidFill>
                <a:srgbClr val="000000"/>
              </a:solidFill>
              <a:effectLst/>
              <a:uLnTx/>
              <a:uFillTx/>
              <a:latin typeface="Meiryo UI"/>
              <a:ea typeface="Meiryo UI"/>
              <a:cs typeface="+mn-cs"/>
            </a:endParaRPr>
          </a:p>
        </p:txBody>
      </p:sp>
      <p:sp>
        <p:nvSpPr>
          <p:cNvPr id="115" name="Flowchart: Document 2">
            <a:extLst>
              <a:ext uri="{FF2B5EF4-FFF2-40B4-BE49-F238E27FC236}">
                <a16:creationId xmlns:a16="http://schemas.microsoft.com/office/drawing/2014/main" id="{E6FD7BD6-9B1E-FB43-9BEE-D30F5FBDA54C}"/>
              </a:ext>
            </a:extLst>
          </p:cNvPr>
          <p:cNvSpPr/>
          <p:nvPr/>
        </p:nvSpPr>
        <p:spPr>
          <a:xfrm>
            <a:off x="7303392" y="2522199"/>
            <a:ext cx="1186395" cy="431988"/>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Arial"/>
                <a:ea typeface="Meiryo UI"/>
                <a:cs typeface="+mn-cs"/>
              </a:rPr>
              <a:t>X</a:t>
            </a: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月</a:t>
            </a:r>
            <a:r>
              <a:rPr kumimoji="1" lang="en-US" altLang="ja-JP" sz="1200" b="0" i="0" u="none" strike="noStrike" kern="1200" cap="none" spc="0" normalizeH="0" baseline="0" noProof="0" dirty="0">
                <a:ln>
                  <a:noFill/>
                </a:ln>
                <a:solidFill>
                  <a:srgbClr val="000000"/>
                </a:solidFill>
                <a:effectLst/>
                <a:uLnTx/>
                <a:uFillTx/>
                <a:latin typeface="Arial"/>
                <a:ea typeface="Meiryo UI"/>
                <a:cs typeface="+mn-cs"/>
              </a:rPr>
              <a:t>X</a:t>
            </a: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日</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cxnSp>
        <p:nvCxnSpPr>
          <p:cNvPr id="117" name="Connector: Elbow 116">
            <a:extLst>
              <a:ext uri="{FF2B5EF4-FFF2-40B4-BE49-F238E27FC236}">
                <a16:creationId xmlns:a16="http://schemas.microsoft.com/office/drawing/2014/main" id="{8ED67930-D763-F4B3-9AEE-B6CECB2BA3BB}"/>
              </a:ext>
            </a:extLst>
          </p:cNvPr>
          <p:cNvCxnSpPr>
            <a:stCxn id="40" idx="2"/>
            <a:endCxn id="115" idx="1"/>
          </p:cNvCxnSpPr>
          <p:nvPr/>
        </p:nvCxnSpPr>
        <p:spPr>
          <a:xfrm rot="5400000">
            <a:off x="7330340" y="2301333"/>
            <a:ext cx="409913" cy="463807"/>
          </a:xfrm>
          <a:prstGeom prst="bentConnector4">
            <a:avLst>
              <a:gd name="adj1" fmla="val 18523"/>
              <a:gd name="adj2" fmla="val 149288"/>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2" name="Flowchart: Document 2">
            <a:extLst>
              <a:ext uri="{FF2B5EF4-FFF2-40B4-BE49-F238E27FC236}">
                <a16:creationId xmlns:a16="http://schemas.microsoft.com/office/drawing/2014/main" id="{D920A36E-F8CA-E3C4-96E2-96500E675C92}"/>
              </a:ext>
            </a:extLst>
          </p:cNvPr>
          <p:cNvSpPr/>
          <p:nvPr/>
        </p:nvSpPr>
        <p:spPr>
          <a:xfrm>
            <a:off x="5387994" y="3971979"/>
            <a:ext cx="1413614" cy="636173"/>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Arial"/>
                <a:ea typeface="Meiryo UI"/>
                <a:cs typeface="+mn-cs"/>
              </a:rPr>
              <a:t>BB</a:t>
            </a: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病院</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sp>
        <p:nvSpPr>
          <p:cNvPr id="123" name="TextBox 90">
            <a:extLst>
              <a:ext uri="{FF2B5EF4-FFF2-40B4-BE49-F238E27FC236}">
                <a16:creationId xmlns:a16="http://schemas.microsoft.com/office/drawing/2014/main" id="{3673A377-4F13-4E07-1D1B-AB74493EA199}"/>
              </a:ext>
            </a:extLst>
          </p:cNvPr>
          <p:cNvSpPr txBox="1"/>
          <p:nvPr/>
        </p:nvSpPr>
        <p:spPr>
          <a:xfrm>
            <a:off x="7310465" y="3931460"/>
            <a:ext cx="914400" cy="507376"/>
          </a:xfrm>
          <a:prstGeom prst="rect">
            <a:avLst/>
          </a:prstGeom>
        </p:spPr>
        <p:txBody>
          <a:bodyPr vert="eaVert" wrap="none" lIns="0" rIns="0" rtlCol="0" anchor="ctr">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sz="1200" b="0" i="0" u="none" strike="noStrike" kern="1200" cap="none" spc="0" normalizeH="0" baseline="0" noProof="0" dirty="0">
              <a:ln>
                <a:noFill/>
              </a:ln>
              <a:solidFill>
                <a:srgbClr val="000000"/>
              </a:solidFill>
              <a:effectLst/>
              <a:uLnTx/>
              <a:uFillTx/>
              <a:latin typeface="Meiryo UI"/>
              <a:ea typeface="Meiryo UI"/>
              <a:cs typeface="+mn-cs"/>
            </a:endParaRPr>
          </a:p>
        </p:txBody>
      </p:sp>
      <p:cxnSp>
        <p:nvCxnSpPr>
          <p:cNvPr id="124" name="Connector: Elbow 123">
            <a:extLst>
              <a:ext uri="{FF2B5EF4-FFF2-40B4-BE49-F238E27FC236}">
                <a16:creationId xmlns:a16="http://schemas.microsoft.com/office/drawing/2014/main" id="{F66F6A59-15AF-5913-DE26-31947513AC5B}"/>
              </a:ext>
            </a:extLst>
          </p:cNvPr>
          <p:cNvCxnSpPr>
            <a:cxnSpLocks/>
            <a:stCxn id="15" idx="3"/>
            <a:endCxn id="122" idx="1"/>
          </p:cNvCxnSpPr>
          <p:nvPr/>
        </p:nvCxnSpPr>
        <p:spPr>
          <a:xfrm>
            <a:off x="5129210" y="2052252"/>
            <a:ext cx="258784" cy="2237814"/>
          </a:xfrm>
          <a:prstGeom prst="bentConnector3">
            <a:avLst>
              <a:gd name="adj1" fmla="val 50000"/>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9" name="Flowchart: Document 2">
            <a:extLst>
              <a:ext uri="{FF2B5EF4-FFF2-40B4-BE49-F238E27FC236}">
                <a16:creationId xmlns:a16="http://schemas.microsoft.com/office/drawing/2014/main" id="{92EA8F98-13D8-8A48-BDFD-415E84B56BC9}"/>
              </a:ext>
            </a:extLst>
          </p:cNvPr>
          <p:cNvSpPr/>
          <p:nvPr/>
        </p:nvSpPr>
        <p:spPr>
          <a:xfrm>
            <a:off x="5387994" y="4728940"/>
            <a:ext cx="1413614" cy="636173"/>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Arial"/>
                <a:ea typeface="Meiryo UI"/>
                <a:cs typeface="+mn-cs"/>
              </a:rPr>
              <a:t>CC</a:t>
            </a: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病院</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cxnSp>
        <p:nvCxnSpPr>
          <p:cNvPr id="130" name="Connector: Elbow 129">
            <a:extLst>
              <a:ext uri="{FF2B5EF4-FFF2-40B4-BE49-F238E27FC236}">
                <a16:creationId xmlns:a16="http://schemas.microsoft.com/office/drawing/2014/main" id="{D50C5F16-4267-E514-0C3C-B4559787C0E1}"/>
              </a:ext>
            </a:extLst>
          </p:cNvPr>
          <p:cNvCxnSpPr>
            <a:cxnSpLocks/>
            <a:stCxn id="15" idx="3"/>
            <a:endCxn id="129" idx="1"/>
          </p:cNvCxnSpPr>
          <p:nvPr/>
        </p:nvCxnSpPr>
        <p:spPr>
          <a:xfrm>
            <a:off x="5129210" y="2052252"/>
            <a:ext cx="258784" cy="2994775"/>
          </a:xfrm>
          <a:prstGeom prst="bentConnector3">
            <a:avLst>
              <a:gd name="adj1" fmla="val 50000"/>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3" name="TextBox 90">
            <a:extLst>
              <a:ext uri="{FF2B5EF4-FFF2-40B4-BE49-F238E27FC236}">
                <a16:creationId xmlns:a16="http://schemas.microsoft.com/office/drawing/2014/main" id="{90D42665-2CEB-276B-4F3F-1DAFB7BFA34F}"/>
              </a:ext>
            </a:extLst>
          </p:cNvPr>
          <p:cNvSpPr txBox="1"/>
          <p:nvPr/>
        </p:nvSpPr>
        <p:spPr>
          <a:xfrm>
            <a:off x="5637600" y="5365113"/>
            <a:ext cx="914400" cy="507376"/>
          </a:xfrm>
          <a:prstGeom prst="rect">
            <a:avLst/>
          </a:prstGeom>
        </p:spPr>
        <p:txBody>
          <a:bodyPr vert="eaVert" wrap="none" lIns="0" rIns="0" rtlCol="0" anchor="ctr">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sz="1200" b="0" i="0" u="none" strike="noStrike" kern="1200" cap="none" spc="0" normalizeH="0" baseline="0" noProof="0" dirty="0">
              <a:ln>
                <a:noFill/>
              </a:ln>
              <a:solidFill>
                <a:srgbClr val="000000"/>
              </a:solidFill>
              <a:effectLst/>
              <a:uLnTx/>
              <a:uFillTx/>
              <a:latin typeface="Meiryo UI"/>
              <a:ea typeface="Meiryo UI"/>
              <a:cs typeface="+mn-cs"/>
            </a:endParaRPr>
          </a:p>
        </p:txBody>
      </p:sp>
      <p:sp>
        <p:nvSpPr>
          <p:cNvPr id="142" name="Flowchart: Document 2">
            <a:extLst>
              <a:ext uri="{FF2B5EF4-FFF2-40B4-BE49-F238E27FC236}">
                <a16:creationId xmlns:a16="http://schemas.microsoft.com/office/drawing/2014/main" id="{60AFECBB-A0CE-8D7A-CA6E-44B42A895C6D}"/>
              </a:ext>
            </a:extLst>
          </p:cNvPr>
          <p:cNvSpPr/>
          <p:nvPr/>
        </p:nvSpPr>
        <p:spPr>
          <a:xfrm>
            <a:off x="3715596" y="5573206"/>
            <a:ext cx="1413614" cy="636173"/>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Arial"/>
                <a:ea typeface="Meiryo UI"/>
                <a:cs typeface="+mn-cs"/>
              </a:rPr>
              <a:t>MR</a:t>
            </a: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　</a:t>
            </a:r>
            <a:r>
              <a:rPr kumimoji="1" lang="en-US" altLang="ja-JP" sz="1200" b="0" i="0" u="none" strike="noStrike" kern="1200" cap="none" spc="0" normalizeH="0" baseline="0" noProof="0" dirty="0">
                <a:ln>
                  <a:noFill/>
                </a:ln>
                <a:solidFill>
                  <a:srgbClr val="000000"/>
                </a:solidFill>
                <a:effectLst/>
                <a:uLnTx/>
                <a:uFillTx/>
                <a:latin typeface="Arial"/>
                <a:ea typeface="Meiryo UI"/>
                <a:cs typeface="+mn-cs"/>
              </a:rPr>
              <a:t>B</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cxnSp>
        <p:nvCxnSpPr>
          <p:cNvPr id="143" name="Connector: Elbow 142">
            <a:extLst>
              <a:ext uri="{FF2B5EF4-FFF2-40B4-BE49-F238E27FC236}">
                <a16:creationId xmlns:a16="http://schemas.microsoft.com/office/drawing/2014/main" id="{C21C8939-4C36-66F0-CE66-CE7397C07183}"/>
              </a:ext>
            </a:extLst>
          </p:cNvPr>
          <p:cNvCxnSpPr>
            <a:cxnSpLocks/>
            <a:stCxn id="5" idx="3"/>
            <a:endCxn id="142" idx="1"/>
          </p:cNvCxnSpPr>
          <p:nvPr/>
        </p:nvCxnSpPr>
        <p:spPr>
          <a:xfrm>
            <a:off x="3456812" y="2052252"/>
            <a:ext cx="258784" cy="3839041"/>
          </a:xfrm>
          <a:prstGeom prst="bentConnector3">
            <a:avLst>
              <a:gd name="adj1" fmla="val 50000"/>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7" name="Flowchart: Document 2">
            <a:extLst>
              <a:ext uri="{FF2B5EF4-FFF2-40B4-BE49-F238E27FC236}">
                <a16:creationId xmlns:a16="http://schemas.microsoft.com/office/drawing/2014/main" id="{F5D0A743-E02B-8900-8313-1C20898D9CE8}"/>
              </a:ext>
            </a:extLst>
          </p:cNvPr>
          <p:cNvSpPr/>
          <p:nvPr/>
        </p:nvSpPr>
        <p:spPr>
          <a:xfrm>
            <a:off x="5646776" y="2479320"/>
            <a:ext cx="1186395" cy="329892"/>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収益率</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sp>
        <p:nvSpPr>
          <p:cNvPr id="148" name="Flowchart: Document 2">
            <a:extLst>
              <a:ext uri="{FF2B5EF4-FFF2-40B4-BE49-F238E27FC236}">
                <a16:creationId xmlns:a16="http://schemas.microsoft.com/office/drawing/2014/main" id="{8670BF21-2156-C2E4-579C-05AC05F38393}"/>
              </a:ext>
            </a:extLst>
          </p:cNvPr>
          <p:cNvSpPr/>
          <p:nvPr/>
        </p:nvSpPr>
        <p:spPr>
          <a:xfrm>
            <a:off x="5646776" y="2869972"/>
            <a:ext cx="1186395" cy="329892"/>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リピート率</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sp>
        <p:nvSpPr>
          <p:cNvPr id="149" name="Flowchart: Document 2">
            <a:extLst>
              <a:ext uri="{FF2B5EF4-FFF2-40B4-BE49-F238E27FC236}">
                <a16:creationId xmlns:a16="http://schemas.microsoft.com/office/drawing/2014/main" id="{74D1E024-2FF4-5E22-82DD-D7F2F934FC6C}"/>
              </a:ext>
            </a:extLst>
          </p:cNvPr>
          <p:cNvSpPr/>
          <p:nvPr/>
        </p:nvSpPr>
        <p:spPr>
          <a:xfrm>
            <a:off x="5646776" y="3264054"/>
            <a:ext cx="1186395" cy="329892"/>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動向・傾向</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cxnSp>
        <p:nvCxnSpPr>
          <p:cNvPr id="150" name="Connector: Elbow 149">
            <a:extLst>
              <a:ext uri="{FF2B5EF4-FFF2-40B4-BE49-F238E27FC236}">
                <a16:creationId xmlns:a16="http://schemas.microsoft.com/office/drawing/2014/main" id="{F047D714-FFE8-49E0-0290-1F7D57208484}"/>
              </a:ext>
            </a:extLst>
          </p:cNvPr>
          <p:cNvCxnSpPr>
            <a:cxnSpLocks/>
            <a:stCxn id="20" idx="2"/>
            <a:endCxn id="147" idx="1"/>
          </p:cNvCxnSpPr>
          <p:nvPr/>
        </p:nvCxnSpPr>
        <p:spPr>
          <a:xfrm rot="5400000">
            <a:off x="5712796" y="2262261"/>
            <a:ext cx="315986" cy="448025"/>
          </a:xfrm>
          <a:prstGeom prst="bentConnector4">
            <a:avLst>
              <a:gd name="adj1" fmla="val 17245"/>
              <a:gd name="adj2" fmla="val 151024"/>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3" name="Connector: Elbow 152">
            <a:extLst>
              <a:ext uri="{FF2B5EF4-FFF2-40B4-BE49-F238E27FC236}">
                <a16:creationId xmlns:a16="http://schemas.microsoft.com/office/drawing/2014/main" id="{E8DC7953-8D01-2217-2F8B-69BA635A31D7}"/>
              </a:ext>
            </a:extLst>
          </p:cNvPr>
          <p:cNvCxnSpPr>
            <a:cxnSpLocks/>
            <a:stCxn id="20" idx="2"/>
            <a:endCxn id="148" idx="1"/>
          </p:cNvCxnSpPr>
          <p:nvPr/>
        </p:nvCxnSpPr>
        <p:spPr>
          <a:xfrm rot="5400000">
            <a:off x="5517470" y="2457587"/>
            <a:ext cx="706638" cy="448025"/>
          </a:xfrm>
          <a:prstGeom prst="bentConnector4">
            <a:avLst>
              <a:gd name="adj1" fmla="val 7714"/>
              <a:gd name="adj2" fmla="val 151024"/>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8" name="Connector: Elbow 157">
            <a:extLst>
              <a:ext uri="{FF2B5EF4-FFF2-40B4-BE49-F238E27FC236}">
                <a16:creationId xmlns:a16="http://schemas.microsoft.com/office/drawing/2014/main" id="{CEA174B1-13AF-53C6-3E83-B5192017BA46}"/>
              </a:ext>
            </a:extLst>
          </p:cNvPr>
          <p:cNvCxnSpPr>
            <a:cxnSpLocks/>
            <a:stCxn id="20" idx="2"/>
            <a:endCxn id="149" idx="1"/>
          </p:cNvCxnSpPr>
          <p:nvPr/>
        </p:nvCxnSpPr>
        <p:spPr>
          <a:xfrm rot="5400000">
            <a:off x="5320429" y="2654628"/>
            <a:ext cx="1100720" cy="448025"/>
          </a:xfrm>
          <a:prstGeom prst="bentConnector4">
            <a:avLst>
              <a:gd name="adj1" fmla="val 5109"/>
              <a:gd name="adj2" fmla="val 151024"/>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62" name="TextBox 90">
            <a:extLst>
              <a:ext uri="{FF2B5EF4-FFF2-40B4-BE49-F238E27FC236}">
                <a16:creationId xmlns:a16="http://schemas.microsoft.com/office/drawing/2014/main" id="{FF05F1B6-4679-1C6E-57A3-C81BCDA7DCEE}"/>
              </a:ext>
            </a:extLst>
          </p:cNvPr>
          <p:cNvSpPr txBox="1"/>
          <p:nvPr/>
        </p:nvSpPr>
        <p:spPr>
          <a:xfrm>
            <a:off x="5782773" y="3477891"/>
            <a:ext cx="914400" cy="507376"/>
          </a:xfrm>
          <a:prstGeom prst="rect">
            <a:avLst/>
          </a:prstGeom>
        </p:spPr>
        <p:txBody>
          <a:bodyPr vert="eaVert" wrap="none" lIns="0" rIns="0" rtlCol="0" anchor="ctr">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dirty="0">
                <a:ln>
                  <a:noFill/>
                </a:ln>
                <a:solidFill>
                  <a:srgbClr val="000000"/>
                </a:solidFill>
                <a:effectLst/>
                <a:uLnTx/>
                <a:uFillTx/>
                <a:latin typeface="Meiryo UI"/>
                <a:ea typeface="Meiryo UI"/>
                <a:cs typeface="+mn-cs"/>
              </a:rPr>
              <a:t>・・・</a:t>
            </a:r>
            <a:endParaRPr kumimoji="1" lang="en-US" sz="800" b="1" i="0" u="none" strike="noStrike" kern="1200" cap="none" spc="0" normalizeH="0" baseline="0" noProof="0" dirty="0">
              <a:ln>
                <a:noFill/>
              </a:ln>
              <a:solidFill>
                <a:srgbClr val="000000"/>
              </a:solidFill>
              <a:effectLst/>
              <a:uLnTx/>
              <a:uFillTx/>
              <a:latin typeface="Meiryo UI"/>
              <a:ea typeface="Meiryo UI"/>
              <a:cs typeface="+mn-cs"/>
            </a:endParaRPr>
          </a:p>
        </p:txBody>
      </p:sp>
      <p:sp>
        <p:nvSpPr>
          <p:cNvPr id="165" name="Flowchart: Document 2">
            <a:extLst>
              <a:ext uri="{FF2B5EF4-FFF2-40B4-BE49-F238E27FC236}">
                <a16:creationId xmlns:a16="http://schemas.microsoft.com/office/drawing/2014/main" id="{327BD66C-236C-65B0-495B-DCADCE469414}"/>
              </a:ext>
            </a:extLst>
          </p:cNvPr>
          <p:cNvSpPr/>
          <p:nvPr/>
        </p:nvSpPr>
        <p:spPr>
          <a:xfrm>
            <a:off x="4009872" y="2479320"/>
            <a:ext cx="1186395" cy="329892"/>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クローズ率</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sp>
        <p:nvSpPr>
          <p:cNvPr id="166" name="Flowchart: Document 2">
            <a:extLst>
              <a:ext uri="{FF2B5EF4-FFF2-40B4-BE49-F238E27FC236}">
                <a16:creationId xmlns:a16="http://schemas.microsoft.com/office/drawing/2014/main" id="{8DB2CC86-09DE-6828-7CB7-E27A9ACC2C7E}"/>
              </a:ext>
            </a:extLst>
          </p:cNvPr>
          <p:cNvSpPr/>
          <p:nvPr/>
        </p:nvSpPr>
        <p:spPr>
          <a:xfrm>
            <a:off x="4009872" y="2869972"/>
            <a:ext cx="1186395" cy="329892"/>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クローズ期間</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cxnSp>
        <p:nvCxnSpPr>
          <p:cNvPr id="167" name="Connector: Elbow 166">
            <a:extLst>
              <a:ext uri="{FF2B5EF4-FFF2-40B4-BE49-F238E27FC236}">
                <a16:creationId xmlns:a16="http://schemas.microsoft.com/office/drawing/2014/main" id="{1944CFE1-3634-AD9A-202D-C9917D0AD114}"/>
              </a:ext>
            </a:extLst>
          </p:cNvPr>
          <p:cNvCxnSpPr>
            <a:cxnSpLocks/>
            <a:stCxn id="15" idx="2"/>
            <a:endCxn id="165" idx="1"/>
          </p:cNvCxnSpPr>
          <p:nvPr/>
        </p:nvCxnSpPr>
        <p:spPr>
          <a:xfrm rot="5400000">
            <a:off x="4058145" y="2280008"/>
            <a:ext cx="315986" cy="412531"/>
          </a:xfrm>
          <a:prstGeom prst="bentConnector4">
            <a:avLst>
              <a:gd name="adj1" fmla="val 17245"/>
              <a:gd name="adj2" fmla="val 155414"/>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0" name="Connector: Elbow 169">
            <a:extLst>
              <a:ext uri="{FF2B5EF4-FFF2-40B4-BE49-F238E27FC236}">
                <a16:creationId xmlns:a16="http://schemas.microsoft.com/office/drawing/2014/main" id="{EEF30C9A-E156-6950-B68D-EBB2A3D4977F}"/>
              </a:ext>
            </a:extLst>
          </p:cNvPr>
          <p:cNvCxnSpPr>
            <a:cxnSpLocks/>
            <a:stCxn id="15" idx="2"/>
            <a:endCxn id="166" idx="1"/>
          </p:cNvCxnSpPr>
          <p:nvPr/>
        </p:nvCxnSpPr>
        <p:spPr>
          <a:xfrm rot="5400000">
            <a:off x="3862819" y="2475334"/>
            <a:ext cx="706638" cy="412531"/>
          </a:xfrm>
          <a:prstGeom prst="bentConnector4">
            <a:avLst>
              <a:gd name="adj1" fmla="val 7714"/>
              <a:gd name="adj2" fmla="val 155414"/>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75" name="Flowchart: Document 2">
            <a:extLst>
              <a:ext uri="{FF2B5EF4-FFF2-40B4-BE49-F238E27FC236}">
                <a16:creationId xmlns:a16="http://schemas.microsoft.com/office/drawing/2014/main" id="{C4577BF8-2EE4-D897-550D-03044F4E3567}"/>
              </a:ext>
            </a:extLst>
          </p:cNvPr>
          <p:cNvSpPr/>
          <p:nvPr/>
        </p:nvSpPr>
        <p:spPr>
          <a:xfrm>
            <a:off x="4009872" y="3260624"/>
            <a:ext cx="1186395" cy="329892"/>
          </a:xfrm>
          <a:prstGeom prst="flowChartDocumen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Arial"/>
                <a:ea typeface="Meiryo UI"/>
                <a:cs typeface="+mn-cs"/>
              </a:rPr>
              <a:t>獲得率</a:t>
            </a:r>
            <a:endParaRPr kumimoji="1" lang="en-US" sz="1200" b="0" i="0" u="none" strike="noStrike" kern="1200" cap="none" spc="0" normalizeH="0" baseline="0" noProof="0" dirty="0">
              <a:ln>
                <a:noFill/>
              </a:ln>
              <a:solidFill>
                <a:srgbClr val="000000"/>
              </a:solidFill>
              <a:effectLst/>
              <a:uLnTx/>
              <a:uFillTx/>
              <a:latin typeface="Arial"/>
              <a:ea typeface="Meiryo UI"/>
              <a:cs typeface="+mn-cs"/>
            </a:endParaRPr>
          </a:p>
        </p:txBody>
      </p:sp>
      <p:cxnSp>
        <p:nvCxnSpPr>
          <p:cNvPr id="176" name="Connector: Elbow 175">
            <a:extLst>
              <a:ext uri="{FF2B5EF4-FFF2-40B4-BE49-F238E27FC236}">
                <a16:creationId xmlns:a16="http://schemas.microsoft.com/office/drawing/2014/main" id="{A9FBB9FF-DCAA-C525-DBD1-264D9600A19A}"/>
              </a:ext>
            </a:extLst>
          </p:cNvPr>
          <p:cNvCxnSpPr>
            <a:cxnSpLocks/>
            <a:stCxn id="15" idx="2"/>
            <a:endCxn id="175" idx="1"/>
          </p:cNvCxnSpPr>
          <p:nvPr/>
        </p:nvCxnSpPr>
        <p:spPr>
          <a:xfrm rot="5400000">
            <a:off x="3667493" y="2670660"/>
            <a:ext cx="1097290" cy="412531"/>
          </a:xfrm>
          <a:prstGeom prst="bentConnector4">
            <a:avLst>
              <a:gd name="adj1" fmla="val 4969"/>
              <a:gd name="adj2" fmla="val 155414"/>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0" name="TextBox 90">
            <a:extLst>
              <a:ext uri="{FF2B5EF4-FFF2-40B4-BE49-F238E27FC236}">
                <a16:creationId xmlns:a16="http://schemas.microsoft.com/office/drawing/2014/main" id="{D311CBC8-5D4E-DAB4-D439-4BC85EEBEC1D}"/>
              </a:ext>
            </a:extLst>
          </p:cNvPr>
          <p:cNvSpPr txBox="1"/>
          <p:nvPr/>
        </p:nvSpPr>
        <p:spPr>
          <a:xfrm>
            <a:off x="4145869" y="3477891"/>
            <a:ext cx="914400" cy="507376"/>
          </a:xfrm>
          <a:prstGeom prst="rect">
            <a:avLst/>
          </a:prstGeom>
        </p:spPr>
        <p:txBody>
          <a:bodyPr vert="eaVert" wrap="none" lIns="0" rIns="0" rtlCol="0" anchor="ctr">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dirty="0">
                <a:ln>
                  <a:noFill/>
                </a:ln>
                <a:solidFill>
                  <a:srgbClr val="000000"/>
                </a:solidFill>
                <a:effectLst/>
                <a:uLnTx/>
                <a:uFillTx/>
                <a:latin typeface="Meiryo UI"/>
                <a:ea typeface="Meiryo UI"/>
                <a:cs typeface="+mn-cs"/>
              </a:rPr>
              <a:t>・・・</a:t>
            </a:r>
            <a:endParaRPr kumimoji="1" lang="en-US" sz="800" b="1" i="0" u="none" strike="noStrike" kern="1200" cap="none" spc="0" normalizeH="0" baseline="0" noProof="0" dirty="0">
              <a:ln>
                <a:noFill/>
              </a:ln>
              <a:solidFill>
                <a:srgbClr val="000000"/>
              </a:solidFill>
              <a:effectLst/>
              <a:uLnTx/>
              <a:uFillTx/>
              <a:latin typeface="Meiryo UI"/>
              <a:ea typeface="Meiryo UI"/>
              <a:cs typeface="+mn-cs"/>
            </a:endParaRPr>
          </a:p>
        </p:txBody>
      </p:sp>
      <p:sp>
        <p:nvSpPr>
          <p:cNvPr id="187" name="TextBox 90">
            <a:extLst>
              <a:ext uri="{FF2B5EF4-FFF2-40B4-BE49-F238E27FC236}">
                <a16:creationId xmlns:a16="http://schemas.microsoft.com/office/drawing/2014/main" id="{5666D701-C042-9936-F593-A5DA6122059A}"/>
              </a:ext>
            </a:extLst>
          </p:cNvPr>
          <p:cNvSpPr txBox="1"/>
          <p:nvPr/>
        </p:nvSpPr>
        <p:spPr>
          <a:xfrm>
            <a:off x="620407" y="2468204"/>
            <a:ext cx="914400" cy="507376"/>
          </a:xfrm>
          <a:prstGeom prst="rect">
            <a:avLst/>
          </a:prstGeom>
        </p:spPr>
        <p:txBody>
          <a:bodyPr vert="eaVert" wrap="none" lIns="0" rIns="0" rtlCol="0" anchor="ctr">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sz="1200" b="0" i="0" u="none" strike="noStrike" kern="1200" cap="none" spc="0" normalizeH="0" baseline="0" noProof="0" dirty="0">
              <a:ln>
                <a:noFill/>
              </a:ln>
              <a:solidFill>
                <a:srgbClr val="000000"/>
              </a:solidFill>
              <a:effectLst/>
              <a:uLnTx/>
              <a:uFillTx/>
              <a:latin typeface="Meiryo UI"/>
              <a:ea typeface="Meiryo UI"/>
              <a:cs typeface="+mn-cs"/>
            </a:endParaRPr>
          </a:p>
        </p:txBody>
      </p:sp>
    </p:spTree>
    <p:extLst>
      <p:ext uri="{BB962C8B-B14F-4D97-AF65-F5344CB8AC3E}">
        <p14:creationId xmlns:p14="http://schemas.microsoft.com/office/powerpoint/2010/main" val="24572556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29FB1-C65D-BD62-A342-7B03743B03D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C754245-D219-065F-4A50-D62F4B08AC2C}"/>
              </a:ext>
            </a:extLst>
          </p:cNvPr>
          <p:cNvSpPr>
            <a:spLocks noGrp="1"/>
          </p:cNvSpPr>
          <p:nvPr>
            <p:ph type="title"/>
          </p:nvPr>
        </p:nvSpPr>
        <p:spPr/>
        <p:txBody>
          <a:bodyPr/>
          <a:lstStyle/>
          <a:p>
            <a:r>
              <a:rPr lang="ja-JP" altLang="en-US" sz="1600" dirty="0">
                <a:solidFill>
                  <a:schemeClr val="accent2"/>
                </a:solidFill>
                <a:latin typeface="Meiryo UI" panose="020B0604030504040204" pitchFamily="50" charset="-128"/>
                <a:ea typeface="Meiryo UI" panose="020B0604030504040204" pitchFamily="50" charset="-128"/>
              </a:rPr>
              <a:t>事例③：医療機器メーカー　試薬販売予測システム</a:t>
            </a:r>
            <a:br>
              <a:rPr lang="en-US" altLang="ja-JP" sz="3600" dirty="0">
                <a:solidFill>
                  <a:schemeClr val="accent2"/>
                </a:solidFill>
                <a:latin typeface="Meiryo UI" panose="020B0604030504040204" pitchFamily="50" charset="-128"/>
                <a:ea typeface="Meiryo UI" panose="020B0604030504040204" pitchFamily="50" charset="-128"/>
              </a:rPr>
            </a:br>
            <a:r>
              <a:rPr lang="ja-JP" altLang="en-US" sz="2400" dirty="0">
                <a:solidFill>
                  <a:schemeClr val="accent2"/>
                </a:solidFill>
                <a:latin typeface="Meiryo UI" panose="020B0604030504040204" pitchFamily="50" charset="-128"/>
                <a:ea typeface="Meiryo UI" panose="020B0604030504040204" pitchFamily="50" charset="-128"/>
              </a:rPr>
              <a:t>解決に向けた営み（</a:t>
            </a:r>
            <a:r>
              <a:rPr lang="en-US" altLang="ja-JP" sz="2400" dirty="0">
                <a:solidFill>
                  <a:schemeClr val="accent2"/>
                </a:solidFill>
                <a:latin typeface="Meiryo UI" panose="020B0604030504040204" pitchFamily="50" charset="-128"/>
                <a:ea typeface="Meiryo UI" panose="020B0604030504040204" pitchFamily="50" charset="-128"/>
              </a:rPr>
              <a:t>1/2</a:t>
            </a:r>
            <a:r>
              <a:rPr lang="ja-JP" altLang="en-US" sz="2400" dirty="0">
                <a:solidFill>
                  <a:schemeClr val="accent2"/>
                </a:solidFill>
                <a:latin typeface="Meiryo UI" panose="020B0604030504040204" pitchFamily="50" charset="-128"/>
                <a:ea typeface="Meiryo UI" panose="020B0604030504040204" pitchFamily="50" charset="-128"/>
              </a:rPr>
              <a:t>）</a:t>
            </a:r>
          </a:p>
        </p:txBody>
      </p:sp>
      <p:sp>
        <p:nvSpPr>
          <p:cNvPr id="3" name="コンテンツ プレースホルダー 3">
            <a:extLst>
              <a:ext uri="{FF2B5EF4-FFF2-40B4-BE49-F238E27FC236}">
                <a16:creationId xmlns:a16="http://schemas.microsoft.com/office/drawing/2014/main" id="{CF98C8F4-9C14-80DE-00DD-D6CA1E2C29BC}"/>
              </a:ext>
            </a:extLst>
          </p:cNvPr>
          <p:cNvSpPr>
            <a:spLocks noGrp="1"/>
          </p:cNvSpPr>
          <p:nvPr>
            <p:ph sz="quarter" idx="10"/>
          </p:nvPr>
        </p:nvSpPr>
        <p:spPr>
          <a:xfrm>
            <a:off x="388603" y="945178"/>
            <a:ext cx="11448000" cy="746871"/>
          </a:xfrm>
        </p:spPr>
        <p:txBody>
          <a:bodyPr/>
          <a:lstStyle/>
          <a:p>
            <a:r>
              <a:rPr lang="ja-JP" altLang="en-US" dirty="0"/>
              <a:t>プロジェクトの</a:t>
            </a:r>
            <a:r>
              <a:rPr lang="en-US" altLang="ja-JP" dirty="0" err="1"/>
              <a:t>RoI</a:t>
            </a:r>
            <a:r>
              <a:rPr lang="ja-JP" altLang="en-US" dirty="0"/>
              <a:t>を試算し初期投資に割ける適正なコストを精査したうえで、社外からエキスパート集団を調達した。</a:t>
            </a:r>
          </a:p>
        </p:txBody>
      </p:sp>
      <p:sp>
        <p:nvSpPr>
          <p:cNvPr id="6" name="正方形/長方形 95">
            <a:extLst>
              <a:ext uri="{FF2B5EF4-FFF2-40B4-BE49-F238E27FC236}">
                <a16:creationId xmlns:a16="http://schemas.microsoft.com/office/drawing/2014/main" id="{D51051D0-4686-A4DE-DC91-E78825D7136E}"/>
              </a:ext>
            </a:extLst>
          </p:cNvPr>
          <p:cNvSpPr/>
          <p:nvPr/>
        </p:nvSpPr>
        <p:spPr>
          <a:xfrm>
            <a:off x="640328" y="1742048"/>
            <a:ext cx="5198828" cy="24479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srgbClr val="FFFFFF"/>
                </a:solidFill>
                <a:effectLst/>
                <a:uLnTx/>
                <a:uFillTx/>
                <a:latin typeface="Arial"/>
                <a:ea typeface="Meiryo UI"/>
                <a:cs typeface="+mn-cs"/>
              </a:rPr>
              <a:t>投資対効果の考え方</a:t>
            </a:r>
          </a:p>
        </p:txBody>
      </p:sp>
      <p:sp>
        <p:nvSpPr>
          <p:cNvPr id="7" name="ホームベース 22">
            <a:extLst>
              <a:ext uri="{FF2B5EF4-FFF2-40B4-BE49-F238E27FC236}">
                <a16:creationId xmlns:a16="http://schemas.microsoft.com/office/drawing/2014/main" id="{564FE4F5-0B2F-DA22-354C-82576DF661B2}"/>
              </a:ext>
            </a:extLst>
          </p:cNvPr>
          <p:cNvSpPr/>
          <p:nvPr/>
        </p:nvSpPr>
        <p:spPr>
          <a:xfrm>
            <a:off x="640329" y="2069641"/>
            <a:ext cx="1330514" cy="244791"/>
          </a:xfrm>
          <a:prstGeom prst="homePlate">
            <a:avLst>
              <a:gd name="adj" fmla="val 0"/>
            </a:avLst>
          </a:prstGeom>
          <a:solidFill>
            <a:schemeClr val="accent1">
              <a:lumMod val="10000"/>
              <a:lumOff val="90000"/>
            </a:schemeClr>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プロジェクト属性</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8" name="ホームベース 22">
            <a:extLst>
              <a:ext uri="{FF2B5EF4-FFF2-40B4-BE49-F238E27FC236}">
                <a16:creationId xmlns:a16="http://schemas.microsoft.com/office/drawing/2014/main" id="{3265FFAE-1C21-455B-C4B5-C3F58702187F}"/>
              </a:ext>
            </a:extLst>
          </p:cNvPr>
          <p:cNvSpPr/>
          <p:nvPr/>
        </p:nvSpPr>
        <p:spPr>
          <a:xfrm>
            <a:off x="1233996" y="2393124"/>
            <a:ext cx="4605159" cy="244791"/>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株主等へのコミットメント実現</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9" name="ホームベース 22">
            <a:extLst>
              <a:ext uri="{FF2B5EF4-FFF2-40B4-BE49-F238E27FC236}">
                <a16:creationId xmlns:a16="http://schemas.microsoft.com/office/drawing/2014/main" id="{705F5D4D-677D-AF1F-148F-83B723907E24}"/>
              </a:ext>
            </a:extLst>
          </p:cNvPr>
          <p:cNvSpPr/>
          <p:nvPr/>
        </p:nvSpPr>
        <p:spPr>
          <a:xfrm>
            <a:off x="1233996" y="2718058"/>
            <a:ext cx="4605159" cy="244791"/>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法規制・コンプライアンス対応</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0" name="ホームベース 22">
            <a:extLst>
              <a:ext uri="{FF2B5EF4-FFF2-40B4-BE49-F238E27FC236}">
                <a16:creationId xmlns:a16="http://schemas.microsoft.com/office/drawing/2014/main" id="{3F8F570F-DCEA-283E-A592-0611AF112F5E}"/>
              </a:ext>
            </a:extLst>
          </p:cNvPr>
          <p:cNvSpPr/>
          <p:nvPr/>
        </p:nvSpPr>
        <p:spPr>
          <a:xfrm>
            <a:off x="1233996" y="3039305"/>
            <a:ext cx="4605159" cy="244791"/>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社内の経営戦略実現</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1" name="ホームベース 22">
            <a:extLst>
              <a:ext uri="{FF2B5EF4-FFF2-40B4-BE49-F238E27FC236}">
                <a16:creationId xmlns:a16="http://schemas.microsoft.com/office/drawing/2014/main" id="{D5FAE979-9922-3BE9-84E8-3D398412A9E5}"/>
              </a:ext>
            </a:extLst>
          </p:cNvPr>
          <p:cNvSpPr/>
          <p:nvPr/>
        </p:nvSpPr>
        <p:spPr>
          <a:xfrm>
            <a:off x="1970843" y="2069641"/>
            <a:ext cx="3868312" cy="244791"/>
          </a:xfrm>
          <a:prstGeom prst="homePlate">
            <a:avLst>
              <a:gd name="adj" fmla="val 0"/>
            </a:avLst>
          </a:prstGeom>
          <a:noFill/>
          <a:ln w="158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Return</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を考慮せず</a:t>
            </a: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PJ</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を開始すべき案件</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2" name="ホームベース 22">
            <a:extLst>
              <a:ext uri="{FF2B5EF4-FFF2-40B4-BE49-F238E27FC236}">
                <a16:creationId xmlns:a16="http://schemas.microsoft.com/office/drawing/2014/main" id="{BE8DC144-F6A6-D7EF-0E04-A39A1B8AE87E}"/>
              </a:ext>
            </a:extLst>
          </p:cNvPr>
          <p:cNvSpPr/>
          <p:nvPr/>
        </p:nvSpPr>
        <p:spPr>
          <a:xfrm>
            <a:off x="640329" y="3360552"/>
            <a:ext cx="1330514" cy="244791"/>
          </a:xfrm>
          <a:prstGeom prst="homePlate">
            <a:avLst>
              <a:gd name="adj" fmla="val 0"/>
            </a:avLst>
          </a:prstGeom>
          <a:solidFill>
            <a:schemeClr val="accent1">
              <a:lumMod val="10000"/>
              <a:lumOff val="90000"/>
            </a:schemeClr>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売上貢献</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4" name="ホームベース 22">
            <a:extLst>
              <a:ext uri="{FF2B5EF4-FFF2-40B4-BE49-F238E27FC236}">
                <a16:creationId xmlns:a16="http://schemas.microsoft.com/office/drawing/2014/main" id="{3740B889-23F0-D8B1-426F-9078F2843ED3}"/>
              </a:ext>
            </a:extLst>
          </p:cNvPr>
          <p:cNvSpPr/>
          <p:nvPr/>
        </p:nvSpPr>
        <p:spPr>
          <a:xfrm>
            <a:off x="1233996" y="3681799"/>
            <a:ext cx="4605159" cy="244791"/>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顧客への付加価値提供による売上向上</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7" name="ホームベース 22">
            <a:extLst>
              <a:ext uri="{FF2B5EF4-FFF2-40B4-BE49-F238E27FC236}">
                <a16:creationId xmlns:a16="http://schemas.microsoft.com/office/drawing/2014/main" id="{07551629-A4C0-7A5D-EA8C-09BA68131BDD}"/>
              </a:ext>
            </a:extLst>
          </p:cNvPr>
          <p:cNvSpPr/>
          <p:nvPr/>
        </p:nvSpPr>
        <p:spPr>
          <a:xfrm>
            <a:off x="1233996" y="4003046"/>
            <a:ext cx="4605159" cy="244791"/>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受注を円滑にするためのサービス・仕組みの提供</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9" name="ホームベース 22">
            <a:extLst>
              <a:ext uri="{FF2B5EF4-FFF2-40B4-BE49-F238E27FC236}">
                <a16:creationId xmlns:a16="http://schemas.microsoft.com/office/drawing/2014/main" id="{29E405D2-B26C-0F70-01D8-077D5007D743}"/>
              </a:ext>
            </a:extLst>
          </p:cNvPr>
          <p:cNvSpPr/>
          <p:nvPr/>
        </p:nvSpPr>
        <p:spPr>
          <a:xfrm>
            <a:off x="1970843" y="3360552"/>
            <a:ext cx="3868312" cy="244791"/>
          </a:xfrm>
          <a:prstGeom prst="homePlate">
            <a:avLst>
              <a:gd name="adj" fmla="val 0"/>
            </a:avLst>
          </a:prstGeom>
          <a:noFill/>
          <a:ln w="158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PJ</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の成果をもって売上向上が期待される案件</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21" name="ホームベース 22">
            <a:extLst>
              <a:ext uri="{FF2B5EF4-FFF2-40B4-BE49-F238E27FC236}">
                <a16:creationId xmlns:a16="http://schemas.microsoft.com/office/drawing/2014/main" id="{8EDF763D-0B3C-907F-63C5-2B326B1DA634}"/>
              </a:ext>
            </a:extLst>
          </p:cNvPr>
          <p:cNvSpPr/>
          <p:nvPr/>
        </p:nvSpPr>
        <p:spPr>
          <a:xfrm>
            <a:off x="640329" y="4324293"/>
            <a:ext cx="1330514" cy="244791"/>
          </a:xfrm>
          <a:prstGeom prst="homePlate">
            <a:avLst>
              <a:gd name="adj" fmla="val 0"/>
            </a:avLst>
          </a:prstGeom>
          <a:solidFill>
            <a:schemeClr val="accent1">
              <a:lumMod val="10000"/>
              <a:lumOff val="90000"/>
            </a:schemeClr>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コスト削減</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23" name="ホームベース 22">
            <a:extLst>
              <a:ext uri="{FF2B5EF4-FFF2-40B4-BE49-F238E27FC236}">
                <a16:creationId xmlns:a16="http://schemas.microsoft.com/office/drawing/2014/main" id="{AA8ADC73-7D3F-006C-DF00-4C66A352D56A}"/>
              </a:ext>
            </a:extLst>
          </p:cNvPr>
          <p:cNvSpPr/>
          <p:nvPr/>
        </p:nvSpPr>
        <p:spPr>
          <a:xfrm>
            <a:off x="1233996" y="4645540"/>
            <a:ext cx="4605159" cy="244791"/>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アウトソーシング業務の自動化による契約打ち切り</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24" name="ホームベース 22">
            <a:extLst>
              <a:ext uri="{FF2B5EF4-FFF2-40B4-BE49-F238E27FC236}">
                <a16:creationId xmlns:a16="http://schemas.microsoft.com/office/drawing/2014/main" id="{80841DDF-237B-4995-09F7-D8A9EEE95CE9}"/>
              </a:ext>
            </a:extLst>
          </p:cNvPr>
          <p:cNvSpPr/>
          <p:nvPr/>
        </p:nvSpPr>
        <p:spPr>
          <a:xfrm>
            <a:off x="1233996" y="4966787"/>
            <a:ext cx="4605159" cy="244791"/>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システム運用費の削減による</a:t>
            </a: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TCO</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の削減</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25" name="ホームベース 22">
            <a:extLst>
              <a:ext uri="{FF2B5EF4-FFF2-40B4-BE49-F238E27FC236}">
                <a16:creationId xmlns:a16="http://schemas.microsoft.com/office/drawing/2014/main" id="{1AAAEB42-D83C-A8F6-4CAF-7543EE0A8D3C}"/>
              </a:ext>
            </a:extLst>
          </p:cNvPr>
          <p:cNvSpPr/>
          <p:nvPr/>
        </p:nvSpPr>
        <p:spPr>
          <a:xfrm>
            <a:off x="1970843" y="4324293"/>
            <a:ext cx="3868312" cy="244791"/>
          </a:xfrm>
          <a:prstGeom prst="homePlate">
            <a:avLst>
              <a:gd name="adj" fmla="val 0"/>
            </a:avLst>
          </a:prstGeom>
          <a:noFill/>
          <a:ln w="158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PJ</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の成果をもって支出を抑制できる案件</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27" name="ホームベース 22">
            <a:extLst>
              <a:ext uri="{FF2B5EF4-FFF2-40B4-BE49-F238E27FC236}">
                <a16:creationId xmlns:a16="http://schemas.microsoft.com/office/drawing/2014/main" id="{53B5F2E5-F1AE-961A-03A1-EE96C86D3253}"/>
              </a:ext>
            </a:extLst>
          </p:cNvPr>
          <p:cNvSpPr/>
          <p:nvPr/>
        </p:nvSpPr>
        <p:spPr>
          <a:xfrm>
            <a:off x="640329" y="5288034"/>
            <a:ext cx="1330514" cy="244791"/>
          </a:xfrm>
          <a:prstGeom prst="homePlate">
            <a:avLst>
              <a:gd name="adj" fmla="val 0"/>
            </a:avLst>
          </a:prstGeom>
          <a:solidFill>
            <a:schemeClr val="accent1">
              <a:lumMod val="10000"/>
              <a:lumOff val="90000"/>
            </a:schemeClr>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コスト回避</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28" name="ホームベース 22">
            <a:extLst>
              <a:ext uri="{FF2B5EF4-FFF2-40B4-BE49-F238E27FC236}">
                <a16:creationId xmlns:a16="http://schemas.microsoft.com/office/drawing/2014/main" id="{42CB9590-368E-A406-50D3-F7B9F64F4BA2}"/>
              </a:ext>
            </a:extLst>
          </p:cNvPr>
          <p:cNvSpPr/>
          <p:nvPr/>
        </p:nvSpPr>
        <p:spPr>
          <a:xfrm>
            <a:off x="1233996" y="5609281"/>
            <a:ext cx="4605159" cy="244791"/>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管理業務の自動化</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29" name="ホームベース 22">
            <a:extLst>
              <a:ext uri="{FF2B5EF4-FFF2-40B4-BE49-F238E27FC236}">
                <a16:creationId xmlns:a16="http://schemas.microsoft.com/office/drawing/2014/main" id="{B33314DE-FDD3-BE28-E89D-BE1817BAF1D8}"/>
              </a:ext>
            </a:extLst>
          </p:cNvPr>
          <p:cNvSpPr/>
          <p:nvPr/>
        </p:nvSpPr>
        <p:spPr>
          <a:xfrm>
            <a:off x="1233996" y="5930528"/>
            <a:ext cx="4605159" cy="244791"/>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Excel</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・メールベースのデータ収集のシステム化</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30" name="ホームベース 22">
            <a:extLst>
              <a:ext uri="{FF2B5EF4-FFF2-40B4-BE49-F238E27FC236}">
                <a16:creationId xmlns:a16="http://schemas.microsoft.com/office/drawing/2014/main" id="{67629AF3-04D9-BF2A-B336-E01B95D398C3}"/>
              </a:ext>
            </a:extLst>
          </p:cNvPr>
          <p:cNvSpPr/>
          <p:nvPr/>
        </p:nvSpPr>
        <p:spPr>
          <a:xfrm>
            <a:off x="1970843" y="5288034"/>
            <a:ext cx="3868312" cy="244791"/>
          </a:xfrm>
          <a:prstGeom prst="homePlate">
            <a:avLst>
              <a:gd name="adj" fmla="val 0"/>
            </a:avLst>
          </a:prstGeom>
          <a:noFill/>
          <a:ln w="158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支出削減はないが、社員の工数削減につながる案件</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31" name="ホームベース 22">
            <a:extLst>
              <a:ext uri="{FF2B5EF4-FFF2-40B4-BE49-F238E27FC236}">
                <a16:creationId xmlns:a16="http://schemas.microsoft.com/office/drawing/2014/main" id="{16451C90-99BA-7327-C8D6-3DBEC500A1BB}"/>
              </a:ext>
            </a:extLst>
          </p:cNvPr>
          <p:cNvSpPr/>
          <p:nvPr/>
        </p:nvSpPr>
        <p:spPr>
          <a:xfrm>
            <a:off x="1233996" y="6251775"/>
            <a:ext cx="4605159" cy="244791"/>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Excel</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で管理する帳簿類のシステム化</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55" name="Isosceles Triangle 54">
            <a:extLst>
              <a:ext uri="{FF2B5EF4-FFF2-40B4-BE49-F238E27FC236}">
                <a16:creationId xmlns:a16="http://schemas.microsoft.com/office/drawing/2014/main" id="{31B68700-CD97-AFF6-EE0D-3EC989B4A282}"/>
              </a:ext>
            </a:extLst>
          </p:cNvPr>
          <p:cNvSpPr/>
          <p:nvPr/>
        </p:nvSpPr>
        <p:spPr>
          <a:xfrm rot="5400000">
            <a:off x="5721658" y="3766077"/>
            <a:ext cx="748683" cy="214840"/>
          </a:xfrm>
          <a:prstGeom prst="triangl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0" normalizeH="0" baseline="0" noProof="0" dirty="0" err="1">
              <a:ln>
                <a:noFill/>
              </a:ln>
              <a:solidFill>
                <a:srgbClr val="000000"/>
              </a:solidFill>
              <a:effectLst/>
              <a:uLnTx/>
              <a:uFillTx/>
              <a:latin typeface="Arial"/>
              <a:ea typeface="Meiryo UI"/>
              <a:cs typeface="+mn-cs"/>
            </a:endParaRPr>
          </a:p>
        </p:txBody>
      </p:sp>
      <p:sp>
        <p:nvSpPr>
          <p:cNvPr id="58" name="正方形/長方形 95">
            <a:extLst>
              <a:ext uri="{FF2B5EF4-FFF2-40B4-BE49-F238E27FC236}">
                <a16:creationId xmlns:a16="http://schemas.microsoft.com/office/drawing/2014/main" id="{1E05810E-790F-46A9-DF23-86690074E089}"/>
              </a:ext>
            </a:extLst>
          </p:cNvPr>
          <p:cNvSpPr/>
          <p:nvPr/>
        </p:nvSpPr>
        <p:spPr>
          <a:xfrm>
            <a:off x="6352844" y="1742048"/>
            <a:ext cx="5198828" cy="24479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err="1">
                <a:ln>
                  <a:noFill/>
                </a:ln>
                <a:solidFill>
                  <a:srgbClr val="FFFFFF"/>
                </a:solidFill>
                <a:effectLst/>
                <a:uLnTx/>
                <a:uFillTx/>
                <a:latin typeface="Arial"/>
                <a:ea typeface="Meiryo UI"/>
                <a:cs typeface="+mn-cs"/>
              </a:rPr>
              <a:t>RoI</a:t>
            </a:r>
            <a:r>
              <a:rPr kumimoji="1" lang="ja-JP" altLang="en-US" sz="1400" b="1" i="0" u="none" strike="noStrike" kern="1200" cap="none" spc="0" normalizeH="0" baseline="0" noProof="0" dirty="0">
                <a:ln>
                  <a:noFill/>
                </a:ln>
                <a:solidFill>
                  <a:srgbClr val="FFFFFF"/>
                </a:solidFill>
                <a:effectLst/>
                <a:uLnTx/>
                <a:uFillTx/>
                <a:latin typeface="Arial"/>
                <a:ea typeface="Meiryo UI"/>
                <a:cs typeface="+mn-cs"/>
              </a:rPr>
              <a:t>の試算</a:t>
            </a:r>
          </a:p>
        </p:txBody>
      </p:sp>
      <p:sp>
        <p:nvSpPr>
          <p:cNvPr id="59" name="Isosceles Triangle 58">
            <a:extLst>
              <a:ext uri="{FF2B5EF4-FFF2-40B4-BE49-F238E27FC236}">
                <a16:creationId xmlns:a16="http://schemas.microsoft.com/office/drawing/2014/main" id="{934CF1D3-BDBE-8D78-F72A-7E4574BE04B4}"/>
              </a:ext>
            </a:extLst>
          </p:cNvPr>
          <p:cNvSpPr/>
          <p:nvPr/>
        </p:nvSpPr>
        <p:spPr>
          <a:xfrm rot="5400000">
            <a:off x="5721658" y="5945503"/>
            <a:ext cx="748683" cy="214840"/>
          </a:xfrm>
          <a:prstGeom prst="triangl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0" normalizeH="0" baseline="0" noProof="0" dirty="0" err="1">
              <a:ln>
                <a:noFill/>
              </a:ln>
              <a:solidFill>
                <a:srgbClr val="000000"/>
              </a:solidFill>
              <a:effectLst/>
              <a:uLnTx/>
              <a:uFillTx/>
              <a:latin typeface="Arial"/>
              <a:ea typeface="Meiryo UI"/>
              <a:cs typeface="+mn-cs"/>
            </a:endParaRPr>
          </a:p>
        </p:txBody>
      </p:sp>
      <p:sp>
        <p:nvSpPr>
          <p:cNvPr id="60" name="ホームベース 22">
            <a:extLst>
              <a:ext uri="{FF2B5EF4-FFF2-40B4-BE49-F238E27FC236}">
                <a16:creationId xmlns:a16="http://schemas.microsoft.com/office/drawing/2014/main" id="{08658460-D68E-D817-220C-AE5C839955B9}"/>
              </a:ext>
            </a:extLst>
          </p:cNvPr>
          <p:cNvSpPr/>
          <p:nvPr/>
        </p:nvSpPr>
        <p:spPr>
          <a:xfrm>
            <a:off x="6823360" y="2069642"/>
            <a:ext cx="1101518" cy="244790"/>
          </a:xfrm>
          <a:prstGeom prst="homePlate">
            <a:avLst>
              <a:gd name="adj" fmla="val 0"/>
            </a:avLst>
          </a:prstGeom>
          <a:solidFill>
            <a:schemeClr val="accent1">
              <a:lumMod val="10000"/>
              <a:lumOff val="90000"/>
            </a:schemeClr>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PJ</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費用</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61" name="ホームベース 22">
            <a:extLst>
              <a:ext uri="{FF2B5EF4-FFF2-40B4-BE49-F238E27FC236}">
                <a16:creationId xmlns:a16="http://schemas.microsoft.com/office/drawing/2014/main" id="{14FB4A44-3023-915E-AB7B-45972839DDC7}"/>
              </a:ext>
            </a:extLst>
          </p:cNvPr>
          <p:cNvSpPr/>
          <p:nvPr/>
        </p:nvSpPr>
        <p:spPr>
          <a:xfrm>
            <a:off x="6823360" y="2393125"/>
            <a:ext cx="1101517" cy="244790"/>
          </a:xfrm>
          <a:prstGeom prst="homePlate">
            <a:avLst>
              <a:gd name="adj" fmla="val 0"/>
            </a:avLst>
          </a:prstGeom>
          <a:solidFill>
            <a:schemeClr val="accent1">
              <a:lumMod val="10000"/>
              <a:lumOff val="90000"/>
            </a:schemeClr>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PJ</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期間</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62" name="ホームベース 22">
            <a:extLst>
              <a:ext uri="{FF2B5EF4-FFF2-40B4-BE49-F238E27FC236}">
                <a16:creationId xmlns:a16="http://schemas.microsoft.com/office/drawing/2014/main" id="{D1DCC263-B2A4-9287-B696-EC451CB1451B}"/>
              </a:ext>
            </a:extLst>
          </p:cNvPr>
          <p:cNvSpPr/>
          <p:nvPr/>
        </p:nvSpPr>
        <p:spPr>
          <a:xfrm>
            <a:off x="6823361" y="2716608"/>
            <a:ext cx="1101516" cy="244790"/>
          </a:xfrm>
          <a:prstGeom prst="homePlate">
            <a:avLst>
              <a:gd name="adj" fmla="val 0"/>
            </a:avLst>
          </a:prstGeom>
          <a:solidFill>
            <a:schemeClr val="accent1">
              <a:lumMod val="10000"/>
              <a:lumOff val="90000"/>
            </a:schemeClr>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減価償却費</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67" name="ホームベース 22">
            <a:extLst>
              <a:ext uri="{FF2B5EF4-FFF2-40B4-BE49-F238E27FC236}">
                <a16:creationId xmlns:a16="http://schemas.microsoft.com/office/drawing/2014/main" id="{49B73D3A-E107-3854-3795-89AF4DC95768}"/>
              </a:ext>
            </a:extLst>
          </p:cNvPr>
          <p:cNvSpPr/>
          <p:nvPr/>
        </p:nvSpPr>
        <p:spPr>
          <a:xfrm>
            <a:off x="6352845" y="2069642"/>
            <a:ext cx="367552" cy="891756"/>
          </a:xfrm>
          <a:prstGeom prst="homePlate">
            <a:avLst>
              <a:gd name="adj" fmla="val 0"/>
            </a:avLst>
          </a:prstGeom>
          <a:solidFill>
            <a:schemeClr val="accent1">
              <a:lumMod val="25000"/>
              <a:lumOff val="75000"/>
            </a:schemeClr>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投資</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68" name="ホームベース 22">
            <a:extLst>
              <a:ext uri="{FF2B5EF4-FFF2-40B4-BE49-F238E27FC236}">
                <a16:creationId xmlns:a16="http://schemas.microsoft.com/office/drawing/2014/main" id="{B14D3BDD-184E-D6E5-9E92-EF593C45021A}"/>
              </a:ext>
            </a:extLst>
          </p:cNvPr>
          <p:cNvSpPr/>
          <p:nvPr/>
        </p:nvSpPr>
        <p:spPr>
          <a:xfrm>
            <a:off x="8038307" y="2069642"/>
            <a:ext cx="1101517" cy="24479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想定初期費用</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69" name="ホームベース 22">
            <a:extLst>
              <a:ext uri="{FF2B5EF4-FFF2-40B4-BE49-F238E27FC236}">
                <a16:creationId xmlns:a16="http://schemas.microsoft.com/office/drawing/2014/main" id="{59A78804-DB5C-210D-1BC9-49D14A61B80D}"/>
              </a:ext>
            </a:extLst>
          </p:cNvPr>
          <p:cNvSpPr/>
          <p:nvPr/>
        </p:nvSpPr>
        <p:spPr>
          <a:xfrm>
            <a:off x="9242787" y="2069642"/>
            <a:ext cx="1101517" cy="24479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想定運用費用</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71" name="ホームベース 22">
            <a:extLst>
              <a:ext uri="{FF2B5EF4-FFF2-40B4-BE49-F238E27FC236}">
                <a16:creationId xmlns:a16="http://schemas.microsoft.com/office/drawing/2014/main" id="{1D1F7C2C-EDA4-41D5-97AA-489BE460A74B}"/>
              </a:ext>
            </a:extLst>
          </p:cNvPr>
          <p:cNvSpPr/>
          <p:nvPr/>
        </p:nvSpPr>
        <p:spPr>
          <a:xfrm>
            <a:off x="10447267" y="2069642"/>
            <a:ext cx="1101517" cy="24479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想定内製工数</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75" name="ホームベース 22">
            <a:extLst>
              <a:ext uri="{FF2B5EF4-FFF2-40B4-BE49-F238E27FC236}">
                <a16:creationId xmlns:a16="http://schemas.microsoft.com/office/drawing/2014/main" id="{9705F2A6-D0A5-93AD-761F-265BC2E0CE05}"/>
              </a:ext>
            </a:extLst>
          </p:cNvPr>
          <p:cNvSpPr/>
          <p:nvPr/>
        </p:nvSpPr>
        <p:spPr>
          <a:xfrm>
            <a:off x="8038307" y="2389752"/>
            <a:ext cx="1101517" cy="24479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開発期間日</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77" name="ホームベース 22">
            <a:extLst>
              <a:ext uri="{FF2B5EF4-FFF2-40B4-BE49-F238E27FC236}">
                <a16:creationId xmlns:a16="http://schemas.microsoft.com/office/drawing/2014/main" id="{9824061B-CB4D-481B-2B13-3ACABCE1A687}"/>
              </a:ext>
            </a:extLst>
          </p:cNvPr>
          <p:cNvSpPr/>
          <p:nvPr/>
        </p:nvSpPr>
        <p:spPr>
          <a:xfrm>
            <a:off x="9242786" y="2389752"/>
            <a:ext cx="1101517" cy="24479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本稼働開始日</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78" name="ホームベース 22">
            <a:extLst>
              <a:ext uri="{FF2B5EF4-FFF2-40B4-BE49-F238E27FC236}">
                <a16:creationId xmlns:a16="http://schemas.microsoft.com/office/drawing/2014/main" id="{5CA91D73-F789-7333-59A0-311AE3F5B22B}"/>
              </a:ext>
            </a:extLst>
          </p:cNvPr>
          <p:cNvSpPr/>
          <p:nvPr/>
        </p:nvSpPr>
        <p:spPr>
          <a:xfrm>
            <a:off x="10447267" y="2389752"/>
            <a:ext cx="1101517" cy="24479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配賦開始時期</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79" name="ホームベース 22">
            <a:extLst>
              <a:ext uri="{FF2B5EF4-FFF2-40B4-BE49-F238E27FC236}">
                <a16:creationId xmlns:a16="http://schemas.microsoft.com/office/drawing/2014/main" id="{99396E3F-5593-85D9-50BE-47FCC9B0B32C}"/>
              </a:ext>
            </a:extLst>
          </p:cNvPr>
          <p:cNvSpPr/>
          <p:nvPr/>
        </p:nvSpPr>
        <p:spPr>
          <a:xfrm>
            <a:off x="8038308" y="2716608"/>
            <a:ext cx="1101516" cy="244790"/>
          </a:xfrm>
          <a:prstGeom prst="homePlate">
            <a:avLst>
              <a:gd name="adj" fmla="val 0"/>
            </a:avLst>
          </a:prstGeom>
          <a:solidFill>
            <a:schemeClr val="accent1">
              <a:lumMod val="10000"/>
              <a:lumOff val="90000"/>
            </a:schemeClr>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IT</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インフラ</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80" name="ホームベース 22">
            <a:extLst>
              <a:ext uri="{FF2B5EF4-FFF2-40B4-BE49-F238E27FC236}">
                <a16:creationId xmlns:a16="http://schemas.microsoft.com/office/drawing/2014/main" id="{A9BDF093-894E-817D-480B-767E45134088}"/>
              </a:ext>
            </a:extLst>
          </p:cNvPr>
          <p:cNvSpPr/>
          <p:nvPr/>
        </p:nvSpPr>
        <p:spPr>
          <a:xfrm>
            <a:off x="9242786" y="2716608"/>
            <a:ext cx="1101516" cy="244790"/>
          </a:xfrm>
          <a:prstGeom prst="homePlate">
            <a:avLst>
              <a:gd name="adj" fmla="val 0"/>
            </a:avLst>
          </a:prstGeom>
          <a:solidFill>
            <a:schemeClr val="accent1">
              <a:lumMod val="10000"/>
              <a:lumOff val="90000"/>
            </a:schemeClr>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ライセンス費</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81" name="ホームベース 22">
            <a:extLst>
              <a:ext uri="{FF2B5EF4-FFF2-40B4-BE49-F238E27FC236}">
                <a16:creationId xmlns:a16="http://schemas.microsoft.com/office/drawing/2014/main" id="{A7A2F335-1D00-BB31-FDDC-36BDAC4F1DF3}"/>
              </a:ext>
            </a:extLst>
          </p:cNvPr>
          <p:cNvSpPr/>
          <p:nvPr/>
        </p:nvSpPr>
        <p:spPr>
          <a:xfrm>
            <a:off x="10447268" y="2716608"/>
            <a:ext cx="1101516" cy="244790"/>
          </a:xfrm>
          <a:prstGeom prst="homePlate">
            <a:avLst>
              <a:gd name="adj" fmla="val 0"/>
            </a:avLst>
          </a:prstGeom>
          <a:solidFill>
            <a:schemeClr val="accent1">
              <a:lumMod val="10000"/>
              <a:lumOff val="90000"/>
            </a:schemeClr>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その他</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82" name="ホームベース 22">
            <a:extLst>
              <a:ext uri="{FF2B5EF4-FFF2-40B4-BE49-F238E27FC236}">
                <a16:creationId xmlns:a16="http://schemas.microsoft.com/office/drawing/2014/main" id="{CCA064A6-C60C-CB00-C351-8982F9522120}"/>
              </a:ext>
            </a:extLst>
          </p:cNvPr>
          <p:cNvSpPr/>
          <p:nvPr/>
        </p:nvSpPr>
        <p:spPr>
          <a:xfrm>
            <a:off x="6352845" y="3360551"/>
            <a:ext cx="367552" cy="904181"/>
          </a:xfrm>
          <a:prstGeom prst="homePlate">
            <a:avLst>
              <a:gd name="adj" fmla="val 0"/>
            </a:avLst>
          </a:prstGeom>
          <a:solidFill>
            <a:schemeClr val="accent1">
              <a:lumMod val="25000"/>
              <a:lumOff val="75000"/>
            </a:schemeClr>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効果①</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83" name="ホームベース 22">
            <a:extLst>
              <a:ext uri="{FF2B5EF4-FFF2-40B4-BE49-F238E27FC236}">
                <a16:creationId xmlns:a16="http://schemas.microsoft.com/office/drawing/2014/main" id="{CECE1059-C218-5021-EFA8-5550400FF616}"/>
              </a:ext>
            </a:extLst>
          </p:cNvPr>
          <p:cNvSpPr/>
          <p:nvPr/>
        </p:nvSpPr>
        <p:spPr>
          <a:xfrm>
            <a:off x="6823360" y="3366661"/>
            <a:ext cx="4725424" cy="24479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1</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日の訪問回数を</a:t>
            </a: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X</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回増やすことによる期待売上</a:t>
            </a: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Y%</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の向上</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84" name="ホームベース 22">
            <a:extLst>
              <a:ext uri="{FF2B5EF4-FFF2-40B4-BE49-F238E27FC236}">
                <a16:creationId xmlns:a16="http://schemas.microsoft.com/office/drawing/2014/main" id="{CA1A5B90-B8F4-7028-93D6-6177AE02BA50}"/>
              </a:ext>
            </a:extLst>
          </p:cNvPr>
          <p:cNvSpPr/>
          <p:nvPr/>
        </p:nvSpPr>
        <p:spPr>
          <a:xfrm>
            <a:off x="7546018" y="3693302"/>
            <a:ext cx="4002765" cy="24479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複数病院を最も効率的なルートで回ることによる・・・</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86" name="ホームベース 22">
            <a:extLst>
              <a:ext uri="{FF2B5EF4-FFF2-40B4-BE49-F238E27FC236}">
                <a16:creationId xmlns:a16="http://schemas.microsoft.com/office/drawing/2014/main" id="{2DC5B27E-DB46-531A-A701-AD431E3D5FBC}"/>
              </a:ext>
            </a:extLst>
          </p:cNvPr>
          <p:cNvSpPr/>
          <p:nvPr/>
        </p:nvSpPr>
        <p:spPr>
          <a:xfrm>
            <a:off x="6823360" y="3693302"/>
            <a:ext cx="625005" cy="244790"/>
          </a:xfrm>
          <a:prstGeom prst="homePlate">
            <a:avLst>
              <a:gd name="adj" fmla="val 0"/>
            </a:avLst>
          </a:prstGeom>
          <a:solidFill>
            <a:schemeClr val="accent1">
              <a:lumMod val="10000"/>
              <a:lumOff val="90000"/>
            </a:schemeClr>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根拠①</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87" name="ホームベース 22">
            <a:extLst>
              <a:ext uri="{FF2B5EF4-FFF2-40B4-BE49-F238E27FC236}">
                <a16:creationId xmlns:a16="http://schemas.microsoft.com/office/drawing/2014/main" id="{DA6305B1-BAB0-E16B-B6F7-19109A6E1882}"/>
              </a:ext>
            </a:extLst>
          </p:cNvPr>
          <p:cNvSpPr/>
          <p:nvPr/>
        </p:nvSpPr>
        <p:spPr>
          <a:xfrm>
            <a:off x="7546018" y="4019943"/>
            <a:ext cx="4002765" cy="24479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確度の高い案件からアプローチできることによる・・・</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88" name="ホームベース 22">
            <a:extLst>
              <a:ext uri="{FF2B5EF4-FFF2-40B4-BE49-F238E27FC236}">
                <a16:creationId xmlns:a16="http://schemas.microsoft.com/office/drawing/2014/main" id="{5E6AA713-9EFF-F11B-AD1A-A720C75C1A7D}"/>
              </a:ext>
            </a:extLst>
          </p:cNvPr>
          <p:cNvSpPr/>
          <p:nvPr/>
        </p:nvSpPr>
        <p:spPr>
          <a:xfrm>
            <a:off x="6823360" y="4019943"/>
            <a:ext cx="625005" cy="244790"/>
          </a:xfrm>
          <a:prstGeom prst="homePlate">
            <a:avLst>
              <a:gd name="adj" fmla="val 0"/>
            </a:avLst>
          </a:prstGeom>
          <a:solidFill>
            <a:schemeClr val="accent1">
              <a:lumMod val="10000"/>
              <a:lumOff val="90000"/>
            </a:schemeClr>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根拠②</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89" name="ホームベース 22">
            <a:extLst>
              <a:ext uri="{FF2B5EF4-FFF2-40B4-BE49-F238E27FC236}">
                <a16:creationId xmlns:a16="http://schemas.microsoft.com/office/drawing/2014/main" id="{49A27A3E-C31D-2329-E515-D9BF1A477334}"/>
              </a:ext>
            </a:extLst>
          </p:cNvPr>
          <p:cNvSpPr/>
          <p:nvPr/>
        </p:nvSpPr>
        <p:spPr>
          <a:xfrm>
            <a:off x="7546018" y="4346583"/>
            <a:ext cx="4002765" cy="24479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AA</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営業部　</a:t>
            </a: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YY</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部長</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90" name="ホームベース 22">
            <a:extLst>
              <a:ext uri="{FF2B5EF4-FFF2-40B4-BE49-F238E27FC236}">
                <a16:creationId xmlns:a16="http://schemas.microsoft.com/office/drawing/2014/main" id="{34DD2489-880A-C4B2-8434-2D3506ED18A3}"/>
              </a:ext>
            </a:extLst>
          </p:cNvPr>
          <p:cNvSpPr/>
          <p:nvPr/>
        </p:nvSpPr>
        <p:spPr>
          <a:xfrm>
            <a:off x="6346848" y="4346583"/>
            <a:ext cx="1101518" cy="244790"/>
          </a:xfrm>
          <a:prstGeom prst="homePlate">
            <a:avLst>
              <a:gd name="adj" fmla="val 0"/>
            </a:avLst>
          </a:prstGeom>
          <a:solidFill>
            <a:schemeClr val="accent1">
              <a:lumMod val="10000"/>
              <a:lumOff val="90000"/>
            </a:schemeClr>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実現責任者</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92" name="ホームベース 22">
            <a:extLst>
              <a:ext uri="{FF2B5EF4-FFF2-40B4-BE49-F238E27FC236}">
                <a16:creationId xmlns:a16="http://schemas.microsoft.com/office/drawing/2014/main" id="{3019EB9E-A96D-BE5B-1EF3-6BC219F1A9A8}"/>
              </a:ext>
            </a:extLst>
          </p:cNvPr>
          <p:cNvSpPr/>
          <p:nvPr/>
        </p:nvSpPr>
        <p:spPr>
          <a:xfrm>
            <a:off x="6352845" y="5333107"/>
            <a:ext cx="367552" cy="904181"/>
          </a:xfrm>
          <a:prstGeom prst="homePlate">
            <a:avLst>
              <a:gd name="adj" fmla="val 0"/>
            </a:avLst>
          </a:prstGeom>
          <a:solidFill>
            <a:schemeClr val="accent1">
              <a:lumMod val="25000"/>
              <a:lumOff val="75000"/>
            </a:schemeClr>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効果②</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93" name="ホームベース 22">
            <a:extLst>
              <a:ext uri="{FF2B5EF4-FFF2-40B4-BE49-F238E27FC236}">
                <a16:creationId xmlns:a16="http://schemas.microsoft.com/office/drawing/2014/main" id="{FF31B9C3-BC89-BCDE-6573-97430390BF4A}"/>
              </a:ext>
            </a:extLst>
          </p:cNvPr>
          <p:cNvSpPr/>
          <p:nvPr/>
        </p:nvSpPr>
        <p:spPr>
          <a:xfrm>
            <a:off x="6823360" y="5339217"/>
            <a:ext cx="4725424" cy="24479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外回り時間の削減による営業工数の効率化</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94" name="ホームベース 22">
            <a:extLst>
              <a:ext uri="{FF2B5EF4-FFF2-40B4-BE49-F238E27FC236}">
                <a16:creationId xmlns:a16="http://schemas.microsoft.com/office/drawing/2014/main" id="{497880AD-8B02-F26C-8162-59002E4ABD1F}"/>
              </a:ext>
            </a:extLst>
          </p:cNvPr>
          <p:cNvSpPr/>
          <p:nvPr/>
        </p:nvSpPr>
        <p:spPr>
          <a:xfrm>
            <a:off x="7546018" y="5665858"/>
            <a:ext cx="4002765" cy="24479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外回り時間を削減した分、新規案件獲得に向けて・・・</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95" name="ホームベース 22">
            <a:extLst>
              <a:ext uri="{FF2B5EF4-FFF2-40B4-BE49-F238E27FC236}">
                <a16:creationId xmlns:a16="http://schemas.microsoft.com/office/drawing/2014/main" id="{6EBF5908-2FC3-E7AE-0D40-E5A1063060C7}"/>
              </a:ext>
            </a:extLst>
          </p:cNvPr>
          <p:cNvSpPr/>
          <p:nvPr/>
        </p:nvSpPr>
        <p:spPr>
          <a:xfrm>
            <a:off x="6823360" y="5665858"/>
            <a:ext cx="625005" cy="244790"/>
          </a:xfrm>
          <a:prstGeom prst="homePlate">
            <a:avLst>
              <a:gd name="adj" fmla="val 0"/>
            </a:avLst>
          </a:prstGeom>
          <a:solidFill>
            <a:schemeClr val="accent1">
              <a:lumMod val="10000"/>
              <a:lumOff val="90000"/>
            </a:schemeClr>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根拠①</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97" name="ホームベース 22">
            <a:extLst>
              <a:ext uri="{FF2B5EF4-FFF2-40B4-BE49-F238E27FC236}">
                <a16:creationId xmlns:a16="http://schemas.microsoft.com/office/drawing/2014/main" id="{F64C444C-D069-3659-E35A-72B8CC2F4191}"/>
              </a:ext>
            </a:extLst>
          </p:cNvPr>
          <p:cNvSpPr/>
          <p:nvPr/>
        </p:nvSpPr>
        <p:spPr>
          <a:xfrm>
            <a:off x="7546018" y="5992499"/>
            <a:ext cx="4002765" cy="24479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削減時間</a:t>
            </a: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XX</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時間　</a:t>
            </a: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X</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　社員単金　</a:t>
            </a: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YY</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円　≒　</a:t>
            </a: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ZZ</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円</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98" name="ホームベース 22">
            <a:extLst>
              <a:ext uri="{FF2B5EF4-FFF2-40B4-BE49-F238E27FC236}">
                <a16:creationId xmlns:a16="http://schemas.microsoft.com/office/drawing/2014/main" id="{C91E33B5-3416-3E16-77D2-A1480FFEE76C}"/>
              </a:ext>
            </a:extLst>
          </p:cNvPr>
          <p:cNvSpPr/>
          <p:nvPr/>
        </p:nvSpPr>
        <p:spPr>
          <a:xfrm>
            <a:off x="6823360" y="5992499"/>
            <a:ext cx="625005" cy="244790"/>
          </a:xfrm>
          <a:prstGeom prst="homePlate">
            <a:avLst>
              <a:gd name="adj" fmla="val 0"/>
            </a:avLst>
          </a:prstGeom>
          <a:solidFill>
            <a:schemeClr val="accent1">
              <a:lumMod val="10000"/>
              <a:lumOff val="90000"/>
            </a:schemeClr>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根拠②</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99" name="ホームベース 22">
            <a:extLst>
              <a:ext uri="{FF2B5EF4-FFF2-40B4-BE49-F238E27FC236}">
                <a16:creationId xmlns:a16="http://schemas.microsoft.com/office/drawing/2014/main" id="{DCCEC5A1-D0EB-40E1-97BA-378B1254F4F3}"/>
              </a:ext>
            </a:extLst>
          </p:cNvPr>
          <p:cNvSpPr/>
          <p:nvPr/>
        </p:nvSpPr>
        <p:spPr>
          <a:xfrm>
            <a:off x="7546018" y="6319139"/>
            <a:ext cx="4002765" cy="244790"/>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BB</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営業部　</a:t>
            </a: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ZZ</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部長</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00" name="ホームベース 22">
            <a:extLst>
              <a:ext uri="{FF2B5EF4-FFF2-40B4-BE49-F238E27FC236}">
                <a16:creationId xmlns:a16="http://schemas.microsoft.com/office/drawing/2014/main" id="{85ED74F3-FF9D-21D1-3283-03CEFA2538E2}"/>
              </a:ext>
            </a:extLst>
          </p:cNvPr>
          <p:cNvSpPr/>
          <p:nvPr/>
        </p:nvSpPr>
        <p:spPr>
          <a:xfrm>
            <a:off x="6346848" y="6319139"/>
            <a:ext cx="1101518" cy="244790"/>
          </a:xfrm>
          <a:prstGeom prst="homePlate">
            <a:avLst>
              <a:gd name="adj" fmla="val 0"/>
            </a:avLst>
          </a:prstGeom>
          <a:solidFill>
            <a:schemeClr val="accent1">
              <a:lumMod val="10000"/>
              <a:lumOff val="90000"/>
            </a:schemeClr>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実現責任者</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2121772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CC35C-555F-C2BE-A22B-07DFAE8222E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82E6E86-EDBC-8DCD-80F1-FFF71E398B17}"/>
              </a:ext>
            </a:extLst>
          </p:cNvPr>
          <p:cNvSpPr>
            <a:spLocks noGrp="1"/>
          </p:cNvSpPr>
          <p:nvPr>
            <p:ph type="title"/>
          </p:nvPr>
        </p:nvSpPr>
        <p:spPr/>
        <p:txBody>
          <a:bodyPr/>
          <a:lstStyle/>
          <a:p>
            <a:r>
              <a:rPr lang="ja-JP" altLang="en-US" sz="1600" dirty="0">
                <a:solidFill>
                  <a:schemeClr val="accent2"/>
                </a:solidFill>
                <a:latin typeface="Meiryo UI" panose="020B0604030504040204" pitchFamily="50" charset="-128"/>
                <a:ea typeface="Meiryo UI" panose="020B0604030504040204" pitchFamily="50" charset="-128"/>
              </a:rPr>
              <a:t>事例③：医療機器メーカー　試薬販売予測システム</a:t>
            </a:r>
            <a:br>
              <a:rPr lang="en-US" altLang="ja-JP" sz="3600" dirty="0">
                <a:solidFill>
                  <a:schemeClr val="accent2"/>
                </a:solidFill>
                <a:latin typeface="Meiryo UI" panose="020B0604030504040204" pitchFamily="50" charset="-128"/>
                <a:ea typeface="Meiryo UI" panose="020B0604030504040204" pitchFamily="50" charset="-128"/>
              </a:rPr>
            </a:br>
            <a:r>
              <a:rPr lang="ja-JP" altLang="en-US" sz="2400" dirty="0">
                <a:solidFill>
                  <a:schemeClr val="accent2"/>
                </a:solidFill>
                <a:latin typeface="Meiryo UI" panose="020B0604030504040204" pitchFamily="50" charset="-128"/>
                <a:ea typeface="Meiryo UI" panose="020B0604030504040204" pitchFamily="50" charset="-128"/>
              </a:rPr>
              <a:t>解決に向けた営み（</a:t>
            </a:r>
            <a:r>
              <a:rPr lang="en-US" altLang="ja-JP" sz="2400" dirty="0">
                <a:solidFill>
                  <a:schemeClr val="accent2"/>
                </a:solidFill>
                <a:latin typeface="Meiryo UI" panose="020B0604030504040204" pitchFamily="50" charset="-128"/>
                <a:ea typeface="Meiryo UI" panose="020B0604030504040204" pitchFamily="50" charset="-128"/>
              </a:rPr>
              <a:t>2/2</a:t>
            </a:r>
            <a:r>
              <a:rPr lang="ja-JP" altLang="en-US" sz="2400" dirty="0">
                <a:solidFill>
                  <a:schemeClr val="accent2"/>
                </a:solidFill>
                <a:latin typeface="Meiryo UI" panose="020B0604030504040204" pitchFamily="50" charset="-128"/>
                <a:ea typeface="Meiryo UI" panose="020B0604030504040204" pitchFamily="50" charset="-128"/>
              </a:rPr>
              <a:t>）</a:t>
            </a:r>
          </a:p>
        </p:txBody>
      </p:sp>
      <p:sp>
        <p:nvSpPr>
          <p:cNvPr id="3" name="コンテンツ プレースホルダー 3">
            <a:extLst>
              <a:ext uri="{FF2B5EF4-FFF2-40B4-BE49-F238E27FC236}">
                <a16:creationId xmlns:a16="http://schemas.microsoft.com/office/drawing/2014/main" id="{84D6C4DB-EE69-7B02-56DD-7D5681407C21}"/>
              </a:ext>
            </a:extLst>
          </p:cNvPr>
          <p:cNvSpPr>
            <a:spLocks noGrp="1"/>
          </p:cNvSpPr>
          <p:nvPr>
            <p:ph sz="quarter" idx="10"/>
          </p:nvPr>
        </p:nvSpPr>
        <p:spPr>
          <a:xfrm>
            <a:off x="388603" y="945178"/>
            <a:ext cx="11448000" cy="746871"/>
          </a:xfrm>
        </p:spPr>
        <p:txBody>
          <a:bodyPr/>
          <a:lstStyle/>
          <a:p>
            <a:r>
              <a:rPr lang="ja-JP" altLang="en-US" dirty="0"/>
              <a:t>最初から長期・大規模</a:t>
            </a:r>
            <a:r>
              <a:rPr lang="en-US" altLang="ja-JP" dirty="0"/>
              <a:t>PJ</a:t>
            </a:r>
            <a:r>
              <a:rPr lang="ja-JP" altLang="en-US" dirty="0"/>
              <a:t>にせず、短く契約期間を区切り明確なゴールイメージを外部エキスパート集団と合意した</a:t>
            </a:r>
            <a:br>
              <a:rPr lang="en-US" altLang="ja-JP" dirty="0"/>
            </a:br>
            <a:r>
              <a:rPr lang="ja-JP" altLang="en-US" dirty="0"/>
              <a:t>うえで</a:t>
            </a:r>
            <a:r>
              <a:rPr lang="en-US" altLang="ja-JP" dirty="0"/>
              <a:t>PJ</a:t>
            </a:r>
            <a:r>
              <a:rPr lang="ja-JP" altLang="en-US" dirty="0"/>
              <a:t>の全権を外部メンバーに委ねることにした。</a:t>
            </a:r>
          </a:p>
        </p:txBody>
      </p:sp>
      <p:sp>
        <p:nvSpPr>
          <p:cNvPr id="4" name="正方形/長方形 95">
            <a:extLst>
              <a:ext uri="{FF2B5EF4-FFF2-40B4-BE49-F238E27FC236}">
                <a16:creationId xmlns:a16="http://schemas.microsoft.com/office/drawing/2014/main" id="{7DDD2F46-07D7-9069-DB8E-75E2C27333B2}"/>
              </a:ext>
            </a:extLst>
          </p:cNvPr>
          <p:cNvSpPr/>
          <p:nvPr/>
        </p:nvSpPr>
        <p:spPr>
          <a:xfrm>
            <a:off x="640328" y="1742048"/>
            <a:ext cx="5198828" cy="24479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srgbClr val="FFFFFF"/>
                </a:solidFill>
                <a:effectLst/>
                <a:uLnTx/>
                <a:uFillTx/>
                <a:latin typeface="Arial"/>
                <a:ea typeface="Meiryo UI"/>
                <a:cs typeface="+mn-cs"/>
              </a:rPr>
              <a:t>セル型組織の立ち上げ</a:t>
            </a:r>
          </a:p>
        </p:txBody>
      </p:sp>
      <p:pic>
        <p:nvPicPr>
          <p:cNvPr id="13" name="Graphic 12" descr="Programmer male with solid fill">
            <a:extLst>
              <a:ext uri="{FF2B5EF4-FFF2-40B4-BE49-F238E27FC236}">
                <a16:creationId xmlns:a16="http://schemas.microsoft.com/office/drawing/2014/main" id="{86E92CFB-44AA-EE91-8D22-A215E6B6897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328" y="3701284"/>
            <a:ext cx="914400" cy="914400"/>
          </a:xfrm>
          <a:prstGeom prst="rect">
            <a:avLst/>
          </a:prstGeom>
        </p:spPr>
      </p:pic>
      <p:pic>
        <p:nvPicPr>
          <p:cNvPr id="16" name="Graphic 15" descr="Office worker male with solid fill">
            <a:extLst>
              <a:ext uri="{FF2B5EF4-FFF2-40B4-BE49-F238E27FC236}">
                <a16:creationId xmlns:a16="http://schemas.microsoft.com/office/drawing/2014/main" id="{0F658D4C-72DA-331B-163B-75A01FDCF41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0328" y="2351703"/>
            <a:ext cx="914400" cy="914400"/>
          </a:xfrm>
          <a:prstGeom prst="rect">
            <a:avLst/>
          </a:prstGeom>
        </p:spPr>
      </p:pic>
      <p:pic>
        <p:nvPicPr>
          <p:cNvPr id="18" name="Graphic 17" descr="Programmer male with solid fill">
            <a:extLst>
              <a:ext uri="{FF2B5EF4-FFF2-40B4-BE49-F238E27FC236}">
                <a16:creationId xmlns:a16="http://schemas.microsoft.com/office/drawing/2014/main" id="{82FC66B7-32B7-8A71-9580-58ACB0D64D9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328" y="5037551"/>
            <a:ext cx="914400" cy="914400"/>
          </a:xfrm>
          <a:prstGeom prst="rect">
            <a:avLst/>
          </a:prstGeom>
        </p:spPr>
      </p:pic>
      <p:sp>
        <p:nvSpPr>
          <p:cNvPr id="20" name="TextBox 19">
            <a:extLst>
              <a:ext uri="{FF2B5EF4-FFF2-40B4-BE49-F238E27FC236}">
                <a16:creationId xmlns:a16="http://schemas.microsoft.com/office/drawing/2014/main" id="{2BDC6748-9848-B635-F152-AEA72D7CBAF7}"/>
              </a:ext>
            </a:extLst>
          </p:cNvPr>
          <p:cNvSpPr txBox="1"/>
          <p:nvPr/>
        </p:nvSpPr>
        <p:spPr>
          <a:xfrm>
            <a:off x="1554728" y="2259371"/>
            <a:ext cx="1426994"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AI</a:t>
            </a:r>
            <a:r>
              <a:rPr kumimoji="1" lang="ja-JP" altLang="en-US" sz="1200" b="1"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プロフェッショナル</a:t>
            </a:r>
            <a:endParaRPr kumimoji="1" lang="en-US" sz="1200" b="1" i="0" u="none" strike="noStrike" kern="1200" cap="none" spc="0" normalizeH="0" baseline="0" noProof="0" dirty="0">
              <a:ln>
                <a:noFill/>
              </a:ln>
              <a:solidFill>
                <a:srgbClr val="000000">
                  <a:lumMod val="75000"/>
                  <a:lumOff val="25000"/>
                </a:srgbClr>
              </a:solidFill>
              <a:effectLst/>
              <a:uLnTx/>
              <a:uFillTx/>
              <a:latin typeface="Meiryo UI"/>
              <a:ea typeface="Meiryo UI"/>
              <a:cs typeface="+mn-cs"/>
            </a:endParaRPr>
          </a:p>
        </p:txBody>
      </p:sp>
      <p:sp>
        <p:nvSpPr>
          <p:cNvPr id="22" name="TextBox 21">
            <a:extLst>
              <a:ext uri="{FF2B5EF4-FFF2-40B4-BE49-F238E27FC236}">
                <a16:creationId xmlns:a16="http://schemas.microsoft.com/office/drawing/2014/main" id="{905F4933-8036-01B9-9430-1405C669685A}"/>
              </a:ext>
            </a:extLst>
          </p:cNvPr>
          <p:cNvSpPr txBox="1"/>
          <p:nvPr/>
        </p:nvSpPr>
        <p:spPr>
          <a:xfrm>
            <a:off x="1554728" y="2490113"/>
            <a:ext cx="4284428" cy="830997"/>
          </a:xfrm>
          <a:prstGeom prst="rect">
            <a:avLst/>
          </a:prstGeom>
          <a:noFill/>
        </p:spPr>
        <p:txBody>
          <a:bodyPr wrap="square" rtlCol="0">
            <a:sp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経歴：</a:t>
            </a:r>
            <a:r>
              <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10</a:t>
            </a: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年</a:t>
            </a:r>
            <a:r>
              <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a:t>
            </a:r>
          </a:p>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シリコンバレーで長期間</a:t>
            </a:r>
            <a:r>
              <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AI</a:t>
            </a: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開発に携わり、事業化した実績多数。</a:t>
            </a:r>
            <a:endPar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endParaRPr>
          </a:p>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開発コミュニティ内でこの人と一緒に仕事できるならぜひ参加したいと思う人も多い。</a:t>
            </a:r>
            <a:endParaRPr kumimoji="1" lang="en-US" sz="120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endParaRPr>
          </a:p>
        </p:txBody>
      </p:sp>
      <p:sp>
        <p:nvSpPr>
          <p:cNvPr id="26" name="TextBox 25">
            <a:extLst>
              <a:ext uri="{FF2B5EF4-FFF2-40B4-BE49-F238E27FC236}">
                <a16:creationId xmlns:a16="http://schemas.microsoft.com/office/drawing/2014/main" id="{FC67371F-6D84-9B4B-69DB-06563D9164D3}"/>
              </a:ext>
            </a:extLst>
          </p:cNvPr>
          <p:cNvSpPr txBox="1"/>
          <p:nvPr/>
        </p:nvSpPr>
        <p:spPr>
          <a:xfrm>
            <a:off x="1554728" y="3739242"/>
            <a:ext cx="1550424"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アルゴリズム開発担当</a:t>
            </a:r>
            <a:endParaRPr kumimoji="1" lang="en-US" sz="1200" b="1" i="0" u="none" strike="noStrike" kern="1200" cap="none" spc="0" normalizeH="0" baseline="0" noProof="0" dirty="0">
              <a:ln>
                <a:noFill/>
              </a:ln>
              <a:solidFill>
                <a:srgbClr val="000000">
                  <a:lumMod val="75000"/>
                  <a:lumOff val="25000"/>
                </a:srgbClr>
              </a:solidFill>
              <a:effectLst/>
              <a:uLnTx/>
              <a:uFillTx/>
              <a:latin typeface="Meiryo UI"/>
              <a:ea typeface="Meiryo UI"/>
              <a:cs typeface="+mn-cs"/>
            </a:endParaRPr>
          </a:p>
        </p:txBody>
      </p:sp>
      <p:sp>
        <p:nvSpPr>
          <p:cNvPr id="32" name="TextBox 31">
            <a:extLst>
              <a:ext uri="{FF2B5EF4-FFF2-40B4-BE49-F238E27FC236}">
                <a16:creationId xmlns:a16="http://schemas.microsoft.com/office/drawing/2014/main" id="{72A8A1A0-85C5-2CA9-3431-7C1C75F26EB6}"/>
              </a:ext>
            </a:extLst>
          </p:cNvPr>
          <p:cNvSpPr txBox="1"/>
          <p:nvPr/>
        </p:nvSpPr>
        <p:spPr>
          <a:xfrm>
            <a:off x="1554728" y="3969984"/>
            <a:ext cx="4284428" cy="646331"/>
          </a:xfrm>
          <a:prstGeom prst="rect">
            <a:avLst/>
          </a:prstGeom>
          <a:noFill/>
        </p:spPr>
        <p:txBody>
          <a:bodyPr wrap="square" rtlCol="0">
            <a:sp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経歴：</a:t>
            </a:r>
            <a:r>
              <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5</a:t>
            </a: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年</a:t>
            </a:r>
            <a:r>
              <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a:t>
            </a:r>
          </a:p>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画像分析や機械学習のアルゴリズム開発を専攻し業界内でフリーランサーとして数年間渡り歩いた経験あり。</a:t>
            </a:r>
            <a:endParaRPr kumimoji="1" lang="en-US" sz="120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endParaRPr>
          </a:p>
        </p:txBody>
      </p:sp>
      <p:sp>
        <p:nvSpPr>
          <p:cNvPr id="33" name="TextBox 32">
            <a:extLst>
              <a:ext uri="{FF2B5EF4-FFF2-40B4-BE49-F238E27FC236}">
                <a16:creationId xmlns:a16="http://schemas.microsoft.com/office/drawing/2014/main" id="{22DEAAA7-C422-EAC8-2424-C8B0811DA909}"/>
              </a:ext>
            </a:extLst>
          </p:cNvPr>
          <p:cNvSpPr txBox="1"/>
          <p:nvPr/>
        </p:nvSpPr>
        <p:spPr>
          <a:xfrm>
            <a:off x="1554728" y="5075915"/>
            <a:ext cx="1619354"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データチューニング担当</a:t>
            </a:r>
            <a:endParaRPr kumimoji="1" lang="en-US" sz="1200" b="1" i="0" u="none" strike="noStrike" kern="1200" cap="none" spc="0" normalizeH="0" baseline="0" noProof="0" dirty="0">
              <a:ln>
                <a:noFill/>
              </a:ln>
              <a:solidFill>
                <a:srgbClr val="000000">
                  <a:lumMod val="75000"/>
                  <a:lumOff val="25000"/>
                </a:srgbClr>
              </a:solidFill>
              <a:effectLst/>
              <a:uLnTx/>
              <a:uFillTx/>
              <a:latin typeface="Meiryo UI"/>
              <a:ea typeface="Meiryo UI"/>
              <a:cs typeface="+mn-cs"/>
            </a:endParaRPr>
          </a:p>
        </p:txBody>
      </p:sp>
      <p:sp>
        <p:nvSpPr>
          <p:cNvPr id="34" name="TextBox 33">
            <a:extLst>
              <a:ext uri="{FF2B5EF4-FFF2-40B4-BE49-F238E27FC236}">
                <a16:creationId xmlns:a16="http://schemas.microsoft.com/office/drawing/2014/main" id="{1C123615-E13E-4A3C-7B80-43728C6D0A11}"/>
              </a:ext>
            </a:extLst>
          </p:cNvPr>
          <p:cNvSpPr txBox="1"/>
          <p:nvPr/>
        </p:nvSpPr>
        <p:spPr>
          <a:xfrm>
            <a:off x="1554728" y="5306657"/>
            <a:ext cx="4284428" cy="646331"/>
          </a:xfrm>
          <a:prstGeom prst="rect">
            <a:avLst/>
          </a:prstGeom>
          <a:noFill/>
        </p:spPr>
        <p:txBody>
          <a:bodyPr wrap="square" rtlCol="0">
            <a:sp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経歴：</a:t>
            </a:r>
            <a:r>
              <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5</a:t>
            </a: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年</a:t>
            </a:r>
            <a:r>
              <a:rPr kumimoji="1" lang="en-US" altLang="ja-JP" sz="120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a:t>
            </a:r>
          </a:p>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rPr>
              <a:t>教師あり・なし、強化学習といった様々なケースに長けており、特に開発後のデータチューニングを得意とする。</a:t>
            </a:r>
            <a:endParaRPr kumimoji="1" lang="en-US" sz="1200" b="0" i="0" u="none" strike="noStrike" kern="1200" cap="none" spc="0" normalizeH="0" baseline="0" noProof="0" dirty="0">
              <a:ln>
                <a:noFill/>
              </a:ln>
              <a:solidFill>
                <a:srgbClr val="000000">
                  <a:lumMod val="75000"/>
                  <a:lumOff val="25000"/>
                </a:srgbClr>
              </a:solidFill>
              <a:effectLst/>
              <a:uLnTx/>
              <a:uFillTx/>
              <a:latin typeface="Meiryo UI"/>
              <a:ea typeface="Meiryo UI"/>
              <a:cs typeface="+mn-cs"/>
            </a:endParaRPr>
          </a:p>
        </p:txBody>
      </p:sp>
      <p:sp>
        <p:nvSpPr>
          <p:cNvPr id="35" name="正方形/長方形 95">
            <a:extLst>
              <a:ext uri="{FF2B5EF4-FFF2-40B4-BE49-F238E27FC236}">
                <a16:creationId xmlns:a16="http://schemas.microsoft.com/office/drawing/2014/main" id="{D8374F5C-88E5-DFC8-064E-704AEE3D6D69}"/>
              </a:ext>
            </a:extLst>
          </p:cNvPr>
          <p:cNvSpPr/>
          <p:nvPr/>
        </p:nvSpPr>
        <p:spPr>
          <a:xfrm>
            <a:off x="6352844" y="1742048"/>
            <a:ext cx="5198828" cy="24479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srgbClr val="FFFFFF"/>
                </a:solidFill>
                <a:effectLst/>
                <a:uLnTx/>
                <a:uFillTx/>
                <a:latin typeface="Arial"/>
                <a:ea typeface="Meiryo UI"/>
                <a:cs typeface="+mn-cs"/>
              </a:rPr>
              <a:t>フェーズごとの目標設定・実現管理</a:t>
            </a:r>
          </a:p>
        </p:txBody>
      </p:sp>
      <p:sp>
        <p:nvSpPr>
          <p:cNvPr id="36" name="ホームベース 22">
            <a:extLst>
              <a:ext uri="{FF2B5EF4-FFF2-40B4-BE49-F238E27FC236}">
                <a16:creationId xmlns:a16="http://schemas.microsoft.com/office/drawing/2014/main" id="{CCA4884D-3BDD-5495-83A3-098D0202119D}"/>
              </a:ext>
            </a:extLst>
          </p:cNvPr>
          <p:cNvSpPr/>
          <p:nvPr/>
        </p:nvSpPr>
        <p:spPr>
          <a:xfrm>
            <a:off x="6352844" y="2069641"/>
            <a:ext cx="1330514" cy="244791"/>
          </a:xfrm>
          <a:prstGeom prst="homePlate">
            <a:avLst>
              <a:gd name="adj" fmla="val 0"/>
            </a:avLst>
          </a:prstGeom>
          <a:solidFill>
            <a:schemeClr val="accent1">
              <a:lumMod val="10000"/>
              <a:lumOff val="90000"/>
            </a:schemeClr>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PoC</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フェーズ</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37" name="ホームベース 22">
            <a:extLst>
              <a:ext uri="{FF2B5EF4-FFF2-40B4-BE49-F238E27FC236}">
                <a16:creationId xmlns:a16="http://schemas.microsoft.com/office/drawing/2014/main" id="{7C566A8B-673D-D26B-F8B3-2F00E6549A32}"/>
              </a:ext>
            </a:extLst>
          </p:cNvPr>
          <p:cNvSpPr/>
          <p:nvPr/>
        </p:nvSpPr>
        <p:spPr>
          <a:xfrm>
            <a:off x="6352843" y="2415708"/>
            <a:ext cx="5198827" cy="244791"/>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期間：</a:t>
            </a: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3</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ヶ月</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38" name="ホームベース 22">
            <a:extLst>
              <a:ext uri="{FF2B5EF4-FFF2-40B4-BE49-F238E27FC236}">
                <a16:creationId xmlns:a16="http://schemas.microsoft.com/office/drawing/2014/main" id="{24218061-651E-9975-20F7-D654FB5B7916}"/>
              </a:ext>
            </a:extLst>
          </p:cNvPr>
          <p:cNvSpPr/>
          <p:nvPr/>
        </p:nvSpPr>
        <p:spPr>
          <a:xfrm>
            <a:off x="6352843" y="2761775"/>
            <a:ext cx="5198827" cy="244791"/>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コスト目標：</a:t>
            </a: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XXXX</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円以下</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39" name="ホームベース 22">
            <a:extLst>
              <a:ext uri="{FF2B5EF4-FFF2-40B4-BE49-F238E27FC236}">
                <a16:creationId xmlns:a16="http://schemas.microsoft.com/office/drawing/2014/main" id="{646D1FA8-B5D2-C643-8B83-242C2438E70F}"/>
              </a:ext>
            </a:extLst>
          </p:cNvPr>
          <p:cNvSpPr/>
          <p:nvPr/>
        </p:nvSpPr>
        <p:spPr>
          <a:xfrm>
            <a:off x="6352843" y="3107842"/>
            <a:ext cx="5198827" cy="244791"/>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期待効果：</a:t>
            </a: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XX</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営業部で実証で</a:t>
            </a: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YY</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点以上の評価獲得。</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40" name="TextBox 90">
            <a:extLst>
              <a:ext uri="{FF2B5EF4-FFF2-40B4-BE49-F238E27FC236}">
                <a16:creationId xmlns:a16="http://schemas.microsoft.com/office/drawing/2014/main" id="{3825D6B2-54A5-716F-44AD-C399B3EF7895}"/>
              </a:ext>
            </a:extLst>
          </p:cNvPr>
          <p:cNvSpPr txBox="1"/>
          <p:nvPr/>
        </p:nvSpPr>
        <p:spPr>
          <a:xfrm>
            <a:off x="8495056" y="5659134"/>
            <a:ext cx="914400" cy="507376"/>
          </a:xfrm>
          <a:prstGeom prst="rect">
            <a:avLst/>
          </a:prstGeom>
        </p:spPr>
        <p:txBody>
          <a:bodyPr vert="eaVert" wrap="none" lIns="0" rIns="0" rtlCol="0" anchor="ctr">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sz="1200" b="0" i="0" u="none" strike="noStrike" kern="1200" cap="none" spc="0" normalizeH="0" baseline="0" noProof="0" dirty="0">
              <a:ln>
                <a:noFill/>
              </a:ln>
              <a:solidFill>
                <a:srgbClr val="000000"/>
              </a:solidFill>
              <a:effectLst/>
              <a:uLnTx/>
              <a:uFillTx/>
              <a:latin typeface="Meiryo UI"/>
              <a:ea typeface="Meiryo UI"/>
              <a:cs typeface="+mn-cs"/>
            </a:endParaRPr>
          </a:p>
        </p:txBody>
      </p:sp>
      <p:sp>
        <p:nvSpPr>
          <p:cNvPr id="41" name="ホームベース 22">
            <a:extLst>
              <a:ext uri="{FF2B5EF4-FFF2-40B4-BE49-F238E27FC236}">
                <a16:creationId xmlns:a16="http://schemas.microsoft.com/office/drawing/2014/main" id="{5FEBB359-F721-1CA1-0829-61FAED3524B2}"/>
              </a:ext>
            </a:extLst>
          </p:cNvPr>
          <p:cNvSpPr/>
          <p:nvPr/>
        </p:nvSpPr>
        <p:spPr>
          <a:xfrm>
            <a:off x="6352844" y="3632950"/>
            <a:ext cx="5198826" cy="244791"/>
          </a:xfrm>
          <a:prstGeom prst="homePlate">
            <a:avLst>
              <a:gd name="adj" fmla="val 0"/>
            </a:avLst>
          </a:prstGeom>
          <a:solidFill>
            <a:schemeClr val="accent1">
              <a:lumMod val="10000"/>
              <a:lumOff val="90000"/>
            </a:schemeClr>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評価ゲート</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42" name="ホームベース 22">
            <a:extLst>
              <a:ext uri="{FF2B5EF4-FFF2-40B4-BE49-F238E27FC236}">
                <a16:creationId xmlns:a16="http://schemas.microsoft.com/office/drawing/2014/main" id="{DD010253-D0E4-419D-1065-AB24887DF8A7}"/>
              </a:ext>
            </a:extLst>
          </p:cNvPr>
          <p:cNvSpPr/>
          <p:nvPr/>
        </p:nvSpPr>
        <p:spPr>
          <a:xfrm>
            <a:off x="6352844" y="4158058"/>
            <a:ext cx="1330514" cy="244791"/>
          </a:xfrm>
          <a:prstGeom prst="homePlate">
            <a:avLst>
              <a:gd name="adj" fmla="val 0"/>
            </a:avLst>
          </a:prstGeom>
          <a:solidFill>
            <a:schemeClr val="accent1">
              <a:lumMod val="10000"/>
              <a:lumOff val="90000"/>
            </a:schemeClr>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初期実装</a:t>
            </a: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Ph</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 </a:t>
            </a: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1</a:t>
            </a:r>
          </a:p>
        </p:txBody>
      </p:sp>
      <p:sp>
        <p:nvSpPr>
          <p:cNvPr id="43" name="ホームベース 22">
            <a:extLst>
              <a:ext uri="{FF2B5EF4-FFF2-40B4-BE49-F238E27FC236}">
                <a16:creationId xmlns:a16="http://schemas.microsoft.com/office/drawing/2014/main" id="{9490CFCD-5474-8570-D230-05CF04E30A2C}"/>
              </a:ext>
            </a:extLst>
          </p:cNvPr>
          <p:cNvSpPr/>
          <p:nvPr/>
        </p:nvSpPr>
        <p:spPr>
          <a:xfrm>
            <a:off x="6352843" y="4504125"/>
            <a:ext cx="5198827" cy="244791"/>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期間：</a:t>
            </a: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XX</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ヶ月</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44" name="ホームベース 22">
            <a:extLst>
              <a:ext uri="{FF2B5EF4-FFF2-40B4-BE49-F238E27FC236}">
                <a16:creationId xmlns:a16="http://schemas.microsoft.com/office/drawing/2014/main" id="{E4BE6741-A6F4-3315-745D-BD4906913E13}"/>
              </a:ext>
            </a:extLst>
          </p:cNvPr>
          <p:cNvSpPr/>
          <p:nvPr/>
        </p:nvSpPr>
        <p:spPr>
          <a:xfrm>
            <a:off x="6352843" y="4850192"/>
            <a:ext cx="5198827" cy="244791"/>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コスト目標：</a:t>
            </a: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XXXX</a:t>
            </a: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円以下</a:t>
            </a:r>
            <a:endPar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45" name="ホームベース 22">
            <a:extLst>
              <a:ext uri="{FF2B5EF4-FFF2-40B4-BE49-F238E27FC236}">
                <a16:creationId xmlns:a16="http://schemas.microsoft.com/office/drawing/2014/main" id="{CB2086FF-53F9-1A31-E4FE-9BA444B2AD49}"/>
              </a:ext>
            </a:extLst>
          </p:cNvPr>
          <p:cNvSpPr/>
          <p:nvPr/>
        </p:nvSpPr>
        <p:spPr>
          <a:xfrm>
            <a:off x="6352843" y="5196259"/>
            <a:ext cx="5198827" cy="244791"/>
          </a:xfrm>
          <a:prstGeom prst="homePlate">
            <a:avLst>
              <a:gd name="adj" fmla="val 0"/>
            </a:avLst>
          </a:prstGeom>
          <a:solidFill>
            <a:schemeClr val="bg1"/>
          </a:solidFill>
          <a:ln w="158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15888" marR="0" lvl="0" indent="-1158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期待効果：</a:t>
            </a:r>
            <a:r>
              <a:rPr kumimoji="1" lang="en-US" altLang="ja-JP" sz="1100" b="0"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XXXXX</a:t>
            </a:r>
          </a:p>
        </p:txBody>
      </p:sp>
    </p:spTree>
    <p:extLst>
      <p:ext uri="{BB962C8B-B14F-4D97-AF65-F5344CB8AC3E}">
        <p14:creationId xmlns:p14="http://schemas.microsoft.com/office/powerpoint/2010/main" val="1432295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5FB5E-ECB3-3209-5DCB-56D1DBC3D97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45AED6F-5B09-E177-9272-3213A5A89DC7}"/>
              </a:ext>
            </a:extLst>
          </p:cNvPr>
          <p:cNvSpPr>
            <a:spLocks noGrp="1"/>
          </p:cNvSpPr>
          <p:nvPr>
            <p:ph type="title"/>
          </p:nvPr>
        </p:nvSpPr>
        <p:spPr/>
        <p:txBody>
          <a:bodyPr vert="horz" lIns="0" tIns="0" rIns="0" bIns="0" rtlCol="0" anchor="t" anchorCtr="0">
            <a:noAutofit/>
          </a:bodyPr>
          <a:lstStyle/>
          <a:p>
            <a:r>
              <a:rPr lang="ja-JP" altLang="en-US" sz="2400">
                <a:solidFill>
                  <a:schemeClr val="accent2"/>
                </a:solidFill>
                <a:latin typeface="Meiryo UI" panose="020B0604030504040204" pitchFamily="50" charset="-128"/>
                <a:ea typeface="Meiryo UI" panose="020B0604030504040204" pitchFamily="50" charset="-128"/>
              </a:rPr>
              <a:t>事例④：大手自動車メーカーのスキル・リソース計画</a:t>
            </a:r>
          </a:p>
        </p:txBody>
      </p:sp>
      <p:sp>
        <p:nvSpPr>
          <p:cNvPr id="19" name="矢印: 五方向 18">
            <a:extLst>
              <a:ext uri="{FF2B5EF4-FFF2-40B4-BE49-F238E27FC236}">
                <a16:creationId xmlns:a16="http://schemas.microsoft.com/office/drawing/2014/main" id="{0E15ADC0-0147-5436-E4B7-FAB406CD4A52}"/>
              </a:ext>
            </a:extLst>
          </p:cNvPr>
          <p:cNvSpPr/>
          <p:nvPr/>
        </p:nvSpPr>
        <p:spPr>
          <a:xfrm>
            <a:off x="175388" y="2788449"/>
            <a:ext cx="4424395" cy="333074"/>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Arial"/>
                <a:ea typeface="Meiryo UI"/>
                <a:cs typeface="+mn-cs"/>
              </a:rPr>
              <a:t>スキルセット・レベル定義</a:t>
            </a:r>
          </a:p>
        </p:txBody>
      </p:sp>
      <p:sp>
        <p:nvSpPr>
          <p:cNvPr id="20" name="矢印: 五方向 19">
            <a:extLst>
              <a:ext uri="{FF2B5EF4-FFF2-40B4-BE49-F238E27FC236}">
                <a16:creationId xmlns:a16="http://schemas.microsoft.com/office/drawing/2014/main" id="{CDB918AC-3525-9F1C-706E-8AF1826EE10D}"/>
              </a:ext>
            </a:extLst>
          </p:cNvPr>
          <p:cNvSpPr/>
          <p:nvPr/>
        </p:nvSpPr>
        <p:spPr>
          <a:xfrm>
            <a:off x="4599783" y="2788738"/>
            <a:ext cx="1818073" cy="704922"/>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Arial"/>
                <a:ea typeface="Meiryo UI"/>
                <a:cs typeface="+mn-cs"/>
              </a:rPr>
              <a:t>現状のアセスメント</a:t>
            </a:r>
            <a:endParaRPr kumimoji="1" lang="en-US" altLang="ja-JP" sz="1400" b="0" i="0" u="none" strike="noStrike" kern="1200" cap="none" spc="0" normalizeH="0" baseline="0" noProof="0">
              <a:ln>
                <a:noFill/>
              </a:ln>
              <a:solidFill>
                <a:srgbClr val="000000"/>
              </a:solidFill>
              <a:effectLst/>
              <a:uLnTx/>
              <a:uFillTx/>
              <a:latin typeface="Arial"/>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a:ea typeface="Meiryo UI"/>
                <a:cs typeface="+mn-cs"/>
              </a:rPr>
              <a:t>DB</a:t>
            </a:r>
            <a:r>
              <a:rPr kumimoji="1" lang="ja-JP" altLang="en-US" sz="1400" b="0" i="0" u="none" strike="noStrike" kern="1200" cap="none" spc="0" normalizeH="0" baseline="0" noProof="0">
                <a:ln>
                  <a:noFill/>
                </a:ln>
                <a:solidFill>
                  <a:srgbClr val="000000"/>
                </a:solidFill>
                <a:effectLst/>
                <a:uLnTx/>
                <a:uFillTx/>
                <a:latin typeface="Arial"/>
                <a:ea typeface="Meiryo UI"/>
                <a:cs typeface="+mn-cs"/>
              </a:rPr>
              <a:t>への人財登録</a:t>
            </a:r>
          </a:p>
        </p:txBody>
      </p:sp>
      <p:sp>
        <p:nvSpPr>
          <p:cNvPr id="21" name="矢印: 五方向 20">
            <a:extLst>
              <a:ext uri="{FF2B5EF4-FFF2-40B4-BE49-F238E27FC236}">
                <a16:creationId xmlns:a16="http://schemas.microsoft.com/office/drawing/2014/main" id="{70CE2627-978F-400D-04A5-6EB9EE2920AE}"/>
              </a:ext>
            </a:extLst>
          </p:cNvPr>
          <p:cNvSpPr/>
          <p:nvPr/>
        </p:nvSpPr>
        <p:spPr>
          <a:xfrm>
            <a:off x="6417856" y="2788738"/>
            <a:ext cx="2800992" cy="704922"/>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Arial"/>
                <a:ea typeface="Meiryo UI"/>
                <a:cs typeface="+mn-cs"/>
              </a:rPr>
              <a:t>中期的な受注計画と</a:t>
            </a:r>
            <a:endParaRPr kumimoji="1" lang="en-US" altLang="ja-JP" sz="1400" b="0" i="0" u="none" strike="noStrike" kern="1200" cap="none" spc="0" normalizeH="0" baseline="0" noProof="0">
              <a:ln>
                <a:noFill/>
              </a:ln>
              <a:solidFill>
                <a:srgbClr val="000000"/>
              </a:solidFill>
              <a:effectLst/>
              <a:uLnTx/>
              <a:uFillTx/>
              <a:latin typeface="Arial"/>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Arial"/>
                <a:ea typeface="Meiryo UI"/>
                <a:cs typeface="+mn-cs"/>
              </a:rPr>
              <a:t>リソースのギャップ試算</a:t>
            </a:r>
          </a:p>
        </p:txBody>
      </p:sp>
      <p:sp>
        <p:nvSpPr>
          <p:cNvPr id="22" name="矢印: 五方向 21">
            <a:extLst>
              <a:ext uri="{FF2B5EF4-FFF2-40B4-BE49-F238E27FC236}">
                <a16:creationId xmlns:a16="http://schemas.microsoft.com/office/drawing/2014/main" id="{FCF75221-54B3-53E1-05F3-E7E61A056430}"/>
              </a:ext>
            </a:extLst>
          </p:cNvPr>
          <p:cNvSpPr/>
          <p:nvPr/>
        </p:nvSpPr>
        <p:spPr>
          <a:xfrm>
            <a:off x="9218848" y="2792452"/>
            <a:ext cx="2800992" cy="704922"/>
          </a:xfrm>
          <a:prstGeom prst="homePlate">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Arial"/>
                <a:ea typeface="Meiryo UI"/>
                <a:cs typeface="+mn-cs"/>
              </a:rPr>
              <a:t>ギャップに対する施策</a:t>
            </a:r>
            <a:endParaRPr kumimoji="1" lang="en-US" altLang="ja-JP" sz="1400" b="0" i="0" u="none" strike="noStrike" kern="1200" cap="none" spc="0" normalizeH="0" baseline="0" noProof="0">
              <a:ln>
                <a:noFill/>
              </a:ln>
              <a:solidFill>
                <a:srgbClr val="000000"/>
              </a:solidFill>
              <a:effectLst/>
              <a:uLnTx/>
              <a:uFillTx/>
              <a:latin typeface="Arial"/>
              <a:ea typeface="Meiryo UI"/>
              <a:cs typeface="+mn-cs"/>
            </a:endParaRPr>
          </a:p>
        </p:txBody>
      </p:sp>
      <p:sp>
        <p:nvSpPr>
          <p:cNvPr id="26" name="矢印: 五方向 25">
            <a:extLst>
              <a:ext uri="{FF2B5EF4-FFF2-40B4-BE49-F238E27FC236}">
                <a16:creationId xmlns:a16="http://schemas.microsoft.com/office/drawing/2014/main" id="{78B928CB-861B-0296-6BE9-3468953F527A}"/>
              </a:ext>
            </a:extLst>
          </p:cNvPr>
          <p:cNvSpPr/>
          <p:nvPr/>
        </p:nvSpPr>
        <p:spPr>
          <a:xfrm>
            <a:off x="175389" y="3160908"/>
            <a:ext cx="1474798" cy="333074"/>
          </a:xfrm>
          <a:prstGeom prst="homePlate">
            <a:avLst/>
          </a:prstGeom>
          <a:solidFill>
            <a:schemeClr val="accent1">
              <a:lumMod val="50000"/>
              <a:lumOff val="5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FFFFFF"/>
                </a:solidFill>
                <a:effectLst/>
                <a:uLnTx/>
                <a:uFillTx/>
                <a:latin typeface="Arial"/>
                <a:ea typeface="Meiryo UI"/>
                <a:cs typeface="+mn-cs"/>
              </a:rPr>
              <a:t>中期的な</a:t>
            </a:r>
            <a:endParaRPr kumimoji="1" lang="en-US" altLang="ja-JP" sz="1100" b="0" i="0" u="none" strike="noStrike" kern="1200" cap="none" spc="0" normalizeH="0" baseline="0" noProof="0">
              <a:ln>
                <a:noFill/>
              </a:ln>
              <a:solidFill>
                <a:srgbClr val="FFFFFF"/>
              </a:solidFill>
              <a:effectLst/>
              <a:uLnTx/>
              <a:uFillTx/>
              <a:latin typeface="Arial"/>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FFFFFF"/>
                </a:solidFill>
                <a:effectLst/>
                <a:uLnTx/>
                <a:uFillTx/>
                <a:latin typeface="Arial"/>
                <a:ea typeface="Meiryo UI"/>
                <a:cs typeface="+mn-cs"/>
              </a:rPr>
              <a:t>主力事業の特定</a:t>
            </a:r>
          </a:p>
        </p:txBody>
      </p:sp>
      <p:sp>
        <p:nvSpPr>
          <p:cNvPr id="27" name="矢印: 五方向 26">
            <a:extLst>
              <a:ext uri="{FF2B5EF4-FFF2-40B4-BE49-F238E27FC236}">
                <a16:creationId xmlns:a16="http://schemas.microsoft.com/office/drawing/2014/main" id="{B93973F5-DF56-BF5C-6310-B8E0E5701CAF}"/>
              </a:ext>
            </a:extLst>
          </p:cNvPr>
          <p:cNvSpPr/>
          <p:nvPr/>
        </p:nvSpPr>
        <p:spPr>
          <a:xfrm>
            <a:off x="1650187" y="3160586"/>
            <a:ext cx="1474798" cy="333074"/>
          </a:xfrm>
          <a:prstGeom prst="homePlate">
            <a:avLst/>
          </a:prstGeom>
          <a:solidFill>
            <a:schemeClr val="accent1">
              <a:lumMod val="50000"/>
              <a:lumOff val="5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FFFFFF"/>
                </a:solidFill>
                <a:effectLst/>
                <a:uLnTx/>
                <a:uFillTx/>
                <a:latin typeface="Arial"/>
                <a:ea typeface="Meiryo UI"/>
                <a:cs typeface="+mn-cs"/>
              </a:rPr>
              <a:t>モデルとなる</a:t>
            </a:r>
            <a:endParaRPr kumimoji="1" lang="en-US" altLang="ja-JP" sz="1100" b="0" i="0" u="none" strike="noStrike" kern="1200" cap="none" spc="0" normalizeH="0" baseline="0" noProof="0">
              <a:ln>
                <a:noFill/>
              </a:ln>
              <a:solidFill>
                <a:srgbClr val="FFFFFF"/>
              </a:solidFill>
              <a:effectLst/>
              <a:uLnTx/>
              <a:uFillTx/>
              <a:latin typeface="Arial"/>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FFFFFF"/>
                </a:solidFill>
                <a:effectLst/>
                <a:uLnTx/>
                <a:uFillTx/>
                <a:latin typeface="Arial"/>
                <a:ea typeface="Meiryo UI"/>
                <a:cs typeface="+mn-cs"/>
              </a:rPr>
              <a:t>経験者の特定</a:t>
            </a:r>
          </a:p>
        </p:txBody>
      </p:sp>
      <p:sp>
        <p:nvSpPr>
          <p:cNvPr id="28" name="矢印: 五方向 27">
            <a:extLst>
              <a:ext uri="{FF2B5EF4-FFF2-40B4-BE49-F238E27FC236}">
                <a16:creationId xmlns:a16="http://schemas.microsoft.com/office/drawing/2014/main" id="{6281D84A-ABF4-BBC1-0A19-122935AB30E6}"/>
              </a:ext>
            </a:extLst>
          </p:cNvPr>
          <p:cNvSpPr/>
          <p:nvPr/>
        </p:nvSpPr>
        <p:spPr>
          <a:xfrm>
            <a:off x="3124985" y="3160586"/>
            <a:ext cx="1474798" cy="333074"/>
          </a:xfrm>
          <a:prstGeom prst="homePlate">
            <a:avLst/>
          </a:prstGeom>
          <a:solidFill>
            <a:schemeClr val="accent1">
              <a:lumMod val="50000"/>
              <a:lumOff val="5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FFFFFF"/>
                </a:solidFill>
                <a:effectLst/>
                <a:uLnTx/>
                <a:uFillTx/>
                <a:latin typeface="Arial"/>
                <a:ea typeface="Meiryo UI"/>
                <a:cs typeface="+mn-cs"/>
              </a:rPr>
              <a:t>経験者業務を基に</a:t>
            </a:r>
            <a:endParaRPr kumimoji="1" lang="en-US" altLang="ja-JP" sz="1000" b="0" i="0" u="none" strike="noStrike" kern="1200" cap="none" spc="0" normalizeH="0" baseline="0" noProof="0">
              <a:ln>
                <a:noFill/>
              </a:ln>
              <a:solidFill>
                <a:srgbClr val="FFFFFF"/>
              </a:solidFill>
              <a:effectLst/>
              <a:uLnTx/>
              <a:uFillTx/>
              <a:latin typeface="Arial"/>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FFFFFF"/>
                </a:solidFill>
                <a:effectLst/>
                <a:uLnTx/>
                <a:uFillTx/>
                <a:latin typeface="Arial"/>
                <a:ea typeface="Meiryo UI"/>
                <a:cs typeface="+mn-cs"/>
              </a:rPr>
              <a:t>スキルセット・レベルを定義</a:t>
            </a:r>
          </a:p>
        </p:txBody>
      </p:sp>
      <p:pic>
        <p:nvPicPr>
          <p:cNvPr id="30" name="図 29">
            <a:extLst>
              <a:ext uri="{FF2B5EF4-FFF2-40B4-BE49-F238E27FC236}">
                <a16:creationId xmlns:a16="http://schemas.microsoft.com/office/drawing/2014/main" id="{A667B417-3237-DDB4-862F-64E2D7867FCC}"/>
              </a:ext>
            </a:extLst>
          </p:cNvPr>
          <p:cNvPicPr>
            <a:picLocks noChangeAspect="1"/>
          </p:cNvPicPr>
          <p:nvPr/>
        </p:nvPicPr>
        <p:blipFill>
          <a:blip r:embed="rId2"/>
          <a:stretch>
            <a:fillRect/>
          </a:stretch>
        </p:blipFill>
        <p:spPr>
          <a:xfrm>
            <a:off x="290970" y="5065310"/>
            <a:ext cx="4096808" cy="1452742"/>
          </a:xfrm>
          <a:prstGeom prst="rect">
            <a:avLst/>
          </a:prstGeom>
        </p:spPr>
      </p:pic>
      <p:sp>
        <p:nvSpPr>
          <p:cNvPr id="35" name="フローチャート: 複数書類 34">
            <a:extLst>
              <a:ext uri="{FF2B5EF4-FFF2-40B4-BE49-F238E27FC236}">
                <a16:creationId xmlns:a16="http://schemas.microsoft.com/office/drawing/2014/main" id="{26940841-EF4D-8148-7DE4-8DDDF8AFA4EC}"/>
              </a:ext>
            </a:extLst>
          </p:cNvPr>
          <p:cNvSpPr/>
          <p:nvPr/>
        </p:nvSpPr>
        <p:spPr>
          <a:xfrm>
            <a:off x="3389757" y="3813288"/>
            <a:ext cx="662940" cy="982980"/>
          </a:xfrm>
          <a:prstGeom prst="flowChartMultidocumen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スキル</a:t>
            </a:r>
            <a:endParaRPr kumimoji="1" lang="en-US" altLang="ja-JP" sz="1200" b="0" i="0" u="none" strike="noStrike" kern="1200" cap="none" spc="0" normalizeH="0" baseline="0" noProof="0">
              <a:ln>
                <a:noFill/>
              </a:ln>
              <a:solidFill>
                <a:srgbClr val="000000"/>
              </a:solidFill>
              <a:effectLst/>
              <a:uLnTx/>
              <a:uFillTx/>
              <a:latin typeface="Arial"/>
              <a:ea typeface="Meiryo U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定義書</a:t>
            </a:r>
          </a:p>
        </p:txBody>
      </p:sp>
      <p:pic>
        <p:nvPicPr>
          <p:cNvPr id="36" name="図 35">
            <a:extLst>
              <a:ext uri="{FF2B5EF4-FFF2-40B4-BE49-F238E27FC236}">
                <a16:creationId xmlns:a16="http://schemas.microsoft.com/office/drawing/2014/main" id="{DACF237B-2E68-D81C-A9A7-42EB6B38DF03}"/>
              </a:ext>
            </a:extLst>
          </p:cNvPr>
          <p:cNvPicPr>
            <a:picLocks noChangeAspect="1"/>
          </p:cNvPicPr>
          <p:nvPr/>
        </p:nvPicPr>
        <p:blipFill>
          <a:blip r:embed="rId3"/>
          <a:stretch>
            <a:fillRect/>
          </a:stretch>
        </p:blipFill>
        <p:spPr>
          <a:xfrm>
            <a:off x="290970" y="3750985"/>
            <a:ext cx="2761214" cy="1095234"/>
          </a:xfrm>
          <a:prstGeom prst="rect">
            <a:avLst/>
          </a:prstGeom>
          <a:ln>
            <a:solidFill>
              <a:schemeClr val="accent1"/>
            </a:solidFill>
          </a:ln>
        </p:spPr>
      </p:pic>
      <p:pic>
        <p:nvPicPr>
          <p:cNvPr id="37" name="Picture 44" descr="MCj04339440000[1]">
            <a:extLst>
              <a:ext uri="{FF2B5EF4-FFF2-40B4-BE49-F238E27FC236}">
                <a16:creationId xmlns:a16="http://schemas.microsoft.com/office/drawing/2014/main" id="{B5A01868-B85A-0745-D380-B09442CF2B4B}"/>
              </a:ext>
            </a:extLst>
          </p:cNvPr>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86742" y="4232409"/>
            <a:ext cx="422040" cy="48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44" descr="MCj04339440000[1]">
            <a:extLst>
              <a:ext uri="{FF2B5EF4-FFF2-40B4-BE49-F238E27FC236}">
                <a16:creationId xmlns:a16="http://schemas.microsoft.com/office/drawing/2014/main" id="{418F3102-CC1F-3BB7-6491-B602BA4F4222}"/>
              </a:ext>
            </a:extLst>
          </p:cNvPr>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97762" y="4384809"/>
            <a:ext cx="422040" cy="48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44" descr="MCj04339440000[1]">
            <a:extLst>
              <a:ext uri="{FF2B5EF4-FFF2-40B4-BE49-F238E27FC236}">
                <a16:creationId xmlns:a16="http://schemas.microsoft.com/office/drawing/2014/main" id="{03044526-EBAF-B8BC-84F6-0DEAF9E284ED}"/>
              </a:ext>
            </a:extLst>
          </p:cNvPr>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99783" y="4549534"/>
            <a:ext cx="422040" cy="48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フローチャート: 磁気ディスク 42">
            <a:extLst>
              <a:ext uri="{FF2B5EF4-FFF2-40B4-BE49-F238E27FC236}">
                <a16:creationId xmlns:a16="http://schemas.microsoft.com/office/drawing/2014/main" id="{30D01467-4444-2902-633C-DC4C1018CAA9}"/>
              </a:ext>
            </a:extLst>
          </p:cNvPr>
          <p:cNvSpPr/>
          <p:nvPr/>
        </p:nvSpPr>
        <p:spPr>
          <a:xfrm>
            <a:off x="5046937" y="5082024"/>
            <a:ext cx="1260000" cy="540000"/>
          </a:xfrm>
          <a:prstGeom prst="flowChartMagneticDisk">
            <a:avLst/>
          </a:prstGeom>
          <a:solidFill>
            <a:schemeClr val="bg2">
              <a:lumMod val="60000"/>
              <a:lumOff val="40000"/>
            </a:schemeClr>
          </a:solidFill>
          <a:ln w="31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srgbClr val="000000"/>
                </a:solidFill>
                <a:effectLst/>
                <a:uLnTx/>
                <a:uFillTx/>
                <a:latin typeface="Arial"/>
                <a:ea typeface="Meiryo UI"/>
                <a:cs typeface="+mn-cs"/>
              </a:rPr>
              <a:t>人財スキル</a:t>
            </a:r>
            <a:endParaRPr kumimoji="1" lang="en-US" altLang="ja-JP" sz="1400" b="1" i="0" u="none" strike="noStrike" kern="1200" cap="none" spc="0" normalizeH="0" baseline="0" noProof="0">
              <a:ln>
                <a:noFill/>
              </a:ln>
              <a:solidFill>
                <a:srgbClr val="000000"/>
              </a:solidFill>
              <a:effectLst/>
              <a:uLnTx/>
              <a:uFillTx/>
              <a:latin typeface="Arial"/>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a:ln>
                  <a:noFill/>
                </a:ln>
                <a:solidFill>
                  <a:srgbClr val="000000"/>
                </a:solidFill>
                <a:effectLst/>
                <a:uLnTx/>
                <a:uFillTx/>
                <a:latin typeface="Arial"/>
                <a:ea typeface="Meiryo UI"/>
                <a:cs typeface="+mn-cs"/>
              </a:rPr>
              <a:t>DB</a:t>
            </a:r>
            <a:endParaRPr kumimoji="1" lang="ja-JP" altLang="en-US" sz="1400" b="1" i="0" u="none" strike="noStrike" kern="1200" cap="none" spc="0" normalizeH="0" baseline="0" noProof="0">
              <a:ln>
                <a:noFill/>
              </a:ln>
              <a:solidFill>
                <a:srgbClr val="000000"/>
              </a:solidFill>
              <a:effectLst/>
              <a:uLnTx/>
              <a:uFillTx/>
              <a:latin typeface="Arial"/>
              <a:ea typeface="Meiryo UI"/>
              <a:cs typeface="+mn-cs"/>
            </a:endParaRPr>
          </a:p>
        </p:txBody>
      </p:sp>
      <p:sp>
        <p:nvSpPr>
          <p:cNvPr id="44" name="矢印: 折線 43">
            <a:extLst>
              <a:ext uri="{FF2B5EF4-FFF2-40B4-BE49-F238E27FC236}">
                <a16:creationId xmlns:a16="http://schemas.microsoft.com/office/drawing/2014/main" id="{E633BAA4-63AE-84E4-BF46-D8FF94665642}"/>
              </a:ext>
            </a:extLst>
          </p:cNvPr>
          <p:cNvSpPr/>
          <p:nvPr/>
        </p:nvSpPr>
        <p:spPr>
          <a:xfrm rot="5400000">
            <a:off x="5334460" y="4467964"/>
            <a:ext cx="540000" cy="586840"/>
          </a:xfrm>
          <a:prstGeom prst="bentArrow">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45" name="正方形/長方形 44">
            <a:extLst>
              <a:ext uri="{FF2B5EF4-FFF2-40B4-BE49-F238E27FC236}">
                <a16:creationId xmlns:a16="http://schemas.microsoft.com/office/drawing/2014/main" id="{4B5989E6-C53D-7C78-E6EF-E3B1B3A83264}"/>
              </a:ext>
            </a:extLst>
          </p:cNvPr>
          <p:cNvSpPr/>
          <p:nvPr/>
        </p:nvSpPr>
        <p:spPr>
          <a:xfrm>
            <a:off x="6417856" y="3807112"/>
            <a:ext cx="2593714" cy="865953"/>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Arial"/>
                <a:ea typeface="Meiryo UI"/>
                <a:cs typeface="+mn-cs"/>
              </a:rPr>
              <a:t>FY30</a:t>
            </a:r>
            <a:r>
              <a:rPr kumimoji="1" lang="ja-JP" altLang="en-US" sz="1200" b="0" i="0" u="none" strike="noStrike" kern="1200" cap="none" spc="0" normalizeH="0" baseline="0" noProof="0">
                <a:ln>
                  <a:noFill/>
                </a:ln>
                <a:solidFill>
                  <a:srgbClr val="000000"/>
                </a:solidFill>
                <a:effectLst/>
                <a:uLnTx/>
                <a:uFillTx/>
                <a:latin typeface="Arial"/>
                <a:ea typeface="Meiryo UI"/>
                <a:cs typeface="+mn-cs"/>
              </a:rPr>
              <a:t>事業内訳</a:t>
            </a:r>
          </a:p>
        </p:txBody>
      </p:sp>
      <p:sp>
        <p:nvSpPr>
          <p:cNvPr id="46" name="正方形/長方形 45">
            <a:extLst>
              <a:ext uri="{FF2B5EF4-FFF2-40B4-BE49-F238E27FC236}">
                <a16:creationId xmlns:a16="http://schemas.microsoft.com/office/drawing/2014/main" id="{27306D25-8077-5C3A-B37C-E321AEB8482D}"/>
              </a:ext>
            </a:extLst>
          </p:cNvPr>
          <p:cNvSpPr/>
          <p:nvPr/>
        </p:nvSpPr>
        <p:spPr>
          <a:xfrm>
            <a:off x="6529524" y="4165092"/>
            <a:ext cx="944417" cy="219717"/>
          </a:xfrm>
          <a:prstGeom prst="rect">
            <a:avLst/>
          </a:prstGeom>
          <a:solidFill>
            <a:srgbClr val="DEE5F2"/>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Meiryo UI"/>
                <a:cs typeface="+mn-cs"/>
              </a:rPr>
              <a:t>EV</a:t>
            </a:r>
            <a:endParaRPr kumimoji="1" lang="ja-JP" altLang="en-US" sz="1000" b="0" i="0" u="none" strike="noStrike" kern="1200" cap="none" spc="0" normalizeH="0" baseline="0" noProof="0">
              <a:ln>
                <a:noFill/>
              </a:ln>
              <a:solidFill>
                <a:srgbClr val="000000"/>
              </a:solidFill>
              <a:effectLst/>
              <a:uLnTx/>
              <a:uFillTx/>
              <a:latin typeface="Arial"/>
              <a:ea typeface="Meiryo UI"/>
              <a:cs typeface="+mn-cs"/>
            </a:endParaRPr>
          </a:p>
        </p:txBody>
      </p:sp>
      <p:sp>
        <p:nvSpPr>
          <p:cNvPr id="47" name="正方形/長方形 46">
            <a:extLst>
              <a:ext uri="{FF2B5EF4-FFF2-40B4-BE49-F238E27FC236}">
                <a16:creationId xmlns:a16="http://schemas.microsoft.com/office/drawing/2014/main" id="{CC8AF2A3-265B-8F8D-D25E-4C3C0C55252B}"/>
              </a:ext>
            </a:extLst>
          </p:cNvPr>
          <p:cNvSpPr/>
          <p:nvPr/>
        </p:nvSpPr>
        <p:spPr>
          <a:xfrm>
            <a:off x="7473941" y="4165094"/>
            <a:ext cx="648783" cy="219717"/>
          </a:xfrm>
          <a:prstGeom prst="rect">
            <a:avLst/>
          </a:prstGeom>
          <a:solidFill>
            <a:srgbClr val="FFE697"/>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solidFill>
                <a:effectLst/>
                <a:uLnTx/>
                <a:uFillTx/>
                <a:latin typeface="Arial"/>
                <a:ea typeface="Meiryo UI"/>
                <a:cs typeface="+mn-cs"/>
              </a:rPr>
              <a:t>自動運転</a:t>
            </a:r>
          </a:p>
        </p:txBody>
      </p:sp>
      <p:sp>
        <p:nvSpPr>
          <p:cNvPr id="48" name="正方形/長方形 47">
            <a:extLst>
              <a:ext uri="{FF2B5EF4-FFF2-40B4-BE49-F238E27FC236}">
                <a16:creationId xmlns:a16="http://schemas.microsoft.com/office/drawing/2014/main" id="{F2F53B5C-D224-F654-F1F2-1801B616D7FA}"/>
              </a:ext>
            </a:extLst>
          </p:cNvPr>
          <p:cNvSpPr/>
          <p:nvPr/>
        </p:nvSpPr>
        <p:spPr>
          <a:xfrm>
            <a:off x="8122723" y="4165093"/>
            <a:ext cx="439128" cy="219717"/>
          </a:xfrm>
          <a:prstGeom prst="rect">
            <a:avLst/>
          </a:prstGeom>
          <a:solidFill>
            <a:srgbClr val="FFF2CC"/>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Meiryo UI"/>
                <a:cs typeface="+mn-cs"/>
              </a:rPr>
              <a:t>PHV</a:t>
            </a:r>
            <a:endParaRPr kumimoji="1" lang="ja-JP" altLang="en-US" sz="1000" b="0" i="0" u="none" strike="noStrike" kern="1200" cap="none" spc="0" normalizeH="0" baseline="0" noProof="0">
              <a:ln>
                <a:noFill/>
              </a:ln>
              <a:solidFill>
                <a:srgbClr val="000000"/>
              </a:solidFill>
              <a:effectLst/>
              <a:uLnTx/>
              <a:uFillTx/>
              <a:latin typeface="Arial"/>
              <a:ea typeface="Meiryo UI"/>
              <a:cs typeface="+mn-cs"/>
            </a:endParaRPr>
          </a:p>
        </p:txBody>
      </p:sp>
      <p:sp>
        <p:nvSpPr>
          <p:cNvPr id="49" name="正方形/長方形 48">
            <a:extLst>
              <a:ext uri="{FF2B5EF4-FFF2-40B4-BE49-F238E27FC236}">
                <a16:creationId xmlns:a16="http://schemas.microsoft.com/office/drawing/2014/main" id="{2978868E-28C7-44FA-1EAE-594252F27DD7}"/>
              </a:ext>
            </a:extLst>
          </p:cNvPr>
          <p:cNvSpPr/>
          <p:nvPr/>
        </p:nvSpPr>
        <p:spPr>
          <a:xfrm>
            <a:off x="8561851" y="4165092"/>
            <a:ext cx="217283" cy="219717"/>
          </a:xfrm>
          <a:prstGeom prst="rect">
            <a:avLst/>
          </a:prstGeom>
          <a:solidFill>
            <a:schemeClr val="accent6">
              <a:lumMod val="40000"/>
              <a:lumOff val="6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solidFill>
                <a:effectLst/>
                <a:uLnTx/>
                <a:uFillTx/>
                <a:latin typeface="Arial"/>
                <a:ea typeface="Meiryo UI"/>
                <a:cs typeface="+mn-cs"/>
              </a:rPr>
              <a:t>ガソリン</a:t>
            </a:r>
          </a:p>
        </p:txBody>
      </p:sp>
      <p:sp>
        <p:nvSpPr>
          <p:cNvPr id="50" name="正方形/長方形 49">
            <a:extLst>
              <a:ext uri="{FF2B5EF4-FFF2-40B4-BE49-F238E27FC236}">
                <a16:creationId xmlns:a16="http://schemas.microsoft.com/office/drawing/2014/main" id="{E00102E9-724A-30E3-DAD0-8424962B73B3}"/>
              </a:ext>
            </a:extLst>
          </p:cNvPr>
          <p:cNvSpPr/>
          <p:nvPr/>
        </p:nvSpPr>
        <p:spPr>
          <a:xfrm>
            <a:off x="6417856" y="4866558"/>
            <a:ext cx="2593714" cy="1651494"/>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Arial"/>
                <a:ea typeface="Meiryo UI"/>
                <a:cs typeface="+mn-cs"/>
              </a:rPr>
              <a:t>FY30</a:t>
            </a:r>
            <a:r>
              <a:rPr kumimoji="1" lang="ja-JP" altLang="en-US" sz="1200" b="0" i="0" u="none" strike="noStrike" kern="1200" cap="none" spc="0" normalizeH="0" baseline="0" noProof="0">
                <a:ln>
                  <a:noFill/>
                </a:ln>
                <a:solidFill>
                  <a:srgbClr val="000000"/>
                </a:solidFill>
                <a:effectLst/>
                <a:uLnTx/>
                <a:uFillTx/>
                <a:latin typeface="Arial"/>
                <a:ea typeface="Meiryo UI"/>
                <a:cs typeface="+mn-cs"/>
              </a:rPr>
              <a:t>リソース山積み／ギャップ</a:t>
            </a:r>
          </a:p>
        </p:txBody>
      </p:sp>
      <p:grpSp>
        <p:nvGrpSpPr>
          <p:cNvPr id="455" name="グループ化 454">
            <a:extLst>
              <a:ext uri="{FF2B5EF4-FFF2-40B4-BE49-F238E27FC236}">
                <a16:creationId xmlns:a16="http://schemas.microsoft.com/office/drawing/2014/main" id="{F9369216-531A-921F-495A-E535E9EB4DF3}"/>
              </a:ext>
            </a:extLst>
          </p:cNvPr>
          <p:cNvGrpSpPr/>
          <p:nvPr/>
        </p:nvGrpSpPr>
        <p:grpSpPr>
          <a:xfrm>
            <a:off x="6432596" y="5161734"/>
            <a:ext cx="2560642" cy="1210645"/>
            <a:chOff x="6432596" y="5161734"/>
            <a:chExt cx="2560642" cy="1210645"/>
          </a:xfrm>
        </p:grpSpPr>
        <p:pic>
          <p:nvPicPr>
            <p:cNvPr id="51" name="図 50">
              <a:extLst>
                <a:ext uri="{FF2B5EF4-FFF2-40B4-BE49-F238E27FC236}">
                  <a16:creationId xmlns:a16="http://schemas.microsoft.com/office/drawing/2014/main" id="{66A79D6C-AD1F-DA4A-5F0C-169575933326}"/>
                </a:ext>
              </a:extLst>
            </p:cNvPr>
            <p:cNvPicPr>
              <a:picLocks noChangeAspect="1"/>
            </p:cNvPicPr>
            <p:nvPr/>
          </p:nvPicPr>
          <p:blipFill>
            <a:blip r:embed="rId5"/>
            <a:stretch>
              <a:fillRect/>
            </a:stretch>
          </p:blipFill>
          <p:spPr>
            <a:xfrm>
              <a:off x="6432596" y="5161734"/>
              <a:ext cx="2560642" cy="1170969"/>
            </a:xfrm>
            <a:prstGeom prst="rect">
              <a:avLst/>
            </a:prstGeom>
            <a:solidFill>
              <a:schemeClr val="bg1"/>
            </a:solidFill>
          </p:spPr>
        </p:pic>
        <p:grpSp>
          <p:nvGrpSpPr>
            <p:cNvPr id="55" name="グループ化 54">
              <a:extLst>
                <a:ext uri="{FF2B5EF4-FFF2-40B4-BE49-F238E27FC236}">
                  <a16:creationId xmlns:a16="http://schemas.microsoft.com/office/drawing/2014/main" id="{2BC9C8D7-957A-1FF3-D52F-4F814F36F005}"/>
                </a:ext>
              </a:extLst>
            </p:cNvPr>
            <p:cNvGrpSpPr/>
            <p:nvPr/>
          </p:nvGrpSpPr>
          <p:grpSpPr>
            <a:xfrm>
              <a:off x="6989630" y="5338905"/>
              <a:ext cx="61339" cy="158705"/>
              <a:chOff x="5465096" y="6029108"/>
              <a:chExt cx="127820" cy="342195"/>
            </a:xfrm>
          </p:grpSpPr>
          <p:sp>
            <p:nvSpPr>
              <p:cNvPr id="52" name="楕円 51">
                <a:extLst>
                  <a:ext uri="{FF2B5EF4-FFF2-40B4-BE49-F238E27FC236}">
                    <a16:creationId xmlns:a16="http://schemas.microsoft.com/office/drawing/2014/main" id="{E574F910-2872-0F18-E5CE-D271095B9EC6}"/>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54" name="弦 53">
                <a:extLst>
                  <a:ext uri="{FF2B5EF4-FFF2-40B4-BE49-F238E27FC236}">
                    <a16:creationId xmlns:a16="http://schemas.microsoft.com/office/drawing/2014/main" id="{F30C931A-7E5F-6623-76AF-A0A0183CCD06}"/>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56" name="グループ化 55">
              <a:extLst>
                <a:ext uri="{FF2B5EF4-FFF2-40B4-BE49-F238E27FC236}">
                  <a16:creationId xmlns:a16="http://schemas.microsoft.com/office/drawing/2014/main" id="{CC949D77-E689-251E-2B3B-A86D728E3AC4}"/>
                </a:ext>
              </a:extLst>
            </p:cNvPr>
            <p:cNvGrpSpPr/>
            <p:nvPr/>
          </p:nvGrpSpPr>
          <p:grpSpPr>
            <a:xfrm>
              <a:off x="7065709" y="5338905"/>
              <a:ext cx="61339" cy="158705"/>
              <a:chOff x="5465096" y="6029108"/>
              <a:chExt cx="127820" cy="342195"/>
            </a:xfrm>
          </p:grpSpPr>
          <p:sp>
            <p:nvSpPr>
              <p:cNvPr id="57" name="楕円 56">
                <a:extLst>
                  <a:ext uri="{FF2B5EF4-FFF2-40B4-BE49-F238E27FC236}">
                    <a16:creationId xmlns:a16="http://schemas.microsoft.com/office/drawing/2014/main" id="{19D9A9B8-A9EC-5EE8-6C42-E32EC7197A81}"/>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58" name="弦 57">
                <a:extLst>
                  <a:ext uri="{FF2B5EF4-FFF2-40B4-BE49-F238E27FC236}">
                    <a16:creationId xmlns:a16="http://schemas.microsoft.com/office/drawing/2014/main" id="{7D765A3A-02EE-13D5-D178-BBABAEF7D78F}"/>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59" name="グループ化 58">
              <a:extLst>
                <a:ext uri="{FF2B5EF4-FFF2-40B4-BE49-F238E27FC236}">
                  <a16:creationId xmlns:a16="http://schemas.microsoft.com/office/drawing/2014/main" id="{DD942BE5-F055-0316-5BBD-AB53723CE233}"/>
                </a:ext>
              </a:extLst>
            </p:cNvPr>
            <p:cNvGrpSpPr/>
            <p:nvPr/>
          </p:nvGrpSpPr>
          <p:grpSpPr>
            <a:xfrm>
              <a:off x="7141788" y="5338905"/>
              <a:ext cx="61339" cy="158705"/>
              <a:chOff x="5465096" y="6029108"/>
              <a:chExt cx="127820" cy="342195"/>
            </a:xfrm>
          </p:grpSpPr>
          <p:sp>
            <p:nvSpPr>
              <p:cNvPr id="60" name="楕円 59">
                <a:extLst>
                  <a:ext uri="{FF2B5EF4-FFF2-40B4-BE49-F238E27FC236}">
                    <a16:creationId xmlns:a16="http://schemas.microsoft.com/office/drawing/2014/main" id="{19E8F1E0-5ADB-96EC-0068-29D0D7CE31C3}"/>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61" name="弦 60">
                <a:extLst>
                  <a:ext uri="{FF2B5EF4-FFF2-40B4-BE49-F238E27FC236}">
                    <a16:creationId xmlns:a16="http://schemas.microsoft.com/office/drawing/2014/main" id="{3AFB56AD-FF2D-2412-BB0A-2B243A640BAF}"/>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62" name="グループ化 61">
              <a:extLst>
                <a:ext uri="{FF2B5EF4-FFF2-40B4-BE49-F238E27FC236}">
                  <a16:creationId xmlns:a16="http://schemas.microsoft.com/office/drawing/2014/main" id="{FED32BD9-71E8-4498-7512-6B6F529968D3}"/>
                </a:ext>
              </a:extLst>
            </p:cNvPr>
            <p:cNvGrpSpPr/>
            <p:nvPr/>
          </p:nvGrpSpPr>
          <p:grpSpPr>
            <a:xfrm>
              <a:off x="7217867" y="5338905"/>
              <a:ext cx="61339" cy="158705"/>
              <a:chOff x="5465096" y="6029108"/>
              <a:chExt cx="127820" cy="342195"/>
            </a:xfrm>
          </p:grpSpPr>
          <p:sp>
            <p:nvSpPr>
              <p:cNvPr id="63" name="楕円 62">
                <a:extLst>
                  <a:ext uri="{FF2B5EF4-FFF2-40B4-BE49-F238E27FC236}">
                    <a16:creationId xmlns:a16="http://schemas.microsoft.com/office/drawing/2014/main" id="{91A9C401-58F3-0EE1-6879-139D980386C8}"/>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64" name="弦 63">
                <a:extLst>
                  <a:ext uri="{FF2B5EF4-FFF2-40B4-BE49-F238E27FC236}">
                    <a16:creationId xmlns:a16="http://schemas.microsoft.com/office/drawing/2014/main" id="{52A9CC43-4C60-71D4-C0C1-E5700D5BBA89}"/>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65" name="グループ化 64">
              <a:extLst>
                <a:ext uri="{FF2B5EF4-FFF2-40B4-BE49-F238E27FC236}">
                  <a16:creationId xmlns:a16="http://schemas.microsoft.com/office/drawing/2014/main" id="{9870276F-8527-AF3E-A711-BB08967A9F42}"/>
                </a:ext>
              </a:extLst>
            </p:cNvPr>
            <p:cNvGrpSpPr/>
            <p:nvPr/>
          </p:nvGrpSpPr>
          <p:grpSpPr>
            <a:xfrm>
              <a:off x="7286408" y="5338905"/>
              <a:ext cx="61339" cy="158705"/>
              <a:chOff x="5465096" y="6029108"/>
              <a:chExt cx="127820" cy="342195"/>
            </a:xfrm>
          </p:grpSpPr>
          <p:sp>
            <p:nvSpPr>
              <p:cNvPr id="66" name="楕円 65">
                <a:extLst>
                  <a:ext uri="{FF2B5EF4-FFF2-40B4-BE49-F238E27FC236}">
                    <a16:creationId xmlns:a16="http://schemas.microsoft.com/office/drawing/2014/main" id="{E32793FE-5A31-4B12-5D76-5B8491408664}"/>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67" name="弦 66">
                <a:extLst>
                  <a:ext uri="{FF2B5EF4-FFF2-40B4-BE49-F238E27FC236}">
                    <a16:creationId xmlns:a16="http://schemas.microsoft.com/office/drawing/2014/main" id="{4462F3F8-5531-5847-C2D2-F1722DD49DDC}"/>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68" name="グループ化 67">
              <a:extLst>
                <a:ext uri="{FF2B5EF4-FFF2-40B4-BE49-F238E27FC236}">
                  <a16:creationId xmlns:a16="http://schemas.microsoft.com/office/drawing/2014/main" id="{E63E55AF-F7AA-49BD-4571-9D637C18EE71}"/>
                </a:ext>
              </a:extLst>
            </p:cNvPr>
            <p:cNvGrpSpPr/>
            <p:nvPr/>
          </p:nvGrpSpPr>
          <p:grpSpPr>
            <a:xfrm>
              <a:off x="7362487" y="5338905"/>
              <a:ext cx="61339" cy="158705"/>
              <a:chOff x="5465096" y="6029108"/>
              <a:chExt cx="127820" cy="342195"/>
            </a:xfrm>
          </p:grpSpPr>
          <p:sp>
            <p:nvSpPr>
              <p:cNvPr id="69" name="楕円 68">
                <a:extLst>
                  <a:ext uri="{FF2B5EF4-FFF2-40B4-BE49-F238E27FC236}">
                    <a16:creationId xmlns:a16="http://schemas.microsoft.com/office/drawing/2014/main" id="{49FE3C3E-CF3B-15A9-39B1-41A5E640E087}"/>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70" name="弦 69">
                <a:extLst>
                  <a:ext uri="{FF2B5EF4-FFF2-40B4-BE49-F238E27FC236}">
                    <a16:creationId xmlns:a16="http://schemas.microsoft.com/office/drawing/2014/main" id="{C9E56E62-5811-14D8-EFB7-67DC375BCFA1}"/>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71" name="グループ化 70">
              <a:extLst>
                <a:ext uri="{FF2B5EF4-FFF2-40B4-BE49-F238E27FC236}">
                  <a16:creationId xmlns:a16="http://schemas.microsoft.com/office/drawing/2014/main" id="{EE7296FA-1C30-CBDA-09D9-25A5634FB6BC}"/>
                </a:ext>
              </a:extLst>
            </p:cNvPr>
            <p:cNvGrpSpPr/>
            <p:nvPr/>
          </p:nvGrpSpPr>
          <p:grpSpPr>
            <a:xfrm>
              <a:off x="7438566" y="5338905"/>
              <a:ext cx="61339" cy="158705"/>
              <a:chOff x="5465096" y="6029108"/>
              <a:chExt cx="127820" cy="342195"/>
            </a:xfrm>
          </p:grpSpPr>
          <p:sp>
            <p:nvSpPr>
              <p:cNvPr id="72" name="楕円 71">
                <a:extLst>
                  <a:ext uri="{FF2B5EF4-FFF2-40B4-BE49-F238E27FC236}">
                    <a16:creationId xmlns:a16="http://schemas.microsoft.com/office/drawing/2014/main" id="{3E18C45E-BBF5-597E-AE67-BE2F801D096A}"/>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73" name="弦 72">
                <a:extLst>
                  <a:ext uri="{FF2B5EF4-FFF2-40B4-BE49-F238E27FC236}">
                    <a16:creationId xmlns:a16="http://schemas.microsoft.com/office/drawing/2014/main" id="{E288C4F2-D33E-B79C-97A7-1BD6920475F1}"/>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74" name="グループ化 73">
              <a:extLst>
                <a:ext uri="{FF2B5EF4-FFF2-40B4-BE49-F238E27FC236}">
                  <a16:creationId xmlns:a16="http://schemas.microsoft.com/office/drawing/2014/main" id="{9DBD25A4-6DA9-D38D-9C17-469A3531CD73}"/>
                </a:ext>
              </a:extLst>
            </p:cNvPr>
            <p:cNvGrpSpPr/>
            <p:nvPr/>
          </p:nvGrpSpPr>
          <p:grpSpPr>
            <a:xfrm>
              <a:off x="7514645" y="5338905"/>
              <a:ext cx="61339" cy="158705"/>
              <a:chOff x="5465096" y="6029108"/>
              <a:chExt cx="127820" cy="342195"/>
            </a:xfrm>
          </p:grpSpPr>
          <p:sp>
            <p:nvSpPr>
              <p:cNvPr id="75" name="楕円 74">
                <a:extLst>
                  <a:ext uri="{FF2B5EF4-FFF2-40B4-BE49-F238E27FC236}">
                    <a16:creationId xmlns:a16="http://schemas.microsoft.com/office/drawing/2014/main" id="{D525EE3C-11E6-8256-168A-DD68C21844D9}"/>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76" name="弦 75">
                <a:extLst>
                  <a:ext uri="{FF2B5EF4-FFF2-40B4-BE49-F238E27FC236}">
                    <a16:creationId xmlns:a16="http://schemas.microsoft.com/office/drawing/2014/main" id="{4F852428-0765-D6E2-4A52-1870F783B879}"/>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77" name="グループ化 76">
              <a:extLst>
                <a:ext uri="{FF2B5EF4-FFF2-40B4-BE49-F238E27FC236}">
                  <a16:creationId xmlns:a16="http://schemas.microsoft.com/office/drawing/2014/main" id="{D7ABF92E-DB92-8E81-40CF-A7D85C64C06E}"/>
                </a:ext>
              </a:extLst>
            </p:cNvPr>
            <p:cNvGrpSpPr/>
            <p:nvPr/>
          </p:nvGrpSpPr>
          <p:grpSpPr>
            <a:xfrm>
              <a:off x="7585219" y="5338905"/>
              <a:ext cx="61339" cy="158705"/>
              <a:chOff x="5465096" y="6029108"/>
              <a:chExt cx="127820" cy="342195"/>
            </a:xfrm>
          </p:grpSpPr>
          <p:sp>
            <p:nvSpPr>
              <p:cNvPr id="78" name="楕円 77">
                <a:extLst>
                  <a:ext uri="{FF2B5EF4-FFF2-40B4-BE49-F238E27FC236}">
                    <a16:creationId xmlns:a16="http://schemas.microsoft.com/office/drawing/2014/main" id="{37D190C1-CCB6-8CB0-9974-9E9D64A74125}"/>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79" name="弦 78">
                <a:extLst>
                  <a:ext uri="{FF2B5EF4-FFF2-40B4-BE49-F238E27FC236}">
                    <a16:creationId xmlns:a16="http://schemas.microsoft.com/office/drawing/2014/main" id="{4A383346-1CC8-677A-24AA-A48C293176F8}"/>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80" name="グループ化 79">
              <a:extLst>
                <a:ext uri="{FF2B5EF4-FFF2-40B4-BE49-F238E27FC236}">
                  <a16:creationId xmlns:a16="http://schemas.microsoft.com/office/drawing/2014/main" id="{EE4F94A9-B4EA-48A1-845C-03D5862364D9}"/>
                </a:ext>
              </a:extLst>
            </p:cNvPr>
            <p:cNvGrpSpPr/>
            <p:nvPr/>
          </p:nvGrpSpPr>
          <p:grpSpPr>
            <a:xfrm>
              <a:off x="7661298" y="5338905"/>
              <a:ext cx="61339" cy="158705"/>
              <a:chOff x="5465096" y="6029108"/>
              <a:chExt cx="127820" cy="342195"/>
            </a:xfrm>
          </p:grpSpPr>
          <p:sp>
            <p:nvSpPr>
              <p:cNvPr id="81" name="楕円 80">
                <a:extLst>
                  <a:ext uri="{FF2B5EF4-FFF2-40B4-BE49-F238E27FC236}">
                    <a16:creationId xmlns:a16="http://schemas.microsoft.com/office/drawing/2014/main" id="{8BF90526-0959-C916-09F0-BC0A585AAFBD}"/>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82" name="弦 81">
                <a:extLst>
                  <a:ext uri="{FF2B5EF4-FFF2-40B4-BE49-F238E27FC236}">
                    <a16:creationId xmlns:a16="http://schemas.microsoft.com/office/drawing/2014/main" id="{8B56CB3C-9F61-889D-F873-FDFF550ABD82}"/>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83" name="グループ化 82">
              <a:extLst>
                <a:ext uri="{FF2B5EF4-FFF2-40B4-BE49-F238E27FC236}">
                  <a16:creationId xmlns:a16="http://schemas.microsoft.com/office/drawing/2014/main" id="{B52A6C87-6AF0-F445-356C-322E7C76DDE5}"/>
                </a:ext>
              </a:extLst>
            </p:cNvPr>
            <p:cNvGrpSpPr/>
            <p:nvPr/>
          </p:nvGrpSpPr>
          <p:grpSpPr>
            <a:xfrm>
              <a:off x="7737377" y="5338905"/>
              <a:ext cx="61339" cy="158705"/>
              <a:chOff x="5465096" y="6029108"/>
              <a:chExt cx="127820" cy="342195"/>
            </a:xfrm>
          </p:grpSpPr>
          <p:sp>
            <p:nvSpPr>
              <p:cNvPr id="84" name="楕円 83">
                <a:extLst>
                  <a:ext uri="{FF2B5EF4-FFF2-40B4-BE49-F238E27FC236}">
                    <a16:creationId xmlns:a16="http://schemas.microsoft.com/office/drawing/2014/main" id="{30BA93BF-D333-7753-411C-9A9C40D87240}"/>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85" name="弦 84">
                <a:extLst>
                  <a:ext uri="{FF2B5EF4-FFF2-40B4-BE49-F238E27FC236}">
                    <a16:creationId xmlns:a16="http://schemas.microsoft.com/office/drawing/2014/main" id="{13EE9BAE-06CE-F7F4-905E-05A05C03BD38}"/>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86" name="グループ化 85">
              <a:extLst>
                <a:ext uri="{FF2B5EF4-FFF2-40B4-BE49-F238E27FC236}">
                  <a16:creationId xmlns:a16="http://schemas.microsoft.com/office/drawing/2014/main" id="{0919377A-3428-642E-A58A-54D55A10201E}"/>
                </a:ext>
              </a:extLst>
            </p:cNvPr>
            <p:cNvGrpSpPr/>
            <p:nvPr/>
          </p:nvGrpSpPr>
          <p:grpSpPr>
            <a:xfrm>
              <a:off x="7813456" y="5338905"/>
              <a:ext cx="61339" cy="158705"/>
              <a:chOff x="5465096" y="6029108"/>
              <a:chExt cx="127820" cy="342195"/>
            </a:xfrm>
          </p:grpSpPr>
          <p:sp>
            <p:nvSpPr>
              <p:cNvPr id="87" name="楕円 86">
                <a:extLst>
                  <a:ext uri="{FF2B5EF4-FFF2-40B4-BE49-F238E27FC236}">
                    <a16:creationId xmlns:a16="http://schemas.microsoft.com/office/drawing/2014/main" id="{0CA7EDD7-43BA-4D51-F02C-FFFD4D7BF4E9}"/>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88" name="弦 87">
                <a:extLst>
                  <a:ext uri="{FF2B5EF4-FFF2-40B4-BE49-F238E27FC236}">
                    <a16:creationId xmlns:a16="http://schemas.microsoft.com/office/drawing/2014/main" id="{80B0BEF0-A646-BABA-03B7-7094E252A0CC}"/>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89" name="グループ化 88">
              <a:extLst>
                <a:ext uri="{FF2B5EF4-FFF2-40B4-BE49-F238E27FC236}">
                  <a16:creationId xmlns:a16="http://schemas.microsoft.com/office/drawing/2014/main" id="{3C324663-C4D2-0451-FC69-48A2E88BBC23}"/>
                </a:ext>
              </a:extLst>
            </p:cNvPr>
            <p:cNvGrpSpPr/>
            <p:nvPr/>
          </p:nvGrpSpPr>
          <p:grpSpPr>
            <a:xfrm>
              <a:off x="7881997" y="5338905"/>
              <a:ext cx="61339" cy="158705"/>
              <a:chOff x="5465096" y="6029108"/>
              <a:chExt cx="127820" cy="342195"/>
            </a:xfrm>
          </p:grpSpPr>
          <p:sp>
            <p:nvSpPr>
              <p:cNvPr id="90" name="楕円 89">
                <a:extLst>
                  <a:ext uri="{FF2B5EF4-FFF2-40B4-BE49-F238E27FC236}">
                    <a16:creationId xmlns:a16="http://schemas.microsoft.com/office/drawing/2014/main" id="{5AB3C751-4694-66E3-4C05-69EAD502908C}"/>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91" name="弦 90">
                <a:extLst>
                  <a:ext uri="{FF2B5EF4-FFF2-40B4-BE49-F238E27FC236}">
                    <a16:creationId xmlns:a16="http://schemas.microsoft.com/office/drawing/2014/main" id="{DB805533-B5AB-B6B4-6C6A-7AB133AD7575}"/>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92" name="グループ化 91">
              <a:extLst>
                <a:ext uri="{FF2B5EF4-FFF2-40B4-BE49-F238E27FC236}">
                  <a16:creationId xmlns:a16="http://schemas.microsoft.com/office/drawing/2014/main" id="{9AEDB5F8-B51B-C899-1E5A-DA944C709AA9}"/>
                </a:ext>
              </a:extLst>
            </p:cNvPr>
            <p:cNvGrpSpPr/>
            <p:nvPr/>
          </p:nvGrpSpPr>
          <p:grpSpPr>
            <a:xfrm>
              <a:off x="7958076" y="5338905"/>
              <a:ext cx="61339" cy="158705"/>
              <a:chOff x="5465096" y="6029108"/>
              <a:chExt cx="127820" cy="342195"/>
            </a:xfrm>
          </p:grpSpPr>
          <p:sp>
            <p:nvSpPr>
              <p:cNvPr id="93" name="楕円 92">
                <a:extLst>
                  <a:ext uri="{FF2B5EF4-FFF2-40B4-BE49-F238E27FC236}">
                    <a16:creationId xmlns:a16="http://schemas.microsoft.com/office/drawing/2014/main" id="{989044AD-005A-F551-3F59-51319775C70D}"/>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94" name="弦 93">
                <a:extLst>
                  <a:ext uri="{FF2B5EF4-FFF2-40B4-BE49-F238E27FC236}">
                    <a16:creationId xmlns:a16="http://schemas.microsoft.com/office/drawing/2014/main" id="{DCD50DCD-C8A2-D460-128B-8377D681256F}"/>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95" name="グループ化 94">
              <a:extLst>
                <a:ext uri="{FF2B5EF4-FFF2-40B4-BE49-F238E27FC236}">
                  <a16:creationId xmlns:a16="http://schemas.microsoft.com/office/drawing/2014/main" id="{8584D863-37D2-3748-278E-7E5C092E01EB}"/>
                </a:ext>
              </a:extLst>
            </p:cNvPr>
            <p:cNvGrpSpPr/>
            <p:nvPr/>
          </p:nvGrpSpPr>
          <p:grpSpPr>
            <a:xfrm>
              <a:off x="8034155" y="5338905"/>
              <a:ext cx="61339" cy="158705"/>
              <a:chOff x="5465096" y="6029108"/>
              <a:chExt cx="127820" cy="342195"/>
            </a:xfrm>
          </p:grpSpPr>
          <p:sp>
            <p:nvSpPr>
              <p:cNvPr id="96" name="楕円 95">
                <a:extLst>
                  <a:ext uri="{FF2B5EF4-FFF2-40B4-BE49-F238E27FC236}">
                    <a16:creationId xmlns:a16="http://schemas.microsoft.com/office/drawing/2014/main" id="{B08FB14B-AA3F-7D31-8E53-12BAB27DF5AB}"/>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97" name="弦 96">
                <a:extLst>
                  <a:ext uri="{FF2B5EF4-FFF2-40B4-BE49-F238E27FC236}">
                    <a16:creationId xmlns:a16="http://schemas.microsoft.com/office/drawing/2014/main" id="{42AA4818-2942-E847-BF16-E9271909A243}"/>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98" name="グループ化 97">
              <a:extLst>
                <a:ext uri="{FF2B5EF4-FFF2-40B4-BE49-F238E27FC236}">
                  <a16:creationId xmlns:a16="http://schemas.microsoft.com/office/drawing/2014/main" id="{5A2D09C8-7C86-3024-ABD8-4381C5F222EE}"/>
                </a:ext>
              </a:extLst>
            </p:cNvPr>
            <p:cNvGrpSpPr/>
            <p:nvPr/>
          </p:nvGrpSpPr>
          <p:grpSpPr>
            <a:xfrm>
              <a:off x="8110234" y="5338905"/>
              <a:ext cx="61339" cy="158705"/>
              <a:chOff x="5465096" y="6029108"/>
              <a:chExt cx="127820" cy="342195"/>
            </a:xfrm>
          </p:grpSpPr>
          <p:sp>
            <p:nvSpPr>
              <p:cNvPr id="99" name="楕円 98">
                <a:extLst>
                  <a:ext uri="{FF2B5EF4-FFF2-40B4-BE49-F238E27FC236}">
                    <a16:creationId xmlns:a16="http://schemas.microsoft.com/office/drawing/2014/main" id="{9901855F-A0C1-EB67-C94E-9C0CE65A6221}"/>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00" name="弦 99">
                <a:extLst>
                  <a:ext uri="{FF2B5EF4-FFF2-40B4-BE49-F238E27FC236}">
                    <a16:creationId xmlns:a16="http://schemas.microsoft.com/office/drawing/2014/main" id="{B7A51E8C-58D6-D7AB-BEAB-D15AF55E1055}"/>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01" name="グループ化 100">
              <a:extLst>
                <a:ext uri="{FF2B5EF4-FFF2-40B4-BE49-F238E27FC236}">
                  <a16:creationId xmlns:a16="http://schemas.microsoft.com/office/drawing/2014/main" id="{2A1C7DF7-931D-8BC2-5E1A-85970B56E44A}"/>
                </a:ext>
              </a:extLst>
            </p:cNvPr>
            <p:cNvGrpSpPr/>
            <p:nvPr/>
          </p:nvGrpSpPr>
          <p:grpSpPr>
            <a:xfrm>
              <a:off x="8183328" y="5338905"/>
              <a:ext cx="61339" cy="158705"/>
              <a:chOff x="5465096" y="6029108"/>
              <a:chExt cx="127820" cy="342195"/>
            </a:xfrm>
            <a:solidFill>
              <a:srgbClr val="FF0000"/>
            </a:solidFill>
          </p:grpSpPr>
          <p:sp>
            <p:nvSpPr>
              <p:cNvPr id="102" name="楕円 101">
                <a:extLst>
                  <a:ext uri="{FF2B5EF4-FFF2-40B4-BE49-F238E27FC236}">
                    <a16:creationId xmlns:a16="http://schemas.microsoft.com/office/drawing/2014/main" id="{A646CA02-7E0C-CBDE-80B1-EEC66296E22F}"/>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03" name="弦 102">
                <a:extLst>
                  <a:ext uri="{FF2B5EF4-FFF2-40B4-BE49-F238E27FC236}">
                    <a16:creationId xmlns:a16="http://schemas.microsoft.com/office/drawing/2014/main" id="{3B6211D1-8F03-3406-8692-FA5127BAF063}"/>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04" name="グループ化 103">
              <a:extLst>
                <a:ext uri="{FF2B5EF4-FFF2-40B4-BE49-F238E27FC236}">
                  <a16:creationId xmlns:a16="http://schemas.microsoft.com/office/drawing/2014/main" id="{223D6DC6-5026-4BE9-0A8E-DCAC1A2E2DFB}"/>
                </a:ext>
              </a:extLst>
            </p:cNvPr>
            <p:cNvGrpSpPr/>
            <p:nvPr/>
          </p:nvGrpSpPr>
          <p:grpSpPr>
            <a:xfrm>
              <a:off x="8259407" y="5338905"/>
              <a:ext cx="61339" cy="158705"/>
              <a:chOff x="5465096" y="6029108"/>
              <a:chExt cx="127820" cy="342195"/>
            </a:xfrm>
            <a:solidFill>
              <a:srgbClr val="FF0000"/>
            </a:solidFill>
          </p:grpSpPr>
          <p:sp>
            <p:nvSpPr>
              <p:cNvPr id="105" name="楕円 104">
                <a:extLst>
                  <a:ext uri="{FF2B5EF4-FFF2-40B4-BE49-F238E27FC236}">
                    <a16:creationId xmlns:a16="http://schemas.microsoft.com/office/drawing/2014/main" id="{48400572-3F94-B43D-3925-F013DCCAC4A3}"/>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06" name="弦 105">
                <a:extLst>
                  <a:ext uri="{FF2B5EF4-FFF2-40B4-BE49-F238E27FC236}">
                    <a16:creationId xmlns:a16="http://schemas.microsoft.com/office/drawing/2014/main" id="{A4318B55-D09D-DBB0-CEAD-F13D3FE72153}"/>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07" name="グループ化 106">
              <a:extLst>
                <a:ext uri="{FF2B5EF4-FFF2-40B4-BE49-F238E27FC236}">
                  <a16:creationId xmlns:a16="http://schemas.microsoft.com/office/drawing/2014/main" id="{B5CE4766-2CDA-5A9B-B66A-2F7D4C454FC3}"/>
                </a:ext>
              </a:extLst>
            </p:cNvPr>
            <p:cNvGrpSpPr/>
            <p:nvPr/>
          </p:nvGrpSpPr>
          <p:grpSpPr>
            <a:xfrm>
              <a:off x="8335486" y="5338905"/>
              <a:ext cx="61339" cy="158705"/>
              <a:chOff x="5465096" y="6029108"/>
              <a:chExt cx="127820" cy="342195"/>
            </a:xfrm>
            <a:solidFill>
              <a:srgbClr val="FF0000"/>
            </a:solidFill>
          </p:grpSpPr>
          <p:sp>
            <p:nvSpPr>
              <p:cNvPr id="108" name="楕円 107">
                <a:extLst>
                  <a:ext uri="{FF2B5EF4-FFF2-40B4-BE49-F238E27FC236}">
                    <a16:creationId xmlns:a16="http://schemas.microsoft.com/office/drawing/2014/main" id="{339945AB-6F92-7D03-B657-1824CCD92977}"/>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09" name="弦 108">
                <a:extLst>
                  <a:ext uri="{FF2B5EF4-FFF2-40B4-BE49-F238E27FC236}">
                    <a16:creationId xmlns:a16="http://schemas.microsoft.com/office/drawing/2014/main" id="{1054ABE0-51B8-6BBC-F66C-FDF8A6B052BE}"/>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10" name="グループ化 109">
              <a:extLst>
                <a:ext uri="{FF2B5EF4-FFF2-40B4-BE49-F238E27FC236}">
                  <a16:creationId xmlns:a16="http://schemas.microsoft.com/office/drawing/2014/main" id="{2738132F-41DB-D679-FB86-8B208DFA35A3}"/>
                </a:ext>
              </a:extLst>
            </p:cNvPr>
            <p:cNvGrpSpPr/>
            <p:nvPr/>
          </p:nvGrpSpPr>
          <p:grpSpPr>
            <a:xfrm>
              <a:off x="6984125" y="5467521"/>
              <a:ext cx="61339" cy="158705"/>
              <a:chOff x="5465096" y="6029108"/>
              <a:chExt cx="127820" cy="342195"/>
            </a:xfrm>
          </p:grpSpPr>
          <p:sp>
            <p:nvSpPr>
              <p:cNvPr id="111" name="楕円 110">
                <a:extLst>
                  <a:ext uri="{FF2B5EF4-FFF2-40B4-BE49-F238E27FC236}">
                    <a16:creationId xmlns:a16="http://schemas.microsoft.com/office/drawing/2014/main" id="{96BEC6A9-8C29-80B0-DF81-89A97BCCCA78}"/>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12" name="弦 111">
                <a:extLst>
                  <a:ext uri="{FF2B5EF4-FFF2-40B4-BE49-F238E27FC236}">
                    <a16:creationId xmlns:a16="http://schemas.microsoft.com/office/drawing/2014/main" id="{6348F65E-7D3A-99E3-CCA3-B1628CC5046D}"/>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13" name="グループ化 112">
              <a:extLst>
                <a:ext uri="{FF2B5EF4-FFF2-40B4-BE49-F238E27FC236}">
                  <a16:creationId xmlns:a16="http://schemas.microsoft.com/office/drawing/2014/main" id="{93F23A9B-0BDF-2973-0C26-4E8DE0CA4061}"/>
                </a:ext>
              </a:extLst>
            </p:cNvPr>
            <p:cNvGrpSpPr/>
            <p:nvPr/>
          </p:nvGrpSpPr>
          <p:grpSpPr>
            <a:xfrm>
              <a:off x="7060204" y="5467521"/>
              <a:ext cx="61339" cy="158705"/>
              <a:chOff x="5465096" y="6029108"/>
              <a:chExt cx="127820" cy="342195"/>
            </a:xfrm>
          </p:grpSpPr>
          <p:sp>
            <p:nvSpPr>
              <p:cNvPr id="114" name="楕円 113">
                <a:extLst>
                  <a:ext uri="{FF2B5EF4-FFF2-40B4-BE49-F238E27FC236}">
                    <a16:creationId xmlns:a16="http://schemas.microsoft.com/office/drawing/2014/main" id="{ED503938-043A-764D-E6D8-9F3BC5D355F3}"/>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15" name="弦 114">
                <a:extLst>
                  <a:ext uri="{FF2B5EF4-FFF2-40B4-BE49-F238E27FC236}">
                    <a16:creationId xmlns:a16="http://schemas.microsoft.com/office/drawing/2014/main" id="{7D94AD5B-D128-30E2-56F8-04DA34C88335}"/>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16" name="グループ化 115">
              <a:extLst>
                <a:ext uri="{FF2B5EF4-FFF2-40B4-BE49-F238E27FC236}">
                  <a16:creationId xmlns:a16="http://schemas.microsoft.com/office/drawing/2014/main" id="{FF920EB2-BF5A-169B-9708-FCABF80F0A72}"/>
                </a:ext>
              </a:extLst>
            </p:cNvPr>
            <p:cNvGrpSpPr/>
            <p:nvPr/>
          </p:nvGrpSpPr>
          <p:grpSpPr>
            <a:xfrm>
              <a:off x="7136283" y="5467521"/>
              <a:ext cx="61339" cy="158705"/>
              <a:chOff x="5465096" y="6029108"/>
              <a:chExt cx="127820" cy="342195"/>
            </a:xfrm>
          </p:grpSpPr>
          <p:sp>
            <p:nvSpPr>
              <p:cNvPr id="117" name="楕円 116">
                <a:extLst>
                  <a:ext uri="{FF2B5EF4-FFF2-40B4-BE49-F238E27FC236}">
                    <a16:creationId xmlns:a16="http://schemas.microsoft.com/office/drawing/2014/main" id="{0FC11930-4D50-25F7-3FA1-31C7C337F7F2}"/>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18" name="弦 117">
                <a:extLst>
                  <a:ext uri="{FF2B5EF4-FFF2-40B4-BE49-F238E27FC236}">
                    <a16:creationId xmlns:a16="http://schemas.microsoft.com/office/drawing/2014/main" id="{840958CA-DB10-FECB-1509-E8CBD4C78532}"/>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19" name="グループ化 118">
              <a:extLst>
                <a:ext uri="{FF2B5EF4-FFF2-40B4-BE49-F238E27FC236}">
                  <a16:creationId xmlns:a16="http://schemas.microsoft.com/office/drawing/2014/main" id="{E0E205B0-B9CC-8420-2C24-1798EF717B5A}"/>
                </a:ext>
              </a:extLst>
            </p:cNvPr>
            <p:cNvGrpSpPr/>
            <p:nvPr/>
          </p:nvGrpSpPr>
          <p:grpSpPr>
            <a:xfrm>
              <a:off x="7212362" y="5467521"/>
              <a:ext cx="61339" cy="158705"/>
              <a:chOff x="5465096" y="6029108"/>
              <a:chExt cx="127820" cy="342195"/>
            </a:xfrm>
          </p:grpSpPr>
          <p:sp>
            <p:nvSpPr>
              <p:cNvPr id="120" name="楕円 119">
                <a:extLst>
                  <a:ext uri="{FF2B5EF4-FFF2-40B4-BE49-F238E27FC236}">
                    <a16:creationId xmlns:a16="http://schemas.microsoft.com/office/drawing/2014/main" id="{38DAC34D-7C8F-EC26-8563-0EBEA35A9B41}"/>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21" name="弦 120">
                <a:extLst>
                  <a:ext uri="{FF2B5EF4-FFF2-40B4-BE49-F238E27FC236}">
                    <a16:creationId xmlns:a16="http://schemas.microsoft.com/office/drawing/2014/main" id="{31BCCAE3-7B50-4DF2-F911-DE6C1D93CBE9}"/>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22" name="グループ化 121">
              <a:extLst>
                <a:ext uri="{FF2B5EF4-FFF2-40B4-BE49-F238E27FC236}">
                  <a16:creationId xmlns:a16="http://schemas.microsoft.com/office/drawing/2014/main" id="{32A386C2-D175-3F70-57B6-702EB2D29D81}"/>
                </a:ext>
              </a:extLst>
            </p:cNvPr>
            <p:cNvGrpSpPr/>
            <p:nvPr/>
          </p:nvGrpSpPr>
          <p:grpSpPr>
            <a:xfrm>
              <a:off x="7280903" y="5467521"/>
              <a:ext cx="61339" cy="158705"/>
              <a:chOff x="5465096" y="6029108"/>
              <a:chExt cx="127820" cy="342195"/>
            </a:xfrm>
          </p:grpSpPr>
          <p:sp>
            <p:nvSpPr>
              <p:cNvPr id="123" name="楕円 122">
                <a:extLst>
                  <a:ext uri="{FF2B5EF4-FFF2-40B4-BE49-F238E27FC236}">
                    <a16:creationId xmlns:a16="http://schemas.microsoft.com/office/drawing/2014/main" id="{6A84C50B-3528-706F-A831-1D9328A337CB}"/>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24" name="弦 123">
                <a:extLst>
                  <a:ext uri="{FF2B5EF4-FFF2-40B4-BE49-F238E27FC236}">
                    <a16:creationId xmlns:a16="http://schemas.microsoft.com/office/drawing/2014/main" id="{07658920-2156-E77F-B91F-18D830CB8162}"/>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25" name="グループ化 124">
              <a:extLst>
                <a:ext uri="{FF2B5EF4-FFF2-40B4-BE49-F238E27FC236}">
                  <a16:creationId xmlns:a16="http://schemas.microsoft.com/office/drawing/2014/main" id="{B33C6792-A868-F279-6DAA-50B893925481}"/>
                </a:ext>
              </a:extLst>
            </p:cNvPr>
            <p:cNvGrpSpPr/>
            <p:nvPr/>
          </p:nvGrpSpPr>
          <p:grpSpPr>
            <a:xfrm>
              <a:off x="7356982" y="5467521"/>
              <a:ext cx="61339" cy="158705"/>
              <a:chOff x="5465096" y="6029108"/>
              <a:chExt cx="127820" cy="342195"/>
            </a:xfrm>
          </p:grpSpPr>
          <p:sp>
            <p:nvSpPr>
              <p:cNvPr id="126" name="楕円 125">
                <a:extLst>
                  <a:ext uri="{FF2B5EF4-FFF2-40B4-BE49-F238E27FC236}">
                    <a16:creationId xmlns:a16="http://schemas.microsoft.com/office/drawing/2014/main" id="{CA085B1A-6D21-4871-5DF6-47BA7AFFB209}"/>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27" name="弦 126">
                <a:extLst>
                  <a:ext uri="{FF2B5EF4-FFF2-40B4-BE49-F238E27FC236}">
                    <a16:creationId xmlns:a16="http://schemas.microsoft.com/office/drawing/2014/main" id="{8D52B582-F4AB-9CCE-BA0E-7892B28B9B4C}"/>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28" name="グループ化 127">
              <a:extLst>
                <a:ext uri="{FF2B5EF4-FFF2-40B4-BE49-F238E27FC236}">
                  <a16:creationId xmlns:a16="http://schemas.microsoft.com/office/drawing/2014/main" id="{9831EC56-089D-D99B-3658-7128984E8C28}"/>
                </a:ext>
              </a:extLst>
            </p:cNvPr>
            <p:cNvGrpSpPr/>
            <p:nvPr/>
          </p:nvGrpSpPr>
          <p:grpSpPr>
            <a:xfrm>
              <a:off x="7433061" y="5467521"/>
              <a:ext cx="61339" cy="158705"/>
              <a:chOff x="5465096" y="6029108"/>
              <a:chExt cx="127820" cy="342195"/>
            </a:xfrm>
          </p:grpSpPr>
          <p:sp>
            <p:nvSpPr>
              <p:cNvPr id="129" name="楕円 128">
                <a:extLst>
                  <a:ext uri="{FF2B5EF4-FFF2-40B4-BE49-F238E27FC236}">
                    <a16:creationId xmlns:a16="http://schemas.microsoft.com/office/drawing/2014/main" id="{5B78BA31-95C5-6B3A-2697-274346DA369F}"/>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30" name="弦 129">
                <a:extLst>
                  <a:ext uri="{FF2B5EF4-FFF2-40B4-BE49-F238E27FC236}">
                    <a16:creationId xmlns:a16="http://schemas.microsoft.com/office/drawing/2014/main" id="{C9FEC8AD-B341-A591-CFF3-7C158BFBD72B}"/>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31" name="グループ化 130">
              <a:extLst>
                <a:ext uri="{FF2B5EF4-FFF2-40B4-BE49-F238E27FC236}">
                  <a16:creationId xmlns:a16="http://schemas.microsoft.com/office/drawing/2014/main" id="{4ECEABAC-52C2-3C17-72DC-FB4E8E84AA48}"/>
                </a:ext>
              </a:extLst>
            </p:cNvPr>
            <p:cNvGrpSpPr/>
            <p:nvPr/>
          </p:nvGrpSpPr>
          <p:grpSpPr>
            <a:xfrm>
              <a:off x="7509140" y="5467521"/>
              <a:ext cx="61339" cy="158705"/>
              <a:chOff x="5465096" y="6029108"/>
              <a:chExt cx="127820" cy="342195"/>
            </a:xfrm>
          </p:grpSpPr>
          <p:sp>
            <p:nvSpPr>
              <p:cNvPr id="132" name="楕円 131">
                <a:extLst>
                  <a:ext uri="{FF2B5EF4-FFF2-40B4-BE49-F238E27FC236}">
                    <a16:creationId xmlns:a16="http://schemas.microsoft.com/office/drawing/2014/main" id="{FAE6C7C3-3568-4604-9421-56497429638D}"/>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33" name="弦 132">
                <a:extLst>
                  <a:ext uri="{FF2B5EF4-FFF2-40B4-BE49-F238E27FC236}">
                    <a16:creationId xmlns:a16="http://schemas.microsoft.com/office/drawing/2014/main" id="{D0192FF5-68D9-8CC5-3AEC-570A4BA95820}"/>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34" name="グループ化 133">
              <a:extLst>
                <a:ext uri="{FF2B5EF4-FFF2-40B4-BE49-F238E27FC236}">
                  <a16:creationId xmlns:a16="http://schemas.microsoft.com/office/drawing/2014/main" id="{E1E88E4A-2574-FF84-EC46-D0DB86CEF719}"/>
                </a:ext>
              </a:extLst>
            </p:cNvPr>
            <p:cNvGrpSpPr/>
            <p:nvPr/>
          </p:nvGrpSpPr>
          <p:grpSpPr>
            <a:xfrm>
              <a:off x="7579714" y="5467521"/>
              <a:ext cx="61339" cy="158705"/>
              <a:chOff x="5465096" y="6029108"/>
              <a:chExt cx="127820" cy="342195"/>
            </a:xfrm>
          </p:grpSpPr>
          <p:sp>
            <p:nvSpPr>
              <p:cNvPr id="135" name="楕円 134">
                <a:extLst>
                  <a:ext uri="{FF2B5EF4-FFF2-40B4-BE49-F238E27FC236}">
                    <a16:creationId xmlns:a16="http://schemas.microsoft.com/office/drawing/2014/main" id="{0CD53018-EB3C-5C3E-5E8E-A5F7C100162F}"/>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36" name="弦 135">
                <a:extLst>
                  <a:ext uri="{FF2B5EF4-FFF2-40B4-BE49-F238E27FC236}">
                    <a16:creationId xmlns:a16="http://schemas.microsoft.com/office/drawing/2014/main" id="{72126D6C-81F2-8BF4-CFAF-ACA0DFD2CAD8}"/>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37" name="グループ化 136">
              <a:extLst>
                <a:ext uri="{FF2B5EF4-FFF2-40B4-BE49-F238E27FC236}">
                  <a16:creationId xmlns:a16="http://schemas.microsoft.com/office/drawing/2014/main" id="{3C4D0E20-2FA8-4BBA-F6F2-7F38F1E583D2}"/>
                </a:ext>
              </a:extLst>
            </p:cNvPr>
            <p:cNvGrpSpPr/>
            <p:nvPr/>
          </p:nvGrpSpPr>
          <p:grpSpPr>
            <a:xfrm>
              <a:off x="7655793" y="5467521"/>
              <a:ext cx="61339" cy="158705"/>
              <a:chOff x="5465096" y="6029108"/>
              <a:chExt cx="127820" cy="342195"/>
            </a:xfrm>
          </p:grpSpPr>
          <p:sp>
            <p:nvSpPr>
              <p:cNvPr id="138" name="楕円 137">
                <a:extLst>
                  <a:ext uri="{FF2B5EF4-FFF2-40B4-BE49-F238E27FC236}">
                    <a16:creationId xmlns:a16="http://schemas.microsoft.com/office/drawing/2014/main" id="{9596069F-6601-A112-C175-7B945E511C41}"/>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39" name="弦 138">
                <a:extLst>
                  <a:ext uri="{FF2B5EF4-FFF2-40B4-BE49-F238E27FC236}">
                    <a16:creationId xmlns:a16="http://schemas.microsoft.com/office/drawing/2014/main" id="{6EEED375-2DC0-F6AF-3642-408CB477CE20}"/>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61" name="グループ化 160">
              <a:extLst>
                <a:ext uri="{FF2B5EF4-FFF2-40B4-BE49-F238E27FC236}">
                  <a16:creationId xmlns:a16="http://schemas.microsoft.com/office/drawing/2014/main" id="{C24801FE-458F-09AC-C36E-ABDA4C79F61B}"/>
                </a:ext>
              </a:extLst>
            </p:cNvPr>
            <p:cNvGrpSpPr/>
            <p:nvPr/>
          </p:nvGrpSpPr>
          <p:grpSpPr>
            <a:xfrm>
              <a:off x="7731872" y="5467521"/>
              <a:ext cx="61339" cy="158705"/>
              <a:chOff x="5465096" y="6029108"/>
              <a:chExt cx="127820" cy="342195"/>
            </a:xfrm>
            <a:solidFill>
              <a:srgbClr val="FF0000"/>
            </a:solidFill>
          </p:grpSpPr>
          <p:sp>
            <p:nvSpPr>
              <p:cNvPr id="162" name="楕円 161">
                <a:extLst>
                  <a:ext uri="{FF2B5EF4-FFF2-40B4-BE49-F238E27FC236}">
                    <a16:creationId xmlns:a16="http://schemas.microsoft.com/office/drawing/2014/main" id="{8C2F6AC0-D978-456C-8FC7-CE2C8FBC6C91}"/>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63" name="弦 162">
                <a:extLst>
                  <a:ext uri="{FF2B5EF4-FFF2-40B4-BE49-F238E27FC236}">
                    <a16:creationId xmlns:a16="http://schemas.microsoft.com/office/drawing/2014/main" id="{DCB5425F-6D61-6E83-5D35-060AC8577CEB}"/>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64" name="グループ化 163">
              <a:extLst>
                <a:ext uri="{FF2B5EF4-FFF2-40B4-BE49-F238E27FC236}">
                  <a16:creationId xmlns:a16="http://schemas.microsoft.com/office/drawing/2014/main" id="{9D3615E0-542F-81E7-4B5D-87456184F181}"/>
                </a:ext>
              </a:extLst>
            </p:cNvPr>
            <p:cNvGrpSpPr/>
            <p:nvPr/>
          </p:nvGrpSpPr>
          <p:grpSpPr>
            <a:xfrm>
              <a:off x="7807951" y="5467521"/>
              <a:ext cx="61339" cy="158705"/>
              <a:chOff x="5465096" y="6029108"/>
              <a:chExt cx="127820" cy="342195"/>
            </a:xfrm>
            <a:solidFill>
              <a:srgbClr val="FF0000"/>
            </a:solidFill>
          </p:grpSpPr>
          <p:sp>
            <p:nvSpPr>
              <p:cNvPr id="165" name="楕円 164">
                <a:extLst>
                  <a:ext uri="{FF2B5EF4-FFF2-40B4-BE49-F238E27FC236}">
                    <a16:creationId xmlns:a16="http://schemas.microsoft.com/office/drawing/2014/main" id="{77062F79-B12B-6399-2423-5D5493EFB1A2}"/>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66" name="弦 165">
                <a:extLst>
                  <a:ext uri="{FF2B5EF4-FFF2-40B4-BE49-F238E27FC236}">
                    <a16:creationId xmlns:a16="http://schemas.microsoft.com/office/drawing/2014/main" id="{07278565-3668-32ED-8A9F-6AF62DEAED3A}"/>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67" name="グループ化 166">
              <a:extLst>
                <a:ext uri="{FF2B5EF4-FFF2-40B4-BE49-F238E27FC236}">
                  <a16:creationId xmlns:a16="http://schemas.microsoft.com/office/drawing/2014/main" id="{AFCE9910-67F3-0C5C-9A4F-2C4E06C59F40}"/>
                </a:ext>
              </a:extLst>
            </p:cNvPr>
            <p:cNvGrpSpPr/>
            <p:nvPr/>
          </p:nvGrpSpPr>
          <p:grpSpPr>
            <a:xfrm>
              <a:off x="7875411" y="5467521"/>
              <a:ext cx="61339" cy="158705"/>
              <a:chOff x="5465096" y="6029108"/>
              <a:chExt cx="127820" cy="342195"/>
            </a:xfrm>
            <a:solidFill>
              <a:srgbClr val="FF0000"/>
            </a:solidFill>
          </p:grpSpPr>
          <p:sp>
            <p:nvSpPr>
              <p:cNvPr id="168" name="楕円 167">
                <a:extLst>
                  <a:ext uri="{FF2B5EF4-FFF2-40B4-BE49-F238E27FC236}">
                    <a16:creationId xmlns:a16="http://schemas.microsoft.com/office/drawing/2014/main" id="{49F73FB7-7F40-8C0F-F4B6-A88D443EFDF9}"/>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69" name="弦 168">
                <a:extLst>
                  <a:ext uri="{FF2B5EF4-FFF2-40B4-BE49-F238E27FC236}">
                    <a16:creationId xmlns:a16="http://schemas.microsoft.com/office/drawing/2014/main" id="{68A55F31-B26E-CF53-0D07-04765CDDE8ED}"/>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70" name="グループ化 169">
              <a:extLst>
                <a:ext uri="{FF2B5EF4-FFF2-40B4-BE49-F238E27FC236}">
                  <a16:creationId xmlns:a16="http://schemas.microsoft.com/office/drawing/2014/main" id="{4D42D742-1599-4345-C87C-61736B2A27B4}"/>
                </a:ext>
              </a:extLst>
            </p:cNvPr>
            <p:cNvGrpSpPr/>
            <p:nvPr/>
          </p:nvGrpSpPr>
          <p:grpSpPr>
            <a:xfrm>
              <a:off x="7951490" y="5467521"/>
              <a:ext cx="61339" cy="158705"/>
              <a:chOff x="5465096" y="6029108"/>
              <a:chExt cx="127820" cy="342195"/>
            </a:xfrm>
            <a:solidFill>
              <a:srgbClr val="FF0000"/>
            </a:solidFill>
          </p:grpSpPr>
          <p:sp>
            <p:nvSpPr>
              <p:cNvPr id="171" name="楕円 170">
                <a:extLst>
                  <a:ext uri="{FF2B5EF4-FFF2-40B4-BE49-F238E27FC236}">
                    <a16:creationId xmlns:a16="http://schemas.microsoft.com/office/drawing/2014/main" id="{B769315D-73B2-9607-45CD-A33FE891442E}"/>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72" name="弦 171">
                <a:extLst>
                  <a:ext uri="{FF2B5EF4-FFF2-40B4-BE49-F238E27FC236}">
                    <a16:creationId xmlns:a16="http://schemas.microsoft.com/office/drawing/2014/main" id="{3346AB8A-62DE-D80F-1DE9-0F72B94C2870}"/>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73" name="グループ化 172">
              <a:extLst>
                <a:ext uri="{FF2B5EF4-FFF2-40B4-BE49-F238E27FC236}">
                  <a16:creationId xmlns:a16="http://schemas.microsoft.com/office/drawing/2014/main" id="{42ADBD3F-A992-B67F-AA11-DBFB22F2E4A9}"/>
                </a:ext>
              </a:extLst>
            </p:cNvPr>
            <p:cNvGrpSpPr/>
            <p:nvPr/>
          </p:nvGrpSpPr>
          <p:grpSpPr>
            <a:xfrm>
              <a:off x="6980114" y="5596137"/>
              <a:ext cx="61339" cy="158705"/>
              <a:chOff x="5465096" y="6029108"/>
              <a:chExt cx="127820" cy="342195"/>
            </a:xfrm>
          </p:grpSpPr>
          <p:sp>
            <p:nvSpPr>
              <p:cNvPr id="174" name="楕円 173">
                <a:extLst>
                  <a:ext uri="{FF2B5EF4-FFF2-40B4-BE49-F238E27FC236}">
                    <a16:creationId xmlns:a16="http://schemas.microsoft.com/office/drawing/2014/main" id="{F065FB01-1A81-9464-9C0B-7270EB327E96}"/>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75" name="弦 174">
                <a:extLst>
                  <a:ext uri="{FF2B5EF4-FFF2-40B4-BE49-F238E27FC236}">
                    <a16:creationId xmlns:a16="http://schemas.microsoft.com/office/drawing/2014/main" id="{70F4FD93-341E-D1ED-FC9D-6EEF5C537197}"/>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76" name="グループ化 175">
              <a:extLst>
                <a:ext uri="{FF2B5EF4-FFF2-40B4-BE49-F238E27FC236}">
                  <a16:creationId xmlns:a16="http://schemas.microsoft.com/office/drawing/2014/main" id="{903D26C1-4A50-64DB-B4D9-7B92024FEFBB}"/>
                </a:ext>
              </a:extLst>
            </p:cNvPr>
            <p:cNvGrpSpPr/>
            <p:nvPr/>
          </p:nvGrpSpPr>
          <p:grpSpPr>
            <a:xfrm>
              <a:off x="7056193" y="5596137"/>
              <a:ext cx="61339" cy="158705"/>
              <a:chOff x="5465096" y="6029108"/>
              <a:chExt cx="127820" cy="342195"/>
            </a:xfrm>
          </p:grpSpPr>
          <p:sp>
            <p:nvSpPr>
              <p:cNvPr id="177" name="楕円 176">
                <a:extLst>
                  <a:ext uri="{FF2B5EF4-FFF2-40B4-BE49-F238E27FC236}">
                    <a16:creationId xmlns:a16="http://schemas.microsoft.com/office/drawing/2014/main" id="{3369B818-8528-789D-F77D-0021FE7BE71A}"/>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78" name="弦 177">
                <a:extLst>
                  <a:ext uri="{FF2B5EF4-FFF2-40B4-BE49-F238E27FC236}">
                    <a16:creationId xmlns:a16="http://schemas.microsoft.com/office/drawing/2014/main" id="{D194ADC9-DC43-2569-D640-CE0D1BA4C252}"/>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79" name="グループ化 178">
              <a:extLst>
                <a:ext uri="{FF2B5EF4-FFF2-40B4-BE49-F238E27FC236}">
                  <a16:creationId xmlns:a16="http://schemas.microsoft.com/office/drawing/2014/main" id="{3E8F1B61-14AA-1574-84ED-288BE52E1591}"/>
                </a:ext>
              </a:extLst>
            </p:cNvPr>
            <p:cNvGrpSpPr/>
            <p:nvPr/>
          </p:nvGrpSpPr>
          <p:grpSpPr>
            <a:xfrm>
              <a:off x="7132272" y="5596137"/>
              <a:ext cx="61339" cy="158705"/>
              <a:chOff x="5465096" y="6029108"/>
              <a:chExt cx="127820" cy="342195"/>
            </a:xfrm>
          </p:grpSpPr>
          <p:sp>
            <p:nvSpPr>
              <p:cNvPr id="180" name="楕円 179">
                <a:extLst>
                  <a:ext uri="{FF2B5EF4-FFF2-40B4-BE49-F238E27FC236}">
                    <a16:creationId xmlns:a16="http://schemas.microsoft.com/office/drawing/2014/main" id="{D92B70E3-8DBF-C8D1-006B-FDB0BC83912B}"/>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81" name="弦 180">
                <a:extLst>
                  <a:ext uri="{FF2B5EF4-FFF2-40B4-BE49-F238E27FC236}">
                    <a16:creationId xmlns:a16="http://schemas.microsoft.com/office/drawing/2014/main" id="{FF384F40-B372-819B-D9C3-D73CFC22F17A}"/>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82" name="グループ化 181">
              <a:extLst>
                <a:ext uri="{FF2B5EF4-FFF2-40B4-BE49-F238E27FC236}">
                  <a16:creationId xmlns:a16="http://schemas.microsoft.com/office/drawing/2014/main" id="{7E2F4E6F-45F6-4441-DBB1-507A9EA0A494}"/>
                </a:ext>
              </a:extLst>
            </p:cNvPr>
            <p:cNvGrpSpPr/>
            <p:nvPr/>
          </p:nvGrpSpPr>
          <p:grpSpPr>
            <a:xfrm>
              <a:off x="7208351" y="5596137"/>
              <a:ext cx="61339" cy="158705"/>
              <a:chOff x="5465096" y="6029108"/>
              <a:chExt cx="127820" cy="342195"/>
            </a:xfrm>
          </p:grpSpPr>
          <p:sp>
            <p:nvSpPr>
              <p:cNvPr id="183" name="楕円 182">
                <a:extLst>
                  <a:ext uri="{FF2B5EF4-FFF2-40B4-BE49-F238E27FC236}">
                    <a16:creationId xmlns:a16="http://schemas.microsoft.com/office/drawing/2014/main" id="{B5B55A7E-C1AD-0F8D-2BDA-39FE5D9E30C7}"/>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84" name="弦 183">
                <a:extLst>
                  <a:ext uri="{FF2B5EF4-FFF2-40B4-BE49-F238E27FC236}">
                    <a16:creationId xmlns:a16="http://schemas.microsoft.com/office/drawing/2014/main" id="{F287F507-5F96-EF98-A1F2-8B07340054FE}"/>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85" name="グループ化 184">
              <a:extLst>
                <a:ext uri="{FF2B5EF4-FFF2-40B4-BE49-F238E27FC236}">
                  <a16:creationId xmlns:a16="http://schemas.microsoft.com/office/drawing/2014/main" id="{CAA868EF-494D-7DA5-9D08-BBE9B5CBD007}"/>
                </a:ext>
              </a:extLst>
            </p:cNvPr>
            <p:cNvGrpSpPr/>
            <p:nvPr/>
          </p:nvGrpSpPr>
          <p:grpSpPr>
            <a:xfrm>
              <a:off x="7276892" y="5596137"/>
              <a:ext cx="61339" cy="158705"/>
              <a:chOff x="5465096" y="6029108"/>
              <a:chExt cx="127820" cy="342195"/>
            </a:xfrm>
          </p:grpSpPr>
          <p:sp>
            <p:nvSpPr>
              <p:cNvPr id="186" name="楕円 185">
                <a:extLst>
                  <a:ext uri="{FF2B5EF4-FFF2-40B4-BE49-F238E27FC236}">
                    <a16:creationId xmlns:a16="http://schemas.microsoft.com/office/drawing/2014/main" id="{F6C4D3B5-6CBC-4E6D-4DDE-599EE4095734}"/>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87" name="弦 186">
                <a:extLst>
                  <a:ext uri="{FF2B5EF4-FFF2-40B4-BE49-F238E27FC236}">
                    <a16:creationId xmlns:a16="http://schemas.microsoft.com/office/drawing/2014/main" id="{7D7828EA-1CD2-46B0-7CFF-640FAE0A0B4B}"/>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88" name="グループ化 187">
              <a:extLst>
                <a:ext uri="{FF2B5EF4-FFF2-40B4-BE49-F238E27FC236}">
                  <a16:creationId xmlns:a16="http://schemas.microsoft.com/office/drawing/2014/main" id="{C155705B-D03E-2597-249F-444D8CEC20AA}"/>
                </a:ext>
              </a:extLst>
            </p:cNvPr>
            <p:cNvGrpSpPr/>
            <p:nvPr/>
          </p:nvGrpSpPr>
          <p:grpSpPr>
            <a:xfrm>
              <a:off x="7352971" y="5596137"/>
              <a:ext cx="61339" cy="158705"/>
              <a:chOff x="5465096" y="6029108"/>
              <a:chExt cx="127820" cy="342195"/>
            </a:xfrm>
          </p:grpSpPr>
          <p:sp>
            <p:nvSpPr>
              <p:cNvPr id="189" name="楕円 188">
                <a:extLst>
                  <a:ext uri="{FF2B5EF4-FFF2-40B4-BE49-F238E27FC236}">
                    <a16:creationId xmlns:a16="http://schemas.microsoft.com/office/drawing/2014/main" id="{2FEA756B-71ED-E135-0849-E66C1F1C8EBC}"/>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90" name="弦 189">
                <a:extLst>
                  <a:ext uri="{FF2B5EF4-FFF2-40B4-BE49-F238E27FC236}">
                    <a16:creationId xmlns:a16="http://schemas.microsoft.com/office/drawing/2014/main" id="{A68E13C4-4610-1FEC-111A-47C991324E25}"/>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91" name="グループ化 190">
              <a:extLst>
                <a:ext uri="{FF2B5EF4-FFF2-40B4-BE49-F238E27FC236}">
                  <a16:creationId xmlns:a16="http://schemas.microsoft.com/office/drawing/2014/main" id="{BA8E7292-DC3A-E4EE-945E-D42EE1AA1D16}"/>
                </a:ext>
              </a:extLst>
            </p:cNvPr>
            <p:cNvGrpSpPr/>
            <p:nvPr/>
          </p:nvGrpSpPr>
          <p:grpSpPr>
            <a:xfrm>
              <a:off x="7429050" y="5596137"/>
              <a:ext cx="61339" cy="158705"/>
              <a:chOff x="5465096" y="6029108"/>
              <a:chExt cx="127820" cy="342195"/>
            </a:xfrm>
          </p:grpSpPr>
          <p:sp>
            <p:nvSpPr>
              <p:cNvPr id="192" name="楕円 191">
                <a:extLst>
                  <a:ext uri="{FF2B5EF4-FFF2-40B4-BE49-F238E27FC236}">
                    <a16:creationId xmlns:a16="http://schemas.microsoft.com/office/drawing/2014/main" id="{A8884FEF-5C86-C66A-DA7F-D38FE804F040}"/>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93" name="弦 192">
                <a:extLst>
                  <a:ext uri="{FF2B5EF4-FFF2-40B4-BE49-F238E27FC236}">
                    <a16:creationId xmlns:a16="http://schemas.microsoft.com/office/drawing/2014/main" id="{5C241741-5FC3-F3DD-84DC-E41A8A960960}"/>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94" name="グループ化 193">
              <a:extLst>
                <a:ext uri="{FF2B5EF4-FFF2-40B4-BE49-F238E27FC236}">
                  <a16:creationId xmlns:a16="http://schemas.microsoft.com/office/drawing/2014/main" id="{15C53991-DEF0-22A2-754A-BF75766F939F}"/>
                </a:ext>
              </a:extLst>
            </p:cNvPr>
            <p:cNvGrpSpPr/>
            <p:nvPr/>
          </p:nvGrpSpPr>
          <p:grpSpPr>
            <a:xfrm>
              <a:off x="7505129" y="5596137"/>
              <a:ext cx="61339" cy="158705"/>
              <a:chOff x="5465096" y="6029108"/>
              <a:chExt cx="127820" cy="342195"/>
            </a:xfrm>
            <a:solidFill>
              <a:srgbClr val="FF0000"/>
            </a:solidFill>
          </p:grpSpPr>
          <p:sp>
            <p:nvSpPr>
              <p:cNvPr id="195" name="楕円 194">
                <a:extLst>
                  <a:ext uri="{FF2B5EF4-FFF2-40B4-BE49-F238E27FC236}">
                    <a16:creationId xmlns:a16="http://schemas.microsoft.com/office/drawing/2014/main" id="{ACBA74B3-7C25-5BB5-036A-E24B71CA341A}"/>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96" name="弦 195">
                <a:extLst>
                  <a:ext uri="{FF2B5EF4-FFF2-40B4-BE49-F238E27FC236}">
                    <a16:creationId xmlns:a16="http://schemas.microsoft.com/office/drawing/2014/main" id="{EC53FF58-12A1-6121-00A8-BABF74E39112}"/>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197" name="グループ化 196">
              <a:extLst>
                <a:ext uri="{FF2B5EF4-FFF2-40B4-BE49-F238E27FC236}">
                  <a16:creationId xmlns:a16="http://schemas.microsoft.com/office/drawing/2014/main" id="{E2ACC34E-1A42-590F-024B-F16D610C29C8}"/>
                </a:ext>
              </a:extLst>
            </p:cNvPr>
            <p:cNvGrpSpPr/>
            <p:nvPr/>
          </p:nvGrpSpPr>
          <p:grpSpPr>
            <a:xfrm>
              <a:off x="7575703" y="5596137"/>
              <a:ext cx="61339" cy="158705"/>
              <a:chOff x="5465096" y="6029108"/>
              <a:chExt cx="127820" cy="342195"/>
            </a:xfrm>
            <a:solidFill>
              <a:srgbClr val="FF0000"/>
            </a:solidFill>
          </p:grpSpPr>
          <p:sp>
            <p:nvSpPr>
              <p:cNvPr id="198" name="楕円 197">
                <a:extLst>
                  <a:ext uri="{FF2B5EF4-FFF2-40B4-BE49-F238E27FC236}">
                    <a16:creationId xmlns:a16="http://schemas.microsoft.com/office/drawing/2014/main" id="{C00628B0-C043-37C2-C38D-B124ECCD3341}"/>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199" name="弦 198">
                <a:extLst>
                  <a:ext uri="{FF2B5EF4-FFF2-40B4-BE49-F238E27FC236}">
                    <a16:creationId xmlns:a16="http://schemas.microsoft.com/office/drawing/2014/main" id="{651CE5BE-D4E1-9165-F94C-E83AAADC1FE5}"/>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00" name="グループ化 199">
              <a:extLst>
                <a:ext uri="{FF2B5EF4-FFF2-40B4-BE49-F238E27FC236}">
                  <a16:creationId xmlns:a16="http://schemas.microsoft.com/office/drawing/2014/main" id="{EC654809-F386-A143-5BD6-2E4DC4311080}"/>
                </a:ext>
              </a:extLst>
            </p:cNvPr>
            <p:cNvGrpSpPr/>
            <p:nvPr/>
          </p:nvGrpSpPr>
          <p:grpSpPr>
            <a:xfrm>
              <a:off x="7651782" y="5596137"/>
              <a:ext cx="61339" cy="158705"/>
              <a:chOff x="5465096" y="6029108"/>
              <a:chExt cx="127820" cy="342195"/>
            </a:xfrm>
            <a:solidFill>
              <a:srgbClr val="FF0000"/>
            </a:solidFill>
          </p:grpSpPr>
          <p:sp>
            <p:nvSpPr>
              <p:cNvPr id="201" name="楕円 200">
                <a:extLst>
                  <a:ext uri="{FF2B5EF4-FFF2-40B4-BE49-F238E27FC236}">
                    <a16:creationId xmlns:a16="http://schemas.microsoft.com/office/drawing/2014/main" id="{E39409B3-585A-70FB-7A04-6577D98D838B}"/>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02" name="弦 201">
                <a:extLst>
                  <a:ext uri="{FF2B5EF4-FFF2-40B4-BE49-F238E27FC236}">
                    <a16:creationId xmlns:a16="http://schemas.microsoft.com/office/drawing/2014/main" id="{3D83C721-2C8D-BCB6-4394-EF4450945FEA}"/>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03" name="グループ化 202">
              <a:extLst>
                <a:ext uri="{FF2B5EF4-FFF2-40B4-BE49-F238E27FC236}">
                  <a16:creationId xmlns:a16="http://schemas.microsoft.com/office/drawing/2014/main" id="{57380EFF-C1E4-863F-465A-A32B63BA90B0}"/>
                </a:ext>
              </a:extLst>
            </p:cNvPr>
            <p:cNvGrpSpPr/>
            <p:nvPr/>
          </p:nvGrpSpPr>
          <p:grpSpPr>
            <a:xfrm>
              <a:off x="7727861" y="5596137"/>
              <a:ext cx="61339" cy="158705"/>
              <a:chOff x="5465096" y="6029108"/>
              <a:chExt cx="127820" cy="342195"/>
            </a:xfrm>
            <a:solidFill>
              <a:srgbClr val="FF0000"/>
            </a:solidFill>
          </p:grpSpPr>
          <p:sp>
            <p:nvSpPr>
              <p:cNvPr id="204" name="楕円 203">
                <a:extLst>
                  <a:ext uri="{FF2B5EF4-FFF2-40B4-BE49-F238E27FC236}">
                    <a16:creationId xmlns:a16="http://schemas.microsoft.com/office/drawing/2014/main" id="{22729D49-0B2F-D0C8-31AB-21E2B0585208}"/>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05" name="弦 204">
                <a:extLst>
                  <a:ext uri="{FF2B5EF4-FFF2-40B4-BE49-F238E27FC236}">
                    <a16:creationId xmlns:a16="http://schemas.microsoft.com/office/drawing/2014/main" id="{DDF93F41-DA75-C046-5236-1F0315691F86}"/>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06" name="グループ化 205">
              <a:extLst>
                <a:ext uri="{FF2B5EF4-FFF2-40B4-BE49-F238E27FC236}">
                  <a16:creationId xmlns:a16="http://schemas.microsoft.com/office/drawing/2014/main" id="{D3EC92F9-92EE-1034-631F-727D94442F5F}"/>
                </a:ext>
              </a:extLst>
            </p:cNvPr>
            <p:cNvGrpSpPr/>
            <p:nvPr/>
          </p:nvGrpSpPr>
          <p:grpSpPr>
            <a:xfrm>
              <a:off x="7803940" y="5596137"/>
              <a:ext cx="61339" cy="158705"/>
              <a:chOff x="5465096" y="6029108"/>
              <a:chExt cx="127820" cy="342195"/>
            </a:xfrm>
            <a:solidFill>
              <a:srgbClr val="FF0000"/>
            </a:solidFill>
          </p:grpSpPr>
          <p:sp>
            <p:nvSpPr>
              <p:cNvPr id="207" name="楕円 206">
                <a:extLst>
                  <a:ext uri="{FF2B5EF4-FFF2-40B4-BE49-F238E27FC236}">
                    <a16:creationId xmlns:a16="http://schemas.microsoft.com/office/drawing/2014/main" id="{B2D88107-7A8F-E1DE-863B-59C0B80E6B6E}"/>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08" name="弦 207">
                <a:extLst>
                  <a:ext uri="{FF2B5EF4-FFF2-40B4-BE49-F238E27FC236}">
                    <a16:creationId xmlns:a16="http://schemas.microsoft.com/office/drawing/2014/main" id="{6CB2C6A4-C967-A8BC-AE5D-D1997CC66BEB}"/>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09" name="グループ化 208">
              <a:extLst>
                <a:ext uri="{FF2B5EF4-FFF2-40B4-BE49-F238E27FC236}">
                  <a16:creationId xmlns:a16="http://schemas.microsoft.com/office/drawing/2014/main" id="{E14913DA-CF59-2552-92C8-9E33027B9F25}"/>
                </a:ext>
              </a:extLst>
            </p:cNvPr>
            <p:cNvGrpSpPr/>
            <p:nvPr/>
          </p:nvGrpSpPr>
          <p:grpSpPr>
            <a:xfrm>
              <a:off x="7871400" y="5596137"/>
              <a:ext cx="61339" cy="158705"/>
              <a:chOff x="5465096" y="6029108"/>
              <a:chExt cx="127820" cy="342195"/>
            </a:xfrm>
            <a:solidFill>
              <a:srgbClr val="FF0000"/>
            </a:solidFill>
          </p:grpSpPr>
          <p:sp>
            <p:nvSpPr>
              <p:cNvPr id="210" name="楕円 209">
                <a:extLst>
                  <a:ext uri="{FF2B5EF4-FFF2-40B4-BE49-F238E27FC236}">
                    <a16:creationId xmlns:a16="http://schemas.microsoft.com/office/drawing/2014/main" id="{265DF151-6A35-047A-D941-01766353F59E}"/>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11" name="弦 210">
                <a:extLst>
                  <a:ext uri="{FF2B5EF4-FFF2-40B4-BE49-F238E27FC236}">
                    <a16:creationId xmlns:a16="http://schemas.microsoft.com/office/drawing/2014/main" id="{D0C00246-32C4-DDE5-EE61-2EBCC1ADA276}"/>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15" name="グループ化 214">
              <a:extLst>
                <a:ext uri="{FF2B5EF4-FFF2-40B4-BE49-F238E27FC236}">
                  <a16:creationId xmlns:a16="http://schemas.microsoft.com/office/drawing/2014/main" id="{A418B9FC-7F2C-73C9-F460-A9622E0906C6}"/>
                </a:ext>
              </a:extLst>
            </p:cNvPr>
            <p:cNvGrpSpPr/>
            <p:nvPr/>
          </p:nvGrpSpPr>
          <p:grpSpPr>
            <a:xfrm>
              <a:off x="6979600" y="5711318"/>
              <a:ext cx="61339" cy="158705"/>
              <a:chOff x="5465096" y="6029108"/>
              <a:chExt cx="127820" cy="342195"/>
            </a:xfrm>
          </p:grpSpPr>
          <p:sp>
            <p:nvSpPr>
              <p:cNvPr id="216" name="楕円 215">
                <a:extLst>
                  <a:ext uri="{FF2B5EF4-FFF2-40B4-BE49-F238E27FC236}">
                    <a16:creationId xmlns:a16="http://schemas.microsoft.com/office/drawing/2014/main" id="{55C49FB1-0CAB-D565-676A-56D2BE4C1277}"/>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17" name="弦 216">
                <a:extLst>
                  <a:ext uri="{FF2B5EF4-FFF2-40B4-BE49-F238E27FC236}">
                    <a16:creationId xmlns:a16="http://schemas.microsoft.com/office/drawing/2014/main" id="{03B95B02-7AF1-DB54-201A-8EE32A38165E}"/>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18" name="グループ化 217">
              <a:extLst>
                <a:ext uri="{FF2B5EF4-FFF2-40B4-BE49-F238E27FC236}">
                  <a16:creationId xmlns:a16="http://schemas.microsoft.com/office/drawing/2014/main" id="{2FB55CA3-0066-F9BC-FEAD-F3E4C6D14B46}"/>
                </a:ext>
              </a:extLst>
            </p:cNvPr>
            <p:cNvGrpSpPr/>
            <p:nvPr/>
          </p:nvGrpSpPr>
          <p:grpSpPr>
            <a:xfrm>
              <a:off x="7055679" y="5711318"/>
              <a:ext cx="61339" cy="158705"/>
              <a:chOff x="5465096" y="6029108"/>
              <a:chExt cx="127820" cy="342195"/>
            </a:xfrm>
          </p:grpSpPr>
          <p:sp>
            <p:nvSpPr>
              <p:cNvPr id="219" name="楕円 218">
                <a:extLst>
                  <a:ext uri="{FF2B5EF4-FFF2-40B4-BE49-F238E27FC236}">
                    <a16:creationId xmlns:a16="http://schemas.microsoft.com/office/drawing/2014/main" id="{EAAA6F88-6CEF-776D-DE62-AECFA2B0A1ED}"/>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20" name="弦 219">
                <a:extLst>
                  <a:ext uri="{FF2B5EF4-FFF2-40B4-BE49-F238E27FC236}">
                    <a16:creationId xmlns:a16="http://schemas.microsoft.com/office/drawing/2014/main" id="{3D955D47-FF69-90DA-DA9A-C11B02B5AF09}"/>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21" name="グループ化 220">
              <a:extLst>
                <a:ext uri="{FF2B5EF4-FFF2-40B4-BE49-F238E27FC236}">
                  <a16:creationId xmlns:a16="http://schemas.microsoft.com/office/drawing/2014/main" id="{37B5C1ED-1395-0182-93B7-913CE76FF2BC}"/>
                </a:ext>
              </a:extLst>
            </p:cNvPr>
            <p:cNvGrpSpPr/>
            <p:nvPr/>
          </p:nvGrpSpPr>
          <p:grpSpPr>
            <a:xfrm>
              <a:off x="7131758" y="5711318"/>
              <a:ext cx="61339" cy="158705"/>
              <a:chOff x="5465096" y="6029108"/>
              <a:chExt cx="127820" cy="342195"/>
            </a:xfrm>
          </p:grpSpPr>
          <p:sp>
            <p:nvSpPr>
              <p:cNvPr id="222" name="楕円 221">
                <a:extLst>
                  <a:ext uri="{FF2B5EF4-FFF2-40B4-BE49-F238E27FC236}">
                    <a16:creationId xmlns:a16="http://schemas.microsoft.com/office/drawing/2014/main" id="{50890756-EAA8-49E9-3D59-8B7F3516A114}"/>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23" name="弦 222">
                <a:extLst>
                  <a:ext uri="{FF2B5EF4-FFF2-40B4-BE49-F238E27FC236}">
                    <a16:creationId xmlns:a16="http://schemas.microsoft.com/office/drawing/2014/main" id="{6D14DA70-BB4F-E494-7A6B-C5DA500B0834}"/>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24" name="グループ化 223">
              <a:extLst>
                <a:ext uri="{FF2B5EF4-FFF2-40B4-BE49-F238E27FC236}">
                  <a16:creationId xmlns:a16="http://schemas.microsoft.com/office/drawing/2014/main" id="{F723FD72-89F1-CFEF-0D65-47E3E572618F}"/>
                </a:ext>
              </a:extLst>
            </p:cNvPr>
            <p:cNvGrpSpPr/>
            <p:nvPr/>
          </p:nvGrpSpPr>
          <p:grpSpPr>
            <a:xfrm>
              <a:off x="7207837" y="5711318"/>
              <a:ext cx="61339" cy="158705"/>
              <a:chOff x="5465096" y="6029108"/>
              <a:chExt cx="127820" cy="342195"/>
            </a:xfrm>
          </p:grpSpPr>
          <p:sp>
            <p:nvSpPr>
              <p:cNvPr id="225" name="楕円 224">
                <a:extLst>
                  <a:ext uri="{FF2B5EF4-FFF2-40B4-BE49-F238E27FC236}">
                    <a16:creationId xmlns:a16="http://schemas.microsoft.com/office/drawing/2014/main" id="{ACF2AD22-B308-7723-E847-B98D2960B051}"/>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26" name="弦 225">
                <a:extLst>
                  <a:ext uri="{FF2B5EF4-FFF2-40B4-BE49-F238E27FC236}">
                    <a16:creationId xmlns:a16="http://schemas.microsoft.com/office/drawing/2014/main" id="{0E6BE6DF-66BC-DFD1-0F95-9C206FD0FD5B}"/>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27" name="グループ化 226">
              <a:extLst>
                <a:ext uri="{FF2B5EF4-FFF2-40B4-BE49-F238E27FC236}">
                  <a16:creationId xmlns:a16="http://schemas.microsoft.com/office/drawing/2014/main" id="{0E9A6D81-EEE9-1E4D-B6C9-35ED6B9668CE}"/>
                </a:ext>
              </a:extLst>
            </p:cNvPr>
            <p:cNvGrpSpPr/>
            <p:nvPr/>
          </p:nvGrpSpPr>
          <p:grpSpPr>
            <a:xfrm>
              <a:off x="7276378" y="5711318"/>
              <a:ext cx="61339" cy="158705"/>
              <a:chOff x="5465096" y="6029108"/>
              <a:chExt cx="127820" cy="342195"/>
            </a:xfrm>
          </p:grpSpPr>
          <p:sp>
            <p:nvSpPr>
              <p:cNvPr id="228" name="楕円 227">
                <a:extLst>
                  <a:ext uri="{FF2B5EF4-FFF2-40B4-BE49-F238E27FC236}">
                    <a16:creationId xmlns:a16="http://schemas.microsoft.com/office/drawing/2014/main" id="{B99E9D50-56A5-33A7-5496-2CBC4CDB14C4}"/>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29" name="弦 228">
                <a:extLst>
                  <a:ext uri="{FF2B5EF4-FFF2-40B4-BE49-F238E27FC236}">
                    <a16:creationId xmlns:a16="http://schemas.microsoft.com/office/drawing/2014/main" id="{1809CB4C-EAF6-0467-9419-69E09266599D}"/>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30" name="グループ化 229">
              <a:extLst>
                <a:ext uri="{FF2B5EF4-FFF2-40B4-BE49-F238E27FC236}">
                  <a16:creationId xmlns:a16="http://schemas.microsoft.com/office/drawing/2014/main" id="{B7E3026F-BB7D-2612-1F67-0C49C058782E}"/>
                </a:ext>
              </a:extLst>
            </p:cNvPr>
            <p:cNvGrpSpPr/>
            <p:nvPr/>
          </p:nvGrpSpPr>
          <p:grpSpPr>
            <a:xfrm>
              <a:off x="7352457" y="5711318"/>
              <a:ext cx="61339" cy="158705"/>
              <a:chOff x="5465096" y="6029108"/>
              <a:chExt cx="127820" cy="342195"/>
            </a:xfrm>
          </p:grpSpPr>
          <p:sp>
            <p:nvSpPr>
              <p:cNvPr id="231" name="楕円 230">
                <a:extLst>
                  <a:ext uri="{FF2B5EF4-FFF2-40B4-BE49-F238E27FC236}">
                    <a16:creationId xmlns:a16="http://schemas.microsoft.com/office/drawing/2014/main" id="{B492DD98-277B-7581-8BF7-F6CD44CB94CA}"/>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32" name="弦 231">
                <a:extLst>
                  <a:ext uri="{FF2B5EF4-FFF2-40B4-BE49-F238E27FC236}">
                    <a16:creationId xmlns:a16="http://schemas.microsoft.com/office/drawing/2014/main" id="{BD069BA1-B6CA-72E3-CD7C-ED076FF0374F}"/>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33" name="グループ化 232">
              <a:extLst>
                <a:ext uri="{FF2B5EF4-FFF2-40B4-BE49-F238E27FC236}">
                  <a16:creationId xmlns:a16="http://schemas.microsoft.com/office/drawing/2014/main" id="{B0F8E1DE-C160-13A7-156F-C132EE215850}"/>
                </a:ext>
              </a:extLst>
            </p:cNvPr>
            <p:cNvGrpSpPr/>
            <p:nvPr/>
          </p:nvGrpSpPr>
          <p:grpSpPr>
            <a:xfrm>
              <a:off x="7428536" y="5711318"/>
              <a:ext cx="61339" cy="158705"/>
              <a:chOff x="5465096" y="6029108"/>
              <a:chExt cx="127820" cy="342195"/>
            </a:xfrm>
            <a:solidFill>
              <a:schemeClr val="tx1"/>
            </a:solidFill>
          </p:grpSpPr>
          <p:sp>
            <p:nvSpPr>
              <p:cNvPr id="234" name="楕円 233">
                <a:extLst>
                  <a:ext uri="{FF2B5EF4-FFF2-40B4-BE49-F238E27FC236}">
                    <a16:creationId xmlns:a16="http://schemas.microsoft.com/office/drawing/2014/main" id="{6AD95450-B4F7-A1AD-BF06-4529F6790C91}"/>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35" name="弦 234">
                <a:extLst>
                  <a:ext uri="{FF2B5EF4-FFF2-40B4-BE49-F238E27FC236}">
                    <a16:creationId xmlns:a16="http://schemas.microsoft.com/office/drawing/2014/main" id="{3845627A-44BD-CD58-F651-D99D25D248CE}"/>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36" name="グループ化 235">
              <a:extLst>
                <a:ext uri="{FF2B5EF4-FFF2-40B4-BE49-F238E27FC236}">
                  <a16:creationId xmlns:a16="http://schemas.microsoft.com/office/drawing/2014/main" id="{FEBFD037-0F67-0D23-C3AD-EEE1E4DB6530}"/>
                </a:ext>
              </a:extLst>
            </p:cNvPr>
            <p:cNvGrpSpPr/>
            <p:nvPr/>
          </p:nvGrpSpPr>
          <p:grpSpPr>
            <a:xfrm>
              <a:off x="7504615" y="5711318"/>
              <a:ext cx="61339" cy="158705"/>
              <a:chOff x="5465096" y="6029108"/>
              <a:chExt cx="127820" cy="342195"/>
            </a:xfrm>
            <a:solidFill>
              <a:schemeClr val="tx1"/>
            </a:solidFill>
          </p:grpSpPr>
          <p:sp>
            <p:nvSpPr>
              <p:cNvPr id="237" name="楕円 236">
                <a:extLst>
                  <a:ext uri="{FF2B5EF4-FFF2-40B4-BE49-F238E27FC236}">
                    <a16:creationId xmlns:a16="http://schemas.microsoft.com/office/drawing/2014/main" id="{A9AFF57B-CCF7-530B-7184-86DC35DBB640}"/>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38" name="弦 237">
                <a:extLst>
                  <a:ext uri="{FF2B5EF4-FFF2-40B4-BE49-F238E27FC236}">
                    <a16:creationId xmlns:a16="http://schemas.microsoft.com/office/drawing/2014/main" id="{30F767F8-2F4E-9E3C-BAE5-CE1F1BECA56B}"/>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39" name="グループ化 238">
              <a:extLst>
                <a:ext uri="{FF2B5EF4-FFF2-40B4-BE49-F238E27FC236}">
                  <a16:creationId xmlns:a16="http://schemas.microsoft.com/office/drawing/2014/main" id="{45CD5822-3113-4BFE-8233-3946635B0A23}"/>
                </a:ext>
              </a:extLst>
            </p:cNvPr>
            <p:cNvGrpSpPr/>
            <p:nvPr/>
          </p:nvGrpSpPr>
          <p:grpSpPr>
            <a:xfrm>
              <a:off x="7575189" y="5711318"/>
              <a:ext cx="61339" cy="158705"/>
              <a:chOff x="5465096" y="6029108"/>
              <a:chExt cx="127820" cy="342195"/>
            </a:xfrm>
            <a:solidFill>
              <a:schemeClr val="tx1"/>
            </a:solidFill>
          </p:grpSpPr>
          <p:sp>
            <p:nvSpPr>
              <p:cNvPr id="240" name="楕円 239">
                <a:extLst>
                  <a:ext uri="{FF2B5EF4-FFF2-40B4-BE49-F238E27FC236}">
                    <a16:creationId xmlns:a16="http://schemas.microsoft.com/office/drawing/2014/main" id="{F75B814C-A4EE-4449-A147-A34BD91E6F9C}"/>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41" name="弦 240">
                <a:extLst>
                  <a:ext uri="{FF2B5EF4-FFF2-40B4-BE49-F238E27FC236}">
                    <a16:creationId xmlns:a16="http://schemas.microsoft.com/office/drawing/2014/main" id="{13883DBD-D3C4-70CD-88F3-769F27C73EE3}"/>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42" name="グループ化 241">
              <a:extLst>
                <a:ext uri="{FF2B5EF4-FFF2-40B4-BE49-F238E27FC236}">
                  <a16:creationId xmlns:a16="http://schemas.microsoft.com/office/drawing/2014/main" id="{182B783C-D922-3192-49E6-8EAB59FBA83D}"/>
                </a:ext>
              </a:extLst>
            </p:cNvPr>
            <p:cNvGrpSpPr/>
            <p:nvPr/>
          </p:nvGrpSpPr>
          <p:grpSpPr>
            <a:xfrm>
              <a:off x="7651268" y="5711318"/>
              <a:ext cx="61339" cy="158705"/>
              <a:chOff x="5465096" y="6029108"/>
              <a:chExt cx="127820" cy="342195"/>
            </a:xfrm>
            <a:solidFill>
              <a:schemeClr val="tx1"/>
            </a:solidFill>
          </p:grpSpPr>
          <p:sp>
            <p:nvSpPr>
              <p:cNvPr id="243" name="楕円 242">
                <a:extLst>
                  <a:ext uri="{FF2B5EF4-FFF2-40B4-BE49-F238E27FC236}">
                    <a16:creationId xmlns:a16="http://schemas.microsoft.com/office/drawing/2014/main" id="{27B70710-8EDE-6200-A0B7-A84ED1B68549}"/>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44" name="弦 243">
                <a:extLst>
                  <a:ext uri="{FF2B5EF4-FFF2-40B4-BE49-F238E27FC236}">
                    <a16:creationId xmlns:a16="http://schemas.microsoft.com/office/drawing/2014/main" id="{96511131-0286-8064-4497-BAC78612B78E}"/>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45" name="グループ化 244">
              <a:extLst>
                <a:ext uri="{FF2B5EF4-FFF2-40B4-BE49-F238E27FC236}">
                  <a16:creationId xmlns:a16="http://schemas.microsoft.com/office/drawing/2014/main" id="{B7481AE9-59C0-4AB4-58BA-3BB764E91671}"/>
                </a:ext>
              </a:extLst>
            </p:cNvPr>
            <p:cNvGrpSpPr/>
            <p:nvPr/>
          </p:nvGrpSpPr>
          <p:grpSpPr>
            <a:xfrm>
              <a:off x="7727347" y="5711318"/>
              <a:ext cx="61339" cy="158705"/>
              <a:chOff x="5465096" y="6029108"/>
              <a:chExt cx="127820" cy="342195"/>
            </a:xfrm>
            <a:solidFill>
              <a:schemeClr val="tx1"/>
            </a:solidFill>
          </p:grpSpPr>
          <p:sp>
            <p:nvSpPr>
              <p:cNvPr id="246" name="楕円 245">
                <a:extLst>
                  <a:ext uri="{FF2B5EF4-FFF2-40B4-BE49-F238E27FC236}">
                    <a16:creationId xmlns:a16="http://schemas.microsoft.com/office/drawing/2014/main" id="{3F95EA82-941E-5B05-D561-3C971A61284A}"/>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47" name="弦 246">
                <a:extLst>
                  <a:ext uri="{FF2B5EF4-FFF2-40B4-BE49-F238E27FC236}">
                    <a16:creationId xmlns:a16="http://schemas.microsoft.com/office/drawing/2014/main" id="{52042831-AD71-B20B-2BE7-EB4AD7004B44}"/>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48" name="グループ化 247">
              <a:extLst>
                <a:ext uri="{FF2B5EF4-FFF2-40B4-BE49-F238E27FC236}">
                  <a16:creationId xmlns:a16="http://schemas.microsoft.com/office/drawing/2014/main" id="{48121D59-42D3-A3EF-4A57-750A687F46B3}"/>
                </a:ext>
              </a:extLst>
            </p:cNvPr>
            <p:cNvGrpSpPr/>
            <p:nvPr/>
          </p:nvGrpSpPr>
          <p:grpSpPr>
            <a:xfrm>
              <a:off x="7803426" y="5711318"/>
              <a:ext cx="61339" cy="158705"/>
              <a:chOff x="5465096" y="6029108"/>
              <a:chExt cx="127820" cy="342195"/>
            </a:xfrm>
            <a:solidFill>
              <a:srgbClr val="FF0000"/>
            </a:solidFill>
          </p:grpSpPr>
          <p:sp>
            <p:nvSpPr>
              <p:cNvPr id="249" name="楕円 248">
                <a:extLst>
                  <a:ext uri="{FF2B5EF4-FFF2-40B4-BE49-F238E27FC236}">
                    <a16:creationId xmlns:a16="http://schemas.microsoft.com/office/drawing/2014/main" id="{758B0644-16D2-4096-7357-9ADF571DBD8B}"/>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50" name="弦 249">
                <a:extLst>
                  <a:ext uri="{FF2B5EF4-FFF2-40B4-BE49-F238E27FC236}">
                    <a16:creationId xmlns:a16="http://schemas.microsoft.com/office/drawing/2014/main" id="{77F097D1-C43E-360F-54F9-3AF71B748258}"/>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51" name="グループ化 250">
              <a:extLst>
                <a:ext uri="{FF2B5EF4-FFF2-40B4-BE49-F238E27FC236}">
                  <a16:creationId xmlns:a16="http://schemas.microsoft.com/office/drawing/2014/main" id="{20672E07-43B8-DAB4-4AC9-8E7C3987A2E1}"/>
                </a:ext>
              </a:extLst>
            </p:cNvPr>
            <p:cNvGrpSpPr/>
            <p:nvPr/>
          </p:nvGrpSpPr>
          <p:grpSpPr>
            <a:xfrm>
              <a:off x="7870886" y="5711318"/>
              <a:ext cx="61339" cy="158705"/>
              <a:chOff x="5465096" y="6029108"/>
              <a:chExt cx="127820" cy="342195"/>
            </a:xfrm>
            <a:solidFill>
              <a:srgbClr val="FF0000"/>
            </a:solidFill>
          </p:grpSpPr>
          <p:sp>
            <p:nvSpPr>
              <p:cNvPr id="252" name="楕円 251">
                <a:extLst>
                  <a:ext uri="{FF2B5EF4-FFF2-40B4-BE49-F238E27FC236}">
                    <a16:creationId xmlns:a16="http://schemas.microsoft.com/office/drawing/2014/main" id="{2D17E55C-4848-1B3C-19EA-524BD986BB11}"/>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53" name="弦 252">
                <a:extLst>
                  <a:ext uri="{FF2B5EF4-FFF2-40B4-BE49-F238E27FC236}">
                    <a16:creationId xmlns:a16="http://schemas.microsoft.com/office/drawing/2014/main" id="{B90C69FD-CC39-BBC1-399B-94D20C88CA00}"/>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54" name="グループ化 253">
              <a:extLst>
                <a:ext uri="{FF2B5EF4-FFF2-40B4-BE49-F238E27FC236}">
                  <a16:creationId xmlns:a16="http://schemas.microsoft.com/office/drawing/2014/main" id="{CAB50E1F-AB21-97EF-CB50-CF4C0BE082F6}"/>
                </a:ext>
              </a:extLst>
            </p:cNvPr>
            <p:cNvGrpSpPr/>
            <p:nvPr/>
          </p:nvGrpSpPr>
          <p:grpSpPr>
            <a:xfrm>
              <a:off x="7943007" y="5712753"/>
              <a:ext cx="61339" cy="158705"/>
              <a:chOff x="5465096" y="6029108"/>
              <a:chExt cx="127820" cy="342195"/>
            </a:xfrm>
            <a:solidFill>
              <a:srgbClr val="FF0000"/>
            </a:solidFill>
          </p:grpSpPr>
          <p:sp>
            <p:nvSpPr>
              <p:cNvPr id="255" name="楕円 254">
                <a:extLst>
                  <a:ext uri="{FF2B5EF4-FFF2-40B4-BE49-F238E27FC236}">
                    <a16:creationId xmlns:a16="http://schemas.microsoft.com/office/drawing/2014/main" id="{8599D3EB-1162-B472-ADD5-E6BD5A45788E}"/>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56" name="弦 255">
                <a:extLst>
                  <a:ext uri="{FF2B5EF4-FFF2-40B4-BE49-F238E27FC236}">
                    <a16:creationId xmlns:a16="http://schemas.microsoft.com/office/drawing/2014/main" id="{18FB017B-F366-E760-557D-6482A5A81A18}"/>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57" name="グループ化 256">
              <a:extLst>
                <a:ext uri="{FF2B5EF4-FFF2-40B4-BE49-F238E27FC236}">
                  <a16:creationId xmlns:a16="http://schemas.microsoft.com/office/drawing/2014/main" id="{CD298B83-A1E7-AE66-453B-D93E483E181C}"/>
                </a:ext>
              </a:extLst>
            </p:cNvPr>
            <p:cNvGrpSpPr/>
            <p:nvPr/>
          </p:nvGrpSpPr>
          <p:grpSpPr>
            <a:xfrm>
              <a:off x="8010467" y="5712753"/>
              <a:ext cx="61339" cy="158705"/>
              <a:chOff x="5465096" y="6029108"/>
              <a:chExt cx="127820" cy="342195"/>
            </a:xfrm>
            <a:solidFill>
              <a:srgbClr val="FF0000"/>
            </a:solidFill>
          </p:grpSpPr>
          <p:sp>
            <p:nvSpPr>
              <p:cNvPr id="258" name="楕円 257">
                <a:extLst>
                  <a:ext uri="{FF2B5EF4-FFF2-40B4-BE49-F238E27FC236}">
                    <a16:creationId xmlns:a16="http://schemas.microsoft.com/office/drawing/2014/main" id="{0AB4E310-3EE1-3860-B023-CA6FA0D74FDB}"/>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59" name="弦 258">
                <a:extLst>
                  <a:ext uri="{FF2B5EF4-FFF2-40B4-BE49-F238E27FC236}">
                    <a16:creationId xmlns:a16="http://schemas.microsoft.com/office/drawing/2014/main" id="{994275F9-0391-FF0F-38F0-A58AD6D10D70}"/>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60" name="グループ化 259">
              <a:extLst>
                <a:ext uri="{FF2B5EF4-FFF2-40B4-BE49-F238E27FC236}">
                  <a16:creationId xmlns:a16="http://schemas.microsoft.com/office/drawing/2014/main" id="{BAFA894E-7927-6067-CF0D-66EBCB7F27B7}"/>
                </a:ext>
              </a:extLst>
            </p:cNvPr>
            <p:cNvGrpSpPr/>
            <p:nvPr/>
          </p:nvGrpSpPr>
          <p:grpSpPr>
            <a:xfrm>
              <a:off x="6979600" y="5835086"/>
              <a:ext cx="61339" cy="158705"/>
              <a:chOff x="5465096" y="6029108"/>
              <a:chExt cx="127820" cy="342195"/>
            </a:xfrm>
          </p:grpSpPr>
          <p:sp>
            <p:nvSpPr>
              <p:cNvPr id="261" name="楕円 260">
                <a:extLst>
                  <a:ext uri="{FF2B5EF4-FFF2-40B4-BE49-F238E27FC236}">
                    <a16:creationId xmlns:a16="http://schemas.microsoft.com/office/drawing/2014/main" id="{03B3A4D0-B6A9-9659-20E5-65F31737ECC8}"/>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62" name="弦 261">
                <a:extLst>
                  <a:ext uri="{FF2B5EF4-FFF2-40B4-BE49-F238E27FC236}">
                    <a16:creationId xmlns:a16="http://schemas.microsoft.com/office/drawing/2014/main" id="{2A4A3287-4FF9-D40C-3D7E-F680EEE17174}"/>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63" name="グループ化 262">
              <a:extLst>
                <a:ext uri="{FF2B5EF4-FFF2-40B4-BE49-F238E27FC236}">
                  <a16:creationId xmlns:a16="http://schemas.microsoft.com/office/drawing/2014/main" id="{2A45493C-ACCE-9876-61FC-F2DA0587C5EC}"/>
                </a:ext>
              </a:extLst>
            </p:cNvPr>
            <p:cNvGrpSpPr/>
            <p:nvPr/>
          </p:nvGrpSpPr>
          <p:grpSpPr>
            <a:xfrm>
              <a:off x="7055679" y="5835086"/>
              <a:ext cx="61339" cy="158705"/>
              <a:chOff x="5465096" y="6029108"/>
              <a:chExt cx="127820" cy="342195"/>
            </a:xfrm>
          </p:grpSpPr>
          <p:sp>
            <p:nvSpPr>
              <p:cNvPr id="264" name="楕円 263">
                <a:extLst>
                  <a:ext uri="{FF2B5EF4-FFF2-40B4-BE49-F238E27FC236}">
                    <a16:creationId xmlns:a16="http://schemas.microsoft.com/office/drawing/2014/main" id="{DFC2DB4A-296F-07B3-8A41-1E7E0AD829EE}"/>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65" name="弦 264">
                <a:extLst>
                  <a:ext uri="{FF2B5EF4-FFF2-40B4-BE49-F238E27FC236}">
                    <a16:creationId xmlns:a16="http://schemas.microsoft.com/office/drawing/2014/main" id="{2DF2C9AD-78B4-7FEF-19A1-0CFD8C58DE2A}"/>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66" name="グループ化 265">
              <a:extLst>
                <a:ext uri="{FF2B5EF4-FFF2-40B4-BE49-F238E27FC236}">
                  <a16:creationId xmlns:a16="http://schemas.microsoft.com/office/drawing/2014/main" id="{4E88836B-5CE8-2B87-59D6-8E984653BCAB}"/>
                </a:ext>
              </a:extLst>
            </p:cNvPr>
            <p:cNvGrpSpPr/>
            <p:nvPr/>
          </p:nvGrpSpPr>
          <p:grpSpPr>
            <a:xfrm>
              <a:off x="7131758" y="5835086"/>
              <a:ext cx="61339" cy="158705"/>
              <a:chOff x="5465096" y="6029108"/>
              <a:chExt cx="127820" cy="342195"/>
            </a:xfrm>
          </p:grpSpPr>
          <p:sp>
            <p:nvSpPr>
              <p:cNvPr id="267" name="楕円 266">
                <a:extLst>
                  <a:ext uri="{FF2B5EF4-FFF2-40B4-BE49-F238E27FC236}">
                    <a16:creationId xmlns:a16="http://schemas.microsoft.com/office/drawing/2014/main" id="{AD50A619-5C4D-AE9D-151F-E70817AFC5A2}"/>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68" name="弦 267">
                <a:extLst>
                  <a:ext uri="{FF2B5EF4-FFF2-40B4-BE49-F238E27FC236}">
                    <a16:creationId xmlns:a16="http://schemas.microsoft.com/office/drawing/2014/main" id="{EB8D743C-4647-9CC6-2934-BB039629B54B}"/>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69" name="グループ化 268">
              <a:extLst>
                <a:ext uri="{FF2B5EF4-FFF2-40B4-BE49-F238E27FC236}">
                  <a16:creationId xmlns:a16="http://schemas.microsoft.com/office/drawing/2014/main" id="{B085E959-8DDC-2A39-A09E-2A1BA4988F86}"/>
                </a:ext>
              </a:extLst>
            </p:cNvPr>
            <p:cNvGrpSpPr/>
            <p:nvPr/>
          </p:nvGrpSpPr>
          <p:grpSpPr>
            <a:xfrm>
              <a:off x="7207837" y="5835086"/>
              <a:ext cx="61339" cy="158705"/>
              <a:chOff x="5465096" y="6029108"/>
              <a:chExt cx="127820" cy="342195"/>
            </a:xfrm>
          </p:grpSpPr>
          <p:sp>
            <p:nvSpPr>
              <p:cNvPr id="270" name="楕円 269">
                <a:extLst>
                  <a:ext uri="{FF2B5EF4-FFF2-40B4-BE49-F238E27FC236}">
                    <a16:creationId xmlns:a16="http://schemas.microsoft.com/office/drawing/2014/main" id="{257C373F-49BD-2112-F524-162008FB3EAA}"/>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71" name="弦 270">
                <a:extLst>
                  <a:ext uri="{FF2B5EF4-FFF2-40B4-BE49-F238E27FC236}">
                    <a16:creationId xmlns:a16="http://schemas.microsoft.com/office/drawing/2014/main" id="{2483372D-FBA1-D75B-151E-B870AF81927A}"/>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72" name="グループ化 271">
              <a:extLst>
                <a:ext uri="{FF2B5EF4-FFF2-40B4-BE49-F238E27FC236}">
                  <a16:creationId xmlns:a16="http://schemas.microsoft.com/office/drawing/2014/main" id="{3C27CA1A-0931-DAE8-FEAB-5F3C9E327511}"/>
                </a:ext>
              </a:extLst>
            </p:cNvPr>
            <p:cNvGrpSpPr/>
            <p:nvPr/>
          </p:nvGrpSpPr>
          <p:grpSpPr>
            <a:xfrm>
              <a:off x="7276378" y="5835086"/>
              <a:ext cx="61339" cy="158705"/>
              <a:chOff x="5465096" y="6029108"/>
              <a:chExt cx="127820" cy="342195"/>
            </a:xfrm>
          </p:grpSpPr>
          <p:sp>
            <p:nvSpPr>
              <p:cNvPr id="273" name="楕円 272">
                <a:extLst>
                  <a:ext uri="{FF2B5EF4-FFF2-40B4-BE49-F238E27FC236}">
                    <a16:creationId xmlns:a16="http://schemas.microsoft.com/office/drawing/2014/main" id="{546A586F-1128-B6BB-1DDB-2ED87C84F33A}"/>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74" name="弦 273">
                <a:extLst>
                  <a:ext uri="{FF2B5EF4-FFF2-40B4-BE49-F238E27FC236}">
                    <a16:creationId xmlns:a16="http://schemas.microsoft.com/office/drawing/2014/main" id="{053179A9-D1B1-3C9B-40E4-09B3EFE697A4}"/>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75" name="グループ化 274">
              <a:extLst>
                <a:ext uri="{FF2B5EF4-FFF2-40B4-BE49-F238E27FC236}">
                  <a16:creationId xmlns:a16="http://schemas.microsoft.com/office/drawing/2014/main" id="{E55EAA23-3B6E-466C-7EC4-C90563AD3A36}"/>
                </a:ext>
              </a:extLst>
            </p:cNvPr>
            <p:cNvGrpSpPr/>
            <p:nvPr/>
          </p:nvGrpSpPr>
          <p:grpSpPr>
            <a:xfrm>
              <a:off x="7352457" y="5835086"/>
              <a:ext cx="61339" cy="158705"/>
              <a:chOff x="5465096" y="6029108"/>
              <a:chExt cx="127820" cy="342195"/>
            </a:xfrm>
          </p:grpSpPr>
          <p:sp>
            <p:nvSpPr>
              <p:cNvPr id="276" name="楕円 275">
                <a:extLst>
                  <a:ext uri="{FF2B5EF4-FFF2-40B4-BE49-F238E27FC236}">
                    <a16:creationId xmlns:a16="http://schemas.microsoft.com/office/drawing/2014/main" id="{5DBED194-DF23-156A-82D1-027D44C8F286}"/>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77" name="弦 276">
                <a:extLst>
                  <a:ext uri="{FF2B5EF4-FFF2-40B4-BE49-F238E27FC236}">
                    <a16:creationId xmlns:a16="http://schemas.microsoft.com/office/drawing/2014/main" id="{8AF6B0D2-3F90-211F-16B9-23233CD34A39}"/>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78" name="グループ化 277">
              <a:extLst>
                <a:ext uri="{FF2B5EF4-FFF2-40B4-BE49-F238E27FC236}">
                  <a16:creationId xmlns:a16="http://schemas.microsoft.com/office/drawing/2014/main" id="{9994CE58-720D-B226-A245-C329056B529E}"/>
                </a:ext>
              </a:extLst>
            </p:cNvPr>
            <p:cNvGrpSpPr/>
            <p:nvPr/>
          </p:nvGrpSpPr>
          <p:grpSpPr>
            <a:xfrm>
              <a:off x="7428536" y="5835086"/>
              <a:ext cx="61339" cy="158705"/>
              <a:chOff x="5465096" y="6029108"/>
              <a:chExt cx="127820" cy="342195"/>
            </a:xfrm>
            <a:solidFill>
              <a:srgbClr val="FF0000"/>
            </a:solidFill>
          </p:grpSpPr>
          <p:sp>
            <p:nvSpPr>
              <p:cNvPr id="279" name="楕円 278">
                <a:extLst>
                  <a:ext uri="{FF2B5EF4-FFF2-40B4-BE49-F238E27FC236}">
                    <a16:creationId xmlns:a16="http://schemas.microsoft.com/office/drawing/2014/main" id="{6C670AB8-D082-0D78-E7D7-F828326B2A00}"/>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80" name="弦 279">
                <a:extLst>
                  <a:ext uri="{FF2B5EF4-FFF2-40B4-BE49-F238E27FC236}">
                    <a16:creationId xmlns:a16="http://schemas.microsoft.com/office/drawing/2014/main" id="{1917F453-7201-9797-025D-614BA5FAA729}"/>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81" name="グループ化 280">
              <a:extLst>
                <a:ext uri="{FF2B5EF4-FFF2-40B4-BE49-F238E27FC236}">
                  <a16:creationId xmlns:a16="http://schemas.microsoft.com/office/drawing/2014/main" id="{5810E63F-1CAC-232C-521C-D37436E6C4F4}"/>
                </a:ext>
              </a:extLst>
            </p:cNvPr>
            <p:cNvGrpSpPr/>
            <p:nvPr/>
          </p:nvGrpSpPr>
          <p:grpSpPr>
            <a:xfrm>
              <a:off x="7504615" y="5835086"/>
              <a:ext cx="61339" cy="158705"/>
              <a:chOff x="5465096" y="6029108"/>
              <a:chExt cx="127820" cy="342195"/>
            </a:xfrm>
            <a:solidFill>
              <a:srgbClr val="FF0000"/>
            </a:solidFill>
          </p:grpSpPr>
          <p:sp>
            <p:nvSpPr>
              <p:cNvPr id="282" name="楕円 281">
                <a:extLst>
                  <a:ext uri="{FF2B5EF4-FFF2-40B4-BE49-F238E27FC236}">
                    <a16:creationId xmlns:a16="http://schemas.microsoft.com/office/drawing/2014/main" id="{0869EB41-6829-9514-3B2A-1FD29E47B72F}"/>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83" name="弦 282">
                <a:extLst>
                  <a:ext uri="{FF2B5EF4-FFF2-40B4-BE49-F238E27FC236}">
                    <a16:creationId xmlns:a16="http://schemas.microsoft.com/office/drawing/2014/main" id="{787B8413-A184-8344-5EDF-EA1D85C82C89}"/>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84" name="グループ化 283">
              <a:extLst>
                <a:ext uri="{FF2B5EF4-FFF2-40B4-BE49-F238E27FC236}">
                  <a16:creationId xmlns:a16="http://schemas.microsoft.com/office/drawing/2014/main" id="{6C623CF6-8811-107A-E2A5-4A0DFEA3D931}"/>
                </a:ext>
              </a:extLst>
            </p:cNvPr>
            <p:cNvGrpSpPr/>
            <p:nvPr/>
          </p:nvGrpSpPr>
          <p:grpSpPr>
            <a:xfrm>
              <a:off x="7575189" y="5835086"/>
              <a:ext cx="61339" cy="158705"/>
              <a:chOff x="5465096" y="6029108"/>
              <a:chExt cx="127820" cy="342195"/>
            </a:xfrm>
            <a:solidFill>
              <a:srgbClr val="FF0000"/>
            </a:solidFill>
          </p:grpSpPr>
          <p:sp>
            <p:nvSpPr>
              <p:cNvPr id="285" name="楕円 284">
                <a:extLst>
                  <a:ext uri="{FF2B5EF4-FFF2-40B4-BE49-F238E27FC236}">
                    <a16:creationId xmlns:a16="http://schemas.microsoft.com/office/drawing/2014/main" id="{22ED57B4-D733-508A-3F2B-8A0CC6CC1277}"/>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86" name="弦 285">
                <a:extLst>
                  <a:ext uri="{FF2B5EF4-FFF2-40B4-BE49-F238E27FC236}">
                    <a16:creationId xmlns:a16="http://schemas.microsoft.com/office/drawing/2014/main" id="{8DCF2D21-6CCC-FCD9-4935-E26856B92925}"/>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87" name="グループ化 286">
              <a:extLst>
                <a:ext uri="{FF2B5EF4-FFF2-40B4-BE49-F238E27FC236}">
                  <a16:creationId xmlns:a16="http://schemas.microsoft.com/office/drawing/2014/main" id="{01FE7B0B-DF25-8F47-0D97-9F36BA6CB667}"/>
                </a:ext>
              </a:extLst>
            </p:cNvPr>
            <p:cNvGrpSpPr/>
            <p:nvPr/>
          </p:nvGrpSpPr>
          <p:grpSpPr>
            <a:xfrm>
              <a:off x="7651268" y="5835086"/>
              <a:ext cx="61339" cy="158705"/>
              <a:chOff x="5465096" y="6029108"/>
              <a:chExt cx="127820" cy="342195"/>
            </a:xfrm>
            <a:solidFill>
              <a:srgbClr val="FF0000"/>
            </a:solidFill>
          </p:grpSpPr>
          <p:sp>
            <p:nvSpPr>
              <p:cNvPr id="288" name="楕円 287">
                <a:extLst>
                  <a:ext uri="{FF2B5EF4-FFF2-40B4-BE49-F238E27FC236}">
                    <a16:creationId xmlns:a16="http://schemas.microsoft.com/office/drawing/2014/main" id="{1389C02F-018A-72C4-F8E3-1DA08D7C8314}"/>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89" name="弦 288">
                <a:extLst>
                  <a:ext uri="{FF2B5EF4-FFF2-40B4-BE49-F238E27FC236}">
                    <a16:creationId xmlns:a16="http://schemas.microsoft.com/office/drawing/2014/main" id="{410885E9-DE44-9815-2E49-A6AF0698D0E1}"/>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90" name="グループ化 289">
              <a:extLst>
                <a:ext uri="{FF2B5EF4-FFF2-40B4-BE49-F238E27FC236}">
                  <a16:creationId xmlns:a16="http://schemas.microsoft.com/office/drawing/2014/main" id="{24CE180E-D40E-6A3E-EEF4-9C6E5511012E}"/>
                </a:ext>
              </a:extLst>
            </p:cNvPr>
            <p:cNvGrpSpPr/>
            <p:nvPr/>
          </p:nvGrpSpPr>
          <p:grpSpPr>
            <a:xfrm>
              <a:off x="7727347" y="5835086"/>
              <a:ext cx="61339" cy="158705"/>
              <a:chOff x="5465096" y="6029108"/>
              <a:chExt cx="127820" cy="342195"/>
            </a:xfrm>
            <a:solidFill>
              <a:srgbClr val="FF0000"/>
            </a:solidFill>
          </p:grpSpPr>
          <p:sp>
            <p:nvSpPr>
              <p:cNvPr id="291" name="楕円 290">
                <a:extLst>
                  <a:ext uri="{FF2B5EF4-FFF2-40B4-BE49-F238E27FC236}">
                    <a16:creationId xmlns:a16="http://schemas.microsoft.com/office/drawing/2014/main" id="{9EC1D05C-7825-9D8B-6AA0-8B272B9F6879}"/>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92" name="弦 291">
                <a:extLst>
                  <a:ext uri="{FF2B5EF4-FFF2-40B4-BE49-F238E27FC236}">
                    <a16:creationId xmlns:a16="http://schemas.microsoft.com/office/drawing/2014/main" id="{B2B33235-CD76-ACAB-F46D-FD697C801F34}"/>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293" name="グループ化 292">
              <a:extLst>
                <a:ext uri="{FF2B5EF4-FFF2-40B4-BE49-F238E27FC236}">
                  <a16:creationId xmlns:a16="http://schemas.microsoft.com/office/drawing/2014/main" id="{01FC7925-5AD3-DD96-54B3-B793197D00F3}"/>
                </a:ext>
              </a:extLst>
            </p:cNvPr>
            <p:cNvGrpSpPr/>
            <p:nvPr/>
          </p:nvGrpSpPr>
          <p:grpSpPr>
            <a:xfrm>
              <a:off x="7803426" y="5835086"/>
              <a:ext cx="61339" cy="158705"/>
              <a:chOff x="5465096" y="6029108"/>
              <a:chExt cx="127820" cy="342195"/>
            </a:xfrm>
            <a:solidFill>
              <a:srgbClr val="FF0000"/>
            </a:solidFill>
          </p:grpSpPr>
          <p:sp>
            <p:nvSpPr>
              <p:cNvPr id="294" name="楕円 293">
                <a:extLst>
                  <a:ext uri="{FF2B5EF4-FFF2-40B4-BE49-F238E27FC236}">
                    <a16:creationId xmlns:a16="http://schemas.microsoft.com/office/drawing/2014/main" id="{2B675FFD-5D03-402C-A286-0BEBECA8DD29}"/>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295" name="弦 294">
                <a:extLst>
                  <a:ext uri="{FF2B5EF4-FFF2-40B4-BE49-F238E27FC236}">
                    <a16:creationId xmlns:a16="http://schemas.microsoft.com/office/drawing/2014/main" id="{CEC21760-BB3D-0C83-250A-506F3A9D5C6B}"/>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305" name="グループ化 304">
              <a:extLst>
                <a:ext uri="{FF2B5EF4-FFF2-40B4-BE49-F238E27FC236}">
                  <a16:creationId xmlns:a16="http://schemas.microsoft.com/office/drawing/2014/main" id="{7C5DECE8-EC40-8F4A-6FE9-229528E6BC16}"/>
                </a:ext>
              </a:extLst>
            </p:cNvPr>
            <p:cNvGrpSpPr/>
            <p:nvPr/>
          </p:nvGrpSpPr>
          <p:grpSpPr>
            <a:xfrm>
              <a:off x="6974095" y="5970665"/>
              <a:ext cx="61339" cy="158705"/>
              <a:chOff x="5465096" y="6029108"/>
              <a:chExt cx="127820" cy="342195"/>
            </a:xfrm>
          </p:grpSpPr>
          <p:sp>
            <p:nvSpPr>
              <p:cNvPr id="306" name="楕円 305">
                <a:extLst>
                  <a:ext uri="{FF2B5EF4-FFF2-40B4-BE49-F238E27FC236}">
                    <a16:creationId xmlns:a16="http://schemas.microsoft.com/office/drawing/2014/main" id="{D4AD1EB7-C8AC-7445-B19E-BD21709EF41E}"/>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307" name="弦 306">
                <a:extLst>
                  <a:ext uri="{FF2B5EF4-FFF2-40B4-BE49-F238E27FC236}">
                    <a16:creationId xmlns:a16="http://schemas.microsoft.com/office/drawing/2014/main" id="{F6291EF8-22FA-B84D-F0B4-48C7F4E00951}"/>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308" name="グループ化 307">
              <a:extLst>
                <a:ext uri="{FF2B5EF4-FFF2-40B4-BE49-F238E27FC236}">
                  <a16:creationId xmlns:a16="http://schemas.microsoft.com/office/drawing/2014/main" id="{DE954EAA-0EF2-03DC-B00B-73BAF7FBA2CA}"/>
                </a:ext>
              </a:extLst>
            </p:cNvPr>
            <p:cNvGrpSpPr/>
            <p:nvPr/>
          </p:nvGrpSpPr>
          <p:grpSpPr>
            <a:xfrm>
              <a:off x="7050174" y="5970665"/>
              <a:ext cx="61339" cy="158705"/>
              <a:chOff x="5465096" y="6029108"/>
              <a:chExt cx="127820" cy="342195"/>
            </a:xfrm>
          </p:grpSpPr>
          <p:sp>
            <p:nvSpPr>
              <p:cNvPr id="309" name="楕円 308">
                <a:extLst>
                  <a:ext uri="{FF2B5EF4-FFF2-40B4-BE49-F238E27FC236}">
                    <a16:creationId xmlns:a16="http://schemas.microsoft.com/office/drawing/2014/main" id="{82F2B54B-7961-D483-918F-3CCC0B9E2BC9}"/>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310" name="弦 309">
                <a:extLst>
                  <a:ext uri="{FF2B5EF4-FFF2-40B4-BE49-F238E27FC236}">
                    <a16:creationId xmlns:a16="http://schemas.microsoft.com/office/drawing/2014/main" id="{F622A832-B6C3-BF84-8858-0018943572DC}"/>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311" name="グループ化 310">
              <a:extLst>
                <a:ext uri="{FF2B5EF4-FFF2-40B4-BE49-F238E27FC236}">
                  <a16:creationId xmlns:a16="http://schemas.microsoft.com/office/drawing/2014/main" id="{F224B59E-D7EF-BADA-3F0B-2B5777761D04}"/>
                </a:ext>
              </a:extLst>
            </p:cNvPr>
            <p:cNvGrpSpPr/>
            <p:nvPr/>
          </p:nvGrpSpPr>
          <p:grpSpPr>
            <a:xfrm>
              <a:off x="7126253" y="5970665"/>
              <a:ext cx="61339" cy="158705"/>
              <a:chOff x="5465096" y="6029108"/>
              <a:chExt cx="127820" cy="342195"/>
            </a:xfrm>
          </p:grpSpPr>
          <p:sp>
            <p:nvSpPr>
              <p:cNvPr id="312" name="楕円 311">
                <a:extLst>
                  <a:ext uri="{FF2B5EF4-FFF2-40B4-BE49-F238E27FC236}">
                    <a16:creationId xmlns:a16="http://schemas.microsoft.com/office/drawing/2014/main" id="{F25B6415-A030-1B32-90CD-862E797DAF1B}"/>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313" name="弦 312">
                <a:extLst>
                  <a:ext uri="{FF2B5EF4-FFF2-40B4-BE49-F238E27FC236}">
                    <a16:creationId xmlns:a16="http://schemas.microsoft.com/office/drawing/2014/main" id="{24E20B42-400E-7393-B0F9-719782E7F7F8}"/>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314" name="グループ化 313">
              <a:extLst>
                <a:ext uri="{FF2B5EF4-FFF2-40B4-BE49-F238E27FC236}">
                  <a16:creationId xmlns:a16="http://schemas.microsoft.com/office/drawing/2014/main" id="{6570CEA4-8972-20A0-B7D9-68B93264E8DA}"/>
                </a:ext>
              </a:extLst>
            </p:cNvPr>
            <p:cNvGrpSpPr/>
            <p:nvPr/>
          </p:nvGrpSpPr>
          <p:grpSpPr>
            <a:xfrm>
              <a:off x="7202332" y="5970665"/>
              <a:ext cx="61339" cy="158705"/>
              <a:chOff x="5465096" y="6029108"/>
              <a:chExt cx="127820" cy="342195"/>
            </a:xfrm>
          </p:grpSpPr>
          <p:sp>
            <p:nvSpPr>
              <p:cNvPr id="315" name="楕円 314">
                <a:extLst>
                  <a:ext uri="{FF2B5EF4-FFF2-40B4-BE49-F238E27FC236}">
                    <a16:creationId xmlns:a16="http://schemas.microsoft.com/office/drawing/2014/main" id="{63391429-566A-575E-AE0C-2A4F6F414A71}"/>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316" name="弦 315">
                <a:extLst>
                  <a:ext uri="{FF2B5EF4-FFF2-40B4-BE49-F238E27FC236}">
                    <a16:creationId xmlns:a16="http://schemas.microsoft.com/office/drawing/2014/main" id="{3977B8BD-5C3C-A67E-28FF-0B1E0852E73D}"/>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317" name="グループ化 316">
              <a:extLst>
                <a:ext uri="{FF2B5EF4-FFF2-40B4-BE49-F238E27FC236}">
                  <a16:creationId xmlns:a16="http://schemas.microsoft.com/office/drawing/2014/main" id="{253A34F4-9259-7B8A-1935-6B0F4DDBDE77}"/>
                </a:ext>
              </a:extLst>
            </p:cNvPr>
            <p:cNvGrpSpPr/>
            <p:nvPr/>
          </p:nvGrpSpPr>
          <p:grpSpPr>
            <a:xfrm>
              <a:off x="7270873" y="5970665"/>
              <a:ext cx="61339" cy="158705"/>
              <a:chOff x="5465096" y="6029108"/>
              <a:chExt cx="127820" cy="342195"/>
            </a:xfrm>
          </p:grpSpPr>
          <p:sp>
            <p:nvSpPr>
              <p:cNvPr id="318" name="楕円 317">
                <a:extLst>
                  <a:ext uri="{FF2B5EF4-FFF2-40B4-BE49-F238E27FC236}">
                    <a16:creationId xmlns:a16="http://schemas.microsoft.com/office/drawing/2014/main" id="{C7154F60-7996-8884-B175-CF861C356CD6}"/>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319" name="弦 318">
                <a:extLst>
                  <a:ext uri="{FF2B5EF4-FFF2-40B4-BE49-F238E27FC236}">
                    <a16:creationId xmlns:a16="http://schemas.microsoft.com/office/drawing/2014/main" id="{E21572CD-BA1E-9FED-8976-53345DAFAD6A}"/>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320" name="グループ化 319">
              <a:extLst>
                <a:ext uri="{FF2B5EF4-FFF2-40B4-BE49-F238E27FC236}">
                  <a16:creationId xmlns:a16="http://schemas.microsoft.com/office/drawing/2014/main" id="{FBB1D8B8-BA56-BDE3-D4FB-142238B7DE7F}"/>
                </a:ext>
              </a:extLst>
            </p:cNvPr>
            <p:cNvGrpSpPr/>
            <p:nvPr/>
          </p:nvGrpSpPr>
          <p:grpSpPr>
            <a:xfrm>
              <a:off x="7346952" y="5970665"/>
              <a:ext cx="61339" cy="158705"/>
              <a:chOff x="5465096" y="6029108"/>
              <a:chExt cx="127820" cy="342195"/>
            </a:xfrm>
            <a:solidFill>
              <a:srgbClr val="FF0000"/>
            </a:solidFill>
          </p:grpSpPr>
          <p:sp>
            <p:nvSpPr>
              <p:cNvPr id="321" name="楕円 320">
                <a:extLst>
                  <a:ext uri="{FF2B5EF4-FFF2-40B4-BE49-F238E27FC236}">
                    <a16:creationId xmlns:a16="http://schemas.microsoft.com/office/drawing/2014/main" id="{D850067F-54F0-FA8A-A692-BFB371BF289C}"/>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322" name="弦 321">
                <a:extLst>
                  <a:ext uri="{FF2B5EF4-FFF2-40B4-BE49-F238E27FC236}">
                    <a16:creationId xmlns:a16="http://schemas.microsoft.com/office/drawing/2014/main" id="{81128167-2352-6A7E-96C9-6AD2DF7CDCBB}"/>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323" name="グループ化 322">
              <a:extLst>
                <a:ext uri="{FF2B5EF4-FFF2-40B4-BE49-F238E27FC236}">
                  <a16:creationId xmlns:a16="http://schemas.microsoft.com/office/drawing/2014/main" id="{78A28294-B66F-AEB4-E61F-888584E3A849}"/>
                </a:ext>
              </a:extLst>
            </p:cNvPr>
            <p:cNvGrpSpPr/>
            <p:nvPr/>
          </p:nvGrpSpPr>
          <p:grpSpPr>
            <a:xfrm>
              <a:off x="7423031" y="5970665"/>
              <a:ext cx="61339" cy="158705"/>
              <a:chOff x="5465096" y="6029108"/>
              <a:chExt cx="127820" cy="342195"/>
            </a:xfrm>
            <a:solidFill>
              <a:srgbClr val="FF0000"/>
            </a:solidFill>
          </p:grpSpPr>
          <p:sp>
            <p:nvSpPr>
              <p:cNvPr id="324" name="楕円 323">
                <a:extLst>
                  <a:ext uri="{FF2B5EF4-FFF2-40B4-BE49-F238E27FC236}">
                    <a16:creationId xmlns:a16="http://schemas.microsoft.com/office/drawing/2014/main" id="{2E4B7D25-26B7-1837-17CD-6F2A8B77F9FD}"/>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325" name="弦 324">
                <a:extLst>
                  <a:ext uri="{FF2B5EF4-FFF2-40B4-BE49-F238E27FC236}">
                    <a16:creationId xmlns:a16="http://schemas.microsoft.com/office/drawing/2014/main" id="{07DC0B04-3E8B-F0B6-16EC-AA2CF1B1EA81}"/>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326" name="グループ化 325">
              <a:extLst>
                <a:ext uri="{FF2B5EF4-FFF2-40B4-BE49-F238E27FC236}">
                  <a16:creationId xmlns:a16="http://schemas.microsoft.com/office/drawing/2014/main" id="{76E7DF2E-B565-E11A-AB79-BE56BB2BA045}"/>
                </a:ext>
              </a:extLst>
            </p:cNvPr>
            <p:cNvGrpSpPr/>
            <p:nvPr/>
          </p:nvGrpSpPr>
          <p:grpSpPr>
            <a:xfrm>
              <a:off x="7499110" y="5970665"/>
              <a:ext cx="61339" cy="158705"/>
              <a:chOff x="5465096" y="6029108"/>
              <a:chExt cx="127820" cy="342195"/>
            </a:xfrm>
            <a:solidFill>
              <a:srgbClr val="FF0000"/>
            </a:solidFill>
          </p:grpSpPr>
          <p:sp>
            <p:nvSpPr>
              <p:cNvPr id="327" name="楕円 326">
                <a:extLst>
                  <a:ext uri="{FF2B5EF4-FFF2-40B4-BE49-F238E27FC236}">
                    <a16:creationId xmlns:a16="http://schemas.microsoft.com/office/drawing/2014/main" id="{CC9ED061-62BD-125A-460E-564CA095772B}"/>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328" name="弦 327">
                <a:extLst>
                  <a:ext uri="{FF2B5EF4-FFF2-40B4-BE49-F238E27FC236}">
                    <a16:creationId xmlns:a16="http://schemas.microsoft.com/office/drawing/2014/main" id="{51C49EA0-9A84-079A-3EF7-9C48A99ED9D6}"/>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329" name="グループ化 328">
              <a:extLst>
                <a:ext uri="{FF2B5EF4-FFF2-40B4-BE49-F238E27FC236}">
                  <a16:creationId xmlns:a16="http://schemas.microsoft.com/office/drawing/2014/main" id="{EF11F9CC-F3AF-BB40-D26D-EC5B65C59554}"/>
                </a:ext>
              </a:extLst>
            </p:cNvPr>
            <p:cNvGrpSpPr/>
            <p:nvPr/>
          </p:nvGrpSpPr>
          <p:grpSpPr>
            <a:xfrm>
              <a:off x="7569684" y="5970665"/>
              <a:ext cx="61339" cy="158705"/>
              <a:chOff x="5465096" y="6029108"/>
              <a:chExt cx="127820" cy="342195"/>
            </a:xfrm>
            <a:solidFill>
              <a:srgbClr val="FF0000"/>
            </a:solidFill>
          </p:grpSpPr>
          <p:sp>
            <p:nvSpPr>
              <p:cNvPr id="330" name="楕円 329">
                <a:extLst>
                  <a:ext uri="{FF2B5EF4-FFF2-40B4-BE49-F238E27FC236}">
                    <a16:creationId xmlns:a16="http://schemas.microsoft.com/office/drawing/2014/main" id="{50F290A6-15FE-059E-B0E1-2E196AEE1F31}"/>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331" name="弦 330">
                <a:extLst>
                  <a:ext uri="{FF2B5EF4-FFF2-40B4-BE49-F238E27FC236}">
                    <a16:creationId xmlns:a16="http://schemas.microsoft.com/office/drawing/2014/main" id="{94A49A25-6061-69DD-2A5E-D4C9AC16757C}"/>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341" name="グループ化 340">
              <a:extLst>
                <a:ext uri="{FF2B5EF4-FFF2-40B4-BE49-F238E27FC236}">
                  <a16:creationId xmlns:a16="http://schemas.microsoft.com/office/drawing/2014/main" id="{93BEBF48-50E5-FCA4-2C4F-E426C97657A5}"/>
                </a:ext>
              </a:extLst>
            </p:cNvPr>
            <p:cNvGrpSpPr/>
            <p:nvPr/>
          </p:nvGrpSpPr>
          <p:grpSpPr>
            <a:xfrm>
              <a:off x="6969385" y="6093450"/>
              <a:ext cx="61339" cy="158705"/>
              <a:chOff x="5465096" y="6029108"/>
              <a:chExt cx="127820" cy="342195"/>
            </a:xfrm>
          </p:grpSpPr>
          <p:sp>
            <p:nvSpPr>
              <p:cNvPr id="342" name="楕円 341">
                <a:extLst>
                  <a:ext uri="{FF2B5EF4-FFF2-40B4-BE49-F238E27FC236}">
                    <a16:creationId xmlns:a16="http://schemas.microsoft.com/office/drawing/2014/main" id="{81A9BC4D-02AD-878B-BD76-57D992122893}"/>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343" name="弦 342">
                <a:extLst>
                  <a:ext uri="{FF2B5EF4-FFF2-40B4-BE49-F238E27FC236}">
                    <a16:creationId xmlns:a16="http://schemas.microsoft.com/office/drawing/2014/main" id="{AC5522F6-3313-6F9B-090B-4D4D8550C6F3}"/>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344" name="グループ化 343">
              <a:extLst>
                <a:ext uri="{FF2B5EF4-FFF2-40B4-BE49-F238E27FC236}">
                  <a16:creationId xmlns:a16="http://schemas.microsoft.com/office/drawing/2014/main" id="{5EB5936C-1CCF-78F9-B15E-D06909CFAD47}"/>
                </a:ext>
              </a:extLst>
            </p:cNvPr>
            <p:cNvGrpSpPr/>
            <p:nvPr/>
          </p:nvGrpSpPr>
          <p:grpSpPr>
            <a:xfrm>
              <a:off x="7045464" y="6093450"/>
              <a:ext cx="61339" cy="158705"/>
              <a:chOff x="5465096" y="6029108"/>
              <a:chExt cx="127820" cy="342195"/>
            </a:xfrm>
          </p:grpSpPr>
          <p:sp>
            <p:nvSpPr>
              <p:cNvPr id="345" name="楕円 344">
                <a:extLst>
                  <a:ext uri="{FF2B5EF4-FFF2-40B4-BE49-F238E27FC236}">
                    <a16:creationId xmlns:a16="http://schemas.microsoft.com/office/drawing/2014/main" id="{797A9C80-A0D9-A03E-6C0F-8B66E780C4AC}"/>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346" name="弦 345">
                <a:extLst>
                  <a:ext uri="{FF2B5EF4-FFF2-40B4-BE49-F238E27FC236}">
                    <a16:creationId xmlns:a16="http://schemas.microsoft.com/office/drawing/2014/main" id="{511763E7-FA80-ACC8-1133-C0CB53017DD7}"/>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347" name="グループ化 346">
              <a:extLst>
                <a:ext uri="{FF2B5EF4-FFF2-40B4-BE49-F238E27FC236}">
                  <a16:creationId xmlns:a16="http://schemas.microsoft.com/office/drawing/2014/main" id="{542C81E6-D7BB-C635-6728-715F3248589E}"/>
                </a:ext>
              </a:extLst>
            </p:cNvPr>
            <p:cNvGrpSpPr/>
            <p:nvPr/>
          </p:nvGrpSpPr>
          <p:grpSpPr>
            <a:xfrm>
              <a:off x="7121543" y="6093450"/>
              <a:ext cx="61339" cy="158705"/>
              <a:chOff x="5465096" y="6029108"/>
              <a:chExt cx="127820" cy="342195"/>
            </a:xfrm>
          </p:grpSpPr>
          <p:sp>
            <p:nvSpPr>
              <p:cNvPr id="348" name="楕円 347">
                <a:extLst>
                  <a:ext uri="{FF2B5EF4-FFF2-40B4-BE49-F238E27FC236}">
                    <a16:creationId xmlns:a16="http://schemas.microsoft.com/office/drawing/2014/main" id="{5D73B0EE-624A-4B47-5799-1D323CA1F611}"/>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349" name="弦 348">
                <a:extLst>
                  <a:ext uri="{FF2B5EF4-FFF2-40B4-BE49-F238E27FC236}">
                    <a16:creationId xmlns:a16="http://schemas.microsoft.com/office/drawing/2014/main" id="{1BBF472F-75F7-8DA0-7823-D3AC0580CFBE}"/>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350" name="グループ化 349">
              <a:extLst>
                <a:ext uri="{FF2B5EF4-FFF2-40B4-BE49-F238E27FC236}">
                  <a16:creationId xmlns:a16="http://schemas.microsoft.com/office/drawing/2014/main" id="{AF758B3C-763D-8385-0818-63FB508C3507}"/>
                </a:ext>
              </a:extLst>
            </p:cNvPr>
            <p:cNvGrpSpPr/>
            <p:nvPr/>
          </p:nvGrpSpPr>
          <p:grpSpPr>
            <a:xfrm>
              <a:off x="7197622" y="6093450"/>
              <a:ext cx="61339" cy="158705"/>
              <a:chOff x="5465096" y="6029108"/>
              <a:chExt cx="127820" cy="342195"/>
            </a:xfrm>
            <a:solidFill>
              <a:srgbClr val="FF0000"/>
            </a:solidFill>
          </p:grpSpPr>
          <p:sp>
            <p:nvSpPr>
              <p:cNvPr id="351" name="楕円 350">
                <a:extLst>
                  <a:ext uri="{FF2B5EF4-FFF2-40B4-BE49-F238E27FC236}">
                    <a16:creationId xmlns:a16="http://schemas.microsoft.com/office/drawing/2014/main" id="{C7DFFFBD-3A28-23C1-65C4-DCE4E38488F0}"/>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352" name="弦 351">
                <a:extLst>
                  <a:ext uri="{FF2B5EF4-FFF2-40B4-BE49-F238E27FC236}">
                    <a16:creationId xmlns:a16="http://schemas.microsoft.com/office/drawing/2014/main" id="{BB600BF0-2D45-AB8F-53D7-2758BB5B1D07}"/>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413" name="グループ化 412">
              <a:extLst>
                <a:ext uri="{FF2B5EF4-FFF2-40B4-BE49-F238E27FC236}">
                  <a16:creationId xmlns:a16="http://schemas.microsoft.com/office/drawing/2014/main" id="{59E89C87-D907-65BA-5D9C-43FB5ABF8FA5}"/>
                </a:ext>
              </a:extLst>
            </p:cNvPr>
            <p:cNvGrpSpPr/>
            <p:nvPr/>
          </p:nvGrpSpPr>
          <p:grpSpPr>
            <a:xfrm>
              <a:off x="6969385" y="6213077"/>
              <a:ext cx="61339" cy="158705"/>
              <a:chOff x="5465096" y="6029108"/>
              <a:chExt cx="127820" cy="342195"/>
            </a:xfrm>
          </p:grpSpPr>
          <p:sp>
            <p:nvSpPr>
              <p:cNvPr id="414" name="楕円 413">
                <a:extLst>
                  <a:ext uri="{FF2B5EF4-FFF2-40B4-BE49-F238E27FC236}">
                    <a16:creationId xmlns:a16="http://schemas.microsoft.com/office/drawing/2014/main" id="{EC22D284-6E96-E1FA-9ED8-E77B47552406}"/>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415" name="弦 414">
                <a:extLst>
                  <a:ext uri="{FF2B5EF4-FFF2-40B4-BE49-F238E27FC236}">
                    <a16:creationId xmlns:a16="http://schemas.microsoft.com/office/drawing/2014/main" id="{DE5A18A3-281A-C26A-1CB3-3E7EFFE0267B}"/>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416" name="グループ化 415">
              <a:extLst>
                <a:ext uri="{FF2B5EF4-FFF2-40B4-BE49-F238E27FC236}">
                  <a16:creationId xmlns:a16="http://schemas.microsoft.com/office/drawing/2014/main" id="{AEAE2985-BA1F-9A1A-5736-B1DF361EB2B8}"/>
                </a:ext>
              </a:extLst>
            </p:cNvPr>
            <p:cNvGrpSpPr/>
            <p:nvPr/>
          </p:nvGrpSpPr>
          <p:grpSpPr>
            <a:xfrm>
              <a:off x="7045464" y="6213077"/>
              <a:ext cx="61339" cy="158705"/>
              <a:chOff x="5465096" y="6029108"/>
              <a:chExt cx="127820" cy="342195"/>
            </a:xfrm>
          </p:grpSpPr>
          <p:sp>
            <p:nvSpPr>
              <p:cNvPr id="417" name="楕円 416">
                <a:extLst>
                  <a:ext uri="{FF2B5EF4-FFF2-40B4-BE49-F238E27FC236}">
                    <a16:creationId xmlns:a16="http://schemas.microsoft.com/office/drawing/2014/main" id="{9F067525-EBE0-E87B-D6CB-E1CB128B4123}"/>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418" name="弦 417">
                <a:extLst>
                  <a:ext uri="{FF2B5EF4-FFF2-40B4-BE49-F238E27FC236}">
                    <a16:creationId xmlns:a16="http://schemas.microsoft.com/office/drawing/2014/main" id="{DC811C7E-1148-A2C5-4E2F-9BAC2D3A7108}"/>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419" name="グループ化 418">
              <a:extLst>
                <a:ext uri="{FF2B5EF4-FFF2-40B4-BE49-F238E27FC236}">
                  <a16:creationId xmlns:a16="http://schemas.microsoft.com/office/drawing/2014/main" id="{B73B2C55-C7E0-8C98-1DC8-F2DEBBDF25E6}"/>
                </a:ext>
              </a:extLst>
            </p:cNvPr>
            <p:cNvGrpSpPr/>
            <p:nvPr/>
          </p:nvGrpSpPr>
          <p:grpSpPr>
            <a:xfrm>
              <a:off x="7121543" y="6213077"/>
              <a:ext cx="61339" cy="158705"/>
              <a:chOff x="5465096" y="6029108"/>
              <a:chExt cx="127820" cy="342195"/>
            </a:xfrm>
          </p:grpSpPr>
          <p:sp>
            <p:nvSpPr>
              <p:cNvPr id="420" name="楕円 419">
                <a:extLst>
                  <a:ext uri="{FF2B5EF4-FFF2-40B4-BE49-F238E27FC236}">
                    <a16:creationId xmlns:a16="http://schemas.microsoft.com/office/drawing/2014/main" id="{CEB069C7-4A4C-6C8F-AD9E-4F3F3A699575}"/>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421" name="弦 420">
                <a:extLst>
                  <a:ext uri="{FF2B5EF4-FFF2-40B4-BE49-F238E27FC236}">
                    <a16:creationId xmlns:a16="http://schemas.microsoft.com/office/drawing/2014/main" id="{389AD038-FA18-9DFC-1351-348AADD31CA3}"/>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422" name="グループ化 421">
              <a:extLst>
                <a:ext uri="{FF2B5EF4-FFF2-40B4-BE49-F238E27FC236}">
                  <a16:creationId xmlns:a16="http://schemas.microsoft.com/office/drawing/2014/main" id="{592B7E0E-AF5B-A90B-89FA-FF006EE730E4}"/>
                </a:ext>
              </a:extLst>
            </p:cNvPr>
            <p:cNvGrpSpPr/>
            <p:nvPr/>
          </p:nvGrpSpPr>
          <p:grpSpPr>
            <a:xfrm>
              <a:off x="7197622" y="6213077"/>
              <a:ext cx="61339" cy="158705"/>
              <a:chOff x="5465096" y="6029108"/>
              <a:chExt cx="127820" cy="342195"/>
            </a:xfrm>
          </p:grpSpPr>
          <p:sp>
            <p:nvSpPr>
              <p:cNvPr id="423" name="楕円 422">
                <a:extLst>
                  <a:ext uri="{FF2B5EF4-FFF2-40B4-BE49-F238E27FC236}">
                    <a16:creationId xmlns:a16="http://schemas.microsoft.com/office/drawing/2014/main" id="{54554CD0-E604-4A53-E8CB-00A513E48598}"/>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424" name="弦 423">
                <a:extLst>
                  <a:ext uri="{FF2B5EF4-FFF2-40B4-BE49-F238E27FC236}">
                    <a16:creationId xmlns:a16="http://schemas.microsoft.com/office/drawing/2014/main" id="{10E8C953-CEC6-8792-6AE6-B64E58D0B99D}"/>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425" name="グループ化 424">
              <a:extLst>
                <a:ext uri="{FF2B5EF4-FFF2-40B4-BE49-F238E27FC236}">
                  <a16:creationId xmlns:a16="http://schemas.microsoft.com/office/drawing/2014/main" id="{DDB1AB9D-043D-B4AF-5BFB-EF1A1356E623}"/>
                </a:ext>
              </a:extLst>
            </p:cNvPr>
            <p:cNvGrpSpPr/>
            <p:nvPr/>
          </p:nvGrpSpPr>
          <p:grpSpPr>
            <a:xfrm>
              <a:off x="7266163" y="6213077"/>
              <a:ext cx="61339" cy="158705"/>
              <a:chOff x="5465096" y="6029108"/>
              <a:chExt cx="127820" cy="342195"/>
            </a:xfrm>
          </p:grpSpPr>
          <p:sp>
            <p:nvSpPr>
              <p:cNvPr id="426" name="楕円 425">
                <a:extLst>
                  <a:ext uri="{FF2B5EF4-FFF2-40B4-BE49-F238E27FC236}">
                    <a16:creationId xmlns:a16="http://schemas.microsoft.com/office/drawing/2014/main" id="{973C1D43-7820-CA70-CC24-C3B003B400F6}"/>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427" name="弦 426">
                <a:extLst>
                  <a:ext uri="{FF2B5EF4-FFF2-40B4-BE49-F238E27FC236}">
                    <a16:creationId xmlns:a16="http://schemas.microsoft.com/office/drawing/2014/main" id="{CF8AD5A6-4944-9B3F-AAE4-B1C11E2F3005}"/>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428" name="グループ化 427">
              <a:extLst>
                <a:ext uri="{FF2B5EF4-FFF2-40B4-BE49-F238E27FC236}">
                  <a16:creationId xmlns:a16="http://schemas.microsoft.com/office/drawing/2014/main" id="{F23A4D32-AA2B-FF67-CB5E-04998032BEAD}"/>
                </a:ext>
              </a:extLst>
            </p:cNvPr>
            <p:cNvGrpSpPr/>
            <p:nvPr/>
          </p:nvGrpSpPr>
          <p:grpSpPr>
            <a:xfrm>
              <a:off x="7342242" y="6213077"/>
              <a:ext cx="61339" cy="158705"/>
              <a:chOff x="5465096" y="6029108"/>
              <a:chExt cx="127820" cy="342195"/>
            </a:xfrm>
          </p:grpSpPr>
          <p:sp>
            <p:nvSpPr>
              <p:cNvPr id="429" name="楕円 428">
                <a:extLst>
                  <a:ext uri="{FF2B5EF4-FFF2-40B4-BE49-F238E27FC236}">
                    <a16:creationId xmlns:a16="http://schemas.microsoft.com/office/drawing/2014/main" id="{C160A35C-BEB1-C6BA-B53C-C2EFD5F2E9A2}"/>
                  </a:ext>
                </a:extLst>
              </p:cNvPr>
              <p:cNvSpPr/>
              <p:nvPr/>
            </p:nvSpPr>
            <p:spPr>
              <a:xfrm>
                <a:off x="5476568" y="6029108"/>
                <a:ext cx="104877" cy="106221"/>
              </a:xfrm>
              <a:prstGeom prst="ellipse">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430" name="弦 429">
                <a:extLst>
                  <a:ext uri="{FF2B5EF4-FFF2-40B4-BE49-F238E27FC236}">
                    <a16:creationId xmlns:a16="http://schemas.microsoft.com/office/drawing/2014/main" id="{F8E02B34-6AAA-DC6A-0F00-A23507C45073}"/>
                  </a:ext>
                </a:extLst>
              </p:cNvPr>
              <p:cNvSpPr/>
              <p:nvPr/>
            </p:nvSpPr>
            <p:spPr>
              <a:xfrm>
                <a:off x="5465096" y="6135329"/>
                <a:ext cx="127820" cy="235974"/>
              </a:xfrm>
              <a:prstGeom prst="chord">
                <a:avLst>
                  <a:gd name="adj1" fmla="val 11221887"/>
                  <a:gd name="adj2" fmla="val 21219579"/>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431" name="グループ化 430">
              <a:extLst>
                <a:ext uri="{FF2B5EF4-FFF2-40B4-BE49-F238E27FC236}">
                  <a16:creationId xmlns:a16="http://schemas.microsoft.com/office/drawing/2014/main" id="{A6069DAB-6287-6F5A-B7C9-C5F3BD7E30C4}"/>
                </a:ext>
              </a:extLst>
            </p:cNvPr>
            <p:cNvGrpSpPr/>
            <p:nvPr/>
          </p:nvGrpSpPr>
          <p:grpSpPr>
            <a:xfrm>
              <a:off x="7418321" y="6213077"/>
              <a:ext cx="61339" cy="158705"/>
              <a:chOff x="5465096" y="6029108"/>
              <a:chExt cx="127820" cy="342195"/>
            </a:xfrm>
            <a:solidFill>
              <a:schemeClr val="tx1"/>
            </a:solidFill>
          </p:grpSpPr>
          <p:sp>
            <p:nvSpPr>
              <p:cNvPr id="432" name="楕円 431">
                <a:extLst>
                  <a:ext uri="{FF2B5EF4-FFF2-40B4-BE49-F238E27FC236}">
                    <a16:creationId xmlns:a16="http://schemas.microsoft.com/office/drawing/2014/main" id="{7D27ECDA-4B40-06AF-CDB0-35F24A65DF84}"/>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433" name="弦 432">
                <a:extLst>
                  <a:ext uri="{FF2B5EF4-FFF2-40B4-BE49-F238E27FC236}">
                    <a16:creationId xmlns:a16="http://schemas.microsoft.com/office/drawing/2014/main" id="{354D12AA-08FB-CA43-B2EF-E9D0CFE4316F}"/>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434" name="グループ化 433">
              <a:extLst>
                <a:ext uri="{FF2B5EF4-FFF2-40B4-BE49-F238E27FC236}">
                  <a16:creationId xmlns:a16="http://schemas.microsoft.com/office/drawing/2014/main" id="{9C082DB8-8FFE-7F74-E4E6-4A49B50CB8DB}"/>
                </a:ext>
              </a:extLst>
            </p:cNvPr>
            <p:cNvGrpSpPr/>
            <p:nvPr/>
          </p:nvGrpSpPr>
          <p:grpSpPr>
            <a:xfrm>
              <a:off x="7494400" y="6213077"/>
              <a:ext cx="61339" cy="158705"/>
              <a:chOff x="5465096" y="6029108"/>
              <a:chExt cx="127820" cy="342195"/>
            </a:xfrm>
            <a:solidFill>
              <a:schemeClr val="tx1"/>
            </a:solidFill>
          </p:grpSpPr>
          <p:sp>
            <p:nvSpPr>
              <p:cNvPr id="435" name="楕円 434">
                <a:extLst>
                  <a:ext uri="{FF2B5EF4-FFF2-40B4-BE49-F238E27FC236}">
                    <a16:creationId xmlns:a16="http://schemas.microsoft.com/office/drawing/2014/main" id="{7FE62655-3B7E-9FF0-2A7A-F751B9A69E2D}"/>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436" name="弦 435">
                <a:extLst>
                  <a:ext uri="{FF2B5EF4-FFF2-40B4-BE49-F238E27FC236}">
                    <a16:creationId xmlns:a16="http://schemas.microsoft.com/office/drawing/2014/main" id="{A5E9A476-29B0-8F38-908B-32805A78D260}"/>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437" name="グループ化 436">
              <a:extLst>
                <a:ext uri="{FF2B5EF4-FFF2-40B4-BE49-F238E27FC236}">
                  <a16:creationId xmlns:a16="http://schemas.microsoft.com/office/drawing/2014/main" id="{6BCCF08A-5DCA-ED47-96EC-1451C04AD1AD}"/>
                </a:ext>
              </a:extLst>
            </p:cNvPr>
            <p:cNvGrpSpPr/>
            <p:nvPr/>
          </p:nvGrpSpPr>
          <p:grpSpPr>
            <a:xfrm>
              <a:off x="7564974" y="6213077"/>
              <a:ext cx="61339" cy="158705"/>
              <a:chOff x="5465096" y="6029108"/>
              <a:chExt cx="127820" cy="342195"/>
            </a:xfrm>
            <a:solidFill>
              <a:schemeClr val="tx1"/>
            </a:solidFill>
          </p:grpSpPr>
          <p:sp>
            <p:nvSpPr>
              <p:cNvPr id="438" name="楕円 437">
                <a:extLst>
                  <a:ext uri="{FF2B5EF4-FFF2-40B4-BE49-F238E27FC236}">
                    <a16:creationId xmlns:a16="http://schemas.microsoft.com/office/drawing/2014/main" id="{EADB4C64-7777-FEC7-828C-AECC71147F71}"/>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439" name="弦 438">
                <a:extLst>
                  <a:ext uri="{FF2B5EF4-FFF2-40B4-BE49-F238E27FC236}">
                    <a16:creationId xmlns:a16="http://schemas.microsoft.com/office/drawing/2014/main" id="{BA84902B-E6C1-1C36-EDB5-26725A244802}"/>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440" name="グループ化 439">
              <a:extLst>
                <a:ext uri="{FF2B5EF4-FFF2-40B4-BE49-F238E27FC236}">
                  <a16:creationId xmlns:a16="http://schemas.microsoft.com/office/drawing/2014/main" id="{0900D696-A8AB-F44C-D99D-0861AD5DFBCF}"/>
                </a:ext>
              </a:extLst>
            </p:cNvPr>
            <p:cNvGrpSpPr/>
            <p:nvPr/>
          </p:nvGrpSpPr>
          <p:grpSpPr>
            <a:xfrm>
              <a:off x="7641053" y="6213077"/>
              <a:ext cx="61339" cy="158705"/>
              <a:chOff x="5465096" y="6029108"/>
              <a:chExt cx="127820" cy="342195"/>
            </a:xfrm>
            <a:solidFill>
              <a:schemeClr val="tx1"/>
            </a:solidFill>
          </p:grpSpPr>
          <p:sp>
            <p:nvSpPr>
              <p:cNvPr id="441" name="楕円 440">
                <a:extLst>
                  <a:ext uri="{FF2B5EF4-FFF2-40B4-BE49-F238E27FC236}">
                    <a16:creationId xmlns:a16="http://schemas.microsoft.com/office/drawing/2014/main" id="{C7FF5E2C-7404-F9BE-FF2F-26BE5231A8E2}"/>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442" name="弦 441">
                <a:extLst>
                  <a:ext uri="{FF2B5EF4-FFF2-40B4-BE49-F238E27FC236}">
                    <a16:creationId xmlns:a16="http://schemas.microsoft.com/office/drawing/2014/main" id="{4A48E98E-BCF1-F720-9CC2-74987096414D}"/>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443" name="グループ化 442">
              <a:extLst>
                <a:ext uri="{FF2B5EF4-FFF2-40B4-BE49-F238E27FC236}">
                  <a16:creationId xmlns:a16="http://schemas.microsoft.com/office/drawing/2014/main" id="{9BA646AF-E6AB-EC84-9483-FE066A5FD14F}"/>
                </a:ext>
              </a:extLst>
            </p:cNvPr>
            <p:cNvGrpSpPr/>
            <p:nvPr/>
          </p:nvGrpSpPr>
          <p:grpSpPr>
            <a:xfrm>
              <a:off x="7717132" y="6213077"/>
              <a:ext cx="61339" cy="158705"/>
              <a:chOff x="5465096" y="6029108"/>
              <a:chExt cx="127820" cy="342195"/>
            </a:xfrm>
            <a:solidFill>
              <a:srgbClr val="FF0000"/>
            </a:solidFill>
          </p:grpSpPr>
          <p:sp>
            <p:nvSpPr>
              <p:cNvPr id="444" name="楕円 443">
                <a:extLst>
                  <a:ext uri="{FF2B5EF4-FFF2-40B4-BE49-F238E27FC236}">
                    <a16:creationId xmlns:a16="http://schemas.microsoft.com/office/drawing/2014/main" id="{83EC10CC-817F-D241-541A-33B8072614D7}"/>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445" name="弦 444">
                <a:extLst>
                  <a:ext uri="{FF2B5EF4-FFF2-40B4-BE49-F238E27FC236}">
                    <a16:creationId xmlns:a16="http://schemas.microsoft.com/office/drawing/2014/main" id="{6A0B727A-17A4-B7A2-5A24-0ACDD137407D}"/>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446" name="グループ化 445">
              <a:extLst>
                <a:ext uri="{FF2B5EF4-FFF2-40B4-BE49-F238E27FC236}">
                  <a16:creationId xmlns:a16="http://schemas.microsoft.com/office/drawing/2014/main" id="{D092E9AE-2051-15DB-E93D-7CF58D164631}"/>
                </a:ext>
              </a:extLst>
            </p:cNvPr>
            <p:cNvGrpSpPr/>
            <p:nvPr/>
          </p:nvGrpSpPr>
          <p:grpSpPr>
            <a:xfrm>
              <a:off x="7793211" y="6213077"/>
              <a:ext cx="61339" cy="158705"/>
              <a:chOff x="5465096" y="6029108"/>
              <a:chExt cx="127820" cy="342195"/>
            </a:xfrm>
            <a:solidFill>
              <a:srgbClr val="FF0000"/>
            </a:solidFill>
          </p:grpSpPr>
          <p:sp>
            <p:nvSpPr>
              <p:cNvPr id="447" name="楕円 446">
                <a:extLst>
                  <a:ext uri="{FF2B5EF4-FFF2-40B4-BE49-F238E27FC236}">
                    <a16:creationId xmlns:a16="http://schemas.microsoft.com/office/drawing/2014/main" id="{16B70B3C-C791-4E8E-9759-AC58FC324F79}"/>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448" name="弦 447">
                <a:extLst>
                  <a:ext uri="{FF2B5EF4-FFF2-40B4-BE49-F238E27FC236}">
                    <a16:creationId xmlns:a16="http://schemas.microsoft.com/office/drawing/2014/main" id="{E69FCF91-6676-181D-6FC9-176CD8C9AE8F}"/>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449" name="グループ化 448">
              <a:extLst>
                <a:ext uri="{FF2B5EF4-FFF2-40B4-BE49-F238E27FC236}">
                  <a16:creationId xmlns:a16="http://schemas.microsoft.com/office/drawing/2014/main" id="{AD40077D-DD19-3D63-7736-27DBD8D2907F}"/>
                </a:ext>
              </a:extLst>
            </p:cNvPr>
            <p:cNvGrpSpPr/>
            <p:nvPr/>
          </p:nvGrpSpPr>
          <p:grpSpPr>
            <a:xfrm>
              <a:off x="7858608" y="6213674"/>
              <a:ext cx="61339" cy="158705"/>
              <a:chOff x="5465096" y="6029108"/>
              <a:chExt cx="127820" cy="342195"/>
            </a:xfrm>
            <a:solidFill>
              <a:srgbClr val="FF0000"/>
            </a:solidFill>
          </p:grpSpPr>
          <p:sp>
            <p:nvSpPr>
              <p:cNvPr id="450" name="楕円 449">
                <a:extLst>
                  <a:ext uri="{FF2B5EF4-FFF2-40B4-BE49-F238E27FC236}">
                    <a16:creationId xmlns:a16="http://schemas.microsoft.com/office/drawing/2014/main" id="{00DEA306-3420-740D-7165-C0CBFE67609E}"/>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451" name="弦 450">
                <a:extLst>
                  <a:ext uri="{FF2B5EF4-FFF2-40B4-BE49-F238E27FC236}">
                    <a16:creationId xmlns:a16="http://schemas.microsoft.com/office/drawing/2014/main" id="{77317927-A2E5-607C-1354-880BE7B5528E}"/>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nvGrpSpPr>
            <p:cNvPr id="452" name="グループ化 451">
              <a:extLst>
                <a:ext uri="{FF2B5EF4-FFF2-40B4-BE49-F238E27FC236}">
                  <a16:creationId xmlns:a16="http://schemas.microsoft.com/office/drawing/2014/main" id="{012E4774-B2C6-E2C7-B6E9-87DEA4B7B028}"/>
                </a:ext>
              </a:extLst>
            </p:cNvPr>
            <p:cNvGrpSpPr/>
            <p:nvPr/>
          </p:nvGrpSpPr>
          <p:grpSpPr>
            <a:xfrm>
              <a:off x="7934687" y="6213674"/>
              <a:ext cx="61339" cy="158705"/>
              <a:chOff x="5465096" y="6029108"/>
              <a:chExt cx="127820" cy="342195"/>
            </a:xfrm>
            <a:solidFill>
              <a:srgbClr val="FF0000"/>
            </a:solidFill>
          </p:grpSpPr>
          <p:sp>
            <p:nvSpPr>
              <p:cNvPr id="453" name="楕円 452">
                <a:extLst>
                  <a:ext uri="{FF2B5EF4-FFF2-40B4-BE49-F238E27FC236}">
                    <a16:creationId xmlns:a16="http://schemas.microsoft.com/office/drawing/2014/main" id="{8E219789-9B20-7A34-8E39-DA8DC857F139}"/>
                  </a:ext>
                </a:extLst>
              </p:cNvPr>
              <p:cNvSpPr/>
              <p:nvPr/>
            </p:nvSpPr>
            <p:spPr>
              <a:xfrm>
                <a:off x="5476568" y="6029108"/>
                <a:ext cx="104877" cy="106221"/>
              </a:xfrm>
              <a:prstGeom prst="ellipse">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sp>
            <p:nvSpPr>
              <p:cNvPr id="454" name="弦 453">
                <a:extLst>
                  <a:ext uri="{FF2B5EF4-FFF2-40B4-BE49-F238E27FC236}">
                    <a16:creationId xmlns:a16="http://schemas.microsoft.com/office/drawing/2014/main" id="{92961682-49A5-BCD7-6B2A-F2B6FC58CDDA}"/>
                  </a:ext>
                </a:extLst>
              </p:cNvPr>
              <p:cNvSpPr/>
              <p:nvPr/>
            </p:nvSpPr>
            <p:spPr>
              <a:xfrm>
                <a:off x="5465096" y="6135329"/>
                <a:ext cx="127820" cy="235974"/>
              </a:xfrm>
              <a:prstGeom prst="chord">
                <a:avLst>
                  <a:gd name="adj1" fmla="val 11221887"/>
                  <a:gd name="adj2" fmla="val 21219579"/>
                </a:avLst>
              </a:prstGeom>
              <a:grp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grpSp>
      <p:sp>
        <p:nvSpPr>
          <p:cNvPr id="456" name="フローチャート: 書類 455">
            <a:extLst>
              <a:ext uri="{FF2B5EF4-FFF2-40B4-BE49-F238E27FC236}">
                <a16:creationId xmlns:a16="http://schemas.microsoft.com/office/drawing/2014/main" id="{AAA08EC1-A63E-F138-3BD9-108B3CCE0E79}"/>
              </a:ext>
            </a:extLst>
          </p:cNvPr>
          <p:cNvSpPr/>
          <p:nvPr/>
        </p:nvSpPr>
        <p:spPr>
          <a:xfrm>
            <a:off x="9865133" y="4065024"/>
            <a:ext cx="1508421" cy="1954905"/>
          </a:xfrm>
          <a:prstGeom prst="flowChartDocumen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リソース計画</a:t>
            </a:r>
            <a:endParaRPr kumimoji="1" lang="en-US" altLang="ja-JP" sz="1200" b="0" i="0" u="none" strike="noStrike" kern="1200" cap="none" spc="0" normalizeH="0" baseline="0" noProof="0">
              <a:ln>
                <a:noFill/>
              </a:ln>
              <a:solidFill>
                <a:srgbClr val="000000"/>
              </a:solidFill>
              <a:effectLst/>
              <a:uLnTx/>
              <a:uFillTx/>
              <a:latin typeface="Arial"/>
              <a:ea typeface="Meiryo UI"/>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人員再配置</a:t>
            </a:r>
            <a:endParaRPr kumimoji="1" lang="en-US" altLang="ja-JP" sz="1200" b="0" i="0" u="none" strike="noStrike" kern="1200" cap="none" spc="0" normalizeH="0" baseline="0" noProof="0">
              <a:ln>
                <a:noFill/>
              </a:ln>
              <a:solidFill>
                <a:srgbClr val="000000"/>
              </a:solidFill>
              <a:effectLst/>
              <a:uLnTx/>
              <a:uFillTx/>
              <a:latin typeface="Arial"/>
              <a:ea typeface="Meiryo UI"/>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多能工化教育</a:t>
            </a:r>
            <a:endParaRPr kumimoji="1" lang="en-US" altLang="ja-JP" sz="1200" b="0" i="0" u="none" strike="noStrike" kern="1200" cap="none" spc="0" normalizeH="0" baseline="0" noProof="0">
              <a:ln>
                <a:noFill/>
              </a:ln>
              <a:solidFill>
                <a:srgbClr val="000000"/>
              </a:solidFill>
              <a:effectLst/>
              <a:uLnTx/>
              <a:uFillTx/>
              <a:latin typeface="Arial"/>
              <a:ea typeface="Meiryo UI"/>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外注化</a:t>
            </a:r>
            <a:endParaRPr kumimoji="1" lang="en-US" altLang="ja-JP" sz="1200" b="0" i="0" u="none" strike="noStrike" kern="1200" cap="none" spc="0" normalizeH="0" baseline="0" noProof="0">
              <a:ln>
                <a:noFill/>
              </a:ln>
              <a:solidFill>
                <a:srgbClr val="000000"/>
              </a:solidFill>
              <a:effectLst/>
              <a:uLnTx/>
              <a:uFillTx/>
              <a:latin typeface="Arial"/>
              <a:ea typeface="Meiryo UI"/>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1200" b="0" i="0" u="none" strike="noStrike" kern="1200" cap="none" spc="0" normalizeH="0" baseline="0" noProof="0">
                <a:ln>
                  <a:noFill/>
                </a:ln>
                <a:solidFill>
                  <a:srgbClr val="000000"/>
                </a:solidFill>
                <a:effectLst/>
                <a:uLnTx/>
                <a:uFillTx/>
                <a:latin typeface="Arial"/>
                <a:ea typeface="Meiryo UI"/>
                <a:cs typeface="+mn-cs"/>
              </a:rPr>
              <a:t>事業計画の変更</a:t>
            </a:r>
            <a:endParaRPr kumimoji="1" lang="en-US" altLang="ja-JP" sz="1200" b="0" i="0" u="none" strike="noStrike" kern="1200" cap="none" spc="0" normalizeH="0" baseline="0" noProof="0">
              <a:ln>
                <a:noFill/>
              </a:ln>
              <a:solidFill>
                <a:srgbClr val="000000"/>
              </a:solidFill>
              <a:effectLst/>
              <a:uLnTx/>
              <a:uFillTx/>
              <a:latin typeface="Arial"/>
              <a:ea typeface="Meiryo UI"/>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en-US" altLang="ja-JP" sz="1200" b="0" i="0" u="none" strike="noStrike" kern="1200" cap="none" spc="0" normalizeH="0" baseline="0" noProof="0">
                <a:ln>
                  <a:noFill/>
                </a:ln>
                <a:solidFill>
                  <a:srgbClr val="000000"/>
                </a:solidFill>
                <a:effectLst/>
                <a:uLnTx/>
                <a:uFillTx/>
                <a:latin typeface="Arial"/>
                <a:ea typeface="Meiryo UI"/>
                <a:cs typeface="+mn-cs"/>
              </a:rPr>
              <a:t>etc.</a:t>
            </a:r>
            <a:endParaRPr kumimoji="1" lang="ja-JP" altLang="en-US" sz="1200" b="0" i="0" u="none" strike="noStrike" kern="1200" cap="none" spc="0" normalizeH="0" baseline="0" noProof="0">
              <a:ln>
                <a:noFill/>
              </a:ln>
              <a:solidFill>
                <a:srgbClr val="000000"/>
              </a:solidFill>
              <a:effectLst/>
              <a:uLnTx/>
              <a:uFillTx/>
              <a:latin typeface="Arial"/>
              <a:ea typeface="Meiryo UI"/>
              <a:cs typeface="+mn-cs"/>
            </a:endParaRPr>
          </a:p>
        </p:txBody>
      </p:sp>
      <p:grpSp>
        <p:nvGrpSpPr>
          <p:cNvPr id="3" name="グループ化 2">
            <a:extLst>
              <a:ext uri="{FF2B5EF4-FFF2-40B4-BE49-F238E27FC236}">
                <a16:creationId xmlns:a16="http://schemas.microsoft.com/office/drawing/2014/main" id="{9AA850E2-219C-0214-524C-77DD56876A53}"/>
              </a:ext>
            </a:extLst>
          </p:cNvPr>
          <p:cNvGrpSpPr/>
          <p:nvPr/>
        </p:nvGrpSpPr>
        <p:grpSpPr>
          <a:xfrm>
            <a:off x="69015" y="895288"/>
            <a:ext cx="11904512" cy="1425906"/>
            <a:chOff x="69015" y="895288"/>
            <a:chExt cx="11904512" cy="1425906"/>
          </a:xfrm>
        </p:grpSpPr>
        <p:sp>
          <p:nvSpPr>
            <p:cNvPr id="5" name="正方形/長方形 4">
              <a:extLst>
                <a:ext uri="{FF2B5EF4-FFF2-40B4-BE49-F238E27FC236}">
                  <a16:creationId xmlns:a16="http://schemas.microsoft.com/office/drawing/2014/main" id="{27B37585-480A-BE63-C532-7DA5834D8975}"/>
                </a:ext>
              </a:extLst>
            </p:cNvPr>
            <p:cNvSpPr/>
            <p:nvPr/>
          </p:nvSpPr>
          <p:spPr>
            <a:xfrm>
              <a:off x="921380" y="907627"/>
              <a:ext cx="11052147" cy="844231"/>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2857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主力事業領域が</a:t>
              </a:r>
              <a:r>
                <a:rPr kumimoji="1" lang="en-US" altLang="ja-JP" sz="1400" b="0" i="0" u="none" strike="noStrike" kern="1200" cap="none" spc="0" normalizeH="0" baseline="0" noProof="0" dirty="0">
                  <a:ln>
                    <a:noFill/>
                  </a:ln>
                  <a:solidFill>
                    <a:srgbClr val="000000"/>
                  </a:solidFill>
                  <a:effectLst/>
                  <a:uLnTx/>
                  <a:uFillTx/>
                  <a:latin typeface="Arial"/>
                  <a:ea typeface="Meiryo UI"/>
                  <a:cs typeface="+mn-cs"/>
                </a:rPr>
                <a:t>EV</a:t>
              </a: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、自動運転へシフトし、経営資源の使い方の再考が必要</a:t>
              </a:r>
              <a:endParaRPr kumimoji="1" lang="en-US" altLang="ja-JP" sz="1400" b="0" i="0" u="none" strike="noStrike" kern="1200" cap="none" spc="0" normalizeH="0" baseline="0" noProof="0" dirty="0">
                <a:ln>
                  <a:noFill/>
                </a:ln>
                <a:solidFill>
                  <a:srgbClr val="000000"/>
                </a:solidFill>
                <a:effectLst/>
                <a:uLnTx/>
                <a:uFillTx/>
                <a:latin typeface="Arial"/>
                <a:ea typeface="Meiryo UI"/>
                <a:cs typeface="+mn-cs"/>
              </a:endParaRPr>
            </a:p>
            <a:p>
              <a:pPr marL="2857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内燃機関→電動化など人財スキルセットも変化するがスキル・リソース情報が現場に閉じており、経営判断に活用できていない</a:t>
              </a:r>
              <a:endParaRPr kumimoji="1" lang="en-US" altLang="ja-JP" sz="1400" b="0" i="0" u="none" strike="noStrike" kern="1200" cap="none" spc="0" normalizeH="0" baseline="0" noProof="0" dirty="0">
                <a:ln>
                  <a:noFill/>
                </a:ln>
                <a:solidFill>
                  <a:srgbClr val="000000"/>
                </a:solidFill>
                <a:effectLst/>
                <a:uLnTx/>
                <a:uFillTx/>
                <a:latin typeface="Arial"/>
                <a:ea typeface="Meiryo UI"/>
                <a:cs typeface="+mn-cs"/>
              </a:endParaRPr>
            </a:p>
            <a:p>
              <a:pPr marL="2857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中期的な事業収支見込みとスキル・リソースのマッチングができていない</a:t>
              </a:r>
              <a:endParaRPr kumimoji="1" lang="en-US" altLang="ja-JP" sz="1400" b="0" i="0" u="none" strike="noStrike" kern="1200" cap="none" spc="0" normalizeH="0" baseline="0" noProof="0" dirty="0">
                <a:ln>
                  <a:noFill/>
                </a:ln>
                <a:solidFill>
                  <a:srgbClr val="000000"/>
                </a:solidFill>
                <a:effectLst/>
                <a:uLnTx/>
                <a:uFillTx/>
                <a:latin typeface="Arial"/>
                <a:ea typeface="Meiryo UI"/>
                <a:cs typeface="+mn-cs"/>
              </a:endParaRPr>
            </a:p>
          </p:txBody>
        </p:sp>
        <p:sp>
          <p:nvSpPr>
            <p:cNvPr id="6" name="正方形/長方形 5">
              <a:extLst>
                <a:ext uri="{FF2B5EF4-FFF2-40B4-BE49-F238E27FC236}">
                  <a16:creationId xmlns:a16="http://schemas.microsoft.com/office/drawing/2014/main" id="{4E2EAD35-9E39-7D49-87D1-528530212B54}"/>
                </a:ext>
              </a:extLst>
            </p:cNvPr>
            <p:cNvSpPr/>
            <p:nvPr/>
          </p:nvSpPr>
          <p:spPr>
            <a:xfrm>
              <a:off x="921380" y="1857506"/>
              <a:ext cx="11052147" cy="450762"/>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2857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srgbClr val="000000"/>
                  </a:solidFill>
                  <a:effectLst/>
                  <a:uLnTx/>
                  <a:uFillTx/>
                  <a:latin typeface="Arial"/>
                  <a:ea typeface="Meiryo UI"/>
                  <a:cs typeface="+mn-cs"/>
                </a:rPr>
                <a:t>スキルセット・レベルを定義し、現状とのギャップを特定し、打ち手を策定・実行</a:t>
              </a:r>
              <a:endParaRPr kumimoji="1" lang="en-US" altLang="ja-JP" sz="1400" b="0" i="0" u="none" strike="noStrike" kern="1200" cap="none" spc="0" normalizeH="0" baseline="0" noProof="0" dirty="0">
                <a:ln>
                  <a:noFill/>
                </a:ln>
                <a:solidFill>
                  <a:srgbClr val="000000"/>
                </a:solidFill>
                <a:effectLst/>
                <a:uLnTx/>
                <a:uFillTx/>
                <a:latin typeface="Arial"/>
                <a:ea typeface="Meiryo UI"/>
                <a:cs typeface="+mn-cs"/>
              </a:endParaRPr>
            </a:p>
          </p:txBody>
        </p:sp>
        <p:sp>
          <p:nvSpPr>
            <p:cNvPr id="7" name="正方形/長方形 6">
              <a:extLst>
                <a:ext uri="{FF2B5EF4-FFF2-40B4-BE49-F238E27FC236}">
                  <a16:creationId xmlns:a16="http://schemas.microsoft.com/office/drawing/2014/main" id="{BF2A946A-BC01-BF33-1745-4128EF2ECD35}"/>
                </a:ext>
              </a:extLst>
            </p:cNvPr>
            <p:cNvSpPr/>
            <p:nvPr/>
          </p:nvSpPr>
          <p:spPr>
            <a:xfrm>
              <a:off x="69015" y="895288"/>
              <a:ext cx="852365" cy="873036"/>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rgbClr val="FFFFFF"/>
                  </a:solidFill>
                  <a:effectLst/>
                  <a:uLnTx/>
                  <a:uFillTx/>
                  <a:latin typeface="Arial"/>
                  <a:ea typeface="Meiryo UI"/>
                  <a:cs typeface="+mn-cs"/>
                </a:rPr>
                <a:t>背景</a:t>
              </a:r>
              <a:endParaRPr kumimoji="1" lang="en-US" altLang="ja-JP" sz="1600" b="0" i="0" u="none" strike="noStrike" kern="1200" cap="none" spc="0" normalizeH="0" baseline="0" noProof="0">
                <a:ln>
                  <a:noFill/>
                </a:ln>
                <a:solidFill>
                  <a:srgbClr val="FFFFFF"/>
                </a:solidFill>
                <a:effectLst/>
                <a:uLnTx/>
                <a:uFillTx/>
                <a:latin typeface="Arial"/>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rgbClr val="FFFFFF"/>
                  </a:solidFill>
                  <a:effectLst/>
                  <a:uLnTx/>
                  <a:uFillTx/>
                  <a:latin typeface="Arial"/>
                  <a:ea typeface="Meiryo UI"/>
                  <a:cs typeface="+mn-cs"/>
                </a:rPr>
                <a:t>課題</a:t>
              </a:r>
              <a:endParaRPr kumimoji="1" lang="en-US" altLang="ja-JP" sz="1600" b="0" i="0" u="none" strike="noStrike" kern="1200" cap="none" spc="0" normalizeH="0" baseline="0" noProof="0">
                <a:ln>
                  <a:noFill/>
                </a:ln>
                <a:solidFill>
                  <a:srgbClr val="FFFFFF"/>
                </a:solidFill>
                <a:effectLst/>
                <a:uLnTx/>
                <a:uFillTx/>
                <a:latin typeface="Arial"/>
                <a:ea typeface="Meiryo UI"/>
                <a:cs typeface="+mn-cs"/>
              </a:endParaRPr>
            </a:p>
          </p:txBody>
        </p:sp>
        <p:sp>
          <p:nvSpPr>
            <p:cNvPr id="8" name="正方形/長方形 7">
              <a:extLst>
                <a:ext uri="{FF2B5EF4-FFF2-40B4-BE49-F238E27FC236}">
                  <a16:creationId xmlns:a16="http://schemas.microsoft.com/office/drawing/2014/main" id="{F149297C-0E64-EA90-BE66-4D786F206EE1}"/>
                </a:ext>
              </a:extLst>
            </p:cNvPr>
            <p:cNvSpPr/>
            <p:nvPr/>
          </p:nvSpPr>
          <p:spPr>
            <a:xfrm>
              <a:off x="69015" y="1844621"/>
              <a:ext cx="852365" cy="476573"/>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rgbClr val="FFFFFF"/>
                  </a:solidFill>
                  <a:effectLst/>
                  <a:uLnTx/>
                  <a:uFillTx/>
                  <a:latin typeface="Arial"/>
                  <a:ea typeface="Meiryo UI"/>
                  <a:cs typeface="+mn-cs"/>
                </a:rPr>
                <a:t>解決策</a:t>
              </a:r>
              <a:endParaRPr kumimoji="1" lang="en-US" altLang="ja-JP" sz="1600" b="0" i="0" u="none" strike="noStrike" kern="1200" cap="none" spc="0" normalizeH="0" baseline="0" noProof="0">
                <a:ln>
                  <a:noFill/>
                </a:ln>
                <a:solidFill>
                  <a:srgbClr val="FFFFFF"/>
                </a:solidFill>
                <a:effectLst/>
                <a:uLnTx/>
                <a:uFillTx/>
                <a:latin typeface="Arial"/>
                <a:ea typeface="Meiryo UI"/>
                <a:cs typeface="+mn-cs"/>
              </a:endParaRPr>
            </a:p>
          </p:txBody>
        </p:sp>
      </p:grpSp>
    </p:spTree>
    <p:extLst>
      <p:ext uri="{BB962C8B-B14F-4D97-AF65-F5344CB8AC3E}">
        <p14:creationId xmlns:p14="http://schemas.microsoft.com/office/powerpoint/2010/main" val="33839550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8502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60F459-2FE4-FA0A-E1E4-71C99A8658DB}"/>
              </a:ext>
            </a:extLst>
          </p:cNvPr>
          <p:cNvSpPr>
            <a:spLocks noGrp="1"/>
          </p:cNvSpPr>
          <p:nvPr>
            <p:ph type="title"/>
          </p:nvPr>
        </p:nvSpPr>
        <p:spPr/>
        <p:txBody>
          <a:bodyPr/>
          <a:lstStyle/>
          <a:p>
            <a:r>
              <a:rPr kumimoji="1" lang="en-US" altLang="ja-JP" dirty="0"/>
              <a:t>NTD</a:t>
            </a:r>
            <a:r>
              <a:rPr kumimoji="1" lang="ja-JP" altLang="en-US" dirty="0"/>
              <a:t>→</a:t>
            </a:r>
            <a:r>
              <a:rPr kumimoji="1" lang="en-US" altLang="ja-JP" dirty="0"/>
              <a:t>NMS</a:t>
            </a:r>
            <a:r>
              <a:rPr kumimoji="1" lang="ja-JP" altLang="en-US" dirty="0"/>
              <a:t>、クニエ連携内容</a:t>
            </a:r>
          </a:p>
        </p:txBody>
      </p:sp>
      <p:sp>
        <p:nvSpPr>
          <p:cNvPr id="4" name="正方形/長方形 3">
            <a:extLst>
              <a:ext uri="{FF2B5EF4-FFF2-40B4-BE49-F238E27FC236}">
                <a16:creationId xmlns:a16="http://schemas.microsoft.com/office/drawing/2014/main" id="{571A8E77-BB39-590C-F154-AC19EADED4E2}"/>
              </a:ext>
            </a:extLst>
          </p:cNvPr>
          <p:cNvSpPr/>
          <p:nvPr/>
        </p:nvSpPr>
        <p:spPr>
          <a:xfrm>
            <a:off x="370800" y="1117601"/>
            <a:ext cx="11387707" cy="1706880"/>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l"/>
            <a:r>
              <a:rPr kumimoji="1" lang="en-US" altLang="ja-JP" sz="1400" dirty="0">
                <a:solidFill>
                  <a:schemeClr val="tx1"/>
                </a:solidFill>
              </a:rPr>
              <a:t>【NMS</a:t>
            </a:r>
            <a:r>
              <a:rPr kumimoji="1" lang="ja-JP" altLang="en-US" sz="1400" dirty="0">
                <a:solidFill>
                  <a:schemeClr val="tx1"/>
                </a:solidFill>
              </a:rPr>
              <a:t>西日本　システム３部　森竹さん</a:t>
            </a:r>
            <a:r>
              <a:rPr kumimoji="1" lang="en-US" altLang="ja-JP" sz="1400" dirty="0">
                <a:solidFill>
                  <a:schemeClr val="tx1"/>
                </a:solidFill>
              </a:rPr>
              <a:t>】</a:t>
            </a:r>
          </a:p>
          <a:p>
            <a:pPr marL="171450" indent="-171450" algn="l">
              <a:buFont typeface="Arial" panose="020B0604020202020204" pitchFamily="34" charset="0"/>
              <a:buChar char="•"/>
            </a:pPr>
            <a:r>
              <a:rPr lang="ja-JP" altLang="en-US" sz="1400" dirty="0">
                <a:solidFill>
                  <a:schemeClr val="tx1"/>
                </a:solidFill>
              </a:rPr>
              <a:t>西日本支社はシステム２部が長崎拠点の</a:t>
            </a:r>
            <a:r>
              <a:rPr lang="en-US" altLang="ja-JP" sz="1400" dirty="0" err="1">
                <a:solidFill>
                  <a:schemeClr val="tx1"/>
                </a:solidFill>
              </a:rPr>
              <a:t>eDavid</a:t>
            </a:r>
            <a:r>
              <a:rPr lang="ja-JP" altLang="en-US" sz="1400" dirty="0">
                <a:solidFill>
                  <a:schemeClr val="tx1"/>
                </a:solidFill>
              </a:rPr>
              <a:t>等のシステム運用を主管</a:t>
            </a:r>
            <a:endParaRPr lang="en-US" altLang="ja-JP" sz="1400" dirty="0">
              <a:solidFill>
                <a:schemeClr val="tx1"/>
              </a:solidFill>
            </a:endParaRPr>
          </a:p>
          <a:p>
            <a:pPr marL="171450" indent="-171450" algn="l">
              <a:buFont typeface="Arial" panose="020B0604020202020204" pitchFamily="34" charset="0"/>
              <a:buChar char="•"/>
            </a:pPr>
            <a:r>
              <a:rPr kumimoji="1" lang="en-US" altLang="ja-JP" sz="1400" dirty="0">
                <a:solidFill>
                  <a:schemeClr val="tx1"/>
                </a:solidFill>
              </a:rPr>
              <a:t>WPPJ</a:t>
            </a:r>
            <a:r>
              <a:rPr kumimoji="1" lang="ja-JP" altLang="en-US" sz="1400" dirty="0">
                <a:solidFill>
                  <a:schemeClr val="tx1"/>
                </a:solidFill>
              </a:rPr>
              <a:t>関連で言うと見積簡略化・自動化関連で</a:t>
            </a:r>
            <a:r>
              <a:rPr kumimoji="1" lang="en-US" altLang="ja-JP" sz="1400" dirty="0">
                <a:solidFill>
                  <a:schemeClr val="tx1"/>
                </a:solidFill>
              </a:rPr>
              <a:t>CATS PLUS</a:t>
            </a:r>
            <a:r>
              <a:rPr kumimoji="1" lang="ja-JP" altLang="en-US" sz="1400" dirty="0">
                <a:solidFill>
                  <a:schemeClr val="tx1"/>
                </a:solidFill>
              </a:rPr>
              <a:t>に</a:t>
            </a:r>
            <a:r>
              <a:rPr kumimoji="1" lang="en-US" altLang="ja-JP" sz="1400" dirty="0">
                <a:solidFill>
                  <a:schemeClr val="tx1"/>
                </a:solidFill>
              </a:rPr>
              <a:t>NMS</a:t>
            </a:r>
            <a:r>
              <a:rPr kumimoji="1" lang="ja-JP" altLang="en-US" sz="1400" dirty="0">
                <a:solidFill>
                  <a:schemeClr val="tx1"/>
                </a:solidFill>
              </a:rPr>
              <a:t>として関わっている。</a:t>
            </a:r>
            <a:endParaRPr kumimoji="1" lang="en-US" altLang="ja-JP" sz="1400" dirty="0">
              <a:solidFill>
                <a:schemeClr val="tx1"/>
              </a:solidFill>
            </a:endParaRPr>
          </a:p>
          <a:p>
            <a:pPr marL="171450" indent="-171450" algn="l">
              <a:buFont typeface="Arial" panose="020B0604020202020204" pitchFamily="34" charset="0"/>
              <a:buChar char="•"/>
            </a:pPr>
            <a:r>
              <a:rPr kumimoji="1" lang="ja-JP" altLang="en-US" sz="1400" dirty="0">
                <a:solidFill>
                  <a:schemeClr val="tx1"/>
                </a:solidFill>
              </a:rPr>
              <a:t>整理されたシステムマップはなく、業務フローをヒアリングしながら関連システムや参照データを特定する手法しかない</a:t>
            </a:r>
            <a:endParaRPr kumimoji="1" lang="en-US" altLang="ja-JP" sz="1400" dirty="0">
              <a:solidFill>
                <a:schemeClr val="tx1"/>
              </a:solidFill>
            </a:endParaRPr>
          </a:p>
          <a:p>
            <a:pPr marL="171450" indent="-171450" algn="l">
              <a:buFont typeface="Arial" panose="020B0604020202020204" pitchFamily="34" charset="0"/>
              <a:buChar char="•"/>
            </a:pPr>
            <a:r>
              <a:rPr lang="en-US" altLang="ja-JP" sz="1400" dirty="0">
                <a:solidFill>
                  <a:schemeClr val="tx1"/>
                </a:solidFill>
              </a:rPr>
              <a:t>CATS PLUS</a:t>
            </a:r>
            <a:r>
              <a:rPr lang="ja-JP" altLang="en-US" sz="1400" dirty="0">
                <a:solidFill>
                  <a:schemeClr val="tx1"/>
                </a:solidFill>
              </a:rPr>
              <a:t>は当初全製品で一気に対応したかったが製品ごと（ボイラー、タービン、ミル等々）に設計課が違うシステム・データソースを使っていたため、ボイラーからのスモールスタートに</a:t>
            </a:r>
            <a:endParaRPr lang="en-US" altLang="ja-JP" sz="1400" dirty="0">
              <a:solidFill>
                <a:schemeClr val="tx1"/>
              </a:solidFill>
            </a:endParaRPr>
          </a:p>
          <a:p>
            <a:pPr algn="l"/>
            <a:r>
              <a:rPr lang="ja-JP" altLang="en-US" sz="1400" dirty="0">
                <a:solidFill>
                  <a:schemeClr val="tx1"/>
                </a:solidFill>
              </a:rPr>
              <a:t>→森竹さん自身パスを多く持っているため相談先として適任、４月から高砂駐在につき</a:t>
            </a:r>
            <a:r>
              <a:rPr lang="en-US" altLang="ja-JP" sz="1400" dirty="0">
                <a:solidFill>
                  <a:schemeClr val="tx1"/>
                </a:solidFill>
              </a:rPr>
              <a:t>CRM</a:t>
            </a:r>
            <a:r>
              <a:rPr lang="ja-JP" altLang="en-US" sz="1400" dirty="0">
                <a:solidFill>
                  <a:schemeClr val="tx1"/>
                </a:solidFill>
              </a:rPr>
              <a:t>関連の情報も入手できそう</a:t>
            </a:r>
            <a:endParaRPr kumimoji="1" lang="ja-JP" altLang="en-US" sz="1400" dirty="0">
              <a:solidFill>
                <a:schemeClr val="tx1"/>
              </a:solidFill>
            </a:endParaRPr>
          </a:p>
        </p:txBody>
      </p:sp>
      <p:sp>
        <p:nvSpPr>
          <p:cNvPr id="5" name="正方形/長方形 4">
            <a:extLst>
              <a:ext uri="{FF2B5EF4-FFF2-40B4-BE49-F238E27FC236}">
                <a16:creationId xmlns:a16="http://schemas.microsoft.com/office/drawing/2014/main" id="{10059DA1-873A-2A12-3A6D-45D9E3753174}"/>
              </a:ext>
            </a:extLst>
          </p:cNvPr>
          <p:cNvSpPr/>
          <p:nvPr/>
        </p:nvSpPr>
        <p:spPr>
          <a:xfrm>
            <a:off x="370799" y="3027441"/>
            <a:ext cx="11387707" cy="1706880"/>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l"/>
            <a:r>
              <a:rPr kumimoji="1" lang="en-US" altLang="ja-JP" sz="1400" dirty="0">
                <a:solidFill>
                  <a:schemeClr val="tx1"/>
                </a:solidFill>
              </a:rPr>
              <a:t>【</a:t>
            </a:r>
            <a:r>
              <a:rPr kumimoji="1" lang="ja-JP" altLang="en-US" sz="1400" dirty="0">
                <a:solidFill>
                  <a:schemeClr val="tx1"/>
                </a:solidFill>
              </a:rPr>
              <a:t>クニエ　吉田さん</a:t>
            </a:r>
            <a:r>
              <a:rPr kumimoji="1" lang="en-US" altLang="ja-JP" sz="1400" dirty="0">
                <a:solidFill>
                  <a:schemeClr val="tx1"/>
                </a:solidFill>
              </a:rPr>
              <a:t>】</a:t>
            </a:r>
          </a:p>
          <a:p>
            <a:pPr marL="171450" indent="-171450" algn="l">
              <a:buFont typeface="Arial" panose="020B0604020202020204" pitchFamily="34" charset="0"/>
              <a:buChar char="•"/>
            </a:pPr>
            <a:r>
              <a:rPr lang="en-US" altLang="ja-JP" sz="1400" dirty="0">
                <a:solidFill>
                  <a:schemeClr val="tx1"/>
                </a:solidFill>
              </a:rPr>
              <a:t>GEMS</a:t>
            </a:r>
            <a:r>
              <a:rPr lang="ja-JP" altLang="en-US" sz="1400" dirty="0">
                <a:solidFill>
                  <a:schemeClr val="tx1"/>
                </a:solidFill>
              </a:rPr>
              <a:t>の一環で経理・調達・財務のシステムマップは整理済み</a:t>
            </a:r>
            <a:r>
              <a:rPr lang="en-US" altLang="ja-JP" sz="1400" dirty="0">
                <a:solidFill>
                  <a:schemeClr val="tx1"/>
                </a:solidFill>
              </a:rPr>
              <a:t>【</a:t>
            </a:r>
            <a:r>
              <a:rPr lang="ja-JP" altLang="en-US" sz="1400" dirty="0">
                <a:solidFill>
                  <a:schemeClr val="tx1"/>
                </a:solidFill>
              </a:rPr>
              <a:t>固</a:t>
            </a:r>
            <a:r>
              <a:rPr lang="en-US" altLang="ja-JP" sz="1400" dirty="0">
                <a:solidFill>
                  <a:schemeClr val="tx1"/>
                </a:solidFill>
              </a:rPr>
              <a:t>】</a:t>
            </a:r>
          </a:p>
          <a:p>
            <a:pPr marL="171450" indent="-171450" algn="l">
              <a:buFont typeface="Arial" panose="020B0604020202020204" pitchFamily="34" charset="0"/>
              <a:buChar char="•"/>
            </a:pPr>
            <a:r>
              <a:rPr lang="ja-JP" altLang="en-US" sz="1400" dirty="0">
                <a:solidFill>
                  <a:schemeClr val="tx1"/>
                </a:solidFill>
              </a:rPr>
              <a:t>将来的には拠点毎の</a:t>
            </a:r>
            <a:r>
              <a:rPr lang="en-US" altLang="ja-JP" sz="1400" dirty="0">
                <a:solidFill>
                  <a:schemeClr val="tx1"/>
                </a:solidFill>
              </a:rPr>
              <a:t>【</a:t>
            </a:r>
            <a:r>
              <a:rPr lang="ja-JP" altLang="en-US" sz="1400" dirty="0">
                <a:solidFill>
                  <a:schemeClr val="tx1"/>
                </a:solidFill>
              </a:rPr>
              <a:t>変</a:t>
            </a:r>
            <a:r>
              <a:rPr lang="en-US" altLang="ja-JP" sz="1400" dirty="0">
                <a:solidFill>
                  <a:schemeClr val="tx1"/>
                </a:solidFill>
              </a:rPr>
              <a:t>】</a:t>
            </a:r>
            <a:r>
              <a:rPr lang="ja-JP" altLang="en-US" sz="1400" dirty="0">
                <a:solidFill>
                  <a:schemeClr val="tx1"/>
                </a:solidFill>
              </a:rPr>
              <a:t>の部分もシステムマップ化する意向</a:t>
            </a:r>
            <a:endParaRPr lang="en-US" altLang="ja-JP" sz="1400" dirty="0">
              <a:solidFill>
                <a:schemeClr val="tx1"/>
              </a:solidFill>
            </a:endParaRPr>
          </a:p>
          <a:p>
            <a:pPr marL="171450" indent="-171450" algn="l">
              <a:buFont typeface="Arial" panose="020B0604020202020204" pitchFamily="34" charset="0"/>
              <a:buChar char="•"/>
            </a:pPr>
            <a:r>
              <a:rPr lang="ja-JP" altLang="en-US" sz="1400" dirty="0">
                <a:solidFill>
                  <a:schemeClr val="tx1"/>
                </a:solidFill>
              </a:rPr>
              <a:t>これまで長崎では</a:t>
            </a:r>
            <a:r>
              <a:rPr lang="en-US" altLang="ja-JP" sz="1400" dirty="0">
                <a:solidFill>
                  <a:schemeClr val="tx1"/>
                </a:solidFill>
              </a:rPr>
              <a:t>IT</a:t>
            </a:r>
            <a:r>
              <a:rPr lang="ja-JP" altLang="en-US" sz="1400" dirty="0">
                <a:solidFill>
                  <a:schemeClr val="tx1"/>
                </a:solidFill>
              </a:rPr>
              <a:t>システム棚卸</a:t>
            </a:r>
            <a:r>
              <a:rPr lang="en-US" altLang="ja-JP" sz="1400" dirty="0">
                <a:solidFill>
                  <a:schemeClr val="tx1"/>
                </a:solidFill>
              </a:rPr>
              <a:t>PJ</a:t>
            </a:r>
            <a:r>
              <a:rPr lang="ja-JP" altLang="en-US" sz="1400" dirty="0">
                <a:solidFill>
                  <a:schemeClr val="tx1"/>
                </a:solidFill>
              </a:rPr>
              <a:t>（</a:t>
            </a:r>
            <a:r>
              <a:rPr lang="en-US" altLang="ja-JP" sz="1400" dirty="0">
                <a:solidFill>
                  <a:schemeClr val="tx1"/>
                </a:solidFill>
              </a:rPr>
              <a:t>DI</a:t>
            </a:r>
            <a:r>
              <a:rPr lang="ja-JP" altLang="en-US" sz="1400" dirty="0">
                <a:solidFill>
                  <a:schemeClr val="tx1"/>
                </a:solidFill>
              </a:rPr>
              <a:t>本部、石井さんメイン）、</a:t>
            </a:r>
            <a:r>
              <a:rPr lang="en-US" altLang="ja-JP" sz="1400" dirty="0">
                <a:solidFill>
                  <a:schemeClr val="tx1"/>
                </a:solidFill>
              </a:rPr>
              <a:t>Dynamics</a:t>
            </a:r>
            <a:r>
              <a:rPr lang="ja-JP" altLang="en-US" sz="1400" dirty="0">
                <a:solidFill>
                  <a:schemeClr val="tx1"/>
                </a:solidFill>
              </a:rPr>
              <a:t>機能集約検討（</a:t>
            </a:r>
            <a:r>
              <a:rPr lang="en-US" altLang="ja-JP" sz="1400" dirty="0">
                <a:solidFill>
                  <a:schemeClr val="tx1"/>
                </a:solidFill>
              </a:rPr>
              <a:t>BPI</a:t>
            </a:r>
            <a:r>
              <a:rPr lang="ja-JP" altLang="en-US" sz="1400" dirty="0">
                <a:solidFill>
                  <a:schemeClr val="tx1"/>
                </a:solidFill>
              </a:rPr>
              <a:t>部＋</a:t>
            </a:r>
            <a:r>
              <a:rPr lang="en-US" altLang="ja-JP" sz="1400" dirty="0">
                <a:solidFill>
                  <a:schemeClr val="tx1"/>
                </a:solidFill>
              </a:rPr>
              <a:t>NMS</a:t>
            </a:r>
            <a:r>
              <a:rPr lang="ja-JP" altLang="en-US" sz="1400" dirty="0">
                <a:solidFill>
                  <a:schemeClr val="tx1"/>
                </a:solidFill>
              </a:rPr>
              <a:t>）、</a:t>
            </a:r>
            <a:r>
              <a:rPr lang="en-US" altLang="ja-JP" sz="1400" dirty="0">
                <a:solidFill>
                  <a:schemeClr val="tx1"/>
                </a:solidFill>
              </a:rPr>
              <a:t>KPI</a:t>
            </a:r>
            <a:r>
              <a:rPr lang="ja-JP" altLang="en-US" sz="1400" dirty="0">
                <a:solidFill>
                  <a:schemeClr val="tx1"/>
                </a:solidFill>
              </a:rPr>
              <a:t>モニタリング（</a:t>
            </a:r>
            <a:r>
              <a:rPr lang="en-US" altLang="ja-JP" sz="1400" dirty="0">
                <a:solidFill>
                  <a:schemeClr val="tx1"/>
                </a:solidFill>
              </a:rPr>
              <a:t>SPMI</a:t>
            </a:r>
            <a:r>
              <a:rPr lang="ja-JP" altLang="en-US" sz="1400" dirty="0">
                <a:solidFill>
                  <a:schemeClr val="tx1"/>
                </a:solidFill>
              </a:rPr>
              <a:t>長崎ソリューション営業、</a:t>
            </a:r>
            <a:r>
              <a:rPr lang="en-US" altLang="ja-JP" sz="1400" dirty="0">
                <a:solidFill>
                  <a:schemeClr val="tx1"/>
                </a:solidFill>
              </a:rPr>
              <a:t>2022</a:t>
            </a:r>
            <a:r>
              <a:rPr lang="ja-JP" altLang="en-US" sz="1400" dirty="0">
                <a:solidFill>
                  <a:schemeClr val="tx1"/>
                </a:solidFill>
              </a:rPr>
              <a:t>年ごろ）などの類似取り組みは多数あった模様</a:t>
            </a:r>
            <a:endParaRPr lang="en-US" altLang="ja-JP" sz="1400" dirty="0">
              <a:solidFill>
                <a:schemeClr val="tx1"/>
              </a:solidFill>
            </a:endParaRPr>
          </a:p>
          <a:p>
            <a:pPr marL="171450" indent="-171450" algn="l">
              <a:buFont typeface="Arial" panose="020B0604020202020204" pitchFamily="34" charset="0"/>
              <a:buChar char="•"/>
            </a:pPr>
            <a:r>
              <a:rPr lang="ja-JP" altLang="en-US" sz="1400" dirty="0">
                <a:solidFill>
                  <a:schemeClr val="tx1"/>
                </a:solidFill>
              </a:rPr>
              <a:t>吉田さん自身関わってきた</a:t>
            </a:r>
            <a:r>
              <a:rPr lang="en-US" altLang="ja-JP" sz="1400" dirty="0">
                <a:solidFill>
                  <a:schemeClr val="tx1"/>
                </a:solidFill>
              </a:rPr>
              <a:t>GEMS</a:t>
            </a:r>
            <a:r>
              <a:rPr lang="ja-JP" altLang="en-US" sz="1400" dirty="0">
                <a:solidFill>
                  <a:schemeClr val="tx1"/>
                </a:solidFill>
              </a:rPr>
              <a:t>のシステムマップ整理等は</a:t>
            </a:r>
            <a:r>
              <a:rPr lang="en-US" altLang="ja-JP" sz="1400" dirty="0">
                <a:solidFill>
                  <a:schemeClr val="tx1"/>
                </a:solidFill>
              </a:rPr>
              <a:t>MHI PC</a:t>
            </a:r>
            <a:r>
              <a:rPr lang="ja-JP" altLang="en-US" sz="1400" dirty="0">
                <a:solidFill>
                  <a:schemeClr val="tx1"/>
                </a:solidFill>
              </a:rPr>
              <a:t>にありアクセスできない</a:t>
            </a:r>
            <a:endParaRPr lang="en-US" altLang="ja-JP" sz="1400" dirty="0">
              <a:solidFill>
                <a:schemeClr val="tx1"/>
              </a:solidFill>
            </a:endParaRPr>
          </a:p>
          <a:p>
            <a:pPr algn="l"/>
            <a:r>
              <a:rPr lang="ja-JP" altLang="en-US" sz="1400" dirty="0">
                <a:solidFill>
                  <a:schemeClr val="tx1"/>
                </a:solidFill>
              </a:rPr>
              <a:t>→これまでの取り組みを幅広くご存じで、壁打ちに協力はいただけそう</a:t>
            </a:r>
            <a:endParaRPr kumimoji="1" lang="ja-JP" altLang="en-US" sz="1400" dirty="0">
              <a:solidFill>
                <a:schemeClr val="tx1"/>
              </a:solidFill>
            </a:endParaRPr>
          </a:p>
        </p:txBody>
      </p:sp>
      <p:sp>
        <p:nvSpPr>
          <p:cNvPr id="6" name="正方形/長方形 5">
            <a:extLst>
              <a:ext uri="{FF2B5EF4-FFF2-40B4-BE49-F238E27FC236}">
                <a16:creationId xmlns:a16="http://schemas.microsoft.com/office/drawing/2014/main" id="{E8999EEC-A465-2F4C-F860-5D62EB8AF08A}"/>
              </a:ext>
            </a:extLst>
          </p:cNvPr>
          <p:cNvSpPr/>
          <p:nvPr/>
        </p:nvSpPr>
        <p:spPr>
          <a:xfrm>
            <a:off x="370798" y="4937281"/>
            <a:ext cx="11387707" cy="170688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l"/>
            <a:r>
              <a:rPr kumimoji="1" lang="ja-JP" altLang="en-US" dirty="0">
                <a:solidFill>
                  <a:schemeClr val="tx1"/>
                </a:solidFill>
              </a:rPr>
              <a:t>今後の進め方：</a:t>
            </a:r>
            <a:endParaRPr kumimoji="1" lang="en-US" altLang="ja-JP" dirty="0">
              <a:solidFill>
                <a:schemeClr val="tx1"/>
              </a:solidFill>
            </a:endParaRPr>
          </a:p>
          <a:p>
            <a:pPr marL="285750" indent="-285750" algn="l">
              <a:buFont typeface="Arial" panose="020B0604020202020204" pitchFamily="34" charset="0"/>
              <a:buChar char="•"/>
            </a:pPr>
            <a:r>
              <a:rPr kumimoji="1" lang="ja-JP" altLang="en-US" dirty="0">
                <a:solidFill>
                  <a:schemeClr val="tx1"/>
                </a:solidFill>
              </a:rPr>
              <a:t>事業計画の策定方法</a:t>
            </a:r>
            <a:endParaRPr kumimoji="1" lang="en-US" altLang="ja-JP" dirty="0">
              <a:solidFill>
                <a:schemeClr val="tx1"/>
              </a:solidFill>
            </a:endParaRPr>
          </a:p>
          <a:p>
            <a:pPr marL="285750" indent="-285750" algn="l">
              <a:buFont typeface="Arial" panose="020B0604020202020204" pitchFamily="34" charset="0"/>
              <a:buChar char="•"/>
            </a:pPr>
            <a:r>
              <a:rPr kumimoji="1" lang="en-US" altLang="ja-JP" dirty="0">
                <a:solidFill>
                  <a:schemeClr val="tx1"/>
                </a:solidFill>
              </a:rPr>
              <a:t>CRM</a:t>
            </a:r>
            <a:r>
              <a:rPr kumimoji="1" lang="ja-JP" altLang="en-US" dirty="0">
                <a:solidFill>
                  <a:schemeClr val="tx1"/>
                </a:solidFill>
              </a:rPr>
              <a:t>の状況</a:t>
            </a:r>
            <a:endParaRPr kumimoji="1" lang="en-US" altLang="ja-JP" dirty="0">
              <a:solidFill>
                <a:schemeClr val="tx1"/>
              </a:solidFill>
            </a:endParaRPr>
          </a:p>
          <a:p>
            <a:pPr algn="l"/>
            <a:r>
              <a:rPr lang="ja-JP" altLang="en-US" dirty="0">
                <a:solidFill>
                  <a:schemeClr val="tx1"/>
                </a:solidFill>
              </a:rPr>
              <a:t>→</a:t>
            </a:r>
            <a:r>
              <a:rPr lang="en-US" altLang="ja-JP" dirty="0">
                <a:solidFill>
                  <a:schemeClr val="tx1"/>
                </a:solidFill>
              </a:rPr>
              <a:t>NMS</a:t>
            </a:r>
            <a:r>
              <a:rPr lang="ja-JP" altLang="en-US" dirty="0">
                <a:solidFill>
                  <a:schemeClr val="tx1"/>
                </a:solidFill>
              </a:rPr>
              <a:t>システム担当、</a:t>
            </a:r>
            <a:r>
              <a:rPr lang="en-US" altLang="ja-JP" dirty="0">
                <a:solidFill>
                  <a:schemeClr val="tx1"/>
                </a:solidFill>
              </a:rPr>
              <a:t>NMS</a:t>
            </a:r>
            <a:r>
              <a:rPr lang="ja-JP" altLang="en-US" dirty="0">
                <a:solidFill>
                  <a:schemeClr val="tx1"/>
                </a:solidFill>
              </a:rPr>
              <a:t>にきた元</a:t>
            </a:r>
            <a:r>
              <a:rPr lang="en-US" altLang="ja-JP" dirty="0">
                <a:solidFill>
                  <a:schemeClr val="tx1"/>
                </a:solidFill>
              </a:rPr>
              <a:t>MHI</a:t>
            </a:r>
            <a:r>
              <a:rPr lang="ja-JP" altLang="en-US" dirty="0">
                <a:solidFill>
                  <a:schemeClr val="tx1"/>
                </a:solidFill>
              </a:rPr>
              <a:t>の方へのヒアリング</a:t>
            </a:r>
            <a:endParaRPr kumimoji="1" lang="ja-JP" altLang="en-US" dirty="0">
              <a:solidFill>
                <a:schemeClr val="tx1"/>
              </a:solidFill>
            </a:endParaRPr>
          </a:p>
        </p:txBody>
      </p:sp>
      <p:sp>
        <p:nvSpPr>
          <p:cNvPr id="7" name="正方形/長方形 6">
            <a:extLst>
              <a:ext uri="{FF2B5EF4-FFF2-40B4-BE49-F238E27FC236}">
                <a16:creationId xmlns:a16="http://schemas.microsoft.com/office/drawing/2014/main" id="{0B82C443-8AEB-9281-59D2-7906FBC7FDF8}"/>
              </a:ext>
            </a:extLst>
          </p:cNvPr>
          <p:cNvSpPr/>
          <p:nvPr/>
        </p:nvSpPr>
        <p:spPr>
          <a:xfrm>
            <a:off x="5066778" y="162681"/>
            <a:ext cx="6875443" cy="1171341"/>
          </a:xfrm>
          <a:prstGeom prst="rect">
            <a:avLst/>
          </a:prstGeom>
          <a:solidFill>
            <a:srgbClr val="FFF2CC"/>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l"/>
            <a:r>
              <a:rPr kumimoji="1" lang="ja-JP" altLang="en-US" sz="1100" dirty="0">
                <a:solidFill>
                  <a:schemeClr val="tx1"/>
                </a:solidFill>
              </a:rPr>
              <a:t>サービスシフト：仕事自体が変わる</a:t>
            </a:r>
            <a:endParaRPr kumimoji="1" lang="en-US" altLang="ja-JP" sz="1100" dirty="0">
              <a:solidFill>
                <a:schemeClr val="tx1"/>
              </a:solidFill>
            </a:endParaRPr>
          </a:p>
          <a:p>
            <a:pPr algn="l"/>
            <a:r>
              <a:rPr lang="ja-JP" altLang="en-US" sz="1100" dirty="0">
                <a:solidFill>
                  <a:schemeClr val="tx1"/>
                </a:solidFill>
              </a:rPr>
              <a:t>→広げすぎると空中戦</a:t>
            </a:r>
            <a:endParaRPr lang="en-US" altLang="ja-JP" sz="1100" dirty="0">
              <a:solidFill>
                <a:schemeClr val="tx1"/>
              </a:solidFill>
            </a:endParaRPr>
          </a:p>
          <a:p>
            <a:pPr algn="l"/>
            <a:r>
              <a:rPr kumimoji="1" lang="ja-JP" altLang="en-US" sz="1100" dirty="0">
                <a:solidFill>
                  <a:schemeClr val="tx1"/>
                </a:solidFill>
              </a:rPr>
              <a:t>→システム周りを入口にするとサービス対応のデータではなく小さくまとまってしまう</a:t>
            </a:r>
            <a:endParaRPr kumimoji="1" lang="en-US" altLang="ja-JP" sz="1100" dirty="0">
              <a:solidFill>
                <a:schemeClr val="tx1"/>
              </a:solidFill>
            </a:endParaRPr>
          </a:p>
          <a:p>
            <a:pPr algn="l"/>
            <a:endParaRPr lang="en-US" altLang="ja-JP" sz="1100" dirty="0">
              <a:solidFill>
                <a:schemeClr val="tx1"/>
              </a:solidFill>
            </a:endParaRPr>
          </a:p>
          <a:p>
            <a:pPr algn="l"/>
            <a:r>
              <a:rPr kumimoji="1" lang="ja-JP" altLang="en-US" sz="1100" dirty="0">
                <a:solidFill>
                  <a:schemeClr val="tx1"/>
                </a:solidFill>
              </a:rPr>
              <a:t>目的、目標設定・・・</a:t>
            </a:r>
            <a:r>
              <a:rPr kumimoji="1" lang="en-US" altLang="ja-JP" sz="1100" dirty="0">
                <a:solidFill>
                  <a:schemeClr val="tx1"/>
                </a:solidFill>
              </a:rPr>
              <a:t>Product driven</a:t>
            </a:r>
            <a:r>
              <a:rPr kumimoji="1" lang="ja-JP" altLang="en-US" sz="1100" dirty="0">
                <a:solidFill>
                  <a:schemeClr val="tx1"/>
                </a:solidFill>
              </a:rPr>
              <a:t>→サービス化（モノはあり続ける）；サービス自体のメニュー拡大（顧客からの業務巻き取り、</a:t>
            </a:r>
            <a:r>
              <a:rPr kumimoji="1" lang="en-US" altLang="ja-JP" sz="1100" dirty="0" err="1">
                <a:solidFill>
                  <a:schemeClr val="tx1"/>
                </a:solidFill>
              </a:rPr>
              <a:t>aaS</a:t>
            </a:r>
            <a:r>
              <a:rPr kumimoji="1" lang="ja-JP" altLang="en-US" sz="1100" dirty="0">
                <a:solidFill>
                  <a:schemeClr val="tx1"/>
                </a:solidFill>
              </a:rPr>
              <a:t>、監視データの活用、</a:t>
            </a:r>
            <a:r>
              <a:rPr kumimoji="1" lang="en-US" altLang="ja-JP" sz="1100" dirty="0">
                <a:solidFill>
                  <a:schemeClr val="tx1"/>
                </a:solidFill>
              </a:rPr>
              <a:t>etc.</a:t>
            </a:r>
            <a:r>
              <a:rPr kumimoji="1" lang="ja-JP" altLang="en-US" sz="1100" dirty="0">
                <a:solidFill>
                  <a:schemeClr val="tx1"/>
                </a:solidFill>
              </a:rPr>
              <a:t>）</a:t>
            </a:r>
          </a:p>
        </p:txBody>
      </p:sp>
    </p:spTree>
    <p:extLst>
      <p:ext uri="{BB962C8B-B14F-4D97-AF65-F5344CB8AC3E}">
        <p14:creationId xmlns:p14="http://schemas.microsoft.com/office/powerpoint/2010/main" val="10541403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表紙_Light">
  <a:themeElements>
    <a:clrScheme name="NTT DATA Group Corp.">
      <a:dk1>
        <a:srgbClr val="000000"/>
      </a:dk1>
      <a:lt1>
        <a:srgbClr val="FFFFFF"/>
      </a:lt1>
      <a:dk2>
        <a:srgbClr val="2E404D"/>
      </a:dk2>
      <a:lt2>
        <a:srgbClr val="19A3FC"/>
      </a:lt2>
      <a:accent1>
        <a:srgbClr val="070F26"/>
      </a:accent1>
      <a:accent2>
        <a:srgbClr val="0071BC"/>
      </a:accent2>
      <a:accent3>
        <a:srgbClr val="005B95"/>
      </a:accent3>
      <a:accent4>
        <a:srgbClr val="00DFED"/>
      </a:accent4>
      <a:accent5>
        <a:srgbClr val="00CB5D"/>
      </a:accent5>
      <a:accent6>
        <a:srgbClr val="949494"/>
      </a:accent6>
      <a:hlink>
        <a:srgbClr val="19A3FC"/>
      </a:hlink>
      <a:folHlink>
        <a:srgbClr val="0071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1" id="{BA1EB9EC-FB46-4433-B8C7-0554B3E6B169}" vid="{B13E5232-BBB2-4FDE-ABB8-879E3F62D6A1}"/>
    </a:ext>
  </a:extLst>
</a:theme>
</file>

<file path=ppt/theme/theme2.xml><?xml version="1.0" encoding="utf-8"?>
<a:theme xmlns:a="http://schemas.openxmlformats.org/drawingml/2006/main" name="中扉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1" id="{BA1EB9EC-FB46-4433-B8C7-0554B3E6B169}" vid="{95AF9C20-CDA6-4690-AEBF-D28FC1E84E0E}"/>
    </a:ext>
  </a:extLst>
</a:theme>
</file>

<file path=ppt/theme/theme3.xml><?xml version="1.0" encoding="utf-8"?>
<a:theme xmlns:a="http://schemas.openxmlformats.org/drawingml/2006/main" name="コンテンツ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marL="171450" indent="-171450" algn="l">
          <a:buFont typeface="Arial" panose="020B0604020202020204" pitchFamily="34" charset="0"/>
          <a:buChar char="•"/>
          <a:defRPr kumimoji="1" sz="1200" dirty="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defRPr dirty="0">
            <a:solidFill>
              <a:schemeClr val="tx1">
                <a:lumMod val="75000"/>
                <a:lumOff val="25000"/>
              </a:schemeClr>
            </a:solidFill>
            <a:latin typeface="+mj-ea"/>
            <a:ea typeface="+mj-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1" id="{BA1EB9EC-FB46-4433-B8C7-0554B3E6B169}" vid="{30F36C32-1758-49FF-A68E-ED6FBE8B96C6}"/>
    </a:ext>
  </a:extLst>
</a:theme>
</file>

<file path=ppt/theme/theme4.xml><?xml version="1.0" encoding="utf-8"?>
<a:theme xmlns:a="http://schemas.openxmlformats.org/drawingml/2006/main" name="裏表紙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1" id="{BA1EB9EC-FB46-4433-B8C7-0554B3E6B169}" vid="{D542133A-B012-47CD-86E8-C6F4A5C3F63B}"/>
    </a:ext>
  </a:extLst>
</a:theme>
</file>

<file path=ppt/theme/theme5.xml><?xml version="1.0" encoding="utf-8"?>
<a:theme xmlns:a="http://schemas.openxmlformats.org/drawingml/2006/main" name="表紙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1" id="{BA1EB9EC-FB46-4433-B8C7-0554B3E6B169}" vid="{C68DB1E4-EF34-4112-9468-4261E7D78F38}"/>
    </a:ext>
  </a:extLst>
</a:theme>
</file>

<file path=ppt/theme/theme6.xml><?xml version="1.0" encoding="utf-8"?>
<a:theme xmlns:a="http://schemas.openxmlformats.org/drawingml/2006/main" name="中扉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1" id="{BA1EB9EC-FB46-4433-B8C7-0554B3E6B169}" vid="{05705650-816E-43A9-97B0-72250110B72A}"/>
    </a:ext>
  </a:extLst>
</a:theme>
</file>

<file path=ppt/theme/theme7.xml><?xml version="1.0" encoding="utf-8"?>
<a:theme xmlns:a="http://schemas.openxmlformats.org/drawingml/2006/main" name="コンテンツ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1" id="{BA1EB9EC-FB46-4433-B8C7-0554B3E6B169}" vid="{68C69332-0E7B-431D-ABF6-8023C55EE807}"/>
    </a:ext>
  </a:extLst>
</a:theme>
</file>

<file path=ppt/theme/theme8.xml><?xml version="1.0" encoding="utf-8"?>
<a:theme xmlns:a="http://schemas.openxmlformats.org/drawingml/2006/main" name="裏表紙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1" id="{BA1EB9EC-FB46-4433-B8C7-0554B3E6B169}" vid="{9A5A0A84-0336-465B-9F03-09260B106A36}"/>
    </a:ext>
  </a:extLst>
</a:theme>
</file>

<file path=ppt/theme/theme9.xml><?xml version="1.0" encoding="utf-8"?>
<a:theme xmlns:a="http://schemas.openxmlformats.org/drawingml/2006/main" name="MHI PPT 4:3_単独会社用">
  <a:themeElements>
    <a:clrScheme name="MHI">
      <a:dk1>
        <a:srgbClr val="000000"/>
      </a:dk1>
      <a:lt1>
        <a:srgbClr val="FFFFFF"/>
      </a:lt1>
      <a:dk2>
        <a:srgbClr val="567783"/>
      </a:dk2>
      <a:lt2>
        <a:srgbClr val="82A0AA"/>
      </a:lt2>
      <a:accent1>
        <a:srgbClr val="223F4B"/>
      </a:accent1>
      <a:accent2>
        <a:srgbClr val="006487"/>
      </a:accent2>
      <a:accent3>
        <a:srgbClr val="DC6914"/>
      </a:accent3>
      <a:accent4>
        <a:srgbClr val="647D2D"/>
      </a:accent4>
      <a:accent5>
        <a:srgbClr val="E31F26"/>
      </a:accent5>
      <a:accent6>
        <a:srgbClr val="6E1E4B"/>
      </a:accent6>
      <a:hlink>
        <a:srgbClr val="000000"/>
      </a:hlink>
      <a:folHlink>
        <a:srgbClr val="000000"/>
      </a:folHlink>
    </a:clrScheme>
    <a:fontScheme name="ユーザー定義 1">
      <a:majorFont>
        <a:latin typeface="Arial"/>
        <a:ea typeface="メイリオ"/>
        <a:cs typeface=""/>
      </a:majorFont>
      <a:minorFont>
        <a:latin typeface="Arial"/>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00"/>
        </a:solidFill>
        <a:ln w="28575" cmpd="sng">
          <a:solidFill>
            <a:schemeClr val="accent1"/>
          </a:solidFill>
        </a:ln>
      </a:spPr>
      <a:bodyPr rtlCol="0" anchor="ctr"/>
      <a:lstStyle>
        <a:defPPr algn="ctr">
          <a:defRPr kumimoji="1" sz="1200" dirty="0">
            <a:solidFill>
              <a:sysClr val="windowText" lastClr="000000"/>
            </a:solidFill>
            <a:latin typeface="+mn-ea"/>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I_ppt_color" id="{8714110F-2F40-4E20-B9EF-82653DE22CAC}" vid="{2E728569-002A-49DD-A6AB-1E30B9D445FA}"/>
    </a:ext>
  </a:extLst>
</a:theme>
</file>

<file path=ppt/theme/theme10.xml><?xml version="1.0" encoding="utf-8"?>
<a:theme xmlns:a="http://schemas.openxmlformats.org/drawingml/2006/main" name="1_MHI PPT 16:9_単独会社用">
  <a:themeElements>
    <a:clrScheme name="MHI">
      <a:dk1>
        <a:srgbClr val="000000"/>
      </a:dk1>
      <a:lt1>
        <a:srgbClr val="FFFFFF"/>
      </a:lt1>
      <a:dk2>
        <a:srgbClr val="567783"/>
      </a:dk2>
      <a:lt2>
        <a:srgbClr val="82A0AA"/>
      </a:lt2>
      <a:accent1>
        <a:srgbClr val="223F4B"/>
      </a:accent1>
      <a:accent2>
        <a:srgbClr val="006487"/>
      </a:accent2>
      <a:accent3>
        <a:srgbClr val="DC6914"/>
      </a:accent3>
      <a:accent4>
        <a:srgbClr val="647D2D"/>
      </a:accent4>
      <a:accent5>
        <a:srgbClr val="E31F26"/>
      </a:accent5>
      <a:accent6>
        <a:srgbClr val="6E1E4B"/>
      </a:accent6>
      <a:hlink>
        <a:srgbClr val="000000"/>
      </a:hlink>
      <a:folHlink>
        <a:srgbClr val="000000"/>
      </a:folHlink>
    </a:clrScheme>
    <a:fontScheme name="ユーザー定義 1">
      <a:majorFont>
        <a:latin typeface="Arial"/>
        <a:ea typeface="メイリオ"/>
        <a:cs typeface=""/>
      </a:majorFont>
      <a:minorFont>
        <a:latin typeface="Arial"/>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3" id="{81168F34-3115-4F20-A375-5D895FF74EAB}" vid="{519C7508-9074-4BC7-A51E-C7B9329BF559}"/>
    </a:ext>
  </a:extLst>
</a:theme>
</file>

<file path=ppt/theme/theme11.xml><?xml version="1.0" encoding="utf-8"?>
<a:theme xmlns:a="http://schemas.openxmlformats.org/drawingml/2006/main" name="MHI PPT A4_単独会社用">
  <a:themeElements>
    <a:clrScheme name="MHI">
      <a:dk1>
        <a:srgbClr val="000000"/>
      </a:dk1>
      <a:lt1>
        <a:srgbClr val="FFFFFF"/>
      </a:lt1>
      <a:dk2>
        <a:srgbClr val="567783"/>
      </a:dk2>
      <a:lt2>
        <a:srgbClr val="82A0AA"/>
      </a:lt2>
      <a:accent1>
        <a:srgbClr val="223F4B"/>
      </a:accent1>
      <a:accent2>
        <a:srgbClr val="006487"/>
      </a:accent2>
      <a:accent3>
        <a:srgbClr val="DC6914"/>
      </a:accent3>
      <a:accent4>
        <a:srgbClr val="647D2D"/>
      </a:accent4>
      <a:accent5>
        <a:srgbClr val="E31F26"/>
      </a:accent5>
      <a:accent6>
        <a:srgbClr val="6E1E4B"/>
      </a:accent6>
      <a:hlink>
        <a:srgbClr val="000000"/>
      </a:hlink>
      <a:folHlink>
        <a:srgbClr val="000000"/>
      </a:folHlink>
    </a:clrScheme>
    <a:fontScheme name="ユーザー定義 1">
      <a:majorFont>
        <a:latin typeface="Arial"/>
        <a:ea typeface="メイリオ"/>
        <a:cs typeface=""/>
      </a:majorFont>
      <a:minorFont>
        <a:latin typeface="Arial"/>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HI_ppt_color" id="{8714110F-2F40-4E20-B9EF-82653DE22CAC}" vid="{2E728569-002A-49DD-A6AB-1E30B9D445FA}"/>
    </a:ext>
  </a:extLst>
</a:theme>
</file>

<file path=ppt/theme/theme12.xml><?xml version="1.0" encoding="utf-8"?>
<a:theme xmlns:a="http://schemas.openxmlformats.org/drawingml/2006/main" name="MHI PPT 16:9_単独会社用">
  <a:themeElements>
    <a:clrScheme name="MHI">
      <a:dk1>
        <a:srgbClr val="000000"/>
      </a:dk1>
      <a:lt1>
        <a:srgbClr val="FFFFFF"/>
      </a:lt1>
      <a:dk2>
        <a:srgbClr val="567783"/>
      </a:dk2>
      <a:lt2>
        <a:srgbClr val="82A0AA"/>
      </a:lt2>
      <a:accent1>
        <a:srgbClr val="223F4B"/>
      </a:accent1>
      <a:accent2>
        <a:srgbClr val="006487"/>
      </a:accent2>
      <a:accent3>
        <a:srgbClr val="DC6914"/>
      </a:accent3>
      <a:accent4>
        <a:srgbClr val="647D2D"/>
      </a:accent4>
      <a:accent5>
        <a:srgbClr val="E31F26"/>
      </a:accent5>
      <a:accent6>
        <a:srgbClr val="6E1E4B"/>
      </a:accent6>
      <a:hlink>
        <a:srgbClr val="000000"/>
      </a:hlink>
      <a:folHlink>
        <a:srgbClr val="000000"/>
      </a:folHlink>
    </a:clrScheme>
    <a:fontScheme name="ユーザー定義 1">
      <a:majorFont>
        <a:latin typeface="Arial"/>
        <a:ea typeface="メイリオ"/>
        <a:cs typeface=""/>
      </a:majorFont>
      <a:minorFont>
        <a:latin typeface="Arial"/>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HI_ppt_color" id="{8714110F-2F40-4E20-B9EF-82653DE22CAC}" vid="{2E728569-002A-49DD-A6AB-1E30B9D445FA}"/>
    </a:ext>
  </a:extLst>
</a:theme>
</file>

<file path=ppt/theme/theme13.xml><?xml version="1.0" encoding="utf-8"?>
<a:theme xmlns:a="http://schemas.openxmlformats.org/drawingml/2006/main" name="1_コンテンツ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1" id="{FF408BFF-19F9-4D26-8DBB-47400E197F45}" vid="{E3E9F51F-3FC2-4B35-946C-FF12ED2174CE}"/>
    </a:ext>
  </a:extLst>
</a:theme>
</file>

<file path=ppt/theme/theme14.xml><?xml version="1.0" encoding="utf-8"?>
<a:theme xmlns:a="http://schemas.openxmlformats.org/drawingml/2006/main" name="6_MHI PPT 4:3_単独会社用">
  <a:themeElements>
    <a:clrScheme name="MHI">
      <a:dk1>
        <a:srgbClr val="000000"/>
      </a:dk1>
      <a:lt1>
        <a:srgbClr val="FFFFFF"/>
      </a:lt1>
      <a:dk2>
        <a:srgbClr val="567783"/>
      </a:dk2>
      <a:lt2>
        <a:srgbClr val="82A0AA"/>
      </a:lt2>
      <a:accent1>
        <a:srgbClr val="223F4B"/>
      </a:accent1>
      <a:accent2>
        <a:srgbClr val="006487"/>
      </a:accent2>
      <a:accent3>
        <a:srgbClr val="DC6914"/>
      </a:accent3>
      <a:accent4>
        <a:srgbClr val="647D2D"/>
      </a:accent4>
      <a:accent5>
        <a:srgbClr val="E31F26"/>
      </a:accent5>
      <a:accent6>
        <a:srgbClr val="6E1E4B"/>
      </a:accent6>
      <a:hlink>
        <a:srgbClr val="000000"/>
      </a:hlink>
      <a:folHlink>
        <a:srgbClr val="000000"/>
      </a:folHlink>
    </a:clrScheme>
    <a:fontScheme name="ユーザー定義 1">
      <a:majorFont>
        <a:latin typeface="Arial"/>
        <a:ea typeface="メイリオ"/>
        <a:cs typeface=""/>
      </a:majorFont>
      <a:minorFont>
        <a:latin typeface="Arial"/>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00"/>
        </a:solidFill>
        <a:ln w="28575" cmpd="sng">
          <a:solidFill>
            <a:schemeClr val="accent1"/>
          </a:solidFill>
        </a:ln>
      </a:spPr>
      <a:bodyPr rtlCol="0" anchor="ctr"/>
      <a:lstStyle>
        <a:defPPr algn="ctr">
          <a:defRPr kumimoji="1" sz="1200" dirty="0">
            <a:solidFill>
              <a:sysClr val="windowText" lastClr="000000"/>
            </a:solidFill>
            <a:latin typeface="+mn-ea"/>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I_ppt_color" id="{8714110F-2F40-4E20-B9EF-82653DE22CAC}" vid="{2E728569-002A-49DD-A6AB-1E30B9D445FA}"/>
    </a:ext>
  </a:extLst>
</a:theme>
</file>

<file path=ppt/theme/theme15.xml><?xml version="1.0" encoding="utf-8"?>
<a:theme xmlns:a="http://schemas.openxmlformats.org/drawingml/2006/main" name="2_コンテンツ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defRPr dirty="0">
            <a:solidFill>
              <a:schemeClr val="tx1">
                <a:lumMod val="75000"/>
                <a:lumOff val="25000"/>
              </a:schemeClr>
            </a:solidFill>
            <a:latin typeface="+mj-ea"/>
            <a:ea typeface="+mj-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1" id="{BA1EB9EC-FB46-4433-B8C7-0554B3E6B169}" vid="{30F36C32-1758-49FF-A68E-ED6FBE8B96C6}"/>
    </a:ext>
  </a:extLst>
</a:theme>
</file>

<file path=ppt/theme/theme16.xml><?xml version="1.0" encoding="utf-8"?>
<a:theme xmlns:a="http://schemas.openxmlformats.org/drawingml/2006/main" name="ホワイト">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ホワイト">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de45413-f3c8-437a-9222-51ffe8693834">
      <Terms xmlns="http://schemas.microsoft.com/office/infopath/2007/PartnerControls"/>
    </lcf76f155ced4ddcb4097134ff3c332f>
    <TaxCatchAll xmlns="25025a98-4291-4272-986c-16fd9eec3b2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07DCAABFC386384AABE9777CBF2C5E23" ma:contentTypeVersion="14" ma:contentTypeDescription="新しいドキュメントを作成します。" ma:contentTypeScope="" ma:versionID="c9a0764e8400b4d35d6f3dd4e93e6fe3">
  <xsd:schema xmlns:xsd="http://www.w3.org/2001/XMLSchema" xmlns:xs="http://www.w3.org/2001/XMLSchema" xmlns:p="http://schemas.microsoft.com/office/2006/metadata/properties" xmlns:ns2="1de45413-f3c8-437a-9222-51ffe8693834" xmlns:ns3="25025a98-4291-4272-986c-16fd9eec3b25" targetNamespace="http://schemas.microsoft.com/office/2006/metadata/properties" ma:root="true" ma:fieldsID="d434df3139fc3058b049c8e8befdbdbd" ns2:_="" ns3:_="">
    <xsd:import namespace="1de45413-f3c8-437a-9222-51ffe8693834"/>
    <xsd:import namespace="25025a98-4291-4272-986c-16fd9eec3b2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e45413-f3c8-437a-9222-51ffe869383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画像タグ" ma:readOnly="false" ma:fieldId="{5cf76f15-5ced-4ddc-b409-7134ff3c332f}" ma:taxonomyMulti="true" ma:sspId="4f27f6d2-b90d-46ae-b7ea-1d0a9165af30"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5025a98-4291-4272-986c-16fd9eec3b25"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bd836dfe-20b4-4be6-8ee7-87b3c6f3aa03}" ma:internalName="TaxCatchAll" ma:showField="CatchAllData" ma:web="25025a98-4291-4272-986c-16fd9eec3b25">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400C67F-8626-47AC-BDF2-4A65D4662CDD}">
  <ds:schemaRefs>
    <ds:schemaRef ds:uri="http://purl.org/dc/terms/"/>
    <ds:schemaRef ds:uri="25025a98-4291-4272-986c-16fd9eec3b25"/>
    <ds:schemaRef ds:uri="http://schemas.microsoft.com/office/2006/documentManagement/types"/>
    <ds:schemaRef ds:uri="http://purl.org/dc/dcmitype/"/>
    <ds:schemaRef ds:uri="1de45413-f3c8-437a-9222-51ffe8693834"/>
    <ds:schemaRef ds:uri="http://schemas.microsoft.com/office/infopath/2007/PartnerControls"/>
    <ds:schemaRef ds:uri="http://purl.org/dc/elements/1.1/"/>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5548F579-53B8-4B8C-9F58-0D818877B6AD}">
  <ds:schemaRefs>
    <ds:schemaRef ds:uri="http://schemas.microsoft.com/sharepoint/v3/contenttype/forms"/>
  </ds:schemaRefs>
</ds:datastoreItem>
</file>

<file path=customXml/itemProps3.xml><?xml version="1.0" encoding="utf-8"?>
<ds:datastoreItem xmlns:ds="http://schemas.openxmlformats.org/officeDocument/2006/customXml" ds:itemID="{E6387904-001E-4A41-9B95-FE54C3BE95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de45413-f3c8-437a-9222-51ffe8693834"/>
    <ds:schemaRef ds:uri="25025a98-4291-4272-986c-16fd9eec3b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CorpPresentation_Template_169_J</Template>
  <TotalTime>4163</TotalTime>
  <Words>5485</Words>
  <Application>Microsoft Office PowerPoint</Application>
  <PresentationFormat>ワイド画面</PresentationFormat>
  <Paragraphs>716</Paragraphs>
  <Slides>27</Slides>
  <Notes>0</Notes>
  <HiddenSlides>0</HiddenSlides>
  <MMClips>0</MMClips>
  <ScaleCrop>false</ScaleCrop>
  <HeadingPairs>
    <vt:vector size="8" baseType="variant">
      <vt:variant>
        <vt:lpstr>使用されているフォント</vt:lpstr>
      </vt:variant>
      <vt:variant>
        <vt:i4>6</vt:i4>
      </vt:variant>
      <vt:variant>
        <vt:lpstr>テーマ</vt:lpstr>
      </vt:variant>
      <vt:variant>
        <vt:i4>15</vt:i4>
      </vt:variant>
      <vt:variant>
        <vt:lpstr>埋め込まれた OLE サーバー</vt:lpstr>
      </vt:variant>
      <vt:variant>
        <vt:i4>1</vt:i4>
      </vt:variant>
      <vt:variant>
        <vt:lpstr>スライド タイトル</vt:lpstr>
      </vt:variant>
      <vt:variant>
        <vt:i4>27</vt:i4>
      </vt:variant>
    </vt:vector>
  </HeadingPairs>
  <TitlesOfParts>
    <vt:vector size="49" baseType="lpstr">
      <vt:lpstr>HGP創英角ｺﾞｼｯｸUB</vt:lpstr>
      <vt:lpstr>Meiryo UI</vt:lpstr>
      <vt:lpstr>メイリオ</vt:lpstr>
      <vt:lpstr>游ゴシック</vt:lpstr>
      <vt:lpstr>Arial</vt:lpstr>
      <vt:lpstr>Wingdings</vt:lpstr>
      <vt:lpstr>表紙_Light</vt:lpstr>
      <vt:lpstr>中扉_Light</vt:lpstr>
      <vt:lpstr>コンテンツ_Light</vt:lpstr>
      <vt:lpstr>裏表紙_Light</vt:lpstr>
      <vt:lpstr>表紙_Dark</vt:lpstr>
      <vt:lpstr>中扉_Dark</vt:lpstr>
      <vt:lpstr>コンテンツ_Dark</vt:lpstr>
      <vt:lpstr>裏表紙_Dark</vt:lpstr>
      <vt:lpstr>MHI PPT 4:3_単独会社用</vt:lpstr>
      <vt:lpstr>1_MHI PPT 16:9_単独会社用</vt:lpstr>
      <vt:lpstr>MHI PPT A4_単独会社用</vt:lpstr>
      <vt:lpstr>MHI PPT 16:9_単独会社用</vt:lpstr>
      <vt:lpstr>1_コンテンツ_Light</vt:lpstr>
      <vt:lpstr>6_MHI PPT 4:3_単独会社用</vt:lpstr>
      <vt:lpstr>2_コンテンツ_Light</vt:lpstr>
      <vt:lpstr>think-cell スライド</vt:lpstr>
      <vt:lpstr>NTTデータMHIシステムズ御中</vt:lpstr>
      <vt:lpstr>SPMI事業部様　業務プロセス改革PJ（WPPJ）について</vt:lpstr>
      <vt:lpstr>WPPJ直近の活動状況</vt:lpstr>
      <vt:lpstr>データドリブンアプローチの経緯</vt:lpstr>
      <vt:lpstr>事業計画・活動プロセス　と　データの関係整理</vt:lpstr>
      <vt:lpstr>課題と仮説</vt:lpstr>
      <vt:lpstr>事前確認</vt:lpstr>
      <vt:lpstr>スケジュール</vt:lpstr>
      <vt:lpstr>PowerPoint プレゼンテーション</vt:lpstr>
      <vt:lpstr>三菱重工業株式会社　御中</vt:lpstr>
      <vt:lpstr>本日の目的</vt:lpstr>
      <vt:lpstr>＜参考＞次世代ITアーキ　取り組み状況</vt:lpstr>
      <vt:lpstr>＜参考＞次世代ITアーキ検討PJ：事業部ニーズ整理結果</vt:lpstr>
      <vt:lpstr>事例一覧</vt:lpstr>
      <vt:lpstr>事例①：自動車メーカー　KPIダッシュボード化と事業適正化</vt:lpstr>
      <vt:lpstr>事例①：自動車メーカー　KPIダッシュボード化と事業適正化 推進における課題（事業面）</vt:lpstr>
      <vt:lpstr>事例①：自動車メーカー　KPIダッシュボード化と事業適正化 推進における課題（IT面）</vt:lpstr>
      <vt:lpstr>事例①：自動車メーカー　KPIダッシュボード化と事業適正化 解決に向けた営み（1/2）</vt:lpstr>
      <vt:lpstr>事例①：自動車メーカー　KPIダッシュボード化と事業適正化 解決に向けた営み（2/2）</vt:lpstr>
      <vt:lpstr>事例①：自動車メーカー　KPIダッシュボード化と事業適正化 効果と示唆</vt:lpstr>
      <vt:lpstr>事例③：医療機器メーカー　試薬販売予測システム</vt:lpstr>
      <vt:lpstr>事例③：医療機器メーカー　試薬販売予測システム 推進における課題</vt:lpstr>
      <vt:lpstr>事例③：医療機器メーカー　試薬販売予測システム 解決に向けた営み（1/2）</vt:lpstr>
      <vt:lpstr>事例③：医療機器メーカー　試薬販売予測システム 解決に向けた営み（2/2）</vt:lpstr>
      <vt:lpstr>事例④：大手自動車メーカーのスキル・リソース計画</vt:lpstr>
      <vt:lpstr>PowerPoint プレゼンテーション</vt:lpstr>
      <vt:lpstr>NTD→NMS、クニエ連携内容</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IS1 山本 周平/Yamamoto, Shuhei (NTT DATA)</dc:creator>
  <cp:lastModifiedBy>IS1 山本 周平/Yamamoto, Shuhei (NTT DATA)</cp:lastModifiedBy>
  <cp:revision>61</cp:revision>
  <dcterms:created xsi:type="dcterms:W3CDTF">2023-11-22T00:55:43Z</dcterms:created>
  <dcterms:modified xsi:type="dcterms:W3CDTF">2024-04-12T03:55:22Z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0x01010007DCAABFC386384AABE9777CBF2C5E23</vt:lpwstr>
  </property>
  <property fmtid="{D5CDD505-2E9C-101B-9397-08002B2CF9AE}" pid="3" name="MediaServiceImageTags">
    <vt:lpwstr/>
  </property>
</Properties>
</file>