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320" r:id="rId4"/>
  </p:sldMasterIdLst>
  <p:notesMasterIdLst>
    <p:notesMasterId r:id="rId33"/>
  </p:notesMasterIdLst>
  <p:handoutMasterIdLst>
    <p:handoutMasterId r:id="rId34"/>
  </p:handoutMasterIdLst>
  <p:sldIdLst>
    <p:sldId id="740" r:id="rId5"/>
    <p:sldId id="6300" r:id="rId6"/>
    <p:sldId id="6331" r:id="rId7"/>
    <p:sldId id="6305" r:id="rId8"/>
    <p:sldId id="6329" r:id="rId9"/>
    <p:sldId id="6309" r:id="rId10"/>
    <p:sldId id="6307" r:id="rId11"/>
    <p:sldId id="6310" r:id="rId12"/>
    <p:sldId id="6327" r:id="rId13"/>
    <p:sldId id="6344" r:id="rId14"/>
    <p:sldId id="6330" r:id="rId15"/>
    <p:sldId id="6337" r:id="rId16"/>
    <p:sldId id="6338" r:id="rId17"/>
    <p:sldId id="6345" r:id="rId18"/>
    <p:sldId id="6349" r:id="rId19"/>
    <p:sldId id="6346" r:id="rId20"/>
    <p:sldId id="6347" r:id="rId21"/>
    <p:sldId id="6348" r:id="rId22"/>
    <p:sldId id="6339" r:id="rId23"/>
    <p:sldId id="6320" r:id="rId24"/>
    <p:sldId id="6332" r:id="rId25"/>
    <p:sldId id="6333" r:id="rId26"/>
    <p:sldId id="6315" r:id="rId27"/>
    <p:sldId id="6313" r:id="rId28"/>
    <p:sldId id="6314" r:id="rId29"/>
    <p:sldId id="6317" r:id="rId30"/>
    <p:sldId id="6318" r:id="rId31"/>
    <p:sldId id="6311" r:id="rId32"/>
  </p:sldIdLst>
  <p:sldSz cx="9906000" cy="6858000" type="A4"/>
  <p:notesSz cx="7104063" cy="10234613"/>
  <p:defaultTextStyle>
    <a:defPPr>
      <a:defRPr lang="ja-JP"/>
    </a:defPPr>
    <a:lvl1pPr algn="l" rtl="0" eaLnBrk="0" fontAlgn="base" hangingPunct="0">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9pPr>
  </p:defaultTextStyle>
  <p:extLst>
    <p:ext uri="{521415D9-36F7-43E2-AB2F-B90AF26B5E84}">
      <p14:sectionLst xmlns:p14="http://schemas.microsoft.com/office/powerpoint/2010/main">
        <p14:section name="Main Body" id="{0439F69F-8273-41F1-AC9E-01BE14C95CF6}">
          <p14:sldIdLst>
            <p14:sldId id="740"/>
            <p14:sldId id="6300"/>
            <p14:sldId id="6331"/>
            <p14:sldId id="6305"/>
            <p14:sldId id="6329"/>
            <p14:sldId id="6309"/>
            <p14:sldId id="6307"/>
            <p14:sldId id="6310"/>
            <p14:sldId id="6327"/>
            <p14:sldId id="6344"/>
            <p14:sldId id="6330"/>
            <p14:sldId id="6337"/>
            <p14:sldId id="6338"/>
            <p14:sldId id="6345"/>
            <p14:sldId id="6349"/>
            <p14:sldId id="6346"/>
            <p14:sldId id="6347"/>
            <p14:sldId id="6348"/>
            <p14:sldId id="6339"/>
            <p14:sldId id="6320"/>
          </p14:sldIdLst>
        </p14:section>
        <p14:section name="アプローチ見直し" id="{5CBB94D0-5391-F24C-B703-BF0D1355D9D3}">
          <p14:sldIdLst>
            <p14:sldId id="6332"/>
            <p14:sldId id="6333"/>
            <p14:sldId id="6315"/>
            <p14:sldId id="6313"/>
            <p14:sldId id="6314"/>
            <p14:sldId id="6317"/>
            <p14:sldId id="6318"/>
          </p14:sldIdLst>
        </p14:section>
        <p14:section name="Appendix" id="{37AF1FC1-B825-4327-8653-C2B3043D9DC0}">
          <p14:sldIdLst>
            <p14:sldId id="6311"/>
          </p14:sldIdLst>
        </p14:section>
      </p14:sectionLst>
    </p:ext>
    <p:ext uri="{EFAFB233-063F-42B5-8137-9DF3F51BA10A}">
      <p15:sldGuideLst xmlns:p15="http://schemas.microsoft.com/office/powerpoint/2012/main">
        <p15:guide id="1" orient="horz" pos="4020" userDrawn="1">
          <p15:clr>
            <a:srgbClr val="A4A3A4"/>
          </p15:clr>
        </p15:guide>
        <p15:guide id="2" pos="3120" userDrawn="1">
          <p15:clr>
            <a:srgbClr val="A4A3A4"/>
          </p15:clr>
        </p15:guide>
        <p15:guide id="3" orient="horz" pos="2183" userDrawn="1">
          <p15:clr>
            <a:srgbClr val="A4A3A4"/>
          </p15:clr>
        </p15:guide>
        <p15:guide id="4" pos="149" userDrawn="1">
          <p15:clr>
            <a:srgbClr val="A4A3A4"/>
          </p15:clr>
        </p15:guide>
        <p15:guide id="5" pos="6091" userDrawn="1">
          <p15:clr>
            <a:srgbClr val="A4A3A4"/>
          </p15:clr>
        </p15:guide>
        <p15:guide id="6" orient="horz" pos="482" userDrawn="1">
          <p15:clr>
            <a:srgbClr val="A4A3A4"/>
          </p15:clr>
        </p15:guide>
        <p15:guide id="7" pos="376" userDrawn="1">
          <p15:clr>
            <a:srgbClr val="A4A3A4"/>
          </p15:clr>
        </p15:guide>
        <p15:guide id="8" pos="5864" userDrawn="1">
          <p15:clr>
            <a:srgbClr val="A4A3A4"/>
          </p15:clr>
        </p15:guide>
        <p15:guide id="9" orient="horz" pos="935"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A0AA"/>
    <a:srgbClr val="FFC000"/>
    <a:srgbClr val="4B4B4B"/>
    <a:srgbClr val="FF0000"/>
    <a:srgbClr val="003243"/>
    <a:srgbClr val="7F7F7F"/>
    <a:srgbClr val="D7ACD6"/>
    <a:srgbClr val="D883FF"/>
    <a:srgbClr val="CAE8AA"/>
    <a:srgbClr val="EBF0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000" autoAdjust="0"/>
    <p:restoredTop sz="95214" autoAdjust="0"/>
  </p:normalViewPr>
  <p:slideViewPr>
    <p:cSldViewPr snapToGrid="0">
      <p:cViewPr varScale="1">
        <p:scale>
          <a:sx n="134" d="100"/>
          <a:sy n="134" d="100"/>
        </p:scale>
        <p:origin x="208" y="296"/>
      </p:cViewPr>
      <p:guideLst>
        <p:guide orient="horz" pos="4020"/>
        <p:guide pos="3120"/>
        <p:guide orient="horz" pos="2183"/>
        <p:guide pos="149"/>
        <p:guide pos="6091"/>
        <p:guide orient="horz" pos="482"/>
        <p:guide pos="376"/>
        <p:guide pos="5864"/>
        <p:guide orient="horz" pos="935"/>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200" d="100"/>
        <a:sy n="200" d="100"/>
      </p:scale>
      <p:origin x="0" y="0"/>
    </p:cViewPr>
  </p:sorterViewPr>
  <p:notesViewPr>
    <p:cSldViewPr snapToGrid="0">
      <p:cViewPr varScale="1">
        <p:scale>
          <a:sx n="74" d="100"/>
          <a:sy n="74" d="100"/>
        </p:scale>
        <p:origin x="2899" y="67"/>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0"/>
            <a:ext cx="3078427" cy="511731"/>
          </a:xfrm>
          <a:prstGeom prst="rect">
            <a:avLst/>
          </a:prstGeom>
        </p:spPr>
        <p:txBody>
          <a:bodyPr vert="horz" wrap="square" lIns="99066" tIns="49534" rIns="99066" bIns="49534" numCol="1" anchor="t" anchorCtr="0" compatLnSpc="1">
            <a:prstTxWarp prst="textNoShape">
              <a:avLst/>
            </a:prstTxWarp>
          </a:bodyPr>
          <a:lstStyle>
            <a:lvl1pPr eaLnBrk="1" hangingPunct="1">
              <a:defRPr sz="1300">
                <a:latin typeface="Arial" charset="0"/>
                <a:ea typeface="ＭＳ Ｐゴシック" charset="-128"/>
              </a:defRPr>
            </a:lvl1pPr>
          </a:lstStyle>
          <a:p>
            <a:pPr>
              <a:defRPr/>
            </a:pPr>
            <a:endParaRPr lang="ja-JP" altLang="en-US" dirty="0">
              <a:latin typeface="Meiryo UI" panose="020B0604030504040204" pitchFamily="34" charset="-128"/>
            </a:endParaRPr>
          </a:p>
        </p:txBody>
      </p:sp>
      <p:sp>
        <p:nvSpPr>
          <p:cNvPr id="3" name="日付プレースホルダ 2"/>
          <p:cNvSpPr>
            <a:spLocks noGrp="1"/>
          </p:cNvSpPr>
          <p:nvPr>
            <p:ph type="dt" sz="quarter" idx="1"/>
          </p:nvPr>
        </p:nvSpPr>
        <p:spPr>
          <a:xfrm>
            <a:off x="4023993" y="0"/>
            <a:ext cx="3078427" cy="511731"/>
          </a:xfrm>
          <a:prstGeom prst="rect">
            <a:avLst/>
          </a:prstGeom>
        </p:spPr>
        <p:txBody>
          <a:bodyPr vert="horz" wrap="square" lIns="99066" tIns="49534" rIns="99066" bIns="49534" numCol="1" anchor="t" anchorCtr="0" compatLnSpc="1">
            <a:prstTxWarp prst="textNoShape">
              <a:avLst/>
            </a:prstTxWarp>
          </a:bodyPr>
          <a:lstStyle>
            <a:lvl1pPr algn="r" eaLnBrk="1" hangingPunct="1">
              <a:defRPr sz="1300">
                <a:latin typeface="Arial" charset="0"/>
                <a:ea typeface="ＭＳ Ｐゴシック" charset="-128"/>
              </a:defRPr>
            </a:lvl1pPr>
          </a:lstStyle>
          <a:p>
            <a:pPr>
              <a:defRPr/>
            </a:pPr>
            <a:fld id="{AB8EB065-5CCA-4E54-9306-46F8A9C4504C}" type="datetime1">
              <a:rPr lang="ja-JP" altLang="en-US">
                <a:latin typeface="Meiryo UI" panose="020B0604030504040204" pitchFamily="34" charset="-128"/>
              </a:rPr>
              <a:pPr>
                <a:defRPr/>
              </a:pPr>
              <a:t>2021/7/13</a:t>
            </a:fld>
            <a:endParaRPr lang="ja-JP" altLang="en-US" dirty="0">
              <a:latin typeface="Meiryo UI" panose="020B0604030504040204" pitchFamily="34" charset="-128"/>
            </a:endParaRPr>
          </a:p>
        </p:txBody>
      </p:sp>
      <p:sp>
        <p:nvSpPr>
          <p:cNvPr id="4" name="フッター プレースホルダ 3"/>
          <p:cNvSpPr>
            <a:spLocks noGrp="1"/>
          </p:cNvSpPr>
          <p:nvPr>
            <p:ph type="ftr" sz="quarter" idx="2"/>
          </p:nvPr>
        </p:nvSpPr>
        <p:spPr>
          <a:xfrm>
            <a:off x="1" y="9721106"/>
            <a:ext cx="3078427" cy="511731"/>
          </a:xfrm>
          <a:prstGeom prst="rect">
            <a:avLst/>
          </a:prstGeom>
        </p:spPr>
        <p:txBody>
          <a:bodyPr vert="horz" wrap="square" lIns="99066" tIns="49534" rIns="99066" bIns="49534" numCol="1" anchor="b" anchorCtr="0" compatLnSpc="1">
            <a:prstTxWarp prst="textNoShape">
              <a:avLst/>
            </a:prstTxWarp>
          </a:bodyPr>
          <a:lstStyle>
            <a:lvl1pPr eaLnBrk="1" hangingPunct="1">
              <a:defRPr sz="1300">
                <a:latin typeface="Arial" charset="0"/>
                <a:ea typeface="ＭＳ Ｐゴシック" charset="-128"/>
              </a:defRPr>
            </a:lvl1pPr>
          </a:lstStyle>
          <a:p>
            <a:pPr>
              <a:defRPr/>
            </a:pPr>
            <a:endParaRPr lang="ja-JP" altLang="en-US" dirty="0">
              <a:latin typeface="Meiryo UI" panose="020B0604030504040204" pitchFamily="34" charset="-128"/>
            </a:endParaRPr>
          </a:p>
        </p:txBody>
      </p:sp>
      <p:sp>
        <p:nvSpPr>
          <p:cNvPr id="5" name="スライド番号プレースホルダ 4"/>
          <p:cNvSpPr>
            <a:spLocks noGrp="1"/>
          </p:cNvSpPr>
          <p:nvPr>
            <p:ph type="sldNum" sz="quarter" idx="3"/>
          </p:nvPr>
        </p:nvSpPr>
        <p:spPr>
          <a:xfrm>
            <a:off x="4023993" y="9721106"/>
            <a:ext cx="3078427" cy="511731"/>
          </a:xfrm>
          <a:prstGeom prst="rect">
            <a:avLst/>
          </a:prstGeom>
        </p:spPr>
        <p:txBody>
          <a:bodyPr vert="horz" wrap="square" lIns="99066" tIns="49534" rIns="99066" bIns="49534" numCol="1" anchor="b" anchorCtr="0" compatLnSpc="1">
            <a:prstTxWarp prst="textNoShape">
              <a:avLst/>
            </a:prstTxWarp>
          </a:bodyPr>
          <a:lstStyle>
            <a:lvl1pPr algn="r" eaLnBrk="1" hangingPunct="1">
              <a:defRPr sz="1300"/>
            </a:lvl1pPr>
          </a:lstStyle>
          <a:p>
            <a:fld id="{1F8AEFD7-BD22-49BB-A4F8-D02700059B81}" type="slidenum">
              <a:rPr lang="ja-JP" altLang="en-US">
                <a:latin typeface="Meiryo UI" panose="020B0604030504040204" pitchFamily="34" charset="-128"/>
              </a:rPr>
              <a:pPr/>
              <a:t>‹#›</a:t>
            </a:fld>
            <a:endParaRPr lang="ja-JP" altLang="en-US" dirty="0">
              <a:latin typeface="Meiryo UI" panose="020B0604030504040204" pitchFamily="34" charset="-128"/>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0"/>
            <a:ext cx="3078427" cy="511731"/>
          </a:xfrm>
          <a:prstGeom prst="rect">
            <a:avLst/>
          </a:prstGeom>
        </p:spPr>
        <p:txBody>
          <a:bodyPr vert="horz" wrap="square" lIns="99066" tIns="49534" rIns="99066" bIns="49534" numCol="1" anchor="t" anchorCtr="0" compatLnSpc="1">
            <a:prstTxWarp prst="textNoShape">
              <a:avLst/>
            </a:prstTxWarp>
          </a:bodyPr>
          <a:lstStyle>
            <a:lvl1pPr eaLnBrk="1" hangingPunct="1">
              <a:defRPr sz="1300" b="0" i="0">
                <a:latin typeface="Meiryo UI" panose="020B0604030504040204" pitchFamily="34" charset="-128"/>
                <a:ea typeface="ＭＳ Ｐゴシック" charset="-128"/>
              </a:defRPr>
            </a:lvl1pPr>
          </a:lstStyle>
          <a:p>
            <a:pPr>
              <a:defRPr/>
            </a:pPr>
            <a:endParaRPr lang="ja-JP" altLang="en-US" dirty="0"/>
          </a:p>
        </p:txBody>
      </p:sp>
      <p:sp>
        <p:nvSpPr>
          <p:cNvPr id="3" name="日付プレースホルダ 2"/>
          <p:cNvSpPr>
            <a:spLocks noGrp="1"/>
          </p:cNvSpPr>
          <p:nvPr>
            <p:ph type="dt" idx="1"/>
          </p:nvPr>
        </p:nvSpPr>
        <p:spPr>
          <a:xfrm>
            <a:off x="4023993" y="0"/>
            <a:ext cx="3078427" cy="511731"/>
          </a:xfrm>
          <a:prstGeom prst="rect">
            <a:avLst/>
          </a:prstGeom>
        </p:spPr>
        <p:txBody>
          <a:bodyPr vert="horz" wrap="square" lIns="99066" tIns="49534" rIns="99066" bIns="49534" numCol="1" anchor="t" anchorCtr="0" compatLnSpc="1">
            <a:prstTxWarp prst="textNoShape">
              <a:avLst/>
            </a:prstTxWarp>
          </a:bodyPr>
          <a:lstStyle>
            <a:lvl1pPr algn="r" eaLnBrk="1" hangingPunct="1">
              <a:defRPr sz="1300" b="0" i="0">
                <a:latin typeface="Meiryo UI" panose="020B0604030504040204" pitchFamily="34" charset="-128"/>
                <a:ea typeface="ＭＳ Ｐゴシック" charset="-128"/>
              </a:defRPr>
            </a:lvl1pPr>
          </a:lstStyle>
          <a:p>
            <a:pPr>
              <a:defRPr/>
            </a:pPr>
            <a:fld id="{22844B2E-2911-43E7-91DF-E66AA4B208D5}" type="datetime1">
              <a:rPr lang="ja-JP" altLang="en-US" smtClean="0"/>
              <a:pPr>
                <a:defRPr/>
              </a:pPr>
              <a:t>2021/7/13</a:t>
            </a:fld>
            <a:endParaRPr lang="ja-JP" altLang="en-US" dirty="0"/>
          </a:p>
        </p:txBody>
      </p:sp>
      <p:sp>
        <p:nvSpPr>
          <p:cNvPr id="4" name="スライド イメージ プレースホルダ 3"/>
          <p:cNvSpPr>
            <a:spLocks noGrp="1" noRot="1" noChangeAspect="1"/>
          </p:cNvSpPr>
          <p:nvPr>
            <p:ph type="sldImg" idx="2"/>
          </p:nvPr>
        </p:nvSpPr>
        <p:spPr>
          <a:xfrm>
            <a:off x="781050" y="768350"/>
            <a:ext cx="5541963" cy="3836988"/>
          </a:xfrm>
          <a:prstGeom prst="rect">
            <a:avLst/>
          </a:prstGeom>
          <a:noFill/>
          <a:ln w="12700">
            <a:solidFill>
              <a:prstClr val="black"/>
            </a:solidFill>
          </a:ln>
        </p:spPr>
        <p:txBody>
          <a:bodyPr vert="horz" wrap="square" lIns="99066" tIns="49534" rIns="99066" bIns="49534" numCol="1" anchor="ctr" anchorCtr="0" compatLnSpc="1">
            <a:prstTxWarp prst="textNoShape">
              <a:avLst/>
            </a:prstTxWarp>
          </a:bodyPr>
          <a:lstStyle/>
          <a:p>
            <a:pPr lvl="0"/>
            <a:endParaRPr lang="ja-JP" altLang="en-US" noProof="0" dirty="0"/>
          </a:p>
        </p:txBody>
      </p:sp>
      <p:sp>
        <p:nvSpPr>
          <p:cNvPr id="5" name="ノート プレースホルダ 4"/>
          <p:cNvSpPr>
            <a:spLocks noGrp="1"/>
          </p:cNvSpPr>
          <p:nvPr>
            <p:ph type="body" sz="quarter" idx="3"/>
          </p:nvPr>
        </p:nvSpPr>
        <p:spPr>
          <a:xfrm>
            <a:off x="710407" y="4861442"/>
            <a:ext cx="5683250" cy="4605576"/>
          </a:xfrm>
          <a:prstGeom prst="rect">
            <a:avLst/>
          </a:prstGeom>
        </p:spPr>
        <p:txBody>
          <a:bodyPr vert="horz" wrap="square" lIns="99066" tIns="49534" rIns="99066" bIns="49534" numCol="1" anchor="t" anchorCtr="0" compatLnSpc="1">
            <a:prstTxWarp prst="textNoShape">
              <a:avLst/>
            </a:prstTxWarp>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1" y="9721106"/>
            <a:ext cx="3078427" cy="511731"/>
          </a:xfrm>
          <a:prstGeom prst="rect">
            <a:avLst/>
          </a:prstGeom>
        </p:spPr>
        <p:txBody>
          <a:bodyPr vert="horz" wrap="square" lIns="99066" tIns="49534" rIns="99066" bIns="49534" numCol="1" anchor="b" anchorCtr="0" compatLnSpc="1">
            <a:prstTxWarp prst="textNoShape">
              <a:avLst/>
            </a:prstTxWarp>
          </a:bodyPr>
          <a:lstStyle>
            <a:lvl1pPr eaLnBrk="1" hangingPunct="1">
              <a:defRPr sz="1300" b="0" i="0">
                <a:latin typeface="Meiryo UI" panose="020B0604030504040204" pitchFamily="34" charset="-128"/>
                <a:ea typeface="ＭＳ Ｐゴシック" charset="-128"/>
              </a:defRPr>
            </a:lvl1pPr>
          </a:lstStyle>
          <a:p>
            <a:pPr>
              <a:defRPr/>
            </a:pPr>
            <a:endParaRPr lang="ja-JP" altLang="en-US" dirty="0"/>
          </a:p>
        </p:txBody>
      </p:sp>
      <p:sp>
        <p:nvSpPr>
          <p:cNvPr id="7" name="スライド番号プレースホルダ 6"/>
          <p:cNvSpPr>
            <a:spLocks noGrp="1"/>
          </p:cNvSpPr>
          <p:nvPr>
            <p:ph type="sldNum" sz="quarter" idx="5"/>
          </p:nvPr>
        </p:nvSpPr>
        <p:spPr>
          <a:xfrm>
            <a:off x="4023993" y="9721106"/>
            <a:ext cx="3078427" cy="511731"/>
          </a:xfrm>
          <a:prstGeom prst="rect">
            <a:avLst/>
          </a:prstGeom>
        </p:spPr>
        <p:txBody>
          <a:bodyPr vert="horz" wrap="square" lIns="99066" tIns="49534" rIns="99066" bIns="49534" numCol="1" anchor="b" anchorCtr="0" compatLnSpc="1">
            <a:prstTxWarp prst="textNoShape">
              <a:avLst/>
            </a:prstTxWarp>
          </a:bodyPr>
          <a:lstStyle>
            <a:lvl1pPr algn="r" eaLnBrk="1" hangingPunct="1">
              <a:defRPr sz="1300" b="0" i="0">
                <a:latin typeface="Meiryo UI" panose="020B0604030504040204" pitchFamily="34" charset="-128"/>
              </a:defRPr>
            </a:lvl1pPr>
          </a:lstStyle>
          <a:p>
            <a:fld id="{3D5BE5AD-A31C-4C45-BD6E-6EAFD43FBC45}" type="slidenum">
              <a:rPr lang="ja-JP" altLang="en-US" smtClean="0"/>
              <a:pPr/>
              <a:t>‹#›</a:t>
            </a:fld>
            <a:endParaRPr lang="ja-JP" altLang="en-US" dirty="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kumimoji="1" sz="1200" kern="1200">
        <a:solidFill>
          <a:schemeClr val="tx1"/>
        </a:solidFill>
        <a:latin typeface="+mn-lt"/>
        <a:ea typeface="+mn-ea"/>
        <a:cs typeface="ＭＳ Ｐゴシック" charset="-128"/>
      </a:defRPr>
    </a:lvl1pPr>
    <a:lvl2pPr marL="457200" algn="l" defTabSz="457200" rtl="0" eaLnBrk="0" fontAlgn="base" hangingPunct="0">
      <a:spcBef>
        <a:spcPct val="30000"/>
      </a:spcBef>
      <a:spcAft>
        <a:spcPct val="0"/>
      </a:spcAft>
      <a:defRPr kumimoji="1"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kumimoji="1"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kumimoji="1"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34453" y="5566335"/>
            <a:ext cx="2586024" cy="351288"/>
          </a:xfrm>
          <a:prstGeom prst="rect">
            <a:avLst/>
          </a:prstGeom>
        </p:spPr>
        <p:txBody>
          <a:bodyPr anchor="ctr"/>
          <a:lstStyle>
            <a:lvl1pPr marL="0" indent="0">
              <a:lnSpc>
                <a:spcPct val="100000"/>
              </a:lnSpc>
              <a:spcBef>
                <a:spcPts val="0"/>
              </a:spcBef>
              <a:buNone/>
              <a:defRPr sz="1300" b="0" i="0">
                <a:latin typeface="Meiryo UI" panose="020B0604030504040204" pitchFamily="34" charset="-128"/>
                <a:ea typeface="Meiryo UI" panose="020B0604030504040204" pitchFamily="34" charset="-128"/>
                <a:cs typeface="Meiryo UI" panose="020B0604030504040204" pitchFamily="34" charset="-128"/>
              </a:defRPr>
            </a:lvl1pPr>
          </a:lstStyle>
          <a:p>
            <a:pPr lvl="0"/>
            <a:r>
              <a:rPr kumimoji="1" lang="en-US" altLang="ja-JP" dirty="0"/>
              <a:t>2020.6.1</a:t>
            </a:r>
            <a:endParaRPr kumimoji="1" lang="ja-JP" altLang="en-US"/>
          </a:p>
        </p:txBody>
      </p:sp>
      <p:sp>
        <p:nvSpPr>
          <p:cNvPr id="16" name="タイトル 2"/>
          <p:cNvSpPr>
            <a:spLocks noGrp="1"/>
          </p:cNvSpPr>
          <p:nvPr>
            <p:ph type="title" hasCustomPrompt="1"/>
          </p:nvPr>
        </p:nvSpPr>
        <p:spPr>
          <a:xfrm>
            <a:off x="334452" y="2699386"/>
            <a:ext cx="9242972" cy="585575"/>
          </a:xfrm>
          <a:prstGeom prst="rect">
            <a:avLst/>
          </a:prstGeom>
        </p:spPr>
        <p:txBody>
          <a:bodyPr/>
          <a:lstStyle>
            <a:lvl1pPr>
              <a:lnSpc>
                <a:spcPct val="100000"/>
              </a:lnSpc>
              <a:spcBef>
                <a:spcPts val="0"/>
              </a:spcBef>
              <a:defRPr sz="3200" b="0" i="0" baseline="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stStyle>
          <a:p>
            <a:r>
              <a:rPr kumimoji="1" lang="ja-JP" altLang="en-US"/>
              <a:t>表紙タイトル </a:t>
            </a:r>
            <a:r>
              <a:rPr kumimoji="1" lang="en-US" altLang="ja-JP" dirty="0"/>
              <a:t>32pt</a:t>
            </a:r>
            <a:endParaRPr kumimoji="1" lang="ja-JP" altLang="en-US"/>
          </a:p>
        </p:txBody>
      </p:sp>
      <p:pic>
        <p:nvPicPr>
          <p:cNvPr id="11" name="図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2807" y="201827"/>
            <a:ext cx="9473438" cy="944880"/>
          </a:xfrm>
          <a:prstGeom prst="rect">
            <a:avLst/>
          </a:prstGeom>
        </p:spPr>
      </p:pic>
      <p:sp>
        <p:nvSpPr>
          <p:cNvPr id="9" name="日付プレースホルダー 32"/>
          <p:cNvSpPr txBox="1">
            <a:spLocks/>
          </p:cNvSpPr>
          <p:nvPr userDrawn="1"/>
        </p:nvSpPr>
        <p:spPr>
          <a:xfrm>
            <a:off x="212807" y="6370975"/>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b="0" i="0" kern="1200" dirty="0">
                <a:solidFill>
                  <a:schemeClr val="tx1"/>
                </a:solidFill>
                <a:latin typeface="Meiryo UI" panose="020B0604030504040204" pitchFamily="34" charset="-128"/>
                <a:ea typeface="ＭＳ Ｐゴシック" pitchFamily="50" charset="-128"/>
                <a:cs typeface="+mn-cs"/>
              </a:rPr>
              <a:t>Mitsubishi Power, Ltd. All Rights Reserved.</a:t>
            </a:r>
          </a:p>
        </p:txBody>
      </p:sp>
      <p:pic>
        <p:nvPicPr>
          <p:cNvPr id="12" name="図 11">
            <a:extLst>
              <a:ext uri="{FF2B5EF4-FFF2-40B4-BE49-F238E27FC236}">
                <a16:creationId xmlns:a16="http://schemas.microsoft.com/office/drawing/2014/main" id="{EBFDCA56-A79F-7F4A-816A-231E8FA56A7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29088" y="5966807"/>
            <a:ext cx="1619739" cy="150984"/>
          </a:xfrm>
          <a:prstGeom prst="rect">
            <a:avLst/>
          </a:prstGeom>
        </p:spPr>
      </p:pic>
      <p:pic>
        <p:nvPicPr>
          <p:cNvPr id="8" name="図 7">
            <a:extLst>
              <a:ext uri="{FF2B5EF4-FFF2-40B4-BE49-F238E27FC236}">
                <a16:creationId xmlns:a16="http://schemas.microsoft.com/office/drawing/2014/main" id="{45B694BC-EF5E-8F44-90FF-BC4538A9106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210137" y="6291194"/>
            <a:ext cx="1362075" cy="304800"/>
          </a:xfrm>
          <a:prstGeom prst="rect">
            <a:avLst/>
          </a:prstGeom>
        </p:spPr>
      </p:pic>
      <p:sp>
        <p:nvSpPr>
          <p:cNvPr id="13" name="テキスト プレースホルダー 21">
            <a:extLst>
              <a:ext uri="{FF2B5EF4-FFF2-40B4-BE49-F238E27FC236}">
                <a16:creationId xmlns:a16="http://schemas.microsoft.com/office/drawing/2014/main" id="{468847F3-99F9-4059-9FAF-30C5C70FABF8}"/>
              </a:ext>
            </a:extLst>
          </p:cNvPr>
          <p:cNvSpPr>
            <a:spLocks noGrp="1"/>
          </p:cNvSpPr>
          <p:nvPr>
            <p:ph type="body" sz="quarter" idx="14" hasCustomPrompt="1"/>
          </p:nvPr>
        </p:nvSpPr>
        <p:spPr>
          <a:xfrm>
            <a:off x="334452" y="3361113"/>
            <a:ext cx="9242972"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0" i="0" baseline="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dirty="0"/>
              <a:t>16pt</a:t>
            </a:r>
            <a:r>
              <a:rPr kumimoji="1" lang="ja-JP" altLang="en-US"/>
              <a:t>　　　　　　　　　　　　　　　　　　　　　　　　　　　　　　　　</a:t>
            </a:r>
          </a:p>
        </p:txBody>
      </p:sp>
    </p:spTree>
    <p:extLst>
      <p:ext uri="{BB962C8B-B14F-4D97-AF65-F5344CB8AC3E}">
        <p14:creationId xmlns:p14="http://schemas.microsoft.com/office/powerpoint/2010/main" val="3174743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b="0" i="0" kern="1200" dirty="0">
                <a:solidFill>
                  <a:schemeClr val="bg1"/>
                </a:solidFill>
                <a:latin typeface="Meiryo UI" panose="020B0604030504040204" pitchFamily="34" charset="-128"/>
                <a:ea typeface="ＭＳ Ｐゴシック" pitchFamily="50" charset="-128"/>
                <a:cs typeface="+mn-cs"/>
              </a:rPr>
              <a:t>Mitsubishi Power, Ltd. All Rights Reserved.</a:t>
            </a: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b="0" i="0" smtClean="0">
                <a:latin typeface="Meiryo UI" panose="020B0604030504040204" pitchFamily="34" charset="-128"/>
              </a:rPr>
              <a:pPr>
                <a:defRPr/>
              </a:pPr>
              <a:t>‹#›</a:t>
            </a:fld>
            <a:endParaRPr lang="en-US" altLang="ja-JP" sz="1000" b="0" i="0" dirty="0">
              <a:latin typeface="Meiryo UI" panose="020B0604030504040204" pitchFamily="34" charset="-128"/>
            </a:endParaRPr>
          </a:p>
        </p:txBody>
      </p:sp>
      <p:sp>
        <p:nvSpPr>
          <p:cNvPr id="15" name="タイトル 1"/>
          <p:cNvSpPr>
            <a:spLocks noGrp="1"/>
          </p:cNvSpPr>
          <p:nvPr>
            <p:ph type="title" hasCustomPrompt="1"/>
          </p:nvPr>
        </p:nvSpPr>
        <p:spPr>
          <a:xfrm>
            <a:off x="601747" y="128799"/>
            <a:ext cx="6922598" cy="349961"/>
          </a:xfrm>
          <a:prstGeom prst="rect">
            <a:avLst/>
          </a:prstGeom>
        </p:spPr>
        <p:txBody>
          <a:bodyPr/>
          <a:lstStyle>
            <a:lvl1pPr>
              <a:lnSpc>
                <a:spcPct val="100000"/>
              </a:lnSpc>
              <a:defRPr sz="2200" b="0" i="0">
                <a:latin typeface="Meiryo UI" panose="020B0604030504040204" pitchFamily="34" charset="-128"/>
                <a:ea typeface="Meiryo UI" panose="020B0604030504040204" pitchFamily="34" charset="-128"/>
                <a:cs typeface="Meiryo UI" panose="020B0604030504040204" pitchFamily="34" charset="-128"/>
              </a:defRPr>
            </a:lvl1pPr>
          </a:lstStyle>
          <a:p>
            <a:r>
              <a:rPr kumimoji="1" lang="ja-JP" altLang="en-US"/>
              <a:t>ページタイトル </a:t>
            </a:r>
            <a:r>
              <a:rPr kumimoji="1" lang="en-US" altLang="ja-JP" dirty="0"/>
              <a:t>22pt</a:t>
            </a:r>
            <a:endParaRPr kumimoji="1" lang="ja-JP" altLang="en-US"/>
          </a:p>
        </p:txBody>
      </p:sp>
      <p:sp>
        <p:nvSpPr>
          <p:cNvPr id="17" name="テキスト プレースホルダー 9"/>
          <p:cNvSpPr>
            <a:spLocks noGrp="1"/>
          </p:cNvSpPr>
          <p:nvPr>
            <p:ph type="body" sz="quarter" idx="10" hasCustomPrompt="1"/>
          </p:nvPr>
        </p:nvSpPr>
        <p:spPr>
          <a:xfrm>
            <a:off x="601927" y="797132"/>
            <a:ext cx="6922162" cy="652463"/>
          </a:xfrm>
          <a:prstGeom prst="rect">
            <a:avLst/>
          </a:prstGeom>
        </p:spPr>
        <p:txBody>
          <a:bodyPr/>
          <a:lstStyle>
            <a:lvl1pPr marL="0" indent="0">
              <a:lnSpc>
                <a:spcPct val="120000"/>
              </a:lnSpc>
              <a:spcBef>
                <a:spcPts val="750"/>
              </a:spcBef>
              <a:buNone/>
              <a:defRPr sz="1600" b="0" i="0">
                <a:latin typeface="Meiryo UI" panose="020B0604030504040204" pitchFamily="34" charset="-128"/>
                <a:ea typeface="Meiryo UI" panose="020B0604030504040204" pitchFamily="34" charset="-128"/>
                <a:cs typeface="Meiryo UI" panose="020B0604030504040204" pitchFamily="34" charset="-128"/>
              </a:defRPr>
            </a:lvl1pPr>
          </a:lstStyle>
          <a:p>
            <a:pPr lvl="0"/>
            <a:r>
              <a:rPr kumimoji="1" lang="ja-JP" altLang="en-US"/>
              <a:t>テキスト </a:t>
            </a:r>
            <a:r>
              <a:rPr kumimoji="1" lang="en-US" altLang="ja-JP" dirty="0"/>
              <a:t>16pt</a:t>
            </a:r>
            <a:endParaRPr kumimoji="1" lang="ja-JP" altLang="en-US"/>
          </a:p>
        </p:txBody>
      </p:sp>
      <p:sp>
        <p:nvSpPr>
          <p:cNvPr id="18" name="テキスト プレースホルダー 18"/>
          <p:cNvSpPr>
            <a:spLocks noGrp="1"/>
          </p:cNvSpPr>
          <p:nvPr>
            <p:ph type="body" sz="quarter" idx="13" hasCustomPrompt="1"/>
          </p:nvPr>
        </p:nvSpPr>
        <p:spPr>
          <a:xfrm>
            <a:off x="598488" y="1525210"/>
            <a:ext cx="8874125" cy="838164"/>
          </a:xfrm>
          <a:prstGeom prst="rect">
            <a:avLst/>
          </a:prstGeom>
        </p:spPr>
        <p:txBody>
          <a:bodyPr numCol="2" spcCol="540000"/>
          <a:lstStyle>
            <a:lvl1pPr marL="0" indent="0">
              <a:lnSpc>
                <a:spcPct val="120000"/>
              </a:lnSpc>
              <a:spcBef>
                <a:spcPts val="750"/>
              </a:spcBef>
              <a:buNone/>
              <a:defRPr sz="1000" b="0" i="0">
                <a:latin typeface="Meiryo UI" panose="020B0604030504040204" pitchFamily="34" charset="-128"/>
                <a:ea typeface="Meiryo UI" panose="020B0604030504040204" pitchFamily="34" charset="-128"/>
                <a:cs typeface="Meiryo UI" panose="020B0604030504040204" pitchFamily="34" charset="-128"/>
              </a:defRPr>
            </a:lvl1pPr>
          </a:lstStyle>
          <a:p>
            <a:pPr lvl="0"/>
            <a:r>
              <a:rPr kumimoji="1" lang="ja-JP" altLang="en-US"/>
              <a:t>テキスト </a:t>
            </a:r>
            <a:r>
              <a:rPr kumimoji="1" lang="en-US" altLang="ja-JP" dirty="0"/>
              <a:t>10pt</a:t>
            </a:r>
            <a:endParaRPr kumimoji="1" lang="ja-JP" altLang="en-US"/>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A0CF93FE-1DF9-954A-AC39-0CE9B551E17A}"/>
              </a:ext>
            </a:extLst>
          </p:cNvPr>
          <p:cNvPicPr>
            <a:picLocks noChangeAspect="1"/>
          </p:cNvPicPr>
          <p:nvPr userDrawn="1"/>
        </p:nvPicPr>
        <p:blipFill>
          <a:blip r:embed="rId3" cstate="print">
            <a:alphaModFix/>
            <a:extLst>
              <a:ext uri="{28A0092B-C50C-407E-A947-70E740481C1C}">
                <a14:useLocalDpi xmlns:a14="http://schemas.microsoft.com/office/drawing/2010/main"/>
              </a:ext>
            </a:extLst>
          </a:blip>
          <a:stretch>
            <a:fillRect/>
          </a:stretch>
        </p:blipFill>
        <p:spPr>
          <a:xfrm>
            <a:off x="8299233" y="136269"/>
            <a:ext cx="1368900" cy="306327"/>
          </a:xfrm>
          <a:prstGeom prst="rect">
            <a:avLst/>
          </a:prstGeom>
        </p:spPr>
      </p:pic>
    </p:spTree>
    <p:extLst>
      <p:ext uri="{BB962C8B-B14F-4D97-AF65-F5344CB8AC3E}">
        <p14:creationId xmlns:p14="http://schemas.microsoft.com/office/powerpoint/2010/main" val="1872029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ja-JP" altLang="en-US" sz="700" b="0" i="0" kern="1200">
                <a:solidFill>
                  <a:schemeClr val="bg1"/>
                </a:solidFill>
                <a:latin typeface="Meiryo UI" panose="020B0604030504040204" pitchFamily="34" charset="-128"/>
                <a:ea typeface="ＭＳ Ｐゴシック" pitchFamily="50" charset="-128"/>
                <a:cs typeface="+mn-cs"/>
              </a:rPr>
              <a:t>＠</a:t>
            </a:r>
            <a:r>
              <a:rPr kumimoji="1" lang="en-US" altLang="ja-JP" sz="700" b="0" i="0" kern="1200" dirty="0">
                <a:solidFill>
                  <a:schemeClr val="bg1"/>
                </a:solidFill>
                <a:latin typeface="Meiryo UI" panose="020B0604030504040204" pitchFamily="34" charset="-128"/>
                <a:ea typeface="ＭＳ Ｐゴシック" pitchFamily="50" charset="-128"/>
                <a:cs typeface="+mn-cs"/>
              </a:rPr>
              <a:t>Mitsubishi Power, Ltd.</a:t>
            </a: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b="0" i="0" smtClean="0">
                <a:latin typeface="Meiryo UI" panose="020B0604030504040204" pitchFamily="34" charset="-128"/>
              </a:rPr>
              <a:pPr>
                <a:defRPr/>
              </a:pPr>
              <a:t>‹#›</a:t>
            </a:fld>
            <a:endParaRPr lang="en-US" altLang="ja-JP" sz="1000" b="0" i="0" dirty="0">
              <a:latin typeface="Meiryo UI" panose="020B0604030504040204" pitchFamily="34" charset="-128"/>
            </a:endParaRPr>
          </a:p>
        </p:txBody>
      </p:sp>
      <p:sp>
        <p:nvSpPr>
          <p:cNvPr id="15" name="タイトル 1"/>
          <p:cNvSpPr>
            <a:spLocks noGrp="1"/>
          </p:cNvSpPr>
          <p:nvPr>
            <p:ph type="title" hasCustomPrompt="1"/>
          </p:nvPr>
        </p:nvSpPr>
        <p:spPr>
          <a:xfrm>
            <a:off x="601747" y="128799"/>
            <a:ext cx="6922598" cy="349961"/>
          </a:xfrm>
          <a:prstGeom prst="rect">
            <a:avLst/>
          </a:prstGeom>
        </p:spPr>
        <p:txBody>
          <a:bodyPr/>
          <a:lstStyle>
            <a:lvl1pPr>
              <a:lnSpc>
                <a:spcPct val="100000"/>
              </a:lnSpc>
              <a:defRPr sz="2200" b="0" i="0">
                <a:latin typeface="Meiryo UI" panose="020B0604030504040204" pitchFamily="34" charset="-128"/>
                <a:ea typeface="Meiryo UI" panose="020B0604030504040204" pitchFamily="34" charset="-128"/>
                <a:cs typeface="Meiryo UI" panose="020B0604030504040204" pitchFamily="34" charset="-128"/>
              </a:defRPr>
            </a:lvl1pPr>
          </a:lstStyle>
          <a:p>
            <a:r>
              <a:rPr kumimoji="1" lang="ja-JP" altLang="en-US"/>
              <a:t>ページタイトル </a:t>
            </a:r>
            <a:r>
              <a:rPr kumimoji="1" lang="en-US" altLang="ja-JP" dirty="0"/>
              <a:t>22pt</a:t>
            </a:r>
            <a:endParaRPr kumimoji="1" lang="ja-JP" altLang="en-US"/>
          </a:p>
        </p:txBody>
      </p:sp>
      <p:sp>
        <p:nvSpPr>
          <p:cNvPr id="17" name="テキスト プレースホルダー 9"/>
          <p:cNvSpPr>
            <a:spLocks noGrp="1"/>
          </p:cNvSpPr>
          <p:nvPr>
            <p:ph type="body" sz="quarter" idx="10" hasCustomPrompt="1"/>
          </p:nvPr>
        </p:nvSpPr>
        <p:spPr>
          <a:xfrm>
            <a:off x="601927" y="797132"/>
            <a:ext cx="6922162" cy="652463"/>
          </a:xfrm>
          <a:prstGeom prst="rect">
            <a:avLst/>
          </a:prstGeom>
        </p:spPr>
        <p:txBody>
          <a:bodyPr/>
          <a:lstStyle>
            <a:lvl1pPr marL="0" indent="0">
              <a:lnSpc>
                <a:spcPct val="120000"/>
              </a:lnSpc>
              <a:spcBef>
                <a:spcPts val="750"/>
              </a:spcBef>
              <a:buNone/>
              <a:defRPr sz="1600" b="0" i="0">
                <a:latin typeface="Meiryo UI" panose="020B0604030504040204" pitchFamily="34" charset="-128"/>
                <a:ea typeface="Meiryo UI" panose="020B0604030504040204" pitchFamily="34" charset="-128"/>
                <a:cs typeface="Meiryo UI" panose="020B0604030504040204" pitchFamily="34" charset="-128"/>
              </a:defRPr>
            </a:lvl1pPr>
          </a:lstStyle>
          <a:p>
            <a:pPr lvl="0"/>
            <a:r>
              <a:rPr kumimoji="1" lang="ja-JP" altLang="en-US"/>
              <a:t>テキスト </a:t>
            </a:r>
            <a:r>
              <a:rPr kumimoji="1" lang="en-US" altLang="ja-JP" dirty="0"/>
              <a:t>16pt</a:t>
            </a:r>
            <a:endParaRPr kumimoji="1" lang="ja-JP" altLang="en-US"/>
          </a:p>
        </p:txBody>
      </p:sp>
      <p:sp>
        <p:nvSpPr>
          <p:cNvPr id="18" name="テキスト プレースホルダー 18"/>
          <p:cNvSpPr>
            <a:spLocks noGrp="1"/>
          </p:cNvSpPr>
          <p:nvPr>
            <p:ph type="body" sz="quarter" idx="13" hasCustomPrompt="1"/>
          </p:nvPr>
        </p:nvSpPr>
        <p:spPr>
          <a:xfrm>
            <a:off x="598488" y="1525210"/>
            <a:ext cx="8874125" cy="838164"/>
          </a:xfrm>
          <a:prstGeom prst="rect">
            <a:avLst/>
          </a:prstGeom>
        </p:spPr>
        <p:txBody>
          <a:bodyPr numCol="2" spcCol="540000"/>
          <a:lstStyle>
            <a:lvl1pPr marL="0" indent="0">
              <a:lnSpc>
                <a:spcPct val="120000"/>
              </a:lnSpc>
              <a:spcBef>
                <a:spcPts val="750"/>
              </a:spcBef>
              <a:buNone/>
              <a:defRPr sz="1000" b="0" i="0">
                <a:latin typeface="Meiryo UI" panose="020B0604030504040204" pitchFamily="34" charset="-128"/>
                <a:ea typeface="Meiryo UI" panose="020B0604030504040204" pitchFamily="34" charset="-128"/>
                <a:cs typeface="Meiryo UI" panose="020B0604030504040204" pitchFamily="34" charset="-128"/>
              </a:defRPr>
            </a:lvl1pPr>
          </a:lstStyle>
          <a:p>
            <a:pPr lvl="0"/>
            <a:r>
              <a:rPr kumimoji="1" lang="ja-JP" altLang="en-US"/>
              <a:t>テキスト </a:t>
            </a:r>
            <a:r>
              <a:rPr kumimoji="1" lang="en-US" altLang="ja-JP" dirty="0"/>
              <a:t>10pt</a:t>
            </a:r>
            <a:endParaRPr kumimoji="1" lang="ja-JP" altLang="en-US"/>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A0CF93FE-1DF9-954A-AC39-0CE9B551E17A}"/>
              </a:ext>
            </a:extLst>
          </p:cNvPr>
          <p:cNvPicPr>
            <a:picLocks noChangeAspect="1"/>
          </p:cNvPicPr>
          <p:nvPr userDrawn="1"/>
        </p:nvPicPr>
        <p:blipFill>
          <a:blip r:embed="rId3" cstate="print">
            <a:alphaModFix/>
            <a:extLst>
              <a:ext uri="{28A0092B-C50C-407E-A947-70E740481C1C}">
                <a14:useLocalDpi xmlns:a14="http://schemas.microsoft.com/office/drawing/2010/main"/>
              </a:ext>
            </a:extLst>
          </a:blip>
          <a:stretch>
            <a:fillRect/>
          </a:stretch>
        </p:blipFill>
        <p:spPr>
          <a:xfrm>
            <a:off x="8299233" y="136269"/>
            <a:ext cx="1368900" cy="306327"/>
          </a:xfrm>
          <a:prstGeom prst="rect">
            <a:avLst/>
          </a:prstGeom>
        </p:spPr>
      </p:pic>
    </p:spTree>
    <p:extLst>
      <p:ext uri="{BB962C8B-B14F-4D97-AF65-F5344CB8AC3E}">
        <p14:creationId xmlns:p14="http://schemas.microsoft.com/office/powerpoint/2010/main" val="74606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セクション ヘッダー">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53200"/>
            <a:ext cx="990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nchor="ctr"/>
          <a:lstStyle>
            <a:lvl1pPr eaLnBrk="0" hangingPunct="0">
              <a:defRPr kumimoji="1" sz="2400">
                <a:solidFill>
                  <a:schemeClr val="tx1"/>
                </a:solidFill>
                <a:latin typeface="Arial" charset="0"/>
                <a:ea typeface="ＭＳ Ｐゴシック" pitchFamily="50" charset="-128"/>
              </a:defRPr>
            </a:lvl1pPr>
            <a:lvl2pPr marL="742950" indent="-285750" eaLnBrk="0" hangingPunct="0">
              <a:defRPr kumimoji="1" sz="2400">
                <a:solidFill>
                  <a:schemeClr val="tx1"/>
                </a:solidFill>
                <a:latin typeface="Arial" charset="0"/>
                <a:ea typeface="ＭＳ Ｐゴシック" pitchFamily="50" charset="-128"/>
              </a:defRPr>
            </a:lvl2pPr>
            <a:lvl3pPr marL="1143000" indent="-228600" eaLnBrk="0" hangingPunct="0">
              <a:defRPr kumimoji="1" sz="2400">
                <a:solidFill>
                  <a:schemeClr val="tx1"/>
                </a:solidFill>
                <a:latin typeface="Arial" charset="0"/>
                <a:ea typeface="ＭＳ Ｐゴシック" pitchFamily="50" charset="-128"/>
              </a:defRPr>
            </a:lvl3pPr>
            <a:lvl4pPr marL="1600200" indent="-228600" eaLnBrk="0" hangingPunct="0">
              <a:defRPr kumimoji="1" sz="2400">
                <a:solidFill>
                  <a:schemeClr val="tx1"/>
                </a:solidFill>
                <a:latin typeface="Arial" charset="0"/>
                <a:ea typeface="ＭＳ Ｐゴシック" pitchFamily="50" charset="-128"/>
              </a:defRPr>
            </a:lvl4pPr>
            <a:lvl5pPr marL="2057400" indent="-228600" eaLnBrk="0" hangingPunct="0">
              <a:defRPr kumimoji="1" sz="24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pitchFamily="50" charset="-128"/>
              </a:defRPr>
            </a:lvl9pPr>
          </a:lstStyle>
          <a:p>
            <a:pPr algn="ctr" eaLnBrk="1" hangingPunct="1">
              <a:defRPr/>
            </a:pPr>
            <a:endParaRPr lang="ja-JP" altLang="en-US" b="0" i="0" dirty="0">
              <a:latin typeface="Meiryo UI" panose="020B0604030504040204" pitchFamily="34" charset="-128"/>
            </a:endParaRPr>
          </a:p>
        </p:txBody>
      </p:sp>
      <p:sp>
        <p:nvSpPr>
          <p:cNvPr id="6" name="Text Box 6"/>
          <p:cNvSpPr txBox="1">
            <a:spLocks noChangeArrowheads="1"/>
          </p:cNvSpPr>
          <p:nvPr/>
        </p:nvSpPr>
        <p:spPr bwMode="gray">
          <a:xfrm>
            <a:off x="9297988" y="6553200"/>
            <a:ext cx="557212"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3" tIns="45712" rIns="91423" bIns="45712" anchor="ct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r"/>
            <a:fld id="{A62902B0-10F3-41BF-8A93-01666FD22BD7}" type="slidenum">
              <a:rPr kumimoji="0" lang="en-US" altLang="ja-JP" sz="1000" b="0" i="0">
                <a:solidFill>
                  <a:schemeClr val="bg1"/>
                </a:solidFill>
                <a:latin typeface="Meiryo UI" panose="020B0604030504040204" pitchFamily="34" charset="-128"/>
              </a:rPr>
              <a:pPr algn="r"/>
              <a:t>‹#›</a:t>
            </a:fld>
            <a:endParaRPr kumimoji="0" lang="en-US" altLang="ja-JP" sz="1400" b="0" i="0" dirty="0">
              <a:solidFill>
                <a:schemeClr val="bg1"/>
              </a:solidFill>
              <a:latin typeface="Meiryo UI" panose="020B0604030504040204" pitchFamily="34" charset="-128"/>
            </a:endParaRPr>
          </a:p>
        </p:txBody>
      </p:sp>
      <p:pic>
        <p:nvPicPr>
          <p:cNvPr id="8" name="Picture 24"/>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765175"/>
            <a:ext cx="7954963" cy="7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7"/>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gray">
          <a:xfrm>
            <a:off x="8382000" y="0"/>
            <a:ext cx="121920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7" name="Rectangle 8"/>
          <p:cNvSpPr>
            <a:spLocks noGrp="1" noChangeArrowheads="1"/>
          </p:cNvSpPr>
          <p:nvPr>
            <p:ph type="title"/>
          </p:nvPr>
        </p:nvSpPr>
        <p:spPr bwMode="auto">
          <a:xfrm>
            <a:off x="228600" y="0"/>
            <a:ext cx="7620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a:latin typeface="Meiryo UI" panose="020B0604030504040204" pitchFamily="50" charset="-128"/>
                <a:ea typeface="Meiryo UI" panose="020B0604030504040204" pitchFamily="50" charset="-128"/>
              </a:defRPr>
            </a:lvl1pPr>
          </a:lstStyle>
          <a:p>
            <a:pPr lvl="0"/>
            <a:r>
              <a:rPr lang="ja-JP" altLang="en-US" dirty="0"/>
              <a:t>マスタ</a:t>
            </a:r>
            <a:r>
              <a:rPr lang="en-US" altLang="ja-JP" dirty="0"/>
              <a:t> </a:t>
            </a:r>
            <a:r>
              <a:rPr lang="ja-JP" altLang="en-US" dirty="0"/>
              <a:t>タイトルの書式設定</a:t>
            </a:r>
          </a:p>
        </p:txBody>
      </p:sp>
    </p:spTree>
    <p:extLst>
      <p:ext uri="{BB962C8B-B14F-4D97-AF65-F5344CB8AC3E}">
        <p14:creationId xmlns:p14="http://schemas.microsoft.com/office/powerpoint/2010/main" val="675117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5033219"/>
      </p:ext>
    </p:extLst>
  </p:cSld>
  <p:clrMap bg1="lt1" tx1="dk1" bg2="lt2" tx2="dk2" accent1="accent1" accent2="accent2" accent3="accent3" accent4="accent4" accent5="accent5" accent6="accent6" hlink="hlink" folHlink="folHlink"/>
  <p:sldLayoutIdLst>
    <p:sldLayoutId id="2147484321" r:id="rId1"/>
    <p:sldLayoutId id="2147484323" r:id="rId2"/>
    <p:sldLayoutId id="2147484331" r:id="rId3"/>
    <p:sldLayoutId id="2147484332" r:id="rId4"/>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Excel_______.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en-US" altLang="ja-JP" dirty="0">
                <a:latin typeface="Meiryo UI" panose="020B0604030504040204" pitchFamily="50" charset="-128"/>
                <a:ea typeface="Meiryo UI" panose="020B0604030504040204" pitchFamily="50" charset="-128"/>
              </a:rPr>
              <a:t>2021</a:t>
            </a:r>
            <a:r>
              <a:rPr kumimoji="0" lang="ja-JP" altLang="en-US" dirty="0">
                <a:latin typeface="Meiryo UI" panose="020B0604030504040204" pitchFamily="50" charset="-128"/>
                <a:ea typeface="Meiryo UI" panose="020B0604030504040204" pitchFamily="50" charset="-128"/>
              </a:rPr>
              <a:t>年</a:t>
            </a:r>
            <a:r>
              <a:rPr kumimoji="0" lang="en-US" altLang="ja-JP" dirty="0">
                <a:latin typeface="Meiryo UI" panose="020B0604030504040204" pitchFamily="50" charset="-128"/>
                <a:ea typeface="Meiryo UI" panose="020B0604030504040204" pitchFamily="50" charset="-128"/>
              </a:rPr>
              <a:t>7</a:t>
            </a:r>
            <a:r>
              <a:rPr kumimoji="0" lang="ja-JP" altLang="en-US" dirty="0">
                <a:latin typeface="Meiryo UI" panose="020B0604030504040204" pitchFamily="50" charset="-128"/>
                <a:ea typeface="Meiryo UI" panose="020B0604030504040204" pitchFamily="50" charset="-128"/>
              </a:rPr>
              <a:t>月</a:t>
            </a:r>
            <a:r>
              <a:rPr kumimoji="0" lang="en-US" altLang="ja-JP" dirty="0">
                <a:latin typeface="Meiryo UI" panose="020B0604030504040204" pitchFamily="50" charset="-128"/>
                <a:ea typeface="Meiryo UI" panose="020B0604030504040204" pitchFamily="50" charset="-128"/>
              </a:rPr>
              <a:t>12</a:t>
            </a:r>
            <a:r>
              <a:rPr kumimoji="0" lang="ja-JP" altLang="en-US" dirty="0">
                <a:latin typeface="Meiryo UI" panose="020B0604030504040204" pitchFamily="50" charset="-128"/>
                <a:ea typeface="Meiryo UI" panose="020B0604030504040204" pitchFamily="50" charset="-128"/>
              </a:rPr>
              <a:t>日</a:t>
            </a:r>
            <a:endParaRPr kumimoji="0" lang="en-US" altLang="ja-JP" dirty="0">
              <a:latin typeface="Meiryo UI" panose="020B0604030504040204" pitchFamily="50" charset="-128"/>
              <a:ea typeface="Meiryo UI" panose="020B0604030504040204" pitchFamily="50" charset="-128"/>
            </a:endParaRPr>
          </a:p>
        </p:txBody>
      </p:sp>
      <p:sp>
        <p:nvSpPr>
          <p:cNvPr id="2048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b" anchorCtr="0" compatLnSpc="1">
            <a:prstTxWarp prst="textNoShape">
              <a:avLst/>
            </a:prstTxWarp>
          </a:bodyPr>
          <a:lstStyle/>
          <a:p>
            <a:r>
              <a:rPr kumimoji="0" lang="ja-JP" altLang="en-US" b="1">
                <a:latin typeface="Meiryo UI" panose="020B0604030504040204" pitchFamily="50" charset="-128"/>
                <a:ea typeface="Meiryo UI" panose="020B0604030504040204" pitchFamily="50" charset="-128"/>
              </a:rPr>
              <a:t>データマネジメント実施スコープおよび実装ロードマップ</a:t>
            </a:r>
            <a:br>
              <a:rPr kumimoji="0" lang="en-US" altLang="ja-JP" b="1" dirty="0">
                <a:latin typeface="Meiryo UI" panose="020B0604030504040204" pitchFamily="50" charset="-128"/>
                <a:ea typeface="Meiryo UI" panose="020B0604030504040204" pitchFamily="50" charset="-128"/>
              </a:rPr>
            </a:br>
            <a:r>
              <a:rPr kumimoji="0" lang="ja-JP" altLang="en-US" b="1">
                <a:latin typeface="Meiryo UI" panose="020B0604030504040204" pitchFamily="50" charset="-128"/>
                <a:ea typeface="Meiryo UI" panose="020B0604030504040204" pitchFamily="50" charset="-128"/>
              </a:rPr>
              <a:t>（業務</a:t>
            </a:r>
            <a:r>
              <a:rPr kumimoji="0" lang="en-US" altLang="ja-JP" b="1" dirty="0">
                <a:latin typeface="Meiryo UI" panose="020B0604030504040204" pitchFamily="50" charset="-128"/>
                <a:ea typeface="Meiryo UI" panose="020B0604030504040204" pitchFamily="50" charset="-128"/>
              </a:rPr>
              <a:t>WG</a:t>
            </a:r>
            <a:r>
              <a:rPr kumimoji="0" lang="ja-JP" altLang="en-US" b="1">
                <a:latin typeface="Meiryo UI" panose="020B0604030504040204" pitchFamily="50" charset="-128"/>
                <a:ea typeface="Meiryo UI" panose="020B0604030504040204" pitchFamily="50" charset="-128"/>
              </a:rPr>
              <a:t>向けご説明資料）</a:t>
            </a:r>
            <a:endParaRPr kumimoji="0" lang="en-US" altLang="ja-JP" b="1" dirty="0">
              <a:latin typeface="Meiryo UI" panose="020B0604030504040204" pitchFamily="50" charset="-128"/>
              <a:ea typeface="Meiryo UI" panose="020B0604030504040204" pitchFamily="50" charset="-128"/>
            </a:endParaRPr>
          </a:p>
        </p:txBody>
      </p:sp>
      <p:sp>
        <p:nvSpPr>
          <p:cNvPr id="2" name="テキスト プレースホルダー 1">
            <a:extLst>
              <a:ext uri="{FF2B5EF4-FFF2-40B4-BE49-F238E27FC236}">
                <a16:creationId xmlns:a16="http://schemas.microsoft.com/office/drawing/2014/main" id="{74195B6D-FB4D-4E0C-B0E2-A452FA17EFC3}"/>
              </a:ext>
            </a:extLst>
          </p:cNvPr>
          <p:cNvSpPr>
            <a:spLocks noGrp="1"/>
          </p:cNvSpPr>
          <p:nvPr>
            <p:ph type="body" sz="quarter" idx="14"/>
          </p:nvPr>
        </p:nvSpPr>
        <p:spPr/>
        <p:txBody>
          <a:bodyPr/>
          <a:lstStyle/>
          <a:p>
            <a:r>
              <a:rPr lang="ja-JP" altLang="en-US" dirty="0"/>
              <a:t>データマネジメントサブチーム</a:t>
            </a:r>
            <a:endParaRPr kumimoji="1" lang="en-US" dirty="0"/>
          </a:p>
        </p:txBody>
      </p:sp>
    </p:spTree>
    <p:extLst>
      <p:ext uri="{BB962C8B-B14F-4D97-AF65-F5344CB8AC3E}">
        <p14:creationId xmlns:p14="http://schemas.microsoft.com/office/powerpoint/2010/main" val="2593744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0CB35-3A92-4705-9632-3AF80E0A2B2A}"/>
              </a:ext>
            </a:extLst>
          </p:cNvPr>
          <p:cNvSpPr>
            <a:spLocks noGrp="1"/>
          </p:cNvSpPr>
          <p:nvPr>
            <p:ph type="title"/>
          </p:nvPr>
        </p:nvSpPr>
        <p:spPr>
          <a:xfrm>
            <a:off x="236538" y="128799"/>
            <a:ext cx="7287807" cy="349961"/>
          </a:xfrm>
        </p:spPr>
        <p:txBody>
          <a:bodyPr/>
          <a:lstStyle/>
          <a:p>
            <a:r>
              <a:rPr lang="ja-JP" altLang="en-US" b="1"/>
              <a:t>目次</a:t>
            </a:r>
            <a:endParaRPr lang="en-US" b="1" dirty="0"/>
          </a:p>
        </p:txBody>
      </p:sp>
      <p:sp>
        <p:nvSpPr>
          <p:cNvPr id="4" name="テキスト プレースホルダー 3">
            <a:extLst>
              <a:ext uri="{FF2B5EF4-FFF2-40B4-BE49-F238E27FC236}">
                <a16:creationId xmlns:a16="http://schemas.microsoft.com/office/drawing/2014/main" id="{292F6EA3-D5AA-4B41-AF42-8F5F7C3AF3AB}"/>
              </a:ext>
            </a:extLst>
          </p:cNvPr>
          <p:cNvSpPr>
            <a:spLocks noGrp="1"/>
          </p:cNvSpPr>
          <p:nvPr>
            <p:ph type="body" sz="quarter" idx="10"/>
          </p:nvPr>
        </p:nvSpPr>
        <p:spPr>
          <a:xfrm>
            <a:off x="236741" y="797132"/>
            <a:ext cx="7287348" cy="652463"/>
          </a:xfrm>
        </p:spPr>
        <p:txBody>
          <a:bodyPr/>
          <a:lstStyle/>
          <a:p>
            <a:pPr marL="342900" indent="-342900">
              <a:lnSpc>
                <a:spcPct val="200000"/>
              </a:lnSpc>
              <a:buFont typeface="+mj-lt"/>
              <a:buAutoNum type="arabicPeriod"/>
            </a:pPr>
            <a:r>
              <a:rPr lang="en-US" altLang="ja-JP" sz="2000" dirty="0">
                <a:solidFill>
                  <a:srgbClr val="4B4B4B"/>
                </a:solidFill>
              </a:rPr>
              <a:t>××××</a:t>
            </a:r>
          </a:p>
          <a:p>
            <a:pPr marL="342900" indent="-342900">
              <a:lnSpc>
                <a:spcPct val="200000"/>
              </a:lnSpc>
              <a:buFont typeface="+mj-lt"/>
              <a:buAutoNum type="arabicPeriod"/>
            </a:pPr>
            <a:r>
              <a:rPr lang="en-US" altLang="ja-JP" sz="2000" dirty="0">
                <a:solidFill>
                  <a:srgbClr val="4B4B4B"/>
                </a:solidFill>
              </a:rPr>
              <a:t>××××</a:t>
            </a:r>
          </a:p>
          <a:p>
            <a:pPr marL="342900" indent="-342900">
              <a:lnSpc>
                <a:spcPct val="200000"/>
              </a:lnSpc>
              <a:buFont typeface="+mj-lt"/>
              <a:buAutoNum type="arabicPeriod"/>
            </a:pPr>
            <a:r>
              <a:rPr lang="en-US" altLang="ja-JP" sz="2000" dirty="0">
                <a:solidFill>
                  <a:srgbClr val="4B4B4B"/>
                </a:solidFill>
              </a:rPr>
              <a:t>××××</a:t>
            </a:r>
          </a:p>
          <a:p>
            <a:pPr marL="342900" indent="-342900">
              <a:lnSpc>
                <a:spcPct val="200000"/>
              </a:lnSpc>
              <a:buFont typeface="+mj-lt"/>
              <a:buAutoNum type="arabicPeriod"/>
            </a:pPr>
            <a:r>
              <a:rPr lang="en-US" altLang="ja-JP" sz="2000" dirty="0">
                <a:solidFill>
                  <a:srgbClr val="4B4B4B"/>
                </a:solidFill>
              </a:rPr>
              <a:t>Appendix</a:t>
            </a:r>
          </a:p>
        </p:txBody>
      </p:sp>
    </p:spTree>
    <p:extLst>
      <p:ext uri="{BB962C8B-B14F-4D97-AF65-F5344CB8AC3E}">
        <p14:creationId xmlns:p14="http://schemas.microsoft.com/office/powerpoint/2010/main" val="1955670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8476537" cy="349961"/>
          </a:xfrm>
        </p:spPr>
        <p:txBody>
          <a:bodyPr/>
          <a:lstStyle/>
          <a:p>
            <a:r>
              <a:rPr kumimoji="1" lang="ja-JP" altLang="en-US" b="1"/>
              <a:t>データドリブン経営におけるデータマネジメント強化</a:t>
            </a:r>
            <a:r>
              <a:rPr kumimoji="1" lang="ja-JP" altLang="en-US" b="1" dirty="0"/>
              <a:t>の必要性</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7" y="574775"/>
            <a:ext cx="9432925"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データ経営や</a:t>
            </a:r>
            <a:r>
              <a:rPr lang="en-US" altLang="ja-JP" b="1" dirty="0">
                <a:latin typeface="Meiryo UI" panose="020B0604030504040204" pitchFamily="34" charset="-128"/>
                <a:ea typeface="Meiryo UI" panose="020B0604030504040204" pitchFamily="34" charset="-128"/>
                <a:cs typeface="+mn-cs"/>
              </a:rPr>
              <a:t>DX</a:t>
            </a:r>
            <a:r>
              <a:rPr lang="ja-JP" altLang="en-US" b="1" dirty="0">
                <a:latin typeface="Meiryo UI" panose="020B0604030504040204" pitchFamily="34" charset="-128"/>
                <a:ea typeface="Meiryo UI" panose="020B0604030504040204" pitchFamily="34" charset="-128"/>
                <a:cs typeface="+mn-cs"/>
              </a:rPr>
              <a:t>の推進に伴い、多くの企業ではデータ活用を競争力の源泉ととらえその基盤整備を進めている。</a:t>
            </a:r>
            <a:endParaRPr lang="en-US" altLang="ja-JP" b="1" dirty="0">
              <a:latin typeface="Meiryo UI" panose="020B0604030504040204" pitchFamily="34" charset="-128"/>
              <a:ea typeface="Meiryo UI" panose="020B0604030504040204" pitchFamily="34" charset="-128"/>
              <a:cs typeface="+mn-cs"/>
            </a:endParaRPr>
          </a:p>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ビジネスの環境変化への追従性を継続的に高めるためには、その土台となるデータ管理の強化が急務である。</a:t>
            </a:r>
            <a:endParaRPr lang="en-US" b="1" dirty="0">
              <a:latin typeface="Meiryo UI" panose="020B0604030504040204" pitchFamily="34" charset="-128"/>
              <a:ea typeface="Meiryo UI" panose="020B0604030504040204" pitchFamily="34" charset="-128"/>
              <a:cs typeface="+mn-cs"/>
            </a:endParaRPr>
          </a:p>
        </p:txBody>
      </p:sp>
      <p:sp>
        <p:nvSpPr>
          <p:cNvPr id="5" name="矢印: 右 4">
            <a:extLst>
              <a:ext uri="{FF2B5EF4-FFF2-40B4-BE49-F238E27FC236}">
                <a16:creationId xmlns:a16="http://schemas.microsoft.com/office/drawing/2014/main" id="{93E12384-29B0-41D3-BBBE-0B32A966E817}"/>
              </a:ext>
            </a:extLst>
          </p:cNvPr>
          <p:cNvSpPr/>
          <p:nvPr/>
        </p:nvSpPr>
        <p:spPr>
          <a:xfrm>
            <a:off x="671804" y="1382074"/>
            <a:ext cx="2787197" cy="254918"/>
          </a:xfrm>
          <a:prstGeom prst="rightArrow">
            <a:avLst>
              <a:gd name="adj1" fmla="val 100000"/>
              <a:gd name="adj2" fmla="val 50000"/>
            </a:avLst>
          </a:prstGeom>
          <a:solidFill>
            <a:schemeClr val="bg2">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eaLnBrk="1" fontAlgn="auto" hangingPunct="1">
              <a:spcBef>
                <a:spcPts val="0"/>
              </a:spcBef>
              <a:spcAft>
                <a:spcPts val="0"/>
              </a:spcAft>
            </a:pPr>
            <a:r>
              <a:rPr lang="ja-JP" altLang="en-US" sz="1100" dirty="0">
                <a:solidFill>
                  <a:schemeClr val="tx1"/>
                </a:solidFill>
                <a:latin typeface="Meiryo UI" panose="020B0604030504040204" pitchFamily="34" charset="-128"/>
                <a:ea typeface="Meiryo UI" panose="020B0604030504040204" pitchFamily="34" charset="-128"/>
              </a:rPr>
              <a:t>デジタイゼーション</a:t>
            </a:r>
            <a:endParaRPr lang="en-US" sz="1100" dirty="0">
              <a:solidFill>
                <a:schemeClr val="tx1"/>
              </a:solidFill>
              <a:latin typeface="Meiryo UI" panose="020B0604030504040204" pitchFamily="34" charset="-128"/>
              <a:ea typeface="Meiryo UI" panose="020B0604030504040204" pitchFamily="34" charset="-128"/>
            </a:endParaRPr>
          </a:p>
        </p:txBody>
      </p:sp>
      <p:sp>
        <p:nvSpPr>
          <p:cNvPr id="6" name="矢印: 右 5">
            <a:extLst>
              <a:ext uri="{FF2B5EF4-FFF2-40B4-BE49-F238E27FC236}">
                <a16:creationId xmlns:a16="http://schemas.microsoft.com/office/drawing/2014/main" id="{55B0C75F-49D2-4326-BEA1-DE28B56DC871}"/>
              </a:ext>
            </a:extLst>
          </p:cNvPr>
          <p:cNvSpPr/>
          <p:nvPr/>
        </p:nvSpPr>
        <p:spPr>
          <a:xfrm>
            <a:off x="3601616" y="1382074"/>
            <a:ext cx="2787197" cy="254918"/>
          </a:xfrm>
          <a:prstGeom prst="rightArrow">
            <a:avLst>
              <a:gd name="adj1" fmla="val 100000"/>
              <a:gd name="adj2" fmla="val 50000"/>
            </a:avLst>
          </a:prstGeom>
          <a:solidFill>
            <a:schemeClr val="tx2">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eaLnBrk="1" fontAlgn="auto" hangingPunct="1">
              <a:spcBef>
                <a:spcPts val="0"/>
              </a:spcBef>
              <a:spcAft>
                <a:spcPts val="0"/>
              </a:spcAft>
            </a:pPr>
            <a:r>
              <a:rPr lang="ja-JP" altLang="en-US" sz="1100" dirty="0">
                <a:solidFill>
                  <a:schemeClr val="tx1"/>
                </a:solidFill>
                <a:latin typeface="Meiryo UI" panose="020B0604030504040204" pitchFamily="34" charset="-128"/>
                <a:ea typeface="Meiryo UI" panose="020B0604030504040204" pitchFamily="34" charset="-128"/>
              </a:rPr>
              <a:t>デジタライゼーション</a:t>
            </a:r>
            <a:endParaRPr lang="en-US" sz="1100" dirty="0">
              <a:solidFill>
                <a:schemeClr val="tx1"/>
              </a:solidFill>
              <a:latin typeface="Meiryo UI" panose="020B0604030504040204" pitchFamily="34" charset="-128"/>
              <a:ea typeface="Meiryo UI" panose="020B0604030504040204" pitchFamily="34" charset="-128"/>
            </a:endParaRPr>
          </a:p>
        </p:txBody>
      </p:sp>
      <p:sp>
        <p:nvSpPr>
          <p:cNvPr id="7" name="矢印: 右 6">
            <a:extLst>
              <a:ext uri="{FF2B5EF4-FFF2-40B4-BE49-F238E27FC236}">
                <a16:creationId xmlns:a16="http://schemas.microsoft.com/office/drawing/2014/main" id="{25076730-F2CA-4BBA-B232-C1C60217C9AE}"/>
              </a:ext>
            </a:extLst>
          </p:cNvPr>
          <p:cNvSpPr/>
          <p:nvPr/>
        </p:nvSpPr>
        <p:spPr>
          <a:xfrm>
            <a:off x="6531428" y="1382074"/>
            <a:ext cx="2787197" cy="254918"/>
          </a:xfrm>
          <a:prstGeom prst="rightArrow">
            <a:avLst>
              <a:gd name="adj1" fmla="val 100000"/>
              <a:gd name="adj2" fmla="val 50000"/>
            </a:avLst>
          </a:prstGeom>
          <a:solidFill>
            <a:schemeClr val="accent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eaLnBrk="1" fontAlgn="auto" hangingPunct="1">
              <a:spcBef>
                <a:spcPts val="0"/>
              </a:spcBef>
              <a:spcAft>
                <a:spcPts val="0"/>
              </a:spcAft>
            </a:pPr>
            <a:r>
              <a:rPr lang="ja-JP" altLang="en-US" sz="1100" dirty="0">
                <a:solidFill>
                  <a:schemeClr val="bg1"/>
                </a:solidFill>
                <a:latin typeface="Meiryo UI" panose="020B0604030504040204" pitchFamily="34" charset="-128"/>
                <a:ea typeface="Meiryo UI" panose="020B0604030504040204" pitchFamily="34" charset="-128"/>
              </a:rPr>
              <a:t>デジタルトランスフォーメーション</a:t>
            </a:r>
            <a:endParaRPr lang="en-US" sz="1100" dirty="0">
              <a:solidFill>
                <a:schemeClr val="bg1"/>
              </a:solidFill>
              <a:latin typeface="Meiryo UI" panose="020B0604030504040204" pitchFamily="34" charset="-128"/>
              <a:ea typeface="Meiryo UI" panose="020B0604030504040204" pitchFamily="34" charset="-128"/>
            </a:endParaRPr>
          </a:p>
        </p:txBody>
      </p:sp>
      <p:sp>
        <p:nvSpPr>
          <p:cNvPr id="8" name="正方形/長方形 7">
            <a:extLst>
              <a:ext uri="{FF2B5EF4-FFF2-40B4-BE49-F238E27FC236}">
                <a16:creationId xmlns:a16="http://schemas.microsoft.com/office/drawing/2014/main" id="{ECC474FB-6A8A-44E9-BDA2-CCEE5162FE45}"/>
              </a:ext>
            </a:extLst>
          </p:cNvPr>
          <p:cNvSpPr/>
          <p:nvPr/>
        </p:nvSpPr>
        <p:spPr>
          <a:xfrm>
            <a:off x="671804" y="1891898"/>
            <a:ext cx="2787197" cy="77073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ツールのデジタル化</a:t>
            </a:r>
            <a:endParaRPr lang="en-US" altLang="ja-JP" sz="1050" dirty="0">
              <a:solidFill>
                <a:schemeClr val="tx1"/>
              </a:solidFill>
              <a:latin typeface="Meiryo UI" panose="020B0604030504040204" pitchFamily="34" charset="-128"/>
              <a:ea typeface="Meiryo UI" panose="020B0604030504040204" pitchFamily="34" charset="-128"/>
            </a:endParaRPr>
          </a:p>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アナログ業務の電子化・電算化</a:t>
            </a:r>
            <a:endParaRPr lang="en-US" altLang="ja-JP" sz="1050" dirty="0">
              <a:solidFill>
                <a:schemeClr val="tx1"/>
              </a:solidFill>
              <a:latin typeface="Meiryo UI" panose="020B0604030504040204" pitchFamily="34" charset="-128"/>
              <a:ea typeface="Meiryo UI" panose="020B0604030504040204" pitchFamily="34" charset="-128"/>
            </a:endParaRPr>
          </a:p>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個々のプロセス・システム単位で</a:t>
            </a:r>
            <a:br>
              <a:rPr lang="en-US" altLang="ja-JP" sz="1050" dirty="0">
                <a:solidFill>
                  <a:schemeClr val="tx1"/>
                </a:solidFill>
                <a:latin typeface="Meiryo UI" panose="020B0604030504040204" pitchFamily="34" charset="-128"/>
                <a:ea typeface="Meiryo UI" panose="020B0604030504040204" pitchFamily="34" charset="-128"/>
              </a:rPr>
            </a:br>
            <a:r>
              <a:rPr lang="ja-JP" altLang="en-US" sz="1050" dirty="0">
                <a:solidFill>
                  <a:schemeClr val="tx1"/>
                </a:solidFill>
                <a:latin typeface="Meiryo UI" panose="020B0604030504040204" pitchFamily="34" charset="-128"/>
                <a:ea typeface="Meiryo UI" panose="020B0604030504040204" pitchFamily="34" charset="-128"/>
              </a:rPr>
              <a:t>データを蓄積・活用</a:t>
            </a:r>
            <a:endParaRPr lang="en-US" sz="1050" dirty="0">
              <a:solidFill>
                <a:schemeClr val="tx1"/>
              </a:solidFill>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CDFF7974-0085-40EB-BEB9-92D2C986A1D6}"/>
              </a:ext>
            </a:extLst>
          </p:cNvPr>
          <p:cNvSpPr/>
          <p:nvPr/>
        </p:nvSpPr>
        <p:spPr>
          <a:xfrm>
            <a:off x="3601616" y="1891898"/>
            <a:ext cx="2787197" cy="77073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企業全体の業務プロセスを最適化</a:t>
            </a:r>
            <a:endParaRPr lang="en-US" altLang="ja-JP" sz="1050" dirty="0">
              <a:solidFill>
                <a:schemeClr val="tx1"/>
              </a:solidFill>
              <a:latin typeface="Meiryo UI" panose="020B0604030504040204" pitchFamily="34" charset="-128"/>
              <a:ea typeface="Meiryo UI" panose="020B0604030504040204" pitchFamily="34" charset="-128"/>
            </a:endParaRPr>
          </a:p>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全社共通の標準システムと、標準化</a:t>
            </a:r>
            <a:br>
              <a:rPr lang="en-US" altLang="ja-JP" sz="1050" dirty="0">
                <a:solidFill>
                  <a:schemeClr val="tx1"/>
                </a:solidFill>
                <a:latin typeface="Meiryo UI" panose="020B0604030504040204" pitchFamily="34" charset="-128"/>
                <a:ea typeface="Meiryo UI" panose="020B0604030504040204" pitchFamily="34" charset="-128"/>
              </a:rPr>
            </a:br>
            <a:r>
              <a:rPr lang="ja-JP" altLang="en-US" sz="1050" dirty="0">
                <a:solidFill>
                  <a:schemeClr val="tx1"/>
                </a:solidFill>
                <a:latin typeface="Meiryo UI" panose="020B0604030504040204" pitchFamily="34" charset="-128"/>
                <a:ea typeface="Meiryo UI" panose="020B0604030504040204" pitchFamily="34" charset="-128"/>
              </a:rPr>
              <a:t>データ</a:t>
            </a:r>
            <a:r>
              <a:rPr lang="en-US" altLang="ja-JP" sz="1050" dirty="0">
                <a:solidFill>
                  <a:schemeClr val="tx1"/>
                </a:solidFill>
                <a:latin typeface="Meiryo UI" panose="020B0604030504040204" pitchFamily="34" charset="-128"/>
                <a:ea typeface="Meiryo UI" panose="020B0604030504040204" pitchFamily="34" charset="-128"/>
              </a:rPr>
              <a:t>I/F</a:t>
            </a:r>
            <a:r>
              <a:rPr lang="ja-JP" altLang="en-US" sz="1050" dirty="0">
                <a:solidFill>
                  <a:schemeClr val="tx1"/>
                </a:solidFill>
                <a:latin typeface="Meiryo UI" panose="020B0604030504040204" pitchFamily="34" charset="-128"/>
                <a:ea typeface="Meiryo UI" panose="020B0604030504040204" pitchFamily="34" charset="-128"/>
              </a:rPr>
              <a:t>に基づく周辺システム</a:t>
            </a:r>
            <a:endParaRPr lang="en-US" altLang="ja-JP" sz="1050" dirty="0">
              <a:solidFill>
                <a:schemeClr val="tx1"/>
              </a:solidFill>
              <a:latin typeface="Meiryo UI" panose="020B0604030504040204" pitchFamily="34" charset="-128"/>
              <a:ea typeface="Meiryo UI" panose="020B0604030504040204" pitchFamily="34" charset="-128"/>
            </a:endParaRPr>
          </a:p>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全社横断的なデータ活用</a:t>
            </a:r>
            <a:endParaRPr lang="en-US" sz="1050" dirty="0">
              <a:solidFill>
                <a:schemeClr val="tx1"/>
              </a:solidFill>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B4F6809F-AF0F-4D2D-9EB8-37F14A324A0C}"/>
              </a:ext>
            </a:extLst>
          </p:cNvPr>
          <p:cNvSpPr/>
          <p:nvPr/>
        </p:nvSpPr>
        <p:spPr>
          <a:xfrm>
            <a:off x="6531428" y="1891898"/>
            <a:ext cx="2787197" cy="77073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データドリブンな業務プロセス構築</a:t>
            </a:r>
            <a:endParaRPr lang="en-US" altLang="ja-JP" sz="1050" dirty="0">
              <a:solidFill>
                <a:schemeClr val="tx1"/>
              </a:solidFill>
              <a:latin typeface="Meiryo UI" panose="020B0604030504040204" pitchFamily="34" charset="-128"/>
              <a:ea typeface="Meiryo UI" panose="020B0604030504040204" pitchFamily="34" charset="-128"/>
            </a:endParaRPr>
          </a:p>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データを活用した製品・サービス事業</a:t>
            </a:r>
            <a:br>
              <a:rPr lang="en-US" altLang="ja-JP" sz="1050" dirty="0">
                <a:solidFill>
                  <a:schemeClr val="tx1"/>
                </a:solidFill>
                <a:latin typeface="Meiryo UI" panose="020B0604030504040204" pitchFamily="34" charset="-128"/>
                <a:ea typeface="Meiryo UI" panose="020B0604030504040204" pitchFamily="34" charset="-128"/>
              </a:rPr>
            </a:br>
            <a:r>
              <a:rPr lang="ja-JP" altLang="en-US" sz="1050" dirty="0">
                <a:solidFill>
                  <a:schemeClr val="tx1"/>
                </a:solidFill>
                <a:latin typeface="Meiryo UI" panose="020B0604030504040204" pitchFamily="34" charset="-128"/>
                <a:ea typeface="Meiryo UI" panose="020B0604030504040204" pitchFamily="34" charset="-128"/>
              </a:rPr>
              <a:t>への移行</a:t>
            </a:r>
            <a:endParaRPr lang="en-US" altLang="ja-JP" sz="1050" dirty="0">
              <a:solidFill>
                <a:schemeClr val="tx1"/>
              </a:solidFill>
              <a:latin typeface="Meiryo UI" panose="020B0604030504040204" pitchFamily="34" charset="-128"/>
              <a:ea typeface="Meiryo UI" panose="020B0604030504040204" pitchFamily="34" charset="-128"/>
            </a:endParaRPr>
          </a:p>
          <a:p>
            <a:pPr marL="171450" indent="-171450" defTabSz="913190" eaLnBrk="1" fontAlgn="auto" hangingPunct="1">
              <a:spcBef>
                <a:spcPts val="0"/>
              </a:spcBef>
              <a:spcAft>
                <a:spcPts val="0"/>
              </a:spcAft>
              <a:buFont typeface="Arial" panose="020B0604020202020204" pitchFamily="34" charset="0"/>
              <a:buChar char="•"/>
            </a:pPr>
            <a:r>
              <a:rPr lang="ja-JP" altLang="en-US" sz="1050" dirty="0">
                <a:solidFill>
                  <a:schemeClr val="tx1"/>
                </a:solidFill>
                <a:latin typeface="Meiryo UI" panose="020B0604030504040204" pitchFamily="34" charset="-128"/>
                <a:ea typeface="Meiryo UI" panose="020B0604030504040204" pitchFamily="34" charset="-128"/>
              </a:rPr>
              <a:t>モノの販売からサービスの提供へ</a:t>
            </a:r>
            <a:endParaRPr lang="en-US" sz="1050" dirty="0">
              <a:solidFill>
                <a:schemeClr val="tx1"/>
              </a:solidFill>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BF4F7935-29AF-467D-9340-80D2EF8AA9B8}"/>
              </a:ext>
            </a:extLst>
          </p:cNvPr>
          <p:cNvSpPr/>
          <p:nvPr/>
        </p:nvSpPr>
        <p:spPr>
          <a:xfrm>
            <a:off x="671804" y="1614428"/>
            <a:ext cx="2787197" cy="35212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defTabSz="913190" eaLnBrk="1" fontAlgn="auto" hangingPunct="1">
              <a:spcBef>
                <a:spcPts val="0"/>
              </a:spcBef>
              <a:spcAft>
                <a:spcPts val="0"/>
              </a:spcAft>
            </a:pPr>
            <a:r>
              <a:rPr lang="ja-JP" altLang="en-US" sz="1200" dirty="0">
                <a:solidFill>
                  <a:schemeClr val="tx1"/>
                </a:solidFill>
                <a:latin typeface="Meiryo UI" panose="020B0604030504040204" pitchFamily="34" charset="-128"/>
                <a:ea typeface="Meiryo UI" panose="020B0604030504040204" pitchFamily="34" charset="-128"/>
              </a:rPr>
              <a:t>個別業務のデジタル化</a:t>
            </a:r>
            <a:endParaRPr lang="en-US" sz="1200" dirty="0">
              <a:solidFill>
                <a:schemeClr val="tx1"/>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EDFFF082-AE48-4CA0-8C9A-F2595BD8E85E}"/>
              </a:ext>
            </a:extLst>
          </p:cNvPr>
          <p:cNvSpPr/>
          <p:nvPr/>
        </p:nvSpPr>
        <p:spPr>
          <a:xfrm>
            <a:off x="3601616" y="1614428"/>
            <a:ext cx="2787197" cy="35212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lvl="0" algn="ctr" defTabSz="913190" eaLnBrk="1" fontAlgn="auto" hangingPunct="1">
              <a:spcBef>
                <a:spcPts val="0"/>
              </a:spcBef>
              <a:spcAft>
                <a:spcPts val="0"/>
              </a:spcAft>
            </a:pPr>
            <a:r>
              <a:rPr lang="ja-JP" altLang="en-US" sz="1200" dirty="0">
                <a:solidFill>
                  <a:srgbClr val="000000"/>
                </a:solidFill>
                <a:latin typeface="Meiryo UI" panose="020B0604030504040204" pitchFamily="34" charset="-128"/>
                <a:ea typeface="Meiryo UI" panose="020B0604030504040204" pitchFamily="34" charset="-128"/>
              </a:rPr>
              <a:t>デジタルでの業務最適化</a:t>
            </a:r>
            <a:endParaRPr lang="en-US" altLang="ja-JP" sz="1200" dirty="0">
              <a:solidFill>
                <a:srgbClr val="000000"/>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CC321FF7-AA74-4CEE-86F0-A8E613931016}"/>
              </a:ext>
            </a:extLst>
          </p:cNvPr>
          <p:cNvSpPr/>
          <p:nvPr/>
        </p:nvSpPr>
        <p:spPr>
          <a:xfrm>
            <a:off x="6531428" y="1614428"/>
            <a:ext cx="2787197" cy="35212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lvl="0" algn="ctr" defTabSz="913190" eaLnBrk="1" fontAlgn="auto" hangingPunct="1">
              <a:spcBef>
                <a:spcPts val="0"/>
              </a:spcBef>
              <a:spcAft>
                <a:spcPts val="0"/>
              </a:spcAft>
            </a:pPr>
            <a:r>
              <a:rPr lang="ja-JP" altLang="en-US" sz="1200" dirty="0">
                <a:solidFill>
                  <a:srgbClr val="000000"/>
                </a:solidFill>
                <a:latin typeface="Meiryo UI" panose="020B0604030504040204" pitchFamily="34" charset="-128"/>
                <a:ea typeface="Meiryo UI" panose="020B0604030504040204" pitchFamily="34" charset="-128"/>
              </a:rPr>
              <a:t>事業のデジタルシフト</a:t>
            </a:r>
            <a:endParaRPr lang="en-US" altLang="ja-JP" sz="1200" dirty="0">
              <a:solidFill>
                <a:srgbClr val="000000"/>
              </a:solidFill>
              <a:latin typeface="Meiryo UI" panose="020B0604030504040204" pitchFamily="34" charset="-128"/>
              <a:ea typeface="Meiryo UI" panose="020B0604030504040204" pitchFamily="34" charset="-128"/>
            </a:endParaRPr>
          </a:p>
        </p:txBody>
      </p:sp>
      <p:graphicFrame>
        <p:nvGraphicFramePr>
          <p:cNvPr id="4" name="表 13">
            <a:extLst>
              <a:ext uri="{FF2B5EF4-FFF2-40B4-BE49-F238E27FC236}">
                <a16:creationId xmlns:a16="http://schemas.microsoft.com/office/drawing/2014/main" id="{23A9B411-DE7F-48F0-9848-EA9EB2C1DF62}"/>
              </a:ext>
            </a:extLst>
          </p:cNvPr>
          <p:cNvGraphicFramePr>
            <a:graphicFrameLocks noGrp="1"/>
          </p:cNvGraphicFramePr>
          <p:nvPr/>
        </p:nvGraphicFramePr>
        <p:xfrm>
          <a:off x="601929" y="2638685"/>
          <a:ext cx="8716695" cy="3132360"/>
        </p:xfrm>
        <a:graphic>
          <a:graphicData uri="http://schemas.openxmlformats.org/drawingml/2006/table">
            <a:tbl>
              <a:tblPr firstRow="1" bandRow="1">
                <a:tableStyleId>{5C22544A-7EE6-4342-B048-85BDC9FD1C3A}</a:tableStyleId>
              </a:tblPr>
              <a:tblGrid>
                <a:gridCol w="998271">
                  <a:extLst>
                    <a:ext uri="{9D8B030D-6E8A-4147-A177-3AD203B41FA5}">
                      <a16:colId xmlns:a16="http://schemas.microsoft.com/office/drawing/2014/main" val="3167928265"/>
                    </a:ext>
                  </a:extLst>
                </a:gridCol>
                <a:gridCol w="5169693">
                  <a:extLst>
                    <a:ext uri="{9D8B030D-6E8A-4147-A177-3AD203B41FA5}">
                      <a16:colId xmlns:a16="http://schemas.microsoft.com/office/drawing/2014/main" val="2157214923"/>
                    </a:ext>
                  </a:extLst>
                </a:gridCol>
                <a:gridCol w="849577">
                  <a:extLst>
                    <a:ext uri="{9D8B030D-6E8A-4147-A177-3AD203B41FA5}">
                      <a16:colId xmlns:a16="http://schemas.microsoft.com/office/drawing/2014/main" val="2195129053"/>
                    </a:ext>
                  </a:extLst>
                </a:gridCol>
                <a:gridCol w="849577">
                  <a:extLst>
                    <a:ext uri="{9D8B030D-6E8A-4147-A177-3AD203B41FA5}">
                      <a16:colId xmlns:a16="http://schemas.microsoft.com/office/drawing/2014/main" val="2081288746"/>
                    </a:ext>
                  </a:extLst>
                </a:gridCol>
                <a:gridCol w="849577">
                  <a:extLst>
                    <a:ext uri="{9D8B030D-6E8A-4147-A177-3AD203B41FA5}">
                      <a16:colId xmlns:a16="http://schemas.microsoft.com/office/drawing/2014/main" val="2994425809"/>
                    </a:ext>
                  </a:extLst>
                </a:gridCol>
              </a:tblGrid>
              <a:tr h="162019">
                <a:tc gridSpan="2">
                  <a:txBody>
                    <a:bodyPr/>
                    <a:lstStyle/>
                    <a:p>
                      <a:r>
                        <a:rPr lang="ja-JP" altLang="en-US" sz="1200" b="0" i="0" dirty="0">
                          <a:solidFill>
                            <a:schemeClr val="bg1"/>
                          </a:solidFill>
                          <a:latin typeface="Meiryo UI" panose="020B0604030504040204" pitchFamily="34" charset="-128"/>
                          <a:ea typeface="Meiryo UI" panose="020B0604030504040204" pitchFamily="34" charset="-128"/>
                        </a:rPr>
                        <a:t>他社事例</a:t>
                      </a:r>
                      <a:endParaRPr lang="en-US" sz="1200" b="0" i="0" dirty="0">
                        <a:solidFill>
                          <a:schemeClr val="bg1"/>
                        </a:solidFill>
                        <a:latin typeface="Meiryo UI" panose="020B0604030504040204" pitchFamily="34" charset="-128"/>
                        <a:ea typeface="Meiryo UI" panose="020B0604030504040204" pitchFamily="34" charset="-128"/>
                      </a:endParaRPr>
                    </a:p>
                  </a:txBody>
                  <a:tcPr marL="18000" marR="18000" marT="18000" marB="18000">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lumMod val="50000"/>
                      </a:schemeClr>
                    </a:solidFill>
                  </a:tcPr>
                </a:tc>
                <a:tc hMerge="1">
                  <a:txBody>
                    <a:bodyPr/>
                    <a:lstStyle/>
                    <a:p>
                      <a:endParaRPr lang="en-US" dirty="0">
                        <a:solidFill>
                          <a:schemeClr val="bg1"/>
                        </a:solidFill>
                        <a:latin typeface="+mn-ea"/>
                        <a:ea typeface="+mn-ea"/>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lumMod val="50000"/>
                      </a:schemeClr>
                    </a:solidFill>
                  </a:tcPr>
                </a:tc>
                <a:tc gridSpan="3">
                  <a:txBody>
                    <a:bodyPr/>
                    <a:lstStyle/>
                    <a:p>
                      <a:pPr algn="ctr"/>
                      <a:r>
                        <a:rPr lang="ja-JP" altLang="en-US" sz="1200" b="0" i="0" dirty="0">
                          <a:solidFill>
                            <a:schemeClr val="bg1"/>
                          </a:solidFill>
                          <a:latin typeface="Meiryo UI" panose="020B0604030504040204" pitchFamily="34" charset="-128"/>
                          <a:ea typeface="Meiryo UI" panose="020B0604030504040204" pitchFamily="34" charset="-128"/>
                        </a:rPr>
                        <a:t>ビジネスへの貢献</a:t>
                      </a:r>
                      <a:endParaRPr lang="en-US" sz="1200" b="0" i="0" dirty="0">
                        <a:solidFill>
                          <a:schemeClr val="bg1"/>
                        </a:solidFill>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lumMod val="50000"/>
                      </a:schemeClr>
                    </a:solidFill>
                  </a:tcPr>
                </a:tc>
                <a:tc hMerge="1">
                  <a:txBody>
                    <a:bodyPr/>
                    <a:lstStyle/>
                    <a:p>
                      <a:endParaRPr lang="en-US" dirty="0">
                        <a:latin typeface="+mn-ea"/>
                        <a:ea typeface="+mn-ea"/>
                      </a:endParaRPr>
                    </a:p>
                  </a:txBody>
                  <a:tcPr/>
                </a:tc>
                <a:tc hMerge="1">
                  <a:txBody>
                    <a:bodyPr/>
                    <a:lstStyle/>
                    <a:p>
                      <a:endParaRPr lang="en-US" dirty="0">
                        <a:latin typeface="+mn-ea"/>
                        <a:ea typeface="+mn-ea"/>
                      </a:endParaRPr>
                    </a:p>
                  </a:txBody>
                  <a:tcPr/>
                </a:tc>
                <a:extLst>
                  <a:ext uri="{0D108BD9-81ED-4DB2-BD59-A6C34878D82A}">
                    <a16:rowId xmlns:a16="http://schemas.microsoft.com/office/drawing/2014/main" val="3122001843"/>
                  </a:ext>
                </a:extLst>
              </a:tr>
              <a:tr h="162019">
                <a:tc>
                  <a:txBody>
                    <a:bodyPr/>
                    <a:lstStyle/>
                    <a:p>
                      <a:r>
                        <a:rPr lang="ja-JP" altLang="en-US" sz="1200" b="0" i="0" dirty="0">
                          <a:solidFill>
                            <a:schemeClr val="bg1"/>
                          </a:solidFill>
                          <a:latin typeface="Meiryo UI" panose="020B0604030504040204" pitchFamily="34" charset="-128"/>
                          <a:ea typeface="Meiryo UI" panose="020B0604030504040204" pitchFamily="34" charset="-128"/>
                        </a:rPr>
                        <a:t>分類</a:t>
                      </a:r>
                      <a:endParaRPr lang="en-US" sz="1200" b="0" i="0" dirty="0">
                        <a:solidFill>
                          <a:schemeClr val="bg1"/>
                        </a:solidFill>
                        <a:latin typeface="Meiryo UI" panose="020B0604030504040204" pitchFamily="34" charset="-128"/>
                        <a:ea typeface="Meiryo UI" panose="020B0604030504040204" pitchFamily="34" charset="-128"/>
                      </a:endParaRPr>
                    </a:p>
                  </a:txBody>
                  <a:tcPr marL="18000" marR="18000" marT="18000" marB="18000">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solidFill>
                      <a:schemeClr val="accent1">
                        <a:lumMod val="50000"/>
                      </a:schemeClr>
                    </a:solidFill>
                  </a:tcPr>
                </a:tc>
                <a:tc>
                  <a:txBody>
                    <a:bodyPr/>
                    <a:lstStyle/>
                    <a:p>
                      <a:r>
                        <a:rPr lang="ja-JP" altLang="en-US" sz="1200" b="0" i="0" dirty="0">
                          <a:solidFill>
                            <a:schemeClr val="bg1"/>
                          </a:solidFill>
                          <a:latin typeface="Meiryo UI" panose="020B0604030504040204" pitchFamily="34" charset="-128"/>
                          <a:ea typeface="Meiryo UI" panose="020B0604030504040204" pitchFamily="34" charset="-128"/>
                        </a:rPr>
                        <a:t>概要</a:t>
                      </a:r>
                      <a:endParaRPr lang="en-US" sz="1200" b="0" i="0" dirty="0">
                        <a:solidFill>
                          <a:schemeClr val="bg1"/>
                        </a:solidFill>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solidFill>
                      <a:schemeClr val="accent1">
                        <a:lumMod val="50000"/>
                      </a:schemeClr>
                    </a:solidFill>
                  </a:tcPr>
                </a:tc>
                <a:tc>
                  <a:txBody>
                    <a:bodyPr/>
                    <a:lstStyle/>
                    <a:p>
                      <a:pPr algn="ctr"/>
                      <a:r>
                        <a:rPr lang="ja-JP" altLang="en-US" sz="1100" b="0" i="0" dirty="0">
                          <a:solidFill>
                            <a:schemeClr val="bg1"/>
                          </a:solidFill>
                          <a:latin typeface="Meiryo UI" panose="020B0604030504040204" pitchFamily="34" charset="-128"/>
                          <a:ea typeface="Meiryo UI" panose="020B0604030504040204" pitchFamily="34" charset="-128"/>
                        </a:rPr>
                        <a:t>品質向上</a:t>
                      </a:r>
                      <a:endParaRPr lang="en-US" sz="1100" b="0" i="0" dirty="0">
                        <a:solidFill>
                          <a:schemeClr val="bg1"/>
                        </a:solidFill>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solidFill>
                      <a:schemeClr val="accent1">
                        <a:lumMod val="50000"/>
                      </a:schemeClr>
                    </a:solidFill>
                  </a:tcPr>
                </a:tc>
                <a:tc>
                  <a:txBody>
                    <a:bodyPr/>
                    <a:lstStyle/>
                    <a:p>
                      <a:pPr algn="ctr"/>
                      <a:r>
                        <a:rPr lang="ja-JP" altLang="en-US" sz="1100" b="0" i="0" dirty="0">
                          <a:solidFill>
                            <a:schemeClr val="bg1"/>
                          </a:solidFill>
                          <a:latin typeface="Meiryo UI" panose="020B0604030504040204" pitchFamily="34" charset="-128"/>
                          <a:ea typeface="Meiryo UI" panose="020B0604030504040204" pitchFamily="34" charset="-128"/>
                        </a:rPr>
                        <a:t>負荷低減</a:t>
                      </a:r>
                      <a:endParaRPr lang="en-US" sz="1100" b="0" i="0" dirty="0">
                        <a:solidFill>
                          <a:schemeClr val="bg1"/>
                        </a:solidFill>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solidFill>
                      <a:schemeClr val="accent1">
                        <a:lumMod val="50000"/>
                      </a:schemeClr>
                    </a:solidFill>
                  </a:tcPr>
                </a:tc>
                <a:tc>
                  <a:txBody>
                    <a:bodyPr/>
                    <a:lstStyle/>
                    <a:p>
                      <a:pPr algn="ctr"/>
                      <a:r>
                        <a:rPr lang="ja-JP" altLang="en-US" sz="1100" b="0" i="0" dirty="0">
                          <a:solidFill>
                            <a:schemeClr val="bg1"/>
                          </a:solidFill>
                          <a:latin typeface="Meiryo UI" panose="020B0604030504040204" pitchFamily="34" charset="-128"/>
                          <a:ea typeface="Meiryo UI" panose="020B0604030504040204" pitchFamily="34" charset="-128"/>
                        </a:rPr>
                        <a:t>納期短縮</a:t>
                      </a:r>
                      <a:endParaRPr lang="en-US" sz="1100" b="0" i="0" dirty="0">
                        <a:solidFill>
                          <a:schemeClr val="bg1"/>
                        </a:solidFill>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646363761"/>
                  </a:ext>
                </a:extLst>
              </a:tr>
              <a:tr h="398919">
                <a:tc>
                  <a:txBody>
                    <a:bodyPr/>
                    <a:lstStyle/>
                    <a:p>
                      <a:r>
                        <a:rPr lang="ja-JP" altLang="en-US" sz="1100" b="0" i="0" dirty="0">
                          <a:latin typeface="Meiryo UI" panose="020B0604030504040204" pitchFamily="34" charset="-128"/>
                          <a:ea typeface="Meiryo UI" panose="020B0604030504040204" pitchFamily="34" charset="-128"/>
                        </a:rPr>
                        <a:t>仕様書</a:t>
                      </a:r>
                      <a:br>
                        <a:rPr lang="en-US" altLang="ja-JP" sz="1100" b="0" i="0" dirty="0">
                          <a:latin typeface="Meiryo UI" panose="020B0604030504040204" pitchFamily="34" charset="-128"/>
                          <a:ea typeface="Meiryo UI" panose="020B0604030504040204" pitchFamily="34" charset="-128"/>
                        </a:rPr>
                      </a:br>
                      <a:r>
                        <a:rPr lang="ja-JP" altLang="en-US" sz="1100" b="0" i="0" dirty="0">
                          <a:latin typeface="Meiryo UI" panose="020B0604030504040204" pitchFamily="34" charset="-128"/>
                          <a:ea typeface="Meiryo UI" panose="020B0604030504040204" pitchFamily="34" charset="-128"/>
                        </a:rPr>
                        <a:t>データ統一</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dirty="0">
                          <a:solidFill>
                            <a:schemeClr val="tx1">
                              <a:lumMod val="75000"/>
                              <a:lumOff val="25000"/>
                            </a:schemeClr>
                          </a:solidFill>
                          <a:latin typeface="Meiryo UI" panose="020B0604030504040204" pitchFamily="34" charset="-128"/>
                          <a:ea typeface="Meiryo UI" panose="020B0604030504040204" pitchFamily="34" charset="-128"/>
                        </a:rPr>
                        <a:t>業務品質向上のため全拠点の仕様書データを標準化したことで、拠点をまたぐ業務品質の向上に加え外部との情報共有が効率化され見積精度の向上と、正しい性能予測に基づく原価低減にも貢献した。</a:t>
                      </a:r>
                      <a:endParaRPr lang="en-US" sz="1100" b="0" i="0" dirty="0">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3676268"/>
                  </a:ext>
                </a:extLst>
              </a:tr>
              <a:tr h="398919">
                <a:tc>
                  <a:txBody>
                    <a:bodyPr/>
                    <a:lstStyle/>
                    <a:p>
                      <a:r>
                        <a:rPr lang="en-US" altLang="ja-JP" sz="1100" b="0" i="0" dirty="0">
                          <a:latin typeface="Meiryo UI" panose="020B0604030504040204" pitchFamily="34" charset="-128"/>
                          <a:ea typeface="Meiryo UI" panose="020B0604030504040204" pitchFamily="34" charset="-128"/>
                        </a:rPr>
                        <a:t>CAD</a:t>
                      </a:r>
                    </a:p>
                    <a:p>
                      <a:r>
                        <a:rPr lang="ja-JP" altLang="en-US" sz="1100" b="0" i="0" dirty="0">
                          <a:latin typeface="Meiryo UI" panose="020B0604030504040204" pitchFamily="34" charset="-128"/>
                          <a:ea typeface="Meiryo UI" panose="020B0604030504040204" pitchFamily="34" charset="-128"/>
                        </a:rPr>
                        <a:t>データ統一</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rPr>
                        <a:t>CAD</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rPr>
                        <a:t>データ管理に関わる</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rPr>
                        <a:t>IT</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rPr>
                        <a:t>運用コスト削減を目的にデータの統一と一元管理の仕組を導入した。それにより、</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rPr>
                        <a:t>IT</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rPr>
                        <a:t>運用コストの</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rPr>
                        <a:t>80</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rPr>
                        <a:t>％の削減に加え、業務側で異なる</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rPr>
                        <a:t>CAD</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rPr>
                        <a:t>データ間の参照にかかる手間が減り、設計業務品質向上にも貢献した。</a:t>
                      </a:r>
                      <a:endParaRPr lang="en-US" sz="1100" b="0" i="0" dirty="0">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ja-JP" altLang="en-US" sz="1100" b="0" i="0" dirty="0">
                          <a:latin typeface="Meiryo UI" panose="020B0604030504040204" pitchFamily="34" charset="-128"/>
                          <a:ea typeface="Meiryo UI" panose="020B0604030504040204" pitchFamily="34" charset="-128"/>
                        </a:rPr>
                        <a:t>〇</a:t>
                      </a:r>
                      <a:endParaRPr lang="en-US" altLang="ja-JP" sz="1100" b="0" i="0" dirty="0">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ja-JP" altLang="en-US" sz="1100" b="0" i="0" dirty="0">
                          <a:latin typeface="Meiryo UI" panose="020B0604030504040204" pitchFamily="34" charset="-128"/>
                          <a:ea typeface="Meiryo UI" panose="020B0604030504040204" pitchFamily="34" charset="-128"/>
                        </a:rPr>
                        <a:t>〇</a:t>
                      </a:r>
                      <a:endParaRPr lang="en-US" altLang="ja-JP" sz="1100" b="0" i="0" dirty="0">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6031555"/>
                  </a:ext>
                </a:extLst>
              </a:tr>
              <a:tr h="398919">
                <a:tc>
                  <a:txBody>
                    <a:bodyPr/>
                    <a:lstStyle/>
                    <a:p>
                      <a:r>
                        <a:rPr lang="ja-JP" altLang="en-US" sz="1100" b="0" i="0" dirty="0">
                          <a:latin typeface="Meiryo UI" panose="020B0604030504040204" pitchFamily="34" charset="-128"/>
                          <a:ea typeface="Meiryo UI" panose="020B0604030504040204" pitchFamily="34" charset="-128"/>
                        </a:rPr>
                        <a:t>過去案件</a:t>
                      </a:r>
                      <a:endParaRPr lang="en-US" altLang="ja-JP" sz="1100" b="0" i="0" dirty="0">
                        <a:latin typeface="Meiryo UI" panose="020B0604030504040204" pitchFamily="34" charset="-128"/>
                        <a:ea typeface="Meiryo UI" panose="020B0604030504040204" pitchFamily="34" charset="-128"/>
                      </a:endParaRPr>
                    </a:p>
                    <a:p>
                      <a:r>
                        <a:rPr lang="ja-JP" altLang="en-US" sz="1100" b="0" i="0" dirty="0">
                          <a:latin typeface="Meiryo UI" panose="020B0604030504040204" pitchFamily="34" charset="-128"/>
                          <a:ea typeface="Meiryo UI" panose="020B0604030504040204" pitchFamily="34" charset="-128"/>
                        </a:rPr>
                        <a:t>データ活用</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100" b="0" i="0" dirty="0">
                          <a:solidFill>
                            <a:sysClr val="windowText" lastClr="000000"/>
                          </a:solidFill>
                          <a:latin typeface="Meiryo UI" panose="020B0604030504040204" pitchFamily="34" charset="-128"/>
                          <a:ea typeface="Meiryo UI" panose="020B0604030504040204" pitchFamily="34" charset="-128"/>
                        </a:rPr>
                        <a:t>過去データを探すことに時間がかかっていた状態を改善するため、設計・製造データを一元化した。それにより、データ収集に費やしていた工数を仕様・性能分析に振り分けられ、その予測の精度が大幅に向上した。</a:t>
                      </a:r>
                      <a:endParaRPr lang="en-US" sz="1100" b="0" i="0" dirty="0">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6820480"/>
                  </a:ext>
                </a:extLst>
              </a:tr>
              <a:tr h="398919">
                <a:tc>
                  <a:txBody>
                    <a:bodyPr/>
                    <a:lstStyle/>
                    <a:p>
                      <a:r>
                        <a:rPr lang="ja-JP" altLang="en-US" sz="1100" b="0" i="0" dirty="0">
                          <a:latin typeface="Meiryo UI" panose="020B0604030504040204" pitchFamily="34" charset="-128"/>
                          <a:ea typeface="Meiryo UI" panose="020B0604030504040204" pitchFamily="34" charset="-128"/>
                        </a:rPr>
                        <a:t>会社統合</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100" dirty="0">
                          <a:solidFill>
                            <a:sysClr val="windowText" lastClr="000000"/>
                          </a:solidFill>
                          <a:latin typeface="Meiryo UI" panose="020B0604030504040204" pitchFamily="34" charset="-128"/>
                          <a:ea typeface="Meiryo UI" panose="020B0604030504040204" pitchFamily="34" charset="-128"/>
                        </a:rPr>
                        <a:t>グループ会社の経営統合に際し実際のシステム統合より先に財務・経理データとその他データの関連性を把握し両社統一のメタ・マスタデータを整備したことで、統合後のアプリケーション改修を最小化し計画実施をおおむね</a:t>
                      </a:r>
                      <a:r>
                        <a:rPr lang="en-US" altLang="ja-JP" sz="1100" dirty="0">
                          <a:solidFill>
                            <a:sysClr val="windowText" lastClr="000000"/>
                          </a:solidFill>
                          <a:latin typeface="Meiryo UI" panose="020B0604030504040204" pitchFamily="34" charset="-128"/>
                          <a:ea typeface="Meiryo UI" panose="020B0604030504040204" pitchFamily="34" charset="-128"/>
                        </a:rPr>
                        <a:t>1</a:t>
                      </a:r>
                      <a:r>
                        <a:rPr lang="ja-JP" altLang="en-US" sz="1100" dirty="0">
                          <a:solidFill>
                            <a:sysClr val="windowText" lastClr="000000"/>
                          </a:solidFill>
                          <a:latin typeface="Meiryo UI" panose="020B0604030504040204" pitchFamily="34" charset="-128"/>
                          <a:ea typeface="Meiryo UI" panose="020B0604030504040204" pitchFamily="34" charset="-128"/>
                        </a:rPr>
                        <a:t>年短縮できた。</a:t>
                      </a:r>
                      <a:endParaRPr lang="en-US" sz="1100" b="0" i="0" dirty="0">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mpd="sng">
                      <a:noFill/>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437896"/>
                  </a:ext>
                </a:extLst>
              </a:tr>
              <a:tr h="398919">
                <a:tc>
                  <a:txBody>
                    <a:bodyPr/>
                    <a:lstStyle/>
                    <a:p>
                      <a:r>
                        <a:rPr lang="ja-JP" altLang="en-US" sz="1100" b="0" i="0" dirty="0">
                          <a:latin typeface="Meiryo UI" panose="020B0604030504040204" pitchFamily="34" charset="-128"/>
                          <a:ea typeface="Meiryo UI" panose="020B0604030504040204" pitchFamily="34" charset="-128"/>
                        </a:rPr>
                        <a:t>統合仕様管理</a:t>
                      </a:r>
                      <a:endParaRPr lang="en-US" altLang="ja-JP" sz="1100" b="0" i="0" dirty="0">
                        <a:latin typeface="Meiryo UI" panose="020B0604030504040204" pitchFamily="34" charset="-128"/>
                        <a:ea typeface="Meiryo UI" panose="020B0604030504040204" pitchFamily="34" charset="-128"/>
                      </a:endParaRPr>
                    </a:p>
                    <a:p>
                      <a:r>
                        <a:rPr lang="en-US" altLang="ja-JP" sz="1100" b="0" i="0" dirty="0">
                          <a:latin typeface="Meiryo UI" panose="020B0604030504040204" pitchFamily="34" charset="-128"/>
                          <a:ea typeface="Meiryo UI" panose="020B0604030504040204" pitchFamily="34" charset="-128"/>
                        </a:rPr>
                        <a:t>DB</a:t>
                      </a:r>
                      <a:r>
                        <a:rPr lang="ja-JP" altLang="en-US" sz="1100" b="0" i="0" dirty="0">
                          <a:latin typeface="Meiryo UI" panose="020B0604030504040204" pitchFamily="34" charset="-128"/>
                          <a:ea typeface="Meiryo UI" panose="020B0604030504040204" pitchFamily="34" charset="-128"/>
                        </a:rPr>
                        <a:t>構築</a:t>
                      </a:r>
                      <a:endParaRPr lang="en-US" altLang="ja-JP" sz="1100" b="0" i="0" dirty="0">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100" b="0" i="0" dirty="0">
                          <a:latin typeface="Meiryo UI" panose="020B0604030504040204" pitchFamily="34" charset="-128"/>
                          <a:ea typeface="Meiryo UI" panose="020B0604030504040204" pitchFamily="34" charset="-128"/>
                        </a:rPr>
                        <a:t>仕様管理</a:t>
                      </a:r>
                      <a:r>
                        <a:rPr lang="en-US" altLang="ja-JP" sz="1100" b="0" i="0" dirty="0">
                          <a:latin typeface="Meiryo UI" panose="020B0604030504040204" pitchFamily="34" charset="-128"/>
                          <a:ea typeface="Meiryo UI" panose="020B0604030504040204" pitchFamily="34" charset="-128"/>
                        </a:rPr>
                        <a:t>DB</a:t>
                      </a:r>
                      <a:r>
                        <a:rPr lang="ja-JP" altLang="en-US" sz="1100" b="0" i="0" dirty="0">
                          <a:latin typeface="Meiryo UI" panose="020B0604030504040204" pitchFamily="34" charset="-128"/>
                          <a:ea typeface="Meiryo UI" panose="020B0604030504040204" pitchFamily="34" charset="-128"/>
                        </a:rPr>
                        <a:t>の刷新をきっかけに業務の在り方を一緒に見直し据付現場から画像データで進捗を報告、遠隔地のベテランが画像と仕様から施工・検収状況に対する</a:t>
                      </a:r>
                      <a:r>
                        <a:rPr lang="en-US" altLang="ja-JP" sz="1100" b="0" i="0" dirty="0">
                          <a:latin typeface="Meiryo UI" panose="020B0604030504040204" pitchFamily="34" charset="-128"/>
                          <a:ea typeface="Meiryo UI" panose="020B0604030504040204" pitchFamily="34" charset="-128"/>
                        </a:rPr>
                        <a:t>FB</a:t>
                      </a:r>
                      <a:r>
                        <a:rPr lang="ja-JP" altLang="en-US" sz="1100" b="0" i="0" dirty="0">
                          <a:latin typeface="Meiryo UI" panose="020B0604030504040204" pitchFamily="34" charset="-128"/>
                          <a:ea typeface="Meiryo UI" panose="020B0604030504040204" pitchFamily="34" charset="-128"/>
                        </a:rPr>
                        <a:t>をできるようにし、熟練ナレッジの伝承を仕組化し手戻を低減した。</a:t>
                      </a:r>
                      <a:endParaRPr lang="en-US" sz="1100" b="0" i="0" dirty="0">
                        <a:latin typeface="Meiryo UI" panose="020B0604030504040204" pitchFamily="34" charset="-128"/>
                        <a:ea typeface="Meiryo UI" panose="020B0604030504040204" pitchFamily="34" charset="-128"/>
                      </a:endParaRPr>
                    </a:p>
                  </a:txBody>
                  <a:tcPr marL="18000" marR="18000"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ja-JP" altLang="en-US" sz="1100" b="0" i="0" dirty="0">
                          <a:latin typeface="Meiryo UI" panose="020B0604030504040204" pitchFamily="34" charset="-128"/>
                          <a:ea typeface="Meiryo UI" panose="020B0604030504040204" pitchFamily="34" charset="-128"/>
                        </a:rPr>
                        <a:t>〇</a:t>
                      </a:r>
                      <a:endParaRPr lang="en-US" sz="1100" b="0" i="0" dirty="0">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3618272"/>
                  </a:ext>
                </a:extLst>
              </a:tr>
            </a:tbl>
          </a:graphicData>
        </a:graphic>
      </p:graphicFrame>
      <p:sp>
        <p:nvSpPr>
          <p:cNvPr id="26" name="正方形/長方形 25">
            <a:extLst>
              <a:ext uri="{FF2B5EF4-FFF2-40B4-BE49-F238E27FC236}">
                <a16:creationId xmlns:a16="http://schemas.microsoft.com/office/drawing/2014/main" id="{F777B55D-0BEC-40C0-8C5E-172740C7A3A6}"/>
              </a:ext>
            </a:extLst>
          </p:cNvPr>
          <p:cNvSpPr/>
          <p:nvPr/>
        </p:nvSpPr>
        <p:spPr>
          <a:xfrm>
            <a:off x="236538" y="3074964"/>
            <a:ext cx="365209" cy="1610359"/>
          </a:xfrm>
          <a:prstGeom prst="rect">
            <a:avLst/>
          </a:prstGeom>
          <a:solidFill>
            <a:schemeClr val="tx2">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eaVert" wrap="none" rtlCol="0" anchor="ctr"/>
          <a:lstStyle/>
          <a:p>
            <a:pPr algn="ctr" defTabSz="913190" eaLnBrk="1" fontAlgn="auto" hangingPunct="1">
              <a:spcBef>
                <a:spcPts val="0"/>
              </a:spcBef>
              <a:spcAft>
                <a:spcPts val="0"/>
              </a:spcAft>
            </a:pPr>
            <a:r>
              <a:rPr lang="ja-JP" altLang="en-US" sz="900" dirty="0">
                <a:solidFill>
                  <a:schemeClr val="tx1"/>
                </a:solidFill>
                <a:latin typeface="Meiryo UI" panose="020B0604030504040204" pitchFamily="34" charset="-128"/>
                <a:ea typeface="Meiryo UI" panose="020B0604030504040204" pitchFamily="34" charset="-128"/>
              </a:rPr>
              <a:t>デジタライゼーション</a:t>
            </a:r>
            <a:endParaRPr lang="en-US" sz="900" dirty="0">
              <a:solidFill>
                <a:schemeClr val="tx1"/>
              </a:solidFill>
              <a:latin typeface="Meiryo UI" panose="020B0604030504040204" pitchFamily="34" charset="-128"/>
              <a:ea typeface="Meiryo UI" panose="020B0604030504040204" pitchFamily="34" charset="-128"/>
            </a:endParaRPr>
          </a:p>
        </p:txBody>
      </p:sp>
      <p:sp>
        <p:nvSpPr>
          <p:cNvPr id="29" name="正方形/長方形 28">
            <a:extLst>
              <a:ext uri="{FF2B5EF4-FFF2-40B4-BE49-F238E27FC236}">
                <a16:creationId xmlns:a16="http://schemas.microsoft.com/office/drawing/2014/main" id="{7853F1FC-15E4-4345-B83B-74E05D0AD85D}"/>
              </a:ext>
            </a:extLst>
          </p:cNvPr>
          <p:cNvSpPr/>
          <p:nvPr/>
        </p:nvSpPr>
        <p:spPr>
          <a:xfrm>
            <a:off x="236538" y="4685323"/>
            <a:ext cx="365209" cy="1094893"/>
          </a:xfrm>
          <a:prstGeom prst="rect">
            <a:avLst/>
          </a:prstGeom>
          <a:solidFill>
            <a:schemeClr val="accent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eaLnBrk="1" fontAlgn="auto" hangingPunct="1">
              <a:spcBef>
                <a:spcPts val="0"/>
              </a:spcBef>
              <a:spcAft>
                <a:spcPts val="0"/>
              </a:spcAft>
            </a:pPr>
            <a:r>
              <a:rPr lang="en-US" altLang="ja-JP" sz="1200" dirty="0">
                <a:solidFill>
                  <a:schemeClr val="bg1"/>
                </a:solidFill>
                <a:latin typeface="Meiryo UI" panose="020B0604030504040204" pitchFamily="34" charset="-128"/>
                <a:ea typeface="Meiryo UI" panose="020B0604030504040204" pitchFamily="34" charset="-128"/>
              </a:rPr>
              <a:t>DX</a:t>
            </a:r>
            <a:endParaRPr lang="en-US" sz="1200" dirty="0">
              <a:solidFill>
                <a:schemeClr val="bg1"/>
              </a:solidFill>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6452068C-A324-4CA9-BD41-3F939D078849}"/>
              </a:ext>
            </a:extLst>
          </p:cNvPr>
          <p:cNvSpPr/>
          <p:nvPr/>
        </p:nvSpPr>
        <p:spPr>
          <a:xfrm>
            <a:off x="7230862" y="6445931"/>
            <a:ext cx="252426" cy="17518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43" name="テキスト ボックス 42">
            <a:extLst>
              <a:ext uri="{FF2B5EF4-FFF2-40B4-BE49-F238E27FC236}">
                <a16:creationId xmlns:a16="http://schemas.microsoft.com/office/drawing/2014/main" id="{BE49EC57-3187-4420-AAA0-AEC92467BA31}"/>
              </a:ext>
            </a:extLst>
          </p:cNvPr>
          <p:cNvSpPr txBox="1"/>
          <p:nvPr/>
        </p:nvSpPr>
        <p:spPr>
          <a:xfrm>
            <a:off x="7441188" y="6410411"/>
            <a:ext cx="1771639" cy="246221"/>
          </a:xfrm>
          <a:prstGeom prst="rect">
            <a:avLst/>
          </a:prstGeom>
          <a:noFill/>
        </p:spPr>
        <p:txBody>
          <a:bodyPr wrap="none" rtlCol="0">
            <a:spAutoFit/>
          </a:bodyPr>
          <a:lstStyle/>
          <a:p>
            <a:r>
              <a:rPr kumimoji="1" lang="ja-JP" altLang="en-US" sz="1000" dirty="0">
                <a:solidFill>
                  <a:schemeClr val="bg1"/>
                </a:solidFill>
                <a:latin typeface="Meiryo UI" panose="020B0604030504040204" pitchFamily="34" charset="-128"/>
                <a:ea typeface="Meiryo UI" panose="020B0604030504040204" pitchFamily="34" charset="-128"/>
              </a:rPr>
              <a:t>各</a:t>
            </a:r>
            <a:r>
              <a:rPr kumimoji="1" lang="en-US" altLang="ja-JP" sz="1000" dirty="0">
                <a:solidFill>
                  <a:schemeClr val="bg1"/>
                </a:solidFill>
                <a:latin typeface="Meiryo UI" panose="020B0604030504040204" pitchFamily="34" charset="-128"/>
                <a:ea typeface="Meiryo UI" panose="020B0604030504040204" pitchFamily="34" charset="-128"/>
              </a:rPr>
              <a:t>PJ</a:t>
            </a:r>
            <a:r>
              <a:rPr lang="ja-JP" altLang="en-US" sz="1000" dirty="0">
                <a:solidFill>
                  <a:schemeClr val="bg1"/>
                </a:solidFill>
                <a:latin typeface="Meiryo UI" panose="020B0604030504040204" pitchFamily="34" charset="-128"/>
                <a:ea typeface="Meiryo UI" panose="020B0604030504040204" pitchFamily="34" charset="-128"/>
              </a:rPr>
              <a:t>で</a:t>
            </a:r>
            <a:r>
              <a:rPr kumimoji="1" lang="ja-JP" altLang="en-US" sz="1000" dirty="0">
                <a:solidFill>
                  <a:schemeClr val="bg1"/>
                </a:solidFill>
                <a:latin typeface="Meiryo UI" panose="020B0604030504040204" pitchFamily="34" charset="-128"/>
                <a:ea typeface="Meiryo UI" panose="020B0604030504040204" pitchFamily="34" charset="-128"/>
              </a:rPr>
              <a:t>当初</a:t>
            </a:r>
            <a:r>
              <a:rPr lang="ja-JP" altLang="en-US" sz="1000" dirty="0">
                <a:solidFill>
                  <a:schemeClr val="bg1"/>
                </a:solidFill>
                <a:latin typeface="Meiryo UI" panose="020B0604030504040204" pitchFamily="34" charset="-128"/>
                <a:ea typeface="Meiryo UI" panose="020B0604030504040204" pitchFamily="34" charset="-128"/>
              </a:rPr>
              <a:t>設定した</a:t>
            </a:r>
            <a:r>
              <a:rPr kumimoji="1" lang="ja-JP" altLang="en-US" sz="1000" dirty="0">
                <a:solidFill>
                  <a:schemeClr val="bg1"/>
                </a:solidFill>
                <a:latin typeface="Meiryo UI" panose="020B0604030504040204" pitchFamily="34" charset="-128"/>
                <a:ea typeface="Meiryo UI" panose="020B0604030504040204" pitchFamily="34" charset="-128"/>
              </a:rPr>
              <a:t>重点目標</a:t>
            </a:r>
            <a:endParaRPr kumimoji="1" lang="en-US" sz="1000" dirty="0">
              <a:solidFill>
                <a:schemeClr val="bg1"/>
              </a:solidFill>
              <a:latin typeface="Meiryo UI" panose="020B0604030504040204" pitchFamily="34" charset="-128"/>
              <a:ea typeface="Meiryo UI" panose="020B0604030504040204" pitchFamily="34" charset="-128"/>
            </a:endParaRPr>
          </a:p>
        </p:txBody>
      </p:sp>
      <p:graphicFrame>
        <p:nvGraphicFramePr>
          <p:cNvPr id="15" name="表 14"/>
          <p:cNvGraphicFramePr>
            <a:graphicFrameLocks noGrp="1"/>
          </p:cNvGraphicFramePr>
          <p:nvPr/>
        </p:nvGraphicFramePr>
        <p:xfrm>
          <a:off x="601746" y="5986967"/>
          <a:ext cx="8716878" cy="401760"/>
        </p:xfrm>
        <a:graphic>
          <a:graphicData uri="http://schemas.openxmlformats.org/drawingml/2006/table">
            <a:tbl>
              <a:tblPr firstRow="1" bandRow="1">
                <a:tableStyleId>{5C22544A-7EE6-4342-B048-85BDC9FD1C3A}</a:tableStyleId>
              </a:tblPr>
              <a:tblGrid>
                <a:gridCol w="982688">
                  <a:extLst>
                    <a:ext uri="{9D8B030D-6E8A-4147-A177-3AD203B41FA5}">
                      <a16:colId xmlns:a16="http://schemas.microsoft.com/office/drawing/2014/main" val="1714197142"/>
                    </a:ext>
                  </a:extLst>
                </a:gridCol>
                <a:gridCol w="5185405">
                  <a:extLst>
                    <a:ext uri="{9D8B030D-6E8A-4147-A177-3AD203B41FA5}">
                      <a16:colId xmlns:a16="http://schemas.microsoft.com/office/drawing/2014/main" val="4270402105"/>
                    </a:ext>
                  </a:extLst>
                </a:gridCol>
                <a:gridCol w="849595">
                  <a:extLst>
                    <a:ext uri="{9D8B030D-6E8A-4147-A177-3AD203B41FA5}">
                      <a16:colId xmlns:a16="http://schemas.microsoft.com/office/drawing/2014/main" val="1043965888"/>
                    </a:ext>
                  </a:extLst>
                </a:gridCol>
                <a:gridCol w="849595">
                  <a:extLst>
                    <a:ext uri="{9D8B030D-6E8A-4147-A177-3AD203B41FA5}">
                      <a16:colId xmlns:a16="http://schemas.microsoft.com/office/drawing/2014/main" val="3794930583"/>
                    </a:ext>
                  </a:extLst>
                </a:gridCol>
                <a:gridCol w="849595">
                  <a:extLst>
                    <a:ext uri="{9D8B030D-6E8A-4147-A177-3AD203B41FA5}">
                      <a16:colId xmlns:a16="http://schemas.microsoft.com/office/drawing/2014/main" val="570381441"/>
                    </a:ext>
                  </a:extLst>
                </a:gridCol>
              </a:tblGrid>
              <a:tr h="0">
                <a:tc>
                  <a:txBody>
                    <a:bodyPr/>
                    <a:lstStyle/>
                    <a:p>
                      <a:r>
                        <a:rPr lang="ja-JP" altLang="en-US" sz="1200" b="0" i="0" dirty="0">
                          <a:solidFill>
                            <a:schemeClr val="tx1"/>
                          </a:solidFill>
                          <a:latin typeface="Meiryo UI" panose="020B0604030504040204" pitchFamily="34" charset="-128"/>
                          <a:ea typeface="Meiryo UI" panose="020B0604030504040204" pitchFamily="34" charset="-128"/>
                        </a:rPr>
                        <a:t>三菱パワー</a:t>
                      </a:r>
                      <a:endParaRPr lang="en-US" sz="1200" b="0" i="0" dirty="0">
                        <a:solidFill>
                          <a:schemeClr val="tx1"/>
                        </a:solidFill>
                        <a:latin typeface="Meiryo UI" panose="020B0604030504040204" pitchFamily="34" charset="-128"/>
                        <a:ea typeface="Meiryo UI" panose="020B0604030504040204" pitchFamily="34" charset="-128"/>
                      </a:endParaRPr>
                    </a:p>
                  </a:txBody>
                  <a:tcPr marL="18000" marR="18000" marT="18000" marB="1800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ja-JP" sz="1200" b="0" i="0" u="sng" dirty="0">
                          <a:solidFill>
                            <a:schemeClr val="tx1"/>
                          </a:solidFill>
                          <a:latin typeface="Meiryo UI" panose="020B0604030504040204" pitchFamily="34" charset="-128"/>
                          <a:ea typeface="Meiryo UI" panose="020B0604030504040204" pitchFamily="34" charset="-128"/>
                        </a:rPr>
                        <a:t>MHI</a:t>
                      </a:r>
                      <a:r>
                        <a:rPr lang="ja-JP" altLang="en-US" sz="1200" b="0" i="0" u="sng" dirty="0">
                          <a:solidFill>
                            <a:schemeClr val="tx1"/>
                          </a:solidFill>
                          <a:latin typeface="Meiryo UI" panose="020B0604030504040204" pitchFamily="34" charset="-128"/>
                          <a:ea typeface="Meiryo UI" panose="020B0604030504040204" pitchFamily="34" charset="-128"/>
                        </a:rPr>
                        <a:t>との統合</a:t>
                      </a:r>
                      <a:r>
                        <a:rPr lang="ja-JP" altLang="en-US" sz="1200" b="0" i="0" dirty="0">
                          <a:solidFill>
                            <a:schemeClr val="tx1"/>
                          </a:solidFill>
                          <a:latin typeface="Meiryo UI" panose="020B0604030504040204" pitchFamily="34" charset="-128"/>
                          <a:ea typeface="Meiryo UI" panose="020B0604030504040204" pitchFamily="34" charset="-128"/>
                        </a:rPr>
                        <a:t>と</a:t>
                      </a:r>
                      <a:r>
                        <a:rPr lang="ja-JP" altLang="en-US" sz="1200" b="0" i="0" u="sng" dirty="0">
                          <a:solidFill>
                            <a:schemeClr val="tx1"/>
                          </a:solidFill>
                          <a:effectLst/>
                          <a:latin typeface="Meiryo UI" panose="020B0604030504040204" pitchFamily="34" charset="-128"/>
                          <a:ea typeface="Meiryo UI" panose="020B0604030504040204" pitchFamily="34" charset="-128"/>
                        </a:rPr>
                        <a:t>リアルタイム経営</a:t>
                      </a:r>
                      <a:r>
                        <a:rPr lang="ja-JP" altLang="en-US" sz="1200" b="0" i="0" dirty="0">
                          <a:solidFill>
                            <a:schemeClr val="tx1"/>
                          </a:solidFill>
                          <a:latin typeface="Meiryo UI" panose="020B0604030504040204" pitchFamily="34" charset="-128"/>
                          <a:ea typeface="Meiryo UI" panose="020B0604030504040204" pitchFamily="34" charset="-128"/>
                        </a:rPr>
                        <a:t>・</a:t>
                      </a:r>
                      <a:endParaRPr lang="en-US" altLang="ja-JP" sz="1200" b="0" i="0" dirty="0">
                        <a:solidFill>
                          <a:schemeClr val="tx1"/>
                        </a:solidFill>
                        <a:latin typeface="Meiryo UI" panose="020B0604030504040204" pitchFamily="34" charset="-128"/>
                        <a:ea typeface="Meiryo UI" panose="020B0604030504040204" pitchFamily="34" charset="-128"/>
                      </a:endParaRPr>
                    </a:p>
                    <a:p>
                      <a:r>
                        <a:rPr lang="ja-JP" altLang="en-US" sz="1200" b="0" i="0" u="sng" dirty="0">
                          <a:solidFill>
                            <a:schemeClr val="tx1"/>
                          </a:solidFill>
                          <a:latin typeface="Meiryo UI" panose="020B0604030504040204" pitchFamily="34" charset="-128"/>
                          <a:ea typeface="Meiryo UI" panose="020B0604030504040204" pitchFamily="34" charset="-128"/>
                        </a:rPr>
                        <a:t>事業活動モニタリングによる収益管理</a:t>
                      </a:r>
                      <a:r>
                        <a:rPr lang="ja-JP" altLang="en-US" sz="1200" b="0" i="0" dirty="0">
                          <a:solidFill>
                            <a:schemeClr val="tx1"/>
                          </a:solidFill>
                          <a:latin typeface="Meiryo UI" panose="020B0604030504040204" pitchFamily="34" charset="-128"/>
                          <a:ea typeface="Meiryo UI" panose="020B0604030504040204" pitchFamily="34" charset="-128"/>
                        </a:rPr>
                        <a:t>・</a:t>
                      </a:r>
                      <a:r>
                        <a:rPr lang="ja-JP" altLang="en-US" sz="1200" b="0" i="0" u="sng" dirty="0">
                          <a:solidFill>
                            <a:schemeClr val="tx1"/>
                          </a:solidFill>
                          <a:latin typeface="Meiryo UI" panose="020B0604030504040204" pitchFamily="34" charset="-128"/>
                          <a:ea typeface="Meiryo UI" panose="020B0604030504040204" pitchFamily="34" charset="-128"/>
                        </a:rPr>
                        <a:t>固定費の削減</a:t>
                      </a:r>
                      <a:endParaRPr lang="en-US" sz="1200" b="0" i="0" u="sng" dirty="0">
                        <a:solidFill>
                          <a:schemeClr val="tx1"/>
                        </a:solidFill>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b="0" i="0" dirty="0">
                        <a:solidFill>
                          <a:schemeClr val="tx1"/>
                        </a:solidFill>
                        <a:latin typeface="Meiryo UI" panose="020B0604030504040204" pitchFamily="34" charset="-128"/>
                        <a:ea typeface="Meiryo UI" panose="020B0604030504040204" pitchFamily="34" charset="-128"/>
                      </a:endParaRPr>
                    </a:p>
                  </a:txBody>
                  <a:tcPr marL="18000" marR="18000" marT="18000" marB="1800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b="0" i="0" dirty="0">
                        <a:solidFill>
                          <a:schemeClr val="tx1"/>
                        </a:solidFill>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b="0" i="0" dirty="0">
                        <a:solidFill>
                          <a:schemeClr val="tx1"/>
                        </a:solidFill>
                        <a:latin typeface="Meiryo UI" panose="020B0604030504040204" pitchFamily="34" charset="-128"/>
                        <a:ea typeface="Meiryo UI" panose="020B0604030504040204" pitchFamily="34" charset="-128"/>
                      </a:endParaRPr>
                    </a:p>
                  </a:txBody>
                  <a:tcPr marL="18000" marR="18000" marT="18000" marB="18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2849175"/>
                  </a:ext>
                </a:extLst>
              </a:tr>
            </a:tbl>
          </a:graphicData>
        </a:graphic>
      </p:graphicFrame>
      <p:sp>
        <p:nvSpPr>
          <p:cNvPr id="51" name="正方形/長方形 50">
            <a:extLst>
              <a:ext uri="{FF2B5EF4-FFF2-40B4-BE49-F238E27FC236}">
                <a16:creationId xmlns:a16="http://schemas.microsoft.com/office/drawing/2014/main" id="{6452068C-A324-4CA9-BD41-3F939D078849}"/>
              </a:ext>
            </a:extLst>
          </p:cNvPr>
          <p:cNvSpPr/>
          <p:nvPr/>
        </p:nvSpPr>
        <p:spPr>
          <a:xfrm>
            <a:off x="6769694" y="3076539"/>
            <a:ext cx="850306" cy="534365"/>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6452068C-A324-4CA9-BD41-3F939D078849}"/>
              </a:ext>
            </a:extLst>
          </p:cNvPr>
          <p:cNvSpPr/>
          <p:nvPr/>
        </p:nvSpPr>
        <p:spPr>
          <a:xfrm>
            <a:off x="7620000" y="4162760"/>
            <a:ext cx="850306" cy="53280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6452068C-A324-4CA9-BD41-3F939D078849}"/>
              </a:ext>
            </a:extLst>
          </p:cNvPr>
          <p:cNvSpPr/>
          <p:nvPr/>
        </p:nvSpPr>
        <p:spPr>
          <a:xfrm>
            <a:off x="6769694" y="4695560"/>
            <a:ext cx="850306" cy="53280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55" name="正方形/長方形 54">
            <a:extLst>
              <a:ext uri="{FF2B5EF4-FFF2-40B4-BE49-F238E27FC236}">
                <a16:creationId xmlns:a16="http://schemas.microsoft.com/office/drawing/2014/main" id="{6452068C-A324-4CA9-BD41-3F939D078849}"/>
              </a:ext>
            </a:extLst>
          </p:cNvPr>
          <p:cNvSpPr/>
          <p:nvPr/>
        </p:nvSpPr>
        <p:spPr>
          <a:xfrm>
            <a:off x="6769694" y="5238085"/>
            <a:ext cx="850306" cy="53280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56" name="正方形/長方形 55">
            <a:extLst>
              <a:ext uri="{FF2B5EF4-FFF2-40B4-BE49-F238E27FC236}">
                <a16:creationId xmlns:a16="http://schemas.microsoft.com/office/drawing/2014/main" id="{6452068C-A324-4CA9-BD41-3F939D078849}"/>
              </a:ext>
            </a:extLst>
          </p:cNvPr>
          <p:cNvSpPr/>
          <p:nvPr/>
        </p:nvSpPr>
        <p:spPr>
          <a:xfrm>
            <a:off x="7618509" y="5977795"/>
            <a:ext cx="850306" cy="410931"/>
          </a:xfrm>
          <a:prstGeom prst="rect">
            <a:avLst/>
          </a:pr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6452068C-A324-4CA9-BD41-3F939D078849}"/>
              </a:ext>
            </a:extLst>
          </p:cNvPr>
          <p:cNvSpPr/>
          <p:nvPr/>
        </p:nvSpPr>
        <p:spPr>
          <a:xfrm>
            <a:off x="6769694" y="5977795"/>
            <a:ext cx="850306" cy="410931"/>
          </a:xfrm>
          <a:prstGeom prst="rect">
            <a:avLst/>
          </a:pr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58" name="正方形/長方形 57">
            <a:extLst>
              <a:ext uri="{FF2B5EF4-FFF2-40B4-BE49-F238E27FC236}">
                <a16:creationId xmlns:a16="http://schemas.microsoft.com/office/drawing/2014/main" id="{6452068C-A324-4CA9-BD41-3F939D078849}"/>
              </a:ext>
            </a:extLst>
          </p:cNvPr>
          <p:cNvSpPr/>
          <p:nvPr/>
        </p:nvSpPr>
        <p:spPr>
          <a:xfrm>
            <a:off x="8476655" y="5977795"/>
            <a:ext cx="850306" cy="410931"/>
          </a:xfrm>
          <a:prstGeom prst="rect">
            <a:avLst/>
          </a:pr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F069C307-05A2-C048-A361-A182A515AFD1}"/>
              </a:ext>
            </a:extLst>
          </p:cNvPr>
          <p:cNvSpPr/>
          <p:nvPr/>
        </p:nvSpPr>
        <p:spPr>
          <a:xfrm>
            <a:off x="9680915" y="199747"/>
            <a:ext cx="1330522"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タイトル文に「データドリブン経営における」を追加</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045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E2990-B00B-46A6-A926-00278D4423B0}"/>
              </a:ext>
            </a:extLst>
          </p:cNvPr>
          <p:cNvSpPr>
            <a:spLocks noGrp="1"/>
          </p:cNvSpPr>
          <p:nvPr>
            <p:ph type="title"/>
          </p:nvPr>
        </p:nvSpPr>
        <p:spPr>
          <a:xfrm>
            <a:off x="236538" y="128799"/>
            <a:ext cx="7287807" cy="349961"/>
          </a:xfrm>
        </p:spPr>
        <p:txBody>
          <a:bodyPr/>
          <a:lstStyle/>
          <a:p>
            <a:r>
              <a:rPr lang="ja-JP" altLang="en-US" b="1"/>
              <a:t>貴社のビジネスにとってのデータマネジメント強化の意義</a:t>
            </a:r>
            <a:endParaRPr lang="en-US" b="1" dirty="0"/>
          </a:p>
        </p:txBody>
      </p:sp>
      <p:cxnSp>
        <p:nvCxnSpPr>
          <p:cNvPr id="23" name="Straight Connector 22">
            <a:extLst>
              <a:ext uri="{FF2B5EF4-FFF2-40B4-BE49-F238E27FC236}">
                <a16:creationId xmlns:a16="http://schemas.microsoft.com/office/drawing/2014/main" id="{277FFC6A-839B-40BE-B758-908B5B20A3D2}"/>
              </a:ext>
            </a:extLst>
          </p:cNvPr>
          <p:cNvCxnSpPr>
            <a:cxnSpLocks/>
          </p:cNvCxnSpPr>
          <p:nvPr/>
        </p:nvCxnSpPr>
        <p:spPr>
          <a:xfrm>
            <a:off x="661209" y="1779812"/>
            <a:ext cx="8595360" cy="0"/>
          </a:xfrm>
          <a:prstGeom prst="line">
            <a:avLst/>
          </a:prstGeom>
          <a:noFill/>
          <a:ln w="9525" cap="flat" cmpd="sng" algn="ctr">
            <a:solidFill>
              <a:srgbClr val="0076A8"/>
            </a:solidFill>
            <a:prstDash val="solid"/>
            <a:tailEnd type="none"/>
          </a:ln>
          <a:effectLst/>
        </p:spPr>
      </p:cxnSp>
      <p:sp>
        <p:nvSpPr>
          <p:cNvPr id="30" name="TextBox 29">
            <a:extLst>
              <a:ext uri="{FF2B5EF4-FFF2-40B4-BE49-F238E27FC236}">
                <a16:creationId xmlns:a16="http://schemas.microsoft.com/office/drawing/2014/main" id="{469E7278-3C04-4BAC-8E1F-F0CC00470DAB}"/>
              </a:ext>
            </a:extLst>
          </p:cNvPr>
          <p:cNvSpPr txBox="1"/>
          <p:nvPr/>
        </p:nvSpPr>
        <p:spPr>
          <a:xfrm>
            <a:off x="2477589" y="1490942"/>
            <a:ext cx="4955176" cy="276999"/>
          </a:xfrm>
          <a:prstGeom prst="rect">
            <a:avLst/>
          </a:prstGeom>
          <a:noFill/>
        </p:spPr>
        <p:txBody>
          <a:bodyPr wrap="square">
            <a:spAutoFit/>
          </a:bodyPr>
          <a:lstStyle/>
          <a:p>
            <a:pPr algn="ctr"/>
            <a:r>
              <a:rPr lang="ja-JP" altLang="en-US" sz="1200">
                <a:solidFill>
                  <a:srgbClr val="000000"/>
                </a:solidFill>
                <a:latin typeface="Meiryo UI" panose="020B0604030504040204" pitchFamily="34" charset="-128"/>
                <a:ea typeface="Meiryo UI" panose="020B0604030504040204" pitchFamily="34" charset="-128"/>
              </a:rPr>
              <a:t>データマネジメントの</a:t>
            </a:r>
            <a:r>
              <a:rPr kumimoji="1" lang="ja-JP" altLang="en-US" sz="120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rPr>
              <a:t>実現で得られる効果</a:t>
            </a:r>
            <a:endParaRPr lang="en-US" sz="2000" dirty="0">
              <a:latin typeface="Meiryo UI" panose="020B0604030504040204" pitchFamily="34" charset="-128"/>
              <a:ea typeface="Meiryo UI" panose="020B0604030504040204" pitchFamily="34" charset="-128"/>
            </a:endParaRPr>
          </a:p>
        </p:txBody>
      </p:sp>
      <p:sp>
        <p:nvSpPr>
          <p:cNvPr id="18" name="Rectangle 17">
            <a:extLst>
              <a:ext uri="{FF2B5EF4-FFF2-40B4-BE49-F238E27FC236}">
                <a16:creationId xmlns:a16="http://schemas.microsoft.com/office/drawing/2014/main" id="{9022AEE9-CE3F-4055-B55E-1CC51FB78E02}"/>
              </a:ext>
            </a:extLst>
          </p:cNvPr>
          <p:cNvSpPr/>
          <p:nvPr/>
        </p:nvSpPr>
        <p:spPr>
          <a:xfrm>
            <a:off x="661209" y="1956956"/>
            <a:ext cx="3666308" cy="313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34" charset="-128"/>
                <a:ea typeface="Meiryo UI" panose="020B0604030504040204" pitchFamily="34" charset="-128"/>
              </a:rPr>
              <a:t>情報共有の効率化</a:t>
            </a:r>
            <a:endParaRPr lang="en-US" sz="1200" b="1" dirty="0">
              <a:latin typeface="Meiryo UI" panose="020B0604030504040204" pitchFamily="34" charset="-128"/>
              <a:ea typeface="Meiryo UI" panose="020B0604030504040204" pitchFamily="34" charset="-128"/>
            </a:endParaRPr>
          </a:p>
        </p:txBody>
      </p:sp>
      <p:sp>
        <p:nvSpPr>
          <p:cNvPr id="31" name="Rectangle 30">
            <a:extLst>
              <a:ext uri="{FF2B5EF4-FFF2-40B4-BE49-F238E27FC236}">
                <a16:creationId xmlns:a16="http://schemas.microsoft.com/office/drawing/2014/main" id="{11FA602A-41D7-41BC-96DA-781CAE0A5068}"/>
              </a:ext>
            </a:extLst>
          </p:cNvPr>
          <p:cNvSpPr/>
          <p:nvPr/>
        </p:nvSpPr>
        <p:spPr>
          <a:xfrm>
            <a:off x="661209" y="2257401"/>
            <a:ext cx="5591545" cy="6052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7013" indent="-227013">
              <a:buFont typeface="Arial" panose="020B0604020202020204" pitchFamily="34" charset="0"/>
              <a:buChar char="•"/>
            </a:pPr>
            <a:r>
              <a:rPr lang="ja-JP" altLang="en-US" sz="1200" dirty="0">
                <a:solidFill>
                  <a:sysClr val="windowText" lastClr="000000"/>
                </a:solidFill>
                <a:latin typeface="Meiryo UI" panose="020B0604030504040204" pitchFamily="34" charset="-128"/>
                <a:ea typeface="Meiryo UI" panose="020B0604030504040204" pitchFamily="34" charset="-128"/>
              </a:rPr>
              <a:t>図面・仕様書等で用いられる情報の記述を統一化しその解釈を一元化することで拠点間での情報共有を効率化し生産融通の効率を向上させる。</a:t>
            </a:r>
            <a:endParaRPr lang="en-US" sz="1200" dirty="0">
              <a:solidFill>
                <a:sysClr val="windowText" lastClr="000000"/>
              </a:solidFill>
              <a:latin typeface="Meiryo UI" panose="020B0604030504040204" pitchFamily="34" charset="-128"/>
              <a:ea typeface="Meiryo UI" panose="020B0604030504040204" pitchFamily="34" charset="-128"/>
            </a:endParaRPr>
          </a:p>
        </p:txBody>
      </p:sp>
      <p:sp>
        <p:nvSpPr>
          <p:cNvPr id="19" name="Rectangle 18">
            <a:extLst>
              <a:ext uri="{FF2B5EF4-FFF2-40B4-BE49-F238E27FC236}">
                <a16:creationId xmlns:a16="http://schemas.microsoft.com/office/drawing/2014/main" id="{CA30C330-0D74-41F7-9D44-610BD04CE455}"/>
              </a:ext>
            </a:extLst>
          </p:cNvPr>
          <p:cNvSpPr/>
          <p:nvPr/>
        </p:nvSpPr>
        <p:spPr>
          <a:xfrm>
            <a:off x="661209" y="3077557"/>
            <a:ext cx="3666308" cy="313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34" charset="-128"/>
                <a:ea typeface="Meiryo UI" panose="020B0604030504040204" pitchFamily="34" charset="-128"/>
              </a:rPr>
              <a:t>情報検索と活用の効率化</a:t>
            </a:r>
            <a:endParaRPr lang="en-US" sz="1200" b="1" dirty="0">
              <a:latin typeface="Meiryo UI" panose="020B0604030504040204" pitchFamily="34" charset="-128"/>
              <a:ea typeface="Meiryo UI" panose="020B0604030504040204" pitchFamily="34" charset="-128"/>
            </a:endParaRPr>
          </a:p>
        </p:txBody>
      </p:sp>
      <p:sp>
        <p:nvSpPr>
          <p:cNvPr id="32" name="Rectangle 31">
            <a:extLst>
              <a:ext uri="{FF2B5EF4-FFF2-40B4-BE49-F238E27FC236}">
                <a16:creationId xmlns:a16="http://schemas.microsoft.com/office/drawing/2014/main" id="{D3A86626-247D-4863-A6F0-A76497266358}"/>
              </a:ext>
            </a:extLst>
          </p:cNvPr>
          <p:cNvSpPr/>
          <p:nvPr/>
        </p:nvSpPr>
        <p:spPr>
          <a:xfrm>
            <a:off x="661209" y="3388888"/>
            <a:ext cx="5591545" cy="6052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7013" indent="-227013">
              <a:buFont typeface="Arial" panose="020B0604020202020204" pitchFamily="34" charset="0"/>
              <a:buChar char="•"/>
            </a:pPr>
            <a:r>
              <a:rPr lang="ja-JP" altLang="en-US" sz="1200" dirty="0">
                <a:solidFill>
                  <a:sysClr val="windowText" lastClr="000000"/>
                </a:solidFill>
                <a:latin typeface="Meiryo UI" panose="020B0604030504040204" pitchFamily="34" charset="-128"/>
                <a:ea typeface="Meiryo UI" panose="020B0604030504040204" pitchFamily="34" charset="-128"/>
              </a:rPr>
              <a:t>引合～出荷までの各プロセスで用いられる情報を全拠点で一元化することで、情報の検索を効率化し</a:t>
            </a:r>
            <a:r>
              <a:rPr lang="en-US" altLang="ja-JP" sz="1200" dirty="0">
                <a:solidFill>
                  <a:sysClr val="windowText" lastClr="000000"/>
                </a:solidFill>
                <a:latin typeface="Meiryo UI" panose="020B0604030504040204" pitchFamily="34" charset="-128"/>
                <a:ea typeface="Meiryo UI" panose="020B0604030504040204" pitchFamily="34" charset="-128"/>
              </a:rPr>
              <a:t>PJ</a:t>
            </a:r>
            <a:r>
              <a:rPr lang="ja-JP" altLang="en-US" sz="1200" dirty="0">
                <a:solidFill>
                  <a:sysClr val="windowText" lastClr="000000"/>
                </a:solidFill>
                <a:latin typeface="Meiryo UI" panose="020B0604030504040204" pitchFamily="34" charset="-128"/>
                <a:ea typeface="Meiryo UI" panose="020B0604030504040204" pitchFamily="34" charset="-128"/>
              </a:rPr>
              <a:t>管理や原価低減策の思案等の業務における精度を向上させる。</a:t>
            </a:r>
            <a:endParaRPr lang="en-US" sz="1200" dirty="0">
              <a:solidFill>
                <a:sysClr val="windowText" lastClr="000000"/>
              </a:solidFill>
              <a:latin typeface="Meiryo UI" panose="020B0604030504040204" pitchFamily="34" charset="-128"/>
              <a:ea typeface="Meiryo UI" panose="020B0604030504040204" pitchFamily="34" charset="-128"/>
            </a:endParaRPr>
          </a:p>
        </p:txBody>
      </p:sp>
      <p:sp>
        <p:nvSpPr>
          <p:cNvPr id="20" name="Rectangle 19">
            <a:extLst>
              <a:ext uri="{FF2B5EF4-FFF2-40B4-BE49-F238E27FC236}">
                <a16:creationId xmlns:a16="http://schemas.microsoft.com/office/drawing/2014/main" id="{D72F9D8B-1CFF-45CB-8F31-ECA6AFD30528}"/>
              </a:ext>
            </a:extLst>
          </p:cNvPr>
          <p:cNvSpPr/>
          <p:nvPr/>
        </p:nvSpPr>
        <p:spPr>
          <a:xfrm>
            <a:off x="661209" y="4209044"/>
            <a:ext cx="3666308" cy="313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34" charset="-128"/>
                <a:ea typeface="Meiryo UI" panose="020B0604030504040204" pitchFamily="34" charset="-128"/>
              </a:rPr>
              <a:t>情報管理・活用にかかる費用の効率化</a:t>
            </a:r>
            <a:endParaRPr lang="en-US" sz="1200" b="1" dirty="0">
              <a:latin typeface="Meiryo UI" panose="020B0604030504040204" pitchFamily="34" charset="-128"/>
              <a:ea typeface="Meiryo UI" panose="020B0604030504040204" pitchFamily="34" charset="-128"/>
            </a:endParaRPr>
          </a:p>
        </p:txBody>
      </p:sp>
      <p:sp>
        <p:nvSpPr>
          <p:cNvPr id="34" name="Rectangle 33">
            <a:extLst>
              <a:ext uri="{FF2B5EF4-FFF2-40B4-BE49-F238E27FC236}">
                <a16:creationId xmlns:a16="http://schemas.microsoft.com/office/drawing/2014/main" id="{249ACFF6-7188-4985-ACD5-34CA292BADA4}"/>
              </a:ext>
            </a:extLst>
          </p:cNvPr>
          <p:cNvSpPr/>
          <p:nvPr/>
        </p:nvSpPr>
        <p:spPr>
          <a:xfrm>
            <a:off x="661209" y="4522553"/>
            <a:ext cx="5591545" cy="6052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7013" indent="-227013">
              <a:buFont typeface="Arial" panose="020B0604020202020204" pitchFamily="34" charset="0"/>
              <a:buChar char="•"/>
            </a:pPr>
            <a:r>
              <a:rPr lang="ja-JP" altLang="en-US" sz="1200" dirty="0">
                <a:solidFill>
                  <a:sysClr val="windowText" lastClr="000000"/>
                </a:solidFill>
                <a:latin typeface="Meiryo UI" panose="020B0604030504040204" pitchFamily="34" charset="-128"/>
                <a:ea typeface="Meiryo UI" panose="020B0604030504040204" pitchFamily="34" charset="-128"/>
              </a:rPr>
              <a:t>情報の意味合いを統一し冗長なシステムの集約を促進することで、二重入力やコード違いによるオーダー変更等を減らし業務負荷の低減とシステム運用費の効率化を図る。</a:t>
            </a:r>
            <a:endParaRPr lang="en-US" sz="1200" dirty="0">
              <a:solidFill>
                <a:sysClr val="windowText" lastClr="000000"/>
              </a:solidFill>
              <a:latin typeface="Meiryo UI" panose="020B0604030504040204" pitchFamily="34" charset="-128"/>
              <a:ea typeface="Meiryo UI" panose="020B0604030504040204" pitchFamily="34" charset="-128"/>
            </a:endParaRPr>
          </a:p>
        </p:txBody>
      </p:sp>
      <p:sp>
        <p:nvSpPr>
          <p:cNvPr id="21" name="Rectangle 20">
            <a:extLst>
              <a:ext uri="{FF2B5EF4-FFF2-40B4-BE49-F238E27FC236}">
                <a16:creationId xmlns:a16="http://schemas.microsoft.com/office/drawing/2014/main" id="{E9E31980-CCF3-42B5-9244-5C633981C981}"/>
              </a:ext>
            </a:extLst>
          </p:cNvPr>
          <p:cNvSpPr/>
          <p:nvPr/>
        </p:nvSpPr>
        <p:spPr>
          <a:xfrm>
            <a:off x="661209" y="5342710"/>
            <a:ext cx="3666308" cy="313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34" charset="-128"/>
                <a:ea typeface="Meiryo UI" panose="020B0604030504040204" pitchFamily="34" charset="-128"/>
              </a:rPr>
              <a:t>業務プロセス移行・定着の促進</a:t>
            </a:r>
            <a:endParaRPr lang="en-US" sz="1200" b="1" dirty="0">
              <a:latin typeface="Meiryo UI" panose="020B0604030504040204" pitchFamily="34" charset="-128"/>
              <a:ea typeface="Meiryo UI" panose="020B0604030504040204" pitchFamily="34" charset="-128"/>
            </a:endParaRPr>
          </a:p>
        </p:txBody>
      </p:sp>
      <p:sp>
        <p:nvSpPr>
          <p:cNvPr id="38" name="Rectangle 37">
            <a:extLst>
              <a:ext uri="{FF2B5EF4-FFF2-40B4-BE49-F238E27FC236}">
                <a16:creationId xmlns:a16="http://schemas.microsoft.com/office/drawing/2014/main" id="{B15CB5DA-8D84-4E7A-B9DE-7FFBF7C43B3A}"/>
              </a:ext>
            </a:extLst>
          </p:cNvPr>
          <p:cNvSpPr/>
          <p:nvPr/>
        </p:nvSpPr>
        <p:spPr>
          <a:xfrm>
            <a:off x="661209" y="5656219"/>
            <a:ext cx="5591545" cy="6052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7013" indent="-227013">
              <a:buFont typeface="Arial" panose="020B0604020202020204" pitchFamily="34" charset="0"/>
              <a:buChar char="•"/>
            </a:pPr>
            <a:r>
              <a:rPr lang="ja-JP" altLang="en-US" sz="1200" dirty="0">
                <a:solidFill>
                  <a:sysClr val="windowText" lastClr="000000"/>
                </a:solidFill>
                <a:latin typeface="Meiryo UI" panose="020B0604030504040204" pitchFamily="34" charset="-128"/>
                <a:ea typeface="Meiryo UI" panose="020B0604030504040204" pitchFamily="34" charset="-128"/>
              </a:rPr>
              <a:t>情報を一元管理することで拠点間生産融通のための統一プロセスの実装や統合後の新たな会計プロセスへの移行を促進し、その早期定着を実現する。</a:t>
            </a:r>
            <a:endParaRPr lang="en-US" sz="1200" dirty="0">
              <a:solidFill>
                <a:sysClr val="windowText" lastClr="000000"/>
              </a:solidFill>
              <a:latin typeface="Meiryo UI" panose="020B0604030504040204" pitchFamily="34" charset="-128"/>
              <a:ea typeface="Meiryo UI" panose="020B0604030504040204" pitchFamily="34" charset="-128"/>
            </a:endParaRPr>
          </a:p>
        </p:txBody>
      </p:sp>
      <p:sp>
        <p:nvSpPr>
          <p:cNvPr id="41" name="Callout: Line 40">
            <a:extLst>
              <a:ext uri="{FF2B5EF4-FFF2-40B4-BE49-F238E27FC236}">
                <a16:creationId xmlns:a16="http://schemas.microsoft.com/office/drawing/2014/main" id="{9D3DDF72-04BA-43BF-AEA4-881DEF765472}"/>
              </a:ext>
            </a:extLst>
          </p:cNvPr>
          <p:cNvSpPr/>
          <p:nvPr/>
        </p:nvSpPr>
        <p:spPr>
          <a:xfrm>
            <a:off x="6322423" y="3266674"/>
            <a:ext cx="2996202" cy="425760"/>
          </a:xfrm>
          <a:prstGeom prst="borderCallout1">
            <a:avLst>
              <a:gd name="adj1" fmla="val 5800"/>
              <a:gd name="adj2" fmla="val -3245"/>
              <a:gd name="adj3" fmla="val 20795"/>
              <a:gd name="adj4" fmla="val -9579"/>
            </a:avLst>
          </a:prstGeom>
          <a:solidFill>
            <a:schemeClr val="accent4">
              <a:lumMod val="20000"/>
              <a:lumOff val="80000"/>
            </a:schemeClr>
          </a:solidFill>
          <a:ln>
            <a:solidFill>
              <a:schemeClr val="accent4">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B</a:t>
            </a:r>
            <a:r>
              <a:rPr lang="ja-JP" altLang="en-US" sz="800" dirty="0">
                <a:solidFill>
                  <a:sysClr val="windowText" lastClr="000000"/>
                </a:solidFill>
                <a:latin typeface="Meiryo UI" panose="020B0604030504040204" pitchFamily="34" charset="-128"/>
                <a:ea typeface="Meiryo UI" panose="020B0604030504040204" pitchFamily="34" charset="-128"/>
              </a:rPr>
              <a:t>社では過去の設計・製造データを一元化し蓄積することで案件引合・受注時における仕様や性能予測に活用している。</a:t>
            </a:r>
            <a:endParaRPr lang="en-US" sz="800" dirty="0">
              <a:solidFill>
                <a:sysClr val="windowText" lastClr="000000"/>
              </a:solidFill>
              <a:latin typeface="Meiryo UI" panose="020B0604030504040204" pitchFamily="34" charset="-128"/>
              <a:ea typeface="Meiryo UI" panose="020B0604030504040204" pitchFamily="34" charset="-128"/>
            </a:endParaRPr>
          </a:p>
        </p:txBody>
      </p:sp>
      <p:sp>
        <p:nvSpPr>
          <p:cNvPr id="43" name="Callout: Line 42">
            <a:extLst>
              <a:ext uri="{FF2B5EF4-FFF2-40B4-BE49-F238E27FC236}">
                <a16:creationId xmlns:a16="http://schemas.microsoft.com/office/drawing/2014/main" id="{BDFF298B-3794-4D60-A0DC-3D58CD31D100}"/>
              </a:ext>
            </a:extLst>
          </p:cNvPr>
          <p:cNvSpPr/>
          <p:nvPr/>
        </p:nvSpPr>
        <p:spPr>
          <a:xfrm>
            <a:off x="6322423" y="3781255"/>
            <a:ext cx="2996202" cy="425760"/>
          </a:xfrm>
          <a:prstGeom prst="borderCallout1">
            <a:avLst>
              <a:gd name="adj1" fmla="val 71254"/>
              <a:gd name="adj2" fmla="val -2373"/>
              <a:gd name="adj3" fmla="val 55567"/>
              <a:gd name="adj4" fmla="val -8997"/>
            </a:avLst>
          </a:prstGeom>
          <a:solidFill>
            <a:schemeClr val="accent1">
              <a:lumMod val="20000"/>
              <a:lumOff val="80000"/>
            </a:schemeClr>
          </a:solidFill>
          <a:ln>
            <a:solidFill>
              <a:schemeClr val="accent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C</a:t>
            </a:r>
            <a:r>
              <a:rPr lang="ja-JP" altLang="en-US" sz="800" dirty="0">
                <a:solidFill>
                  <a:sysClr val="windowText" lastClr="000000"/>
                </a:solidFill>
                <a:latin typeface="Meiryo UI" panose="020B0604030504040204" pitchFamily="34" charset="-128"/>
                <a:ea typeface="Meiryo UI" panose="020B0604030504040204" pitchFamily="34" charset="-128"/>
              </a:rPr>
              <a:t>社では各工場の生産工程のセンサー情報を収集しパターン化することで、生産工程における不良の検出に活用してる。</a:t>
            </a:r>
            <a:endParaRPr lang="en-US" sz="800" dirty="0">
              <a:solidFill>
                <a:sysClr val="windowText" lastClr="000000"/>
              </a:solidFill>
              <a:latin typeface="Meiryo UI" panose="020B0604030504040204" pitchFamily="34" charset="-128"/>
              <a:ea typeface="Meiryo UI" panose="020B0604030504040204" pitchFamily="34" charset="-128"/>
            </a:endParaRPr>
          </a:p>
        </p:txBody>
      </p:sp>
      <p:sp>
        <p:nvSpPr>
          <p:cNvPr id="44" name="Callout: Line 43">
            <a:extLst>
              <a:ext uri="{FF2B5EF4-FFF2-40B4-BE49-F238E27FC236}">
                <a16:creationId xmlns:a16="http://schemas.microsoft.com/office/drawing/2014/main" id="{92F470D5-BD44-4A23-BAEF-DA600012FC4B}"/>
              </a:ext>
            </a:extLst>
          </p:cNvPr>
          <p:cNvSpPr/>
          <p:nvPr/>
        </p:nvSpPr>
        <p:spPr>
          <a:xfrm>
            <a:off x="6322423" y="2053287"/>
            <a:ext cx="2996202" cy="425760"/>
          </a:xfrm>
          <a:prstGeom prst="borderCallout1">
            <a:avLst>
              <a:gd name="adj1" fmla="val 18104"/>
              <a:gd name="adj2" fmla="val -3563"/>
              <a:gd name="adj3" fmla="val 38692"/>
              <a:gd name="adj4" fmla="val -9420"/>
            </a:avLst>
          </a:prstGeom>
          <a:solidFill>
            <a:schemeClr val="accent3">
              <a:lumMod val="20000"/>
              <a:lumOff val="80000"/>
            </a:schemeClr>
          </a:solidFill>
          <a:ln>
            <a:solidFill>
              <a:schemeClr val="accent3">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A</a:t>
            </a:r>
            <a:r>
              <a:rPr lang="ja-JP" altLang="en-US" sz="800" dirty="0">
                <a:solidFill>
                  <a:sysClr val="windowText" lastClr="000000"/>
                </a:solidFill>
                <a:latin typeface="Meiryo UI" panose="020B0604030504040204" pitchFamily="34" charset="-128"/>
                <a:ea typeface="Meiryo UI" panose="020B0604030504040204" pitchFamily="34" charset="-128"/>
              </a:rPr>
              <a:t>社では</a:t>
            </a:r>
            <a:r>
              <a:rPr kumimoji="1" lang="ja-JP" altLang="en-US" sz="800" b="0" i="0" dirty="0">
                <a:solidFill>
                  <a:schemeClr val="tx1">
                    <a:lumMod val="75000"/>
                    <a:lumOff val="25000"/>
                  </a:schemeClr>
                </a:solidFill>
                <a:latin typeface="Meiryo UI" panose="020B0604030504040204" pitchFamily="34" charset="-128"/>
                <a:ea typeface="Meiryo UI" panose="020B0604030504040204" pitchFamily="34" charset="-128"/>
              </a:rPr>
              <a:t>各社でバラバラだった仕様書を統一することで、サプライヤーや関連</a:t>
            </a:r>
            <a:r>
              <a:rPr lang="ja-JP" altLang="en-US" sz="800" dirty="0">
                <a:solidFill>
                  <a:schemeClr val="tx1">
                    <a:lumMod val="75000"/>
                    <a:lumOff val="25000"/>
                  </a:schemeClr>
                </a:solidFill>
                <a:latin typeface="Meiryo UI" panose="020B0604030504040204" pitchFamily="34" charset="-128"/>
                <a:ea typeface="Meiryo UI" panose="020B0604030504040204" pitchFamily="34" charset="-128"/>
              </a:rPr>
              <a:t>会社</a:t>
            </a:r>
            <a:r>
              <a:rPr kumimoji="1" lang="ja-JP" altLang="en-US" sz="800" b="0" i="0" dirty="0">
                <a:solidFill>
                  <a:schemeClr val="tx1">
                    <a:lumMod val="75000"/>
                    <a:lumOff val="25000"/>
                  </a:schemeClr>
                </a:solidFill>
                <a:latin typeface="Meiryo UI" panose="020B0604030504040204" pitchFamily="34" charset="-128"/>
                <a:ea typeface="Meiryo UI" panose="020B0604030504040204" pitchFamily="34" charset="-128"/>
              </a:rPr>
              <a:t>との情報共有を効率化し見積精度を向上させ原価低減を実現した。</a:t>
            </a:r>
            <a:endParaRPr lang="en-US" sz="800" dirty="0">
              <a:solidFill>
                <a:sysClr val="windowText" lastClr="000000"/>
              </a:solidFill>
              <a:latin typeface="Meiryo UI" panose="020B0604030504040204" pitchFamily="34" charset="-128"/>
              <a:ea typeface="Meiryo UI" panose="020B0604030504040204" pitchFamily="34" charset="-128"/>
            </a:endParaRPr>
          </a:p>
        </p:txBody>
      </p:sp>
      <p:sp>
        <p:nvSpPr>
          <p:cNvPr id="45" name="Callout: Line 44">
            <a:extLst>
              <a:ext uri="{FF2B5EF4-FFF2-40B4-BE49-F238E27FC236}">
                <a16:creationId xmlns:a16="http://schemas.microsoft.com/office/drawing/2014/main" id="{4B577F98-A67D-4BA7-B8EA-A425FE19B8BD}"/>
              </a:ext>
            </a:extLst>
          </p:cNvPr>
          <p:cNvSpPr/>
          <p:nvPr/>
        </p:nvSpPr>
        <p:spPr>
          <a:xfrm>
            <a:off x="6322423" y="2601889"/>
            <a:ext cx="2996202" cy="425760"/>
          </a:xfrm>
          <a:prstGeom prst="borderCallout1">
            <a:avLst>
              <a:gd name="adj1" fmla="val 85219"/>
              <a:gd name="adj2" fmla="val -2291"/>
              <a:gd name="adj3" fmla="val 66657"/>
              <a:gd name="adj4" fmla="val -7512"/>
            </a:avLst>
          </a:prstGeom>
          <a:solidFill>
            <a:schemeClr val="accent3">
              <a:lumMod val="20000"/>
              <a:lumOff val="80000"/>
            </a:schemeClr>
          </a:solidFill>
          <a:ln>
            <a:solidFill>
              <a:schemeClr val="accent3">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A</a:t>
            </a:r>
            <a:r>
              <a:rPr lang="ja-JP" altLang="en-US" sz="800" dirty="0">
                <a:solidFill>
                  <a:sysClr val="windowText" lastClr="000000"/>
                </a:solidFill>
                <a:latin typeface="Meiryo UI" panose="020B0604030504040204" pitchFamily="34" charset="-128"/>
                <a:ea typeface="Meiryo UI" panose="020B0604030504040204" pitchFamily="34" charset="-128"/>
              </a:rPr>
              <a:t>社では仕様・部品情報を統一化することで製造・検査の工程管理をデジタル化し作業拠点間の作業進捗管理とともに、各工程に対しベテランのフィードバックを残すことで技術伝承にも活用した。</a:t>
            </a:r>
            <a:endParaRPr lang="en-US" sz="800" dirty="0">
              <a:solidFill>
                <a:sysClr val="windowText" lastClr="000000"/>
              </a:solidFill>
              <a:latin typeface="Meiryo UI" panose="020B0604030504040204" pitchFamily="34" charset="-128"/>
              <a:ea typeface="Meiryo UI" panose="020B0604030504040204" pitchFamily="34" charset="-128"/>
            </a:endParaRPr>
          </a:p>
        </p:txBody>
      </p:sp>
      <p:cxnSp>
        <p:nvCxnSpPr>
          <p:cNvPr id="47" name="Straight Arrow Connector 46">
            <a:extLst>
              <a:ext uri="{FF2B5EF4-FFF2-40B4-BE49-F238E27FC236}">
                <a16:creationId xmlns:a16="http://schemas.microsoft.com/office/drawing/2014/main" id="{EBEC0338-DFE2-459B-BDA2-BB52AE2FBC66}"/>
              </a:ext>
            </a:extLst>
          </p:cNvPr>
          <p:cNvCxnSpPr>
            <a:cxnSpLocks/>
          </p:cNvCxnSpPr>
          <p:nvPr/>
        </p:nvCxnSpPr>
        <p:spPr>
          <a:xfrm flipH="1">
            <a:off x="6067426" y="2958483"/>
            <a:ext cx="185328" cy="308191"/>
          </a:xfrm>
          <a:prstGeom prst="straightConnector1">
            <a:avLst/>
          </a:prstGeom>
          <a:noFill/>
          <a:ln w="12700" cap="flat" cmpd="sng" algn="ctr">
            <a:solidFill>
              <a:schemeClr val="accent3">
                <a:lumMod val="50000"/>
              </a:schemeClr>
            </a:solidFill>
            <a:prstDash val="solid"/>
            <a:tailEnd type="triangle"/>
          </a:ln>
          <a:effectLst/>
        </p:spPr>
      </p:cxnSp>
      <p:sp>
        <p:nvSpPr>
          <p:cNvPr id="49" name="Callout: Line 48">
            <a:extLst>
              <a:ext uri="{FF2B5EF4-FFF2-40B4-BE49-F238E27FC236}">
                <a16:creationId xmlns:a16="http://schemas.microsoft.com/office/drawing/2014/main" id="{03D5C984-7BA3-402A-BF2C-8F26BF568956}"/>
              </a:ext>
            </a:extLst>
          </p:cNvPr>
          <p:cNvSpPr/>
          <p:nvPr/>
        </p:nvSpPr>
        <p:spPr>
          <a:xfrm>
            <a:off x="6322423" y="4309673"/>
            <a:ext cx="2996202" cy="425760"/>
          </a:xfrm>
          <a:prstGeom prst="borderCallout1">
            <a:avLst>
              <a:gd name="adj1" fmla="val 18104"/>
              <a:gd name="adj2" fmla="val -3563"/>
              <a:gd name="adj3" fmla="val 38692"/>
              <a:gd name="adj4" fmla="val -9420"/>
            </a:avLst>
          </a:prstGeom>
          <a:solidFill>
            <a:schemeClr val="accent3">
              <a:lumMod val="20000"/>
              <a:lumOff val="80000"/>
            </a:schemeClr>
          </a:solidFill>
          <a:ln>
            <a:solidFill>
              <a:schemeClr val="accent3">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A</a:t>
            </a:r>
            <a:r>
              <a:rPr lang="ja-JP" altLang="en-US" sz="800" dirty="0">
                <a:solidFill>
                  <a:sysClr val="windowText" lastClr="000000"/>
                </a:solidFill>
                <a:latin typeface="Meiryo UI" panose="020B0604030504040204" pitchFamily="34" charset="-128"/>
                <a:ea typeface="Meiryo UI" panose="020B0604030504040204" pitchFamily="34" charset="-128"/>
              </a:rPr>
              <a:t>社では</a:t>
            </a:r>
            <a:r>
              <a:rPr lang="en-US" altLang="ja-JP" sz="800" dirty="0">
                <a:solidFill>
                  <a:schemeClr val="tx1">
                    <a:lumMod val="75000"/>
                    <a:lumOff val="25000"/>
                  </a:schemeClr>
                </a:solidFill>
                <a:latin typeface="Meiryo UI" panose="020B0604030504040204" pitchFamily="34" charset="-128"/>
                <a:ea typeface="Meiryo UI" panose="020B0604030504040204" pitchFamily="34" charset="-128"/>
              </a:rPr>
              <a:t>CAD</a:t>
            </a:r>
            <a:r>
              <a:rPr lang="ja-JP" altLang="en-US" sz="800" dirty="0">
                <a:solidFill>
                  <a:schemeClr val="tx1">
                    <a:lumMod val="75000"/>
                    <a:lumOff val="25000"/>
                  </a:schemeClr>
                </a:solidFill>
                <a:latin typeface="Meiryo UI" panose="020B0604030504040204" pitchFamily="34" charset="-128"/>
                <a:ea typeface="Meiryo UI" panose="020B0604030504040204" pitchFamily="34" charset="-128"/>
              </a:rPr>
              <a:t>データを全社統一化することで、拠点別にデータ管理を行っていた時に比べ約</a:t>
            </a:r>
            <a:r>
              <a:rPr lang="en-US" altLang="ja-JP" sz="800" dirty="0">
                <a:solidFill>
                  <a:schemeClr val="tx1">
                    <a:lumMod val="75000"/>
                    <a:lumOff val="25000"/>
                  </a:schemeClr>
                </a:solidFill>
                <a:latin typeface="Meiryo UI" panose="020B0604030504040204" pitchFamily="34" charset="-128"/>
                <a:ea typeface="Meiryo UI" panose="020B0604030504040204" pitchFamily="34" charset="-128"/>
              </a:rPr>
              <a:t>80%</a:t>
            </a:r>
            <a:r>
              <a:rPr lang="ja-JP" altLang="en-US" sz="800" dirty="0">
                <a:solidFill>
                  <a:schemeClr val="tx1">
                    <a:lumMod val="75000"/>
                    <a:lumOff val="25000"/>
                  </a:schemeClr>
                </a:solidFill>
                <a:latin typeface="Meiryo UI" panose="020B0604030504040204" pitchFamily="34" charset="-128"/>
                <a:ea typeface="Meiryo UI" panose="020B0604030504040204" pitchFamily="34" charset="-128"/>
              </a:rPr>
              <a:t>の費用低減を実現した。</a:t>
            </a:r>
            <a:endParaRPr lang="en-US" sz="800" dirty="0">
              <a:solidFill>
                <a:sysClr val="windowText" lastClr="000000"/>
              </a:solidFill>
              <a:latin typeface="Meiryo UI" panose="020B0604030504040204" pitchFamily="34" charset="-128"/>
              <a:ea typeface="Meiryo UI" panose="020B0604030504040204" pitchFamily="34" charset="-128"/>
            </a:endParaRPr>
          </a:p>
        </p:txBody>
      </p:sp>
      <p:sp>
        <p:nvSpPr>
          <p:cNvPr id="50" name="Callout: Line 49">
            <a:extLst>
              <a:ext uri="{FF2B5EF4-FFF2-40B4-BE49-F238E27FC236}">
                <a16:creationId xmlns:a16="http://schemas.microsoft.com/office/drawing/2014/main" id="{DE5E0AFE-08E2-4BDE-B82B-0C79AE60BCC1}"/>
              </a:ext>
            </a:extLst>
          </p:cNvPr>
          <p:cNvSpPr/>
          <p:nvPr/>
        </p:nvSpPr>
        <p:spPr>
          <a:xfrm>
            <a:off x="6322423" y="4941298"/>
            <a:ext cx="2996202" cy="425760"/>
          </a:xfrm>
          <a:prstGeom prst="borderCallout1">
            <a:avLst>
              <a:gd name="adj1" fmla="val 71254"/>
              <a:gd name="adj2" fmla="val -2373"/>
              <a:gd name="adj3" fmla="val 55567"/>
              <a:gd name="adj4" fmla="val -8997"/>
            </a:avLst>
          </a:prstGeom>
          <a:solidFill>
            <a:schemeClr val="accent6">
              <a:lumMod val="20000"/>
              <a:lumOff val="80000"/>
            </a:schemeClr>
          </a:solidFill>
          <a:ln>
            <a:solidFill>
              <a:schemeClr val="accent6">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D</a:t>
            </a:r>
            <a:r>
              <a:rPr lang="ja-JP" altLang="en-US" sz="800" dirty="0">
                <a:solidFill>
                  <a:sysClr val="windowText" lastClr="000000"/>
                </a:solidFill>
                <a:latin typeface="Meiryo UI" panose="020B0604030504040204" pitchFamily="34" charset="-128"/>
                <a:ea typeface="Meiryo UI" panose="020B0604030504040204" pitchFamily="34" charset="-128"/>
              </a:rPr>
              <a:t>社では設計や原価低減案策定の際に複数システムから情報を参照し手作業で行っていた各種業務を統一システム上で実現することで、約</a:t>
            </a:r>
            <a:r>
              <a:rPr lang="en-US" altLang="ja-JP" sz="800" dirty="0">
                <a:solidFill>
                  <a:sysClr val="windowText" lastClr="000000"/>
                </a:solidFill>
                <a:latin typeface="Meiryo UI" panose="020B0604030504040204" pitchFamily="34" charset="-128"/>
                <a:ea typeface="Meiryo UI" panose="020B0604030504040204" pitchFamily="34" charset="-128"/>
              </a:rPr>
              <a:t>30%</a:t>
            </a:r>
            <a:r>
              <a:rPr lang="ja-JP" altLang="en-US" sz="800" dirty="0">
                <a:solidFill>
                  <a:sysClr val="windowText" lastClr="000000"/>
                </a:solidFill>
                <a:latin typeface="Meiryo UI" panose="020B0604030504040204" pitchFamily="34" charset="-128"/>
                <a:ea typeface="Meiryo UI" panose="020B0604030504040204" pitchFamily="34" charset="-128"/>
              </a:rPr>
              <a:t>の業務負荷低減を実現した。</a:t>
            </a:r>
            <a:endParaRPr lang="en-US" sz="800" dirty="0">
              <a:solidFill>
                <a:sysClr val="windowText" lastClr="000000"/>
              </a:solidFill>
              <a:latin typeface="Meiryo UI" panose="020B0604030504040204" pitchFamily="34" charset="-128"/>
              <a:ea typeface="Meiryo UI" panose="020B0604030504040204" pitchFamily="34" charset="-128"/>
            </a:endParaRPr>
          </a:p>
        </p:txBody>
      </p:sp>
      <p:sp>
        <p:nvSpPr>
          <p:cNvPr id="51" name="Callout: Line 50">
            <a:extLst>
              <a:ext uri="{FF2B5EF4-FFF2-40B4-BE49-F238E27FC236}">
                <a16:creationId xmlns:a16="http://schemas.microsoft.com/office/drawing/2014/main" id="{5C2E2112-BBEC-4B79-AFC0-D9B342C84033}"/>
              </a:ext>
            </a:extLst>
          </p:cNvPr>
          <p:cNvSpPr/>
          <p:nvPr/>
        </p:nvSpPr>
        <p:spPr>
          <a:xfrm>
            <a:off x="6322423" y="5533082"/>
            <a:ext cx="2996202" cy="425760"/>
          </a:xfrm>
          <a:prstGeom prst="borderCallout1">
            <a:avLst>
              <a:gd name="adj1" fmla="val 5800"/>
              <a:gd name="adj2" fmla="val -3245"/>
              <a:gd name="adj3" fmla="val 20795"/>
              <a:gd name="adj4" fmla="val -9579"/>
            </a:avLst>
          </a:prstGeom>
          <a:solidFill>
            <a:schemeClr val="bg2">
              <a:lumMod val="20000"/>
              <a:lumOff val="80000"/>
            </a:schemeClr>
          </a:solidFill>
          <a:ln>
            <a:solidFill>
              <a:schemeClr val="bg2">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ysClr val="windowText" lastClr="000000"/>
                </a:solidFill>
                <a:latin typeface="Meiryo UI" panose="020B0604030504040204" pitchFamily="34" charset="-128"/>
                <a:ea typeface="Meiryo UI" panose="020B0604030504040204" pitchFamily="34" charset="-128"/>
              </a:rPr>
              <a:t>E</a:t>
            </a:r>
            <a:r>
              <a:rPr lang="ja-JP" altLang="en-US" sz="800" dirty="0">
                <a:solidFill>
                  <a:sysClr val="windowText" lastClr="000000"/>
                </a:solidFill>
                <a:latin typeface="Meiryo UI" panose="020B0604030504040204" pitchFamily="34" charset="-128"/>
                <a:ea typeface="Meiryo UI" panose="020B0604030504040204" pitchFamily="34" charset="-128"/>
              </a:rPr>
              <a:t>社ではグループ会社の経営統合・リブランディングに際し、両社のメタ・マスターデータを統一することで新プロセスへの移行を約</a:t>
            </a:r>
            <a:r>
              <a:rPr lang="en-US" altLang="ja-JP" sz="800" dirty="0">
                <a:solidFill>
                  <a:sysClr val="windowText" lastClr="000000"/>
                </a:solidFill>
                <a:latin typeface="Meiryo UI" panose="020B0604030504040204" pitchFamily="34" charset="-128"/>
                <a:ea typeface="Meiryo UI" panose="020B0604030504040204" pitchFamily="34" charset="-128"/>
              </a:rPr>
              <a:t>1</a:t>
            </a:r>
            <a:r>
              <a:rPr lang="ja-JP" altLang="en-US" sz="800" dirty="0">
                <a:solidFill>
                  <a:sysClr val="windowText" lastClr="000000"/>
                </a:solidFill>
                <a:latin typeface="Meiryo UI" panose="020B0604030504040204" pitchFamily="34" charset="-128"/>
                <a:ea typeface="Meiryo UI" panose="020B0604030504040204" pitchFamily="34" charset="-128"/>
              </a:rPr>
              <a:t>年短縮した。</a:t>
            </a:r>
            <a:endParaRPr lang="en-US" sz="800" dirty="0">
              <a:solidFill>
                <a:sysClr val="windowText" lastClr="000000"/>
              </a:solidFill>
              <a:latin typeface="Meiryo UI" panose="020B0604030504040204" pitchFamily="34" charset="-128"/>
              <a:ea typeface="Meiryo UI" panose="020B0604030504040204" pitchFamily="34" charset="-128"/>
            </a:endParaRPr>
          </a:p>
        </p:txBody>
      </p:sp>
      <p:sp>
        <p:nvSpPr>
          <p:cNvPr id="3" name="角丸四角形吹き出し 2"/>
          <p:cNvSpPr/>
          <p:nvPr/>
        </p:nvSpPr>
        <p:spPr>
          <a:xfrm>
            <a:off x="6418118" y="1127138"/>
            <a:ext cx="3097924" cy="509704"/>
          </a:xfrm>
          <a:prstGeom prst="wedgeRoundRectCallout">
            <a:avLst>
              <a:gd name="adj1" fmla="val -22280"/>
              <a:gd name="adj2" fmla="val -611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dirty="0">
                <a:latin typeface="Meiryo UI" panose="020B0604030504040204" pitchFamily="34" charset="-128"/>
                <a:ea typeface="Meiryo UI" panose="020B0604030504040204" pitchFamily="34" charset="-128"/>
              </a:rPr>
              <a:t>今村様コメント：オーディエンスによってメッセージを変える必要あり。</a:t>
            </a:r>
            <a:r>
              <a:rPr kumimoji="1" lang="en-US" altLang="ja-JP" sz="1000" dirty="0">
                <a:latin typeface="Meiryo UI" panose="020B0604030504040204" pitchFamily="34" charset="-128"/>
                <a:ea typeface="Meiryo UI" panose="020B0604030504040204" pitchFamily="34" charset="-128"/>
              </a:rPr>
              <a:t>IT</a:t>
            </a:r>
            <a:r>
              <a:rPr kumimoji="1" lang="ja-JP" altLang="en-US" sz="1000" dirty="0">
                <a:latin typeface="Meiryo UI" panose="020B0604030504040204" pitchFamily="34" charset="-128"/>
                <a:ea typeface="Meiryo UI" panose="020B0604030504040204" pitchFamily="34" charset="-128"/>
              </a:rPr>
              <a:t>アーキ</a:t>
            </a:r>
            <a:r>
              <a:rPr kumimoji="1" lang="en-US" altLang="ja-JP" sz="1000" dirty="0">
                <a:latin typeface="Meiryo UI" panose="020B0604030504040204" pitchFamily="34" charset="-128"/>
                <a:ea typeface="Meiryo UI" panose="020B0604030504040204" pitchFamily="34" charset="-128"/>
              </a:rPr>
              <a:t>WG</a:t>
            </a:r>
            <a:r>
              <a:rPr kumimoji="1" lang="ja-JP" altLang="en-US" sz="1000" dirty="0">
                <a:latin typeface="Meiryo UI" panose="020B0604030504040204" pitchFamily="34" charset="-128"/>
                <a:ea typeface="Meiryo UI" panose="020B0604030504040204" pitchFamily="34" charset="-128"/>
              </a:rPr>
              <a:t>内だともう少し具体的に記載してよい。</a:t>
            </a:r>
          </a:p>
        </p:txBody>
      </p:sp>
      <p:sp>
        <p:nvSpPr>
          <p:cNvPr id="24" name="角丸四角形吹き出し 23"/>
          <p:cNvSpPr/>
          <p:nvPr/>
        </p:nvSpPr>
        <p:spPr>
          <a:xfrm>
            <a:off x="120869" y="1336091"/>
            <a:ext cx="3097924" cy="509704"/>
          </a:xfrm>
          <a:prstGeom prst="wedgeRoundRectCallout">
            <a:avLst>
              <a:gd name="adj1" fmla="val -23622"/>
              <a:gd name="adj2" fmla="val 6714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dirty="0">
                <a:latin typeface="Meiryo UI" panose="020B0604030504040204" pitchFamily="34" charset="-128"/>
                <a:ea typeface="Meiryo UI" panose="020B0604030504040204" pitchFamily="34" charset="-128"/>
              </a:rPr>
              <a:t>今村様コメント：情報共有</a:t>
            </a:r>
            <a:r>
              <a:rPr kumimoji="1" lang="ja-JP" altLang="en-US" sz="1000">
                <a:latin typeface="Meiryo UI" panose="020B0604030504040204" pitchFamily="34" charset="-128"/>
                <a:ea typeface="Meiryo UI" panose="020B0604030504040204" pitchFamily="34" charset="-128"/>
              </a:rPr>
              <a:t>の効率化と検索と活用の効率化は、マージしてもよいと思うがチーム内で意見を聞きたい。</a:t>
            </a:r>
            <a:endParaRPr kumimoji="1" lang="ja-JP" altLang="en-US" sz="1000" dirty="0">
              <a:latin typeface="Meiryo UI" panose="020B0604030504040204" pitchFamily="34" charset="-128"/>
              <a:ea typeface="Meiryo UI" panose="020B0604030504040204" pitchFamily="34" charset="-128"/>
            </a:endParaRPr>
          </a:p>
        </p:txBody>
      </p:sp>
      <p:sp>
        <p:nvSpPr>
          <p:cNvPr id="25" name="テキスト プレースホルダー 2">
            <a:extLst>
              <a:ext uri="{FF2B5EF4-FFF2-40B4-BE49-F238E27FC236}">
                <a16:creationId xmlns:a16="http://schemas.microsoft.com/office/drawing/2014/main" id="{DAE2E9D4-1D67-6F4E-948D-2375225D80CA}"/>
              </a:ext>
            </a:extLst>
          </p:cNvPr>
          <p:cNvSpPr txBox="1">
            <a:spLocks/>
          </p:cNvSpPr>
          <p:nvPr/>
        </p:nvSpPr>
        <p:spPr>
          <a:xfrm>
            <a:off x="236538" y="574775"/>
            <a:ext cx="9432925" cy="565146"/>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ja-JP" altLang="en-US" b="1">
                <a:latin typeface="Meiryo UI" panose="020B0604030504040204" pitchFamily="34" charset="-128"/>
                <a:ea typeface="Meiryo UI" panose="020B0604030504040204" pitchFamily="34" charset="-128"/>
              </a:rPr>
              <a:t>データマネジメントとは、業務システムのみならず図面や仕様書等業務上用いられるあらゆる情報の記述の仕方や意味合いを統一し上流から下流までの業務の一貫性を担保し効率化を推進する活動である。</a:t>
            </a:r>
            <a:endParaRPr lang="ja-JP" altLang="en-US" b="1">
              <a:latin typeface="Meiryo UI" panose="020B0604030504040204" pitchFamily="34" charset="-128"/>
              <a:ea typeface="Meiryo UI" panose="020B0604030504040204" pitchFamily="34" charset="-128"/>
              <a:cs typeface="+mn-cs"/>
            </a:endParaRPr>
          </a:p>
        </p:txBody>
      </p:sp>
      <p:sp>
        <p:nvSpPr>
          <p:cNvPr id="26" name="正方形/長方形 25">
            <a:extLst>
              <a:ext uri="{FF2B5EF4-FFF2-40B4-BE49-F238E27FC236}">
                <a16:creationId xmlns:a16="http://schemas.microsoft.com/office/drawing/2014/main" id="{C8DBA0A0-5C80-CD49-843F-3CAC2D546BBB}"/>
              </a:ext>
            </a:extLst>
          </p:cNvPr>
          <p:cNvSpPr/>
          <p:nvPr/>
        </p:nvSpPr>
        <p:spPr>
          <a:xfrm>
            <a:off x="9680915" y="199747"/>
            <a:ext cx="1330522"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タイトル分に「貴社のビジネスにとっての」を追加しました。</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60179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79106-AD7E-B748-8401-9C48EDC2F579}"/>
              </a:ext>
            </a:extLst>
          </p:cNvPr>
          <p:cNvSpPr>
            <a:spLocks noGrp="1"/>
          </p:cNvSpPr>
          <p:nvPr>
            <p:ph type="title"/>
          </p:nvPr>
        </p:nvSpPr>
        <p:spPr>
          <a:xfrm>
            <a:off x="236538" y="128799"/>
            <a:ext cx="7287807" cy="349961"/>
          </a:xfrm>
        </p:spPr>
        <p:txBody>
          <a:bodyPr/>
          <a:lstStyle/>
          <a:p>
            <a:r>
              <a:rPr lang="ja-JP" altLang="en-US" b="1"/>
              <a:t>貴社の</a:t>
            </a:r>
            <a:r>
              <a:rPr lang="en-US" altLang="ja-JP" b="1" dirty="0"/>
              <a:t>IT</a:t>
            </a:r>
            <a:r>
              <a:rPr lang="ja-JP" altLang="en-US" b="1"/>
              <a:t>システム刷新に関する弊社理解</a:t>
            </a:r>
            <a:endParaRPr kumimoji="1" lang="ja-JP" altLang="en-US" b="1"/>
          </a:p>
        </p:txBody>
      </p:sp>
      <p:sp>
        <p:nvSpPr>
          <p:cNvPr id="5" name="テキスト プレースホルダー 2">
            <a:extLst>
              <a:ext uri="{FF2B5EF4-FFF2-40B4-BE49-F238E27FC236}">
                <a16:creationId xmlns:a16="http://schemas.microsoft.com/office/drawing/2014/main" id="{158928A6-7CAE-2F41-9AFC-5F7631C2DD96}"/>
              </a:ext>
            </a:extLst>
          </p:cNvPr>
          <p:cNvSpPr txBox="1">
            <a:spLocks/>
          </p:cNvSpPr>
          <p:nvPr/>
        </p:nvSpPr>
        <p:spPr>
          <a:xfrm>
            <a:off x="256493" y="574775"/>
            <a:ext cx="9412970" cy="565146"/>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en-US" altLang="ja-JP" b="1" dirty="0">
                <a:latin typeface="Meiryo UI" panose="020B0604030504040204" pitchFamily="34" charset="-128"/>
                <a:ea typeface="Meiryo UI" panose="020B0604030504040204" pitchFamily="34" charset="-128"/>
                <a:cs typeface="+mn-cs"/>
              </a:rPr>
              <a:t>MHI</a:t>
            </a:r>
            <a:r>
              <a:rPr lang="ja-JP" altLang="en-US" b="1">
                <a:latin typeface="Meiryo UI" panose="020B0604030504040204" pitchFamily="34" charset="-128"/>
                <a:ea typeface="Meiryo UI" panose="020B0604030504040204" pitchFamily="34" charset="-128"/>
                <a:cs typeface="+mn-cs"/>
              </a:rPr>
              <a:t>様における</a:t>
            </a:r>
            <a:r>
              <a:rPr lang="en-US" altLang="ja-JP" b="1" dirty="0">
                <a:latin typeface="Meiryo UI" panose="020B0604030504040204" pitchFamily="34" charset="-128"/>
                <a:ea typeface="Meiryo UI" panose="020B0604030504040204" pitchFamily="34" charset="-128"/>
                <a:cs typeface="+mn-cs"/>
              </a:rPr>
              <a:t>SAP</a:t>
            </a:r>
            <a:r>
              <a:rPr lang="ja-JP" altLang="en-US" b="1">
                <a:latin typeface="Meiryo UI" panose="020B0604030504040204" pitchFamily="34" charset="-128"/>
                <a:ea typeface="Meiryo UI" panose="020B0604030504040204" pitchFamily="34" charset="-128"/>
                <a:cs typeface="+mn-cs"/>
              </a:rPr>
              <a:t>刷新をきっかけに三菱パワー全社の</a:t>
            </a:r>
            <a:r>
              <a:rPr lang="en-US" altLang="ja-JP" b="1" dirty="0">
                <a:latin typeface="Meiryo UI" panose="020B0604030504040204" pitchFamily="34" charset="-128"/>
                <a:ea typeface="Meiryo UI" panose="020B0604030504040204" pitchFamily="34" charset="-128"/>
                <a:cs typeface="+mn-cs"/>
              </a:rPr>
              <a:t>IT</a:t>
            </a:r>
            <a:r>
              <a:rPr lang="ja-JP" altLang="en-US" b="1">
                <a:latin typeface="Meiryo UI" panose="020B0604030504040204" pitchFamily="34" charset="-128"/>
                <a:ea typeface="Meiryo UI" panose="020B0604030504040204" pitchFamily="34" charset="-128"/>
                <a:cs typeface="+mn-cs"/>
              </a:rPr>
              <a:t>システム刷新を検討している。</a:t>
            </a:r>
          </a:p>
          <a:p>
            <a:pPr defTabSz="633062" eaLnBrk="0" hangingPunct="0">
              <a:lnSpc>
                <a:spcPct val="100000"/>
              </a:lnSpc>
              <a:spcBef>
                <a:spcPts val="0"/>
              </a:spcBef>
            </a:pPr>
            <a:r>
              <a:rPr lang="ja-JP" altLang="en-US" b="1">
                <a:latin typeface="Meiryo UI" panose="020B0604030504040204" pitchFamily="34" charset="-128"/>
                <a:ea typeface="Meiryo UI" panose="020B0604030504040204" pitchFamily="34" charset="-128"/>
                <a:cs typeface="+mn-cs"/>
              </a:rPr>
              <a:t>その一環として、データマネジメント強化に関わる活動を推進しており、その着実な遂行が求められている。</a:t>
            </a:r>
          </a:p>
        </p:txBody>
      </p:sp>
      <p:pic>
        <p:nvPicPr>
          <p:cNvPr id="4" name="図 3">
            <a:extLst>
              <a:ext uri="{FF2B5EF4-FFF2-40B4-BE49-F238E27FC236}">
                <a16:creationId xmlns:a16="http://schemas.microsoft.com/office/drawing/2014/main" id="{AC41FC14-7ABE-9640-9FFF-556444435B26}"/>
              </a:ext>
            </a:extLst>
          </p:cNvPr>
          <p:cNvPicPr>
            <a:picLocks noChangeAspect="1"/>
          </p:cNvPicPr>
          <p:nvPr/>
        </p:nvPicPr>
        <p:blipFill>
          <a:blip r:embed="rId2"/>
          <a:stretch>
            <a:fillRect/>
          </a:stretch>
        </p:blipFill>
        <p:spPr>
          <a:xfrm>
            <a:off x="1099213" y="1591127"/>
            <a:ext cx="7724096" cy="4666749"/>
          </a:xfrm>
          <a:prstGeom prst="rect">
            <a:avLst/>
          </a:prstGeom>
        </p:spPr>
      </p:pic>
      <p:sp>
        <p:nvSpPr>
          <p:cNvPr id="6" name="正方形/長方形 5">
            <a:extLst>
              <a:ext uri="{FF2B5EF4-FFF2-40B4-BE49-F238E27FC236}">
                <a16:creationId xmlns:a16="http://schemas.microsoft.com/office/drawing/2014/main" id="{B30CF2F3-2CB5-964B-8132-EC770EB009D1}"/>
              </a:ext>
            </a:extLst>
          </p:cNvPr>
          <p:cNvSpPr/>
          <p:nvPr/>
        </p:nvSpPr>
        <p:spPr>
          <a:xfrm>
            <a:off x="9680915" y="199747"/>
            <a:ext cx="1330522"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タイトル文に「貴社の</a:t>
            </a:r>
            <a:r>
              <a:rPr lang="en-US" altLang="ja-JP" sz="1000" b="1" dirty="0">
                <a:solidFill>
                  <a:schemeClr val="bg1"/>
                </a:solidFill>
                <a:latin typeface="Meiryo UI" panose="020B0604030504040204" pitchFamily="50" charset="-128"/>
                <a:ea typeface="Meiryo UI" panose="020B0604030504040204" pitchFamily="50" charset="-128"/>
              </a:rPr>
              <a:t>IT</a:t>
            </a:r>
            <a:r>
              <a:rPr lang="ja-JP" altLang="en-US" sz="1000" b="1">
                <a:solidFill>
                  <a:schemeClr val="bg1"/>
                </a:solidFill>
                <a:latin typeface="Meiryo UI" panose="020B0604030504040204" pitchFamily="50" charset="-128"/>
                <a:ea typeface="Meiryo UI" panose="020B0604030504040204" pitchFamily="50" charset="-128"/>
              </a:rPr>
              <a:t>システム刷新」を追加</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45345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8318883" cy="349961"/>
          </a:xfrm>
        </p:spPr>
        <p:txBody>
          <a:bodyPr/>
          <a:lstStyle/>
          <a:p>
            <a:r>
              <a:rPr lang="ja-JP" altLang="en-US" b="1"/>
              <a:t>貴社の</a:t>
            </a:r>
            <a:r>
              <a:rPr lang="en-US" altLang="ja-JP" b="1" dirty="0"/>
              <a:t>IT</a:t>
            </a:r>
            <a:r>
              <a:rPr lang="ja-JP" altLang="en-US" b="1"/>
              <a:t>システムにもたらされるデータマネジメント強化のバリュー</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6865"/>
            <a:ext cx="9440861"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ビジネスモデルが拠点単位から</a:t>
            </a:r>
            <a:r>
              <a:rPr lang="en-US" altLang="ja-JP" b="1" dirty="0">
                <a:latin typeface="Meiryo UI" panose="020B0604030504040204" pitchFamily="34" charset="-128"/>
                <a:ea typeface="Meiryo UI" panose="020B0604030504040204" pitchFamily="34" charset="-128"/>
                <a:cs typeface="+mn-cs"/>
              </a:rPr>
              <a:t>BU</a:t>
            </a:r>
            <a:r>
              <a:rPr lang="ja-JP" altLang="en-US" b="1" dirty="0">
                <a:latin typeface="Meiryo UI" panose="020B0604030504040204" pitchFamily="34" charset="-128"/>
                <a:ea typeface="Meiryo UI" panose="020B0604030504040204" pitchFamily="34" charset="-128"/>
                <a:cs typeface="+mn-cs"/>
              </a:rPr>
              <a:t>単位へ、モノの販売からデータに基づくソリューション提案にシフトする中、</a:t>
            </a:r>
            <a:br>
              <a:rPr lang="en-US" altLang="ja-JP" b="1" dirty="0">
                <a:latin typeface="Meiryo UI" panose="020B0604030504040204" pitchFamily="34" charset="-128"/>
                <a:ea typeface="Meiryo UI" panose="020B0604030504040204" pitchFamily="34" charset="-128"/>
                <a:cs typeface="+mn-cs"/>
              </a:rPr>
            </a:br>
            <a:r>
              <a:rPr lang="ja-JP" altLang="en-US" b="1" dirty="0">
                <a:latin typeface="Meiryo UI" panose="020B0604030504040204" pitchFamily="34" charset="-128"/>
                <a:ea typeface="Meiryo UI" panose="020B0604030504040204" pitchFamily="34" charset="-128"/>
                <a:cs typeface="+mn-cs"/>
              </a:rPr>
              <a:t>社内データを標準化しデータ活用に適した形に管理することで事業の加速化と</a:t>
            </a:r>
            <a:r>
              <a:rPr lang="en-US" altLang="ja-JP" b="1" dirty="0">
                <a:latin typeface="Meiryo UI" panose="020B0604030504040204" pitchFamily="34" charset="-128"/>
                <a:ea typeface="Meiryo UI" panose="020B0604030504040204" pitchFamily="34" charset="-128"/>
                <a:cs typeface="+mn-cs"/>
              </a:rPr>
              <a:t>IT</a:t>
            </a:r>
            <a:r>
              <a:rPr lang="ja-JP" altLang="en-US" b="1" dirty="0">
                <a:latin typeface="Meiryo UI" panose="020B0604030504040204" pitchFamily="34" charset="-128"/>
                <a:ea typeface="Meiryo UI" panose="020B0604030504040204" pitchFamily="34" charset="-128"/>
                <a:cs typeface="+mn-cs"/>
              </a:rPr>
              <a:t>課題の解決双方に貢献できる。</a:t>
            </a:r>
            <a:endParaRPr lang="en-US" b="1" dirty="0">
              <a:latin typeface="Meiryo UI" panose="020B0604030504040204" pitchFamily="34" charset="-128"/>
              <a:ea typeface="Meiryo UI" panose="020B0604030504040204" pitchFamily="34" charset="-128"/>
              <a:cs typeface="+mn-cs"/>
            </a:endParaRPr>
          </a:p>
        </p:txBody>
      </p:sp>
      <p:sp>
        <p:nvSpPr>
          <p:cNvPr id="22" name="正方形/長方形 21">
            <a:extLst>
              <a:ext uri="{FF2B5EF4-FFF2-40B4-BE49-F238E27FC236}">
                <a16:creationId xmlns:a16="http://schemas.microsoft.com/office/drawing/2014/main" id="{AE9FFDE4-6FB6-4EB2-8FF1-DAF8BE7A9928}"/>
              </a:ext>
            </a:extLst>
          </p:cNvPr>
          <p:cNvSpPr/>
          <p:nvPr/>
        </p:nvSpPr>
        <p:spPr>
          <a:xfrm>
            <a:off x="376503" y="2321983"/>
            <a:ext cx="1259755" cy="349961"/>
          </a:xfrm>
          <a:prstGeom prst="rect">
            <a:avLst/>
          </a:prstGeom>
          <a:solidFill>
            <a:schemeClr val="accent4">
              <a:lumMod val="5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Meiryo UI" panose="020B0604030504040204" pitchFamily="34" charset="-128"/>
                <a:ea typeface="Meiryo UI" panose="020B0604030504040204" pitchFamily="34" charset="-128"/>
              </a:rPr>
              <a:t>データ</a:t>
            </a:r>
            <a:endParaRPr lang="en-US" altLang="ja-JP" sz="1050" dirty="0">
              <a:solidFill>
                <a:schemeClr val="bg1"/>
              </a:solidFill>
              <a:latin typeface="Meiryo UI" panose="020B0604030504040204" pitchFamily="34" charset="-128"/>
              <a:ea typeface="Meiryo UI" panose="020B0604030504040204" pitchFamily="34" charset="-128"/>
            </a:endParaRPr>
          </a:p>
          <a:p>
            <a:pPr algn="ctr"/>
            <a:r>
              <a:rPr lang="ja-JP" altLang="en-US" sz="1050" dirty="0">
                <a:solidFill>
                  <a:schemeClr val="bg1"/>
                </a:solidFill>
                <a:latin typeface="Meiryo UI" panose="020B0604030504040204" pitchFamily="34" charset="-128"/>
                <a:ea typeface="Meiryo UI" panose="020B0604030504040204" pitchFamily="34" charset="-128"/>
              </a:rPr>
              <a:t>アーキテクチャ</a:t>
            </a:r>
            <a:endParaRPr lang="en-US" sz="1050" dirty="0">
              <a:solidFill>
                <a:schemeClr val="bg1"/>
              </a:solidFill>
              <a:latin typeface="Meiryo UI" panose="020B0604030504040204" pitchFamily="34" charset="-128"/>
              <a:ea typeface="Meiryo UI" panose="020B0604030504040204" pitchFamily="34" charset="-128"/>
            </a:endParaRPr>
          </a:p>
        </p:txBody>
      </p:sp>
      <p:sp>
        <p:nvSpPr>
          <p:cNvPr id="23" name="正方形/長方形 22">
            <a:extLst>
              <a:ext uri="{FF2B5EF4-FFF2-40B4-BE49-F238E27FC236}">
                <a16:creationId xmlns:a16="http://schemas.microsoft.com/office/drawing/2014/main" id="{DC955BAA-41DD-46E6-A092-05A4F6E4AF72}"/>
              </a:ext>
            </a:extLst>
          </p:cNvPr>
          <p:cNvSpPr/>
          <p:nvPr/>
        </p:nvSpPr>
        <p:spPr>
          <a:xfrm>
            <a:off x="376503" y="2740744"/>
            <a:ext cx="1259755" cy="349961"/>
          </a:xfrm>
          <a:prstGeom prst="rect">
            <a:avLst/>
          </a:prstGeom>
          <a:solidFill>
            <a:schemeClr val="tx2">
              <a:lumMod val="20000"/>
              <a:lumOff val="80000"/>
            </a:schemeClr>
          </a:solid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Meiryo UI" panose="020B0604030504040204" pitchFamily="34" charset="-128"/>
                <a:ea typeface="Meiryo UI" panose="020B0604030504040204" pitchFamily="34" charset="-128"/>
              </a:rPr>
              <a:t>アプリケーション</a:t>
            </a:r>
            <a:endParaRPr lang="en-US" altLang="ja-JP" sz="1050" dirty="0">
              <a:solidFill>
                <a:schemeClr val="tx1"/>
              </a:solidFill>
              <a:latin typeface="Meiryo UI" panose="020B0604030504040204" pitchFamily="34" charset="-128"/>
              <a:ea typeface="Meiryo UI" panose="020B0604030504040204" pitchFamily="34" charset="-128"/>
            </a:endParaRPr>
          </a:p>
          <a:p>
            <a:pPr algn="ctr"/>
            <a:r>
              <a:rPr lang="ja-JP" altLang="en-US" sz="1050" dirty="0">
                <a:solidFill>
                  <a:schemeClr val="tx1"/>
                </a:solidFill>
                <a:latin typeface="Meiryo UI" panose="020B0604030504040204" pitchFamily="34" charset="-128"/>
                <a:ea typeface="Meiryo UI" panose="020B0604030504040204" pitchFamily="34" charset="-128"/>
              </a:rPr>
              <a:t>アーキテクチャ</a:t>
            </a:r>
            <a:endParaRPr lang="en-US" sz="1050" dirty="0">
              <a:solidFill>
                <a:schemeClr val="tx1"/>
              </a:solidFill>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03E8D723-F007-45B0-ABA3-88F8C503CCBD}"/>
              </a:ext>
            </a:extLst>
          </p:cNvPr>
          <p:cNvSpPr/>
          <p:nvPr/>
        </p:nvSpPr>
        <p:spPr>
          <a:xfrm>
            <a:off x="376503" y="3159506"/>
            <a:ext cx="1259755" cy="349961"/>
          </a:xfrm>
          <a:prstGeom prst="rect">
            <a:avLst/>
          </a:prstGeom>
          <a:solidFill>
            <a:schemeClr val="tx2">
              <a:lumMod val="20000"/>
              <a:lumOff val="80000"/>
            </a:schemeClr>
          </a:solid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Meiryo UI" panose="020B0604030504040204" pitchFamily="34" charset="-128"/>
                <a:ea typeface="Meiryo UI" panose="020B0604030504040204" pitchFamily="34" charset="-128"/>
              </a:rPr>
              <a:t>テクノロジ</a:t>
            </a:r>
            <a:endParaRPr lang="en-US" altLang="ja-JP" sz="1050" dirty="0">
              <a:solidFill>
                <a:schemeClr val="tx1"/>
              </a:solidFill>
              <a:latin typeface="Meiryo UI" panose="020B0604030504040204" pitchFamily="34" charset="-128"/>
              <a:ea typeface="Meiryo UI" panose="020B0604030504040204" pitchFamily="34" charset="-128"/>
            </a:endParaRPr>
          </a:p>
          <a:p>
            <a:pPr algn="ctr"/>
            <a:r>
              <a:rPr lang="ja-JP" altLang="en-US" sz="1050" dirty="0">
                <a:solidFill>
                  <a:schemeClr val="tx1"/>
                </a:solidFill>
                <a:latin typeface="Meiryo UI" panose="020B0604030504040204" pitchFamily="34" charset="-128"/>
                <a:ea typeface="Meiryo UI" panose="020B0604030504040204" pitchFamily="34" charset="-128"/>
              </a:rPr>
              <a:t>アーキテクチャ</a:t>
            </a:r>
            <a:endParaRPr lang="en-US" sz="1050" dirty="0">
              <a:solidFill>
                <a:schemeClr val="tx1"/>
              </a:solidFill>
              <a:latin typeface="Meiryo UI" panose="020B0604030504040204" pitchFamily="34" charset="-128"/>
              <a:ea typeface="Meiryo UI" panose="020B0604030504040204" pitchFamily="34" charset="-128"/>
            </a:endParaRPr>
          </a:p>
        </p:txBody>
      </p:sp>
      <p:cxnSp>
        <p:nvCxnSpPr>
          <p:cNvPr id="5" name="直線コネクタ 4">
            <a:extLst>
              <a:ext uri="{FF2B5EF4-FFF2-40B4-BE49-F238E27FC236}">
                <a16:creationId xmlns:a16="http://schemas.microsoft.com/office/drawing/2014/main" id="{B123692B-1BC3-43AC-975E-882C61445A37}"/>
              </a:ext>
            </a:extLst>
          </p:cNvPr>
          <p:cNvCxnSpPr/>
          <p:nvPr/>
        </p:nvCxnSpPr>
        <p:spPr>
          <a:xfrm>
            <a:off x="376503" y="2706344"/>
            <a:ext cx="9082087" cy="0"/>
          </a:xfrm>
          <a:prstGeom prst="line">
            <a:avLst/>
          </a:prstGeom>
          <a:noFill/>
          <a:ln w="9525" cap="flat" cmpd="sng" algn="ctr">
            <a:solidFill>
              <a:srgbClr val="0076A8"/>
            </a:solidFill>
            <a:prstDash val="lgDash"/>
            <a:tailEnd type="none"/>
          </a:ln>
          <a:effectLst/>
        </p:spPr>
      </p:cxnSp>
      <p:cxnSp>
        <p:nvCxnSpPr>
          <p:cNvPr id="96" name="直線コネクタ 95">
            <a:extLst>
              <a:ext uri="{FF2B5EF4-FFF2-40B4-BE49-F238E27FC236}">
                <a16:creationId xmlns:a16="http://schemas.microsoft.com/office/drawing/2014/main" id="{4BDDFAA8-0C42-40C8-BC37-DB678ACE14E6}"/>
              </a:ext>
            </a:extLst>
          </p:cNvPr>
          <p:cNvCxnSpPr/>
          <p:nvPr/>
        </p:nvCxnSpPr>
        <p:spPr>
          <a:xfrm>
            <a:off x="376503" y="3125105"/>
            <a:ext cx="9082087" cy="0"/>
          </a:xfrm>
          <a:prstGeom prst="line">
            <a:avLst/>
          </a:prstGeom>
          <a:noFill/>
          <a:ln w="9525" cap="flat" cmpd="sng" algn="ctr">
            <a:solidFill>
              <a:srgbClr val="0076A8"/>
            </a:solidFill>
            <a:prstDash val="lgDash"/>
            <a:tailEnd type="none"/>
          </a:ln>
          <a:effectLst/>
        </p:spPr>
      </p:cxnSp>
      <p:grpSp>
        <p:nvGrpSpPr>
          <p:cNvPr id="36" name="グループ化 35">
            <a:extLst>
              <a:ext uri="{FF2B5EF4-FFF2-40B4-BE49-F238E27FC236}">
                <a16:creationId xmlns:a16="http://schemas.microsoft.com/office/drawing/2014/main" id="{89B69040-9488-4481-8780-3252A0C33FE5}"/>
              </a:ext>
            </a:extLst>
          </p:cNvPr>
          <p:cNvGrpSpPr/>
          <p:nvPr/>
        </p:nvGrpSpPr>
        <p:grpSpPr>
          <a:xfrm>
            <a:off x="1699567" y="1625430"/>
            <a:ext cx="492443" cy="732216"/>
            <a:chOff x="2314593" y="1749305"/>
            <a:chExt cx="492443" cy="732216"/>
          </a:xfrm>
        </p:grpSpPr>
        <p:pic>
          <p:nvPicPr>
            <p:cNvPr id="28" name="図 27">
              <a:extLst>
                <a:ext uri="{FF2B5EF4-FFF2-40B4-BE49-F238E27FC236}">
                  <a16:creationId xmlns:a16="http://schemas.microsoft.com/office/drawing/2014/main" id="{5CA9E6D9-3F68-4C8C-9692-EF64950BA11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346664" y="1749305"/>
              <a:ext cx="428301" cy="426446"/>
            </a:xfrm>
            <a:prstGeom prst="rect">
              <a:avLst/>
            </a:prstGeom>
          </p:spPr>
        </p:pic>
        <p:sp>
          <p:nvSpPr>
            <p:cNvPr id="29" name="テキスト ボックス 28">
              <a:extLst>
                <a:ext uri="{FF2B5EF4-FFF2-40B4-BE49-F238E27FC236}">
                  <a16:creationId xmlns:a16="http://schemas.microsoft.com/office/drawing/2014/main" id="{14791EED-0EE5-4BB5-ACBE-618B9B18D12D}"/>
                </a:ext>
              </a:extLst>
            </p:cNvPr>
            <p:cNvSpPr txBox="1"/>
            <p:nvPr/>
          </p:nvSpPr>
          <p:spPr>
            <a:xfrm>
              <a:off x="2314593" y="2204522"/>
              <a:ext cx="492443" cy="276999"/>
            </a:xfrm>
            <a:prstGeom prst="rect">
              <a:avLst/>
            </a:prstGeom>
            <a:noFill/>
          </p:spPr>
          <p:txBody>
            <a:bodyPr wrap="none" rtlCol="0">
              <a:spAutoFit/>
            </a:bodyPr>
            <a:lstStyle/>
            <a:p>
              <a:pPr algn="ctr"/>
              <a:r>
                <a:rPr kumimoji="1" lang="ja-JP" altLang="en-US" sz="1200" dirty="0">
                  <a:latin typeface="Meiryo UI" panose="020B0604030504040204" pitchFamily="34" charset="-128"/>
                  <a:ea typeface="Meiryo UI" panose="020B0604030504040204" pitchFamily="34" charset="-128"/>
                </a:rPr>
                <a:t>高砂</a:t>
              </a:r>
              <a:endParaRPr kumimoji="1" lang="en-US" sz="1200" dirty="0">
                <a:latin typeface="Meiryo UI" panose="020B0604030504040204" pitchFamily="34" charset="-128"/>
                <a:ea typeface="Meiryo UI" panose="020B0604030504040204" pitchFamily="34" charset="-128"/>
              </a:endParaRPr>
            </a:p>
          </p:txBody>
        </p:sp>
      </p:grpSp>
      <p:sp>
        <p:nvSpPr>
          <p:cNvPr id="50" name="Rectangle 48">
            <a:extLst>
              <a:ext uri="{FF2B5EF4-FFF2-40B4-BE49-F238E27FC236}">
                <a16:creationId xmlns:a16="http://schemas.microsoft.com/office/drawing/2014/main" id="{2380F4C9-39A6-4259-B545-62D0B81169F2}"/>
              </a:ext>
            </a:extLst>
          </p:cNvPr>
          <p:cNvSpPr>
            <a:spLocks noChangeArrowheads="1"/>
          </p:cNvSpPr>
          <p:nvPr/>
        </p:nvSpPr>
        <p:spPr bwMode="auto">
          <a:xfrm>
            <a:off x="1743107" y="2386665"/>
            <a:ext cx="405362" cy="1120092"/>
          </a:xfrm>
          <a:prstGeom prst="can">
            <a:avLst/>
          </a:prstGeom>
          <a:solidFill>
            <a:srgbClr val="36363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nSpc>
                <a:spcPct val="120000"/>
              </a:lnSpc>
              <a:spcBef>
                <a:spcPct val="40000"/>
              </a:spcBef>
              <a:buFont typeface="Wingdings" panose="05000000000000000000" pitchFamily="2" charset="2"/>
              <a:buChar char="n"/>
              <a:defRPr sz="1400">
                <a:solidFill>
                  <a:schemeClr val="tx1"/>
                </a:solidFill>
                <a:latin typeface="Arial" panose="020B0604020202020204" pitchFamily="34" charset="0"/>
                <a:ea typeface="ＭＳ Ｐゴシック" panose="020B0600070205080204" pitchFamily="50" charset="-128"/>
              </a:defRPr>
            </a:lvl1pPr>
            <a:lvl2pPr marL="742950" indent="-28575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2pPr>
            <a:lvl3pPr marL="11430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3pPr>
            <a:lvl4pPr marL="16002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4pPr>
            <a:lvl5pPr marL="20574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9pPr>
          </a:lstStyle>
          <a:p>
            <a:pPr marL="0" marR="0" lvl="0" indent="0" defTabSz="914400" eaLnBrk="0" fontAlgn="base" latinLnBrk="0" hangingPunct="0">
              <a:lnSpc>
                <a:spcPct val="120000"/>
              </a:lnSpc>
              <a:spcBef>
                <a:spcPct val="50000"/>
              </a:spcBef>
              <a:spcAft>
                <a:spcPct val="0"/>
              </a:spcAft>
              <a:buClrTx/>
              <a:buSzTx/>
              <a:buFontTx/>
              <a:buNone/>
              <a:tabLst/>
              <a:defRPr/>
            </a:pPr>
            <a:r>
              <a:rPr kumimoji="0" lang="ja-JP" altLang="en-US" sz="14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サイロ化</a:t>
            </a:r>
          </a:p>
        </p:txBody>
      </p:sp>
      <p:sp>
        <p:nvSpPr>
          <p:cNvPr id="79" name="正方形/長方形 78">
            <a:extLst>
              <a:ext uri="{FF2B5EF4-FFF2-40B4-BE49-F238E27FC236}">
                <a16:creationId xmlns:a16="http://schemas.microsoft.com/office/drawing/2014/main" id="{E801A477-069C-403B-9BD4-768A89FE7E9D}"/>
              </a:ext>
            </a:extLst>
          </p:cNvPr>
          <p:cNvSpPr/>
          <p:nvPr/>
        </p:nvSpPr>
        <p:spPr>
          <a:xfrm>
            <a:off x="6901008" y="2321983"/>
            <a:ext cx="2548342" cy="350173"/>
          </a:xfrm>
          <a:prstGeom prst="rect">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34" charset="-128"/>
                <a:ea typeface="Meiryo UI" panose="020B0604030504040204" pitchFamily="34" charset="-128"/>
              </a:rPr>
              <a:t>標準データモデル・</a:t>
            </a:r>
            <a:endParaRPr lang="en-US" altLang="ja-JP" sz="1200" dirty="0">
              <a:solidFill>
                <a:schemeClr val="bg1"/>
              </a:solidFill>
              <a:latin typeface="Meiryo UI" panose="020B0604030504040204" pitchFamily="34" charset="-128"/>
              <a:ea typeface="Meiryo UI" panose="020B0604030504040204" pitchFamily="34" charset="-128"/>
            </a:endParaRPr>
          </a:p>
          <a:p>
            <a:pPr algn="ctr"/>
            <a:r>
              <a:rPr lang="ja-JP" altLang="en-US" sz="1200" dirty="0">
                <a:solidFill>
                  <a:schemeClr val="bg1"/>
                </a:solidFill>
                <a:latin typeface="Meiryo UI" panose="020B0604030504040204" pitchFamily="34" charset="-128"/>
                <a:ea typeface="Meiryo UI" panose="020B0604030504040204" pitchFamily="34" charset="-128"/>
              </a:rPr>
              <a:t>データライフサイクル管理</a:t>
            </a:r>
            <a:endParaRPr lang="en-US" altLang="ja-JP" sz="1200" dirty="0">
              <a:solidFill>
                <a:schemeClr val="bg1"/>
              </a:solidFill>
              <a:latin typeface="Meiryo UI" panose="020B0604030504040204" pitchFamily="34" charset="-128"/>
              <a:ea typeface="Meiryo UI" panose="020B0604030504040204" pitchFamily="34" charset="-128"/>
            </a:endParaRPr>
          </a:p>
        </p:txBody>
      </p:sp>
      <p:grpSp>
        <p:nvGrpSpPr>
          <p:cNvPr id="7" name="グループ化 6">
            <a:extLst>
              <a:ext uri="{FF2B5EF4-FFF2-40B4-BE49-F238E27FC236}">
                <a16:creationId xmlns:a16="http://schemas.microsoft.com/office/drawing/2014/main" id="{81B52588-AE0D-4E31-B359-4BAAA0ED9CE3}"/>
              </a:ext>
            </a:extLst>
          </p:cNvPr>
          <p:cNvGrpSpPr/>
          <p:nvPr/>
        </p:nvGrpSpPr>
        <p:grpSpPr>
          <a:xfrm>
            <a:off x="6909836" y="1640654"/>
            <a:ext cx="598755" cy="716992"/>
            <a:chOff x="6423126" y="1885832"/>
            <a:chExt cx="598755" cy="716992"/>
          </a:xfrm>
        </p:grpSpPr>
        <p:pic>
          <p:nvPicPr>
            <p:cNvPr id="100" name="図 99">
              <a:extLst>
                <a:ext uri="{FF2B5EF4-FFF2-40B4-BE49-F238E27FC236}">
                  <a16:creationId xmlns:a16="http://schemas.microsoft.com/office/drawing/2014/main" id="{FED220A8-8554-41D8-9B9E-FCFEF01F686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508353" y="1885832"/>
              <a:ext cx="428301" cy="426446"/>
            </a:xfrm>
            <a:prstGeom prst="rect">
              <a:avLst/>
            </a:prstGeom>
          </p:spPr>
        </p:pic>
        <p:sp>
          <p:nvSpPr>
            <p:cNvPr id="101" name="テキスト ボックス 100">
              <a:extLst>
                <a:ext uri="{FF2B5EF4-FFF2-40B4-BE49-F238E27FC236}">
                  <a16:creationId xmlns:a16="http://schemas.microsoft.com/office/drawing/2014/main" id="{C38E1E2B-D5DF-4B41-8D69-9BE48D9BA302}"/>
                </a:ext>
              </a:extLst>
            </p:cNvPr>
            <p:cNvSpPr txBox="1"/>
            <p:nvPr/>
          </p:nvSpPr>
          <p:spPr>
            <a:xfrm>
              <a:off x="6423126" y="2325825"/>
              <a:ext cx="598755" cy="276999"/>
            </a:xfrm>
            <a:prstGeom prst="rect">
              <a:avLst/>
            </a:prstGeom>
            <a:noFill/>
          </p:spPr>
          <p:txBody>
            <a:bodyPr wrap="none" rtlCol="0">
              <a:spAutoFit/>
            </a:bodyPr>
            <a:lstStyle/>
            <a:p>
              <a:pPr algn="ctr"/>
              <a:r>
                <a:rPr kumimoji="1" lang="en-US" altLang="ja-JP" sz="1200" dirty="0">
                  <a:latin typeface="Meiryo UI" panose="020B0604030504040204" pitchFamily="34" charset="-128"/>
                  <a:ea typeface="Meiryo UI" panose="020B0604030504040204" pitchFamily="34" charset="-128"/>
                </a:rPr>
                <a:t>GTCC</a:t>
              </a:r>
              <a:endParaRPr kumimoji="1" lang="en-US" sz="1200" dirty="0">
                <a:latin typeface="Meiryo UI" panose="020B0604030504040204" pitchFamily="34" charset="-128"/>
                <a:ea typeface="Meiryo UI" panose="020B0604030504040204" pitchFamily="34" charset="-128"/>
              </a:endParaRPr>
            </a:p>
          </p:txBody>
        </p:sp>
      </p:grpSp>
      <p:grpSp>
        <p:nvGrpSpPr>
          <p:cNvPr id="8" name="グループ化 7">
            <a:extLst>
              <a:ext uri="{FF2B5EF4-FFF2-40B4-BE49-F238E27FC236}">
                <a16:creationId xmlns:a16="http://schemas.microsoft.com/office/drawing/2014/main" id="{5B06BE21-EFE1-4FF3-AAEE-EA821031FEDA}"/>
              </a:ext>
            </a:extLst>
          </p:cNvPr>
          <p:cNvGrpSpPr/>
          <p:nvPr/>
        </p:nvGrpSpPr>
        <p:grpSpPr>
          <a:xfrm>
            <a:off x="7639141" y="1625430"/>
            <a:ext cx="428301" cy="732216"/>
            <a:chOff x="7190084" y="1870608"/>
            <a:chExt cx="428301" cy="732216"/>
          </a:xfrm>
        </p:grpSpPr>
        <p:pic>
          <p:nvPicPr>
            <p:cNvPr id="103" name="図 102">
              <a:extLst>
                <a:ext uri="{FF2B5EF4-FFF2-40B4-BE49-F238E27FC236}">
                  <a16:creationId xmlns:a16="http://schemas.microsoft.com/office/drawing/2014/main" id="{255EC0FD-5E35-4866-8E01-67D86F9A570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190084" y="1870608"/>
              <a:ext cx="428301" cy="426446"/>
            </a:xfrm>
            <a:prstGeom prst="rect">
              <a:avLst/>
            </a:prstGeom>
          </p:spPr>
        </p:pic>
        <p:sp>
          <p:nvSpPr>
            <p:cNvPr id="104" name="テキスト ボックス 103">
              <a:extLst>
                <a:ext uri="{FF2B5EF4-FFF2-40B4-BE49-F238E27FC236}">
                  <a16:creationId xmlns:a16="http://schemas.microsoft.com/office/drawing/2014/main" id="{9BB80125-1283-4497-A496-01980E81A726}"/>
                </a:ext>
              </a:extLst>
            </p:cNvPr>
            <p:cNvSpPr txBox="1"/>
            <p:nvPr/>
          </p:nvSpPr>
          <p:spPr>
            <a:xfrm>
              <a:off x="7217324" y="2325825"/>
              <a:ext cx="373820" cy="276999"/>
            </a:xfrm>
            <a:prstGeom prst="rect">
              <a:avLst/>
            </a:prstGeom>
            <a:noFill/>
          </p:spPr>
          <p:txBody>
            <a:bodyPr wrap="none" rtlCol="0">
              <a:spAutoFit/>
            </a:bodyPr>
            <a:lstStyle/>
            <a:p>
              <a:pPr algn="ctr"/>
              <a:r>
                <a:rPr kumimoji="1" lang="en-US" altLang="ja-JP" sz="1200" dirty="0">
                  <a:latin typeface="Meiryo UI" panose="020B0604030504040204" pitchFamily="34" charset="-128"/>
                  <a:ea typeface="Meiryo UI" panose="020B0604030504040204" pitchFamily="34" charset="-128"/>
                </a:rPr>
                <a:t>SP</a:t>
              </a:r>
              <a:endParaRPr kumimoji="1" lang="en-US" sz="1200" dirty="0">
                <a:latin typeface="Meiryo UI" panose="020B0604030504040204" pitchFamily="34" charset="-128"/>
                <a:ea typeface="Meiryo UI" panose="020B0604030504040204" pitchFamily="34" charset="-128"/>
              </a:endParaRPr>
            </a:p>
          </p:txBody>
        </p:sp>
      </p:grpSp>
      <p:grpSp>
        <p:nvGrpSpPr>
          <p:cNvPr id="9" name="グループ化 8">
            <a:extLst>
              <a:ext uri="{FF2B5EF4-FFF2-40B4-BE49-F238E27FC236}">
                <a16:creationId xmlns:a16="http://schemas.microsoft.com/office/drawing/2014/main" id="{FFE82603-0F79-4C7B-A1E3-E52FC105FB74}"/>
              </a:ext>
            </a:extLst>
          </p:cNvPr>
          <p:cNvGrpSpPr/>
          <p:nvPr/>
        </p:nvGrpSpPr>
        <p:grpSpPr>
          <a:xfrm>
            <a:off x="8197992" y="1625430"/>
            <a:ext cx="607281" cy="732216"/>
            <a:chOff x="7781621" y="1870608"/>
            <a:chExt cx="607281" cy="732216"/>
          </a:xfrm>
        </p:grpSpPr>
        <p:pic>
          <p:nvPicPr>
            <p:cNvPr id="109" name="図 108">
              <a:extLst>
                <a:ext uri="{FF2B5EF4-FFF2-40B4-BE49-F238E27FC236}">
                  <a16:creationId xmlns:a16="http://schemas.microsoft.com/office/drawing/2014/main" id="{0AC35643-6EED-44C3-A785-F67769C8C95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71815" y="1870608"/>
              <a:ext cx="428301" cy="426446"/>
            </a:xfrm>
            <a:prstGeom prst="rect">
              <a:avLst/>
            </a:prstGeom>
          </p:spPr>
        </p:pic>
        <p:sp>
          <p:nvSpPr>
            <p:cNvPr id="110" name="テキスト ボックス 109">
              <a:extLst>
                <a:ext uri="{FF2B5EF4-FFF2-40B4-BE49-F238E27FC236}">
                  <a16:creationId xmlns:a16="http://schemas.microsoft.com/office/drawing/2014/main" id="{78E675E5-9EE9-4D6D-9447-96D1AE7F3B9C}"/>
                </a:ext>
              </a:extLst>
            </p:cNvPr>
            <p:cNvSpPr txBox="1"/>
            <p:nvPr/>
          </p:nvSpPr>
          <p:spPr>
            <a:xfrm>
              <a:off x="7781621" y="2325825"/>
              <a:ext cx="607281" cy="276999"/>
            </a:xfrm>
            <a:prstGeom prst="rect">
              <a:avLst/>
            </a:prstGeom>
            <a:noFill/>
          </p:spPr>
          <p:txBody>
            <a:bodyPr wrap="none" rtlCol="0">
              <a:spAutoFit/>
            </a:bodyPr>
            <a:lstStyle/>
            <a:p>
              <a:pPr algn="ctr"/>
              <a:r>
                <a:rPr kumimoji="0" lang="en-US" altLang="ja-JP" sz="12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AQCS</a:t>
              </a:r>
              <a:endParaRPr kumimoji="1" lang="en-US" sz="1200" dirty="0">
                <a:latin typeface="Meiryo UI" panose="020B0604030504040204" pitchFamily="34" charset="-128"/>
                <a:ea typeface="Meiryo UI" panose="020B0604030504040204" pitchFamily="34" charset="-128"/>
              </a:endParaRPr>
            </a:p>
          </p:txBody>
        </p:sp>
      </p:grpSp>
      <p:grpSp>
        <p:nvGrpSpPr>
          <p:cNvPr id="80" name="グループ化 79">
            <a:extLst>
              <a:ext uri="{FF2B5EF4-FFF2-40B4-BE49-F238E27FC236}">
                <a16:creationId xmlns:a16="http://schemas.microsoft.com/office/drawing/2014/main" id="{35B14A13-E303-47D2-ABA6-3B9A777A6DB9}"/>
              </a:ext>
            </a:extLst>
          </p:cNvPr>
          <p:cNvGrpSpPr/>
          <p:nvPr/>
        </p:nvGrpSpPr>
        <p:grpSpPr>
          <a:xfrm>
            <a:off x="2211178" y="1625430"/>
            <a:ext cx="492443" cy="732216"/>
            <a:chOff x="2314593" y="1749305"/>
            <a:chExt cx="492443" cy="732216"/>
          </a:xfrm>
        </p:grpSpPr>
        <p:pic>
          <p:nvPicPr>
            <p:cNvPr id="81" name="図 80">
              <a:extLst>
                <a:ext uri="{FF2B5EF4-FFF2-40B4-BE49-F238E27FC236}">
                  <a16:creationId xmlns:a16="http://schemas.microsoft.com/office/drawing/2014/main" id="{32858967-6218-4972-94A4-0EEAC76D63F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346664" y="1749305"/>
              <a:ext cx="428301" cy="426446"/>
            </a:xfrm>
            <a:prstGeom prst="rect">
              <a:avLst/>
            </a:prstGeom>
          </p:spPr>
        </p:pic>
        <p:sp>
          <p:nvSpPr>
            <p:cNvPr id="82" name="テキスト ボックス 81">
              <a:extLst>
                <a:ext uri="{FF2B5EF4-FFF2-40B4-BE49-F238E27FC236}">
                  <a16:creationId xmlns:a16="http://schemas.microsoft.com/office/drawing/2014/main" id="{11FA4507-E997-4D01-87A0-4A242A629840}"/>
                </a:ext>
              </a:extLst>
            </p:cNvPr>
            <p:cNvSpPr txBox="1"/>
            <p:nvPr/>
          </p:nvSpPr>
          <p:spPr>
            <a:xfrm>
              <a:off x="2314593" y="2204522"/>
              <a:ext cx="492443" cy="276999"/>
            </a:xfrm>
            <a:prstGeom prst="rect">
              <a:avLst/>
            </a:prstGeom>
            <a:noFill/>
          </p:spPr>
          <p:txBody>
            <a:bodyPr wrap="none" rtlCol="0">
              <a:spAutoFit/>
            </a:bodyPr>
            <a:lstStyle/>
            <a:p>
              <a:pPr algn="ctr"/>
              <a:r>
                <a:rPr kumimoji="1" lang="ja-JP" altLang="en-US" sz="1200" dirty="0">
                  <a:latin typeface="Meiryo UI" panose="020B0604030504040204" pitchFamily="34" charset="-128"/>
                  <a:ea typeface="Meiryo UI" panose="020B0604030504040204" pitchFamily="34" charset="-128"/>
                </a:rPr>
                <a:t>長崎</a:t>
              </a:r>
              <a:endParaRPr kumimoji="1" lang="en-US" sz="1200" dirty="0">
                <a:latin typeface="Meiryo UI" panose="020B0604030504040204" pitchFamily="34" charset="-128"/>
                <a:ea typeface="Meiryo UI" panose="020B0604030504040204" pitchFamily="34" charset="-128"/>
              </a:endParaRPr>
            </a:p>
          </p:txBody>
        </p:sp>
      </p:grpSp>
      <p:sp>
        <p:nvSpPr>
          <p:cNvPr id="83" name="Rectangle 48">
            <a:extLst>
              <a:ext uri="{FF2B5EF4-FFF2-40B4-BE49-F238E27FC236}">
                <a16:creationId xmlns:a16="http://schemas.microsoft.com/office/drawing/2014/main" id="{2D165369-D83A-4BC9-AD04-65194585B40F}"/>
              </a:ext>
            </a:extLst>
          </p:cNvPr>
          <p:cNvSpPr>
            <a:spLocks noChangeArrowheads="1"/>
          </p:cNvSpPr>
          <p:nvPr/>
        </p:nvSpPr>
        <p:spPr bwMode="auto">
          <a:xfrm>
            <a:off x="2238683" y="2386665"/>
            <a:ext cx="405362" cy="1120092"/>
          </a:xfrm>
          <a:prstGeom prst="can">
            <a:avLst/>
          </a:prstGeom>
          <a:solidFill>
            <a:srgbClr val="36363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nSpc>
                <a:spcPct val="120000"/>
              </a:lnSpc>
              <a:spcBef>
                <a:spcPct val="40000"/>
              </a:spcBef>
              <a:buFont typeface="Wingdings" panose="05000000000000000000" pitchFamily="2" charset="2"/>
              <a:buChar char="n"/>
              <a:defRPr sz="1400">
                <a:solidFill>
                  <a:schemeClr val="tx1"/>
                </a:solidFill>
                <a:latin typeface="Arial" panose="020B0604020202020204" pitchFamily="34" charset="0"/>
                <a:ea typeface="ＭＳ Ｐゴシック" panose="020B0600070205080204" pitchFamily="50" charset="-128"/>
              </a:defRPr>
            </a:lvl1pPr>
            <a:lvl2pPr marL="742950" indent="-28575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2pPr>
            <a:lvl3pPr marL="11430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3pPr>
            <a:lvl4pPr marL="16002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4pPr>
            <a:lvl5pPr marL="20574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9pPr>
          </a:lstStyle>
          <a:p>
            <a:pPr marL="0" marR="0" lvl="0" indent="0" defTabSz="914400" eaLnBrk="0" fontAlgn="base" latinLnBrk="0" hangingPunct="0">
              <a:lnSpc>
                <a:spcPct val="120000"/>
              </a:lnSpc>
              <a:spcBef>
                <a:spcPct val="50000"/>
              </a:spcBef>
              <a:spcAft>
                <a:spcPct val="0"/>
              </a:spcAft>
              <a:buClrTx/>
              <a:buSzTx/>
              <a:buFontTx/>
              <a:buNone/>
              <a:tabLst/>
              <a:defRPr/>
            </a:pPr>
            <a:r>
              <a:rPr kumimoji="0" lang="ja-JP" altLang="en-US" sz="14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サイロ化</a:t>
            </a:r>
          </a:p>
        </p:txBody>
      </p:sp>
      <p:grpSp>
        <p:nvGrpSpPr>
          <p:cNvPr id="84" name="グループ化 83">
            <a:extLst>
              <a:ext uri="{FF2B5EF4-FFF2-40B4-BE49-F238E27FC236}">
                <a16:creationId xmlns:a16="http://schemas.microsoft.com/office/drawing/2014/main" id="{6812F6BB-F293-4DA1-9A20-E0D4881D8023}"/>
              </a:ext>
            </a:extLst>
          </p:cNvPr>
          <p:cNvGrpSpPr/>
          <p:nvPr/>
        </p:nvGrpSpPr>
        <p:grpSpPr>
          <a:xfrm>
            <a:off x="2722789" y="1625430"/>
            <a:ext cx="428301" cy="732216"/>
            <a:chOff x="2346664" y="1749305"/>
            <a:chExt cx="428301" cy="732216"/>
          </a:xfrm>
        </p:grpSpPr>
        <p:pic>
          <p:nvPicPr>
            <p:cNvPr id="85" name="図 84">
              <a:extLst>
                <a:ext uri="{FF2B5EF4-FFF2-40B4-BE49-F238E27FC236}">
                  <a16:creationId xmlns:a16="http://schemas.microsoft.com/office/drawing/2014/main" id="{72888FF8-818D-4D00-9753-F9308F612CF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346664" y="1749305"/>
              <a:ext cx="428301" cy="426446"/>
            </a:xfrm>
            <a:prstGeom prst="rect">
              <a:avLst/>
            </a:prstGeom>
          </p:spPr>
        </p:pic>
        <p:sp>
          <p:nvSpPr>
            <p:cNvPr id="86" name="テキスト ボックス 85">
              <a:extLst>
                <a:ext uri="{FF2B5EF4-FFF2-40B4-BE49-F238E27FC236}">
                  <a16:creationId xmlns:a16="http://schemas.microsoft.com/office/drawing/2014/main" id="{0E52A7BE-7E4F-4492-9470-7D4256787F92}"/>
                </a:ext>
              </a:extLst>
            </p:cNvPr>
            <p:cNvSpPr txBox="1"/>
            <p:nvPr/>
          </p:nvSpPr>
          <p:spPr>
            <a:xfrm>
              <a:off x="2391537" y="2204522"/>
              <a:ext cx="338554" cy="276999"/>
            </a:xfrm>
            <a:prstGeom prst="rect">
              <a:avLst/>
            </a:prstGeom>
            <a:noFill/>
          </p:spPr>
          <p:txBody>
            <a:bodyPr wrap="none" rtlCol="0">
              <a:spAutoFit/>
            </a:bodyPr>
            <a:lstStyle/>
            <a:p>
              <a:pPr algn="ctr"/>
              <a:r>
                <a:rPr kumimoji="1" lang="ja-JP" altLang="en-US" sz="1200" dirty="0">
                  <a:latin typeface="Meiryo UI" panose="020B0604030504040204" pitchFamily="34" charset="-128"/>
                  <a:ea typeface="Meiryo UI" panose="020B0604030504040204" pitchFamily="34" charset="-128"/>
                </a:rPr>
                <a:t>呉</a:t>
              </a:r>
              <a:endParaRPr kumimoji="1" lang="en-US" sz="1200" dirty="0">
                <a:latin typeface="Meiryo UI" panose="020B0604030504040204" pitchFamily="34" charset="-128"/>
                <a:ea typeface="Meiryo UI" panose="020B0604030504040204" pitchFamily="34" charset="-128"/>
              </a:endParaRPr>
            </a:p>
          </p:txBody>
        </p:sp>
      </p:grpSp>
      <p:sp>
        <p:nvSpPr>
          <p:cNvPr id="87" name="Rectangle 48">
            <a:extLst>
              <a:ext uri="{FF2B5EF4-FFF2-40B4-BE49-F238E27FC236}">
                <a16:creationId xmlns:a16="http://schemas.microsoft.com/office/drawing/2014/main" id="{26FA3F65-991D-4385-A812-3ECE26E1F05D}"/>
              </a:ext>
            </a:extLst>
          </p:cNvPr>
          <p:cNvSpPr>
            <a:spLocks noChangeArrowheads="1"/>
          </p:cNvSpPr>
          <p:nvPr/>
        </p:nvSpPr>
        <p:spPr bwMode="auto">
          <a:xfrm>
            <a:off x="2734259" y="2386665"/>
            <a:ext cx="405362" cy="1120092"/>
          </a:xfrm>
          <a:prstGeom prst="can">
            <a:avLst/>
          </a:prstGeom>
          <a:solidFill>
            <a:srgbClr val="36363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nSpc>
                <a:spcPct val="120000"/>
              </a:lnSpc>
              <a:spcBef>
                <a:spcPct val="40000"/>
              </a:spcBef>
              <a:buFont typeface="Wingdings" panose="05000000000000000000" pitchFamily="2" charset="2"/>
              <a:buChar char="n"/>
              <a:defRPr sz="1400">
                <a:solidFill>
                  <a:schemeClr val="tx1"/>
                </a:solidFill>
                <a:latin typeface="Arial" panose="020B0604020202020204" pitchFamily="34" charset="0"/>
                <a:ea typeface="ＭＳ Ｐゴシック" panose="020B0600070205080204" pitchFamily="50" charset="-128"/>
              </a:defRPr>
            </a:lvl1pPr>
            <a:lvl2pPr marL="742950" indent="-28575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2pPr>
            <a:lvl3pPr marL="11430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3pPr>
            <a:lvl4pPr marL="16002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4pPr>
            <a:lvl5pPr marL="20574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9pPr>
          </a:lstStyle>
          <a:p>
            <a:pPr marL="0" marR="0" lvl="0" indent="0" defTabSz="914400" eaLnBrk="0" fontAlgn="base" latinLnBrk="0" hangingPunct="0">
              <a:lnSpc>
                <a:spcPct val="120000"/>
              </a:lnSpc>
              <a:spcBef>
                <a:spcPct val="50000"/>
              </a:spcBef>
              <a:spcAft>
                <a:spcPct val="0"/>
              </a:spcAft>
              <a:buClrTx/>
              <a:buSzTx/>
              <a:buFontTx/>
              <a:buNone/>
              <a:tabLst/>
              <a:defRPr/>
            </a:pPr>
            <a:r>
              <a:rPr kumimoji="0" lang="ja-JP" altLang="en-US" sz="14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サイロ化</a:t>
            </a:r>
          </a:p>
        </p:txBody>
      </p:sp>
      <p:grpSp>
        <p:nvGrpSpPr>
          <p:cNvPr id="88" name="グループ化 87">
            <a:extLst>
              <a:ext uri="{FF2B5EF4-FFF2-40B4-BE49-F238E27FC236}">
                <a16:creationId xmlns:a16="http://schemas.microsoft.com/office/drawing/2014/main" id="{1F30DABA-5080-4613-8F05-9FD4C1D9362A}"/>
              </a:ext>
            </a:extLst>
          </p:cNvPr>
          <p:cNvGrpSpPr/>
          <p:nvPr/>
        </p:nvGrpSpPr>
        <p:grpSpPr>
          <a:xfrm>
            <a:off x="3170258" y="1625430"/>
            <a:ext cx="492443" cy="732216"/>
            <a:chOff x="2314593" y="1749305"/>
            <a:chExt cx="492443" cy="732216"/>
          </a:xfrm>
        </p:grpSpPr>
        <p:pic>
          <p:nvPicPr>
            <p:cNvPr id="89" name="図 88">
              <a:extLst>
                <a:ext uri="{FF2B5EF4-FFF2-40B4-BE49-F238E27FC236}">
                  <a16:creationId xmlns:a16="http://schemas.microsoft.com/office/drawing/2014/main" id="{4B00D65A-CCCA-465E-95D4-CEEC4A6DE82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346664" y="1749305"/>
              <a:ext cx="428301" cy="426446"/>
            </a:xfrm>
            <a:prstGeom prst="rect">
              <a:avLst/>
            </a:prstGeom>
          </p:spPr>
        </p:pic>
        <p:sp>
          <p:nvSpPr>
            <p:cNvPr id="90" name="テキスト ボックス 89">
              <a:extLst>
                <a:ext uri="{FF2B5EF4-FFF2-40B4-BE49-F238E27FC236}">
                  <a16:creationId xmlns:a16="http://schemas.microsoft.com/office/drawing/2014/main" id="{CC34F5C4-09A3-4AD5-8811-54E525E7FDBF}"/>
                </a:ext>
              </a:extLst>
            </p:cNvPr>
            <p:cNvSpPr txBox="1"/>
            <p:nvPr/>
          </p:nvSpPr>
          <p:spPr>
            <a:xfrm>
              <a:off x="2314593" y="2204522"/>
              <a:ext cx="492443" cy="276999"/>
            </a:xfrm>
            <a:prstGeom prst="rect">
              <a:avLst/>
            </a:prstGeom>
            <a:noFill/>
          </p:spPr>
          <p:txBody>
            <a:bodyPr wrap="none" rtlCol="0">
              <a:spAutoFit/>
            </a:bodyPr>
            <a:lstStyle/>
            <a:p>
              <a:pPr algn="ctr"/>
              <a:r>
                <a:rPr kumimoji="1" lang="ja-JP" altLang="en-US" sz="1200" dirty="0">
                  <a:latin typeface="Meiryo UI" panose="020B0604030504040204" pitchFamily="34" charset="-128"/>
                  <a:ea typeface="Meiryo UI" panose="020B0604030504040204" pitchFamily="34" charset="-128"/>
                </a:rPr>
                <a:t>横浜</a:t>
              </a:r>
              <a:endParaRPr kumimoji="1" lang="en-US" sz="1200" dirty="0">
                <a:latin typeface="Meiryo UI" panose="020B0604030504040204" pitchFamily="34" charset="-128"/>
                <a:ea typeface="Meiryo UI" panose="020B0604030504040204" pitchFamily="34" charset="-128"/>
              </a:endParaRPr>
            </a:p>
          </p:txBody>
        </p:sp>
      </p:grpSp>
      <p:sp>
        <p:nvSpPr>
          <p:cNvPr id="91" name="Rectangle 48">
            <a:extLst>
              <a:ext uri="{FF2B5EF4-FFF2-40B4-BE49-F238E27FC236}">
                <a16:creationId xmlns:a16="http://schemas.microsoft.com/office/drawing/2014/main" id="{FB9CD0E9-ED32-4807-A528-2960B8DF03B0}"/>
              </a:ext>
            </a:extLst>
          </p:cNvPr>
          <p:cNvSpPr>
            <a:spLocks noChangeArrowheads="1"/>
          </p:cNvSpPr>
          <p:nvPr/>
        </p:nvSpPr>
        <p:spPr bwMode="auto">
          <a:xfrm>
            <a:off x="3229834" y="2386665"/>
            <a:ext cx="405362" cy="1120092"/>
          </a:xfrm>
          <a:prstGeom prst="can">
            <a:avLst/>
          </a:prstGeom>
          <a:solidFill>
            <a:srgbClr val="36363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nSpc>
                <a:spcPct val="120000"/>
              </a:lnSpc>
              <a:spcBef>
                <a:spcPct val="40000"/>
              </a:spcBef>
              <a:buFont typeface="Wingdings" panose="05000000000000000000" pitchFamily="2" charset="2"/>
              <a:buChar char="n"/>
              <a:defRPr sz="1400">
                <a:solidFill>
                  <a:schemeClr val="tx1"/>
                </a:solidFill>
                <a:latin typeface="Arial" panose="020B0604020202020204" pitchFamily="34" charset="0"/>
                <a:ea typeface="ＭＳ Ｐゴシック" panose="020B0600070205080204" pitchFamily="50" charset="-128"/>
              </a:defRPr>
            </a:lvl1pPr>
            <a:lvl2pPr marL="742950" indent="-28575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2pPr>
            <a:lvl3pPr marL="11430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3pPr>
            <a:lvl4pPr marL="16002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4pPr>
            <a:lvl5pPr marL="20574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9pPr>
          </a:lstStyle>
          <a:p>
            <a:pPr marL="0" marR="0" lvl="0" indent="0" defTabSz="914400" eaLnBrk="0" fontAlgn="base" latinLnBrk="0" hangingPunct="0">
              <a:lnSpc>
                <a:spcPct val="120000"/>
              </a:lnSpc>
              <a:spcBef>
                <a:spcPct val="50000"/>
              </a:spcBef>
              <a:spcAft>
                <a:spcPct val="0"/>
              </a:spcAft>
              <a:buClrTx/>
              <a:buSzTx/>
              <a:buFontTx/>
              <a:buNone/>
              <a:tabLst/>
              <a:defRPr/>
            </a:pPr>
            <a:r>
              <a:rPr kumimoji="0" lang="ja-JP" altLang="en-US" sz="14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サイロ化</a:t>
            </a:r>
          </a:p>
        </p:txBody>
      </p:sp>
      <p:grpSp>
        <p:nvGrpSpPr>
          <p:cNvPr id="92" name="グループ化 91">
            <a:extLst>
              <a:ext uri="{FF2B5EF4-FFF2-40B4-BE49-F238E27FC236}">
                <a16:creationId xmlns:a16="http://schemas.microsoft.com/office/drawing/2014/main" id="{8502AD71-BB4A-45CF-B91B-47FC230CA7D8}"/>
              </a:ext>
            </a:extLst>
          </p:cNvPr>
          <p:cNvGrpSpPr/>
          <p:nvPr/>
        </p:nvGrpSpPr>
        <p:grpSpPr>
          <a:xfrm>
            <a:off x="3681870" y="1625430"/>
            <a:ext cx="492443" cy="732216"/>
            <a:chOff x="2314594" y="1749305"/>
            <a:chExt cx="492443" cy="732216"/>
          </a:xfrm>
        </p:grpSpPr>
        <p:pic>
          <p:nvPicPr>
            <p:cNvPr id="93" name="図 92">
              <a:extLst>
                <a:ext uri="{FF2B5EF4-FFF2-40B4-BE49-F238E27FC236}">
                  <a16:creationId xmlns:a16="http://schemas.microsoft.com/office/drawing/2014/main" id="{9002369F-01B6-4EAE-9210-9B785DB980C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346664" y="1749305"/>
              <a:ext cx="428301" cy="426446"/>
            </a:xfrm>
            <a:prstGeom prst="rect">
              <a:avLst/>
            </a:prstGeom>
          </p:spPr>
        </p:pic>
        <p:sp>
          <p:nvSpPr>
            <p:cNvPr id="94" name="テキスト ボックス 93">
              <a:extLst>
                <a:ext uri="{FF2B5EF4-FFF2-40B4-BE49-F238E27FC236}">
                  <a16:creationId xmlns:a16="http://schemas.microsoft.com/office/drawing/2014/main" id="{7A2944AB-7145-4913-9973-4D1AB97FA8D7}"/>
                </a:ext>
              </a:extLst>
            </p:cNvPr>
            <p:cNvSpPr txBox="1"/>
            <p:nvPr/>
          </p:nvSpPr>
          <p:spPr>
            <a:xfrm>
              <a:off x="2314594" y="2204522"/>
              <a:ext cx="492443" cy="276999"/>
            </a:xfrm>
            <a:prstGeom prst="rect">
              <a:avLst/>
            </a:prstGeom>
            <a:noFill/>
          </p:spPr>
          <p:txBody>
            <a:bodyPr wrap="none" rtlCol="0">
              <a:spAutoFit/>
            </a:bodyPr>
            <a:lstStyle/>
            <a:p>
              <a:pPr algn="ctr"/>
              <a:r>
                <a:rPr kumimoji="1" lang="ja-JP" altLang="en-US" sz="1200" dirty="0">
                  <a:latin typeface="Meiryo UI" panose="020B0604030504040204" pitchFamily="34" charset="-128"/>
                  <a:ea typeface="Meiryo UI" panose="020B0604030504040204" pitchFamily="34" charset="-128"/>
                </a:rPr>
                <a:t>日立</a:t>
              </a:r>
              <a:endParaRPr kumimoji="1" lang="en-US" sz="1200" dirty="0">
                <a:latin typeface="Meiryo UI" panose="020B0604030504040204" pitchFamily="34" charset="-128"/>
                <a:ea typeface="Meiryo UI" panose="020B0604030504040204" pitchFamily="34" charset="-128"/>
              </a:endParaRPr>
            </a:p>
          </p:txBody>
        </p:sp>
      </p:grpSp>
      <p:sp>
        <p:nvSpPr>
          <p:cNvPr id="95" name="Rectangle 48">
            <a:extLst>
              <a:ext uri="{FF2B5EF4-FFF2-40B4-BE49-F238E27FC236}">
                <a16:creationId xmlns:a16="http://schemas.microsoft.com/office/drawing/2014/main" id="{70579F41-E69F-49AD-A038-D2023B111AE7}"/>
              </a:ext>
            </a:extLst>
          </p:cNvPr>
          <p:cNvSpPr>
            <a:spLocks noChangeArrowheads="1"/>
          </p:cNvSpPr>
          <p:nvPr/>
        </p:nvSpPr>
        <p:spPr bwMode="auto">
          <a:xfrm>
            <a:off x="3725409" y="2386665"/>
            <a:ext cx="405362" cy="1120092"/>
          </a:xfrm>
          <a:prstGeom prst="can">
            <a:avLst/>
          </a:prstGeom>
          <a:solidFill>
            <a:srgbClr val="36363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nSpc>
                <a:spcPct val="120000"/>
              </a:lnSpc>
              <a:spcBef>
                <a:spcPct val="40000"/>
              </a:spcBef>
              <a:buFont typeface="Wingdings" panose="05000000000000000000" pitchFamily="2" charset="2"/>
              <a:buChar char="n"/>
              <a:defRPr sz="1400">
                <a:solidFill>
                  <a:schemeClr val="tx1"/>
                </a:solidFill>
                <a:latin typeface="Arial" panose="020B0604020202020204" pitchFamily="34" charset="0"/>
                <a:ea typeface="ＭＳ Ｐゴシック" panose="020B0600070205080204" pitchFamily="50" charset="-128"/>
              </a:defRPr>
            </a:lvl1pPr>
            <a:lvl2pPr marL="742950" indent="-28575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2pPr>
            <a:lvl3pPr marL="11430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3pPr>
            <a:lvl4pPr marL="16002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4pPr>
            <a:lvl5pPr marL="2057400" indent="-228600">
              <a:lnSpc>
                <a:spcPct val="120000"/>
              </a:lnSpc>
              <a:spcBef>
                <a:spcPct val="40000"/>
              </a:spcBef>
              <a:buChar char="•"/>
              <a:defRPr sz="1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lnSpc>
                <a:spcPct val="120000"/>
              </a:lnSpc>
              <a:spcBef>
                <a:spcPct val="40000"/>
              </a:spcBef>
              <a:spcAft>
                <a:spcPct val="0"/>
              </a:spcAft>
              <a:buChar char="•"/>
              <a:defRPr sz="1400">
                <a:solidFill>
                  <a:schemeClr val="tx1"/>
                </a:solidFill>
                <a:latin typeface="Arial" panose="020B0604020202020204" pitchFamily="34" charset="0"/>
                <a:ea typeface="ＭＳ Ｐゴシック" panose="020B0600070205080204" pitchFamily="50" charset="-128"/>
              </a:defRPr>
            </a:lvl9pPr>
          </a:lstStyle>
          <a:p>
            <a:pPr marL="0" marR="0" lvl="0" indent="0" defTabSz="914400" eaLnBrk="0" fontAlgn="base" latinLnBrk="0" hangingPunct="0">
              <a:lnSpc>
                <a:spcPct val="120000"/>
              </a:lnSpc>
              <a:spcBef>
                <a:spcPct val="50000"/>
              </a:spcBef>
              <a:spcAft>
                <a:spcPct val="0"/>
              </a:spcAft>
              <a:buClrTx/>
              <a:buSzTx/>
              <a:buFontTx/>
              <a:buNone/>
              <a:tabLst/>
              <a:defRPr/>
            </a:pPr>
            <a:r>
              <a:rPr kumimoji="0" lang="ja-JP" altLang="en-US" sz="14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サイロ化</a:t>
            </a:r>
          </a:p>
        </p:txBody>
      </p:sp>
      <p:sp>
        <p:nvSpPr>
          <p:cNvPr id="98" name="矢印: 右 97">
            <a:extLst>
              <a:ext uri="{FF2B5EF4-FFF2-40B4-BE49-F238E27FC236}">
                <a16:creationId xmlns:a16="http://schemas.microsoft.com/office/drawing/2014/main" id="{895C43A8-A081-49B6-BA94-47C38081DF3E}"/>
              </a:ext>
            </a:extLst>
          </p:cNvPr>
          <p:cNvSpPr/>
          <p:nvPr/>
        </p:nvSpPr>
        <p:spPr>
          <a:xfrm>
            <a:off x="1699568" y="1323857"/>
            <a:ext cx="2474746" cy="246113"/>
          </a:xfrm>
          <a:prstGeom prst="rightArrow">
            <a:avLst>
              <a:gd name="adj1" fmla="val 100000"/>
              <a:gd name="adj2" fmla="val 50000"/>
            </a:avLst>
          </a:prstGeom>
          <a:solidFill>
            <a:schemeClr val="bg2">
              <a:lumMod val="20000"/>
              <a:lumOff val="80000"/>
            </a:schemeClr>
          </a:solidFill>
          <a:ln w="10795" cap="flat" cmpd="sng" algn="ctr">
            <a:noFill/>
            <a:prstDash val="solid"/>
          </a:ln>
          <a:effectLst/>
        </p:spPr>
        <p:txBody>
          <a:bodyPr rtlCol="0" anchor="t"/>
          <a:lstStyle/>
          <a:p>
            <a:pPr algn="ctr" eaLnBrk="1" fontAlgn="auto" hangingPunct="1">
              <a:spcBef>
                <a:spcPts val="0"/>
              </a:spcBef>
              <a:spcAft>
                <a:spcPts val="0"/>
              </a:spcAft>
            </a:pPr>
            <a:r>
              <a:rPr kumimoji="0" lang="en-US" altLang="ja-JP" sz="1400" kern="0" dirty="0">
                <a:solidFill>
                  <a:schemeClr val="tx1"/>
                </a:solidFill>
                <a:latin typeface="Meiryo UI" panose="020B0604030504040204" pitchFamily="34" charset="-128"/>
                <a:ea typeface="Meiryo UI" panose="020B0604030504040204" pitchFamily="34" charset="-128"/>
              </a:rPr>
              <a:t>As</a:t>
            </a:r>
            <a:r>
              <a:rPr kumimoji="0" lang="ja-JP" altLang="en-US" sz="1400" kern="0">
                <a:solidFill>
                  <a:schemeClr val="tx1"/>
                </a:solidFill>
                <a:latin typeface="Meiryo UI" panose="020B0604030504040204" pitchFamily="34" charset="-128"/>
                <a:ea typeface="Meiryo UI" panose="020B0604030504040204" pitchFamily="34" charset="-128"/>
              </a:rPr>
              <a:t> </a:t>
            </a:r>
            <a:r>
              <a:rPr kumimoji="0" lang="en-US" altLang="ja-JP" sz="1400" kern="0" dirty="0">
                <a:solidFill>
                  <a:schemeClr val="tx1"/>
                </a:solidFill>
                <a:latin typeface="Meiryo UI" panose="020B0604030504040204" pitchFamily="34" charset="-128"/>
                <a:ea typeface="Meiryo UI" panose="020B0604030504040204" pitchFamily="34" charset="-128"/>
              </a:rPr>
              <a:t>Is</a:t>
            </a:r>
            <a:endParaRPr kumimoji="0" lang="en-US" sz="1400" kern="0" dirty="0">
              <a:solidFill>
                <a:schemeClr val="tx1"/>
              </a:solidFill>
              <a:latin typeface="Meiryo UI" panose="020B0604030504040204" pitchFamily="34" charset="-128"/>
              <a:ea typeface="Meiryo UI" panose="020B0604030504040204" pitchFamily="34" charset="-128"/>
            </a:endParaRPr>
          </a:p>
        </p:txBody>
      </p:sp>
      <p:sp>
        <p:nvSpPr>
          <p:cNvPr id="102" name="正方形/長方形 101">
            <a:extLst>
              <a:ext uri="{FF2B5EF4-FFF2-40B4-BE49-F238E27FC236}">
                <a16:creationId xmlns:a16="http://schemas.microsoft.com/office/drawing/2014/main" id="{EFA29069-D4C0-4E3A-9612-76676988899C}"/>
              </a:ext>
            </a:extLst>
          </p:cNvPr>
          <p:cNvSpPr/>
          <p:nvPr/>
        </p:nvSpPr>
        <p:spPr>
          <a:xfrm>
            <a:off x="376503" y="1637622"/>
            <a:ext cx="1259755" cy="615561"/>
          </a:xfrm>
          <a:prstGeom prst="rect">
            <a:avLst/>
          </a:prstGeom>
          <a:solidFill>
            <a:schemeClr val="tx2">
              <a:lumMod val="20000"/>
              <a:lumOff val="80000"/>
            </a:schemeClr>
          </a:solid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Meiryo UI" panose="020B0604030504040204" pitchFamily="34" charset="-128"/>
                <a:ea typeface="Meiryo UI" panose="020B0604030504040204" pitchFamily="34" charset="-128"/>
              </a:rPr>
              <a:t>ビジネス</a:t>
            </a:r>
            <a:endParaRPr lang="en-US" altLang="ja-JP" sz="1050" dirty="0">
              <a:solidFill>
                <a:schemeClr val="tx1"/>
              </a:solidFill>
              <a:latin typeface="Meiryo UI" panose="020B0604030504040204" pitchFamily="34" charset="-128"/>
              <a:ea typeface="Meiryo UI" panose="020B0604030504040204" pitchFamily="34" charset="-128"/>
            </a:endParaRPr>
          </a:p>
          <a:p>
            <a:pPr algn="ctr"/>
            <a:r>
              <a:rPr lang="ja-JP" altLang="en-US" sz="1050" dirty="0">
                <a:solidFill>
                  <a:schemeClr val="tx1"/>
                </a:solidFill>
                <a:latin typeface="Meiryo UI" panose="020B0604030504040204" pitchFamily="34" charset="-128"/>
                <a:ea typeface="Meiryo UI" panose="020B0604030504040204" pitchFamily="34" charset="-128"/>
              </a:rPr>
              <a:t>アーキテクチャ</a:t>
            </a:r>
            <a:endParaRPr lang="en-US" sz="1050" dirty="0">
              <a:solidFill>
                <a:schemeClr val="tx1"/>
              </a:solidFill>
              <a:latin typeface="Meiryo UI" panose="020B0604030504040204" pitchFamily="34" charset="-128"/>
              <a:ea typeface="Meiryo UI" panose="020B0604030504040204" pitchFamily="34" charset="-128"/>
            </a:endParaRPr>
          </a:p>
        </p:txBody>
      </p:sp>
      <p:cxnSp>
        <p:nvCxnSpPr>
          <p:cNvPr id="105" name="直線コネクタ 104">
            <a:extLst>
              <a:ext uri="{FF2B5EF4-FFF2-40B4-BE49-F238E27FC236}">
                <a16:creationId xmlns:a16="http://schemas.microsoft.com/office/drawing/2014/main" id="{1FFD0A75-41D2-41DE-B4A6-92E18DFF9F2D}"/>
              </a:ext>
            </a:extLst>
          </p:cNvPr>
          <p:cNvCxnSpPr/>
          <p:nvPr/>
        </p:nvCxnSpPr>
        <p:spPr>
          <a:xfrm>
            <a:off x="376503" y="2287583"/>
            <a:ext cx="9082087" cy="0"/>
          </a:xfrm>
          <a:prstGeom prst="line">
            <a:avLst/>
          </a:prstGeom>
          <a:noFill/>
          <a:ln w="9525" cap="flat" cmpd="sng" algn="ctr">
            <a:solidFill>
              <a:srgbClr val="0076A8"/>
            </a:solidFill>
            <a:prstDash val="lgDash"/>
            <a:tailEnd type="none"/>
          </a:ln>
          <a:effectLst/>
        </p:spPr>
      </p:cxnSp>
      <p:sp>
        <p:nvSpPr>
          <p:cNvPr id="108" name="矢印: 右 107">
            <a:extLst>
              <a:ext uri="{FF2B5EF4-FFF2-40B4-BE49-F238E27FC236}">
                <a16:creationId xmlns:a16="http://schemas.microsoft.com/office/drawing/2014/main" id="{6CD6129E-6E43-4847-A675-3E356ADAFD84}"/>
              </a:ext>
            </a:extLst>
          </p:cNvPr>
          <p:cNvSpPr/>
          <p:nvPr/>
        </p:nvSpPr>
        <p:spPr>
          <a:xfrm>
            <a:off x="6951132" y="1323857"/>
            <a:ext cx="2474746" cy="246113"/>
          </a:xfrm>
          <a:prstGeom prst="rightArrow">
            <a:avLst>
              <a:gd name="adj1" fmla="val 100000"/>
              <a:gd name="adj2" fmla="val 50000"/>
            </a:avLst>
          </a:prstGeom>
          <a:solidFill>
            <a:schemeClr val="accent3">
              <a:lumMod val="20000"/>
              <a:lumOff val="80000"/>
            </a:schemeClr>
          </a:solidFill>
          <a:ln w="10795" cap="flat" cmpd="sng" algn="ctr">
            <a:noFill/>
            <a:prstDash val="solid"/>
          </a:ln>
          <a:effectLst/>
        </p:spPr>
        <p:txBody>
          <a:bodyPr rtlCol="0" anchor="t"/>
          <a:lstStyle/>
          <a:p>
            <a:pPr algn="ctr" eaLnBrk="1" fontAlgn="auto" hangingPunct="1">
              <a:spcBef>
                <a:spcPts val="0"/>
              </a:spcBef>
              <a:spcAft>
                <a:spcPts val="0"/>
              </a:spcAft>
            </a:pPr>
            <a:r>
              <a:rPr kumimoji="0" lang="en-US" altLang="ja-JP" sz="1400" kern="0" dirty="0">
                <a:solidFill>
                  <a:schemeClr val="tx1"/>
                </a:solidFill>
                <a:latin typeface="Meiryo UI" panose="020B0604030504040204" pitchFamily="34" charset="-128"/>
              </a:rPr>
              <a:t>To Be</a:t>
            </a:r>
            <a:r>
              <a:rPr kumimoji="0" lang="ja-JP" altLang="en-US" sz="1400" kern="0" dirty="0">
                <a:solidFill>
                  <a:schemeClr val="tx1"/>
                </a:solidFill>
                <a:latin typeface="Meiryo UI" panose="020B0604030504040204" pitchFamily="34" charset="-128"/>
              </a:rPr>
              <a:t>（</a:t>
            </a:r>
            <a:r>
              <a:rPr kumimoji="0" lang="ja-JP" altLang="en-US" sz="1400" kern="0">
                <a:solidFill>
                  <a:schemeClr val="tx1"/>
                </a:solidFill>
                <a:latin typeface="Meiryo UI" panose="020B0604030504040204" pitchFamily="34" charset="-128"/>
              </a:rPr>
              <a:t>案）</a:t>
            </a:r>
            <a:endParaRPr kumimoji="0" lang="en-US" sz="1400" kern="0" dirty="0">
              <a:solidFill>
                <a:schemeClr val="tx1"/>
              </a:solidFill>
              <a:latin typeface="Meiryo UI" panose="020B0604030504040204" pitchFamily="34" charset="-128"/>
            </a:endParaRPr>
          </a:p>
        </p:txBody>
      </p:sp>
      <p:sp>
        <p:nvSpPr>
          <p:cNvPr id="135" name="正方形/長方形 134">
            <a:extLst>
              <a:ext uri="{FF2B5EF4-FFF2-40B4-BE49-F238E27FC236}">
                <a16:creationId xmlns:a16="http://schemas.microsoft.com/office/drawing/2014/main" id="{F9F2AA72-082C-4B66-B7C4-540FE9B0DB3F}"/>
              </a:ext>
            </a:extLst>
          </p:cNvPr>
          <p:cNvSpPr/>
          <p:nvPr/>
        </p:nvSpPr>
        <p:spPr>
          <a:xfrm>
            <a:off x="6901008" y="2740744"/>
            <a:ext cx="2548342" cy="350173"/>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アプリケーション統廃合・再配置</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136" name="正方形/長方形 135">
            <a:extLst>
              <a:ext uri="{FF2B5EF4-FFF2-40B4-BE49-F238E27FC236}">
                <a16:creationId xmlns:a16="http://schemas.microsoft.com/office/drawing/2014/main" id="{3E5424F1-FF4C-4B5C-B0DD-D4DAF53AB2D5}"/>
              </a:ext>
            </a:extLst>
          </p:cNvPr>
          <p:cNvSpPr/>
          <p:nvPr/>
        </p:nvSpPr>
        <p:spPr>
          <a:xfrm>
            <a:off x="6901008" y="3159506"/>
            <a:ext cx="2548342" cy="350173"/>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データレイク・</a:t>
            </a:r>
            <a:r>
              <a:rPr kumimoji="1" lang="en-US" altLang="ja-JP" sz="1200" dirty="0">
                <a:solidFill>
                  <a:schemeClr val="tx1"/>
                </a:solidFill>
                <a:latin typeface="Meiryo UI" panose="020B0604030504040204" pitchFamily="34" charset="-128"/>
                <a:ea typeface="Meiryo UI" panose="020B0604030504040204" pitchFamily="34" charset="-128"/>
              </a:rPr>
              <a:t>BDP</a:t>
            </a:r>
            <a:endParaRPr kumimoji="1" lang="en-US" sz="1200" dirty="0">
              <a:solidFill>
                <a:schemeClr val="tx1"/>
              </a:solidFill>
              <a:latin typeface="Meiryo UI" panose="020B0604030504040204" pitchFamily="34" charset="-128"/>
              <a:ea typeface="Meiryo UI" panose="020B0604030504040204" pitchFamily="34" charset="-128"/>
            </a:endParaRPr>
          </a:p>
        </p:txBody>
      </p:sp>
      <p:pic>
        <p:nvPicPr>
          <p:cNvPr id="137" name="図 136">
            <a:extLst>
              <a:ext uri="{FF2B5EF4-FFF2-40B4-BE49-F238E27FC236}">
                <a16:creationId xmlns:a16="http://schemas.microsoft.com/office/drawing/2014/main" id="{FCC7E839-D169-4066-9E5D-044AB742E70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927370" y="3159294"/>
            <a:ext cx="361749" cy="350173"/>
          </a:xfrm>
          <a:prstGeom prst="rect">
            <a:avLst/>
          </a:prstGeom>
        </p:spPr>
      </p:pic>
      <p:sp>
        <p:nvSpPr>
          <p:cNvPr id="112" name="円/楕円 135">
            <a:extLst>
              <a:ext uri="{FF2B5EF4-FFF2-40B4-BE49-F238E27FC236}">
                <a16:creationId xmlns:a16="http://schemas.microsoft.com/office/drawing/2014/main" id="{176F2A1D-AADE-4FF3-ACED-F2DA127C6992}"/>
              </a:ext>
            </a:extLst>
          </p:cNvPr>
          <p:cNvSpPr>
            <a:spLocks/>
          </p:cNvSpPr>
          <p:nvPr/>
        </p:nvSpPr>
        <p:spPr bwMode="gray">
          <a:xfrm>
            <a:off x="4415337" y="1761711"/>
            <a:ext cx="360000" cy="360000"/>
          </a:xfrm>
          <a:prstGeom prst="ellipse">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業務</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13" name="右矢印 73">
            <a:extLst>
              <a:ext uri="{FF2B5EF4-FFF2-40B4-BE49-F238E27FC236}">
                <a16:creationId xmlns:a16="http://schemas.microsoft.com/office/drawing/2014/main" id="{46DE01C1-72C4-43E7-8065-26A3291D8B4B}"/>
              </a:ext>
            </a:extLst>
          </p:cNvPr>
          <p:cNvSpPr/>
          <p:nvPr/>
        </p:nvSpPr>
        <p:spPr>
          <a:xfrm>
            <a:off x="5262248" y="1778444"/>
            <a:ext cx="1262718" cy="377716"/>
          </a:xfrm>
          <a:prstGeom prst="rightArrow">
            <a:avLst>
              <a:gd name="adj1" fmla="val 62296"/>
              <a:gd name="adj2" fmla="val 50000"/>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defTabSz="913190" rtl="0" eaLnBrk="1" fontAlgn="auto" latinLnBrk="0" hangingPunct="1">
              <a:lnSpc>
                <a:spcPct val="100000"/>
              </a:lnSpc>
              <a:spcBef>
                <a:spcPts val="0"/>
              </a:spcBef>
              <a:spcAft>
                <a:spcPts val="0"/>
              </a:spcAft>
              <a:buClrTx/>
              <a:buSzTx/>
              <a:buFontTx/>
              <a:buNone/>
              <a:tabLst/>
            </a:pPr>
            <a:r>
              <a:rPr lang="en-US" altLang="ja-JP" sz="1100" dirty="0">
                <a:solidFill>
                  <a:schemeClr val="tx1"/>
                </a:solidFill>
                <a:latin typeface="Meiryo UI" panose="020B0604030504040204" pitchFamily="34" charset="-128"/>
                <a:ea typeface="Meiryo UI" panose="020B0604030504040204" pitchFamily="34" charset="-128"/>
              </a:rPr>
              <a:t>BU</a:t>
            </a:r>
            <a:r>
              <a:rPr lang="ja-JP" altLang="en-US" sz="1100" dirty="0">
                <a:solidFill>
                  <a:schemeClr val="tx1"/>
                </a:solidFill>
                <a:latin typeface="Meiryo UI" panose="020B0604030504040204" pitchFamily="34" charset="-128"/>
                <a:ea typeface="Meiryo UI" panose="020B0604030504040204" pitchFamily="34" charset="-128"/>
              </a:rPr>
              <a:t>別経営・</a:t>
            </a:r>
            <a:br>
              <a:rPr lang="en-US" altLang="ja-JP" sz="1100" dirty="0">
                <a:solidFill>
                  <a:schemeClr val="tx1"/>
                </a:solidFill>
                <a:latin typeface="Meiryo UI" panose="020B0604030504040204" pitchFamily="34" charset="-128"/>
                <a:ea typeface="Meiryo UI" panose="020B0604030504040204" pitchFamily="34" charset="-128"/>
              </a:rPr>
            </a:br>
            <a:r>
              <a:rPr lang="ja-JP" altLang="en-US" sz="1100" dirty="0">
                <a:solidFill>
                  <a:schemeClr val="tx1"/>
                </a:solidFill>
                <a:latin typeface="Meiryo UI" panose="020B0604030504040204" pitchFamily="34" charset="-128"/>
                <a:ea typeface="Meiryo UI" panose="020B0604030504040204" pitchFamily="34" charset="-128"/>
              </a:rPr>
              <a:t>データ</a:t>
            </a:r>
            <a:r>
              <a:rPr kumimoji="1" lang="ja-JP" altLang="en-US" sz="1100" u="none" strike="noStrike" kern="1200" cap="none" spc="0" normalizeH="0" baseline="0" noProof="0" dirty="0">
                <a:ln>
                  <a:noFill/>
                </a:ln>
                <a:solidFill>
                  <a:schemeClr val="tx1"/>
                </a:solidFill>
                <a:effectLst/>
                <a:uLnTx/>
                <a:uFillTx/>
                <a:latin typeface="Meiryo UI" panose="020B0604030504040204" pitchFamily="34" charset="-128"/>
                <a:ea typeface="Meiryo UI" panose="020B0604030504040204" pitchFamily="34" charset="-128"/>
              </a:rPr>
              <a:t>に基づく</a:t>
            </a:r>
            <a:endParaRPr kumimoji="1" lang="en-US" altLang="ja-JP" sz="1100" u="none" strike="noStrike" kern="1200" cap="none" spc="0" normalizeH="0" baseline="0" noProof="0" dirty="0">
              <a:ln>
                <a:noFill/>
              </a:ln>
              <a:solidFill>
                <a:schemeClr val="tx1"/>
              </a:solidFill>
              <a:effectLst/>
              <a:uLnTx/>
              <a:uFillTx/>
              <a:latin typeface="Meiryo UI" panose="020B0604030504040204" pitchFamily="34" charset="-128"/>
              <a:ea typeface="Meiryo UI" panose="020B0604030504040204" pitchFamily="34" charset="-128"/>
            </a:endParaRPr>
          </a:p>
          <a:p>
            <a:pPr marL="0" marR="0" indent="0" defTabSz="913190" rtl="0" eaLnBrk="1" fontAlgn="auto" latinLnBrk="0" hangingPunct="1">
              <a:lnSpc>
                <a:spcPct val="100000"/>
              </a:lnSpc>
              <a:spcBef>
                <a:spcPts val="0"/>
              </a:spcBef>
              <a:spcAft>
                <a:spcPts val="0"/>
              </a:spcAft>
              <a:buClrTx/>
              <a:buSzTx/>
              <a:buFontTx/>
              <a:buNone/>
              <a:tabLst/>
            </a:pPr>
            <a:r>
              <a:rPr kumimoji="1" lang="ja-JP" altLang="en-US" sz="1100" u="none" strike="noStrike" kern="1200" cap="none" spc="0" normalizeH="0" baseline="0" noProof="0" dirty="0">
                <a:ln>
                  <a:noFill/>
                </a:ln>
                <a:solidFill>
                  <a:schemeClr val="tx1"/>
                </a:solidFill>
                <a:effectLst/>
                <a:uLnTx/>
                <a:uFillTx/>
                <a:latin typeface="Meiryo UI" panose="020B0604030504040204" pitchFamily="34" charset="-128"/>
                <a:ea typeface="Meiryo UI" panose="020B0604030504040204" pitchFamily="34" charset="-128"/>
              </a:rPr>
              <a:t>ソリューション提案</a:t>
            </a:r>
            <a:endParaRPr kumimoji="1" lang="en-US" altLang="ja-JP" sz="1100" u="none" strike="noStrike" kern="1200" cap="none" spc="0" normalizeH="0" baseline="0" noProof="0" dirty="0">
              <a:ln>
                <a:noFill/>
              </a:ln>
              <a:solidFill>
                <a:schemeClr val="tx1"/>
              </a:solidFill>
              <a:effectLst/>
              <a:uLnTx/>
              <a:uFillTx/>
              <a:latin typeface="Meiryo UI" panose="020B0604030504040204" pitchFamily="34" charset="-128"/>
              <a:ea typeface="Meiryo UI" panose="020B0604030504040204" pitchFamily="34" charset="-128"/>
            </a:endParaRPr>
          </a:p>
        </p:txBody>
      </p:sp>
      <p:sp>
        <p:nvSpPr>
          <p:cNvPr id="115" name="矢印: 右 114">
            <a:extLst>
              <a:ext uri="{FF2B5EF4-FFF2-40B4-BE49-F238E27FC236}">
                <a16:creationId xmlns:a16="http://schemas.microsoft.com/office/drawing/2014/main" id="{5FB65AB1-36FE-46BA-A3CB-A06E913FFB6E}"/>
              </a:ext>
            </a:extLst>
          </p:cNvPr>
          <p:cNvSpPr/>
          <p:nvPr/>
        </p:nvSpPr>
        <p:spPr>
          <a:xfrm>
            <a:off x="4340347" y="1323857"/>
            <a:ext cx="2444752" cy="246113"/>
          </a:xfrm>
          <a:prstGeom prst="rightArrow">
            <a:avLst>
              <a:gd name="adj1" fmla="val 100000"/>
              <a:gd name="adj2" fmla="val 50000"/>
            </a:avLst>
          </a:prstGeom>
          <a:solidFill>
            <a:schemeClr val="accent4">
              <a:lumMod val="40000"/>
              <a:lumOff val="60000"/>
            </a:schemeClr>
          </a:solidFill>
          <a:ln w="10795" cap="flat" cmpd="sng" algn="ctr">
            <a:noFill/>
            <a:prstDash val="solid"/>
          </a:ln>
          <a:effectLst/>
        </p:spPr>
        <p:txBody>
          <a:bodyPr rtlCol="0" anchor="t"/>
          <a:lstStyle/>
          <a:p>
            <a:pPr algn="ctr" eaLnBrk="1" fontAlgn="auto" hangingPunct="1">
              <a:spcBef>
                <a:spcPts val="0"/>
              </a:spcBef>
              <a:spcAft>
                <a:spcPts val="0"/>
              </a:spcAft>
            </a:pPr>
            <a:r>
              <a:rPr kumimoji="0" lang="ja-JP" altLang="en-US" sz="1400" kern="0" dirty="0">
                <a:latin typeface="Meiryo UI" panose="020B0604030504040204" pitchFamily="34" charset="-128"/>
                <a:ea typeface="Meiryo UI" panose="020B0604030504040204" pitchFamily="34" charset="-128"/>
              </a:rPr>
              <a:t>刷新プロジェクト</a:t>
            </a:r>
            <a:endParaRPr kumimoji="0" lang="en-US" sz="1400" kern="0" dirty="0">
              <a:solidFill>
                <a:schemeClr val="tx1"/>
              </a:solidFill>
              <a:latin typeface="Meiryo UI" panose="020B0604030504040204" pitchFamily="34" charset="-128"/>
              <a:ea typeface="Meiryo UI" panose="020B0604030504040204" pitchFamily="34" charset="-128"/>
            </a:endParaRPr>
          </a:p>
        </p:txBody>
      </p:sp>
      <p:sp>
        <p:nvSpPr>
          <p:cNvPr id="117" name="円/楕円 136">
            <a:extLst>
              <a:ext uri="{FF2B5EF4-FFF2-40B4-BE49-F238E27FC236}">
                <a16:creationId xmlns:a16="http://schemas.microsoft.com/office/drawing/2014/main" id="{C3842F0B-D273-4BA1-BB5D-B85CD744F4C2}"/>
              </a:ext>
            </a:extLst>
          </p:cNvPr>
          <p:cNvSpPr>
            <a:spLocks/>
          </p:cNvSpPr>
          <p:nvPr/>
        </p:nvSpPr>
        <p:spPr bwMode="gray">
          <a:xfrm>
            <a:off x="4415337" y="2748507"/>
            <a:ext cx="360000" cy="360000"/>
          </a:xfrm>
          <a:prstGeom prst="ellipse">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IT</a:t>
            </a:r>
          </a:p>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アーキ</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32" name="円/楕円 136">
            <a:extLst>
              <a:ext uri="{FF2B5EF4-FFF2-40B4-BE49-F238E27FC236}">
                <a16:creationId xmlns:a16="http://schemas.microsoft.com/office/drawing/2014/main" id="{72A3CD17-6FB0-49B4-BC33-13CB593EFC1B}"/>
              </a:ext>
            </a:extLst>
          </p:cNvPr>
          <p:cNvSpPr>
            <a:spLocks/>
          </p:cNvSpPr>
          <p:nvPr/>
        </p:nvSpPr>
        <p:spPr bwMode="gray">
          <a:xfrm>
            <a:off x="4415337" y="3154486"/>
            <a:ext cx="360000" cy="360000"/>
          </a:xfrm>
          <a:prstGeom prst="ellipse">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IT</a:t>
            </a:r>
          </a:p>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アーキ</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33" name="円/楕円 136">
            <a:extLst>
              <a:ext uri="{FF2B5EF4-FFF2-40B4-BE49-F238E27FC236}">
                <a16:creationId xmlns:a16="http://schemas.microsoft.com/office/drawing/2014/main" id="{EB96AC23-C56F-4233-B77F-353F480E02B9}"/>
              </a:ext>
            </a:extLst>
          </p:cNvPr>
          <p:cNvSpPr>
            <a:spLocks/>
          </p:cNvSpPr>
          <p:nvPr/>
        </p:nvSpPr>
        <p:spPr bwMode="gray">
          <a:xfrm>
            <a:off x="4794582" y="3154486"/>
            <a:ext cx="360000" cy="360000"/>
          </a:xfrm>
          <a:prstGeom prst="ellipse">
            <a:avLst/>
          </a:prstGeom>
          <a:gradFill flip="none" rotWithShape="1">
            <a:gsLst>
              <a:gs pos="0">
                <a:schemeClr val="accent3">
                  <a:lumMod val="50000"/>
                </a:schemeClr>
              </a:gs>
              <a:gs pos="50000">
                <a:schemeClr val="accent3">
                  <a:lumMod val="75000"/>
                </a:schemeClr>
              </a:gs>
              <a:gs pos="100000">
                <a:schemeClr val="accent3">
                  <a:lumMod val="60000"/>
                  <a:lumOff val="40000"/>
                </a:scheme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拠点</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34" name="円/楕円 136">
            <a:extLst>
              <a:ext uri="{FF2B5EF4-FFF2-40B4-BE49-F238E27FC236}">
                <a16:creationId xmlns:a16="http://schemas.microsoft.com/office/drawing/2014/main" id="{EAFA7ECA-7AA0-41F8-A39C-4AD938246CEB}"/>
              </a:ext>
            </a:extLst>
          </p:cNvPr>
          <p:cNvSpPr>
            <a:spLocks/>
          </p:cNvSpPr>
          <p:nvPr/>
        </p:nvSpPr>
        <p:spPr bwMode="gray">
          <a:xfrm>
            <a:off x="4794582" y="2315724"/>
            <a:ext cx="360000" cy="360000"/>
          </a:xfrm>
          <a:prstGeom prst="ellipse">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DM</a:t>
            </a: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ST</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38" name="円/楕円 136">
            <a:extLst>
              <a:ext uri="{FF2B5EF4-FFF2-40B4-BE49-F238E27FC236}">
                <a16:creationId xmlns:a16="http://schemas.microsoft.com/office/drawing/2014/main" id="{6E28F04A-9374-4AED-A803-010BF9275EFE}"/>
              </a:ext>
            </a:extLst>
          </p:cNvPr>
          <p:cNvSpPr>
            <a:spLocks/>
          </p:cNvSpPr>
          <p:nvPr/>
        </p:nvSpPr>
        <p:spPr bwMode="gray">
          <a:xfrm>
            <a:off x="4415337" y="2315724"/>
            <a:ext cx="360000" cy="360000"/>
          </a:xfrm>
          <a:prstGeom prst="ellipse">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モック</a:t>
            </a:r>
          </a:p>
        </p:txBody>
      </p:sp>
      <p:sp>
        <p:nvSpPr>
          <p:cNvPr id="139" name="二等辺三角形 138">
            <a:extLst>
              <a:ext uri="{FF2B5EF4-FFF2-40B4-BE49-F238E27FC236}">
                <a16:creationId xmlns:a16="http://schemas.microsoft.com/office/drawing/2014/main" id="{7870EE73-0204-4A91-8D68-1F3783F84296}"/>
              </a:ext>
            </a:extLst>
          </p:cNvPr>
          <p:cNvSpPr/>
          <p:nvPr/>
        </p:nvSpPr>
        <p:spPr>
          <a:xfrm rot="10800000">
            <a:off x="2248025" y="3637244"/>
            <a:ext cx="5431595" cy="180795"/>
          </a:xfrm>
          <a:prstGeom prst="triangle">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graphicFrame>
        <p:nvGraphicFramePr>
          <p:cNvPr id="140" name="表 13">
            <a:extLst>
              <a:ext uri="{FF2B5EF4-FFF2-40B4-BE49-F238E27FC236}">
                <a16:creationId xmlns:a16="http://schemas.microsoft.com/office/drawing/2014/main" id="{F20415A6-A80F-494D-9EE3-EF16F3B963D3}"/>
              </a:ext>
            </a:extLst>
          </p:cNvPr>
          <p:cNvGraphicFramePr>
            <a:graphicFrameLocks noGrp="1"/>
          </p:cNvGraphicFramePr>
          <p:nvPr/>
        </p:nvGraphicFramePr>
        <p:xfrm>
          <a:off x="236538" y="4305872"/>
          <a:ext cx="9440862" cy="1773900"/>
        </p:xfrm>
        <a:graphic>
          <a:graphicData uri="http://schemas.openxmlformats.org/drawingml/2006/table">
            <a:tbl>
              <a:tblPr firstRow="1" bandRow="1">
                <a:tableStyleId>{5C22544A-7EE6-4342-B048-85BDC9FD1C3A}</a:tableStyleId>
              </a:tblPr>
              <a:tblGrid>
                <a:gridCol w="2860767">
                  <a:extLst>
                    <a:ext uri="{9D8B030D-6E8A-4147-A177-3AD203B41FA5}">
                      <a16:colId xmlns:a16="http://schemas.microsoft.com/office/drawing/2014/main" val="3167928265"/>
                    </a:ext>
                  </a:extLst>
                </a:gridCol>
                <a:gridCol w="2193365">
                  <a:extLst>
                    <a:ext uri="{9D8B030D-6E8A-4147-A177-3AD203B41FA5}">
                      <a16:colId xmlns:a16="http://schemas.microsoft.com/office/drawing/2014/main" val="2195129053"/>
                    </a:ext>
                  </a:extLst>
                </a:gridCol>
                <a:gridCol w="2193365">
                  <a:extLst>
                    <a:ext uri="{9D8B030D-6E8A-4147-A177-3AD203B41FA5}">
                      <a16:colId xmlns:a16="http://schemas.microsoft.com/office/drawing/2014/main" val="3425002779"/>
                    </a:ext>
                  </a:extLst>
                </a:gridCol>
                <a:gridCol w="2193365">
                  <a:extLst>
                    <a:ext uri="{9D8B030D-6E8A-4147-A177-3AD203B41FA5}">
                      <a16:colId xmlns:a16="http://schemas.microsoft.com/office/drawing/2014/main" val="2952869344"/>
                    </a:ext>
                  </a:extLst>
                </a:gridCol>
              </a:tblGrid>
              <a:tr h="0">
                <a:tc>
                  <a:txBody>
                    <a:bodyPr/>
                    <a:lstStyle/>
                    <a:p>
                      <a:r>
                        <a:rPr lang="en-US" altLang="ja-JP" b="0" i="0" dirty="0">
                          <a:solidFill>
                            <a:schemeClr val="bg1"/>
                          </a:solidFill>
                          <a:latin typeface="Meiryo UI" panose="020B0604030504040204" pitchFamily="34" charset="-128"/>
                          <a:ea typeface="Meiryo UI" panose="020B0604030504040204" pitchFamily="34" charset="-128"/>
                        </a:rPr>
                        <a:t>DM</a:t>
                      </a:r>
                      <a:r>
                        <a:rPr lang="ja-JP" altLang="en-US" b="0" i="0" dirty="0">
                          <a:solidFill>
                            <a:schemeClr val="bg1"/>
                          </a:solidFill>
                          <a:latin typeface="Meiryo UI" panose="020B0604030504040204" pitchFamily="34" charset="-128"/>
                          <a:ea typeface="Meiryo UI" panose="020B0604030504040204" pitchFamily="34" charset="-128"/>
                        </a:rPr>
                        <a:t>強化により得られるバリュー</a:t>
                      </a:r>
                      <a:endParaRPr 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a:r>
                        <a:rPr lang="ja-JP" altLang="en-US" b="0" i="0" dirty="0">
                          <a:solidFill>
                            <a:schemeClr val="bg1"/>
                          </a:solidFill>
                          <a:latin typeface="Meiryo UI" panose="020B0604030504040204" pitchFamily="34" charset="-128"/>
                          <a:ea typeface="Meiryo UI" panose="020B0604030504040204" pitchFamily="34" charset="-128"/>
                        </a:rPr>
                        <a:t>システム企画</a:t>
                      </a:r>
                      <a:endParaRPr 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a:r>
                        <a:rPr lang="ja-JP" altLang="en-US" b="0" i="0" dirty="0">
                          <a:solidFill>
                            <a:schemeClr val="bg1"/>
                          </a:solidFill>
                          <a:latin typeface="Meiryo UI" panose="020B0604030504040204" pitchFamily="34" charset="-128"/>
                          <a:ea typeface="Meiryo UI" panose="020B0604030504040204" pitchFamily="34" charset="-128"/>
                        </a:rPr>
                        <a:t>システム開発</a:t>
                      </a:r>
                      <a:endParaRPr 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a:r>
                        <a:rPr lang="ja-JP" altLang="en-US" b="0" i="0" dirty="0">
                          <a:solidFill>
                            <a:schemeClr val="bg1"/>
                          </a:solidFill>
                          <a:latin typeface="Meiryo UI" panose="020B0604030504040204" pitchFamily="34" charset="-128"/>
                          <a:ea typeface="Meiryo UI" panose="020B0604030504040204" pitchFamily="34" charset="-128"/>
                        </a:rPr>
                        <a:t>システム運用</a:t>
                      </a:r>
                      <a:endParaRPr 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122001843"/>
                  </a:ext>
                </a:extLst>
              </a:tr>
              <a:tr h="152561">
                <a:tc>
                  <a:txBody>
                    <a:bodyPr/>
                    <a:lstStyle/>
                    <a:p>
                      <a:pPr marL="228600" indent="-228600">
                        <a:buFont typeface="+mj-ea"/>
                        <a:buAutoNum type="circleNumDbPlain"/>
                      </a:pPr>
                      <a:r>
                        <a:rPr lang="ja-JP" altLang="en-US" sz="1200" b="0" i="0" dirty="0">
                          <a:latin typeface="Meiryo UI" panose="020B0604030504040204" pitchFamily="34" charset="-128"/>
                          <a:ea typeface="Meiryo UI" panose="020B0604030504040204" pitchFamily="34" charset="-128"/>
                        </a:rPr>
                        <a:t>データ冗長性の排除によるシステム統廃合の促進</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285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システム導入</a:t>
                      </a:r>
                      <a:r>
                        <a:rPr kumimoji="1" lang="en-US" altLang="ja-JP" sz="1200" b="0" i="0" u="none" strike="noStrike" kern="1200" cap="none" spc="0" normalizeH="0" baseline="0" noProof="0" dirty="0" err="1">
                          <a:ln>
                            <a:noFill/>
                          </a:ln>
                          <a:solidFill>
                            <a:srgbClr val="000000"/>
                          </a:solidFill>
                          <a:effectLst/>
                          <a:uLnTx/>
                          <a:uFillTx/>
                          <a:latin typeface="Meiryo UI" panose="020B0604030504040204" pitchFamily="34" charset="-128"/>
                          <a:ea typeface="Meiryo UI" panose="020B0604030504040204" pitchFamily="34" charset="-128"/>
                          <a:cs typeface="+mn-cs"/>
                        </a:rPr>
                        <a:t>RoI</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の向上</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統廃合による</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TCO</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の削減</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12700" cmpd="sng">
                      <a:noFill/>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開発リードタイムの短縮</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開発品質の向上</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冗長運用体制の解除と開発へのリソースシフト</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3676268"/>
                  </a:ext>
                </a:extLst>
              </a:tr>
              <a:tr h="152561">
                <a:tc>
                  <a:txBody>
                    <a:bodyPr/>
                    <a:lstStyle/>
                    <a:p>
                      <a:pPr marL="228600" marR="0" lvl="0" indent="-228600" algn="l" defTabSz="685800" rtl="0" eaLnBrk="1" fontAlgn="auto" latinLnBrk="0" hangingPunct="1">
                        <a:lnSpc>
                          <a:spcPct val="100000"/>
                        </a:lnSpc>
                        <a:spcBef>
                          <a:spcPts val="0"/>
                        </a:spcBef>
                        <a:spcAft>
                          <a:spcPts val="0"/>
                        </a:spcAft>
                        <a:buClrTx/>
                        <a:buSzTx/>
                        <a:buFont typeface="+mj-ea"/>
                        <a:buAutoNum type="circleNumDbPlain" startAt="2"/>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データ標準化によるシステム運用・業務運用の俗人化の排除</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txBody>
                  <a:tcPr marL="36000" marR="36000" marT="36000" marB="36000" anchor="ctr">
                    <a:lnL w="28575"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b="0" i="0" dirty="0">
                        <a:latin typeface="Meiryo UI" panose="020B0604030504040204" pitchFamily="34" charset="-128"/>
                        <a:ea typeface="Meiryo UI" panose="020B0604030504040204" pitchFamily="34" charset="-128"/>
                      </a:endParaRPr>
                    </a:p>
                  </a:txBody>
                  <a:tcPr marL="36000" marR="36000" marT="36000" marB="36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開発要件整理リードタイムの短縮</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12700" cmpd="sng">
                      <a:noFill/>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b="0" i="0" dirty="0">
                          <a:latin typeface="Meiryo UI" panose="020B0604030504040204" pitchFamily="34" charset="-128"/>
                          <a:ea typeface="Meiryo UI" panose="020B0604030504040204" pitchFamily="34" charset="-128"/>
                        </a:rPr>
                        <a:t>運用チーム集約と開発へのリソースシフト</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12700" cmpd="sng">
                      <a:noFill/>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6031555"/>
                  </a:ext>
                </a:extLst>
              </a:tr>
              <a:tr h="230697">
                <a:tc>
                  <a:txBody>
                    <a:bodyPr/>
                    <a:lstStyle/>
                    <a:p>
                      <a:pPr marL="228600" marR="0" lvl="0" indent="-228600" algn="l" defTabSz="685800" rtl="0" eaLnBrk="1" fontAlgn="auto" latinLnBrk="0" hangingPunct="1">
                        <a:lnSpc>
                          <a:spcPct val="100000"/>
                        </a:lnSpc>
                        <a:spcBef>
                          <a:spcPts val="0"/>
                        </a:spcBef>
                        <a:spcAft>
                          <a:spcPts val="0"/>
                        </a:spcAft>
                        <a:buClrTx/>
                        <a:buSzTx/>
                        <a:buFont typeface="+mj-ea"/>
                        <a:buAutoNum type="circleNumDbPlain" startAt="3"/>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データ透過性の確保</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txBody>
                  <a:tcPr marL="36000" marR="36000" marT="36000" marB="36000" anchor="ctr">
                    <a:lnL w="28575"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MHI</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との統合完了までのリードタイム短縮とコスト低減</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統合計画の品質向上</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統合によるシステム統廃合のリードタイム短縮</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cs typeface="+mn-cs"/>
                        </a:rPr>
                        <a:t>データ移行のリスク低減</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b="0" i="0" dirty="0">
                          <a:latin typeface="Meiryo UI" panose="020B0604030504040204" pitchFamily="34" charset="-128"/>
                          <a:ea typeface="Meiryo UI" panose="020B0604030504040204" pitchFamily="34" charset="-128"/>
                        </a:rPr>
                        <a:t>データ活用時の</a:t>
                      </a:r>
                      <a:r>
                        <a:rPr lang="en-US" altLang="ja-JP" sz="1200" b="0" i="0" dirty="0">
                          <a:latin typeface="Meiryo UI" panose="020B0604030504040204" pitchFamily="34" charset="-128"/>
                          <a:ea typeface="Meiryo UI" panose="020B0604030504040204" pitchFamily="34" charset="-128"/>
                        </a:rPr>
                        <a:t>DevOps</a:t>
                      </a:r>
                      <a:r>
                        <a:rPr lang="ja-JP" altLang="en-US" sz="1200" b="0" i="0" dirty="0">
                          <a:latin typeface="Meiryo UI" panose="020B0604030504040204" pitchFamily="34" charset="-128"/>
                          <a:ea typeface="Meiryo UI" panose="020B0604030504040204" pitchFamily="34" charset="-128"/>
                        </a:rPr>
                        <a:t>等の効率向上</a:t>
                      </a:r>
                      <a:endParaRPr lang="en-US" sz="1200" b="0" i="0" dirty="0">
                        <a:latin typeface="Meiryo UI" panose="020B0604030504040204" pitchFamily="34" charset="-128"/>
                        <a:ea typeface="Meiryo UI" panose="020B0604030504040204" pitchFamily="34" charset="-128"/>
                      </a:endParaRPr>
                    </a:p>
                  </a:txBody>
                  <a:tcPr marL="36000" marR="36000" marT="36000" marB="3600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6820480"/>
                  </a:ext>
                </a:extLst>
              </a:tr>
            </a:tbl>
          </a:graphicData>
        </a:graphic>
      </p:graphicFrame>
      <p:cxnSp>
        <p:nvCxnSpPr>
          <p:cNvPr id="15" name="コネクタ: カギ線 14">
            <a:extLst>
              <a:ext uri="{FF2B5EF4-FFF2-40B4-BE49-F238E27FC236}">
                <a16:creationId xmlns:a16="http://schemas.microsoft.com/office/drawing/2014/main" id="{7C78B5D5-FC59-4319-BE15-00714B084D61}"/>
              </a:ext>
            </a:extLst>
          </p:cNvPr>
          <p:cNvCxnSpPr>
            <a:cxnSpLocks/>
            <a:stCxn id="79" idx="3"/>
            <a:endCxn id="135" idx="3"/>
          </p:cNvCxnSpPr>
          <p:nvPr/>
        </p:nvCxnSpPr>
        <p:spPr>
          <a:xfrm>
            <a:off x="9449350" y="2497070"/>
            <a:ext cx="12700" cy="418761"/>
          </a:xfrm>
          <a:prstGeom prst="bentConnector3">
            <a:avLst>
              <a:gd name="adj1" fmla="val 1800000"/>
            </a:avLst>
          </a:prstGeom>
          <a:noFill/>
          <a:ln w="19050" cap="flat" cmpd="sng" algn="ctr">
            <a:solidFill>
              <a:schemeClr val="accent4">
                <a:lumMod val="50000"/>
              </a:schemeClr>
            </a:solidFill>
            <a:prstDash val="solid"/>
            <a:tailEnd type="triangle"/>
          </a:ln>
          <a:effectLst/>
        </p:spPr>
      </p:cxnSp>
      <p:cxnSp>
        <p:nvCxnSpPr>
          <p:cNvPr id="143" name="コネクタ: カギ線 142">
            <a:extLst>
              <a:ext uri="{FF2B5EF4-FFF2-40B4-BE49-F238E27FC236}">
                <a16:creationId xmlns:a16="http://schemas.microsoft.com/office/drawing/2014/main" id="{8548A47A-BE15-4E09-8445-5DDE664A231B}"/>
              </a:ext>
            </a:extLst>
          </p:cNvPr>
          <p:cNvCxnSpPr>
            <a:cxnSpLocks/>
            <a:stCxn id="79" idx="1"/>
            <a:endCxn id="137" idx="1"/>
          </p:cNvCxnSpPr>
          <p:nvPr/>
        </p:nvCxnSpPr>
        <p:spPr>
          <a:xfrm rot="10800000" flipH="1" flipV="1">
            <a:off x="6901008" y="2497069"/>
            <a:ext cx="26362" cy="837311"/>
          </a:xfrm>
          <a:prstGeom prst="bentConnector3">
            <a:avLst>
              <a:gd name="adj1" fmla="val -867157"/>
            </a:avLst>
          </a:prstGeom>
          <a:noFill/>
          <a:ln w="19050" cap="flat" cmpd="sng" algn="ctr">
            <a:solidFill>
              <a:schemeClr val="accent4">
                <a:lumMod val="50000"/>
              </a:schemeClr>
            </a:solidFill>
            <a:prstDash val="solid"/>
            <a:tailEnd type="triangle"/>
          </a:ln>
          <a:effectLst/>
        </p:spPr>
      </p:cxnSp>
      <p:cxnSp>
        <p:nvCxnSpPr>
          <p:cNvPr id="148" name="コネクタ: カギ線 147">
            <a:extLst>
              <a:ext uri="{FF2B5EF4-FFF2-40B4-BE49-F238E27FC236}">
                <a16:creationId xmlns:a16="http://schemas.microsoft.com/office/drawing/2014/main" id="{21A14565-F880-45F1-8D40-50591F3BE72A}"/>
              </a:ext>
            </a:extLst>
          </p:cNvPr>
          <p:cNvCxnSpPr>
            <a:cxnSpLocks/>
            <a:stCxn id="79" idx="3"/>
          </p:cNvCxnSpPr>
          <p:nvPr/>
        </p:nvCxnSpPr>
        <p:spPr>
          <a:xfrm flipH="1" flipV="1">
            <a:off x="9326075" y="1838653"/>
            <a:ext cx="123275" cy="658417"/>
          </a:xfrm>
          <a:prstGeom prst="bentConnector3">
            <a:avLst>
              <a:gd name="adj1" fmla="val -185439"/>
            </a:avLst>
          </a:prstGeom>
          <a:noFill/>
          <a:ln w="19050" cap="flat" cmpd="sng" algn="ctr">
            <a:solidFill>
              <a:schemeClr val="accent4">
                <a:lumMod val="50000"/>
              </a:schemeClr>
            </a:solidFill>
            <a:prstDash val="solid"/>
            <a:tailEnd type="triangle"/>
          </a:ln>
          <a:effectLst/>
        </p:spPr>
      </p:cxnSp>
      <p:sp>
        <p:nvSpPr>
          <p:cNvPr id="25" name="楕円 24">
            <a:extLst>
              <a:ext uri="{FF2B5EF4-FFF2-40B4-BE49-F238E27FC236}">
                <a16:creationId xmlns:a16="http://schemas.microsoft.com/office/drawing/2014/main" id="{2156B4D0-0173-413C-9C91-8FEE378F15C5}"/>
              </a:ext>
            </a:extLst>
          </p:cNvPr>
          <p:cNvSpPr/>
          <p:nvPr/>
        </p:nvSpPr>
        <p:spPr>
          <a:xfrm>
            <a:off x="6560398" y="3229294"/>
            <a:ext cx="218286" cy="218286"/>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34" charset="-128"/>
                <a:ea typeface="Meiryo UI" panose="020B0604030504040204" pitchFamily="34" charset="-128"/>
              </a:rPr>
              <a:t>3</a:t>
            </a:r>
            <a:endParaRPr kumimoji="1" lang="en-US" sz="1400" dirty="0">
              <a:latin typeface="Meiryo UI" panose="020B0604030504040204" pitchFamily="34" charset="-128"/>
              <a:ea typeface="Meiryo UI" panose="020B0604030504040204" pitchFamily="34" charset="-128"/>
            </a:endParaRPr>
          </a:p>
        </p:txBody>
      </p:sp>
      <p:sp>
        <p:nvSpPr>
          <p:cNvPr id="151" name="楕円 150">
            <a:extLst>
              <a:ext uri="{FF2B5EF4-FFF2-40B4-BE49-F238E27FC236}">
                <a16:creationId xmlns:a16="http://schemas.microsoft.com/office/drawing/2014/main" id="{A9BF1554-9603-4D5D-A116-468FACB752B6}"/>
              </a:ext>
            </a:extLst>
          </p:cNvPr>
          <p:cNvSpPr/>
          <p:nvPr/>
        </p:nvSpPr>
        <p:spPr>
          <a:xfrm>
            <a:off x="9574718" y="2890221"/>
            <a:ext cx="218286" cy="218286"/>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34" charset="-128"/>
                <a:ea typeface="Meiryo UI" panose="020B0604030504040204" pitchFamily="34" charset="-128"/>
              </a:rPr>
              <a:t>2</a:t>
            </a:r>
            <a:endParaRPr kumimoji="1" lang="en-US" sz="1400" dirty="0">
              <a:latin typeface="Meiryo UI" panose="020B0604030504040204" pitchFamily="34" charset="-128"/>
              <a:ea typeface="Meiryo UI" panose="020B0604030504040204" pitchFamily="34" charset="-128"/>
            </a:endParaRPr>
          </a:p>
        </p:txBody>
      </p:sp>
      <p:sp>
        <p:nvSpPr>
          <p:cNvPr id="152" name="楕円 151">
            <a:extLst>
              <a:ext uri="{FF2B5EF4-FFF2-40B4-BE49-F238E27FC236}">
                <a16:creationId xmlns:a16="http://schemas.microsoft.com/office/drawing/2014/main" id="{839DAC38-D101-44E4-AE09-B8D2A82748A9}"/>
              </a:ext>
            </a:extLst>
          </p:cNvPr>
          <p:cNvSpPr/>
          <p:nvPr/>
        </p:nvSpPr>
        <p:spPr>
          <a:xfrm>
            <a:off x="9574718" y="2631601"/>
            <a:ext cx="218286" cy="218286"/>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34" charset="-128"/>
                <a:ea typeface="Meiryo UI" panose="020B0604030504040204" pitchFamily="34" charset="-128"/>
              </a:rPr>
              <a:t>1</a:t>
            </a:r>
            <a:endParaRPr kumimoji="1" lang="en-US" sz="1400" dirty="0">
              <a:latin typeface="Meiryo UI" panose="020B0604030504040204" pitchFamily="34" charset="-128"/>
              <a:ea typeface="Meiryo UI" panose="020B0604030504040204" pitchFamily="34" charset="-128"/>
            </a:endParaRPr>
          </a:p>
        </p:txBody>
      </p:sp>
      <p:sp>
        <p:nvSpPr>
          <p:cNvPr id="153" name="楕円 152">
            <a:extLst>
              <a:ext uri="{FF2B5EF4-FFF2-40B4-BE49-F238E27FC236}">
                <a16:creationId xmlns:a16="http://schemas.microsoft.com/office/drawing/2014/main" id="{8FF5C472-6B06-473B-8AAA-7545900FEF48}"/>
              </a:ext>
            </a:extLst>
          </p:cNvPr>
          <p:cNvSpPr/>
          <p:nvPr/>
        </p:nvSpPr>
        <p:spPr>
          <a:xfrm>
            <a:off x="9574718" y="1941711"/>
            <a:ext cx="218286" cy="218286"/>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34" charset="-128"/>
                <a:ea typeface="Meiryo UI" panose="020B0604030504040204" pitchFamily="34" charset="-128"/>
              </a:rPr>
              <a:t>2</a:t>
            </a:r>
            <a:endParaRPr kumimoji="1" lang="en-US" sz="1400" dirty="0">
              <a:latin typeface="Meiryo UI" panose="020B0604030504040204" pitchFamily="34" charset="-128"/>
              <a:ea typeface="Meiryo UI" panose="020B0604030504040204" pitchFamily="34" charset="-128"/>
            </a:endParaRPr>
          </a:p>
        </p:txBody>
      </p:sp>
      <p:sp>
        <p:nvSpPr>
          <p:cNvPr id="161" name="楕円 160">
            <a:extLst>
              <a:ext uri="{FF2B5EF4-FFF2-40B4-BE49-F238E27FC236}">
                <a16:creationId xmlns:a16="http://schemas.microsoft.com/office/drawing/2014/main" id="{E730DC25-61DD-435C-9E97-F820A7AFAFC9}"/>
              </a:ext>
            </a:extLst>
          </p:cNvPr>
          <p:cNvSpPr/>
          <p:nvPr/>
        </p:nvSpPr>
        <p:spPr>
          <a:xfrm>
            <a:off x="9574718" y="2184170"/>
            <a:ext cx="218286" cy="218286"/>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34" charset="-128"/>
                <a:ea typeface="Meiryo UI" panose="020B0604030504040204" pitchFamily="34" charset="-128"/>
              </a:rPr>
              <a:t>3</a:t>
            </a:r>
            <a:endParaRPr kumimoji="1" lang="en-US" sz="1400" dirty="0">
              <a:latin typeface="Meiryo UI" panose="020B0604030504040204" pitchFamily="34" charset="-128"/>
              <a:ea typeface="Meiryo UI" panose="020B0604030504040204" pitchFamily="34" charset="-128"/>
            </a:endParaRPr>
          </a:p>
        </p:txBody>
      </p:sp>
      <p:cxnSp>
        <p:nvCxnSpPr>
          <p:cNvPr id="182" name="Straight Connector 22">
            <a:extLst>
              <a:ext uri="{FF2B5EF4-FFF2-40B4-BE49-F238E27FC236}">
                <a16:creationId xmlns:a16="http://schemas.microsoft.com/office/drawing/2014/main" id="{3132A834-563B-4CEF-B731-2B157DCB6818}"/>
              </a:ext>
            </a:extLst>
          </p:cNvPr>
          <p:cNvCxnSpPr>
            <a:cxnSpLocks/>
          </p:cNvCxnSpPr>
          <p:nvPr/>
        </p:nvCxnSpPr>
        <p:spPr>
          <a:xfrm>
            <a:off x="661209" y="4234686"/>
            <a:ext cx="8595360" cy="0"/>
          </a:xfrm>
          <a:prstGeom prst="line">
            <a:avLst/>
          </a:prstGeom>
          <a:noFill/>
          <a:ln w="9525" cap="flat" cmpd="sng" algn="ctr">
            <a:solidFill>
              <a:srgbClr val="0076A8"/>
            </a:solidFill>
            <a:prstDash val="solid"/>
            <a:tailEnd type="none"/>
          </a:ln>
          <a:effectLst/>
        </p:spPr>
      </p:cxnSp>
      <p:sp>
        <p:nvSpPr>
          <p:cNvPr id="183" name="TextBox 29">
            <a:extLst>
              <a:ext uri="{FF2B5EF4-FFF2-40B4-BE49-F238E27FC236}">
                <a16:creationId xmlns:a16="http://schemas.microsoft.com/office/drawing/2014/main" id="{8FDDEBC3-E262-453A-9C16-AB4656DE36A7}"/>
              </a:ext>
            </a:extLst>
          </p:cNvPr>
          <p:cNvSpPr txBox="1"/>
          <p:nvPr/>
        </p:nvSpPr>
        <p:spPr>
          <a:xfrm>
            <a:off x="2477589" y="3945816"/>
            <a:ext cx="4955176" cy="276999"/>
          </a:xfrm>
          <a:prstGeom prst="rect">
            <a:avLst/>
          </a:prstGeom>
          <a:noFill/>
        </p:spPr>
        <p:txBody>
          <a:bodyPr wrap="square">
            <a:spAutoFit/>
          </a:bodyPr>
          <a:lstStyle/>
          <a:p>
            <a:pPr algn="ctr"/>
            <a:r>
              <a:rPr kumimoji="1" lang="en-US" altLang="ja-JP" sz="120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rPr>
              <a:t>DM</a:t>
            </a:r>
            <a:r>
              <a:rPr kumimoji="1" lang="ja-JP" altLang="en-US" sz="120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rPr>
              <a:t>強化により</a:t>
            </a:r>
            <a:r>
              <a:rPr kumimoji="1" lang="en-US" altLang="ja-JP" sz="120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rPr>
              <a:t>IT</a:t>
            </a:r>
            <a:r>
              <a:rPr kumimoji="1" lang="ja-JP" altLang="en-US" sz="1200" i="0" u="none" strike="noStrike" kern="1200" cap="none" spc="0" normalizeH="0" baseline="0" noProof="0" dirty="0">
                <a:ln>
                  <a:noFill/>
                </a:ln>
                <a:solidFill>
                  <a:srgbClr val="000000"/>
                </a:solidFill>
                <a:effectLst/>
                <a:uLnTx/>
                <a:uFillTx/>
                <a:latin typeface="Meiryo UI" panose="020B0604030504040204" pitchFamily="34" charset="-128"/>
                <a:ea typeface="Meiryo UI" panose="020B0604030504040204" pitchFamily="34" charset="-128"/>
              </a:rPr>
              <a:t>組織として得られるバリュー</a:t>
            </a:r>
            <a:endParaRPr lang="en-US" sz="2000" dirty="0">
              <a:latin typeface="Meiryo UI" panose="020B0604030504040204" pitchFamily="34" charset="-128"/>
              <a:ea typeface="Meiryo UI" panose="020B0604030504040204" pitchFamily="34" charset="-128"/>
            </a:endParaRPr>
          </a:p>
        </p:txBody>
      </p:sp>
      <p:grpSp>
        <p:nvGrpSpPr>
          <p:cNvPr id="71" name="グループ化 70">
            <a:extLst>
              <a:ext uri="{FF2B5EF4-FFF2-40B4-BE49-F238E27FC236}">
                <a16:creationId xmlns:a16="http://schemas.microsoft.com/office/drawing/2014/main" id="{81B52588-AE0D-4E31-B359-4BAAA0ED9CE3}"/>
              </a:ext>
            </a:extLst>
          </p:cNvPr>
          <p:cNvGrpSpPr/>
          <p:nvPr/>
        </p:nvGrpSpPr>
        <p:grpSpPr>
          <a:xfrm>
            <a:off x="8818792" y="1640654"/>
            <a:ext cx="662361" cy="716992"/>
            <a:chOff x="6391323" y="1885832"/>
            <a:chExt cx="662361" cy="716992"/>
          </a:xfrm>
        </p:grpSpPr>
        <p:pic>
          <p:nvPicPr>
            <p:cNvPr id="72" name="図 71">
              <a:extLst>
                <a:ext uri="{FF2B5EF4-FFF2-40B4-BE49-F238E27FC236}">
                  <a16:creationId xmlns:a16="http://schemas.microsoft.com/office/drawing/2014/main" id="{FED220A8-8554-41D8-9B9E-FCFEF01F686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508353" y="1885832"/>
              <a:ext cx="428301" cy="426446"/>
            </a:xfrm>
            <a:prstGeom prst="rect">
              <a:avLst/>
            </a:prstGeom>
          </p:spPr>
        </p:pic>
        <p:sp>
          <p:nvSpPr>
            <p:cNvPr id="73" name="テキスト ボックス 72">
              <a:extLst>
                <a:ext uri="{FF2B5EF4-FFF2-40B4-BE49-F238E27FC236}">
                  <a16:creationId xmlns:a16="http://schemas.microsoft.com/office/drawing/2014/main" id="{C38E1E2B-D5DF-4B41-8D69-9BE48D9BA302}"/>
                </a:ext>
              </a:extLst>
            </p:cNvPr>
            <p:cNvSpPr txBox="1"/>
            <p:nvPr/>
          </p:nvSpPr>
          <p:spPr>
            <a:xfrm>
              <a:off x="6391323" y="2325825"/>
              <a:ext cx="662361" cy="276999"/>
            </a:xfrm>
            <a:prstGeom prst="rect">
              <a:avLst/>
            </a:prstGeom>
            <a:noFill/>
          </p:spPr>
          <p:txBody>
            <a:bodyPr wrap="none" rtlCol="0">
              <a:spAutoFit/>
            </a:bodyPr>
            <a:lstStyle/>
            <a:p>
              <a:pPr algn="ctr"/>
              <a:r>
                <a:rPr kumimoji="1" lang="ja-JP" altLang="en-US" sz="1200" dirty="0">
                  <a:latin typeface="Meiryo UI" panose="020B0604030504040204" pitchFamily="34" charset="-128"/>
                  <a:ea typeface="Meiryo UI" panose="020B0604030504040204" pitchFamily="34" charset="-128"/>
                </a:rPr>
                <a:t>サービス</a:t>
              </a:r>
              <a:endParaRPr kumimoji="1" lang="en-US" sz="1200" dirty="0">
                <a:latin typeface="Meiryo UI" panose="020B0604030504040204" pitchFamily="34" charset="-128"/>
                <a:ea typeface="Meiryo UI" panose="020B0604030504040204" pitchFamily="34" charset="-128"/>
              </a:endParaRPr>
            </a:p>
          </p:txBody>
        </p:sp>
      </p:grpSp>
      <p:sp>
        <p:nvSpPr>
          <p:cNvPr id="77" name="右矢印 73">
            <a:extLst>
              <a:ext uri="{FF2B5EF4-FFF2-40B4-BE49-F238E27FC236}">
                <a16:creationId xmlns:a16="http://schemas.microsoft.com/office/drawing/2014/main" id="{DE22A4DD-C797-450D-868D-E71A0D2B08E4}"/>
              </a:ext>
            </a:extLst>
          </p:cNvPr>
          <p:cNvSpPr/>
          <p:nvPr/>
        </p:nvSpPr>
        <p:spPr>
          <a:xfrm>
            <a:off x="5262248" y="2278918"/>
            <a:ext cx="1262718" cy="1223834"/>
          </a:xfrm>
          <a:prstGeom prst="rightArrow">
            <a:avLst>
              <a:gd name="adj1" fmla="val 74749"/>
              <a:gd name="adj2" fmla="val 15683"/>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defTabSz="913190" rtl="0" eaLnBrk="1" fontAlgn="auto" latinLnBrk="0" hangingPunct="1">
              <a:lnSpc>
                <a:spcPct val="100000"/>
              </a:lnSpc>
              <a:spcBef>
                <a:spcPts val="0"/>
              </a:spcBef>
              <a:spcAft>
                <a:spcPts val="0"/>
              </a:spcAft>
              <a:buClrTx/>
              <a:buSzTx/>
              <a:buFontTx/>
              <a:buNone/>
              <a:tabLst/>
            </a:pPr>
            <a:r>
              <a:rPr lang="ja-JP" altLang="en-US" sz="1100" dirty="0">
                <a:solidFill>
                  <a:schemeClr val="tx1"/>
                </a:solidFill>
                <a:latin typeface="Meiryo UI" panose="020B0604030504040204" pitchFamily="34" charset="-128"/>
                <a:ea typeface="Meiryo UI" panose="020B0604030504040204" pitchFamily="34" charset="-128"/>
              </a:rPr>
              <a:t>データが業務</a:t>
            </a:r>
            <a:endParaRPr lang="en-US" altLang="ja-JP" sz="1100" dirty="0">
              <a:solidFill>
                <a:schemeClr val="tx1"/>
              </a:solidFill>
              <a:latin typeface="Meiryo UI" panose="020B0604030504040204" pitchFamily="34" charset="-128"/>
              <a:ea typeface="Meiryo UI" panose="020B0604030504040204" pitchFamily="34" charset="-128"/>
            </a:endParaRPr>
          </a:p>
          <a:p>
            <a:pPr marL="0" marR="0" indent="0" defTabSz="913190" rtl="0" eaLnBrk="1" fontAlgn="auto" latinLnBrk="0" hangingPunct="1">
              <a:lnSpc>
                <a:spcPct val="100000"/>
              </a:lnSpc>
              <a:spcBef>
                <a:spcPts val="0"/>
              </a:spcBef>
              <a:spcAft>
                <a:spcPts val="0"/>
              </a:spcAft>
              <a:buClrTx/>
              <a:buSzTx/>
              <a:buFontTx/>
              <a:buNone/>
              <a:tabLst/>
            </a:pPr>
            <a:r>
              <a:rPr lang="ja-JP" altLang="en-US" sz="1100" dirty="0">
                <a:solidFill>
                  <a:schemeClr val="tx1"/>
                </a:solidFill>
                <a:latin typeface="Meiryo UI" panose="020B0604030504040204" pitchFamily="34" charset="-128"/>
                <a:ea typeface="Meiryo UI" panose="020B0604030504040204" pitchFamily="34" charset="-128"/>
              </a:rPr>
              <a:t>プロセスを定義する、</a:t>
            </a:r>
            <a:endParaRPr lang="en-US" altLang="ja-JP" sz="1100" dirty="0">
              <a:solidFill>
                <a:schemeClr val="tx1"/>
              </a:solidFill>
              <a:latin typeface="Meiryo UI" panose="020B0604030504040204" pitchFamily="34" charset="-128"/>
              <a:ea typeface="Meiryo UI" panose="020B0604030504040204" pitchFamily="34" charset="-128"/>
            </a:endParaRPr>
          </a:p>
          <a:p>
            <a:pPr marL="0" marR="0" indent="0" defTabSz="913190" rtl="0" eaLnBrk="1" fontAlgn="auto" latinLnBrk="0" hangingPunct="1">
              <a:lnSpc>
                <a:spcPct val="100000"/>
              </a:lnSpc>
              <a:spcBef>
                <a:spcPts val="0"/>
              </a:spcBef>
              <a:spcAft>
                <a:spcPts val="0"/>
              </a:spcAft>
              <a:buClrTx/>
              <a:buSzTx/>
              <a:buFontTx/>
              <a:buNone/>
              <a:tabLst/>
            </a:pPr>
            <a:r>
              <a:rPr lang="en-US" altLang="ja-JP" sz="1100" dirty="0">
                <a:solidFill>
                  <a:schemeClr val="tx1"/>
                </a:solidFill>
                <a:latin typeface="Meiryo UI" panose="020B0604030504040204" pitchFamily="34" charset="-128"/>
                <a:ea typeface="Meiryo UI" panose="020B0604030504040204" pitchFamily="34" charset="-128"/>
              </a:rPr>
              <a:t>DX</a:t>
            </a:r>
            <a:r>
              <a:rPr lang="ja-JP" altLang="en-US" sz="1100" dirty="0">
                <a:solidFill>
                  <a:schemeClr val="tx1"/>
                </a:solidFill>
                <a:latin typeface="Meiryo UI" panose="020B0604030504040204" pitchFamily="34" charset="-128"/>
                <a:ea typeface="Meiryo UI" panose="020B0604030504040204" pitchFamily="34" charset="-128"/>
              </a:rPr>
              <a:t>時代に見合った</a:t>
            </a:r>
            <a:endParaRPr lang="en-US" altLang="ja-JP" sz="1100" dirty="0">
              <a:solidFill>
                <a:schemeClr val="tx1"/>
              </a:solidFill>
              <a:latin typeface="Meiryo UI" panose="020B0604030504040204" pitchFamily="34" charset="-128"/>
              <a:ea typeface="Meiryo UI" panose="020B0604030504040204" pitchFamily="34" charset="-128"/>
            </a:endParaRPr>
          </a:p>
          <a:p>
            <a:pPr marL="0" marR="0" indent="0" defTabSz="913190" rtl="0" eaLnBrk="1" fontAlgn="auto" latinLnBrk="0" hangingPunct="1">
              <a:lnSpc>
                <a:spcPct val="100000"/>
              </a:lnSpc>
              <a:spcBef>
                <a:spcPts val="0"/>
              </a:spcBef>
              <a:spcAft>
                <a:spcPts val="0"/>
              </a:spcAft>
              <a:buClrTx/>
              <a:buSzTx/>
              <a:buFontTx/>
              <a:buNone/>
              <a:tabLst/>
            </a:pPr>
            <a:r>
              <a:rPr lang="ja-JP" altLang="en-US" sz="1100" dirty="0">
                <a:solidFill>
                  <a:schemeClr val="tx1"/>
                </a:solidFill>
                <a:latin typeface="Meiryo UI" panose="020B0604030504040204" pitchFamily="34" charset="-128"/>
                <a:ea typeface="Meiryo UI" panose="020B0604030504040204" pitchFamily="34" charset="-128"/>
              </a:rPr>
              <a:t>アーキテクチャー</a:t>
            </a:r>
            <a:endParaRPr lang="en-US" altLang="ja-JP" sz="1100" dirty="0">
              <a:solidFill>
                <a:schemeClr val="tx1"/>
              </a:solidFill>
              <a:latin typeface="Meiryo UI" panose="020B0604030504040204" pitchFamily="34" charset="-128"/>
              <a:ea typeface="Meiryo UI" panose="020B0604030504040204" pitchFamily="34" charset="-128"/>
            </a:endParaRPr>
          </a:p>
          <a:p>
            <a:pPr marL="0" marR="0" indent="0" defTabSz="913190" rtl="0" eaLnBrk="1" fontAlgn="auto" latinLnBrk="0" hangingPunct="1">
              <a:lnSpc>
                <a:spcPct val="100000"/>
              </a:lnSpc>
              <a:spcBef>
                <a:spcPts val="0"/>
              </a:spcBef>
              <a:spcAft>
                <a:spcPts val="0"/>
              </a:spcAft>
              <a:buClrTx/>
              <a:buSzTx/>
              <a:buFontTx/>
              <a:buNone/>
              <a:tabLst/>
            </a:pPr>
            <a:r>
              <a:rPr lang="ja-JP" altLang="en-US" sz="1100" dirty="0">
                <a:solidFill>
                  <a:schemeClr val="tx1"/>
                </a:solidFill>
                <a:latin typeface="Meiryo UI" panose="020B0604030504040204" pitchFamily="34" charset="-128"/>
                <a:ea typeface="Meiryo UI" panose="020B0604030504040204" pitchFamily="34" charset="-128"/>
              </a:rPr>
              <a:t>へのシフト</a:t>
            </a:r>
            <a:endParaRPr lang="en-US" altLang="ja-JP" sz="1100" dirty="0">
              <a:solidFill>
                <a:schemeClr val="tx1"/>
              </a:solidFill>
              <a:latin typeface="Meiryo UI" panose="020B0604030504040204" pitchFamily="34" charset="-128"/>
              <a:ea typeface="Meiryo UI" panose="020B0604030504040204" pitchFamily="34" charset="-128"/>
            </a:endParaRPr>
          </a:p>
        </p:txBody>
      </p:sp>
      <p:sp>
        <p:nvSpPr>
          <p:cNvPr id="70" name="正方形/長方形 69">
            <a:extLst>
              <a:ext uri="{FF2B5EF4-FFF2-40B4-BE49-F238E27FC236}">
                <a16:creationId xmlns:a16="http://schemas.microsoft.com/office/drawing/2014/main" id="{E71844E7-9FF2-5F45-B089-8D4A2A0D68AF}"/>
              </a:ext>
            </a:extLst>
          </p:cNvPr>
          <p:cNvSpPr/>
          <p:nvPr/>
        </p:nvSpPr>
        <p:spPr>
          <a:xfrm>
            <a:off x="9680915" y="199747"/>
            <a:ext cx="1330522"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タイトル文に「貴社の</a:t>
            </a:r>
            <a:r>
              <a:rPr lang="en-US" altLang="ja-JP" sz="1000" b="1" dirty="0">
                <a:solidFill>
                  <a:schemeClr val="bg1"/>
                </a:solidFill>
                <a:latin typeface="Meiryo UI" panose="020B0604030504040204" pitchFamily="50" charset="-128"/>
                <a:ea typeface="Meiryo UI" panose="020B0604030504040204" pitchFamily="50" charset="-128"/>
              </a:rPr>
              <a:t>IT</a:t>
            </a:r>
            <a:r>
              <a:rPr lang="ja-JP" altLang="en-US" sz="1000" b="1">
                <a:solidFill>
                  <a:schemeClr val="bg1"/>
                </a:solidFill>
                <a:latin typeface="Meiryo UI" panose="020B0604030504040204" pitchFamily="50" charset="-128"/>
                <a:ea typeface="Meiryo UI" panose="020B0604030504040204" pitchFamily="50" charset="-128"/>
              </a:rPr>
              <a:t>システムに・・・」を追加</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5485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E2990-B00B-46A6-A926-00278D4423B0}"/>
              </a:ext>
            </a:extLst>
          </p:cNvPr>
          <p:cNvSpPr>
            <a:spLocks noGrp="1"/>
          </p:cNvSpPr>
          <p:nvPr>
            <p:ph type="title"/>
          </p:nvPr>
        </p:nvSpPr>
        <p:spPr>
          <a:xfrm>
            <a:off x="236538" y="128799"/>
            <a:ext cx="7287807" cy="349961"/>
          </a:xfrm>
        </p:spPr>
        <p:txBody>
          <a:bodyPr/>
          <a:lstStyle/>
          <a:p>
            <a:r>
              <a:rPr lang="ja-JP" altLang="en-US" b="1"/>
              <a:t>基幹刷新</a:t>
            </a:r>
            <a:r>
              <a:rPr lang="en-US" altLang="ja-JP" b="1" dirty="0"/>
              <a:t>PJ</a:t>
            </a:r>
            <a:r>
              <a:rPr lang="ja-JP" altLang="en-US" b="1"/>
              <a:t>における</a:t>
            </a:r>
            <a:r>
              <a:rPr lang="ja-JP" altLang="en-US" b="1">
                <a:latin typeface="Meiryo UI" panose="020B0604030504040204" pitchFamily="34" charset="-128"/>
                <a:ea typeface="Meiryo UI" panose="020B0604030504040204" pitchFamily="34" charset="-128"/>
              </a:rPr>
              <a:t>データマネジメント強化の</a:t>
            </a:r>
            <a:r>
              <a:rPr lang="ja-JP" altLang="en-US" b="1" dirty="0">
                <a:latin typeface="Meiryo UI" panose="020B0604030504040204" pitchFamily="34" charset="-128"/>
                <a:ea typeface="Meiryo UI" panose="020B0604030504040204" pitchFamily="34" charset="-128"/>
              </a:rPr>
              <a:t>位置づけ</a:t>
            </a:r>
            <a:endParaRPr lang="en-US" b="1" dirty="0">
              <a:latin typeface="Meiryo UI" panose="020B0604030504040204" pitchFamily="34" charset="-128"/>
              <a:ea typeface="Meiryo UI" panose="020B0604030504040204" pitchFamily="34" charset="-128"/>
            </a:endParaRPr>
          </a:p>
        </p:txBody>
      </p:sp>
      <p:sp>
        <p:nvSpPr>
          <p:cNvPr id="22" name="円/楕円 136">
            <a:extLst>
              <a:ext uri="{FF2B5EF4-FFF2-40B4-BE49-F238E27FC236}">
                <a16:creationId xmlns:a16="http://schemas.microsoft.com/office/drawing/2014/main" id="{B103CFC4-4EC0-4097-ABAE-6A769C93D39F}"/>
              </a:ext>
            </a:extLst>
          </p:cNvPr>
          <p:cNvSpPr>
            <a:spLocks/>
          </p:cNvSpPr>
          <p:nvPr/>
        </p:nvSpPr>
        <p:spPr bwMode="gray">
          <a:xfrm>
            <a:off x="1357950" y="5015298"/>
            <a:ext cx="1785124" cy="714050"/>
          </a:xfrm>
          <a:prstGeom prst="ellipse">
            <a:avLst/>
          </a:prstGeom>
          <a:gradFill flip="none" rotWithShape="1">
            <a:gsLst>
              <a:gs pos="0">
                <a:schemeClr val="accent3">
                  <a:lumMod val="50000"/>
                </a:schemeClr>
              </a:gs>
              <a:gs pos="50000">
                <a:schemeClr val="accent3">
                  <a:lumMod val="75000"/>
                </a:schemeClr>
              </a:gs>
              <a:gs pos="100000">
                <a:schemeClr val="accent3">
                  <a:lumMod val="60000"/>
                  <a:lumOff val="40000"/>
                </a:scheme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108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b="1" dirty="0">
                <a:solidFill>
                  <a:srgbClr val="FFFFFF"/>
                </a:solidFill>
                <a:latin typeface="Meiryo UI" panose="020B0604030504040204" pitchFamily="34" charset="-128"/>
                <a:ea typeface="Meiryo UI" panose="020B0604030504040204" pitchFamily="34" charset="-128"/>
              </a:rPr>
              <a:t>拠点</a:t>
            </a:r>
            <a:r>
              <a:rPr lang="en-US" altLang="ja-JP" b="1" dirty="0">
                <a:solidFill>
                  <a:srgbClr val="FFFFFF"/>
                </a:solidFill>
                <a:latin typeface="Meiryo UI" panose="020B0604030504040204" pitchFamily="34" charset="-128"/>
                <a:ea typeface="Meiryo UI" panose="020B0604030504040204" pitchFamily="34" charset="-128"/>
              </a:rPr>
              <a:t>WG</a:t>
            </a:r>
            <a:endParaRPr lang="ja-JP" altLang="en-US" b="1" dirty="0">
              <a:solidFill>
                <a:srgbClr val="FFFFFF"/>
              </a:solidFill>
              <a:latin typeface="Meiryo UI" panose="020B0604030504040204" pitchFamily="34" charset="-128"/>
              <a:ea typeface="Meiryo UI" panose="020B0604030504040204" pitchFamily="34" charset="-128"/>
            </a:endParaRPr>
          </a:p>
        </p:txBody>
      </p:sp>
      <p:sp>
        <p:nvSpPr>
          <p:cNvPr id="24" name="円/楕円 135">
            <a:extLst>
              <a:ext uri="{FF2B5EF4-FFF2-40B4-BE49-F238E27FC236}">
                <a16:creationId xmlns:a16="http://schemas.microsoft.com/office/drawing/2014/main" id="{89CC087E-5903-42E4-B301-229DFE7328B2}"/>
              </a:ext>
            </a:extLst>
          </p:cNvPr>
          <p:cNvSpPr>
            <a:spLocks/>
          </p:cNvSpPr>
          <p:nvPr/>
        </p:nvSpPr>
        <p:spPr bwMode="gray">
          <a:xfrm>
            <a:off x="1357950" y="2471015"/>
            <a:ext cx="1785124" cy="714050"/>
          </a:xfrm>
          <a:prstGeom prst="ellipse">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108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b="1" dirty="0">
                <a:solidFill>
                  <a:srgbClr val="FFFFFF"/>
                </a:solidFill>
                <a:latin typeface="Meiryo UI" panose="020B0604030504040204" pitchFamily="34" charset="-128"/>
                <a:ea typeface="Meiryo UI" panose="020B0604030504040204" pitchFamily="34" charset="-128"/>
              </a:rPr>
              <a:t>業務</a:t>
            </a:r>
            <a:r>
              <a:rPr lang="en-US" altLang="ja-JP" b="1" dirty="0">
                <a:solidFill>
                  <a:srgbClr val="FFFFFF"/>
                </a:solidFill>
                <a:latin typeface="Meiryo UI" panose="020B0604030504040204" pitchFamily="34" charset="-128"/>
                <a:ea typeface="Meiryo UI" panose="020B0604030504040204" pitchFamily="34" charset="-128"/>
              </a:rPr>
              <a:t>WG</a:t>
            </a:r>
            <a:endParaRPr lang="ja-JP" altLang="en-US" b="1" dirty="0">
              <a:solidFill>
                <a:srgbClr val="FFFFFF"/>
              </a:solidFill>
              <a:latin typeface="Meiryo UI" panose="020B0604030504040204" pitchFamily="34" charset="-128"/>
              <a:ea typeface="Meiryo UI" panose="020B0604030504040204" pitchFamily="34" charset="-128"/>
            </a:endParaRPr>
          </a:p>
        </p:txBody>
      </p:sp>
      <p:sp>
        <p:nvSpPr>
          <p:cNvPr id="25" name="円/楕円 136">
            <a:extLst>
              <a:ext uri="{FF2B5EF4-FFF2-40B4-BE49-F238E27FC236}">
                <a16:creationId xmlns:a16="http://schemas.microsoft.com/office/drawing/2014/main" id="{E4799A88-0091-4C52-B46D-63F871165019}"/>
              </a:ext>
            </a:extLst>
          </p:cNvPr>
          <p:cNvSpPr>
            <a:spLocks/>
          </p:cNvSpPr>
          <p:nvPr/>
        </p:nvSpPr>
        <p:spPr bwMode="gray">
          <a:xfrm>
            <a:off x="1357950" y="3743156"/>
            <a:ext cx="1785124" cy="714050"/>
          </a:xfrm>
          <a:prstGeom prst="ellipse">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108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en-US" altLang="ja-JP" b="1" dirty="0">
                <a:solidFill>
                  <a:srgbClr val="FFFFFF"/>
                </a:solidFill>
                <a:latin typeface="Meiryo UI" panose="020B0604030504040204" pitchFamily="34" charset="-128"/>
                <a:ea typeface="Meiryo UI" panose="020B0604030504040204" pitchFamily="34" charset="-128"/>
              </a:rPr>
              <a:t>IT</a:t>
            </a:r>
            <a:r>
              <a:rPr lang="ja-JP" altLang="en-US" b="1" dirty="0">
                <a:solidFill>
                  <a:srgbClr val="FFFFFF"/>
                </a:solidFill>
                <a:latin typeface="Meiryo UI" panose="020B0604030504040204" pitchFamily="34" charset="-128"/>
                <a:ea typeface="Meiryo UI" panose="020B0604030504040204" pitchFamily="34" charset="-128"/>
              </a:rPr>
              <a:t>アーキ</a:t>
            </a:r>
            <a:r>
              <a:rPr lang="en-US" altLang="ja-JP" b="1" dirty="0">
                <a:solidFill>
                  <a:srgbClr val="FFFFFF"/>
                </a:solidFill>
                <a:latin typeface="Meiryo UI" panose="020B0604030504040204" pitchFamily="34" charset="-128"/>
                <a:ea typeface="Meiryo UI" panose="020B0604030504040204" pitchFamily="34" charset="-128"/>
              </a:rPr>
              <a:t>WG</a:t>
            </a:r>
            <a:endParaRPr lang="ja-JP" altLang="en-US" b="1" dirty="0">
              <a:solidFill>
                <a:srgbClr val="FFFFFF"/>
              </a:solidFill>
              <a:latin typeface="Meiryo UI" panose="020B0604030504040204" pitchFamily="34" charset="-128"/>
              <a:ea typeface="Meiryo UI" panose="020B0604030504040204" pitchFamily="34" charset="-128"/>
            </a:endParaRPr>
          </a:p>
        </p:txBody>
      </p:sp>
      <p:sp>
        <p:nvSpPr>
          <p:cNvPr id="26" name="円/楕円 113">
            <a:extLst>
              <a:ext uri="{FF2B5EF4-FFF2-40B4-BE49-F238E27FC236}">
                <a16:creationId xmlns:a16="http://schemas.microsoft.com/office/drawing/2014/main" id="{C2067888-E67C-424C-B066-0AF15D634674}"/>
              </a:ext>
            </a:extLst>
          </p:cNvPr>
          <p:cNvSpPr>
            <a:spLocks/>
          </p:cNvSpPr>
          <p:nvPr/>
        </p:nvSpPr>
        <p:spPr bwMode="gray">
          <a:xfrm>
            <a:off x="1357950" y="1198874"/>
            <a:ext cx="1785124" cy="714050"/>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none" lIns="36000" tIns="108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en-US" altLang="ja-JP" b="1" dirty="0" err="1">
                <a:solidFill>
                  <a:srgbClr val="FFFFFF"/>
                </a:solidFill>
                <a:latin typeface="Meiryo UI" panose="020B0604030504040204" pitchFamily="34" charset="-128"/>
                <a:ea typeface="Meiryo UI" panose="020B0604030504040204" pitchFamily="34" charset="-128"/>
              </a:rPr>
              <a:t>PgMO</a:t>
            </a:r>
            <a:endParaRPr lang="en-US" altLang="ja-JP" b="1" dirty="0">
              <a:solidFill>
                <a:srgbClr val="FFFFFF"/>
              </a:solidFill>
              <a:latin typeface="Meiryo UI" panose="020B0604030504040204" pitchFamily="34" charset="-128"/>
              <a:ea typeface="Meiryo UI" panose="020B0604030504040204" pitchFamily="34" charset="-128"/>
            </a:endParaRPr>
          </a:p>
        </p:txBody>
      </p:sp>
      <p:sp>
        <p:nvSpPr>
          <p:cNvPr id="27" name="正方形/長方形 32">
            <a:extLst>
              <a:ext uri="{FF2B5EF4-FFF2-40B4-BE49-F238E27FC236}">
                <a16:creationId xmlns:a16="http://schemas.microsoft.com/office/drawing/2014/main" id="{A4E2C440-C623-4FFC-B85C-58B60B648559}"/>
              </a:ext>
            </a:extLst>
          </p:cNvPr>
          <p:cNvSpPr>
            <a:spLocks noChangeArrowheads="1"/>
          </p:cNvSpPr>
          <p:nvPr/>
        </p:nvSpPr>
        <p:spPr bwMode="auto">
          <a:xfrm>
            <a:off x="733043" y="4402907"/>
            <a:ext cx="3034938" cy="615553"/>
          </a:xfrm>
          <a:prstGeom prst="rect">
            <a:avLst/>
          </a:prstGeom>
          <a:noFill/>
          <a:ln>
            <a:noFill/>
          </a:ln>
        </p:spPr>
        <p:txBody>
          <a:bodyPr wrap="square">
            <a:spAutoFit/>
          </a:bodyPr>
          <a:lstStyle>
            <a:defPPr>
              <a:defRPr lang="en-US"/>
            </a:defPPr>
            <a:lvl1pPr marL="0" algn="l" defTabSz="457133" rtl="0" eaLnBrk="1" latinLnBrk="0" hangingPunct="1">
              <a:defRPr sz="1800" kern="1200">
                <a:solidFill>
                  <a:schemeClr val="tx1"/>
                </a:solidFill>
                <a:latin typeface="+mn-lt"/>
                <a:ea typeface="+mn-ea"/>
                <a:cs typeface="+mn-cs"/>
              </a:defRPr>
            </a:lvl1pPr>
            <a:lvl2pPr marL="457133" algn="l" defTabSz="457133" rtl="0" eaLnBrk="1" latinLnBrk="0" hangingPunct="1">
              <a:defRPr sz="1800" kern="1200">
                <a:solidFill>
                  <a:schemeClr val="tx1"/>
                </a:solidFill>
                <a:latin typeface="+mn-lt"/>
                <a:ea typeface="+mn-ea"/>
                <a:cs typeface="+mn-cs"/>
              </a:defRPr>
            </a:lvl2pPr>
            <a:lvl3pPr marL="914268" algn="l" defTabSz="457133" rtl="0" eaLnBrk="1" latinLnBrk="0" hangingPunct="1">
              <a:defRPr sz="1800" kern="1200">
                <a:solidFill>
                  <a:schemeClr val="tx1"/>
                </a:solidFill>
                <a:latin typeface="+mn-lt"/>
                <a:ea typeface="+mn-ea"/>
                <a:cs typeface="+mn-cs"/>
              </a:defRPr>
            </a:lvl3pPr>
            <a:lvl4pPr marL="1371401" algn="l" defTabSz="457133" rtl="0" eaLnBrk="1" latinLnBrk="0" hangingPunct="1">
              <a:defRPr sz="1800" kern="1200">
                <a:solidFill>
                  <a:schemeClr val="tx1"/>
                </a:solidFill>
                <a:latin typeface="+mn-lt"/>
                <a:ea typeface="+mn-ea"/>
                <a:cs typeface="+mn-cs"/>
              </a:defRPr>
            </a:lvl4pPr>
            <a:lvl5pPr marL="1828535" algn="l" defTabSz="457133" rtl="0" eaLnBrk="1" latinLnBrk="0" hangingPunct="1">
              <a:defRPr sz="1800" kern="1200">
                <a:solidFill>
                  <a:schemeClr val="tx1"/>
                </a:solidFill>
                <a:latin typeface="+mn-lt"/>
                <a:ea typeface="+mn-ea"/>
                <a:cs typeface="+mn-cs"/>
              </a:defRPr>
            </a:lvl5pPr>
            <a:lvl6pPr marL="2285669" algn="l" defTabSz="457133" rtl="0" eaLnBrk="1" latinLnBrk="0" hangingPunct="1">
              <a:defRPr sz="1800" kern="1200">
                <a:solidFill>
                  <a:schemeClr val="tx1"/>
                </a:solidFill>
                <a:latin typeface="+mn-lt"/>
                <a:ea typeface="+mn-ea"/>
                <a:cs typeface="+mn-cs"/>
              </a:defRPr>
            </a:lvl6pPr>
            <a:lvl7pPr marL="2742803" algn="l" defTabSz="457133" rtl="0" eaLnBrk="1" latinLnBrk="0" hangingPunct="1">
              <a:defRPr sz="1800" kern="1200">
                <a:solidFill>
                  <a:schemeClr val="tx1"/>
                </a:solidFill>
                <a:latin typeface="+mn-lt"/>
                <a:ea typeface="+mn-ea"/>
                <a:cs typeface="+mn-cs"/>
              </a:defRPr>
            </a:lvl7pPr>
            <a:lvl8pPr marL="3199936" algn="l" defTabSz="457133" rtl="0" eaLnBrk="1" latinLnBrk="0" hangingPunct="1">
              <a:defRPr sz="1800" kern="1200">
                <a:solidFill>
                  <a:schemeClr val="tx1"/>
                </a:solidFill>
                <a:latin typeface="+mn-lt"/>
                <a:ea typeface="+mn-ea"/>
                <a:cs typeface="+mn-cs"/>
              </a:defRPr>
            </a:lvl8pPr>
            <a:lvl9pPr marL="3657070" algn="l" defTabSz="457133" rtl="0" eaLnBrk="1" latinLnBrk="0" hangingPunct="1">
              <a:defRPr sz="1800" kern="1200">
                <a:solidFill>
                  <a:schemeClr val="tx1"/>
                </a:solidFill>
                <a:latin typeface="+mn-lt"/>
                <a:ea typeface="+mn-ea"/>
                <a:cs typeface="+mn-cs"/>
              </a:defRPr>
            </a:lvl9pPr>
          </a:lstStyle>
          <a:p>
            <a:pPr algn="ctr"/>
            <a:r>
              <a:rPr lang="ja-JP" altLang="en-US" sz="1600" b="1" dirty="0">
                <a:solidFill>
                  <a:srgbClr val="008000"/>
                </a:solidFill>
                <a:latin typeface="Meiryo UI" panose="020B0604030504040204" pitchFamily="34" charset="-128"/>
                <a:ea typeface="Meiryo UI" panose="020B0604030504040204" pitchFamily="34" charset="-128"/>
              </a:rPr>
              <a:t>システム刷新</a:t>
            </a:r>
            <a:endParaRPr lang="en-US" altLang="ja-JP" sz="1600" b="1" dirty="0">
              <a:solidFill>
                <a:srgbClr val="008000"/>
              </a:solidFill>
              <a:latin typeface="Meiryo UI" panose="020B0604030504040204" pitchFamily="34" charset="-128"/>
              <a:ea typeface="Meiryo UI" panose="020B0604030504040204" pitchFamily="34" charset="-128"/>
            </a:endParaRPr>
          </a:p>
          <a:p>
            <a:pPr algn="ctr"/>
            <a:r>
              <a:rPr lang="en-US" altLang="ja-JP" sz="900" b="1" dirty="0">
                <a:solidFill>
                  <a:srgbClr val="008000"/>
                </a:solidFill>
                <a:latin typeface="Meiryo UI" panose="020B0604030504040204" pitchFamily="34" charset="-128"/>
                <a:ea typeface="Meiryo UI" panose="020B0604030504040204" pitchFamily="34" charset="-128"/>
              </a:rPr>
              <a:t>Reference</a:t>
            </a:r>
            <a:r>
              <a:rPr lang="ja-JP" altLang="en-US" sz="900" b="1" dirty="0">
                <a:solidFill>
                  <a:srgbClr val="008000"/>
                </a:solidFill>
                <a:latin typeface="Meiryo UI" panose="020B0604030504040204" pitchFamily="34" charset="-128"/>
                <a:ea typeface="Meiryo UI" panose="020B0604030504040204" pitchFamily="34" charset="-128"/>
              </a:rPr>
              <a:t>システム・プロセスを用いた</a:t>
            </a:r>
            <a:br>
              <a:rPr lang="en-US" altLang="ja-JP" sz="900" b="1" dirty="0">
                <a:solidFill>
                  <a:srgbClr val="008000"/>
                </a:solidFill>
                <a:latin typeface="Meiryo UI" panose="020B0604030504040204" pitchFamily="34" charset="-128"/>
                <a:ea typeface="Meiryo UI" panose="020B0604030504040204" pitchFamily="34" charset="-128"/>
              </a:rPr>
            </a:br>
            <a:r>
              <a:rPr lang="ja-JP" altLang="en-US" sz="900" b="1" dirty="0">
                <a:solidFill>
                  <a:srgbClr val="008000"/>
                </a:solidFill>
                <a:latin typeface="Meiryo UI" panose="020B0604030504040204" pitchFamily="34" charset="-128"/>
                <a:ea typeface="Meiryo UI" panose="020B0604030504040204" pitchFamily="34" charset="-128"/>
              </a:rPr>
              <a:t>次世代システムの構想策定</a:t>
            </a:r>
          </a:p>
        </p:txBody>
      </p:sp>
      <p:sp>
        <p:nvSpPr>
          <p:cNvPr id="28" name="正方形/長方形 33">
            <a:extLst>
              <a:ext uri="{FF2B5EF4-FFF2-40B4-BE49-F238E27FC236}">
                <a16:creationId xmlns:a16="http://schemas.microsoft.com/office/drawing/2014/main" id="{B5F5F4B8-D578-4E45-ADF6-392794524321}"/>
              </a:ext>
            </a:extLst>
          </p:cNvPr>
          <p:cNvSpPr>
            <a:spLocks noChangeArrowheads="1"/>
          </p:cNvSpPr>
          <p:nvPr/>
        </p:nvSpPr>
        <p:spPr bwMode="auto">
          <a:xfrm>
            <a:off x="1213209" y="3190771"/>
            <a:ext cx="2074606" cy="461665"/>
          </a:xfrm>
          <a:prstGeom prst="rect">
            <a:avLst/>
          </a:prstGeom>
          <a:noFill/>
          <a:ln>
            <a:noFill/>
          </a:ln>
        </p:spPr>
        <p:txBody>
          <a:bodyPr wrap="none">
            <a:spAutoFit/>
          </a:bodyPr>
          <a:lstStyle>
            <a:defPPr>
              <a:defRPr lang="en-US"/>
            </a:defPPr>
            <a:lvl1pPr marL="0" algn="l" defTabSz="457133" rtl="0" eaLnBrk="1" latinLnBrk="0" hangingPunct="1">
              <a:defRPr sz="1800" kern="1200">
                <a:solidFill>
                  <a:schemeClr val="tx1"/>
                </a:solidFill>
                <a:latin typeface="+mn-lt"/>
                <a:ea typeface="+mn-ea"/>
                <a:cs typeface="+mn-cs"/>
              </a:defRPr>
            </a:lvl1pPr>
            <a:lvl2pPr marL="457133" algn="l" defTabSz="457133" rtl="0" eaLnBrk="1" latinLnBrk="0" hangingPunct="1">
              <a:defRPr sz="1800" kern="1200">
                <a:solidFill>
                  <a:schemeClr val="tx1"/>
                </a:solidFill>
                <a:latin typeface="+mn-lt"/>
                <a:ea typeface="+mn-ea"/>
                <a:cs typeface="+mn-cs"/>
              </a:defRPr>
            </a:lvl2pPr>
            <a:lvl3pPr marL="914268" algn="l" defTabSz="457133" rtl="0" eaLnBrk="1" latinLnBrk="0" hangingPunct="1">
              <a:defRPr sz="1800" kern="1200">
                <a:solidFill>
                  <a:schemeClr val="tx1"/>
                </a:solidFill>
                <a:latin typeface="+mn-lt"/>
                <a:ea typeface="+mn-ea"/>
                <a:cs typeface="+mn-cs"/>
              </a:defRPr>
            </a:lvl3pPr>
            <a:lvl4pPr marL="1371401" algn="l" defTabSz="457133" rtl="0" eaLnBrk="1" latinLnBrk="0" hangingPunct="1">
              <a:defRPr sz="1800" kern="1200">
                <a:solidFill>
                  <a:schemeClr val="tx1"/>
                </a:solidFill>
                <a:latin typeface="+mn-lt"/>
                <a:ea typeface="+mn-ea"/>
                <a:cs typeface="+mn-cs"/>
              </a:defRPr>
            </a:lvl4pPr>
            <a:lvl5pPr marL="1828535" algn="l" defTabSz="457133" rtl="0" eaLnBrk="1" latinLnBrk="0" hangingPunct="1">
              <a:defRPr sz="1800" kern="1200">
                <a:solidFill>
                  <a:schemeClr val="tx1"/>
                </a:solidFill>
                <a:latin typeface="+mn-lt"/>
                <a:ea typeface="+mn-ea"/>
                <a:cs typeface="+mn-cs"/>
              </a:defRPr>
            </a:lvl5pPr>
            <a:lvl6pPr marL="2285669" algn="l" defTabSz="457133" rtl="0" eaLnBrk="1" latinLnBrk="0" hangingPunct="1">
              <a:defRPr sz="1800" kern="1200">
                <a:solidFill>
                  <a:schemeClr val="tx1"/>
                </a:solidFill>
                <a:latin typeface="+mn-lt"/>
                <a:ea typeface="+mn-ea"/>
                <a:cs typeface="+mn-cs"/>
              </a:defRPr>
            </a:lvl6pPr>
            <a:lvl7pPr marL="2742803" algn="l" defTabSz="457133" rtl="0" eaLnBrk="1" latinLnBrk="0" hangingPunct="1">
              <a:defRPr sz="1800" kern="1200">
                <a:solidFill>
                  <a:schemeClr val="tx1"/>
                </a:solidFill>
                <a:latin typeface="+mn-lt"/>
                <a:ea typeface="+mn-ea"/>
                <a:cs typeface="+mn-cs"/>
              </a:defRPr>
            </a:lvl7pPr>
            <a:lvl8pPr marL="3199936" algn="l" defTabSz="457133" rtl="0" eaLnBrk="1" latinLnBrk="0" hangingPunct="1">
              <a:defRPr sz="1800" kern="1200">
                <a:solidFill>
                  <a:schemeClr val="tx1"/>
                </a:solidFill>
                <a:latin typeface="+mn-lt"/>
                <a:ea typeface="+mn-ea"/>
                <a:cs typeface="+mn-cs"/>
              </a:defRPr>
            </a:lvl8pPr>
            <a:lvl9pPr marL="3657070" algn="l" defTabSz="457133" rtl="0" eaLnBrk="1" latinLnBrk="0" hangingPunct="1">
              <a:defRPr sz="1800" kern="1200">
                <a:solidFill>
                  <a:schemeClr val="tx1"/>
                </a:solidFill>
                <a:latin typeface="+mn-lt"/>
                <a:ea typeface="+mn-ea"/>
                <a:cs typeface="+mn-cs"/>
              </a:defRPr>
            </a:lvl9pPr>
          </a:lstStyle>
          <a:p>
            <a:pPr algn="ctr"/>
            <a:r>
              <a:rPr lang="ja-JP" altLang="en-US" sz="1600" b="1" dirty="0">
                <a:solidFill>
                  <a:srgbClr val="002060"/>
                </a:solidFill>
                <a:latin typeface="Meiryo UI" panose="020B0604030504040204" pitchFamily="34" charset="-128"/>
                <a:ea typeface="Meiryo UI" panose="020B0604030504040204" pitchFamily="34" charset="-128"/>
              </a:rPr>
              <a:t>業務刷新</a:t>
            </a:r>
            <a:endParaRPr lang="en-US" altLang="ja-JP" sz="1600" b="1" dirty="0">
              <a:solidFill>
                <a:srgbClr val="002060"/>
              </a:solidFill>
              <a:latin typeface="Meiryo UI" panose="020B0604030504040204" pitchFamily="34" charset="-128"/>
              <a:ea typeface="Meiryo UI" panose="020B0604030504040204" pitchFamily="34" charset="-128"/>
            </a:endParaRPr>
          </a:p>
          <a:p>
            <a:pPr algn="ctr"/>
            <a:r>
              <a:rPr lang="en-US" altLang="ja-JP" sz="800" b="1" dirty="0">
                <a:solidFill>
                  <a:srgbClr val="002060"/>
                </a:solidFill>
                <a:latin typeface="Meiryo UI" panose="020B0604030504040204" pitchFamily="34" charset="-128"/>
                <a:ea typeface="Meiryo UI" panose="020B0604030504040204" pitchFamily="34" charset="-128"/>
              </a:rPr>
              <a:t>GEMS</a:t>
            </a:r>
            <a:r>
              <a:rPr lang="ja-JP" altLang="en-US" sz="800" b="1" dirty="0" err="1">
                <a:solidFill>
                  <a:srgbClr val="002060"/>
                </a:solidFill>
                <a:latin typeface="Meiryo UI" panose="020B0604030504040204" pitchFamily="34" charset="-128"/>
                <a:ea typeface="Meiryo UI" panose="020B0604030504040204" pitchFamily="34" charset="-128"/>
              </a:rPr>
              <a:t>、</a:t>
            </a:r>
            <a:r>
              <a:rPr lang="ja-JP" altLang="en-US" sz="800" b="1" dirty="0">
                <a:solidFill>
                  <a:srgbClr val="002060"/>
                </a:solidFill>
                <a:latin typeface="Meiryo UI" panose="020B0604030504040204" pitchFamily="34" charset="-128"/>
                <a:ea typeface="Meiryo UI" panose="020B0604030504040204" pitchFamily="34" charset="-128"/>
              </a:rPr>
              <a:t>次期業務プロセスの刷新検討・展開</a:t>
            </a:r>
          </a:p>
        </p:txBody>
      </p:sp>
      <p:sp>
        <p:nvSpPr>
          <p:cNvPr id="29" name="正方形/長方形 34">
            <a:extLst>
              <a:ext uri="{FF2B5EF4-FFF2-40B4-BE49-F238E27FC236}">
                <a16:creationId xmlns:a16="http://schemas.microsoft.com/office/drawing/2014/main" id="{0AD7D58A-C607-4834-9259-97533ABEC50A}"/>
              </a:ext>
            </a:extLst>
          </p:cNvPr>
          <p:cNvSpPr>
            <a:spLocks noChangeArrowheads="1"/>
          </p:cNvSpPr>
          <p:nvPr/>
        </p:nvSpPr>
        <p:spPr bwMode="auto">
          <a:xfrm>
            <a:off x="902226" y="1926381"/>
            <a:ext cx="2696572" cy="461665"/>
          </a:xfrm>
          <a:prstGeom prst="rect">
            <a:avLst/>
          </a:prstGeom>
          <a:noFill/>
          <a:ln>
            <a:noFill/>
          </a:ln>
        </p:spPr>
        <p:txBody>
          <a:bodyPr wrap="none">
            <a:spAutoFit/>
          </a:bodyPr>
          <a:lstStyle>
            <a:defPPr>
              <a:defRPr lang="en-US"/>
            </a:defPPr>
            <a:lvl1pPr marL="0" algn="l" defTabSz="457133" rtl="0" eaLnBrk="1" latinLnBrk="0" hangingPunct="1">
              <a:defRPr sz="1800" kern="1200">
                <a:solidFill>
                  <a:schemeClr val="tx1"/>
                </a:solidFill>
                <a:latin typeface="+mn-lt"/>
                <a:ea typeface="+mn-ea"/>
                <a:cs typeface="+mn-cs"/>
              </a:defRPr>
            </a:lvl1pPr>
            <a:lvl2pPr marL="457133" algn="l" defTabSz="457133" rtl="0" eaLnBrk="1" latinLnBrk="0" hangingPunct="1">
              <a:defRPr sz="1800" kern="1200">
                <a:solidFill>
                  <a:schemeClr val="tx1"/>
                </a:solidFill>
                <a:latin typeface="+mn-lt"/>
                <a:ea typeface="+mn-ea"/>
                <a:cs typeface="+mn-cs"/>
              </a:defRPr>
            </a:lvl2pPr>
            <a:lvl3pPr marL="914268" algn="l" defTabSz="457133" rtl="0" eaLnBrk="1" latinLnBrk="0" hangingPunct="1">
              <a:defRPr sz="1800" kern="1200">
                <a:solidFill>
                  <a:schemeClr val="tx1"/>
                </a:solidFill>
                <a:latin typeface="+mn-lt"/>
                <a:ea typeface="+mn-ea"/>
                <a:cs typeface="+mn-cs"/>
              </a:defRPr>
            </a:lvl3pPr>
            <a:lvl4pPr marL="1371401" algn="l" defTabSz="457133" rtl="0" eaLnBrk="1" latinLnBrk="0" hangingPunct="1">
              <a:defRPr sz="1800" kern="1200">
                <a:solidFill>
                  <a:schemeClr val="tx1"/>
                </a:solidFill>
                <a:latin typeface="+mn-lt"/>
                <a:ea typeface="+mn-ea"/>
                <a:cs typeface="+mn-cs"/>
              </a:defRPr>
            </a:lvl4pPr>
            <a:lvl5pPr marL="1828535" algn="l" defTabSz="457133" rtl="0" eaLnBrk="1" latinLnBrk="0" hangingPunct="1">
              <a:defRPr sz="1800" kern="1200">
                <a:solidFill>
                  <a:schemeClr val="tx1"/>
                </a:solidFill>
                <a:latin typeface="+mn-lt"/>
                <a:ea typeface="+mn-ea"/>
                <a:cs typeface="+mn-cs"/>
              </a:defRPr>
            </a:lvl5pPr>
            <a:lvl6pPr marL="2285669" algn="l" defTabSz="457133" rtl="0" eaLnBrk="1" latinLnBrk="0" hangingPunct="1">
              <a:defRPr sz="1800" kern="1200">
                <a:solidFill>
                  <a:schemeClr val="tx1"/>
                </a:solidFill>
                <a:latin typeface="+mn-lt"/>
                <a:ea typeface="+mn-ea"/>
                <a:cs typeface="+mn-cs"/>
              </a:defRPr>
            </a:lvl6pPr>
            <a:lvl7pPr marL="2742803" algn="l" defTabSz="457133" rtl="0" eaLnBrk="1" latinLnBrk="0" hangingPunct="1">
              <a:defRPr sz="1800" kern="1200">
                <a:solidFill>
                  <a:schemeClr val="tx1"/>
                </a:solidFill>
                <a:latin typeface="+mn-lt"/>
                <a:ea typeface="+mn-ea"/>
                <a:cs typeface="+mn-cs"/>
              </a:defRPr>
            </a:lvl7pPr>
            <a:lvl8pPr marL="3199936" algn="l" defTabSz="457133" rtl="0" eaLnBrk="1" latinLnBrk="0" hangingPunct="1">
              <a:defRPr sz="1800" kern="1200">
                <a:solidFill>
                  <a:schemeClr val="tx1"/>
                </a:solidFill>
                <a:latin typeface="+mn-lt"/>
                <a:ea typeface="+mn-ea"/>
                <a:cs typeface="+mn-cs"/>
              </a:defRPr>
            </a:lvl8pPr>
            <a:lvl9pPr marL="3657070" algn="l" defTabSz="457133" rtl="0" eaLnBrk="1" latinLnBrk="0" hangingPunct="1">
              <a:defRPr sz="1800" kern="1200">
                <a:solidFill>
                  <a:schemeClr val="tx1"/>
                </a:solidFill>
                <a:latin typeface="+mn-lt"/>
                <a:ea typeface="+mn-ea"/>
                <a:cs typeface="+mn-cs"/>
              </a:defRPr>
            </a:lvl9pPr>
          </a:lstStyle>
          <a:p>
            <a:pPr algn="ctr"/>
            <a:r>
              <a:rPr lang="ja-JP" altLang="en-US" sz="1600" b="1" dirty="0">
                <a:solidFill>
                  <a:schemeClr val="accent2"/>
                </a:solidFill>
                <a:latin typeface="Meiryo UI" panose="020B0604030504040204" pitchFamily="34" charset="-128"/>
                <a:ea typeface="Meiryo UI" panose="020B0604030504040204" pitchFamily="34" charset="-128"/>
              </a:rPr>
              <a:t>基幹刷新全体の取りまとめ</a:t>
            </a:r>
            <a:endParaRPr lang="en-US" altLang="ja-JP" sz="1600" b="1" dirty="0">
              <a:solidFill>
                <a:schemeClr val="accent2"/>
              </a:solidFill>
              <a:latin typeface="Meiryo UI" panose="020B0604030504040204" pitchFamily="34" charset="-128"/>
              <a:ea typeface="Meiryo UI" panose="020B0604030504040204" pitchFamily="34" charset="-128"/>
            </a:endParaRPr>
          </a:p>
          <a:p>
            <a:pPr algn="ctr"/>
            <a:r>
              <a:rPr lang="ja-JP" altLang="en-US" sz="800" b="1" dirty="0">
                <a:solidFill>
                  <a:schemeClr val="accent2"/>
                </a:solidFill>
                <a:latin typeface="Meiryo UI" panose="020B0604030504040204" pitchFamily="34" charset="-128"/>
                <a:ea typeface="Meiryo UI" panose="020B0604030504040204" pitchFamily="34" charset="-128"/>
              </a:rPr>
              <a:t>全体の整合・議論の場の提供、上位者、</a:t>
            </a:r>
            <a:r>
              <a:rPr lang="en-US" altLang="ja-JP" sz="800" b="1" dirty="0">
                <a:solidFill>
                  <a:schemeClr val="accent2"/>
                </a:solidFill>
                <a:latin typeface="Meiryo UI" panose="020B0604030504040204" pitchFamily="34" charset="-128"/>
                <a:ea typeface="Meiryo UI" panose="020B0604030504040204" pitchFamily="34" charset="-128"/>
              </a:rPr>
              <a:t>MHI</a:t>
            </a:r>
            <a:r>
              <a:rPr lang="ja-JP" altLang="en-US" sz="800" b="1" dirty="0">
                <a:solidFill>
                  <a:schemeClr val="accent2"/>
                </a:solidFill>
                <a:latin typeface="Meiryo UI" panose="020B0604030504040204" pitchFamily="34" charset="-128"/>
                <a:ea typeface="Meiryo UI" panose="020B0604030504040204" pitchFamily="34" charset="-128"/>
              </a:rPr>
              <a:t>との方針整合</a:t>
            </a:r>
          </a:p>
        </p:txBody>
      </p:sp>
      <p:sp>
        <p:nvSpPr>
          <p:cNvPr id="33" name="正方形/長方形 35">
            <a:extLst>
              <a:ext uri="{FF2B5EF4-FFF2-40B4-BE49-F238E27FC236}">
                <a16:creationId xmlns:a16="http://schemas.microsoft.com/office/drawing/2014/main" id="{45FED2C2-20DC-416B-8BC0-FE0BE3164C9A}"/>
              </a:ext>
            </a:extLst>
          </p:cNvPr>
          <p:cNvSpPr>
            <a:spLocks noChangeArrowheads="1"/>
          </p:cNvSpPr>
          <p:nvPr/>
        </p:nvSpPr>
        <p:spPr bwMode="auto">
          <a:xfrm>
            <a:off x="709866" y="5726667"/>
            <a:ext cx="3081292" cy="584775"/>
          </a:xfrm>
          <a:prstGeom prst="rect">
            <a:avLst/>
          </a:prstGeom>
          <a:noFill/>
          <a:ln>
            <a:noFill/>
          </a:ln>
        </p:spPr>
        <p:txBody>
          <a:bodyPr wrap="none">
            <a:spAutoFit/>
          </a:bodyPr>
          <a:lstStyle>
            <a:defPPr>
              <a:defRPr lang="en-US"/>
            </a:defPPr>
            <a:lvl1pPr marL="0" algn="l" defTabSz="457133" rtl="0" eaLnBrk="1" latinLnBrk="0" hangingPunct="1">
              <a:defRPr sz="1800" kern="1200">
                <a:solidFill>
                  <a:schemeClr val="tx1"/>
                </a:solidFill>
                <a:latin typeface="+mn-lt"/>
                <a:ea typeface="+mn-ea"/>
                <a:cs typeface="+mn-cs"/>
              </a:defRPr>
            </a:lvl1pPr>
            <a:lvl2pPr marL="457133" algn="l" defTabSz="457133" rtl="0" eaLnBrk="1" latinLnBrk="0" hangingPunct="1">
              <a:defRPr sz="1800" kern="1200">
                <a:solidFill>
                  <a:schemeClr val="tx1"/>
                </a:solidFill>
                <a:latin typeface="+mn-lt"/>
                <a:ea typeface="+mn-ea"/>
                <a:cs typeface="+mn-cs"/>
              </a:defRPr>
            </a:lvl2pPr>
            <a:lvl3pPr marL="914268" algn="l" defTabSz="457133" rtl="0" eaLnBrk="1" latinLnBrk="0" hangingPunct="1">
              <a:defRPr sz="1800" kern="1200">
                <a:solidFill>
                  <a:schemeClr val="tx1"/>
                </a:solidFill>
                <a:latin typeface="+mn-lt"/>
                <a:ea typeface="+mn-ea"/>
                <a:cs typeface="+mn-cs"/>
              </a:defRPr>
            </a:lvl3pPr>
            <a:lvl4pPr marL="1371401" algn="l" defTabSz="457133" rtl="0" eaLnBrk="1" latinLnBrk="0" hangingPunct="1">
              <a:defRPr sz="1800" kern="1200">
                <a:solidFill>
                  <a:schemeClr val="tx1"/>
                </a:solidFill>
                <a:latin typeface="+mn-lt"/>
                <a:ea typeface="+mn-ea"/>
                <a:cs typeface="+mn-cs"/>
              </a:defRPr>
            </a:lvl4pPr>
            <a:lvl5pPr marL="1828535" algn="l" defTabSz="457133" rtl="0" eaLnBrk="1" latinLnBrk="0" hangingPunct="1">
              <a:defRPr sz="1800" kern="1200">
                <a:solidFill>
                  <a:schemeClr val="tx1"/>
                </a:solidFill>
                <a:latin typeface="+mn-lt"/>
                <a:ea typeface="+mn-ea"/>
                <a:cs typeface="+mn-cs"/>
              </a:defRPr>
            </a:lvl5pPr>
            <a:lvl6pPr marL="2285669" algn="l" defTabSz="457133" rtl="0" eaLnBrk="1" latinLnBrk="0" hangingPunct="1">
              <a:defRPr sz="1800" kern="1200">
                <a:solidFill>
                  <a:schemeClr val="tx1"/>
                </a:solidFill>
                <a:latin typeface="+mn-lt"/>
                <a:ea typeface="+mn-ea"/>
                <a:cs typeface="+mn-cs"/>
              </a:defRPr>
            </a:lvl6pPr>
            <a:lvl7pPr marL="2742803" algn="l" defTabSz="457133" rtl="0" eaLnBrk="1" latinLnBrk="0" hangingPunct="1">
              <a:defRPr sz="1800" kern="1200">
                <a:solidFill>
                  <a:schemeClr val="tx1"/>
                </a:solidFill>
                <a:latin typeface="+mn-lt"/>
                <a:ea typeface="+mn-ea"/>
                <a:cs typeface="+mn-cs"/>
              </a:defRPr>
            </a:lvl7pPr>
            <a:lvl8pPr marL="3199936" algn="l" defTabSz="457133" rtl="0" eaLnBrk="1" latinLnBrk="0" hangingPunct="1">
              <a:defRPr sz="1800" kern="1200">
                <a:solidFill>
                  <a:schemeClr val="tx1"/>
                </a:solidFill>
                <a:latin typeface="+mn-lt"/>
                <a:ea typeface="+mn-ea"/>
                <a:cs typeface="+mn-cs"/>
              </a:defRPr>
            </a:lvl8pPr>
            <a:lvl9pPr marL="3657070" algn="l" defTabSz="457133" rtl="0" eaLnBrk="1" latinLnBrk="0" hangingPunct="1">
              <a:defRPr sz="1800" kern="1200">
                <a:solidFill>
                  <a:schemeClr val="tx1"/>
                </a:solidFill>
                <a:latin typeface="+mn-lt"/>
                <a:ea typeface="+mn-ea"/>
                <a:cs typeface="+mn-cs"/>
              </a:defRPr>
            </a:lvl9pPr>
          </a:lstStyle>
          <a:p>
            <a:pPr algn="ctr"/>
            <a:r>
              <a:rPr lang="en-US" altLang="ja-JP" sz="1600" b="1" dirty="0">
                <a:solidFill>
                  <a:schemeClr val="accent3"/>
                </a:solidFill>
                <a:latin typeface="Meiryo UI" panose="020B0604030504040204" pitchFamily="34" charset="-128"/>
                <a:ea typeface="Meiryo UI" panose="020B0604030504040204" pitchFamily="34" charset="-128"/>
              </a:rPr>
              <a:t>IT</a:t>
            </a:r>
            <a:r>
              <a:rPr lang="ja-JP" altLang="en-US" sz="1600" b="1" dirty="0">
                <a:solidFill>
                  <a:schemeClr val="accent3"/>
                </a:solidFill>
                <a:latin typeface="Meiryo UI" panose="020B0604030504040204" pitchFamily="34" charset="-128"/>
                <a:ea typeface="Meiryo UI" panose="020B0604030504040204" pitchFamily="34" charset="-128"/>
              </a:rPr>
              <a:t>固定費削減と既存システム改修</a:t>
            </a:r>
            <a:endParaRPr lang="en-US" altLang="ja-JP" sz="800" b="1" dirty="0">
              <a:solidFill>
                <a:schemeClr val="accent3"/>
              </a:solidFill>
              <a:latin typeface="Meiryo UI" panose="020B0604030504040204" pitchFamily="34" charset="-128"/>
              <a:ea typeface="Meiryo UI" panose="020B0604030504040204" pitchFamily="34" charset="-128"/>
            </a:endParaRPr>
          </a:p>
          <a:p>
            <a:pPr algn="ctr"/>
            <a:r>
              <a:rPr lang="ja-JP" altLang="en-US" sz="800" b="1" dirty="0">
                <a:solidFill>
                  <a:schemeClr val="accent3"/>
                </a:solidFill>
                <a:latin typeface="Meiryo UI" panose="020B0604030504040204" pitchFamily="34" charset="-128"/>
                <a:ea typeface="Meiryo UI" panose="020B0604030504040204" pitchFamily="34" charset="-128"/>
              </a:rPr>
              <a:t>既存</a:t>
            </a:r>
            <a:r>
              <a:rPr lang="en-US" altLang="ja-JP" sz="800" b="1" dirty="0">
                <a:solidFill>
                  <a:schemeClr val="accent3"/>
                </a:solidFill>
                <a:latin typeface="Meiryo UI" panose="020B0604030504040204" pitchFamily="34" charset="-128"/>
                <a:ea typeface="Meiryo UI" panose="020B0604030504040204" pitchFamily="34" charset="-128"/>
              </a:rPr>
              <a:t>2000</a:t>
            </a:r>
            <a:r>
              <a:rPr lang="ja-JP" altLang="en-US" sz="800" b="1" dirty="0">
                <a:solidFill>
                  <a:schemeClr val="accent3"/>
                </a:solidFill>
                <a:latin typeface="Meiryo UI" panose="020B0604030504040204" pitchFamily="34" charset="-128"/>
                <a:ea typeface="Meiryo UI" panose="020B0604030504040204" pitchFamily="34" charset="-128"/>
              </a:rPr>
              <a:t>システムの固定費削減と</a:t>
            </a:r>
            <a:br>
              <a:rPr lang="en-US" altLang="ja-JP" sz="800" b="1" dirty="0">
                <a:solidFill>
                  <a:schemeClr val="accent3"/>
                </a:solidFill>
                <a:latin typeface="Meiryo UI" panose="020B0604030504040204" pitchFamily="34" charset="-128"/>
                <a:ea typeface="Meiryo UI" panose="020B0604030504040204" pitchFamily="34" charset="-128"/>
              </a:rPr>
            </a:br>
            <a:r>
              <a:rPr lang="ja-JP" altLang="en-US" sz="800" b="1" dirty="0">
                <a:solidFill>
                  <a:schemeClr val="accent3"/>
                </a:solidFill>
                <a:latin typeface="Meiryo UI" panose="020B0604030504040204" pitchFamily="34" charset="-128"/>
                <a:ea typeface="Meiryo UI" panose="020B0604030504040204" pitchFamily="34" charset="-128"/>
              </a:rPr>
              <a:t>システム刷新対応に向けた改修計画・実行</a:t>
            </a:r>
          </a:p>
        </p:txBody>
      </p:sp>
      <p:sp>
        <p:nvSpPr>
          <p:cNvPr id="3" name="Rectangle 2">
            <a:extLst>
              <a:ext uri="{FF2B5EF4-FFF2-40B4-BE49-F238E27FC236}">
                <a16:creationId xmlns:a16="http://schemas.microsoft.com/office/drawing/2014/main" id="{90AD177C-9FB2-4942-AC68-3D07F88AEAEE}"/>
              </a:ext>
            </a:extLst>
          </p:cNvPr>
          <p:cNvSpPr/>
          <p:nvPr/>
        </p:nvSpPr>
        <p:spPr>
          <a:xfrm>
            <a:off x="8302100" y="1194121"/>
            <a:ext cx="870857" cy="5045735"/>
          </a:xfrm>
          <a:prstGeom prst="rect">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eaVert" wrap="none" lIns="36000" tIns="108000" rIns="36000" bIns="0" anchor="ctr"/>
          <a:lstStyle/>
          <a:p>
            <a:pPr algn="ctr" defTabSz="457133" eaLnBrk="1" hangingPunct="1">
              <a:lnSpc>
                <a:spcPct val="85000"/>
              </a:lnSpc>
            </a:pPr>
            <a:r>
              <a:rPr lang="ja-JP" altLang="en-US" sz="1800" b="1">
                <a:solidFill>
                  <a:srgbClr val="FFFFFF"/>
                </a:solidFill>
                <a:latin typeface="Meiryo UI" panose="020B0604030504040204" pitchFamily="34" charset="-128"/>
                <a:ea typeface="Meiryo UI" panose="020B0604030504040204" pitchFamily="34" charset="-128"/>
              </a:rPr>
              <a:t>データマネジメント</a:t>
            </a:r>
            <a:endParaRPr lang="en-US" sz="1800" b="1" dirty="0">
              <a:solidFill>
                <a:srgbClr val="FFFFFF"/>
              </a:solidFill>
              <a:latin typeface="Meiryo UI" panose="020B0604030504040204" pitchFamily="34" charset="-128"/>
              <a:ea typeface="Meiryo UI" panose="020B0604030504040204" pitchFamily="34" charset="-128"/>
            </a:endParaRPr>
          </a:p>
        </p:txBody>
      </p:sp>
      <p:grpSp>
        <p:nvGrpSpPr>
          <p:cNvPr id="7" name="Group 6">
            <a:extLst>
              <a:ext uri="{FF2B5EF4-FFF2-40B4-BE49-F238E27FC236}">
                <a16:creationId xmlns:a16="http://schemas.microsoft.com/office/drawing/2014/main" id="{B1970BF3-617C-4C77-8165-20A955DDB3CE}"/>
              </a:ext>
            </a:extLst>
          </p:cNvPr>
          <p:cNvGrpSpPr/>
          <p:nvPr/>
        </p:nvGrpSpPr>
        <p:grpSpPr>
          <a:xfrm>
            <a:off x="3899361" y="1371689"/>
            <a:ext cx="4028950" cy="370138"/>
            <a:chOff x="3899361" y="1459599"/>
            <a:chExt cx="4028950" cy="370138"/>
          </a:xfrm>
        </p:grpSpPr>
        <p:sp>
          <p:nvSpPr>
            <p:cNvPr id="4" name="Arrow: Right 3">
              <a:extLst>
                <a:ext uri="{FF2B5EF4-FFF2-40B4-BE49-F238E27FC236}">
                  <a16:creationId xmlns:a16="http://schemas.microsoft.com/office/drawing/2014/main" id="{4549CEFB-1ABB-42AD-9F61-151622EEDA23}"/>
                </a:ext>
              </a:extLst>
            </p:cNvPr>
            <p:cNvSpPr/>
            <p:nvPr/>
          </p:nvSpPr>
          <p:spPr>
            <a:xfrm>
              <a:off x="3899361" y="1737708"/>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36" name="TextBox 35">
              <a:extLst>
                <a:ext uri="{FF2B5EF4-FFF2-40B4-BE49-F238E27FC236}">
                  <a16:creationId xmlns:a16="http://schemas.microsoft.com/office/drawing/2014/main" id="{B258229F-977B-4C55-949F-3AB5E970CD2B}"/>
                </a:ext>
              </a:extLst>
            </p:cNvPr>
            <p:cNvSpPr txBox="1"/>
            <p:nvPr/>
          </p:nvSpPr>
          <p:spPr>
            <a:xfrm>
              <a:off x="3899361" y="1459599"/>
              <a:ext cx="4028950" cy="276999"/>
            </a:xfrm>
            <a:prstGeom prst="rect">
              <a:avLst/>
            </a:prstGeom>
            <a:noFill/>
          </p:spPr>
          <p:txBody>
            <a:bodyPr wrap="square">
              <a:spAutoFit/>
            </a:bodyPr>
            <a:lstStyle/>
            <a:p>
              <a:r>
                <a:rPr lang="ja-JP" altLang="en-US" sz="1200" dirty="0">
                  <a:latin typeface="Meiryo UI" panose="020B0604030504040204" pitchFamily="34" charset="-128"/>
                  <a:ea typeface="Meiryo UI" panose="020B0604030504040204" pitchFamily="34" charset="-128"/>
                </a:rPr>
                <a:t>全体進捗状況の共有、課題・リスク等の共有</a:t>
              </a:r>
              <a:endParaRPr lang="en-US" sz="1200" dirty="0">
                <a:latin typeface="Meiryo UI" panose="020B0604030504040204" pitchFamily="34" charset="-128"/>
                <a:ea typeface="Meiryo UI" panose="020B0604030504040204" pitchFamily="34" charset="-128"/>
              </a:endParaRPr>
            </a:p>
          </p:txBody>
        </p:sp>
      </p:grpSp>
      <p:grpSp>
        <p:nvGrpSpPr>
          <p:cNvPr id="6" name="Group 5">
            <a:extLst>
              <a:ext uri="{FF2B5EF4-FFF2-40B4-BE49-F238E27FC236}">
                <a16:creationId xmlns:a16="http://schemas.microsoft.com/office/drawing/2014/main" id="{FD336FDA-BFD4-4744-8D73-45B96C52010E}"/>
              </a:ext>
            </a:extLst>
          </p:cNvPr>
          <p:cNvGrpSpPr/>
          <p:nvPr/>
        </p:nvGrpSpPr>
        <p:grpSpPr>
          <a:xfrm>
            <a:off x="3899361" y="1881274"/>
            <a:ext cx="4028950" cy="507679"/>
            <a:chOff x="3899361" y="1942900"/>
            <a:chExt cx="4028950" cy="507679"/>
          </a:xfrm>
        </p:grpSpPr>
        <p:sp>
          <p:nvSpPr>
            <p:cNvPr id="35" name="Arrow: Right 34">
              <a:extLst>
                <a:ext uri="{FF2B5EF4-FFF2-40B4-BE49-F238E27FC236}">
                  <a16:creationId xmlns:a16="http://schemas.microsoft.com/office/drawing/2014/main" id="{677CFA04-B49F-4255-B68A-8EE5D2668B91}"/>
                </a:ext>
              </a:extLst>
            </p:cNvPr>
            <p:cNvSpPr/>
            <p:nvPr/>
          </p:nvSpPr>
          <p:spPr>
            <a:xfrm flipH="1">
              <a:off x="3899361" y="1942900"/>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37" name="TextBox 36">
              <a:extLst>
                <a:ext uri="{FF2B5EF4-FFF2-40B4-BE49-F238E27FC236}">
                  <a16:creationId xmlns:a16="http://schemas.microsoft.com/office/drawing/2014/main" id="{8B85CE09-1AED-4CC5-98DE-1319D6941D4C}"/>
                </a:ext>
              </a:extLst>
            </p:cNvPr>
            <p:cNvSpPr txBox="1"/>
            <p:nvPr/>
          </p:nvSpPr>
          <p:spPr>
            <a:xfrm>
              <a:off x="3899361" y="1988914"/>
              <a:ext cx="4028950" cy="461665"/>
            </a:xfrm>
            <a:prstGeom prst="rect">
              <a:avLst/>
            </a:prstGeom>
            <a:noFill/>
          </p:spPr>
          <p:txBody>
            <a:bodyPr wrap="square">
              <a:spAutoFit/>
            </a:bodyPr>
            <a:lstStyle/>
            <a:p>
              <a:r>
                <a:rPr lang="en-US" altLang="ja-JP" sz="1200" dirty="0">
                  <a:latin typeface="Meiryo UI" panose="020B0604030504040204" pitchFamily="34" charset="-128"/>
                  <a:ea typeface="Meiryo UI" panose="020B0604030504040204" pitchFamily="34" charset="-128"/>
                </a:rPr>
                <a:t>PJ</a:t>
              </a:r>
              <a:r>
                <a:rPr lang="ja-JP" altLang="en-US" sz="1200" dirty="0">
                  <a:latin typeface="Meiryo UI" panose="020B0604030504040204" pitchFamily="34" charset="-128"/>
                  <a:ea typeface="Meiryo UI" panose="020B0604030504040204" pitchFamily="34" charset="-128"/>
                </a:rPr>
                <a:t>管理・引合～出荷等、統合後も三菱パワー内で標準化を</a:t>
              </a:r>
              <a:br>
                <a:rPr lang="en-US" altLang="ja-JP" sz="1200" dirty="0">
                  <a:latin typeface="Meiryo UI" panose="020B0604030504040204" pitchFamily="34" charset="-128"/>
                  <a:ea typeface="Meiryo UI" panose="020B0604030504040204" pitchFamily="34" charset="-128"/>
                </a:rPr>
              </a:br>
              <a:r>
                <a:rPr lang="ja-JP" altLang="en-US" sz="1200" dirty="0">
                  <a:latin typeface="Meiryo UI" panose="020B0604030504040204" pitchFamily="34" charset="-128"/>
                  <a:ea typeface="Meiryo UI" panose="020B0604030504040204" pitchFamily="34" charset="-128"/>
                </a:rPr>
                <a:t>検討すべきデータ管理プロセス・定義等を進捗状況の報告</a:t>
              </a:r>
              <a:endParaRPr lang="en-US" sz="1200" dirty="0">
                <a:latin typeface="Meiryo UI" panose="020B0604030504040204" pitchFamily="34" charset="-128"/>
                <a:ea typeface="Meiryo UI" panose="020B0604030504040204" pitchFamily="34" charset="-128"/>
              </a:endParaRPr>
            </a:p>
          </p:txBody>
        </p:sp>
      </p:grpSp>
      <p:grpSp>
        <p:nvGrpSpPr>
          <p:cNvPr id="48" name="Group 47">
            <a:extLst>
              <a:ext uri="{FF2B5EF4-FFF2-40B4-BE49-F238E27FC236}">
                <a16:creationId xmlns:a16="http://schemas.microsoft.com/office/drawing/2014/main" id="{C891064C-61C9-4E41-A186-1186901EF53F}"/>
              </a:ext>
            </a:extLst>
          </p:cNvPr>
          <p:cNvGrpSpPr/>
          <p:nvPr/>
        </p:nvGrpSpPr>
        <p:grpSpPr>
          <a:xfrm>
            <a:off x="3899361" y="2659535"/>
            <a:ext cx="4028950" cy="345775"/>
            <a:chOff x="3899361" y="1483962"/>
            <a:chExt cx="4028950" cy="345775"/>
          </a:xfrm>
        </p:grpSpPr>
        <p:sp>
          <p:nvSpPr>
            <p:cNvPr id="52" name="Arrow: Right 51">
              <a:extLst>
                <a:ext uri="{FF2B5EF4-FFF2-40B4-BE49-F238E27FC236}">
                  <a16:creationId xmlns:a16="http://schemas.microsoft.com/office/drawing/2014/main" id="{A2442E01-066D-4C9C-BA35-B45AD326963D}"/>
                </a:ext>
              </a:extLst>
            </p:cNvPr>
            <p:cNvSpPr/>
            <p:nvPr/>
          </p:nvSpPr>
          <p:spPr>
            <a:xfrm>
              <a:off x="3899361" y="1737708"/>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53" name="TextBox 52">
              <a:extLst>
                <a:ext uri="{FF2B5EF4-FFF2-40B4-BE49-F238E27FC236}">
                  <a16:creationId xmlns:a16="http://schemas.microsoft.com/office/drawing/2014/main" id="{AB782C43-A041-4C68-BA91-C5B32D453189}"/>
                </a:ext>
              </a:extLst>
            </p:cNvPr>
            <p:cNvSpPr txBox="1"/>
            <p:nvPr/>
          </p:nvSpPr>
          <p:spPr>
            <a:xfrm>
              <a:off x="3899361" y="1483962"/>
              <a:ext cx="4028950" cy="276999"/>
            </a:xfrm>
            <a:prstGeom prst="rect">
              <a:avLst/>
            </a:prstGeom>
            <a:noFill/>
          </p:spPr>
          <p:txBody>
            <a:bodyPr wrap="square">
              <a:spAutoFit/>
            </a:bodyPr>
            <a:lstStyle/>
            <a:p>
              <a:r>
                <a:rPr lang="en-US" altLang="ja-JP" sz="1200" dirty="0">
                  <a:latin typeface="Meiryo UI" panose="020B0604030504040204" pitchFamily="34" charset="-128"/>
                  <a:ea typeface="Meiryo UI" panose="020B0604030504040204" pitchFamily="34" charset="-128"/>
                </a:rPr>
                <a:t>As</a:t>
              </a:r>
              <a:r>
                <a:rPr lang="ja-JP" altLang="en-US" sz="1200" dirty="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Is</a:t>
              </a:r>
              <a:r>
                <a:rPr lang="ja-JP" altLang="en-US" sz="1200" dirty="0">
                  <a:latin typeface="Meiryo UI" panose="020B0604030504040204" pitchFamily="34" charset="-128"/>
                  <a:ea typeface="Meiryo UI" panose="020B0604030504040204" pitchFamily="34" charset="-128"/>
                </a:rPr>
                <a:t>業務分析結果や</a:t>
              </a:r>
              <a:r>
                <a:rPr lang="en-US" altLang="ja-JP" sz="1200" dirty="0">
                  <a:latin typeface="Meiryo UI" panose="020B0604030504040204" pitchFamily="34" charset="-128"/>
                  <a:ea typeface="Meiryo UI" panose="020B0604030504040204" pitchFamily="34" charset="-128"/>
                </a:rPr>
                <a:t>To</a:t>
              </a:r>
              <a:r>
                <a:rPr lang="ja-JP" altLang="en-US" sz="1200" dirty="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Be</a:t>
              </a:r>
              <a:r>
                <a:rPr lang="ja-JP" altLang="en-US" sz="1200" dirty="0">
                  <a:latin typeface="Meiryo UI" panose="020B0604030504040204" pitchFamily="34" charset="-128"/>
                  <a:ea typeface="Meiryo UI" panose="020B0604030504040204" pitchFamily="34" charset="-128"/>
                </a:rPr>
                <a:t>業務プロセスおよび要件の整理</a:t>
              </a:r>
              <a:endParaRPr lang="en-US" sz="1200" dirty="0">
                <a:latin typeface="Meiryo UI" panose="020B0604030504040204" pitchFamily="34" charset="-128"/>
                <a:ea typeface="Meiryo UI" panose="020B0604030504040204" pitchFamily="34" charset="-128"/>
              </a:endParaRPr>
            </a:p>
          </p:txBody>
        </p:sp>
      </p:grpSp>
      <p:grpSp>
        <p:nvGrpSpPr>
          <p:cNvPr id="54" name="Group 53">
            <a:extLst>
              <a:ext uri="{FF2B5EF4-FFF2-40B4-BE49-F238E27FC236}">
                <a16:creationId xmlns:a16="http://schemas.microsoft.com/office/drawing/2014/main" id="{435A9179-8AB8-4971-93BD-E9668DAC0CA7}"/>
              </a:ext>
            </a:extLst>
          </p:cNvPr>
          <p:cNvGrpSpPr/>
          <p:nvPr/>
        </p:nvGrpSpPr>
        <p:grpSpPr>
          <a:xfrm>
            <a:off x="3899361" y="3144757"/>
            <a:ext cx="4028950" cy="507679"/>
            <a:chOff x="3899361" y="1942900"/>
            <a:chExt cx="4028950" cy="507679"/>
          </a:xfrm>
        </p:grpSpPr>
        <p:sp>
          <p:nvSpPr>
            <p:cNvPr id="55" name="Arrow: Right 54">
              <a:extLst>
                <a:ext uri="{FF2B5EF4-FFF2-40B4-BE49-F238E27FC236}">
                  <a16:creationId xmlns:a16="http://schemas.microsoft.com/office/drawing/2014/main" id="{6DBB99CD-22B7-491A-8F07-AAAF2844E111}"/>
                </a:ext>
              </a:extLst>
            </p:cNvPr>
            <p:cNvSpPr/>
            <p:nvPr/>
          </p:nvSpPr>
          <p:spPr>
            <a:xfrm flipH="1">
              <a:off x="3899361" y="1942900"/>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56" name="TextBox 55">
              <a:extLst>
                <a:ext uri="{FF2B5EF4-FFF2-40B4-BE49-F238E27FC236}">
                  <a16:creationId xmlns:a16="http://schemas.microsoft.com/office/drawing/2014/main" id="{58C54B79-0808-4624-8EA0-ACE50BD559D7}"/>
                </a:ext>
              </a:extLst>
            </p:cNvPr>
            <p:cNvSpPr txBox="1"/>
            <p:nvPr/>
          </p:nvSpPr>
          <p:spPr>
            <a:xfrm>
              <a:off x="3899361" y="1988914"/>
              <a:ext cx="4028950" cy="461665"/>
            </a:xfrm>
            <a:prstGeom prst="rect">
              <a:avLst/>
            </a:prstGeom>
            <a:noFill/>
          </p:spPr>
          <p:txBody>
            <a:bodyPr wrap="square">
              <a:spAutoFit/>
            </a:bodyPr>
            <a:lstStyle/>
            <a:p>
              <a:r>
                <a:rPr lang="ja-JP" altLang="en-US" sz="1200" dirty="0">
                  <a:latin typeface="Meiryo UI" panose="020B0604030504040204" pitchFamily="34" charset="-128"/>
                  <a:ea typeface="Meiryo UI" panose="020B0604030504040204" pitchFamily="34" charset="-128"/>
                </a:rPr>
                <a:t>業務要件を実現するうえで考慮すべきデータ管理プロセス、手順およびデータ定義基準の提示</a:t>
              </a:r>
              <a:endParaRPr lang="en-US" sz="1200" dirty="0">
                <a:latin typeface="Meiryo UI" panose="020B0604030504040204" pitchFamily="34" charset="-128"/>
                <a:ea typeface="Meiryo UI" panose="020B0604030504040204" pitchFamily="34" charset="-128"/>
              </a:endParaRPr>
            </a:p>
          </p:txBody>
        </p:sp>
      </p:grpSp>
      <p:grpSp>
        <p:nvGrpSpPr>
          <p:cNvPr id="57" name="Group 56">
            <a:extLst>
              <a:ext uri="{FF2B5EF4-FFF2-40B4-BE49-F238E27FC236}">
                <a16:creationId xmlns:a16="http://schemas.microsoft.com/office/drawing/2014/main" id="{AF2AED07-6019-440D-B92D-9F65EF74ABC3}"/>
              </a:ext>
            </a:extLst>
          </p:cNvPr>
          <p:cNvGrpSpPr/>
          <p:nvPr/>
        </p:nvGrpSpPr>
        <p:grpSpPr>
          <a:xfrm>
            <a:off x="3899361" y="3743156"/>
            <a:ext cx="4028950" cy="529930"/>
            <a:chOff x="3899361" y="1299807"/>
            <a:chExt cx="4028950" cy="529930"/>
          </a:xfrm>
        </p:grpSpPr>
        <p:sp>
          <p:nvSpPr>
            <p:cNvPr id="58" name="Arrow: Right 57">
              <a:extLst>
                <a:ext uri="{FF2B5EF4-FFF2-40B4-BE49-F238E27FC236}">
                  <a16:creationId xmlns:a16="http://schemas.microsoft.com/office/drawing/2014/main" id="{B27C7298-EFD6-46B2-B096-0DCDC28600AA}"/>
                </a:ext>
              </a:extLst>
            </p:cNvPr>
            <p:cNvSpPr/>
            <p:nvPr/>
          </p:nvSpPr>
          <p:spPr>
            <a:xfrm>
              <a:off x="3899361" y="1737708"/>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59" name="TextBox 58">
              <a:extLst>
                <a:ext uri="{FF2B5EF4-FFF2-40B4-BE49-F238E27FC236}">
                  <a16:creationId xmlns:a16="http://schemas.microsoft.com/office/drawing/2014/main" id="{D22ED96F-71C8-4A1F-8318-1D7AD7060E20}"/>
                </a:ext>
              </a:extLst>
            </p:cNvPr>
            <p:cNvSpPr txBox="1"/>
            <p:nvPr/>
          </p:nvSpPr>
          <p:spPr>
            <a:xfrm>
              <a:off x="3899361" y="1299807"/>
              <a:ext cx="4028950" cy="461665"/>
            </a:xfrm>
            <a:prstGeom prst="rect">
              <a:avLst/>
            </a:prstGeom>
            <a:noFill/>
          </p:spPr>
          <p:txBody>
            <a:bodyPr wrap="square">
              <a:spAutoFit/>
            </a:bodyPr>
            <a:lstStyle/>
            <a:p>
              <a:r>
                <a:rPr lang="en-US" altLang="ja-JP" sz="1200" dirty="0">
                  <a:latin typeface="Meiryo UI" panose="020B0604030504040204" pitchFamily="34" charset="-128"/>
                  <a:ea typeface="Meiryo UI" panose="020B0604030504040204" pitchFamily="34" charset="-128"/>
                </a:rPr>
                <a:t>Application</a:t>
              </a:r>
              <a:r>
                <a:rPr lang="ja-JP" altLang="en-US" sz="1200" dirty="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a:t>
              </a:r>
              <a:r>
                <a:rPr lang="ja-JP" altLang="en-US" sz="1200" dirty="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Technology</a:t>
              </a:r>
              <a:r>
                <a:rPr lang="ja-JP" altLang="en-US" sz="1200" dirty="0">
                  <a:latin typeface="Meiryo UI" panose="020B0604030504040204" pitchFamily="34" charset="-128"/>
                  <a:ea typeface="Meiryo UI" panose="020B0604030504040204" pitchFamily="34" charset="-128"/>
                </a:rPr>
                <a:t>アーキテクチャー検討状況の連携とデータアーキテクチャーへの示唆の提示</a:t>
              </a:r>
              <a:endParaRPr lang="en-US" sz="1200" dirty="0">
                <a:latin typeface="Meiryo UI" panose="020B0604030504040204" pitchFamily="34" charset="-128"/>
                <a:ea typeface="Meiryo UI" panose="020B0604030504040204" pitchFamily="34" charset="-128"/>
              </a:endParaRPr>
            </a:p>
          </p:txBody>
        </p:sp>
      </p:grpSp>
      <p:grpSp>
        <p:nvGrpSpPr>
          <p:cNvPr id="60" name="Group 59">
            <a:extLst>
              <a:ext uri="{FF2B5EF4-FFF2-40B4-BE49-F238E27FC236}">
                <a16:creationId xmlns:a16="http://schemas.microsoft.com/office/drawing/2014/main" id="{16AD4506-BA3B-4AC8-9E27-EF698F3E7868}"/>
              </a:ext>
            </a:extLst>
          </p:cNvPr>
          <p:cNvGrpSpPr/>
          <p:nvPr/>
        </p:nvGrpSpPr>
        <p:grpSpPr>
          <a:xfrm>
            <a:off x="3899361" y="4412533"/>
            <a:ext cx="4028950" cy="507679"/>
            <a:chOff x="3899361" y="1942900"/>
            <a:chExt cx="4028950" cy="507679"/>
          </a:xfrm>
        </p:grpSpPr>
        <p:sp>
          <p:nvSpPr>
            <p:cNvPr id="61" name="Arrow: Right 60">
              <a:extLst>
                <a:ext uri="{FF2B5EF4-FFF2-40B4-BE49-F238E27FC236}">
                  <a16:creationId xmlns:a16="http://schemas.microsoft.com/office/drawing/2014/main" id="{39314F3E-693C-496F-A4A6-AB09A2D37DFC}"/>
                </a:ext>
              </a:extLst>
            </p:cNvPr>
            <p:cNvSpPr/>
            <p:nvPr/>
          </p:nvSpPr>
          <p:spPr>
            <a:xfrm flipH="1">
              <a:off x="3899361" y="1942900"/>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62" name="TextBox 61">
              <a:extLst>
                <a:ext uri="{FF2B5EF4-FFF2-40B4-BE49-F238E27FC236}">
                  <a16:creationId xmlns:a16="http://schemas.microsoft.com/office/drawing/2014/main" id="{75A4D316-2703-42BE-8DA5-E22BA42476B8}"/>
                </a:ext>
              </a:extLst>
            </p:cNvPr>
            <p:cNvSpPr txBox="1"/>
            <p:nvPr/>
          </p:nvSpPr>
          <p:spPr>
            <a:xfrm>
              <a:off x="3899361" y="1988914"/>
              <a:ext cx="4028950" cy="461665"/>
            </a:xfrm>
            <a:prstGeom prst="rect">
              <a:avLst/>
            </a:prstGeom>
            <a:noFill/>
          </p:spPr>
          <p:txBody>
            <a:bodyPr wrap="square">
              <a:spAutoFit/>
            </a:bodyPr>
            <a:lstStyle/>
            <a:p>
              <a:r>
                <a:rPr lang="ja-JP" altLang="en-US" sz="1200" dirty="0">
                  <a:latin typeface="Meiryo UI" panose="020B0604030504040204" pitchFamily="34" charset="-128"/>
                  <a:ea typeface="Meiryo UI" panose="020B0604030504040204" pitchFamily="34" charset="-128"/>
                </a:rPr>
                <a:t>データアーキテクチャーの検討状況の報告と</a:t>
              </a:r>
              <a:r>
                <a:rPr lang="en-US" altLang="ja-JP" sz="1200" dirty="0">
                  <a:latin typeface="Meiryo UI" panose="020B0604030504040204" pitchFamily="34" charset="-128"/>
                  <a:ea typeface="Meiryo UI" panose="020B0604030504040204" pitchFamily="34" charset="-128"/>
                </a:rPr>
                <a:t>Application</a:t>
              </a:r>
              <a:r>
                <a:rPr lang="ja-JP" altLang="en-US" sz="1200" dirty="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 Technology</a:t>
              </a:r>
              <a:r>
                <a:rPr lang="ja-JP" altLang="en-US" sz="1200" dirty="0">
                  <a:latin typeface="Meiryo UI" panose="020B0604030504040204" pitchFamily="34" charset="-128"/>
                  <a:ea typeface="Meiryo UI" panose="020B0604030504040204" pitchFamily="34" charset="-128"/>
                </a:rPr>
                <a:t>アーキテクチャーへの示唆の提示</a:t>
              </a:r>
              <a:endParaRPr lang="en-US" sz="1200" dirty="0">
                <a:latin typeface="Meiryo UI" panose="020B0604030504040204" pitchFamily="34" charset="-128"/>
                <a:ea typeface="Meiryo UI" panose="020B0604030504040204" pitchFamily="34" charset="-128"/>
              </a:endParaRPr>
            </a:p>
          </p:txBody>
        </p:sp>
      </p:grpSp>
      <p:grpSp>
        <p:nvGrpSpPr>
          <p:cNvPr id="63" name="Group 62">
            <a:extLst>
              <a:ext uri="{FF2B5EF4-FFF2-40B4-BE49-F238E27FC236}">
                <a16:creationId xmlns:a16="http://schemas.microsoft.com/office/drawing/2014/main" id="{50CE3978-1875-489C-8B3B-8F94B5C97BD9}"/>
              </a:ext>
            </a:extLst>
          </p:cNvPr>
          <p:cNvGrpSpPr/>
          <p:nvPr/>
        </p:nvGrpSpPr>
        <p:grpSpPr>
          <a:xfrm>
            <a:off x="3899361" y="5015298"/>
            <a:ext cx="4028950" cy="529930"/>
            <a:chOff x="3899361" y="1299807"/>
            <a:chExt cx="4028950" cy="529930"/>
          </a:xfrm>
        </p:grpSpPr>
        <p:sp>
          <p:nvSpPr>
            <p:cNvPr id="64" name="Arrow: Right 63">
              <a:extLst>
                <a:ext uri="{FF2B5EF4-FFF2-40B4-BE49-F238E27FC236}">
                  <a16:creationId xmlns:a16="http://schemas.microsoft.com/office/drawing/2014/main" id="{E515BB34-07D8-413C-8748-A43126BE3A1E}"/>
                </a:ext>
              </a:extLst>
            </p:cNvPr>
            <p:cNvSpPr/>
            <p:nvPr/>
          </p:nvSpPr>
          <p:spPr>
            <a:xfrm>
              <a:off x="3899361" y="1737708"/>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65" name="TextBox 64">
              <a:extLst>
                <a:ext uri="{FF2B5EF4-FFF2-40B4-BE49-F238E27FC236}">
                  <a16:creationId xmlns:a16="http://schemas.microsoft.com/office/drawing/2014/main" id="{37315234-F2E6-4CA9-858F-2CB2BF3C5C24}"/>
                </a:ext>
              </a:extLst>
            </p:cNvPr>
            <p:cNvSpPr txBox="1"/>
            <p:nvPr/>
          </p:nvSpPr>
          <p:spPr>
            <a:xfrm>
              <a:off x="3899361" y="1299807"/>
              <a:ext cx="4028950" cy="461665"/>
            </a:xfrm>
            <a:prstGeom prst="rect">
              <a:avLst/>
            </a:prstGeom>
            <a:noFill/>
          </p:spPr>
          <p:txBody>
            <a:bodyPr wrap="square">
              <a:spAutoFit/>
            </a:bodyPr>
            <a:lstStyle/>
            <a:p>
              <a:r>
                <a:rPr lang="ja-JP" altLang="en-US" sz="1200" dirty="0">
                  <a:latin typeface="Meiryo UI" panose="020B0604030504040204" pitchFamily="34" charset="-128"/>
                  <a:ea typeface="Meiryo UI" panose="020B0604030504040204" pitchFamily="34" charset="-128"/>
                </a:rPr>
                <a:t>各拠点におけるシステム改修状況の連携、ならびにシステム改修に際しデータ管理に関わる課題・問題の相談</a:t>
              </a:r>
              <a:endParaRPr lang="en-US" sz="1200" dirty="0">
                <a:latin typeface="Meiryo UI" panose="020B0604030504040204" pitchFamily="34" charset="-128"/>
                <a:ea typeface="Meiryo UI" panose="020B0604030504040204" pitchFamily="34" charset="-128"/>
              </a:endParaRPr>
            </a:p>
          </p:txBody>
        </p:sp>
      </p:grpSp>
      <p:grpSp>
        <p:nvGrpSpPr>
          <p:cNvPr id="66" name="Group 65">
            <a:extLst>
              <a:ext uri="{FF2B5EF4-FFF2-40B4-BE49-F238E27FC236}">
                <a16:creationId xmlns:a16="http://schemas.microsoft.com/office/drawing/2014/main" id="{D0263199-C483-49A7-9A11-FD8D1DD633EF}"/>
              </a:ext>
            </a:extLst>
          </p:cNvPr>
          <p:cNvGrpSpPr/>
          <p:nvPr/>
        </p:nvGrpSpPr>
        <p:grpSpPr>
          <a:xfrm>
            <a:off x="3899361" y="5684675"/>
            <a:ext cx="4028950" cy="507679"/>
            <a:chOff x="3899361" y="1942900"/>
            <a:chExt cx="4028950" cy="507679"/>
          </a:xfrm>
        </p:grpSpPr>
        <p:sp>
          <p:nvSpPr>
            <p:cNvPr id="67" name="Arrow: Right 66">
              <a:extLst>
                <a:ext uri="{FF2B5EF4-FFF2-40B4-BE49-F238E27FC236}">
                  <a16:creationId xmlns:a16="http://schemas.microsoft.com/office/drawing/2014/main" id="{01E8E1D7-51EA-49E5-8390-0C09DEE6D256}"/>
                </a:ext>
              </a:extLst>
            </p:cNvPr>
            <p:cNvSpPr/>
            <p:nvPr/>
          </p:nvSpPr>
          <p:spPr>
            <a:xfrm flipH="1">
              <a:off x="3899361" y="1942900"/>
              <a:ext cx="4028950" cy="92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eiryo UI" panose="020B0604030504040204" pitchFamily="34" charset="-128"/>
                <a:ea typeface="Meiryo UI" panose="020B0604030504040204" pitchFamily="34" charset="-128"/>
              </a:endParaRPr>
            </a:p>
          </p:txBody>
        </p:sp>
        <p:sp>
          <p:nvSpPr>
            <p:cNvPr id="68" name="TextBox 67">
              <a:extLst>
                <a:ext uri="{FF2B5EF4-FFF2-40B4-BE49-F238E27FC236}">
                  <a16:creationId xmlns:a16="http://schemas.microsoft.com/office/drawing/2014/main" id="{FA205773-FAB1-4B3D-BDDD-56099ADEF08E}"/>
                </a:ext>
              </a:extLst>
            </p:cNvPr>
            <p:cNvSpPr txBox="1"/>
            <p:nvPr/>
          </p:nvSpPr>
          <p:spPr>
            <a:xfrm>
              <a:off x="3899361" y="1988914"/>
              <a:ext cx="4028950" cy="461665"/>
            </a:xfrm>
            <a:prstGeom prst="rect">
              <a:avLst/>
            </a:prstGeom>
            <a:noFill/>
          </p:spPr>
          <p:txBody>
            <a:bodyPr wrap="square">
              <a:spAutoFit/>
            </a:bodyPr>
            <a:lstStyle/>
            <a:p>
              <a:r>
                <a:rPr lang="ja-JP" altLang="en-US" sz="1200" dirty="0">
                  <a:latin typeface="Meiryo UI" panose="020B0604030504040204" pitchFamily="34" charset="-128"/>
                  <a:ea typeface="Meiryo UI" panose="020B0604030504040204" pitchFamily="34" charset="-128"/>
                </a:rPr>
                <a:t>システム改修に際するメタ・マスターデータ等、各種データ管理の標準の定義・提示、ならびにデータ管理に関わる課題解決支援</a:t>
              </a:r>
              <a:endParaRPr lang="en-US" sz="1200" dirty="0">
                <a:latin typeface="Meiryo UI" panose="020B0604030504040204" pitchFamily="34" charset="-128"/>
                <a:ea typeface="Meiryo UI" panose="020B0604030504040204" pitchFamily="34" charset="-128"/>
              </a:endParaRPr>
            </a:p>
          </p:txBody>
        </p:sp>
      </p:grpSp>
      <p:sp>
        <p:nvSpPr>
          <p:cNvPr id="38" name="角丸四角形吹き出し 37"/>
          <p:cNvSpPr/>
          <p:nvPr/>
        </p:nvSpPr>
        <p:spPr>
          <a:xfrm>
            <a:off x="6297703" y="846255"/>
            <a:ext cx="3097924" cy="509704"/>
          </a:xfrm>
          <a:prstGeom prst="wedgeRoundRectCallout">
            <a:avLst>
              <a:gd name="adj1" fmla="val -23622"/>
              <a:gd name="adj2" fmla="val 6714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dirty="0">
                <a:latin typeface="Meiryo UI" panose="020B0604030504040204" pitchFamily="34" charset="-128"/>
                <a:ea typeface="Meiryo UI" panose="020B0604030504040204" pitchFamily="34" charset="-128"/>
              </a:rPr>
              <a:t>今村様コメント：役割分担としてはよいが、建付け資料としては、</a:t>
            </a:r>
            <a:r>
              <a:rPr kumimoji="1" lang="en-US" altLang="ja-JP" sz="1000" dirty="0">
                <a:latin typeface="Meiryo UI" panose="020B0604030504040204" pitchFamily="34" charset="-128"/>
                <a:ea typeface="Meiryo UI" panose="020B0604030504040204" pitchFamily="34" charset="-128"/>
              </a:rPr>
              <a:t>4</a:t>
            </a:r>
            <a:r>
              <a:rPr kumimoji="1" lang="ja-JP" altLang="en-US" sz="1000" dirty="0">
                <a:latin typeface="Meiryo UI" panose="020B0604030504040204" pitchFamily="34" charset="-128"/>
                <a:ea typeface="Meiryo UI" panose="020B0604030504040204" pitchFamily="34" charset="-128"/>
              </a:rPr>
              <a:t>ページのようなスケジュール感も入れた方がよい。上村様確認</a:t>
            </a:r>
            <a:r>
              <a:rPr lang="ja-JP" altLang="en-US" sz="1000" dirty="0">
                <a:latin typeface="Meiryo UI" panose="020B0604030504040204" pitchFamily="34" charset="-128"/>
                <a:ea typeface="Meiryo UI" panose="020B0604030504040204" pitchFamily="34" charset="-128"/>
              </a:rPr>
              <a:t>後修正案確定。</a:t>
            </a:r>
            <a:endParaRPr kumimoji="1" lang="ja-JP" altLang="en-US" sz="1000" dirty="0">
              <a:latin typeface="Meiryo UI" panose="020B0604030504040204" pitchFamily="34" charset="-128"/>
              <a:ea typeface="Meiryo UI" panose="020B0604030504040204" pitchFamily="34" charset="-128"/>
            </a:endParaRPr>
          </a:p>
        </p:txBody>
      </p:sp>
      <p:sp>
        <p:nvSpPr>
          <p:cNvPr id="39" name="テキスト プレースホルダー 2">
            <a:extLst>
              <a:ext uri="{FF2B5EF4-FFF2-40B4-BE49-F238E27FC236}">
                <a16:creationId xmlns:a16="http://schemas.microsoft.com/office/drawing/2014/main" id="{BA59C971-19B5-994D-A1E3-ECCB46C34BA9}"/>
              </a:ext>
            </a:extLst>
          </p:cNvPr>
          <p:cNvSpPr txBox="1">
            <a:spLocks/>
          </p:cNvSpPr>
          <p:nvPr/>
        </p:nvSpPr>
        <p:spPr>
          <a:xfrm>
            <a:off x="236538" y="574775"/>
            <a:ext cx="9432925" cy="318924"/>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ja-JP" altLang="en-US" b="1">
                <a:latin typeface="Meiryo UI" panose="020B0604030504040204" pitchFamily="34" charset="-128"/>
                <a:ea typeface="Meiryo UI" panose="020B0604030504040204" pitchFamily="34" charset="-128"/>
              </a:rPr>
              <a:t>既存の各</a:t>
            </a:r>
            <a:r>
              <a:rPr lang="en-US" altLang="ja-JP" b="1" dirty="0">
                <a:latin typeface="Meiryo UI" panose="020B0604030504040204" pitchFamily="34" charset="-128"/>
                <a:ea typeface="Meiryo UI" panose="020B0604030504040204" pitchFamily="34" charset="-128"/>
              </a:rPr>
              <a:t>WG</a:t>
            </a:r>
            <a:r>
              <a:rPr lang="ja-JP" altLang="en-US" b="1">
                <a:latin typeface="Meiryo UI" panose="020B0604030504040204" pitchFamily="34" charset="-128"/>
                <a:ea typeface="Meiryo UI" panose="020B0604030504040204" pitchFamily="34" charset="-128"/>
              </a:rPr>
              <a:t>とデータマネジメントサブチーム間の建付は以下の通りとなる。</a:t>
            </a:r>
            <a:endParaRPr lang="ja-JP" altLang="en-US" b="1">
              <a:latin typeface="Meiryo UI" panose="020B0604030504040204" pitchFamily="34" charset="-128"/>
              <a:ea typeface="Meiryo UI" panose="020B0604030504040204" pitchFamily="34" charset="-128"/>
              <a:cs typeface="+mn-cs"/>
            </a:endParaRPr>
          </a:p>
        </p:txBody>
      </p:sp>
      <p:sp>
        <p:nvSpPr>
          <p:cNvPr id="40" name="正方形/長方形 39">
            <a:extLst>
              <a:ext uri="{FF2B5EF4-FFF2-40B4-BE49-F238E27FC236}">
                <a16:creationId xmlns:a16="http://schemas.microsoft.com/office/drawing/2014/main" id="{4DD7C35B-79C7-1245-8861-23509DEAA148}"/>
              </a:ext>
            </a:extLst>
          </p:cNvPr>
          <p:cNvSpPr/>
          <p:nvPr/>
        </p:nvSpPr>
        <p:spPr>
          <a:xfrm>
            <a:off x="9680915" y="199747"/>
            <a:ext cx="1330522"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タイトル分に「基幹刷新</a:t>
            </a:r>
            <a:r>
              <a:rPr lang="en" altLang="ja-JP" sz="1000" b="1" dirty="0">
                <a:solidFill>
                  <a:schemeClr val="bg1"/>
                </a:solidFill>
                <a:latin typeface="Meiryo UI" panose="020B0604030504040204" pitchFamily="50" charset="-128"/>
                <a:ea typeface="Meiryo UI" panose="020B0604030504040204" pitchFamily="50" charset="-128"/>
              </a:rPr>
              <a:t>PJ</a:t>
            </a:r>
            <a:r>
              <a:rPr lang="ja-JP" altLang="en-US" sz="1000" b="1">
                <a:solidFill>
                  <a:schemeClr val="bg1"/>
                </a:solidFill>
                <a:latin typeface="Meiryo UI" panose="020B0604030504040204" pitchFamily="50" charset="-128"/>
                <a:ea typeface="Meiryo UI" panose="020B0604030504040204" pitchFamily="50" charset="-128"/>
              </a:rPr>
              <a:t>における」を追加しました。</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96798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7287807" cy="349961"/>
          </a:xfrm>
        </p:spPr>
        <p:txBody>
          <a:bodyPr/>
          <a:lstStyle/>
          <a:p>
            <a:r>
              <a:rPr lang="ja-JP" altLang="en-US" b="1"/>
              <a:t>データマネジメント</a:t>
            </a:r>
            <a:r>
              <a:rPr kumimoji="1" lang="ja-JP" altLang="en-US" b="1"/>
              <a:t>強化</a:t>
            </a:r>
            <a:r>
              <a:rPr kumimoji="1" lang="ja-JP" altLang="en-US" b="1" dirty="0"/>
              <a:t>のアプローチ</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3670"/>
            <a:ext cx="9447476"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altLang="ja-JP" b="1" dirty="0">
                <a:latin typeface="Meiryo UI" panose="020B0604030504040204" pitchFamily="34" charset="-128"/>
                <a:ea typeface="Meiryo UI" panose="020B0604030504040204" pitchFamily="34" charset="-128"/>
                <a:cs typeface="+mn-cs"/>
              </a:rPr>
              <a:t>21</a:t>
            </a:r>
            <a:r>
              <a:rPr lang="ja-JP" altLang="en-US" b="1" dirty="0">
                <a:latin typeface="Meiryo UI" panose="020B0604030504040204" pitchFamily="34" charset="-128"/>
                <a:ea typeface="Meiryo UI" panose="020B0604030504040204" pitchFamily="34" charset="-128"/>
                <a:cs typeface="+mn-cs"/>
              </a:rPr>
              <a:t>年</a:t>
            </a:r>
            <a:r>
              <a:rPr lang="en-US" altLang="ja-JP" b="1" dirty="0">
                <a:latin typeface="Meiryo UI" panose="020B0604030504040204" pitchFamily="34" charset="-128"/>
                <a:ea typeface="Meiryo UI" panose="020B0604030504040204" pitchFamily="34" charset="-128"/>
                <a:cs typeface="+mn-cs"/>
              </a:rPr>
              <a:t>9</a:t>
            </a:r>
            <a:r>
              <a:rPr lang="ja-JP" altLang="en-US" b="1" dirty="0">
                <a:latin typeface="Meiryo UI" panose="020B0604030504040204" pitchFamily="34" charset="-128"/>
                <a:ea typeface="Meiryo UI" panose="020B0604030504040204" pitchFamily="34" charset="-128"/>
                <a:cs typeface="+mn-cs"/>
              </a:rPr>
              <a:t>月までに統合</a:t>
            </a:r>
            <a:r>
              <a:rPr lang="ja-JP" altLang="en-US" b="1">
                <a:latin typeface="Meiryo UI" panose="020B0604030504040204" pitchFamily="34" charset="-128"/>
                <a:ea typeface="Meiryo UI" panose="020B0604030504040204" pitchFamily="34" charset="-128"/>
                <a:cs typeface="+mn-cs"/>
              </a:rPr>
              <a:t>に向けた</a:t>
            </a:r>
            <a:r>
              <a:rPr lang="ja-JP" altLang="en-US" b="1">
                <a:cs typeface="+mn-cs"/>
              </a:rPr>
              <a:t>データマネジメント</a:t>
            </a:r>
            <a:r>
              <a:rPr lang="ja-JP" altLang="en-US" b="1">
                <a:latin typeface="Meiryo UI" panose="020B0604030504040204" pitchFamily="34" charset="-128"/>
                <a:ea typeface="Meiryo UI" panose="020B0604030504040204" pitchFamily="34" charset="-128"/>
                <a:cs typeface="+mn-cs"/>
              </a:rPr>
              <a:t>強化</a:t>
            </a:r>
            <a:r>
              <a:rPr lang="ja-JP" altLang="en-US" b="1" dirty="0">
                <a:latin typeface="Meiryo UI" panose="020B0604030504040204" pitchFamily="34" charset="-128"/>
                <a:ea typeface="Meiryo UI" panose="020B0604030504040204" pitchFamily="34" charset="-128"/>
                <a:cs typeface="+mn-cs"/>
              </a:rPr>
              <a:t>全体のロードマップ</a:t>
            </a:r>
            <a:r>
              <a:rPr lang="ja-JP" altLang="en-US" b="1">
                <a:latin typeface="Meiryo UI" panose="020B0604030504040204" pitchFamily="34" charset="-128"/>
                <a:ea typeface="Meiryo UI" panose="020B0604030504040204" pitchFamily="34" charset="-128"/>
                <a:cs typeface="+mn-cs"/>
              </a:rPr>
              <a:t>や、先行</a:t>
            </a:r>
            <a:r>
              <a:rPr lang="ja-JP" altLang="en-US" b="1" dirty="0">
                <a:latin typeface="Meiryo UI" panose="020B0604030504040204" pitchFamily="34" charset="-128"/>
                <a:ea typeface="Meiryo UI" panose="020B0604030504040204" pitchFamily="34" charset="-128"/>
                <a:cs typeface="+mn-cs"/>
              </a:rPr>
              <a:t>する調達または品証をモデルケースとした</a:t>
            </a:r>
            <a:r>
              <a:rPr lang="en-US" altLang="ja-JP" b="1" dirty="0">
                <a:latin typeface="Meiryo UI" panose="020B0604030504040204" pitchFamily="34" charset="-128"/>
                <a:ea typeface="Meiryo UI" panose="020B0604030504040204" pitchFamily="34" charset="-128"/>
                <a:cs typeface="+mn-cs"/>
              </a:rPr>
              <a:t>To</a:t>
            </a:r>
            <a:r>
              <a:rPr lang="ja-JP" altLang="en-US" b="1" dirty="0">
                <a:latin typeface="Meiryo UI" panose="020B0604030504040204" pitchFamily="34" charset="-128"/>
                <a:ea typeface="Meiryo UI" panose="020B0604030504040204" pitchFamily="34" charset="-128"/>
                <a:cs typeface="+mn-cs"/>
              </a:rPr>
              <a:t> </a:t>
            </a:r>
            <a:r>
              <a:rPr lang="en-US" altLang="ja-JP" b="1" dirty="0">
                <a:latin typeface="Meiryo UI" panose="020B0604030504040204" pitchFamily="34" charset="-128"/>
                <a:ea typeface="Meiryo UI" panose="020B0604030504040204" pitchFamily="34" charset="-128"/>
                <a:cs typeface="+mn-cs"/>
              </a:rPr>
              <a:t>Be</a:t>
            </a:r>
            <a:r>
              <a:rPr lang="ja-JP" altLang="en-US" b="1" dirty="0">
                <a:latin typeface="Meiryo UI" panose="020B0604030504040204" pitchFamily="34" charset="-128"/>
                <a:ea typeface="Meiryo UI" panose="020B0604030504040204" pitchFamily="34" charset="-128"/>
                <a:cs typeface="+mn-cs"/>
              </a:rPr>
              <a:t>モデルの素案を策定する。</a:t>
            </a:r>
            <a:endParaRPr lang="en-US" b="1" dirty="0">
              <a:latin typeface="Meiryo UI" panose="020B0604030504040204" pitchFamily="34" charset="-128"/>
              <a:ea typeface="Meiryo UI" panose="020B0604030504040204" pitchFamily="34" charset="-128"/>
              <a:cs typeface="+mn-cs"/>
            </a:endParaRPr>
          </a:p>
        </p:txBody>
      </p:sp>
      <p:sp>
        <p:nvSpPr>
          <p:cNvPr id="4" name="AutoShape 244">
            <a:extLst>
              <a:ext uri="{FF2B5EF4-FFF2-40B4-BE49-F238E27FC236}">
                <a16:creationId xmlns:a16="http://schemas.microsoft.com/office/drawing/2014/main" id="{6A879A04-A47C-42DB-95ED-74DCAB3044D1}"/>
              </a:ext>
            </a:extLst>
          </p:cNvPr>
          <p:cNvSpPr>
            <a:spLocks noChangeArrowheads="1"/>
          </p:cNvSpPr>
          <p:nvPr/>
        </p:nvSpPr>
        <p:spPr bwMode="auto">
          <a:xfrm>
            <a:off x="601747" y="1316030"/>
            <a:ext cx="3872092" cy="298466"/>
          </a:xfrm>
          <a:prstGeom prst="homePlate">
            <a:avLst>
              <a:gd name="adj" fmla="val 35202"/>
            </a:avLst>
          </a:prstGeom>
          <a:solidFill>
            <a:srgbClr val="DDEEFF"/>
          </a:solidFill>
          <a:ln w="9525" algn="ctr">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fontAlgn="base">
              <a:spcBef>
                <a:spcPct val="0"/>
              </a:spcBef>
              <a:spcAft>
                <a:spcPct val="0"/>
              </a:spcAft>
            </a:pPr>
            <a:r>
              <a:rPr lang="en-US" altLang="ja-JP" sz="1000" u="none" dirty="0">
                <a:solidFill>
                  <a:srgbClr val="000000"/>
                </a:solidFill>
                <a:latin typeface="Meiryo UI" panose="020B0604030504040204" pitchFamily="50" charset="-128"/>
                <a:ea typeface="Meiryo UI" panose="020B0604030504040204" pitchFamily="50" charset="-128"/>
              </a:rPr>
              <a:t>1.</a:t>
            </a:r>
            <a:r>
              <a:rPr lang="ja-JP" altLang="en-US" sz="1000" u="none" dirty="0">
                <a:solidFill>
                  <a:srgbClr val="000000"/>
                </a:solidFill>
                <a:latin typeface="Meiryo UI" panose="020B0604030504040204" pitchFamily="50" charset="-128"/>
                <a:ea typeface="Meiryo UI" panose="020B0604030504040204" pitchFamily="50" charset="-128"/>
              </a:rPr>
              <a:t>仮説立案</a:t>
            </a:r>
          </a:p>
        </p:txBody>
      </p:sp>
      <p:sp>
        <p:nvSpPr>
          <p:cNvPr id="5" name="AutoShape 243">
            <a:extLst>
              <a:ext uri="{FF2B5EF4-FFF2-40B4-BE49-F238E27FC236}">
                <a16:creationId xmlns:a16="http://schemas.microsoft.com/office/drawing/2014/main" id="{D431BF82-CB38-4579-BFA9-206EF7F86A6F}"/>
              </a:ext>
            </a:extLst>
          </p:cNvPr>
          <p:cNvSpPr>
            <a:spLocks noChangeArrowheads="1"/>
          </p:cNvSpPr>
          <p:nvPr/>
        </p:nvSpPr>
        <p:spPr bwMode="auto">
          <a:xfrm>
            <a:off x="2299783" y="1840121"/>
            <a:ext cx="7018842" cy="298466"/>
          </a:xfrm>
          <a:prstGeom prst="homePlate">
            <a:avLst>
              <a:gd name="adj" fmla="val 23029"/>
            </a:avLst>
          </a:prstGeom>
          <a:solidFill>
            <a:srgbClr val="DDEEFF"/>
          </a:solidFill>
          <a:ln w="9525" algn="ctr">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fontAlgn="base">
              <a:spcBef>
                <a:spcPct val="0"/>
              </a:spcBef>
              <a:spcAft>
                <a:spcPct val="0"/>
              </a:spcAft>
            </a:pPr>
            <a:r>
              <a:rPr lang="ja-JP" altLang="en-US" sz="1000" u="none" dirty="0">
                <a:solidFill>
                  <a:srgbClr val="000000"/>
                </a:solidFill>
                <a:latin typeface="Meiryo UI" panose="020B0604030504040204" pitchFamily="50" charset="-128"/>
                <a:ea typeface="Meiryo UI" panose="020B0604030504040204" pitchFamily="50" charset="-128"/>
              </a:rPr>
              <a:t> </a:t>
            </a:r>
            <a:r>
              <a:rPr lang="en-US" altLang="ja-JP" sz="1000" u="none" dirty="0">
                <a:solidFill>
                  <a:srgbClr val="000000"/>
                </a:solidFill>
                <a:latin typeface="Meiryo UI" panose="020B0604030504040204" pitchFamily="50" charset="-128"/>
                <a:ea typeface="Meiryo UI" panose="020B0604030504040204" pitchFamily="50" charset="-128"/>
              </a:rPr>
              <a:t>2.DM</a:t>
            </a:r>
            <a:r>
              <a:rPr lang="ja-JP" altLang="en-US" sz="1000" u="none" dirty="0">
                <a:solidFill>
                  <a:srgbClr val="000000"/>
                </a:solidFill>
                <a:latin typeface="Meiryo UI" panose="020B0604030504040204" pitchFamily="50" charset="-128"/>
                <a:ea typeface="Meiryo UI" panose="020B0604030504040204" pitchFamily="50" charset="-128"/>
              </a:rPr>
              <a:t>方針策定</a:t>
            </a:r>
          </a:p>
        </p:txBody>
      </p:sp>
      <p:sp>
        <p:nvSpPr>
          <p:cNvPr id="7" name="AutoShape 242">
            <a:extLst>
              <a:ext uri="{FF2B5EF4-FFF2-40B4-BE49-F238E27FC236}">
                <a16:creationId xmlns:a16="http://schemas.microsoft.com/office/drawing/2014/main" id="{D00C6ED4-3E35-4F6F-923B-C04468794670}"/>
              </a:ext>
            </a:extLst>
          </p:cNvPr>
          <p:cNvSpPr>
            <a:spLocks noChangeArrowheads="1"/>
          </p:cNvSpPr>
          <p:nvPr/>
        </p:nvSpPr>
        <p:spPr bwMode="auto">
          <a:xfrm>
            <a:off x="4681971" y="4269688"/>
            <a:ext cx="4636654" cy="300800"/>
          </a:xfrm>
          <a:prstGeom prst="homePlate">
            <a:avLst>
              <a:gd name="adj" fmla="val 25509"/>
            </a:avLst>
          </a:prstGeom>
          <a:solidFill>
            <a:srgbClr val="DDEEFF"/>
          </a:solidFill>
          <a:ln w="9525" algn="ctr">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fontAlgn="base">
              <a:spcBef>
                <a:spcPct val="0"/>
              </a:spcBef>
              <a:spcAft>
                <a:spcPct val="0"/>
              </a:spcAft>
            </a:pPr>
            <a:r>
              <a:rPr lang="ja-JP" altLang="en-US" sz="1000" u="none" dirty="0">
                <a:solidFill>
                  <a:srgbClr val="000000"/>
                </a:solidFill>
                <a:latin typeface="Meiryo UI" panose="020B0604030504040204" pitchFamily="50" charset="-128"/>
                <a:ea typeface="Meiryo UI" panose="020B0604030504040204" pitchFamily="50" charset="-128"/>
              </a:rPr>
              <a:t> </a:t>
            </a:r>
            <a:r>
              <a:rPr lang="en-US" altLang="ja-JP" sz="1000" u="none" dirty="0">
                <a:solidFill>
                  <a:srgbClr val="000000"/>
                </a:solidFill>
                <a:latin typeface="Meiryo UI" panose="020B0604030504040204" pitchFamily="50" charset="-128"/>
                <a:ea typeface="Meiryo UI" panose="020B0604030504040204" pitchFamily="50" charset="-128"/>
              </a:rPr>
              <a:t>3.</a:t>
            </a:r>
            <a:r>
              <a:rPr lang="ja-JP" altLang="en-US" sz="1000" u="none" dirty="0">
                <a:solidFill>
                  <a:srgbClr val="000000"/>
                </a:solidFill>
                <a:latin typeface="Meiryo UI" panose="020B0604030504040204" pitchFamily="50" charset="-128"/>
                <a:ea typeface="Meiryo UI" panose="020B0604030504040204" pitchFamily="50" charset="-128"/>
              </a:rPr>
              <a:t>モデルケースでの検証</a:t>
            </a:r>
          </a:p>
        </p:txBody>
      </p:sp>
      <p:sp>
        <p:nvSpPr>
          <p:cNvPr id="8" name="Rectangle 14">
            <a:extLst>
              <a:ext uri="{FF2B5EF4-FFF2-40B4-BE49-F238E27FC236}">
                <a16:creationId xmlns:a16="http://schemas.microsoft.com/office/drawing/2014/main" id="{6C1738EA-BE7D-450E-B703-5ADCD8CF1FA7}"/>
              </a:ext>
            </a:extLst>
          </p:cNvPr>
          <p:cNvSpPr>
            <a:spLocks noChangeArrowheads="1"/>
          </p:cNvSpPr>
          <p:nvPr/>
        </p:nvSpPr>
        <p:spPr bwMode="auto">
          <a:xfrm>
            <a:off x="582637" y="1840121"/>
            <a:ext cx="1440000" cy="241980"/>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lvl1pPr marL="95250" indent="-95250">
              <a:lnSpc>
                <a:spcPct val="120000"/>
              </a:lnSpc>
              <a:spcBef>
                <a:spcPct val="20000"/>
              </a:spcBef>
              <a:spcAft>
                <a:spcPct val="20000"/>
              </a:spcAft>
              <a:buClr>
                <a:schemeClr val="accent2"/>
              </a:buClr>
              <a:buFont typeface="Wingdings" panose="05000000000000000000" pitchFamily="2" charset="2"/>
              <a:buChar char="l"/>
              <a:defRPr sz="1400">
                <a:solidFill>
                  <a:schemeClr val="tx1"/>
                </a:solidFill>
                <a:latin typeface="Times New Roman" panose="02020603050405020304" pitchFamily="18" charset="0"/>
                <a:ea typeface="ＭＳ Ｐゴシック" panose="020B0600070205080204" pitchFamily="50" charset="-128"/>
              </a:defRPr>
            </a:lvl1pPr>
            <a:lvl2pPr marL="573088" indent="-284163">
              <a:lnSpc>
                <a:spcPct val="120000"/>
              </a:lnSpc>
              <a:spcBef>
                <a:spcPct val="20000"/>
              </a:spcBef>
              <a:spcAft>
                <a:spcPct val="20000"/>
              </a:spcAft>
              <a:buClr>
                <a:srgbClr val="B2B2B2"/>
              </a:buClr>
              <a:buFont typeface="Wingdings" panose="05000000000000000000" pitchFamily="2" charset="2"/>
              <a:buChar char="u"/>
              <a:defRPr sz="1200">
                <a:solidFill>
                  <a:schemeClr val="tx1"/>
                </a:solidFill>
                <a:latin typeface="Times New Roman" panose="02020603050405020304" pitchFamily="18" charset="0"/>
                <a:ea typeface="ＭＳ Ｐゴシック" panose="020B0600070205080204" pitchFamily="50" charset="-128"/>
              </a:defRPr>
            </a:lvl2pPr>
            <a:lvl3pPr marL="857250" indent="-282575">
              <a:lnSpc>
                <a:spcPct val="120000"/>
              </a:lnSpc>
              <a:spcBef>
                <a:spcPct val="20000"/>
              </a:spcBef>
              <a:spcAft>
                <a:spcPct val="20000"/>
              </a:spcAft>
              <a:buFont typeface="Times New Roman" panose="02020603050405020304" pitchFamily="18" charset="0"/>
              <a:buChar char="○"/>
              <a:defRPr sz="1200">
                <a:solidFill>
                  <a:schemeClr val="tx1"/>
                </a:solidFill>
                <a:latin typeface="Times New Roman" panose="02020603050405020304" pitchFamily="18" charset="0"/>
                <a:ea typeface="ＭＳ Ｐゴシック" panose="020B0600070205080204" pitchFamily="50" charset="-128"/>
              </a:defRPr>
            </a:lvl3pPr>
            <a:lvl4pPr marL="1138238" indent="-27940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4pPr>
            <a:lvl5pPr marL="1425575" indent="-284163">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5pPr>
            <a:lvl6pPr marL="18827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6pPr>
            <a:lvl7pPr marL="23399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7pPr>
            <a:lvl8pPr marL="27971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8pPr>
            <a:lvl9pPr marL="32543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9pPr>
          </a:lstStyle>
          <a:p>
            <a:pPr marL="95250" marR="0" lvl="0" indent="-95250" defTabSz="914400" eaLnBrk="1" fontAlgn="base" latinLnBrk="0" hangingPunct="1">
              <a:lnSpc>
                <a:spcPct val="110000"/>
              </a:lnSpc>
              <a:spcBef>
                <a:spcPct val="15000"/>
              </a:spcBef>
              <a:spcAft>
                <a:spcPct val="15000"/>
              </a:spcAft>
              <a:buClrTx/>
              <a:buSzTx/>
              <a:buFontTx/>
              <a:buNone/>
              <a:tabLst/>
              <a:defRPr/>
            </a:pPr>
            <a:r>
              <a:rPr kumimoji="0" lang="en-US" altLang="ja-JP" sz="1000" kern="0" dirty="0">
                <a:solidFill>
                  <a:srgbClr val="FFFFFF"/>
                </a:solidFill>
                <a:latin typeface="Meiryo UI" panose="020B0604030504040204" pitchFamily="50" charset="-128"/>
                <a:ea typeface="Meiryo UI" panose="020B0604030504040204" pitchFamily="50" charset="-128"/>
              </a:rPr>
              <a:t>DM</a:t>
            </a:r>
            <a:r>
              <a:rPr kumimoji="0" lang="ja-JP" altLang="en-US" sz="1000" kern="0" dirty="0">
                <a:solidFill>
                  <a:srgbClr val="FFFFFF"/>
                </a:solidFill>
                <a:latin typeface="Meiryo UI" panose="020B0604030504040204" pitchFamily="50" charset="-128"/>
                <a:ea typeface="Meiryo UI" panose="020B0604030504040204" pitchFamily="50" charset="-128"/>
              </a:rPr>
              <a:t>強化目的の仮説</a:t>
            </a:r>
            <a:endParaRPr kumimoji="0" lang="ja-JP" altLang="en-US"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grpSp>
        <p:nvGrpSpPr>
          <p:cNvPr id="17" name="グループ化 16">
            <a:extLst>
              <a:ext uri="{FF2B5EF4-FFF2-40B4-BE49-F238E27FC236}">
                <a16:creationId xmlns:a16="http://schemas.microsoft.com/office/drawing/2014/main" id="{1FA2CF08-17A1-4945-983B-9373A8BA4EB0}"/>
              </a:ext>
            </a:extLst>
          </p:cNvPr>
          <p:cNvGrpSpPr/>
          <p:nvPr/>
        </p:nvGrpSpPr>
        <p:grpSpPr>
          <a:xfrm>
            <a:off x="582637" y="3274858"/>
            <a:ext cx="1440000" cy="1006394"/>
            <a:chOff x="582637" y="3182249"/>
            <a:chExt cx="1440000" cy="1006394"/>
          </a:xfrm>
        </p:grpSpPr>
        <p:sp>
          <p:nvSpPr>
            <p:cNvPr id="9" name="Rectangle 15">
              <a:extLst>
                <a:ext uri="{FF2B5EF4-FFF2-40B4-BE49-F238E27FC236}">
                  <a16:creationId xmlns:a16="http://schemas.microsoft.com/office/drawing/2014/main" id="{375EEBEB-8610-4BFB-8629-5141398DCA6D}"/>
                </a:ext>
              </a:extLst>
            </p:cNvPr>
            <p:cNvSpPr>
              <a:spLocks noChangeArrowheads="1"/>
            </p:cNvSpPr>
            <p:nvPr/>
          </p:nvSpPr>
          <p:spPr bwMode="auto">
            <a:xfrm>
              <a:off x="582637" y="3182249"/>
              <a:ext cx="1440000" cy="225117"/>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p>
              <a:pPr marL="95250" indent="-95250" fontAlgn="base">
                <a:lnSpc>
                  <a:spcPct val="110000"/>
                </a:lnSpc>
                <a:spcBef>
                  <a:spcPct val="15000"/>
                </a:spcBef>
                <a:spcAft>
                  <a:spcPct val="15000"/>
                </a:spcAft>
              </a:pPr>
              <a:r>
                <a:rPr kumimoji="0" lang="en-US" altLang="ja-JP" sz="1000" kern="0" dirty="0">
                  <a:solidFill>
                    <a:srgbClr val="FFFFFF"/>
                  </a:solidFill>
                  <a:latin typeface="Meiryo UI" panose="020B0604030504040204" pitchFamily="50" charset="-128"/>
                  <a:ea typeface="Meiryo UI" panose="020B0604030504040204" pitchFamily="50" charset="-128"/>
                </a:rPr>
                <a:t>DM</a:t>
              </a:r>
              <a:r>
                <a:rPr kumimoji="0" lang="ja-JP" altLang="en-US" sz="1000" kern="0" dirty="0">
                  <a:solidFill>
                    <a:srgbClr val="FFFFFF"/>
                  </a:solidFill>
                  <a:latin typeface="Meiryo UI" panose="020B0604030504040204" pitchFamily="50" charset="-128"/>
                  <a:ea typeface="Meiryo UI" panose="020B0604030504040204" pitchFamily="50" charset="-128"/>
                </a:rPr>
                <a:t>強化実施スコープ仮説</a:t>
              </a:r>
              <a:endParaRPr kumimoji="0" lang="zh-TW" altLang="en-US" sz="1000" kern="0" dirty="0">
                <a:solidFill>
                  <a:srgbClr val="FFFFFF"/>
                </a:solidFill>
                <a:latin typeface="Meiryo UI" panose="020B0604030504040204" pitchFamily="50" charset="-128"/>
                <a:ea typeface="Meiryo UI" panose="020B0604030504040204" pitchFamily="50" charset="-128"/>
              </a:endParaRPr>
            </a:p>
          </p:txBody>
        </p:sp>
        <p:pic>
          <p:nvPicPr>
            <p:cNvPr id="12" name="図 11">
              <a:extLst>
                <a:ext uri="{FF2B5EF4-FFF2-40B4-BE49-F238E27FC236}">
                  <a16:creationId xmlns:a16="http://schemas.microsoft.com/office/drawing/2014/main" id="{6FF80F3E-7D3A-4468-8FA6-30A99016692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334" y="3464068"/>
              <a:ext cx="1046607" cy="724575"/>
            </a:xfrm>
            <a:prstGeom prst="rect">
              <a:avLst/>
            </a:prstGeom>
          </p:spPr>
        </p:pic>
      </p:grpSp>
      <p:pic>
        <p:nvPicPr>
          <p:cNvPr id="15" name="図 14">
            <a:extLst>
              <a:ext uri="{FF2B5EF4-FFF2-40B4-BE49-F238E27FC236}">
                <a16:creationId xmlns:a16="http://schemas.microsoft.com/office/drawing/2014/main" id="{9D5B550F-86A8-409A-8A28-2A44D214FBE9}"/>
              </a:ext>
            </a:extLst>
          </p:cNvPr>
          <p:cNvPicPr>
            <a:picLocks noChangeAspect="1"/>
          </p:cNvPicPr>
          <p:nvPr/>
        </p:nvPicPr>
        <p:blipFill>
          <a:blip r:embed="rId3"/>
          <a:stretch>
            <a:fillRect/>
          </a:stretch>
        </p:blipFill>
        <p:spPr>
          <a:xfrm>
            <a:off x="778336" y="2118079"/>
            <a:ext cx="1048603" cy="725487"/>
          </a:xfrm>
          <a:prstGeom prst="rect">
            <a:avLst/>
          </a:prstGeom>
        </p:spPr>
      </p:pic>
      <p:sp>
        <p:nvSpPr>
          <p:cNvPr id="16" name="Rectangle 15">
            <a:extLst>
              <a:ext uri="{FF2B5EF4-FFF2-40B4-BE49-F238E27FC236}">
                <a16:creationId xmlns:a16="http://schemas.microsoft.com/office/drawing/2014/main" id="{DD460AB5-81BC-420F-9870-95EDCCD11556}"/>
              </a:ext>
            </a:extLst>
          </p:cNvPr>
          <p:cNvSpPr>
            <a:spLocks noChangeArrowheads="1"/>
          </p:cNvSpPr>
          <p:nvPr/>
        </p:nvSpPr>
        <p:spPr bwMode="auto">
          <a:xfrm>
            <a:off x="582637" y="4712544"/>
            <a:ext cx="1440000" cy="225117"/>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p>
            <a:pPr marL="95250" indent="-95250" fontAlgn="base">
              <a:lnSpc>
                <a:spcPct val="110000"/>
              </a:lnSpc>
              <a:spcBef>
                <a:spcPct val="15000"/>
              </a:spcBef>
              <a:spcAft>
                <a:spcPct val="15000"/>
              </a:spcAft>
            </a:pPr>
            <a:r>
              <a:rPr kumimoji="0" lang="ja-JP" altLang="en-US" sz="1000" kern="0" dirty="0">
                <a:solidFill>
                  <a:srgbClr val="FFFFFF"/>
                </a:solidFill>
                <a:latin typeface="Meiryo UI" panose="020B0604030504040204" pitchFamily="50" charset="-128"/>
                <a:ea typeface="Meiryo UI" panose="020B0604030504040204" pitchFamily="50" charset="-128"/>
              </a:rPr>
              <a:t>ロードマップ（初期仮説）</a:t>
            </a:r>
            <a:endParaRPr kumimoji="0" lang="zh-TW" altLang="en-US" sz="1000" kern="0" dirty="0">
              <a:solidFill>
                <a:srgbClr val="FFFFFF"/>
              </a:solidFill>
              <a:latin typeface="Meiryo UI" panose="020B0604030504040204" pitchFamily="50" charset="-128"/>
              <a:ea typeface="Meiryo UI" panose="020B0604030504040204" pitchFamily="50" charset="-128"/>
            </a:endParaRPr>
          </a:p>
        </p:txBody>
      </p:sp>
      <p:sp>
        <p:nvSpPr>
          <p:cNvPr id="18" name="Rectangle 14">
            <a:extLst>
              <a:ext uri="{FF2B5EF4-FFF2-40B4-BE49-F238E27FC236}">
                <a16:creationId xmlns:a16="http://schemas.microsoft.com/office/drawing/2014/main" id="{C09F2148-B583-433D-A699-F77782626697}"/>
              </a:ext>
            </a:extLst>
          </p:cNvPr>
          <p:cNvSpPr>
            <a:spLocks noChangeArrowheads="1"/>
          </p:cNvSpPr>
          <p:nvPr/>
        </p:nvSpPr>
        <p:spPr bwMode="auto">
          <a:xfrm>
            <a:off x="2299783" y="2177576"/>
            <a:ext cx="1440000" cy="241980"/>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lvl1pPr marL="95250" indent="-95250">
              <a:lnSpc>
                <a:spcPct val="120000"/>
              </a:lnSpc>
              <a:spcBef>
                <a:spcPct val="20000"/>
              </a:spcBef>
              <a:spcAft>
                <a:spcPct val="20000"/>
              </a:spcAft>
              <a:buClr>
                <a:schemeClr val="accent2"/>
              </a:buClr>
              <a:buFont typeface="Wingdings" panose="05000000000000000000" pitchFamily="2" charset="2"/>
              <a:buChar char="l"/>
              <a:defRPr sz="1400">
                <a:solidFill>
                  <a:schemeClr val="tx1"/>
                </a:solidFill>
                <a:latin typeface="Times New Roman" panose="02020603050405020304" pitchFamily="18" charset="0"/>
                <a:ea typeface="ＭＳ Ｐゴシック" panose="020B0600070205080204" pitchFamily="50" charset="-128"/>
              </a:defRPr>
            </a:lvl1pPr>
            <a:lvl2pPr marL="573088" indent="-284163">
              <a:lnSpc>
                <a:spcPct val="120000"/>
              </a:lnSpc>
              <a:spcBef>
                <a:spcPct val="20000"/>
              </a:spcBef>
              <a:spcAft>
                <a:spcPct val="20000"/>
              </a:spcAft>
              <a:buClr>
                <a:srgbClr val="B2B2B2"/>
              </a:buClr>
              <a:buFont typeface="Wingdings" panose="05000000000000000000" pitchFamily="2" charset="2"/>
              <a:buChar char="u"/>
              <a:defRPr sz="1200">
                <a:solidFill>
                  <a:schemeClr val="tx1"/>
                </a:solidFill>
                <a:latin typeface="Times New Roman" panose="02020603050405020304" pitchFamily="18" charset="0"/>
                <a:ea typeface="ＭＳ Ｐゴシック" panose="020B0600070205080204" pitchFamily="50" charset="-128"/>
              </a:defRPr>
            </a:lvl2pPr>
            <a:lvl3pPr marL="857250" indent="-282575">
              <a:lnSpc>
                <a:spcPct val="120000"/>
              </a:lnSpc>
              <a:spcBef>
                <a:spcPct val="20000"/>
              </a:spcBef>
              <a:spcAft>
                <a:spcPct val="20000"/>
              </a:spcAft>
              <a:buFont typeface="Times New Roman" panose="02020603050405020304" pitchFamily="18" charset="0"/>
              <a:buChar char="○"/>
              <a:defRPr sz="1200">
                <a:solidFill>
                  <a:schemeClr val="tx1"/>
                </a:solidFill>
                <a:latin typeface="Times New Roman" panose="02020603050405020304" pitchFamily="18" charset="0"/>
                <a:ea typeface="ＭＳ Ｐゴシック" panose="020B0600070205080204" pitchFamily="50" charset="-128"/>
              </a:defRPr>
            </a:lvl3pPr>
            <a:lvl4pPr marL="1138238" indent="-27940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4pPr>
            <a:lvl5pPr marL="1425575" indent="-284163">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5pPr>
            <a:lvl6pPr marL="18827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6pPr>
            <a:lvl7pPr marL="23399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7pPr>
            <a:lvl8pPr marL="27971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8pPr>
            <a:lvl9pPr marL="32543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9pPr>
          </a:lstStyle>
          <a:p>
            <a:pPr lvl="0" eaLnBrk="1" hangingPunct="1">
              <a:lnSpc>
                <a:spcPct val="110000"/>
              </a:lnSpc>
              <a:spcBef>
                <a:spcPct val="15000"/>
              </a:spcBef>
              <a:spcAft>
                <a:spcPct val="15000"/>
              </a:spcAft>
              <a:buClrTx/>
              <a:buNone/>
              <a:defRPr/>
            </a:pPr>
            <a:r>
              <a:rPr kumimoji="0" lang="en-US" altLang="ja-JP" sz="1000" kern="0" dirty="0">
                <a:solidFill>
                  <a:srgbClr val="FFFFFF"/>
                </a:solidFill>
                <a:latin typeface="Meiryo UI" panose="020B0604030504040204" pitchFamily="50" charset="-128"/>
                <a:ea typeface="Meiryo UI" panose="020B0604030504040204" pitchFamily="50" charset="-128"/>
              </a:rPr>
              <a:t>DM</a:t>
            </a:r>
            <a:r>
              <a:rPr kumimoji="0" lang="ja-JP" altLang="en-US" sz="1000" kern="0" dirty="0">
                <a:solidFill>
                  <a:srgbClr val="FFFFFF"/>
                </a:solidFill>
                <a:latin typeface="Meiryo UI" panose="020B0604030504040204" pitchFamily="50" charset="-128"/>
                <a:ea typeface="Meiryo UI" panose="020B0604030504040204" pitchFamily="50" charset="-128"/>
              </a:rPr>
              <a:t>方針策定</a:t>
            </a:r>
            <a:endParaRPr kumimoji="0" lang="ja-JP" altLang="en-US"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grpSp>
        <p:nvGrpSpPr>
          <p:cNvPr id="56" name="グループ化 55">
            <a:extLst>
              <a:ext uri="{FF2B5EF4-FFF2-40B4-BE49-F238E27FC236}">
                <a16:creationId xmlns:a16="http://schemas.microsoft.com/office/drawing/2014/main" id="{4D4C79D7-9C22-49F2-966B-7EF78194F496}"/>
              </a:ext>
            </a:extLst>
          </p:cNvPr>
          <p:cNvGrpSpPr/>
          <p:nvPr/>
        </p:nvGrpSpPr>
        <p:grpSpPr>
          <a:xfrm>
            <a:off x="2299783" y="2434804"/>
            <a:ext cx="2151865" cy="478345"/>
            <a:chOff x="2299783" y="3037019"/>
            <a:chExt cx="2151865" cy="478345"/>
          </a:xfrm>
        </p:grpSpPr>
        <p:sp>
          <p:nvSpPr>
            <p:cNvPr id="19" name="Rectangle 70">
              <a:extLst>
                <a:ext uri="{FF2B5EF4-FFF2-40B4-BE49-F238E27FC236}">
                  <a16:creationId xmlns:a16="http://schemas.microsoft.com/office/drawing/2014/main" id="{F80E5F69-A78F-4A3C-8119-69BF24B5D1C7}"/>
                </a:ext>
              </a:extLst>
            </p:cNvPr>
            <p:cNvSpPr>
              <a:spLocks noChangeArrowheads="1"/>
            </p:cNvSpPr>
            <p:nvPr/>
          </p:nvSpPr>
          <p:spPr bwMode="auto">
            <a:xfrm>
              <a:off x="2299783"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1.DM</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の将来像定義</a:t>
              </a:r>
            </a:p>
          </p:txBody>
        </p:sp>
        <p:sp>
          <p:nvSpPr>
            <p:cNvPr id="20" name="Rectangle 70">
              <a:extLst>
                <a:ext uri="{FF2B5EF4-FFF2-40B4-BE49-F238E27FC236}">
                  <a16:creationId xmlns:a16="http://schemas.microsoft.com/office/drawing/2014/main" id="{050CA64C-D302-4D99-A1B9-221294297A0C}"/>
                </a:ext>
              </a:extLst>
            </p:cNvPr>
            <p:cNvSpPr>
              <a:spLocks noChangeArrowheads="1"/>
            </p:cNvSpPr>
            <p:nvPr/>
          </p:nvSpPr>
          <p:spPr bwMode="auto">
            <a:xfrm>
              <a:off x="2299783"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900" u="none" kern="0" dirty="0">
                  <a:solidFill>
                    <a:srgbClr val="000000"/>
                  </a:solidFill>
                  <a:latin typeface="Meiryo UI" panose="020B0604030504040204" pitchFamily="50" charset="-128"/>
                  <a:ea typeface="Meiryo UI" panose="020B0604030504040204" pitchFamily="50" charset="-128"/>
                </a:rPr>
                <a:t>DMBOK</a:t>
              </a:r>
              <a:r>
                <a:rPr lang="ja-JP" altLang="en-US" sz="900" u="none" kern="0" dirty="0">
                  <a:solidFill>
                    <a:srgbClr val="000000"/>
                  </a:solidFill>
                  <a:latin typeface="Meiryo UI" panose="020B0604030504040204" pitchFamily="50" charset="-128"/>
                  <a:ea typeface="Meiryo UI" panose="020B0604030504040204" pitchFamily="50" charset="-128"/>
                </a:rPr>
                <a:t>等の産業標準を用いりながら、</a:t>
              </a:r>
              <a:br>
                <a:rPr lang="en-US" altLang="ja-JP" sz="900" u="none" kern="0" dirty="0">
                  <a:solidFill>
                    <a:srgbClr val="000000"/>
                  </a:solidFill>
                  <a:latin typeface="Meiryo UI" panose="020B0604030504040204" pitchFamily="50" charset="-128"/>
                  <a:ea typeface="Meiryo UI" panose="020B0604030504040204" pitchFamily="50" charset="-128"/>
                </a:rPr>
              </a:br>
              <a:r>
                <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目指すべき</a:t>
              </a:r>
              <a:r>
                <a:rPr kumimoji="1" lang="en-US" altLang="ja-JP"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DM</a:t>
              </a:r>
              <a:r>
                <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の将来像を定義</a:t>
              </a:r>
            </a:p>
          </p:txBody>
        </p:sp>
      </p:grpSp>
      <p:cxnSp>
        <p:nvCxnSpPr>
          <p:cNvPr id="22" name="直線矢印コネクタ 280">
            <a:extLst>
              <a:ext uri="{FF2B5EF4-FFF2-40B4-BE49-F238E27FC236}">
                <a16:creationId xmlns:a16="http://schemas.microsoft.com/office/drawing/2014/main" id="{0D0F7FBF-B04B-4384-A4C4-BDF3427E7ADE}"/>
              </a:ext>
            </a:extLst>
          </p:cNvPr>
          <p:cNvCxnSpPr>
            <a:cxnSpLocks/>
            <a:stCxn id="8" idx="3"/>
            <a:endCxn id="18" idx="1"/>
          </p:cNvCxnSpPr>
          <p:nvPr/>
        </p:nvCxnSpPr>
        <p:spPr>
          <a:xfrm>
            <a:off x="2022637" y="1961111"/>
            <a:ext cx="277146" cy="337455"/>
          </a:xfrm>
          <a:prstGeom prst="bentConnector3">
            <a:avLst>
              <a:gd name="adj1" fmla="val 50000"/>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28" name="グループ化 27">
            <a:extLst>
              <a:ext uri="{FF2B5EF4-FFF2-40B4-BE49-F238E27FC236}">
                <a16:creationId xmlns:a16="http://schemas.microsoft.com/office/drawing/2014/main" id="{7A43F8BA-F00B-4183-97E1-8C14DE27EF64}"/>
              </a:ext>
            </a:extLst>
          </p:cNvPr>
          <p:cNvGrpSpPr/>
          <p:nvPr/>
        </p:nvGrpSpPr>
        <p:grpSpPr>
          <a:xfrm>
            <a:off x="5648359" y="3045467"/>
            <a:ext cx="876300" cy="749300"/>
            <a:chOff x="1988432" y="7114130"/>
            <a:chExt cx="876300" cy="749300"/>
          </a:xfrm>
        </p:grpSpPr>
        <p:sp>
          <p:nvSpPr>
            <p:cNvPr id="29" name="正方形/長方形 28">
              <a:extLst>
                <a:ext uri="{FF2B5EF4-FFF2-40B4-BE49-F238E27FC236}">
                  <a16:creationId xmlns:a16="http://schemas.microsoft.com/office/drawing/2014/main" id="{E27CB2A7-E98C-4F53-902D-7E5B33F9358A}"/>
                </a:ext>
              </a:extLst>
            </p:cNvPr>
            <p:cNvSpPr/>
            <p:nvPr/>
          </p:nvSpPr>
          <p:spPr>
            <a:xfrm>
              <a:off x="1988432" y="7114130"/>
              <a:ext cx="876300" cy="7493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grpSp>
          <p:nvGrpSpPr>
            <p:cNvPr id="30" name="グループ化 29">
              <a:extLst>
                <a:ext uri="{FF2B5EF4-FFF2-40B4-BE49-F238E27FC236}">
                  <a16:creationId xmlns:a16="http://schemas.microsoft.com/office/drawing/2014/main" id="{EEA6B8A7-0FBF-4C52-9A45-C5BE5D952599}"/>
                </a:ext>
              </a:extLst>
            </p:cNvPr>
            <p:cNvGrpSpPr/>
            <p:nvPr/>
          </p:nvGrpSpPr>
          <p:grpSpPr>
            <a:xfrm>
              <a:off x="2074559" y="7179158"/>
              <a:ext cx="704046" cy="619244"/>
              <a:chOff x="1876425" y="5055098"/>
              <a:chExt cx="704046" cy="619244"/>
            </a:xfrm>
          </p:grpSpPr>
          <p:sp>
            <p:nvSpPr>
              <p:cNvPr id="31" name="正方形/長方形 30">
                <a:extLst>
                  <a:ext uri="{FF2B5EF4-FFF2-40B4-BE49-F238E27FC236}">
                    <a16:creationId xmlns:a16="http://schemas.microsoft.com/office/drawing/2014/main" id="{878B9311-F7B4-4978-9A6B-5F4B4129610B}"/>
                  </a:ext>
                </a:extLst>
              </p:cNvPr>
              <p:cNvSpPr/>
              <p:nvPr/>
            </p:nvSpPr>
            <p:spPr>
              <a:xfrm>
                <a:off x="2033250" y="5133014"/>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32" name="正方形/長方形 31">
                <a:extLst>
                  <a:ext uri="{FF2B5EF4-FFF2-40B4-BE49-F238E27FC236}">
                    <a16:creationId xmlns:a16="http://schemas.microsoft.com/office/drawing/2014/main" id="{D8FEB9A7-BCCE-478E-BDBB-C51D279ECF31}"/>
                  </a:ext>
                </a:extLst>
              </p:cNvPr>
              <p:cNvSpPr/>
              <p:nvPr/>
            </p:nvSpPr>
            <p:spPr>
              <a:xfrm>
                <a:off x="1876425" y="5367895"/>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ED887EF3-46AF-4C9E-9597-BA4A829A635A}"/>
                  </a:ext>
                </a:extLst>
              </p:cNvPr>
              <p:cNvSpPr/>
              <p:nvPr/>
            </p:nvSpPr>
            <p:spPr>
              <a:xfrm>
                <a:off x="1876425" y="5561149"/>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523A2837-6C4E-4975-9D86-FA9AD4A75C81}"/>
                  </a:ext>
                </a:extLst>
              </p:cNvPr>
              <p:cNvSpPr/>
              <p:nvPr/>
            </p:nvSpPr>
            <p:spPr>
              <a:xfrm>
                <a:off x="2181599" y="5367895"/>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85C7D7B2-A3B9-4528-ABA1-5B5C1E620F59}"/>
                  </a:ext>
                </a:extLst>
              </p:cNvPr>
              <p:cNvSpPr/>
              <p:nvPr/>
            </p:nvSpPr>
            <p:spPr>
              <a:xfrm>
                <a:off x="2373535" y="5055098"/>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B8107325-2141-4FCD-ABED-AB8CBA1AEFFA}"/>
                  </a:ext>
                </a:extLst>
              </p:cNvPr>
              <p:cNvSpPr/>
              <p:nvPr/>
            </p:nvSpPr>
            <p:spPr>
              <a:xfrm>
                <a:off x="2184441" y="5561149"/>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cxnSp>
            <p:nvCxnSpPr>
              <p:cNvPr id="37" name="直線コネクタ 28">
                <a:extLst>
                  <a:ext uri="{FF2B5EF4-FFF2-40B4-BE49-F238E27FC236}">
                    <a16:creationId xmlns:a16="http://schemas.microsoft.com/office/drawing/2014/main" id="{AE5A2182-2C90-497E-BCAF-D47550B92E71}"/>
                  </a:ext>
                </a:extLst>
              </p:cNvPr>
              <p:cNvCxnSpPr>
                <a:stCxn id="31" idx="2"/>
                <a:endCxn id="32" idx="0"/>
              </p:cNvCxnSpPr>
              <p:nvPr/>
            </p:nvCxnSpPr>
            <p:spPr>
              <a:xfrm rot="5400000">
                <a:off x="1997462" y="5228639"/>
                <a:ext cx="121688" cy="156825"/>
              </a:xfrm>
              <a:prstGeom prst="bentConnector3">
                <a:avLst>
                  <a:gd name="adj1" fmla="val 50000"/>
                </a:avLst>
              </a:prstGeom>
              <a:solidFill>
                <a:schemeClr val="bg1"/>
              </a:solidFill>
              <a:ln w="63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38" name="直線コネクタ 28">
                <a:extLst>
                  <a:ext uri="{FF2B5EF4-FFF2-40B4-BE49-F238E27FC236}">
                    <a16:creationId xmlns:a16="http://schemas.microsoft.com/office/drawing/2014/main" id="{CF7BBE0A-EEC7-4086-86BD-C556F493C638}"/>
                  </a:ext>
                </a:extLst>
              </p:cNvPr>
              <p:cNvCxnSpPr>
                <a:stCxn id="31" idx="2"/>
                <a:endCxn id="34" idx="0"/>
              </p:cNvCxnSpPr>
              <p:nvPr/>
            </p:nvCxnSpPr>
            <p:spPr>
              <a:xfrm rot="16200000" flipH="1">
                <a:off x="2150048" y="5232876"/>
                <a:ext cx="121688" cy="148349"/>
              </a:xfrm>
              <a:prstGeom prst="bentConnector3">
                <a:avLst>
                  <a:gd name="adj1" fmla="val 50000"/>
                </a:avLst>
              </a:prstGeom>
              <a:solidFill>
                <a:schemeClr val="bg1"/>
              </a:solidFill>
              <a:ln w="635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39" name="直線コネクタ 28">
                <a:extLst>
                  <a:ext uri="{FF2B5EF4-FFF2-40B4-BE49-F238E27FC236}">
                    <a16:creationId xmlns:a16="http://schemas.microsoft.com/office/drawing/2014/main" id="{CC0DE0ED-34AE-4A83-A238-9C577D62C67A}"/>
                  </a:ext>
                </a:extLst>
              </p:cNvPr>
              <p:cNvCxnSpPr>
                <a:stCxn id="35" idx="2"/>
                <a:endCxn id="34" idx="3"/>
              </p:cNvCxnSpPr>
              <p:nvPr/>
            </p:nvCxnSpPr>
            <p:spPr>
              <a:xfrm rot="5400000">
                <a:off x="2304669" y="5252157"/>
                <a:ext cx="256201" cy="88468"/>
              </a:xfrm>
              <a:prstGeom prst="bentConnector2">
                <a:avLst/>
              </a:prstGeom>
              <a:solidFill>
                <a:schemeClr val="bg1"/>
              </a:solidFill>
              <a:ln w="63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40" name="直線コネクタ 28">
                <a:extLst>
                  <a:ext uri="{FF2B5EF4-FFF2-40B4-BE49-F238E27FC236}">
                    <a16:creationId xmlns:a16="http://schemas.microsoft.com/office/drawing/2014/main" id="{73444505-0FE3-4B42-BE73-7DD210197EA0}"/>
                  </a:ext>
                </a:extLst>
              </p:cNvPr>
              <p:cNvCxnSpPr>
                <a:stCxn id="34" idx="2"/>
                <a:endCxn id="36" idx="0"/>
              </p:cNvCxnSpPr>
              <p:nvPr/>
            </p:nvCxnSpPr>
            <p:spPr>
              <a:xfrm>
                <a:off x="2285067" y="5481088"/>
                <a:ext cx="2842" cy="80061"/>
              </a:xfrm>
              <a:prstGeom prst="straightConnector1">
                <a:avLst/>
              </a:prstGeom>
              <a:solidFill>
                <a:schemeClr val="bg1"/>
              </a:solidFill>
              <a:ln w="635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41" name="直線コネクタ 28">
                <a:extLst>
                  <a:ext uri="{FF2B5EF4-FFF2-40B4-BE49-F238E27FC236}">
                    <a16:creationId xmlns:a16="http://schemas.microsoft.com/office/drawing/2014/main" id="{9939C29D-896D-4C05-8597-289BBCF6DE01}"/>
                  </a:ext>
                </a:extLst>
              </p:cNvPr>
              <p:cNvCxnSpPr>
                <a:stCxn id="32" idx="2"/>
                <a:endCxn id="33" idx="0"/>
              </p:cNvCxnSpPr>
              <p:nvPr/>
            </p:nvCxnSpPr>
            <p:spPr>
              <a:xfrm>
                <a:off x="1979893" y="5481088"/>
                <a:ext cx="0" cy="80061"/>
              </a:xfrm>
              <a:prstGeom prst="straightConnector1">
                <a:avLst/>
              </a:prstGeom>
              <a:solidFill>
                <a:schemeClr val="bg1"/>
              </a:solidFill>
              <a:ln w="635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cxnSp>
        </p:grpSp>
      </p:grpSp>
      <p:pic>
        <p:nvPicPr>
          <p:cNvPr id="43" name="図 42">
            <a:extLst>
              <a:ext uri="{FF2B5EF4-FFF2-40B4-BE49-F238E27FC236}">
                <a16:creationId xmlns:a16="http://schemas.microsoft.com/office/drawing/2014/main" id="{AFA55105-746B-4CB2-8F1D-C514627E5999}"/>
              </a:ext>
            </a:extLst>
          </p:cNvPr>
          <p:cNvPicPr>
            <a:picLocks noChangeAspect="1"/>
          </p:cNvPicPr>
          <p:nvPr/>
        </p:nvPicPr>
        <p:blipFill>
          <a:blip r:embed="rId4"/>
          <a:stretch>
            <a:fillRect/>
          </a:stretch>
        </p:blipFill>
        <p:spPr>
          <a:xfrm>
            <a:off x="2677823" y="3038219"/>
            <a:ext cx="1079086" cy="749873"/>
          </a:xfrm>
          <a:prstGeom prst="rect">
            <a:avLst/>
          </a:prstGeom>
        </p:spPr>
      </p:pic>
      <p:pic>
        <p:nvPicPr>
          <p:cNvPr id="44" name="図 43">
            <a:extLst>
              <a:ext uri="{FF2B5EF4-FFF2-40B4-BE49-F238E27FC236}">
                <a16:creationId xmlns:a16="http://schemas.microsoft.com/office/drawing/2014/main" id="{7D5596BB-336A-4251-964E-1CEF6E9097A6}"/>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4681971" y="3070368"/>
            <a:ext cx="721316" cy="720986"/>
          </a:xfrm>
          <a:prstGeom prst="rect">
            <a:avLst/>
          </a:prstGeom>
        </p:spPr>
      </p:pic>
      <p:sp>
        <p:nvSpPr>
          <p:cNvPr id="45" name="二等辺三角形 44">
            <a:extLst>
              <a:ext uri="{FF2B5EF4-FFF2-40B4-BE49-F238E27FC236}">
                <a16:creationId xmlns:a16="http://schemas.microsoft.com/office/drawing/2014/main" id="{98700E76-4F68-4F1B-9D3A-37365C9D611E}"/>
              </a:ext>
            </a:extLst>
          </p:cNvPr>
          <p:cNvSpPr/>
          <p:nvPr/>
        </p:nvSpPr>
        <p:spPr>
          <a:xfrm rot="5400000">
            <a:off x="5218823" y="3345656"/>
            <a:ext cx="614000" cy="167220"/>
          </a:xfrm>
          <a:prstGeom prst="triangle">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cxnSp>
        <p:nvCxnSpPr>
          <p:cNvPr id="46" name="直線矢印コネクタ 280">
            <a:extLst>
              <a:ext uri="{FF2B5EF4-FFF2-40B4-BE49-F238E27FC236}">
                <a16:creationId xmlns:a16="http://schemas.microsoft.com/office/drawing/2014/main" id="{114F672F-7BE9-4AC6-840D-4621A75B7745}"/>
              </a:ext>
            </a:extLst>
          </p:cNvPr>
          <p:cNvCxnSpPr>
            <a:cxnSpLocks/>
            <a:stCxn id="9" idx="1"/>
            <a:endCxn id="26" idx="0"/>
          </p:cNvCxnSpPr>
          <p:nvPr/>
        </p:nvCxnSpPr>
        <p:spPr>
          <a:xfrm rot="10800000" flipH="1">
            <a:off x="582637" y="2434805"/>
            <a:ext cx="5020678" cy="952613"/>
          </a:xfrm>
          <a:prstGeom prst="bentConnector4">
            <a:avLst>
              <a:gd name="adj1" fmla="val -3187"/>
              <a:gd name="adj2" fmla="val 170392"/>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54" name="グループ化 53">
            <a:extLst>
              <a:ext uri="{FF2B5EF4-FFF2-40B4-BE49-F238E27FC236}">
                <a16:creationId xmlns:a16="http://schemas.microsoft.com/office/drawing/2014/main" id="{8EA7C85A-6B63-44B1-B501-2B0DC7D5A684}"/>
              </a:ext>
            </a:extLst>
          </p:cNvPr>
          <p:cNvGrpSpPr/>
          <p:nvPr/>
        </p:nvGrpSpPr>
        <p:grpSpPr>
          <a:xfrm>
            <a:off x="7064158" y="2434804"/>
            <a:ext cx="2151865" cy="478345"/>
            <a:chOff x="6980183" y="3037019"/>
            <a:chExt cx="2151865" cy="478345"/>
          </a:xfrm>
        </p:grpSpPr>
        <p:sp>
          <p:nvSpPr>
            <p:cNvPr id="52" name="Rectangle 70">
              <a:extLst>
                <a:ext uri="{FF2B5EF4-FFF2-40B4-BE49-F238E27FC236}">
                  <a16:creationId xmlns:a16="http://schemas.microsoft.com/office/drawing/2014/main" id="{E874D927-A51F-43EA-957D-F89221BBA15C}"/>
                </a:ext>
              </a:extLst>
            </p:cNvPr>
            <p:cNvSpPr>
              <a:spLocks noChangeArrowheads="1"/>
            </p:cNvSpPr>
            <p:nvPr/>
          </p:nvSpPr>
          <p:spPr bwMode="auto">
            <a:xfrm>
              <a:off x="6980183"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1000" b="1" kern="0" dirty="0">
                  <a:solidFill>
                    <a:srgbClr val="000000"/>
                  </a:solidFill>
                  <a:latin typeface="Meiryo UI" panose="020B0604030504040204" pitchFamily="50" charset="-128"/>
                  <a:ea typeface="Meiryo UI" panose="020B0604030504040204" pitchFamily="50" charset="-128"/>
                </a:rPr>
                <a:t>3</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.DM</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の実施ロードマップ素案</a:t>
              </a:r>
            </a:p>
          </p:txBody>
        </p:sp>
        <p:sp>
          <p:nvSpPr>
            <p:cNvPr id="53" name="Rectangle 70">
              <a:extLst>
                <a:ext uri="{FF2B5EF4-FFF2-40B4-BE49-F238E27FC236}">
                  <a16:creationId xmlns:a16="http://schemas.microsoft.com/office/drawing/2014/main" id="{1DD83B3C-A9AB-4678-9E93-0590FF8D62B7}"/>
                </a:ext>
              </a:extLst>
            </p:cNvPr>
            <p:cNvSpPr>
              <a:spLocks noChangeArrowheads="1"/>
            </p:cNvSpPr>
            <p:nvPr/>
          </p:nvSpPr>
          <p:spPr bwMode="auto">
            <a:xfrm>
              <a:off x="6980183"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900" u="none" kern="0" dirty="0">
                  <a:solidFill>
                    <a:srgbClr val="000000"/>
                  </a:solidFill>
                  <a:latin typeface="Meiryo UI" panose="020B0604030504040204" pitchFamily="50" charset="-128"/>
                  <a:ea typeface="Meiryo UI" panose="020B0604030504040204" pitchFamily="50" charset="-128"/>
                </a:rPr>
                <a:t>DM</a:t>
              </a:r>
              <a:r>
                <a:rPr lang="ja-JP" altLang="en-US" sz="900" u="none" kern="0" dirty="0">
                  <a:solidFill>
                    <a:srgbClr val="000000"/>
                  </a:solidFill>
                  <a:latin typeface="Meiryo UI" panose="020B0604030504040204" pitchFamily="50" charset="-128"/>
                  <a:ea typeface="Meiryo UI" panose="020B0604030504040204" pitchFamily="50" charset="-128"/>
                </a:rPr>
                <a:t>強化計画・実行・安定化までの</a:t>
              </a:r>
              <a:endParaRPr lang="en-US" altLang="ja-JP" sz="900" u="none" kern="0" dirty="0">
                <a:solidFill>
                  <a:srgbClr val="000000"/>
                </a:solidFill>
                <a:latin typeface="Meiryo UI" panose="020B0604030504040204" pitchFamily="50" charset="-128"/>
                <a:ea typeface="Meiryo UI" panose="020B0604030504040204" pitchFamily="50" charset="-128"/>
              </a:endParaRPr>
            </a:p>
            <a:p>
              <a:pPr marL="0" marR="0" lvl="0" indent="0" defTabSz="914400" eaLnBrk="1" fontAlgn="base" latinLnBrk="0" hangingPunct="1">
                <a:lnSpc>
                  <a:spcPct val="100000"/>
                </a:lnSpc>
                <a:spcBef>
                  <a:spcPct val="0"/>
                </a:spcBef>
                <a:spcAft>
                  <a:spcPct val="0"/>
                </a:spcAft>
                <a:buClrTx/>
                <a:buSzTx/>
                <a:buFontTx/>
                <a:buNone/>
                <a:tabLst/>
                <a:defRPr/>
              </a:pPr>
              <a:r>
                <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ロードマップ素案を策定</a:t>
              </a:r>
            </a:p>
          </p:txBody>
        </p:sp>
      </p:grpSp>
      <p:grpSp>
        <p:nvGrpSpPr>
          <p:cNvPr id="55" name="グループ化 54">
            <a:extLst>
              <a:ext uri="{FF2B5EF4-FFF2-40B4-BE49-F238E27FC236}">
                <a16:creationId xmlns:a16="http://schemas.microsoft.com/office/drawing/2014/main" id="{C1D169CE-7C35-4BE9-8520-48E0768575F2}"/>
              </a:ext>
            </a:extLst>
          </p:cNvPr>
          <p:cNvGrpSpPr/>
          <p:nvPr/>
        </p:nvGrpSpPr>
        <p:grpSpPr>
          <a:xfrm>
            <a:off x="4681971" y="2434804"/>
            <a:ext cx="2151865" cy="478345"/>
            <a:chOff x="4533010" y="3037019"/>
            <a:chExt cx="2151865" cy="478345"/>
          </a:xfrm>
        </p:grpSpPr>
        <p:sp>
          <p:nvSpPr>
            <p:cNvPr id="26" name="Rectangle 70">
              <a:extLst>
                <a:ext uri="{FF2B5EF4-FFF2-40B4-BE49-F238E27FC236}">
                  <a16:creationId xmlns:a16="http://schemas.microsoft.com/office/drawing/2014/main" id="{95C615CE-92BD-40E0-AFFA-0210201DB9A9}"/>
                </a:ext>
              </a:extLst>
            </p:cNvPr>
            <p:cNvSpPr>
              <a:spLocks noChangeArrowheads="1"/>
            </p:cNvSpPr>
            <p:nvPr/>
          </p:nvSpPr>
          <p:spPr bwMode="auto">
            <a:xfrm>
              <a:off x="4533010"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2.DM</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の実施スコープ定義</a:t>
              </a:r>
            </a:p>
          </p:txBody>
        </p:sp>
        <p:sp>
          <p:nvSpPr>
            <p:cNvPr id="27" name="Rectangle 70">
              <a:extLst>
                <a:ext uri="{FF2B5EF4-FFF2-40B4-BE49-F238E27FC236}">
                  <a16:creationId xmlns:a16="http://schemas.microsoft.com/office/drawing/2014/main" id="{4F7DD5CB-5490-4B61-9CBD-BC41592C769A}"/>
                </a:ext>
              </a:extLst>
            </p:cNvPr>
            <p:cNvSpPr>
              <a:spLocks noChangeArrowheads="1"/>
            </p:cNvSpPr>
            <p:nvPr/>
          </p:nvSpPr>
          <p:spPr bwMode="auto">
            <a:xfrm>
              <a:off x="4533010"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ja-JP" altLang="en-US" sz="900" u="none" kern="0" dirty="0">
                  <a:solidFill>
                    <a:srgbClr val="000000"/>
                  </a:solidFill>
                  <a:latin typeface="Meiryo UI" panose="020B0604030504040204" pitchFamily="50" charset="-128"/>
                  <a:ea typeface="Meiryo UI" panose="020B0604030504040204" pitchFamily="50" charset="-128"/>
                </a:rPr>
                <a:t>現状の取り組み状況を確認しスコープ仮説を更新するとともに具体的な実行案を策定</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57" name="Group 74">
            <a:extLst>
              <a:ext uri="{FF2B5EF4-FFF2-40B4-BE49-F238E27FC236}">
                <a16:creationId xmlns:a16="http://schemas.microsoft.com/office/drawing/2014/main" id="{A70F9E78-D3BF-4C6C-8947-E96C64808012}"/>
              </a:ext>
            </a:extLst>
          </p:cNvPr>
          <p:cNvGrpSpPr>
            <a:grpSpLocks/>
          </p:cNvGrpSpPr>
          <p:nvPr/>
        </p:nvGrpSpPr>
        <p:grpSpPr bwMode="auto">
          <a:xfrm>
            <a:off x="7374314" y="3065064"/>
            <a:ext cx="1222375" cy="614362"/>
            <a:chOff x="4287" y="2160"/>
            <a:chExt cx="1088" cy="679"/>
          </a:xfrm>
        </p:grpSpPr>
        <p:grpSp>
          <p:nvGrpSpPr>
            <p:cNvPr id="58" name="Group 75">
              <a:extLst>
                <a:ext uri="{FF2B5EF4-FFF2-40B4-BE49-F238E27FC236}">
                  <a16:creationId xmlns:a16="http://schemas.microsoft.com/office/drawing/2014/main" id="{A3290EC9-BD98-425E-B1D1-410322FA5D69}"/>
                </a:ext>
              </a:extLst>
            </p:cNvPr>
            <p:cNvGrpSpPr>
              <a:grpSpLocks/>
            </p:cNvGrpSpPr>
            <p:nvPr/>
          </p:nvGrpSpPr>
          <p:grpSpPr bwMode="auto">
            <a:xfrm>
              <a:off x="4287" y="2160"/>
              <a:ext cx="1088" cy="136"/>
              <a:chOff x="1610" y="2931"/>
              <a:chExt cx="816" cy="136"/>
            </a:xfrm>
          </p:grpSpPr>
          <p:sp>
            <p:nvSpPr>
              <p:cNvPr id="69" name="AutoShape 76">
                <a:extLst>
                  <a:ext uri="{FF2B5EF4-FFF2-40B4-BE49-F238E27FC236}">
                    <a16:creationId xmlns:a16="http://schemas.microsoft.com/office/drawing/2014/main" id="{618DC457-E1AE-456B-80D0-EF334CEB0A52}"/>
                  </a:ext>
                </a:extLst>
              </p:cNvPr>
              <p:cNvSpPr>
                <a:spLocks noChangeArrowheads="1"/>
              </p:cNvSpPr>
              <p:nvPr/>
            </p:nvSpPr>
            <p:spPr bwMode="auto">
              <a:xfrm>
                <a:off x="1610" y="2931"/>
                <a:ext cx="272" cy="136"/>
              </a:xfrm>
              <a:prstGeom prst="homePlate">
                <a:avLst>
                  <a:gd name="adj" fmla="val 50000"/>
                </a:avLst>
              </a:prstGeom>
              <a:solidFill>
                <a:schemeClr val="bg1"/>
              </a:solidFill>
              <a:ln w="9525" algn="ctr">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algn="ctr" eaLnBrk="1" hangingPunct="1">
                  <a:lnSpc>
                    <a:spcPct val="110000"/>
                  </a:lnSpc>
                  <a:buFont typeface="Wingdings" panose="05000000000000000000" pitchFamily="2" charset="2"/>
                  <a:buNone/>
                </a:pPr>
                <a:r>
                  <a:rPr lang="ja-JP" altLang="en-US" sz="900" u="none">
                    <a:solidFill>
                      <a:schemeClr val="tx1"/>
                    </a:solidFill>
                    <a:latin typeface="Meiryo UI" panose="020B0604030504040204" pitchFamily="50" charset="-128"/>
                    <a:ea typeface="Meiryo UI" panose="020B0604030504040204" pitchFamily="50" charset="-128"/>
                  </a:rPr>
                  <a:t>短期</a:t>
                </a:r>
              </a:p>
            </p:txBody>
          </p:sp>
          <p:sp>
            <p:nvSpPr>
              <p:cNvPr id="70" name="AutoShape 77">
                <a:extLst>
                  <a:ext uri="{FF2B5EF4-FFF2-40B4-BE49-F238E27FC236}">
                    <a16:creationId xmlns:a16="http://schemas.microsoft.com/office/drawing/2014/main" id="{FE7800BA-2DE3-4406-9C6F-25F8749604EB}"/>
                  </a:ext>
                </a:extLst>
              </p:cNvPr>
              <p:cNvSpPr>
                <a:spLocks noChangeArrowheads="1"/>
              </p:cNvSpPr>
              <p:nvPr/>
            </p:nvSpPr>
            <p:spPr bwMode="auto">
              <a:xfrm>
                <a:off x="1882" y="2931"/>
                <a:ext cx="272" cy="136"/>
              </a:xfrm>
              <a:prstGeom prst="homePlate">
                <a:avLst>
                  <a:gd name="adj" fmla="val 50000"/>
                </a:avLst>
              </a:prstGeom>
              <a:solidFill>
                <a:schemeClr val="bg1"/>
              </a:solidFill>
              <a:ln w="9525" algn="ctr">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algn="ctr" eaLnBrk="1" hangingPunct="1">
                  <a:lnSpc>
                    <a:spcPct val="110000"/>
                  </a:lnSpc>
                  <a:buFont typeface="Wingdings" panose="05000000000000000000" pitchFamily="2" charset="2"/>
                  <a:buNone/>
                </a:pPr>
                <a:r>
                  <a:rPr lang="ja-JP" altLang="en-US" sz="900" u="none" dirty="0">
                    <a:solidFill>
                      <a:schemeClr val="tx1"/>
                    </a:solidFill>
                    <a:latin typeface="Meiryo UI" panose="020B0604030504040204" pitchFamily="50" charset="-128"/>
                    <a:ea typeface="Meiryo UI" panose="020B0604030504040204" pitchFamily="50" charset="-128"/>
                  </a:rPr>
                  <a:t>中期</a:t>
                </a:r>
              </a:p>
            </p:txBody>
          </p:sp>
          <p:sp>
            <p:nvSpPr>
              <p:cNvPr id="71" name="AutoShape 78">
                <a:extLst>
                  <a:ext uri="{FF2B5EF4-FFF2-40B4-BE49-F238E27FC236}">
                    <a16:creationId xmlns:a16="http://schemas.microsoft.com/office/drawing/2014/main" id="{802C30C6-FFD2-4990-85EA-9F9304F98FA6}"/>
                  </a:ext>
                </a:extLst>
              </p:cNvPr>
              <p:cNvSpPr>
                <a:spLocks noChangeArrowheads="1"/>
              </p:cNvSpPr>
              <p:nvPr/>
            </p:nvSpPr>
            <p:spPr bwMode="auto">
              <a:xfrm>
                <a:off x="2154" y="2931"/>
                <a:ext cx="272" cy="136"/>
              </a:xfrm>
              <a:prstGeom prst="homePlate">
                <a:avLst>
                  <a:gd name="adj" fmla="val 50000"/>
                </a:avLst>
              </a:prstGeom>
              <a:solidFill>
                <a:schemeClr val="bg1"/>
              </a:solidFill>
              <a:ln w="9525" algn="ctr">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algn="ctr" eaLnBrk="1" hangingPunct="1">
                  <a:lnSpc>
                    <a:spcPct val="110000"/>
                  </a:lnSpc>
                  <a:buFont typeface="Wingdings" panose="05000000000000000000" pitchFamily="2" charset="2"/>
                  <a:buNone/>
                </a:pPr>
                <a:r>
                  <a:rPr lang="ja-JP" altLang="en-US" sz="900" u="none">
                    <a:solidFill>
                      <a:schemeClr val="tx1"/>
                    </a:solidFill>
                    <a:latin typeface="Meiryo UI" panose="020B0604030504040204" pitchFamily="50" charset="-128"/>
                    <a:ea typeface="Meiryo UI" panose="020B0604030504040204" pitchFamily="50" charset="-128"/>
                  </a:rPr>
                  <a:t>長期</a:t>
                </a:r>
              </a:p>
            </p:txBody>
          </p:sp>
        </p:grpSp>
        <p:sp>
          <p:nvSpPr>
            <p:cNvPr id="59" name="Rectangle 79">
              <a:extLst>
                <a:ext uri="{FF2B5EF4-FFF2-40B4-BE49-F238E27FC236}">
                  <a16:creationId xmlns:a16="http://schemas.microsoft.com/office/drawing/2014/main" id="{07235CE5-7139-4E67-B0CB-8EC732646A9A}"/>
                </a:ext>
              </a:extLst>
            </p:cNvPr>
            <p:cNvSpPr>
              <a:spLocks noChangeArrowheads="1"/>
            </p:cNvSpPr>
            <p:nvPr/>
          </p:nvSpPr>
          <p:spPr bwMode="auto">
            <a:xfrm>
              <a:off x="4296" y="2356"/>
              <a:ext cx="1055" cy="483"/>
            </a:xfrm>
            <a:prstGeom prst="rect">
              <a:avLst/>
            </a:prstGeom>
            <a:solidFill>
              <a:schemeClr val="bg1"/>
            </a:solidFill>
            <a:ln w="9525" algn="ctr">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rIns="540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60" name="Line 80">
              <a:extLst>
                <a:ext uri="{FF2B5EF4-FFF2-40B4-BE49-F238E27FC236}">
                  <a16:creationId xmlns:a16="http://schemas.microsoft.com/office/drawing/2014/main" id="{941E669F-3301-4A5B-ABC9-FED582651688}"/>
                </a:ext>
              </a:extLst>
            </p:cNvPr>
            <p:cNvSpPr>
              <a:spLocks noChangeShapeType="1"/>
            </p:cNvSpPr>
            <p:nvPr/>
          </p:nvSpPr>
          <p:spPr bwMode="auto">
            <a:xfrm>
              <a:off x="4331" y="2482"/>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1" name="Line 81">
              <a:extLst>
                <a:ext uri="{FF2B5EF4-FFF2-40B4-BE49-F238E27FC236}">
                  <a16:creationId xmlns:a16="http://schemas.microsoft.com/office/drawing/2014/main" id="{24A781EA-2889-44E0-90E0-F5E815A0E75A}"/>
                </a:ext>
              </a:extLst>
            </p:cNvPr>
            <p:cNvSpPr>
              <a:spLocks noChangeShapeType="1"/>
            </p:cNvSpPr>
            <p:nvPr/>
          </p:nvSpPr>
          <p:spPr bwMode="auto">
            <a:xfrm>
              <a:off x="4403" y="2593"/>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2" name="Line 82">
              <a:extLst>
                <a:ext uri="{FF2B5EF4-FFF2-40B4-BE49-F238E27FC236}">
                  <a16:creationId xmlns:a16="http://schemas.microsoft.com/office/drawing/2014/main" id="{C66EDC35-F773-4D17-A13D-7BE7367DEDB4}"/>
                </a:ext>
              </a:extLst>
            </p:cNvPr>
            <p:cNvSpPr>
              <a:spLocks noChangeShapeType="1"/>
            </p:cNvSpPr>
            <p:nvPr/>
          </p:nvSpPr>
          <p:spPr bwMode="auto">
            <a:xfrm>
              <a:off x="4331" y="2701"/>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3" name="Line 83">
              <a:extLst>
                <a:ext uri="{FF2B5EF4-FFF2-40B4-BE49-F238E27FC236}">
                  <a16:creationId xmlns:a16="http://schemas.microsoft.com/office/drawing/2014/main" id="{AA3C771F-774E-4CF6-88E4-2A5E50274F89}"/>
                </a:ext>
              </a:extLst>
            </p:cNvPr>
            <p:cNvSpPr>
              <a:spLocks noChangeShapeType="1"/>
            </p:cNvSpPr>
            <p:nvPr/>
          </p:nvSpPr>
          <p:spPr bwMode="auto">
            <a:xfrm>
              <a:off x="4689" y="2482"/>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4" name="Line 84">
              <a:extLst>
                <a:ext uri="{FF2B5EF4-FFF2-40B4-BE49-F238E27FC236}">
                  <a16:creationId xmlns:a16="http://schemas.microsoft.com/office/drawing/2014/main" id="{BD0C2B6A-9DBD-48E7-B87B-B0A4FFA40249}"/>
                </a:ext>
              </a:extLst>
            </p:cNvPr>
            <p:cNvSpPr>
              <a:spLocks noChangeShapeType="1"/>
            </p:cNvSpPr>
            <p:nvPr/>
          </p:nvSpPr>
          <p:spPr bwMode="auto">
            <a:xfrm>
              <a:off x="4761" y="2593"/>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5" name="Line 85">
              <a:extLst>
                <a:ext uri="{FF2B5EF4-FFF2-40B4-BE49-F238E27FC236}">
                  <a16:creationId xmlns:a16="http://schemas.microsoft.com/office/drawing/2014/main" id="{D1AF8A1E-F45F-488A-8705-35B00686D441}"/>
                </a:ext>
              </a:extLst>
            </p:cNvPr>
            <p:cNvSpPr>
              <a:spLocks noChangeShapeType="1"/>
            </p:cNvSpPr>
            <p:nvPr/>
          </p:nvSpPr>
          <p:spPr bwMode="auto">
            <a:xfrm>
              <a:off x="4689" y="2701"/>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6" name="Line 86">
              <a:extLst>
                <a:ext uri="{FF2B5EF4-FFF2-40B4-BE49-F238E27FC236}">
                  <a16:creationId xmlns:a16="http://schemas.microsoft.com/office/drawing/2014/main" id="{5B175A9C-7455-400A-8F72-268B8487F312}"/>
                </a:ext>
              </a:extLst>
            </p:cNvPr>
            <p:cNvSpPr>
              <a:spLocks noChangeShapeType="1"/>
            </p:cNvSpPr>
            <p:nvPr/>
          </p:nvSpPr>
          <p:spPr bwMode="auto">
            <a:xfrm>
              <a:off x="5030" y="2482"/>
              <a:ext cx="222"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7" name="Line 87">
              <a:extLst>
                <a:ext uri="{FF2B5EF4-FFF2-40B4-BE49-F238E27FC236}">
                  <a16:creationId xmlns:a16="http://schemas.microsoft.com/office/drawing/2014/main" id="{BF73F2B7-37AA-4676-AE6A-102617E89E7F}"/>
                </a:ext>
              </a:extLst>
            </p:cNvPr>
            <p:cNvSpPr>
              <a:spLocks noChangeShapeType="1"/>
            </p:cNvSpPr>
            <p:nvPr/>
          </p:nvSpPr>
          <p:spPr bwMode="auto">
            <a:xfrm>
              <a:off x="5102" y="2593"/>
              <a:ext cx="222"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68" name="Line 88">
              <a:extLst>
                <a:ext uri="{FF2B5EF4-FFF2-40B4-BE49-F238E27FC236}">
                  <a16:creationId xmlns:a16="http://schemas.microsoft.com/office/drawing/2014/main" id="{B157FF45-57FB-4952-A820-7601EAB2A800}"/>
                </a:ext>
              </a:extLst>
            </p:cNvPr>
            <p:cNvSpPr>
              <a:spLocks noChangeShapeType="1"/>
            </p:cNvSpPr>
            <p:nvPr/>
          </p:nvSpPr>
          <p:spPr bwMode="auto">
            <a:xfrm>
              <a:off x="5030" y="2701"/>
              <a:ext cx="222"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grpSp>
      <p:cxnSp>
        <p:nvCxnSpPr>
          <p:cNvPr id="72" name="直線矢印コネクタ 280">
            <a:extLst>
              <a:ext uri="{FF2B5EF4-FFF2-40B4-BE49-F238E27FC236}">
                <a16:creationId xmlns:a16="http://schemas.microsoft.com/office/drawing/2014/main" id="{7CE1C175-8CC7-491B-AF5A-055A54C92ABB}"/>
              </a:ext>
            </a:extLst>
          </p:cNvPr>
          <p:cNvCxnSpPr>
            <a:cxnSpLocks/>
            <a:stCxn id="16" idx="1"/>
            <a:endCxn id="52" idx="0"/>
          </p:cNvCxnSpPr>
          <p:nvPr/>
        </p:nvCxnSpPr>
        <p:spPr>
          <a:xfrm rot="10800000" flipH="1">
            <a:off x="582636" y="2434805"/>
            <a:ext cx="7402865" cy="2390299"/>
          </a:xfrm>
          <a:prstGeom prst="bentConnector4">
            <a:avLst>
              <a:gd name="adj1" fmla="val -3088"/>
              <a:gd name="adj2" fmla="val 130923"/>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sp>
        <p:nvSpPr>
          <p:cNvPr id="85" name="ホームベース 32">
            <a:extLst>
              <a:ext uri="{FF2B5EF4-FFF2-40B4-BE49-F238E27FC236}">
                <a16:creationId xmlns:a16="http://schemas.microsoft.com/office/drawing/2014/main" id="{C5AC2EEB-A31A-499E-8687-20A42FE82A0C}"/>
              </a:ext>
            </a:extLst>
          </p:cNvPr>
          <p:cNvSpPr/>
          <p:nvPr/>
        </p:nvSpPr>
        <p:spPr>
          <a:xfrm>
            <a:off x="3423008" y="5440531"/>
            <a:ext cx="2585268" cy="288000"/>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r"/>
            <a:r>
              <a:rPr lang="ja-JP" altLang="en-US" sz="900" dirty="0">
                <a:solidFill>
                  <a:schemeClr val="tx1"/>
                </a:solidFill>
                <a:latin typeface="Meiryo UI" panose="020B0604030504040204" pitchFamily="34" charset="-128"/>
                <a:ea typeface="Meiryo UI" panose="020B0604030504040204" pitchFamily="34" charset="-128"/>
              </a:rPr>
              <a:t>ﾃﾞｰﾀﾓﾃﾞﾙ整理</a:t>
            </a:r>
            <a:endParaRPr lang="en-US" altLang="ja-JP" sz="900" dirty="0">
              <a:solidFill>
                <a:schemeClr val="tx1"/>
              </a:solidFill>
              <a:latin typeface="Meiryo UI" panose="020B0604030504040204" pitchFamily="34" charset="-128"/>
              <a:ea typeface="Meiryo UI" panose="020B0604030504040204" pitchFamily="34" charset="-128"/>
            </a:endParaRPr>
          </a:p>
          <a:p>
            <a:pPr algn="r"/>
            <a:r>
              <a:rPr lang="ja-JP" altLang="en-US" sz="900" dirty="0">
                <a:solidFill>
                  <a:schemeClr val="tx1"/>
                </a:solidFill>
                <a:latin typeface="Meiryo UI" panose="020B0604030504040204" pitchFamily="34" charset="-128"/>
                <a:ea typeface="Meiryo UI" panose="020B0604030504040204" pitchFamily="34" charset="-128"/>
              </a:rPr>
              <a:t>（概略ﾃﾞｰﾀﾌﾛｰ、ﾃﾞｰﾀﾓﾃﾞﾙ図）</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86" name="ホームベース 32">
            <a:extLst>
              <a:ext uri="{FF2B5EF4-FFF2-40B4-BE49-F238E27FC236}">
                <a16:creationId xmlns:a16="http://schemas.microsoft.com/office/drawing/2014/main" id="{487BADC6-51F3-40F2-AA32-EB483369334B}"/>
              </a:ext>
            </a:extLst>
          </p:cNvPr>
          <p:cNvSpPr/>
          <p:nvPr/>
        </p:nvSpPr>
        <p:spPr>
          <a:xfrm>
            <a:off x="2785075" y="3898825"/>
            <a:ext cx="3223201" cy="288000"/>
          </a:xfrm>
          <a:prstGeom prst="homePlate">
            <a:avLst>
              <a:gd name="adj" fmla="val 14621"/>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ﾍﾞｰｽｱｰｷ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ｼﾅﾘｵ用ｱｰｷ検討</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87" name="ホームベース 32">
            <a:extLst>
              <a:ext uri="{FF2B5EF4-FFF2-40B4-BE49-F238E27FC236}">
                <a16:creationId xmlns:a16="http://schemas.microsoft.com/office/drawing/2014/main" id="{1D0031A4-3AC2-4E3A-8580-BC8FE85A159A}"/>
              </a:ext>
            </a:extLst>
          </p:cNvPr>
          <p:cNvSpPr/>
          <p:nvPr/>
        </p:nvSpPr>
        <p:spPr>
          <a:xfrm>
            <a:off x="6069307" y="3898825"/>
            <a:ext cx="1155885" cy="288000"/>
          </a:xfrm>
          <a:prstGeom prst="homePlate">
            <a:avLst>
              <a:gd name="adj" fmla="val 26684"/>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IT</a:t>
            </a:r>
            <a:r>
              <a:rPr lang="ja-JP" altLang="en-US" sz="900" dirty="0">
                <a:solidFill>
                  <a:schemeClr val="tx1"/>
                </a:solidFill>
                <a:latin typeface="Meiryo UI" panose="020B0604030504040204" pitchFamily="34" charset="-128"/>
                <a:ea typeface="Meiryo UI" panose="020B0604030504040204" pitchFamily="34" charset="-128"/>
              </a:rPr>
              <a:t>統制</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dirty="0">
                <a:solidFill>
                  <a:schemeClr val="tx1"/>
                </a:solidFill>
                <a:latin typeface="Meiryo UI" panose="020B0604030504040204" pitchFamily="34" charset="-128"/>
                <a:ea typeface="Meiryo UI" panose="020B0604030504040204" pitchFamily="34" charset="-128"/>
              </a:rPr>
              <a:t>ｱｰｷ要件整理</a:t>
            </a:r>
          </a:p>
        </p:txBody>
      </p:sp>
      <p:sp>
        <p:nvSpPr>
          <p:cNvPr id="88" name="ホームベース 32">
            <a:extLst>
              <a:ext uri="{FF2B5EF4-FFF2-40B4-BE49-F238E27FC236}">
                <a16:creationId xmlns:a16="http://schemas.microsoft.com/office/drawing/2014/main" id="{C344D164-B9FD-4942-9C12-A4EB99EA7696}"/>
              </a:ext>
            </a:extLst>
          </p:cNvPr>
          <p:cNvSpPr/>
          <p:nvPr/>
        </p:nvSpPr>
        <p:spPr>
          <a:xfrm>
            <a:off x="7286224" y="3898825"/>
            <a:ext cx="2032401" cy="288000"/>
          </a:xfrm>
          <a:prstGeom prst="homePlate">
            <a:avLst>
              <a:gd name="adj" fmla="val 26684"/>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IT</a:t>
            </a:r>
            <a:r>
              <a:rPr lang="ja-JP" altLang="en-US" sz="900" dirty="0">
                <a:solidFill>
                  <a:schemeClr val="tx1"/>
                </a:solidFill>
                <a:latin typeface="Meiryo UI" panose="020B0604030504040204" pitchFamily="34" charset="-128"/>
                <a:ea typeface="Meiryo UI" panose="020B0604030504040204" pitchFamily="34" charset="-128"/>
              </a:rPr>
              <a:t>統制要件</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dirty="0">
                <a:solidFill>
                  <a:schemeClr val="tx1"/>
                </a:solidFill>
                <a:latin typeface="Meiryo UI" panose="020B0604030504040204" pitchFamily="34" charset="-128"/>
                <a:ea typeface="Meiryo UI" panose="020B0604030504040204" pitchFamily="34" charset="-128"/>
              </a:rPr>
              <a:t>ｱｰｷﾃｸﾁｬ設計</a:t>
            </a:r>
          </a:p>
        </p:txBody>
      </p:sp>
      <p:sp>
        <p:nvSpPr>
          <p:cNvPr id="89" name="ホームベース 32">
            <a:extLst>
              <a:ext uri="{FF2B5EF4-FFF2-40B4-BE49-F238E27FC236}">
                <a16:creationId xmlns:a16="http://schemas.microsoft.com/office/drawing/2014/main" id="{787F486D-3ABF-49C3-A71A-E5887978766B}"/>
              </a:ext>
            </a:extLst>
          </p:cNvPr>
          <p:cNvSpPr/>
          <p:nvPr/>
        </p:nvSpPr>
        <p:spPr>
          <a:xfrm>
            <a:off x="6069306" y="5440531"/>
            <a:ext cx="3249319" cy="288000"/>
          </a:xfrm>
          <a:prstGeom prst="homePlate">
            <a:avLst>
              <a:gd name="adj" fmla="val 15043"/>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#2(</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a:p>
            <a:pPr algn="ctr"/>
            <a:r>
              <a:rPr lang="ja-JP" altLang="en-US" sz="900" dirty="0">
                <a:solidFill>
                  <a:schemeClr val="tx1"/>
                </a:solidFill>
                <a:latin typeface="Meiryo UI" panose="020B0604030504040204" pitchFamily="34" charset="-128"/>
                <a:ea typeface="Meiryo UI" panose="020B0604030504040204" pitchFamily="34" charset="-128"/>
              </a:rPr>
              <a:t>ｼﾅﾘｵ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ﾃｽﾄｹｰｽ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ﾃﾞｰﾀﾓﾃﾞﾙ</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90" name="AutoShape 242">
            <a:extLst>
              <a:ext uri="{FF2B5EF4-FFF2-40B4-BE49-F238E27FC236}">
                <a16:creationId xmlns:a16="http://schemas.microsoft.com/office/drawing/2014/main" id="{74C85B14-1A9D-439A-9BB6-5C270723F563}"/>
              </a:ext>
            </a:extLst>
          </p:cNvPr>
          <p:cNvSpPr>
            <a:spLocks noChangeArrowheads="1"/>
          </p:cNvSpPr>
          <p:nvPr/>
        </p:nvSpPr>
        <p:spPr bwMode="auto">
          <a:xfrm>
            <a:off x="2161210" y="5440531"/>
            <a:ext cx="516613" cy="288000"/>
          </a:xfrm>
          <a:prstGeom prst="rect">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algn="ctr" defTabSz="457133" eaLnBrk="1" hangingPunct="1">
              <a:lnSpc>
                <a:spcPct val="85000"/>
              </a:lnSpc>
            </a:pPr>
            <a:r>
              <a:rPr lang="ja-JP" altLang="en-US" sz="800" u="none" dirty="0">
                <a:solidFill>
                  <a:srgbClr val="FFFFFF"/>
                </a:solidFill>
                <a:latin typeface="Meiryo UI" panose="020B0604030504040204" pitchFamily="34" charset="-128"/>
                <a:ea typeface="Meiryo UI" panose="020B0604030504040204" pitchFamily="34" charset="-128"/>
              </a:rPr>
              <a:t>モック</a:t>
            </a:r>
          </a:p>
        </p:txBody>
      </p:sp>
      <p:sp>
        <p:nvSpPr>
          <p:cNvPr id="91" name="AutoShape 242">
            <a:extLst>
              <a:ext uri="{FF2B5EF4-FFF2-40B4-BE49-F238E27FC236}">
                <a16:creationId xmlns:a16="http://schemas.microsoft.com/office/drawing/2014/main" id="{BB4C41E4-8AAD-4ACE-A00F-9B25348B772F}"/>
              </a:ext>
            </a:extLst>
          </p:cNvPr>
          <p:cNvSpPr>
            <a:spLocks noChangeArrowheads="1"/>
          </p:cNvSpPr>
          <p:nvPr/>
        </p:nvSpPr>
        <p:spPr bwMode="auto">
          <a:xfrm>
            <a:off x="2161210" y="3898825"/>
            <a:ext cx="516613" cy="288000"/>
          </a:xfrm>
          <a:prstGeom prst="rect">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algn="ctr" defTabSz="457133" eaLnBrk="1" hangingPunct="1">
              <a:lnSpc>
                <a:spcPct val="85000"/>
              </a:lnSpc>
            </a:pPr>
            <a:r>
              <a:rPr lang="en-US" altLang="ja-JP" sz="800" u="none" dirty="0">
                <a:solidFill>
                  <a:srgbClr val="FFFFFF"/>
                </a:solidFill>
                <a:latin typeface="Meiryo UI" panose="020B0604030504040204" pitchFamily="34" charset="-128"/>
                <a:ea typeface="Meiryo UI" panose="020B0604030504040204" pitchFamily="34" charset="-128"/>
              </a:rPr>
              <a:t>IT</a:t>
            </a:r>
            <a:r>
              <a:rPr lang="ja-JP" altLang="en-US" sz="800" u="none" dirty="0">
                <a:solidFill>
                  <a:srgbClr val="FFFFFF"/>
                </a:solidFill>
                <a:latin typeface="Meiryo UI" panose="020B0604030504040204" pitchFamily="34" charset="-128"/>
                <a:ea typeface="Meiryo UI" panose="020B0604030504040204" pitchFamily="34" charset="-128"/>
              </a:rPr>
              <a:t>アーキ</a:t>
            </a:r>
            <a:endParaRPr lang="en-US" altLang="ja-JP" sz="800" u="none" dirty="0">
              <a:solidFill>
                <a:srgbClr val="FFFFFF"/>
              </a:solidFill>
              <a:latin typeface="Meiryo UI" panose="020B0604030504040204" pitchFamily="34" charset="-128"/>
              <a:ea typeface="Meiryo UI" panose="020B0604030504040204" pitchFamily="34" charset="-128"/>
            </a:endParaRPr>
          </a:p>
          <a:p>
            <a:pPr algn="ctr" defTabSz="457133" eaLnBrk="1" hangingPunct="1">
              <a:lnSpc>
                <a:spcPct val="85000"/>
              </a:lnSpc>
            </a:pPr>
            <a:r>
              <a:rPr lang="ja-JP" altLang="en-US" sz="800" u="none" dirty="0">
                <a:solidFill>
                  <a:srgbClr val="FFFFFF"/>
                </a:solidFill>
                <a:latin typeface="Meiryo UI" panose="020B0604030504040204" pitchFamily="34" charset="-128"/>
                <a:ea typeface="Meiryo UI" panose="020B0604030504040204" pitchFamily="34" charset="-128"/>
              </a:rPr>
              <a:t>設計</a:t>
            </a:r>
          </a:p>
        </p:txBody>
      </p:sp>
      <p:sp>
        <p:nvSpPr>
          <p:cNvPr id="99" name="Rectangle 14">
            <a:extLst>
              <a:ext uri="{FF2B5EF4-FFF2-40B4-BE49-F238E27FC236}">
                <a16:creationId xmlns:a16="http://schemas.microsoft.com/office/drawing/2014/main" id="{BAC48E38-F35F-4B23-A260-7F0D048B3C7D}"/>
              </a:ext>
            </a:extLst>
          </p:cNvPr>
          <p:cNvSpPr>
            <a:spLocks noChangeArrowheads="1"/>
          </p:cNvSpPr>
          <p:nvPr/>
        </p:nvSpPr>
        <p:spPr bwMode="auto">
          <a:xfrm>
            <a:off x="4683286" y="4603426"/>
            <a:ext cx="1803873" cy="241980"/>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lvl1pPr marL="95250" indent="-95250">
              <a:lnSpc>
                <a:spcPct val="120000"/>
              </a:lnSpc>
              <a:spcBef>
                <a:spcPct val="20000"/>
              </a:spcBef>
              <a:spcAft>
                <a:spcPct val="20000"/>
              </a:spcAft>
              <a:buClr>
                <a:schemeClr val="accent2"/>
              </a:buClr>
              <a:buFont typeface="Wingdings" panose="05000000000000000000" pitchFamily="2" charset="2"/>
              <a:buChar char="l"/>
              <a:defRPr sz="1400">
                <a:solidFill>
                  <a:schemeClr val="tx1"/>
                </a:solidFill>
                <a:latin typeface="Times New Roman" panose="02020603050405020304" pitchFamily="18" charset="0"/>
                <a:ea typeface="ＭＳ Ｐゴシック" panose="020B0600070205080204" pitchFamily="50" charset="-128"/>
              </a:defRPr>
            </a:lvl1pPr>
            <a:lvl2pPr marL="573088" indent="-284163">
              <a:lnSpc>
                <a:spcPct val="120000"/>
              </a:lnSpc>
              <a:spcBef>
                <a:spcPct val="20000"/>
              </a:spcBef>
              <a:spcAft>
                <a:spcPct val="20000"/>
              </a:spcAft>
              <a:buClr>
                <a:srgbClr val="B2B2B2"/>
              </a:buClr>
              <a:buFont typeface="Wingdings" panose="05000000000000000000" pitchFamily="2" charset="2"/>
              <a:buChar char="u"/>
              <a:defRPr sz="1200">
                <a:solidFill>
                  <a:schemeClr val="tx1"/>
                </a:solidFill>
                <a:latin typeface="Times New Roman" panose="02020603050405020304" pitchFamily="18" charset="0"/>
                <a:ea typeface="ＭＳ Ｐゴシック" panose="020B0600070205080204" pitchFamily="50" charset="-128"/>
              </a:defRPr>
            </a:lvl2pPr>
            <a:lvl3pPr marL="857250" indent="-282575">
              <a:lnSpc>
                <a:spcPct val="120000"/>
              </a:lnSpc>
              <a:spcBef>
                <a:spcPct val="20000"/>
              </a:spcBef>
              <a:spcAft>
                <a:spcPct val="20000"/>
              </a:spcAft>
              <a:buFont typeface="Times New Roman" panose="02020603050405020304" pitchFamily="18" charset="0"/>
              <a:buChar char="○"/>
              <a:defRPr sz="1200">
                <a:solidFill>
                  <a:schemeClr val="tx1"/>
                </a:solidFill>
                <a:latin typeface="Times New Roman" panose="02020603050405020304" pitchFamily="18" charset="0"/>
                <a:ea typeface="ＭＳ Ｐゴシック" panose="020B0600070205080204" pitchFamily="50" charset="-128"/>
              </a:defRPr>
            </a:lvl3pPr>
            <a:lvl4pPr marL="1138238" indent="-27940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4pPr>
            <a:lvl5pPr marL="1425575" indent="-284163">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5pPr>
            <a:lvl6pPr marL="18827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6pPr>
            <a:lvl7pPr marL="23399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7pPr>
            <a:lvl8pPr marL="27971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8pPr>
            <a:lvl9pPr marL="32543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9pPr>
          </a:lstStyle>
          <a:p>
            <a:pPr lvl="0" eaLnBrk="1" hangingPunct="1">
              <a:lnSpc>
                <a:spcPct val="110000"/>
              </a:lnSpc>
              <a:spcBef>
                <a:spcPct val="15000"/>
              </a:spcBef>
              <a:spcAft>
                <a:spcPct val="15000"/>
              </a:spcAft>
              <a:buClrTx/>
              <a:buNone/>
              <a:defRPr/>
            </a:pPr>
            <a:r>
              <a:rPr kumimoji="0" lang="ja-JP" altLang="en-US" sz="1000" kern="0" dirty="0">
                <a:solidFill>
                  <a:srgbClr val="FFFFFF"/>
                </a:solidFill>
                <a:latin typeface="Meiryo UI" panose="020B0604030504040204" pitchFamily="50" charset="-128"/>
                <a:ea typeface="Meiryo UI" panose="020B0604030504040204" pitchFamily="50" charset="-128"/>
              </a:rPr>
              <a:t>リファレンスモデルとの</a:t>
            </a:r>
            <a:r>
              <a:rPr kumimoji="0" lang="en-US" altLang="ja-JP" sz="1000" kern="0" dirty="0">
                <a:solidFill>
                  <a:srgbClr val="FFFFFF"/>
                </a:solidFill>
                <a:latin typeface="Meiryo UI" panose="020B0604030504040204" pitchFamily="50" charset="-128"/>
                <a:ea typeface="Meiryo UI" panose="020B0604030504040204" pitchFamily="50" charset="-128"/>
              </a:rPr>
              <a:t>Fit &amp; Gap</a:t>
            </a:r>
            <a:endParaRPr kumimoji="0" lang="ja-JP" altLang="en-US"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grpSp>
        <p:nvGrpSpPr>
          <p:cNvPr id="109" name="グループ化 108">
            <a:extLst>
              <a:ext uri="{FF2B5EF4-FFF2-40B4-BE49-F238E27FC236}">
                <a16:creationId xmlns:a16="http://schemas.microsoft.com/office/drawing/2014/main" id="{2BF43D42-A9C3-43BE-AE9C-9F9403C0F81C}"/>
              </a:ext>
            </a:extLst>
          </p:cNvPr>
          <p:cNvGrpSpPr/>
          <p:nvPr/>
        </p:nvGrpSpPr>
        <p:grpSpPr>
          <a:xfrm>
            <a:off x="4681971" y="4829086"/>
            <a:ext cx="2151865" cy="478345"/>
            <a:chOff x="4533010" y="3037019"/>
            <a:chExt cx="2151865" cy="478345"/>
          </a:xfrm>
        </p:grpSpPr>
        <p:sp>
          <p:nvSpPr>
            <p:cNvPr id="110" name="Rectangle 70">
              <a:extLst>
                <a:ext uri="{FF2B5EF4-FFF2-40B4-BE49-F238E27FC236}">
                  <a16:creationId xmlns:a16="http://schemas.microsoft.com/office/drawing/2014/main" id="{3E3AB63E-B694-4F27-945F-685C01DD61B6}"/>
                </a:ext>
              </a:extLst>
            </p:cNvPr>
            <p:cNvSpPr>
              <a:spLocks noChangeArrowheads="1"/>
            </p:cNvSpPr>
            <p:nvPr/>
          </p:nvSpPr>
          <p:spPr bwMode="auto">
            <a:xfrm>
              <a:off x="4533010"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1.As</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Is/To</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Be</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のヒアリング</a:t>
              </a:r>
            </a:p>
          </p:txBody>
        </p:sp>
        <p:sp>
          <p:nvSpPr>
            <p:cNvPr id="111" name="Rectangle 70">
              <a:extLst>
                <a:ext uri="{FF2B5EF4-FFF2-40B4-BE49-F238E27FC236}">
                  <a16:creationId xmlns:a16="http://schemas.microsoft.com/office/drawing/2014/main" id="{08745315-DC44-4D66-82A2-123EA1E2560C}"/>
                </a:ext>
              </a:extLst>
            </p:cNvPr>
            <p:cNvSpPr>
              <a:spLocks noChangeArrowheads="1"/>
            </p:cNvSpPr>
            <p:nvPr/>
          </p:nvSpPr>
          <p:spPr bwMode="auto">
            <a:xfrm>
              <a:off x="4533010"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ja-JP" altLang="en-US" sz="900" u="none" kern="0" dirty="0">
                  <a:solidFill>
                    <a:srgbClr val="000000"/>
                  </a:solidFill>
                  <a:latin typeface="Meiryo UI" panose="020B0604030504040204" pitchFamily="50" charset="-128"/>
                  <a:ea typeface="Meiryo UI" panose="020B0604030504040204" pitchFamily="50" charset="-128"/>
                </a:rPr>
                <a:t>業務優先度・リファレンスモデルの検討状況に関する</a:t>
              </a:r>
              <a:r>
                <a:rPr lang="en-US" altLang="ja-JP" sz="900" u="none" kern="0" dirty="0">
                  <a:solidFill>
                    <a:srgbClr val="000000"/>
                  </a:solidFill>
                  <a:latin typeface="Meiryo UI" panose="020B0604030504040204" pitchFamily="50" charset="-128"/>
                  <a:ea typeface="Meiryo UI" panose="020B0604030504040204" pitchFamily="50" charset="-128"/>
                </a:rPr>
                <a:t>As</a:t>
              </a:r>
              <a:r>
                <a:rPr lang="ja-JP" altLang="en-US" sz="900" u="none" kern="0" dirty="0">
                  <a:solidFill>
                    <a:srgbClr val="000000"/>
                  </a:solidFill>
                  <a:latin typeface="Meiryo UI" panose="020B0604030504040204" pitchFamily="50" charset="-128"/>
                  <a:ea typeface="Meiryo UI" panose="020B0604030504040204" pitchFamily="50" charset="-128"/>
                </a:rPr>
                <a:t> </a:t>
              </a:r>
              <a:r>
                <a:rPr lang="en-US" altLang="ja-JP" sz="900" u="none" kern="0" dirty="0">
                  <a:solidFill>
                    <a:srgbClr val="000000"/>
                  </a:solidFill>
                  <a:latin typeface="Meiryo UI" panose="020B0604030504040204" pitchFamily="50" charset="-128"/>
                  <a:ea typeface="Meiryo UI" panose="020B0604030504040204" pitchFamily="50" charset="-128"/>
                </a:rPr>
                <a:t>Is/To</a:t>
              </a:r>
              <a:r>
                <a:rPr lang="ja-JP" altLang="en-US" sz="900" u="none" kern="0" dirty="0">
                  <a:solidFill>
                    <a:srgbClr val="000000"/>
                  </a:solidFill>
                  <a:latin typeface="Meiryo UI" panose="020B0604030504040204" pitchFamily="50" charset="-128"/>
                  <a:ea typeface="Meiryo UI" panose="020B0604030504040204" pitchFamily="50" charset="-128"/>
                </a:rPr>
                <a:t> </a:t>
              </a:r>
              <a:r>
                <a:rPr lang="en-US" altLang="ja-JP" sz="900" u="none" kern="0" dirty="0">
                  <a:solidFill>
                    <a:srgbClr val="000000"/>
                  </a:solidFill>
                  <a:latin typeface="Meiryo UI" panose="020B0604030504040204" pitchFamily="50" charset="-128"/>
                  <a:ea typeface="Meiryo UI" panose="020B0604030504040204" pitchFamily="50" charset="-128"/>
                </a:rPr>
                <a:t>Be</a:t>
              </a:r>
              <a:r>
                <a:rPr lang="ja-JP" altLang="en-US" sz="900" u="none" kern="0" dirty="0">
                  <a:solidFill>
                    <a:srgbClr val="000000"/>
                  </a:solidFill>
                  <a:latin typeface="Meiryo UI" panose="020B0604030504040204" pitchFamily="50" charset="-128"/>
                  <a:ea typeface="Meiryo UI" panose="020B0604030504040204" pitchFamily="50" charset="-128"/>
                </a:rPr>
                <a:t>をヒアリング</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sp>
        <p:nvSpPr>
          <p:cNvPr id="112" name="ホームベース 126">
            <a:extLst>
              <a:ext uri="{FF2B5EF4-FFF2-40B4-BE49-F238E27FC236}">
                <a16:creationId xmlns:a16="http://schemas.microsoft.com/office/drawing/2014/main" id="{D9733A1D-A5AE-4DA7-8C46-6A93DA85A2D1}"/>
              </a:ext>
            </a:extLst>
          </p:cNvPr>
          <p:cNvSpPr/>
          <p:nvPr/>
        </p:nvSpPr>
        <p:spPr>
          <a:xfrm>
            <a:off x="2785074" y="5792384"/>
            <a:ext cx="1887657"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調・財・品質</a:t>
            </a:r>
            <a:r>
              <a:rPr lang="en-US" altLang="ja-JP" sz="900" dirty="0">
                <a:solidFill>
                  <a:schemeClr val="tx1"/>
                </a:solidFill>
                <a:latin typeface="Meiryo UI" panose="020B0604030504040204" pitchFamily="34" charset="-128"/>
                <a:ea typeface="Meiryo UI" panose="020B0604030504040204" pitchFamily="34" charset="-128"/>
              </a:rPr>
              <a:t>】</a:t>
            </a:r>
          </a:p>
          <a:p>
            <a:r>
              <a:rPr lang="ja-JP" altLang="en-US" sz="900" dirty="0">
                <a:solidFill>
                  <a:schemeClr val="tx1"/>
                </a:solidFill>
                <a:latin typeface="Meiryo UI" panose="020B0604030504040204" pitchFamily="34" charset="-128"/>
                <a:ea typeface="Meiryo UI" panose="020B0604030504040204" pitchFamily="34" charset="-128"/>
              </a:rPr>
              <a:t>変革ﾃｰﾏﾏｯﾌﾟ作成</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13" name="ホームベース 126">
            <a:extLst>
              <a:ext uri="{FF2B5EF4-FFF2-40B4-BE49-F238E27FC236}">
                <a16:creationId xmlns:a16="http://schemas.microsoft.com/office/drawing/2014/main" id="{1543E675-44A0-4091-9295-713514BC596A}"/>
              </a:ext>
            </a:extLst>
          </p:cNvPr>
          <p:cNvSpPr/>
          <p:nvPr/>
        </p:nvSpPr>
        <p:spPr>
          <a:xfrm>
            <a:off x="4747260" y="5792384"/>
            <a:ext cx="1247518"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ja-JP" altLang="en-US" sz="900" dirty="0">
                <a:solidFill>
                  <a:schemeClr val="tx1"/>
                </a:solidFill>
                <a:latin typeface="Meiryo UI" panose="020B0604030504040204" pitchFamily="34" charset="-128"/>
                <a:ea typeface="Meiryo UI" panose="020B0604030504040204" pitchFamily="34" charset="-128"/>
              </a:rPr>
              <a:t>変革ﾃｰﾏ具体化</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優先順位付け</a:t>
            </a:r>
          </a:p>
        </p:txBody>
      </p:sp>
      <p:sp>
        <p:nvSpPr>
          <p:cNvPr id="114" name="ホームベース 48">
            <a:extLst>
              <a:ext uri="{FF2B5EF4-FFF2-40B4-BE49-F238E27FC236}">
                <a16:creationId xmlns:a16="http://schemas.microsoft.com/office/drawing/2014/main" id="{32C439CC-3EDD-4FC8-972A-5098467C71F8}"/>
              </a:ext>
            </a:extLst>
          </p:cNvPr>
          <p:cNvSpPr/>
          <p:nvPr/>
        </p:nvSpPr>
        <p:spPr>
          <a:xfrm>
            <a:off x="7286224" y="5805253"/>
            <a:ext cx="2032400" cy="275131"/>
          </a:xfrm>
          <a:prstGeom prst="homePlate">
            <a:avLst>
              <a:gd name="adj" fmla="val 15079"/>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err="1">
                <a:solidFill>
                  <a:schemeClr val="tx1"/>
                </a:solidFill>
                <a:latin typeface="Meiryo UI" panose="020B0604030504040204" pitchFamily="34" charset="-128"/>
                <a:ea typeface="Meiryo UI" panose="020B0604030504040204" pitchFamily="34" charset="-128"/>
              </a:rPr>
              <a:t>AsIs</a:t>
            </a:r>
            <a:r>
              <a:rPr lang="ja-JP" altLang="en-US" sz="900" dirty="0">
                <a:solidFill>
                  <a:schemeClr val="tx1"/>
                </a:solidFill>
                <a:latin typeface="Meiryo UI" panose="020B0604030504040204" pitchFamily="34" charset="-128"/>
                <a:ea typeface="Meiryo UI" panose="020B0604030504040204" pitchFamily="34" charset="-128"/>
              </a:rPr>
              <a:t>業務分析</a:t>
            </a:r>
            <a:br>
              <a:rPr lang="en-US" altLang="ja-JP" sz="900" dirty="0">
                <a:solidFill>
                  <a:schemeClr val="tx1"/>
                </a:solidFill>
                <a:latin typeface="Meiryo UI" panose="020B0604030504040204" pitchFamily="34" charset="-128"/>
                <a:ea typeface="Meiryo UI" panose="020B0604030504040204" pitchFamily="34" charset="-128"/>
              </a:rPr>
            </a:br>
            <a:r>
              <a:rPr lang="en-US" altLang="ja-JP" sz="900" dirty="0">
                <a:solidFill>
                  <a:schemeClr val="tx1"/>
                </a:solidFill>
                <a:latin typeface="Meiryo UI" panose="020B0604030504040204" pitchFamily="34" charset="-128"/>
                <a:ea typeface="Meiryo UI" panose="020B0604030504040204" pitchFamily="34" charset="-128"/>
              </a:rPr>
              <a:t>(#2</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116" name="ホームベース 126">
            <a:extLst>
              <a:ext uri="{FF2B5EF4-FFF2-40B4-BE49-F238E27FC236}">
                <a16:creationId xmlns:a16="http://schemas.microsoft.com/office/drawing/2014/main" id="{0A4BADDC-CAD7-4323-8BA5-139DF5053D76}"/>
              </a:ext>
            </a:extLst>
          </p:cNvPr>
          <p:cNvSpPr/>
          <p:nvPr/>
        </p:nvSpPr>
        <p:spPr>
          <a:xfrm>
            <a:off x="6069306" y="5792384"/>
            <a:ext cx="1155885"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en-US" altLang="ja-JP" sz="900" dirty="0">
                <a:solidFill>
                  <a:schemeClr val="tx1"/>
                </a:solidFill>
                <a:latin typeface="Meiryo UI" panose="020B0604030504040204" pitchFamily="34" charset="-128"/>
                <a:ea typeface="Meiryo UI" panose="020B0604030504040204" pitchFamily="34" charset="-128"/>
              </a:rPr>
              <a:t>TOBE</a:t>
            </a:r>
            <a:r>
              <a:rPr lang="ja-JP" altLang="en-US" sz="900" dirty="0">
                <a:solidFill>
                  <a:schemeClr val="tx1"/>
                </a:solidFill>
                <a:latin typeface="Meiryo UI" panose="020B0604030504040204" pitchFamily="34" charset="-128"/>
                <a:ea typeface="Meiryo UI" panose="020B0604030504040204" pitchFamily="34" charset="-128"/>
              </a:rPr>
              <a:t>ﾌﾛ</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記述ｽｺｰﾌﾟ定義</a:t>
            </a:r>
          </a:p>
        </p:txBody>
      </p:sp>
      <p:sp>
        <p:nvSpPr>
          <p:cNvPr id="117" name="AutoShape 242">
            <a:extLst>
              <a:ext uri="{FF2B5EF4-FFF2-40B4-BE49-F238E27FC236}">
                <a16:creationId xmlns:a16="http://schemas.microsoft.com/office/drawing/2014/main" id="{75D29C02-C416-4E4D-8067-DCF545797F2B}"/>
              </a:ext>
            </a:extLst>
          </p:cNvPr>
          <p:cNvSpPr>
            <a:spLocks noChangeArrowheads="1"/>
          </p:cNvSpPr>
          <p:nvPr/>
        </p:nvSpPr>
        <p:spPr bwMode="auto">
          <a:xfrm>
            <a:off x="2161210" y="5791046"/>
            <a:ext cx="516613" cy="288000"/>
          </a:xfrm>
          <a:prstGeom prst="rect">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algn="ctr" defTabSz="457133" eaLnBrk="1" hangingPunct="1">
              <a:lnSpc>
                <a:spcPct val="85000"/>
              </a:lnSpc>
            </a:pPr>
            <a:r>
              <a:rPr lang="ja-JP" altLang="en-US" sz="800" u="none" dirty="0">
                <a:solidFill>
                  <a:srgbClr val="FFFFFF"/>
                </a:solidFill>
                <a:latin typeface="Meiryo UI" panose="020B0604030504040204" pitchFamily="34" charset="-128"/>
                <a:ea typeface="Meiryo UI" panose="020B0604030504040204" pitchFamily="34" charset="-128"/>
              </a:rPr>
              <a:t>業務</a:t>
            </a:r>
            <a:r>
              <a:rPr lang="en-US" altLang="ja-JP" sz="800" u="none" dirty="0">
                <a:solidFill>
                  <a:srgbClr val="FFFFFF"/>
                </a:solidFill>
                <a:latin typeface="Meiryo UI" panose="020B0604030504040204" pitchFamily="34" charset="-128"/>
                <a:ea typeface="Meiryo UI" panose="020B0604030504040204" pitchFamily="34" charset="-128"/>
              </a:rPr>
              <a:t>WG</a:t>
            </a:r>
            <a:endParaRPr lang="ja-JP" altLang="en-US" sz="800" u="none" dirty="0">
              <a:solidFill>
                <a:srgbClr val="FFFFFF"/>
              </a:solidFill>
              <a:latin typeface="Meiryo UI" panose="020B0604030504040204" pitchFamily="34" charset="-128"/>
              <a:ea typeface="Meiryo UI" panose="020B0604030504040204" pitchFamily="34" charset="-128"/>
            </a:endParaRPr>
          </a:p>
        </p:txBody>
      </p:sp>
      <p:grpSp>
        <p:nvGrpSpPr>
          <p:cNvPr id="131" name="グループ化 130">
            <a:extLst>
              <a:ext uri="{FF2B5EF4-FFF2-40B4-BE49-F238E27FC236}">
                <a16:creationId xmlns:a16="http://schemas.microsoft.com/office/drawing/2014/main" id="{3A4857B5-FBC8-46DE-AC37-5104B1D17E11}"/>
              </a:ext>
            </a:extLst>
          </p:cNvPr>
          <p:cNvGrpSpPr/>
          <p:nvPr/>
        </p:nvGrpSpPr>
        <p:grpSpPr>
          <a:xfrm>
            <a:off x="7020528" y="4829086"/>
            <a:ext cx="2151865" cy="478345"/>
            <a:chOff x="4533010" y="3037019"/>
            <a:chExt cx="2151865" cy="478345"/>
          </a:xfrm>
        </p:grpSpPr>
        <p:sp>
          <p:nvSpPr>
            <p:cNvPr id="132" name="Rectangle 70">
              <a:extLst>
                <a:ext uri="{FF2B5EF4-FFF2-40B4-BE49-F238E27FC236}">
                  <a16:creationId xmlns:a16="http://schemas.microsoft.com/office/drawing/2014/main" id="{A297FDBA-F1BF-4F58-8BBD-445E0BDA6B6E}"/>
                </a:ext>
              </a:extLst>
            </p:cNvPr>
            <p:cNvSpPr>
              <a:spLocks noChangeArrowheads="1"/>
            </p:cNvSpPr>
            <p:nvPr/>
          </p:nvSpPr>
          <p:spPr bwMode="auto">
            <a:xfrm>
              <a:off x="4533010"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1000" b="1" kern="0" dirty="0">
                  <a:solidFill>
                    <a:srgbClr val="000000"/>
                  </a:solidFill>
                  <a:latin typeface="Meiryo UI" panose="020B0604030504040204" pitchFamily="50" charset="-128"/>
                  <a:ea typeface="Meiryo UI" panose="020B0604030504040204" pitchFamily="50" charset="-128"/>
                </a:rPr>
                <a:t>2</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モデルケースとの検証</a:t>
              </a:r>
            </a:p>
          </p:txBody>
        </p:sp>
        <p:sp>
          <p:nvSpPr>
            <p:cNvPr id="133" name="Rectangle 70">
              <a:extLst>
                <a:ext uri="{FF2B5EF4-FFF2-40B4-BE49-F238E27FC236}">
                  <a16:creationId xmlns:a16="http://schemas.microsoft.com/office/drawing/2014/main" id="{68045D2F-5182-4CD9-A388-45467C1C5057}"/>
                </a:ext>
              </a:extLst>
            </p:cNvPr>
            <p:cNvSpPr>
              <a:spLocks noChangeArrowheads="1"/>
            </p:cNvSpPr>
            <p:nvPr/>
          </p:nvSpPr>
          <p:spPr bwMode="auto">
            <a:xfrm>
              <a:off x="4533010"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900" u="none" kern="0" dirty="0">
                  <a:solidFill>
                    <a:srgbClr val="000000"/>
                  </a:solidFill>
                  <a:latin typeface="Meiryo UI" panose="020B0604030504040204" pitchFamily="50" charset="-128"/>
                  <a:ea typeface="Meiryo UI" panose="020B0604030504040204" pitchFamily="50" charset="-128"/>
                </a:rPr>
                <a:t>DM</a:t>
              </a:r>
              <a:r>
                <a:rPr lang="ja-JP" altLang="en-US" sz="900" u="none" kern="0" dirty="0">
                  <a:solidFill>
                    <a:srgbClr val="000000"/>
                  </a:solidFill>
                  <a:latin typeface="Meiryo UI" panose="020B0604030504040204" pitchFamily="50" charset="-128"/>
                  <a:ea typeface="Meiryo UI" panose="020B0604030504040204" pitchFamily="50" charset="-128"/>
                </a:rPr>
                <a:t>実施スコープで想定している実施内容と実際の検討状況の</a:t>
              </a:r>
              <a:r>
                <a:rPr lang="en-US" altLang="ja-JP" sz="900" u="none" kern="0" dirty="0">
                  <a:solidFill>
                    <a:srgbClr val="000000"/>
                  </a:solidFill>
                  <a:latin typeface="Meiryo UI" panose="020B0604030504040204" pitchFamily="50" charset="-128"/>
                  <a:ea typeface="Meiryo UI" panose="020B0604030504040204" pitchFamily="50" charset="-128"/>
                </a:rPr>
                <a:t>Fit</a:t>
              </a:r>
              <a:r>
                <a:rPr lang="ja-JP" altLang="en-US" sz="900" u="none" kern="0" dirty="0">
                  <a:solidFill>
                    <a:srgbClr val="000000"/>
                  </a:solidFill>
                  <a:latin typeface="Meiryo UI" panose="020B0604030504040204" pitchFamily="50" charset="-128"/>
                  <a:ea typeface="Meiryo UI" panose="020B0604030504040204" pitchFamily="50" charset="-128"/>
                </a:rPr>
                <a:t> </a:t>
              </a:r>
              <a:r>
                <a:rPr lang="en-US" altLang="ja-JP" sz="900" u="none" kern="0" dirty="0">
                  <a:solidFill>
                    <a:srgbClr val="000000"/>
                  </a:solidFill>
                  <a:latin typeface="Meiryo UI" panose="020B0604030504040204" pitchFamily="50" charset="-128"/>
                  <a:ea typeface="Meiryo UI" panose="020B0604030504040204" pitchFamily="50" charset="-128"/>
                </a:rPr>
                <a:t>&amp;</a:t>
              </a:r>
              <a:r>
                <a:rPr lang="ja-JP" altLang="en-US" sz="900" u="none" kern="0" dirty="0">
                  <a:solidFill>
                    <a:srgbClr val="000000"/>
                  </a:solidFill>
                  <a:latin typeface="Meiryo UI" panose="020B0604030504040204" pitchFamily="50" charset="-128"/>
                  <a:ea typeface="Meiryo UI" panose="020B0604030504040204" pitchFamily="50" charset="-128"/>
                </a:rPr>
                <a:t> </a:t>
              </a:r>
              <a:r>
                <a:rPr lang="en-US" altLang="ja-JP" sz="900" u="none" kern="0" dirty="0">
                  <a:solidFill>
                    <a:srgbClr val="000000"/>
                  </a:solidFill>
                  <a:latin typeface="Meiryo UI" panose="020B0604030504040204" pitchFamily="50" charset="-128"/>
                  <a:ea typeface="Meiryo UI" panose="020B0604030504040204" pitchFamily="50" charset="-128"/>
                </a:rPr>
                <a:t>Gap</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cxnSp>
        <p:nvCxnSpPr>
          <p:cNvPr id="134" name="直線矢印コネクタ 280">
            <a:extLst>
              <a:ext uri="{FF2B5EF4-FFF2-40B4-BE49-F238E27FC236}">
                <a16:creationId xmlns:a16="http://schemas.microsoft.com/office/drawing/2014/main" id="{F41FC207-D236-4197-800C-5AE0433939B2}"/>
              </a:ext>
            </a:extLst>
          </p:cNvPr>
          <p:cNvCxnSpPr>
            <a:cxnSpLocks/>
            <a:stCxn id="27" idx="3"/>
            <a:endCxn id="132" idx="1"/>
          </p:cNvCxnSpPr>
          <p:nvPr/>
        </p:nvCxnSpPr>
        <p:spPr>
          <a:xfrm>
            <a:off x="6833836" y="2768687"/>
            <a:ext cx="186692" cy="2204862"/>
          </a:xfrm>
          <a:prstGeom prst="bentConnector3">
            <a:avLst>
              <a:gd name="adj1" fmla="val 50000"/>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7" name="直線矢印コネクタ 280">
            <a:extLst>
              <a:ext uri="{FF2B5EF4-FFF2-40B4-BE49-F238E27FC236}">
                <a16:creationId xmlns:a16="http://schemas.microsoft.com/office/drawing/2014/main" id="{4E532FED-9663-4863-AAAA-D4134D06AE0C}"/>
              </a:ext>
            </a:extLst>
          </p:cNvPr>
          <p:cNvCxnSpPr>
            <a:cxnSpLocks/>
            <a:stCxn id="110" idx="1"/>
            <a:endCxn id="26" idx="1"/>
          </p:cNvCxnSpPr>
          <p:nvPr/>
        </p:nvCxnSpPr>
        <p:spPr>
          <a:xfrm rot="10800000">
            <a:off x="4681971" y="2579267"/>
            <a:ext cx="12700" cy="2394282"/>
          </a:xfrm>
          <a:prstGeom prst="bentConnector3">
            <a:avLst>
              <a:gd name="adj1" fmla="val 1800000"/>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sp>
        <p:nvSpPr>
          <p:cNvPr id="159" name="矢印: 環状 137">
            <a:extLst>
              <a:ext uri="{FF2B5EF4-FFF2-40B4-BE49-F238E27FC236}">
                <a16:creationId xmlns:a16="http://schemas.microsoft.com/office/drawing/2014/main" id="{31A1B6D6-4A3F-4B6F-A9FA-F4F800F858FC}"/>
              </a:ext>
            </a:extLst>
          </p:cNvPr>
          <p:cNvSpPr/>
          <p:nvPr/>
        </p:nvSpPr>
        <p:spPr>
          <a:xfrm>
            <a:off x="3226043" y="3721645"/>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0" name="矢印: 環状 137">
            <a:extLst>
              <a:ext uri="{FF2B5EF4-FFF2-40B4-BE49-F238E27FC236}">
                <a16:creationId xmlns:a16="http://schemas.microsoft.com/office/drawing/2014/main" id="{4CFFF70E-2C2E-49D0-8E63-13D868B0A05E}"/>
              </a:ext>
            </a:extLst>
          </p:cNvPr>
          <p:cNvSpPr/>
          <p:nvPr/>
        </p:nvSpPr>
        <p:spPr>
          <a:xfrm>
            <a:off x="3044432" y="3724080"/>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4" name="矢印: 環状 137">
            <a:extLst>
              <a:ext uri="{FF2B5EF4-FFF2-40B4-BE49-F238E27FC236}">
                <a16:creationId xmlns:a16="http://schemas.microsoft.com/office/drawing/2014/main" id="{EE4E0978-8E5A-4ED0-A210-17147B489D28}"/>
              </a:ext>
            </a:extLst>
          </p:cNvPr>
          <p:cNvSpPr/>
          <p:nvPr/>
        </p:nvSpPr>
        <p:spPr>
          <a:xfrm>
            <a:off x="5351908" y="3721645"/>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5" name="矢印: 環状 137">
            <a:extLst>
              <a:ext uri="{FF2B5EF4-FFF2-40B4-BE49-F238E27FC236}">
                <a16:creationId xmlns:a16="http://schemas.microsoft.com/office/drawing/2014/main" id="{6666F1DD-DA9A-4857-B05C-89C6075AA6DA}"/>
              </a:ext>
            </a:extLst>
          </p:cNvPr>
          <p:cNvSpPr/>
          <p:nvPr/>
        </p:nvSpPr>
        <p:spPr>
          <a:xfrm>
            <a:off x="5170297" y="3724080"/>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6" name="矢印: 環状 137">
            <a:extLst>
              <a:ext uri="{FF2B5EF4-FFF2-40B4-BE49-F238E27FC236}">
                <a16:creationId xmlns:a16="http://schemas.microsoft.com/office/drawing/2014/main" id="{0105A347-DD61-480F-8E5D-8B16DB09681A}"/>
              </a:ext>
            </a:extLst>
          </p:cNvPr>
          <p:cNvSpPr/>
          <p:nvPr/>
        </p:nvSpPr>
        <p:spPr>
          <a:xfrm>
            <a:off x="6242064" y="3721645"/>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7" name="矢印: 環状 137">
            <a:extLst>
              <a:ext uri="{FF2B5EF4-FFF2-40B4-BE49-F238E27FC236}">
                <a16:creationId xmlns:a16="http://schemas.microsoft.com/office/drawing/2014/main" id="{4FB53934-505A-41C6-82B1-94688EEDB49D}"/>
              </a:ext>
            </a:extLst>
          </p:cNvPr>
          <p:cNvSpPr/>
          <p:nvPr/>
        </p:nvSpPr>
        <p:spPr>
          <a:xfrm>
            <a:off x="6060453" y="3724080"/>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8" name="矢印: 環状 137">
            <a:extLst>
              <a:ext uri="{FF2B5EF4-FFF2-40B4-BE49-F238E27FC236}">
                <a16:creationId xmlns:a16="http://schemas.microsoft.com/office/drawing/2014/main" id="{25DED369-0E0B-4F4D-B13D-B3C1BBF08C33}"/>
              </a:ext>
            </a:extLst>
          </p:cNvPr>
          <p:cNvSpPr/>
          <p:nvPr/>
        </p:nvSpPr>
        <p:spPr>
          <a:xfrm>
            <a:off x="7582208" y="3721645"/>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69" name="矢印: 環状 137">
            <a:extLst>
              <a:ext uri="{FF2B5EF4-FFF2-40B4-BE49-F238E27FC236}">
                <a16:creationId xmlns:a16="http://schemas.microsoft.com/office/drawing/2014/main" id="{6BEA3F24-30DA-4C44-9DCF-0092D1D6C951}"/>
              </a:ext>
            </a:extLst>
          </p:cNvPr>
          <p:cNvSpPr/>
          <p:nvPr/>
        </p:nvSpPr>
        <p:spPr>
          <a:xfrm>
            <a:off x="7400597" y="3724080"/>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70" name="矢印: 環状 137">
            <a:extLst>
              <a:ext uri="{FF2B5EF4-FFF2-40B4-BE49-F238E27FC236}">
                <a16:creationId xmlns:a16="http://schemas.microsoft.com/office/drawing/2014/main" id="{542F940C-4873-4524-809A-0F2C2419770A}"/>
              </a:ext>
            </a:extLst>
          </p:cNvPr>
          <p:cNvSpPr/>
          <p:nvPr/>
        </p:nvSpPr>
        <p:spPr>
          <a:xfrm>
            <a:off x="8350705" y="5304664"/>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71" name="矢印: 環状 137">
            <a:extLst>
              <a:ext uri="{FF2B5EF4-FFF2-40B4-BE49-F238E27FC236}">
                <a16:creationId xmlns:a16="http://schemas.microsoft.com/office/drawing/2014/main" id="{EB4EC558-7906-4B5A-8042-B36F20314774}"/>
              </a:ext>
            </a:extLst>
          </p:cNvPr>
          <p:cNvSpPr/>
          <p:nvPr/>
        </p:nvSpPr>
        <p:spPr>
          <a:xfrm>
            <a:off x="8169094" y="5307099"/>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72" name="矢印: 環状 137">
            <a:extLst>
              <a:ext uri="{FF2B5EF4-FFF2-40B4-BE49-F238E27FC236}">
                <a16:creationId xmlns:a16="http://schemas.microsoft.com/office/drawing/2014/main" id="{DCE9A1E9-6207-4D21-BFAF-73E5EBBB6E5E}"/>
              </a:ext>
            </a:extLst>
          </p:cNvPr>
          <p:cNvSpPr/>
          <p:nvPr/>
        </p:nvSpPr>
        <p:spPr>
          <a:xfrm>
            <a:off x="5080572" y="5289424"/>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173" name="矢印: 環状 137">
            <a:extLst>
              <a:ext uri="{FF2B5EF4-FFF2-40B4-BE49-F238E27FC236}">
                <a16:creationId xmlns:a16="http://schemas.microsoft.com/office/drawing/2014/main" id="{9524707E-23C0-40E9-B6DA-3028B0C64C67}"/>
              </a:ext>
            </a:extLst>
          </p:cNvPr>
          <p:cNvSpPr/>
          <p:nvPr/>
        </p:nvSpPr>
        <p:spPr>
          <a:xfrm>
            <a:off x="4898961" y="5291859"/>
            <a:ext cx="162582" cy="341010"/>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Tree>
    <p:extLst>
      <p:ext uri="{BB962C8B-B14F-4D97-AF65-F5344CB8AC3E}">
        <p14:creationId xmlns:p14="http://schemas.microsoft.com/office/powerpoint/2010/main" val="167196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79106-AD7E-B748-8401-9C48EDC2F579}"/>
              </a:ext>
            </a:extLst>
          </p:cNvPr>
          <p:cNvSpPr>
            <a:spLocks noGrp="1"/>
          </p:cNvSpPr>
          <p:nvPr>
            <p:ph type="title"/>
          </p:nvPr>
        </p:nvSpPr>
        <p:spPr>
          <a:xfrm>
            <a:off x="236538" y="137677"/>
            <a:ext cx="8001940" cy="349961"/>
          </a:xfrm>
        </p:spPr>
        <p:txBody>
          <a:bodyPr/>
          <a:lstStyle/>
          <a:p>
            <a:r>
              <a:rPr lang="ja-JP" altLang="en-US" b="1"/>
              <a:t>データマネジメント実施スコープおよび実装ロードマップ策定の流れ</a:t>
            </a:r>
            <a:endParaRPr kumimoji="1" lang="ja-JP" altLang="en-US" b="1"/>
          </a:p>
        </p:txBody>
      </p:sp>
      <p:sp>
        <p:nvSpPr>
          <p:cNvPr id="5" name="テキスト プレースホルダー 2">
            <a:extLst>
              <a:ext uri="{FF2B5EF4-FFF2-40B4-BE49-F238E27FC236}">
                <a16:creationId xmlns:a16="http://schemas.microsoft.com/office/drawing/2014/main" id="{158928A6-7CAE-2F41-9AFC-5F7631C2DD96}"/>
              </a:ext>
            </a:extLst>
          </p:cNvPr>
          <p:cNvSpPr txBox="1">
            <a:spLocks/>
          </p:cNvSpPr>
          <p:nvPr/>
        </p:nvSpPr>
        <p:spPr>
          <a:xfrm>
            <a:off x="236537" y="574775"/>
            <a:ext cx="9432925" cy="565146"/>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ja-JP" altLang="en-US" b="1">
                <a:latin typeface="Meiryo UI" panose="020B0604030504040204" pitchFamily="34" charset="-128"/>
                <a:ea typeface="Meiryo UI" panose="020B0604030504040204" pitchFamily="34" charset="-128"/>
                <a:cs typeface="+mn-cs"/>
              </a:rPr>
              <a:t>データマネジメント強化により達成したい</a:t>
            </a:r>
            <a:r>
              <a:rPr lang="en-US" altLang="ja-JP" b="1" dirty="0">
                <a:latin typeface="Meiryo UI" panose="020B0604030504040204" pitchFamily="34" charset="-128"/>
                <a:ea typeface="Meiryo UI" panose="020B0604030504040204" pitchFamily="34" charset="-128"/>
                <a:cs typeface="+mn-cs"/>
              </a:rPr>
              <a:t>DM</a:t>
            </a:r>
            <a:r>
              <a:rPr lang="ja-JP" altLang="en-US" b="1">
                <a:latin typeface="Meiryo UI" panose="020B0604030504040204" pitchFamily="34" charset="-128"/>
                <a:ea typeface="Meiryo UI" panose="020B0604030504040204" pitchFamily="34" charset="-128"/>
                <a:cs typeface="+mn-cs"/>
              </a:rPr>
              <a:t>目的の仮説を設定し、実施する</a:t>
            </a:r>
            <a:r>
              <a:rPr lang="en-US" altLang="ja-JP" b="1" dirty="0">
                <a:latin typeface="Meiryo UI" panose="020B0604030504040204" pitchFamily="34" charset="-128"/>
                <a:ea typeface="Meiryo UI" panose="020B0604030504040204" pitchFamily="34" charset="-128"/>
                <a:cs typeface="+mn-cs"/>
              </a:rPr>
              <a:t>DMBOK</a:t>
            </a:r>
            <a:r>
              <a:rPr lang="ja-JP" altLang="en-US" b="1">
                <a:latin typeface="Meiryo UI" panose="020B0604030504040204" pitchFamily="34" charset="-128"/>
                <a:ea typeface="Meiryo UI" panose="020B0604030504040204" pitchFamily="34" charset="-128"/>
                <a:cs typeface="+mn-cs"/>
              </a:rPr>
              <a:t>の各アクティビティ</a:t>
            </a:r>
            <a:r>
              <a:rPr lang="en-US" altLang="ja-JP" b="1" baseline="30000" dirty="0">
                <a:latin typeface="Meiryo UI" panose="020B0604030504040204" pitchFamily="34" charset="-128"/>
                <a:ea typeface="Meiryo UI" panose="020B0604030504040204" pitchFamily="34" charset="-128"/>
                <a:cs typeface="+mn-cs"/>
              </a:rPr>
              <a:t>*1</a:t>
            </a:r>
            <a:r>
              <a:rPr lang="ja-JP" altLang="en-US" b="1">
                <a:latin typeface="Meiryo UI" panose="020B0604030504040204" pitchFamily="34" charset="-128"/>
                <a:ea typeface="Meiryo UI" panose="020B0604030504040204" pitchFamily="34" charset="-128"/>
                <a:cs typeface="+mn-cs"/>
              </a:rPr>
              <a:t>と実施レベルを実施スコープとして合意したうえで、今後の実装ロードマップを策定する。</a:t>
            </a:r>
          </a:p>
        </p:txBody>
      </p:sp>
      <p:sp>
        <p:nvSpPr>
          <p:cNvPr id="6" name="正方形/長方形 5">
            <a:extLst>
              <a:ext uri="{FF2B5EF4-FFF2-40B4-BE49-F238E27FC236}">
                <a16:creationId xmlns:a16="http://schemas.microsoft.com/office/drawing/2014/main" id="{D382C458-9BD1-F343-B1E2-98B9DBC3A2C9}"/>
              </a:ext>
            </a:extLst>
          </p:cNvPr>
          <p:cNvSpPr/>
          <p:nvPr/>
        </p:nvSpPr>
        <p:spPr>
          <a:xfrm>
            <a:off x="7190816" y="1473635"/>
            <a:ext cx="2500479" cy="576064"/>
          </a:xfrm>
          <a:prstGeom prst="rect">
            <a:avLst/>
          </a:prstGeom>
          <a:solidFill>
            <a:schemeClr val="tx2">
              <a:lumMod val="20000"/>
              <a:lumOff val="8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ja-JP" altLang="en-US" sz="1000">
                <a:solidFill>
                  <a:schemeClr val="tx1"/>
                </a:solidFill>
                <a:latin typeface="Meiryo UI" panose="020B0604030504040204" pitchFamily="50" charset="-128"/>
                <a:ea typeface="Meiryo UI" panose="020B0604030504040204" pitchFamily="50" charset="-128"/>
              </a:rPr>
              <a:t>データマネジメント方針および</a:t>
            </a:r>
            <a:endParaRPr lang="en-US" altLang="ja-JP" sz="1000" dirty="0">
              <a:solidFill>
                <a:schemeClr val="tx1"/>
              </a:solidFill>
              <a:latin typeface="Meiryo UI" panose="020B0604030504040204" pitchFamily="50" charset="-128"/>
              <a:ea typeface="Meiryo UI" panose="020B0604030504040204" pitchFamily="50" charset="-128"/>
            </a:endParaRPr>
          </a:p>
          <a:p>
            <a:pPr algn="ctr"/>
            <a:r>
              <a:rPr lang="ja-JP" altLang="en-US" sz="1000">
                <a:solidFill>
                  <a:schemeClr val="tx1"/>
                </a:solidFill>
                <a:latin typeface="Meiryo UI" panose="020B0604030504040204" pitchFamily="50" charset="-128"/>
                <a:ea typeface="Meiryo UI" panose="020B0604030504040204" pitchFamily="50" charset="-128"/>
              </a:rPr>
              <a:t>実装</a:t>
            </a:r>
            <a:r>
              <a:rPr lang="ja-JP" altLang="en-US" sz="1000" dirty="0">
                <a:solidFill>
                  <a:schemeClr val="tx1"/>
                </a:solidFill>
                <a:latin typeface="Meiryo UI" panose="020B0604030504040204" pitchFamily="50" charset="-128"/>
                <a:ea typeface="Meiryo UI" panose="020B0604030504040204" pitchFamily="50" charset="-128"/>
              </a:rPr>
              <a:t>ロードマップの策定</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8D6D1001-AA0D-BF4D-8DF0-2F00AB2832B6}"/>
              </a:ext>
            </a:extLst>
          </p:cNvPr>
          <p:cNvSpPr/>
          <p:nvPr/>
        </p:nvSpPr>
        <p:spPr>
          <a:xfrm>
            <a:off x="4207576" y="1473635"/>
            <a:ext cx="2500479" cy="576064"/>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ja-JP" altLang="en-US" sz="1000" b="1">
                <a:latin typeface="Meiryo UI" panose="020B0604030504040204" pitchFamily="34" charset="-128"/>
                <a:ea typeface="Meiryo UI" panose="020B0604030504040204" pitchFamily="34" charset="-128"/>
              </a:rPr>
              <a:t>データマネジメント</a:t>
            </a:r>
            <a:r>
              <a:rPr kumimoji="1" lang="ja-JP" altLang="en-US" sz="1000" b="1">
                <a:solidFill>
                  <a:schemeClr val="bg1"/>
                </a:solidFill>
                <a:latin typeface="Meiryo UI" panose="020B0604030504040204" pitchFamily="50" charset="-128"/>
                <a:ea typeface="Meiryo UI" panose="020B0604030504040204" pitchFamily="50" charset="-128"/>
              </a:rPr>
              <a:t>実施</a:t>
            </a:r>
            <a:r>
              <a:rPr kumimoji="1" lang="ja-JP" altLang="en-US" sz="1000" b="1" dirty="0">
                <a:solidFill>
                  <a:schemeClr val="bg1"/>
                </a:solidFill>
                <a:latin typeface="Meiryo UI" panose="020B0604030504040204" pitchFamily="50" charset="-128"/>
                <a:ea typeface="Meiryo UI" panose="020B0604030504040204" pitchFamily="50" charset="-128"/>
              </a:rPr>
              <a:t>スコープ仮説の策定</a:t>
            </a:r>
            <a:endParaRPr kumimoji="1" lang="en-US" altLang="ja-JP" sz="1000" b="1" dirty="0">
              <a:solidFill>
                <a:schemeClr val="bg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D635BAB7-2440-CA41-8915-40D3E119DBFC}"/>
              </a:ext>
            </a:extLst>
          </p:cNvPr>
          <p:cNvSpPr/>
          <p:nvPr/>
        </p:nvSpPr>
        <p:spPr>
          <a:xfrm>
            <a:off x="1224336" y="1473635"/>
            <a:ext cx="2500479" cy="576064"/>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ja-JP" altLang="en-US" sz="1000" b="1">
                <a:latin typeface="Meiryo UI" panose="020B0604030504040204" pitchFamily="34" charset="-128"/>
                <a:ea typeface="Meiryo UI" panose="020B0604030504040204" pitchFamily="34" charset="-128"/>
              </a:rPr>
              <a:t>データマネジメント</a:t>
            </a:r>
            <a:r>
              <a:rPr kumimoji="1" lang="ja-JP" altLang="en-US" sz="1000" b="1">
                <a:solidFill>
                  <a:schemeClr val="bg1"/>
                </a:solidFill>
                <a:latin typeface="Meiryo UI" panose="020B0604030504040204" pitchFamily="50" charset="-128"/>
                <a:ea typeface="Meiryo UI" panose="020B0604030504040204" pitchFamily="50" charset="-128"/>
              </a:rPr>
              <a:t>目的</a:t>
            </a:r>
            <a:endParaRPr kumimoji="1" lang="en-US" altLang="ja-JP" sz="1000" b="1" dirty="0">
              <a:solidFill>
                <a:schemeClr val="bg1"/>
              </a:solidFill>
              <a:latin typeface="Meiryo UI" panose="020B0604030504040204" pitchFamily="50" charset="-128"/>
              <a:ea typeface="Meiryo UI" panose="020B0604030504040204" pitchFamily="50" charset="-128"/>
            </a:endParaRPr>
          </a:p>
          <a:p>
            <a:pPr algn="ctr"/>
            <a:r>
              <a:rPr kumimoji="1" lang="ja-JP" altLang="en-US" sz="1000" b="1">
                <a:solidFill>
                  <a:schemeClr val="bg1"/>
                </a:solidFill>
                <a:latin typeface="Meiryo UI" panose="020B0604030504040204" pitchFamily="50" charset="-128"/>
                <a:ea typeface="Meiryo UI" panose="020B0604030504040204" pitchFamily="50" charset="-128"/>
              </a:rPr>
              <a:t>と</a:t>
            </a:r>
            <a:r>
              <a:rPr kumimoji="1" lang="en-US" altLang="ja-JP" sz="1000" b="1" dirty="0">
                <a:solidFill>
                  <a:schemeClr val="bg1"/>
                </a:solidFill>
                <a:latin typeface="Meiryo UI" panose="020B0604030504040204" pitchFamily="50" charset="-128"/>
                <a:ea typeface="Meiryo UI" panose="020B0604030504040204" pitchFamily="50" charset="-128"/>
              </a:rPr>
              <a:t>Critical Success Factor</a:t>
            </a:r>
          </a:p>
          <a:p>
            <a:pPr algn="ctr"/>
            <a:r>
              <a:rPr kumimoji="1" lang="ja-JP" altLang="en-US" sz="1000" b="1">
                <a:solidFill>
                  <a:schemeClr val="bg1"/>
                </a:solidFill>
                <a:latin typeface="Meiryo UI" panose="020B0604030504040204" pitchFamily="50" charset="-128"/>
                <a:ea typeface="Meiryo UI" panose="020B0604030504040204" pitchFamily="50" charset="-128"/>
              </a:rPr>
              <a:t>（</a:t>
            </a:r>
            <a:r>
              <a:rPr kumimoji="1" lang="en-US" altLang="ja-JP" sz="1000" b="1" dirty="0">
                <a:solidFill>
                  <a:schemeClr val="bg1"/>
                </a:solidFill>
                <a:latin typeface="Meiryo UI" panose="020B0604030504040204" pitchFamily="50" charset="-128"/>
                <a:ea typeface="Meiryo UI" panose="020B0604030504040204" pitchFamily="50" charset="-128"/>
              </a:rPr>
              <a:t>CSF</a:t>
            </a:r>
            <a:r>
              <a:rPr kumimoji="1" lang="ja-JP" altLang="en-US" sz="1000" b="1" dirty="0">
                <a:solidFill>
                  <a:schemeClr val="bg1"/>
                </a:solidFill>
                <a:latin typeface="Meiryo UI" panose="020B0604030504040204" pitchFamily="50" charset="-128"/>
                <a:ea typeface="Meiryo UI" panose="020B0604030504040204" pitchFamily="50" charset="-128"/>
              </a:rPr>
              <a:t>）の仮説設計</a:t>
            </a:r>
          </a:p>
        </p:txBody>
      </p:sp>
      <p:sp>
        <p:nvSpPr>
          <p:cNvPr id="9" name="二等辺三角形 10">
            <a:extLst>
              <a:ext uri="{FF2B5EF4-FFF2-40B4-BE49-F238E27FC236}">
                <a16:creationId xmlns:a16="http://schemas.microsoft.com/office/drawing/2014/main" id="{83115FF4-3D4C-E544-8952-8057923F2C7C}"/>
              </a:ext>
            </a:extLst>
          </p:cNvPr>
          <p:cNvSpPr/>
          <p:nvPr/>
        </p:nvSpPr>
        <p:spPr>
          <a:xfrm rot="5400000">
            <a:off x="3766312" y="1637515"/>
            <a:ext cx="399767" cy="248303"/>
          </a:xfrm>
          <a:prstGeom prst="triangle">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endParaRPr kumimoji="1" lang="ja-JP" altLang="en-US" sz="1000" dirty="0">
              <a:solidFill>
                <a:srgbClr val="4B4B4B"/>
              </a:solidFill>
              <a:latin typeface="Meiryo UI" panose="020B0604030504040204" pitchFamily="50" charset="-128"/>
              <a:ea typeface="Meiryo UI" panose="020B0604030504040204" pitchFamily="50" charset="-128"/>
            </a:endParaRPr>
          </a:p>
        </p:txBody>
      </p:sp>
      <p:sp>
        <p:nvSpPr>
          <p:cNvPr id="10" name="二等辺三角形 11">
            <a:extLst>
              <a:ext uri="{FF2B5EF4-FFF2-40B4-BE49-F238E27FC236}">
                <a16:creationId xmlns:a16="http://schemas.microsoft.com/office/drawing/2014/main" id="{64153B9B-9BAC-FE42-AD4A-5AD20A7EFF2A}"/>
              </a:ext>
            </a:extLst>
          </p:cNvPr>
          <p:cNvSpPr/>
          <p:nvPr/>
        </p:nvSpPr>
        <p:spPr>
          <a:xfrm rot="5400000">
            <a:off x="6749552" y="1637515"/>
            <a:ext cx="399767" cy="248303"/>
          </a:xfrm>
          <a:prstGeom prst="triangle">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endParaRPr kumimoji="1" lang="ja-JP" altLang="en-US" sz="1000" dirty="0">
              <a:solidFill>
                <a:srgbClr val="4B4B4B"/>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D1FDC37E-3410-8E40-80B6-83623FF2B67C}"/>
              </a:ext>
            </a:extLst>
          </p:cNvPr>
          <p:cNvSpPr/>
          <p:nvPr/>
        </p:nvSpPr>
        <p:spPr>
          <a:xfrm>
            <a:off x="7190816" y="2121707"/>
            <a:ext cx="2500479" cy="791244"/>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r>
              <a:rPr lang="ja-JP" altLang="en-US" sz="1000" dirty="0">
                <a:solidFill>
                  <a:schemeClr val="tx1"/>
                </a:solidFill>
                <a:latin typeface="Meiryo UI" panose="020B0604030504040204" pitchFamily="50" charset="-128"/>
                <a:ea typeface="Meiryo UI" panose="020B0604030504040204" pitchFamily="50" charset="-128"/>
              </a:rPr>
              <a:t>現状調査を通し初期仮説を検証し、</a:t>
            </a:r>
            <a:endParaRPr lang="en-US" altLang="ja-JP" sz="1000" dirty="0">
              <a:solidFill>
                <a:schemeClr val="tx1"/>
              </a:solidFill>
              <a:latin typeface="Meiryo UI" panose="020B0604030504040204" pitchFamily="50" charset="-128"/>
              <a:ea typeface="Meiryo UI" panose="020B0604030504040204" pitchFamily="50" charset="-128"/>
            </a:endParaRPr>
          </a:p>
          <a:p>
            <a:r>
              <a:rPr lang="en-US" altLang="ja-JP" sz="1000" dirty="0">
                <a:solidFill>
                  <a:schemeClr val="tx1"/>
                </a:solidFill>
                <a:latin typeface="Meiryo UI" panose="020B0604030504040204" pitchFamily="50" charset="-128"/>
                <a:ea typeface="Meiryo UI" panose="020B0604030504040204" pitchFamily="50" charset="-128"/>
              </a:rPr>
              <a:t>DM</a:t>
            </a:r>
            <a:r>
              <a:rPr lang="ja-JP" altLang="en-US" sz="1000" dirty="0">
                <a:solidFill>
                  <a:schemeClr val="tx1"/>
                </a:solidFill>
                <a:latin typeface="Meiryo UI" panose="020B0604030504040204" pitchFamily="50" charset="-128"/>
                <a:ea typeface="Meiryo UI" panose="020B0604030504040204" pitchFamily="50" charset="-128"/>
              </a:rPr>
              <a:t>方針および実装ロードマップを策定する。</a:t>
            </a:r>
          </a:p>
        </p:txBody>
      </p:sp>
      <p:sp>
        <p:nvSpPr>
          <p:cNvPr id="12" name="正方形/長方形 11">
            <a:extLst>
              <a:ext uri="{FF2B5EF4-FFF2-40B4-BE49-F238E27FC236}">
                <a16:creationId xmlns:a16="http://schemas.microsoft.com/office/drawing/2014/main" id="{94D4C91B-2FAA-C64D-8753-33FFD3480305}"/>
              </a:ext>
            </a:extLst>
          </p:cNvPr>
          <p:cNvSpPr/>
          <p:nvPr/>
        </p:nvSpPr>
        <p:spPr>
          <a:xfrm>
            <a:off x="4207576" y="2121707"/>
            <a:ext cx="2500479" cy="791244"/>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r>
              <a:rPr lang="ja-JP" altLang="en-US" sz="1000" dirty="0">
                <a:solidFill>
                  <a:srgbClr val="4B4B4B"/>
                </a:solidFill>
                <a:latin typeface="Meiryo UI" panose="020B0604030504040204" pitchFamily="50" charset="-128"/>
                <a:ea typeface="Meiryo UI" panose="020B0604030504040204" pitchFamily="50" charset="-128"/>
              </a:rPr>
              <a:t>策定したゴール・</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仮説を達成するため</a:t>
            </a:r>
            <a:r>
              <a:rPr lang="en-US" altLang="ja-JP" sz="1000" dirty="0">
                <a:solidFill>
                  <a:srgbClr val="4B4B4B"/>
                </a:solidFill>
                <a:latin typeface="Meiryo UI" panose="020B0604030504040204" pitchFamily="50" charset="-128"/>
                <a:ea typeface="Meiryo UI" panose="020B0604030504040204" pitchFamily="50" charset="-128"/>
              </a:rPr>
              <a:t>DAMA</a:t>
            </a:r>
            <a:r>
              <a:rPr lang="ja-JP" altLang="en-US" sz="1000" dirty="0">
                <a:solidFill>
                  <a:srgbClr val="4B4B4B"/>
                </a:solidFill>
                <a:latin typeface="Meiryo UI" panose="020B0604030504040204" pitchFamily="50" charset="-128"/>
                <a:ea typeface="Meiryo UI" panose="020B0604030504040204" pitchFamily="50" charset="-128"/>
              </a:rPr>
              <a:t>の各ナレッジエリアで求められる</a:t>
            </a:r>
            <a:br>
              <a:rPr lang="en-US" altLang="ja-JP" sz="1000" dirty="0">
                <a:solidFill>
                  <a:srgbClr val="4B4B4B"/>
                </a:solidFill>
                <a:latin typeface="Meiryo UI" panose="020B0604030504040204" pitchFamily="50" charset="-128"/>
                <a:ea typeface="Meiryo UI" panose="020B0604030504040204" pitchFamily="50" charset="-128"/>
              </a:rPr>
            </a:br>
            <a:r>
              <a:rPr lang="ja-JP" altLang="en-US" sz="1000" dirty="0">
                <a:solidFill>
                  <a:srgbClr val="4B4B4B"/>
                </a:solidFill>
                <a:latin typeface="Meiryo UI" panose="020B0604030504040204" pitchFamily="50" charset="-128"/>
                <a:ea typeface="Meiryo UI" panose="020B0604030504040204" pitchFamily="50" charset="-128"/>
              </a:rPr>
              <a:t>アクティビティ</a:t>
            </a:r>
            <a:r>
              <a:rPr lang="ja-JP" altLang="en-US" sz="1000">
                <a:solidFill>
                  <a:srgbClr val="4B4B4B"/>
                </a:solidFill>
                <a:latin typeface="Meiryo UI" panose="020B0604030504040204" pitchFamily="50" charset="-128"/>
                <a:ea typeface="Meiryo UI" panose="020B0604030504040204" pitchFamily="50" charset="-128"/>
              </a:rPr>
              <a:t>の実施レベルや</a:t>
            </a:r>
            <a:r>
              <a:rPr lang="ja-JP" altLang="en-US" sz="1000" dirty="0">
                <a:solidFill>
                  <a:srgbClr val="4B4B4B"/>
                </a:solidFill>
                <a:latin typeface="Meiryo UI" panose="020B0604030504040204" pitchFamily="50" charset="-128"/>
                <a:ea typeface="Meiryo UI" panose="020B0604030504040204" pitchFamily="50" charset="-128"/>
              </a:rPr>
              <a:t>実践する項目の</a:t>
            </a:r>
            <a:br>
              <a:rPr lang="en-US" altLang="ja-JP" sz="1000" dirty="0">
                <a:solidFill>
                  <a:srgbClr val="4B4B4B"/>
                </a:solidFill>
                <a:latin typeface="Meiryo UI" panose="020B0604030504040204" pitchFamily="50" charset="-128"/>
                <a:ea typeface="Meiryo UI" panose="020B0604030504040204" pitchFamily="50" charset="-128"/>
              </a:rPr>
            </a:br>
            <a:r>
              <a:rPr lang="ja-JP" altLang="en-US" sz="1000" dirty="0">
                <a:solidFill>
                  <a:srgbClr val="4B4B4B"/>
                </a:solidFill>
                <a:latin typeface="Meiryo UI" panose="020B0604030504040204" pitchFamily="50" charset="-128"/>
                <a:ea typeface="Meiryo UI" panose="020B0604030504040204" pitchFamily="50" charset="-128"/>
              </a:rPr>
              <a:t>初期仮説を策定する。</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700DB114-1DA9-1C4D-A754-5C85E1BFE33A}"/>
              </a:ext>
            </a:extLst>
          </p:cNvPr>
          <p:cNvSpPr/>
          <p:nvPr/>
        </p:nvSpPr>
        <p:spPr>
          <a:xfrm>
            <a:off x="1224336" y="2121707"/>
            <a:ext cx="2500479" cy="791244"/>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を通して達成したいゴールと、そのゴールの実現に向けた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に対する初期仮説を策定する。</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E51C63C3-9CE0-BC46-8656-EC7D4A4BCA13}"/>
              </a:ext>
            </a:extLst>
          </p:cNvPr>
          <p:cNvSpPr/>
          <p:nvPr/>
        </p:nvSpPr>
        <p:spPr>
          <a:xfrm>
            <a:off x="228599" y="2121707"/>
            <a:ext cx="907977" cy="791244"/>
          </a:xfrm>
          <a:prstGeom prst="rect">
            <a:avLst/>
          </a:prstGeom>
          <a:solidFill>
            <a:schemeClr val="tx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Definition</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132144F5-4A01-4E49-BDDF-1B764B6688FF}"/>
              </a:ext>
            </a:extLst>
          </p:cNvPr>
          <p:cNvSpPr/>
          <p:nvPr/>
        </p:nvSpPr>
        <p:spPr>
          <a:xfrm>
            <a:off x="228599" y="1473635"/>
            <a:ext cx="907977" cy="576064"/>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ja-JP" altLang="en-US" sz="1000" b="1" dirty="0">
                <a:solidFill>
                  <a:schemeClr val="bg1"/>
                </a:solidFill>
                <a:latin typeface="Meiryo UI" panose="020B0604030504040204" pitchFamily="50" charset="-128"/>
                <a:ea typeface="Meiryo UI" panose="020B0604030504040204" pitchFamily="50" charset="-128"/>
              </a:rPr>
              <a:t>ステップ</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5B998255-EC36-2041-9609-419FD708DD67}"/>
              </a:ext>
            </a:extLst>
          </p:cNvPr>
          <p:cNvSpPr/>
          <p:nvPr/>
        </p:nvSpPr>
        <p:spPr>
          <a:xfrm>
            <a:off x="228599" y="2985381"/>
            <a:ext cx="907977" cy="864096"/>
          </a:xfrm>
          <a:prstGeom prst="rect">
            <a:avLst/>
          </a:prstGeom>
          <a:solidFill>
            <a:schemeClr val="tx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en-US" altLang="ja-JP" sz="1000" dirty="0">
                <a:solidFill>
                  <a:schemeClr val="tx1"/>
                </a:solidFill>
                <a:latin typeface="Meiryo UI" panose="020B0604030504040204" pitchFamily="50" charset="-128"/>
                <a:ea typeface="Meiryo UI" panose="020B0604030504040204" pitchFamily="50" charset="-128"/>
              </a:rPr>
              <a:t>Input</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51D61AAE-75A4-BF4C-9674-D015DC790FDC}"/>
              </a:ext>
            </a:extLst>
          </p:cNvPr>
          <p:cNvSpPr/>
          <p:nvPr/>
        </p:nvSpPr>
        <p:spPr>
          <a:xfrm>
            <a:off x="7190816" y="2985381"/>
            <a:ext cx="2500479" cy="864096"/>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で達成すべきゴール仮説（改訂版）</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ゴール達成に向けた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仮説（改訂版）</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DAMA Wheel</a:t>
            </a:r>
            <a:r>
              <a:rPr lang="ja-JP" altLang="en-US" sz="1000" dirty="0">
                <a:solidFill>
                  <a:srgbClr val="4B4B4B"/>
                </a:solidFill>
                <a:latin typeface="Meiryo UI" panose="020B0604030504040204" pitchFamily="50" charset="-128"/>
                <a:ea typeface="Meiryo UI" panose="020B0604030504040204" pitchFamily="50" charset="-128"/>
              </a:rPr>
              <a:t>単位の実施スコープ案</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CDB6E80C-E4BD-1241-A222-0D2B03AB7C01}"/>
              </a:ext>
            </a:extLst>
          </p:cNvPr>
          <p:cNvSpPr/>
          <p:nvPr/>
        </p:nvSpPr>
        <p:spPr>
          <a:xfrm>
            <a:off x="4207576" y="2985381"/>
            <a:ext cx="2500479" cy="864096"/>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で達成すべきゴール仮説</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ゴール達成に向けた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仮説</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1D3C0E1F-74B0-B741-9CEE-FE2B896A3698}"/>
              </a:ext>
            </a:extLst>
          </p:cNvPr>
          <p:cNvSpPr/>
          <p:nvPr/>
        </p:nvSpPr>
        <p:spPr>
          <a:xfrm>
            <a:off x="1224336" y="2985381"/>
            <a:ext cx="2500479" cy="864096"/>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システムとデータアーキテクチャーの</a:t>
            </a:r>
            <a:r>
              <a:rPr lang="en-US" altLang="ja-JP" sz="1000" dirty="0">
                <a:solidFill>
                  <a:srgbClr val="4B4B4B"/>
                </a:solidFill>
                <a:latin typeface="Meiryo UI" panose="020B0604030504040204" pitchFamily="50" charset="-128"/>
                <a:ea typeface="Meiryo UI" panose="020B0604030504040204" pitchFamily="50" charset="-128"/>
              </a:rPr>
              <a:t>As</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Is</a:t>
            </a:r>
            <a:r>
              <a:rPr lang="ja-JP" altLang="en-US" sz="1000" dirty="0">
                <a:solidFill>
                  <a:srgbClr val="4B4B4B"/>
                </a:solidFill>
                <a:latin typeface="Meiryo UI" panose="020B0604030504040204" pitchFamily="50" charset="-128"/>
                <a:ea typeface="Meiryo UI" panose="020B0604030504040204" pitchFamily="50" charset="-128"/>
              </a:rPr>
              <a:t>に</a:t>
            </a:r>
            <a:br>
              <a:rPr lang="en-US" altLang="ja-JP" sz="1000" dirty="0">
                <a:solidFill>
                  <a:srgbClr val="4B4B4B"/>
                </a:solidFill>
                <a:latin typeface="Meiryo UI" panose="020B0604030504040204" pitchFamily="50" charset="-128"/>
                <a:ea typeface="Meiryo UI" panose="020B0604030504040204" pitchFamily="50" charset="-128"/>
              </a:rPr>
            </a:br>
            <a:r>
              <a:rPr lang="ja-JP" altLang="en-US" sz="1000" dirty="0">
                <a:solidFill>
                  <a:srgbClr val="4B4B4B"/>
                </a:solidFill>
                <a:latin typeface="Meiryo UI" panose="020B0604030504040204" pitchFamily="50" charset="-128"/>
                <a:ea typeface="Meiryo UI" panose="020B0604030504040204" pitchFamily="50" charset="-128"/>
              </a:rPr>
              <a:t>関するハイレベルな情報（</a:t>
            </a:r>
            <a:r>
              <a:rPr lang="en-US" altLang="ja-JP" sz="1000" dirty="0">
                <a:solidFill>
                  <a:srgbClr val="4B4B4B"/>
                </a:solidFill>
                <a:latin typeface="Meiryo UI" panose="020B0604030504040204" pitchFamily="50" charset="-128"/>
                <a:ea typeface="Meiryo UI" panose="020B0604030504040204" pitchFamily="50" charset="-128"/>
              </a:rPr>
              <a:t>Level</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1</a:t>
            </a:r>
            <a:r>
              <a:rPr lang="ja-JP" altLang="en-US" sz="1000" dirty="0">
                <a:solidFill>
                  <a:srgbClr val="4B4B4B"/>
                </a:solidFill>
                <a:latin typeface="Meiryo UI" panose="020B0604030504040204" pitchFamily="50" charset="-128"/>
                <a:ea typeface="Meiryo UI" panose="020B0604030504040204" pitchFamily="50" charset="-128"/>
              </a:rPr>
              <a:t>）</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現状の課題に関する仮説</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に影響を与える</a:t>
            </a:r>
            <a:r>
              <a:rPr lang="en-US" altLang="ja-JP" sz="1000" dirty="0">
                <a:solidFill>
                  <a:srgbClr val="4B4B4B"/>
                </a:solidFill>
                <a:latin typeface="Meiryo UI" panose="020B0604030504040204" pitchFamily="50" charset="-128"/>
                <a:ea typeface="Meiryo UI" panose="020B0604030504040204" pitchFamily="50" charset="-128"/>
              </a:rPr>
              <a:t>IT</a:t>
            </a:r>
            <a:r>
              <a:rPr lang="ja-JP" altLang="en-US" sz="1000" dirty="0">
                <a:solidFill>
                  <a:srgbClr val="4B4B4B"/>
                </a:solidFill>
                <a:latin typeface="Meiryo UI" panose="020B0604030504040204" pitchFamily="50" charset="-128"/>
                <a:ea typeface="Meiryo UI" panose="020B0604030504040204" pitchFamily="50" charset="-128"/>
              </a:rPr>
              <a:t>・ビジネスイベント情報</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1D18918C-A997-C242-ADD2-772C6989C784}"/>
              </a:ext>
            </a:extLst>
          </p:cNvPr>
          <p:cNvSpPr/>
          <p:nvPr/>
        </p:nvSpPr>
        <p:spPr>
          <a:xfrm>
            <a:off x="228599" y="5218473"/>
            <a:ext cx="907977" cy="719658"/>
          </a:xfrm>
          <a:prstGeom prst="rect">
            <a:avLst/>
          </a:prstGeom>
          <a:solidFill>
            <a:schemeClr val="tx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en-US" altLang="ja-JP" sz="1000" dirty="0">
                <a:solidFill>
                  <a:schemeClr val="tx1"/>
                </a:solidFill>
                <a:latin typeface="Meiryo UI" panose="020B0604030504040204" pitchFamily="50" charset="-128"/>
                <a:ea typeface="Meiryo UI" panose="020B0604030504040204" pitchFamily="50" charset="-128"/>
              </a:rPr>
              <a:t>Deliverables</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DD1FC34-FCB5-4C4E-9C84-D6194DFF29A4}"/>
              </a:ext>
            </a:extLst>
          </p:cNvPr>
          <p:cNvSpPr/>
          <p:nvPr/>
        </p:nvSpPr>
        <p:spPr>
          <a:xfrm>
            <a:off x="7190816" y="5218473"/>
            <a:ext cx="2500479" cy="719658"/>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データマネジメント方針</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実装ロードマップ</a:t>
            </a:r>
          </a:p>
        </p:txBody>
      </p:sp>
      <p:sp>
        <p:nvSpPr>
          <p:cNvPr id="22" name="正方形/長方形 21">
            <a:extLst>
              <a:ext uri="{FF2B5EF4-FFF2-40B4-BE49-F238E27FC236}">
                <a16:creationId xmlns:a16="http://schemas.microsoft.com/office/drawing/2014/main" id="{C693683D-2BDC-2745-9E73-463DE7ABA0D7}"/>
              </a:ext>
            </a:extLst>
          </p:cNvPr>
          <p:cNvSpPr/>
          <p:nvPr/>
        </p:nvSpPr>
        <p:spPr>
          <a:xfrm>
            <a:off x="4207576" y="5218473"/>
            <a:ext cx="2500479" cy="719658"/>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で達成すべきゴール仮説（改訂版）</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ゴール達成に向けた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仮説（改訂版）</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DAMA Wheel</a:t>
            </a:r>
            <a:r>
              <a:rPr lang="ja-JP" altLang="en-US" sz="1000" dirty="0">
                <a:solidFill>
                  <a:srgbClr val="4B4B4B"/>
                </a:solidFill>
                <a:latin typeface="Meiryo UI" panose="020B0604030504040204" pitchFamily="50" charset="-128"/>
                <a:ea typeface="Meiryo UI" panose="020B0604030504040204" pitchFamily="50" charset="-128"/>
              </a:rPr>
              <a:t>単位の実施スコープ案</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EF4BB30E-9616-4E43-B5D5-F4CF81608C21}"/>
              </a:ext>
            </a:extLst>
          </p:cNvPr>
          <p:cNvSpPr/>
          <p:nvPr/>
        </p:nvSpPr>
        <p:spPr>
          <a:xfrm>
            <a:off x="1224336" y="5218473"/>
            <a:ext cx="2500479" cy="719658"/>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ctr"/>
          <a:lstStyle/>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で達成すべきゴール仮説</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ゴール達成に向けた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仮説</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869020DF-4A0A-E240-84A4-C41E65226643}"/>
              </a:ext>
            </a:extLst>
          </p:cNvPr>
          <p:cNvSpPr/>
          <p:nvPr/>
        </p:nvSpPr>
        <p:spPr>
          <a:xfrm>
            <a:off x="228599" y="3921907"/>
            <a:ext cx="907977" cy="1224136"/>
          </a:xfrm>
          <a:prstGeom prst="rect">
            <a:avLst/>
          </a:prstGeom>
          <a:solidFill>
            <a:schemeClr val="tx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en-US" altLang="ja-JP" sz="1000" dirty="0">
                <a:solidFill>
                  <a:schemeClr val="tx1"/>
                </a:solidFill>
                <a:latin typeface="Meiryo UI" panose="020B0604030504040204" pitchFamily="50" charset="-128"/>
                <a:ea typeface="Meiryo UI" panose="020B0604030504040204" pitchFamily="50" charset="-128"/>
              </a:rPr>
              <a:t>Activities</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22E1B76D-7324-6F4E-968C-5726296A9415}"/>
              </a:ext>
            </a:extLst>
          </p:cNvPr>
          <p:cNvSpPr/>
          <p:nvPr/>
        </p:nvSpPr>
        <p:spPr>
          <a:xfrm>
            <a:off x="1224336" y="3921907"/>
            <a:ext cx="2500479" cy="1224136"/>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t"/>
          <a:lstStyle/>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で達成すべき目的の洗い出し</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各目的を達成することでバリューチェーン上でもたらされる想定ベネフィットの洗い出し</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想定ベネフィットに対するシステム・ビジネス</a:t>
            </a:r>
            <a:br>
              <a:rPr lang="en-US" altLang="ja-JP" sz="1000" dirty="0">
                <a:solidFill>
                  <a:srgbClr val="4B4B4B"/>
                </a:solidFill>
                <a:latin typeface="Meiryo UI" panose="020B0604030504040204" pitchFamily="50" charset="-128"/>
                <a:ea typeface="Meiryo UI" panose="020B0604030504040204" pitchFamily="50" charset="-128"/>
              </a:rPr>
            </a:br>
            <a:r>
              <a:rPr lang="ja-JP" altLang="en-US" sz="1000" dirty="0">
                <a:solidFill>
                  <a:srgbClr val="4B4B4B"/>
                </a:solidFill>
                <a:latin typeface="Meiryo UI" panose="020B0604030504040204" pitchFamily="50" charset="-128"/>
                <a:ea typeface="Meiryo UI" panose="020B0604030504040204" pitchFamily="50" charset="-128"/>
              </a:rPr>
              <a:t>観点での重みづけ</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重みづけしたベネフィットを基にした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の</a:t>
            </a:r>
            <a:br>
              <a:rPr lang="en-US" altLang="ja-JP" sz="1000" dirty="0">
                <a:solidFill>
                  <a:srgbClr val="4B4B4B"/>
                </a:solidFill>
                <a:latin typeface="Meiryo UI" panose="020B0604030504040204" pitchFamily="50" charset="-128"/>
                <a:ea typeface="Meiryo UI" panose="020B0604030504040204" pitchFamily="50" charset="-128"/>
              </a:rPr>
            </a:br>
            <a:r>
              <a:rPr lang="ja-JP" altLang="en-US" sz="1000" dirty="0">
                <a:solidFill>
                  <a:srgbClr val="4B4B4B"/>
                </a:solidFill>
                <a:latin typeface="Meiryo UI" panose="020B0604030504040204" pitchFamily="50" charset="-128"/>
                <a:ea typeface="Meiryo UI" panose="020B0604030504040204" pitchFamily="50" charset="-128"/>
              </a:rPr>
              <a:t>仮説設定</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D1CD8C8C-7F82-404D-8627-204E45D6D974}"/>
              </a:ext>
            </a:extLst>
          </p:cNvPr>
          <p:cNvSpPr/>
          <p:nvPr/>
        </p:nvSpPr>
        <p:spPr>
          <a:xfrm>
            <a:off x="4207576" y="3921907"/>
            <a:ext cx="2500479" cy="1224136"/>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t"/>
          <a:lstStyle/>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DAMA</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Wheel</a:t>
            </a:r>
            <a:r>
              <a:rPr lang="ja-JP" altLang="en-US" sz="1000" dirty="0">
                <a:solidFill>
                  <a:srgbClr val="4B4B4B"/>
                </a:solidFill>
                <a:latin typeface="Meiryo UI" panose="020B0604030504040204" pitchFamily="50" charset="-128"/>
                <a:ea typeface="Meiryo UI" panose="020B0604030504040204" pitchFamily="50" charset="-128"/>
              </a:rPr>
              <a:t>の各ナレッジエリアにおける</a:t>
            </a:r>
            <a:br>
              <a:rPr lang="en-US" altLang="ja-JP" sz="1000" dirty="0">
                <a:solidFill>
                  <a:srgbClr val="4B4B4B"/>
                </a:solidFill>
                <a:latin typeface="Meiryo UI" panose="020B0604030504040204" pitchFamily="50" charset="-128"/>
                <a:ea typeface="Meiryo UI" panose="020B0604030504040204" pitchFamily="50" charset="-128"/>
              </a:rPr>
            </a:br>
            <a:r>
              <a:rPr lang="ja-JP" altLang="en-US" sz="1000" dirty="0">
                <a:solidFill>
                  <a:srgbClr val="4B4B4B"/>
                </a:solidFill>
                <a:latin typeface="Meiryo UI" panose="020B0604030504040204" pitchFamily="50" charset="-128"/>
                <a:ea typeface="Meiryo UI" panose="020B0604030504040204" pitchFamily="50" charset="-128"/>
              </a:rPr>
              <a:t>成熟度の定義（</a:t>
            </a:r>
            <a:r>
              <a:rPr lang="en-US" altLang="ja-JP" sz="1000" dirty="0">
                <a:solidFill>
                  <a:srgbClr val="4B4B4B"/>
                </a:solidFill>
                <a:latin typeface="Meiryo UI" panose="020B0604030504040204" pitchFamily="50" charset="-128"/>
                <a:ea typeface="Meiryo UI" panose="020B0604030504040204" pitchFamily="50" charset="-128"/>
              </a:rPr>
              <a:t>Data</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Management</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Maturity</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Assessment</a:t>
            </a:r>
            <a:r>
              <a:rPr lang="ja-JP" altLang="en-US" sz="1000" dirty="0">
                <a:solidFill>
                  <a:srgbClr val="4B4B4B"/>
                </a:solidFill>
                <a:latin typeface="Meiryo UI" panose="020B0604030504040204" pitchFamily="50" charset="-128"/>
                <a:ea typeface="Meiryo UI" panose="020B0604030504040204" pitchFamily="50" charset="-128"/>
              </a:rPr>
              <a:t>に準拠）</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各エリアの目指すべき成熟度仮説の定義</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成熟度に応じた各エリアの実施スコープ案の策定</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9EC5F57B-EDC6-8841-8ED7-DF1A037214A4}"/>
              </a:ext>
            </a:extLst>
          </p:cNvPr>
          <p:cNvSpPr/>
          <p:nvPr/>
        </p:nvSpPr>
        <p:spPr>
          <a:xfrm>
            <a:off x="7190816" y="3921907"/>
            <a:ext cx="2500479" cy="1224136"/>
          </a:xfrm>
          <a:prstGeom prst="rect">
            <a:avLst/>
          </a:prstGeom>
          <a:solidFill>
            <a:schemeClr val="bg1"/>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90000" tIns="46800" rIns="90000" bIns="46800" rtlCol="0" anchor="t"/>
          <a:lstStyle/>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現状調査</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で達成すべきゴール仮説の最終化</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000" dirty="0">
                <a:solidFill>
                  <a:srgbClr val="4B4B4B"/>
                </a:solidFill>
                <a:latin typeface="Meiryo UI" panose="020B0604030504040204" pitchFamily="50" charset="-128"/>
                <a:ea typeface="Meiryo UI" panose="020B0604030504040204" pitchFamily="50" charset="-128"/>
              </a:rPr>
              <a:t>ゴール達成に向けた</a:t>
            </a:r>
            <a:r>
              <a:rPr lang="en-US" altLang="ja-JP" sz="1000" dirty="0">
                <a:solidFill>
                  <a:srgbClr val="4B4B4B"/>
                </a:solidFill>
                <a:latin typeface="Meiryo UI" panose="020B0604030504040204" pitchFamily="50" charset="-128"/>
                <a:ea typeface="Meiryo UI" panose="020B0604030504040204" pitchFamily="50" charset="-128"/>
              </a:rPr>
              <a:t>CSF</a:t>
            </a:r>
            <a:r>
              <a:rPr lang="ja-JP" altLang="en-US" sz="1000" dirty="0">
                <a:solidFill>
                  <a:srgbClr val="4B4B4B"/>
                </a:solidFill>
                <a:latin typeface="Meiryo UI" panose="020B0604030504040204" pitchFamily="50" charset="-128"/>
                <a:ea typeface="Meiryo UI" panose="020B0604030504040204" pitchFamily="50" charset="-128"/>
              </a:rPr>
              <a:t>仮説の最終化</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方針の策定</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DAMA</a:t>
            </a:r>
            <a:r>
              <a:rPr lang="ja-JP" altLang="en-US" sz="1000" dirty="0">
                <a:solidFill>
                  <a:srgbClr val="4B4B4B"/>
                </a:solidFill>
                <a:latin typeface="Meiryo UI" panose="020B0604030504040204" pitchFamily="50" charset="-128"/>
                <a:ea typeface="Meiryo UI" panose="020B0604030504040204" pitchFamily="50" charset="-128"/>
              </a:rPr>
              <a:t> </a:t>
            </a:r>
            <a:r>
              <a:rPr lang="en-US" altLang="ja-JP" sz="1000" dirty="0">
                <a:solidFill>
                  <a:srgbClr val="4B4B4B"/>
                </a:solidFill>
                <a:latin typeface="Meiryo UI" panose="020B0604030504040204" pitchFamily="50" charset="-128"/>
                <a:ea typeface="Meiryo UI" panose="020B0604030504040204" pitchFamily="50" charset="-128"/>
              </a:rPr>
              <a:t>Wheel</a:t>
            </a:r>
            <a:r>
              <a:rPr lang="ja-JP" altLang="en-US" sz="1000" dirty="0">
                <a:solidFill>
                  <a:srgbClr val="4B4B4B"/>
                </a:solidFill>
                <a:latin typeface="Meiryo UI" panose="020B0604030504040204" pitchFamily="50" charset="-128"/>
                <a:ea typeface="Meiryo UI" panose="020B0604030504040204" pitchFamily="50" charset="-128"/>
              </a:rPr>
              <a:t>の各エリアの目標成熟度を達成するためのアクティビティの洗い出し</a:t>
            </a:r>
            <a:endParaRPr lang="en-US" altLang="ja-JP" sz="1000" dirty="0">
              <a:solidFill>
                <a:srgbClr val="4B4B4B"/>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000" dirty="0">
                <a:solidFill>
                  <a:srgbClr val="4B4B4B"/>
                </a:solidFill>
                <a:latin typeface="Meiryo UI" panose="020B0604030504040204" pitchFamily="50" charset="-128"/>
                <a:ea typeface="Meiryo UI" panose="020B0604030504040204" pitchFamily="50" charset="-128"/>
              </a:rPr>
              <a:t>DM</a:t>
            </a:r>
            <a:r>
              <a:rPr lang="ja-JP" altLang="en-US" sz="1000" dirty="0">
                <a:solidFill>
                  <a:srgbClr val="4B4B4B"/>
                </a:solidFill>
                <a:latin typeface="Meiryo UI" panose="020B0604030504040204" pitchFamily="50" charset="-128"/>
                <a:ea typeface="Meiryo UI" panose="020B0604030504040204" pitchFamily="50" charset="-128"/>
              </a:rPr>
              <a:t>実装ロードマップの策定</a:t>
            </a:r>
            <a:endParaRPr lang="en-US" altLang="ja-JP" sz="1000" dirty="0">
              <a:solidFill>
                <a:srgbClr val="4B4B4B"/>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F02FC118-B4DA-8140-AEC3-781C4C329FFC}"/>
              </a:ext>
            </a:extLst>
          </p:cNvPr>
          <p:cNvSpPr/>
          <p:nvPr/>
        </p:nvSpPr>
        <p:spPr>
          <a:xfrm>
            <a:off x="4552581" y="6180807"/>
            <a:ext cx="4609201" cy="189210"/>
          </a:xfrm>
          <a:prstGeom prst="rect">
            <a:avLst/>
          </a:prstGeom>
          <a:noFill/>
        </p:spPr>
        <p:txBody>
          <a:bodyPr wrap="none" lIns="36000" tIns="36000" rIns="36000" bIns="36000">
            <a:spAutoFit/>
          </a:bodyPr>
          <a:lstStyle/>
          <a:p>
            <a:pPr eaLnBrk="1" fontAlgn="auto" hangingPunct="1">
              <a:lnSpc>
                <a:spcPts val="960"/>
              </a:lnSpc>
              <a:spcBef>
                <a:spcPts val="0"/>
              </a:spcBef>
              <a:spcAft>
                <a:spcPts val="0"/>
              </a:spcAft>
              <a:defRPr/>
            </a:pPr>
            <a:r>
              <a:rPr kumimoji="0" lang="en" altLang="ja-JP" sz="800" kern="0" dirty="0">
                <a:solidFill>
                  <a:schemeClr val="tx1">
                    <a:lumMod val="75000"/>
                    <a:lumOff val="25000"/>
                  </a:schemeClr>
                </a:solidFill>
                <a:latin typeface="Meiryo UI" panose="020B0604030504040204" pitchFamily="34" charset="-128"/>
                <a:ea typeface="Meiryo UI" panose="020B0604030504040204" pitchFamily="34" charset="-128"/>
              </a:rPr>
              <a:t>*1:DMBO</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K</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では</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DAMA</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 </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Wheel</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の各ナレッジエリア毎にアクティビティを規定。各ナレッジエリアの一覧は</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P.6</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を参照</a:t>
            </a:r>
            <a:endParaRPr kumimoji="0" lang="en" altLang="ja-JP" sz="800" kern="0" dirty="0">
              <a:solidFill>
                <a:schemeClr val="tx1">
                  <a:lumMod val="75000"/>
                  <a:lumOff val="25000"/>
                </a:schemeClr>
              </a:solidFill>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DB214695-A798-0A48-9F04-6D3520F70C7C}"/>
              </a:ext>
            </a:extLst>
          </p:cNvPr>
          <p:cNvSpPr/>
          <p:nvPr/>
        </p:nvSpPr>
        <p:spPr>
          <a:xfrm>
            <a:off x="9680915" y="199747"/>
            <a:ext cx="1773148"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・実施粒度→実施レベル</a:t>
            </a:r>
            <a:r>
              <a:rPr kumimoji="1" lang="ja-JP" altLang="en-US" sz="1000" b="1">
                <a:solidFill>
                  <a:schemeClr val="bg1"/>
                </a:solidFill>
                <a:latin typeface="Meiryo UI" panose="020B0604030504040204" pitchFamily="50" charset="-128"/>
                <a:ea typeface="Meiryo UI" panose="020B0604030504040204" pitchFamily="50" charset="-128"/>
              </a:rPr>
              <a:t>に変更</a:t>
            </a:r>
            <a:endParaRPr kumimoji="1" lang="en-US" altLang="ja-JP" sz="1000" b="1" dirty="0">
              <a:solidFill>
                <a:schemeClr val="bg1"/>
              </a:solidFill>
              <a:latin typeface="Meiryo UI" panose="020B0604030504040204" pitchFamily="50" charset="-128"/>
              <a:ea typeface="Meiryo UI" panose="020B0604030504040204" pitchFamily="50" charset="-128"/>
            </a:endParaRPr>
          </a:p>
          <a:p>
            <a:r>
              <a:rPr lang="ja-JP" altLang="en-US" sz="1000" b="1">
                <a:solidFill>
                  <a:schemeClr val="bg1"/>
                </a:solidFill>
                <a:latin typeface="Meiryo UI" panose="020B0604030504040204" pitchFamily="50" charset="-128"/>
                <a:ea typeface="Meiryo UI" panose="020B0604030504040204" pitchFamily="50" charset="-128"/>
              </a:rPr>
              <a:t>・アクティビティ＋実施レベル＝実施スコープ</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30179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79106-AD7E-B748-8401-9C48EDC2F579}"/>
              </a:ext>
            </a:extLst>
          </p:cNvPr>
          <p:cNvSpPr>
            <a:spLocks noGrp="1"/>
          </p:cNvSpPr>
          <p:nvPr>
            <p:ph type="title"/>
          </p:nvPr>
        </p:nvSpPr>
        <p:spPr>
          <a:xfrm>
            <a:off x="236538" y="128799"/>
            <a:ext cx="7287807" cy="349961"/>
          </a:xfrm>
        </p:spPr>
        <p:txBody>
          <a:bodyPr/>
          <a:lstStyle/>
          <a:p>
            <a:r>
              <a:rPr kumimoji="0" lang="ja-JP" altLang="en-US" b="1">
                <a:latin typeface="Meiryo UI" panose="020B0604030504040204" pitchFamily="50" charset="-128"/>
                <a:ea typeface="Meiryo UI" panose="020B0604030504040204" pitchFamily="50" charset="-128"/>
              </a:rPr>
              <a:t>データマネジメント目的仮説（</a:t>
            </a:r>
            <a:r>
              <a:rPr kumimoji="0" lang="ja-JP" altLang="en-US" b="1"/>
              <a:t>更新版）</a:t>
            </a:r>
            <a:endParaRPr kumimoji="1" lang="ja-JP" altLang="en-US" b="1"/>
          </a:p>
        </p:txBody>
      </p:sp>
      <p:sp>
        <p:nvSpPr>
          <p:cNvPr id="5" name="テキスト プレースホルダー 2">
            <a:extLst>
              <a:ext uri="{FF2B5EF4-FFF2-40B4-BE49-F238E27FC236}">
                <a16:creationId xmlns:a16="http://schemas.microsoft.com/office/drawing/2014/main" id="{158928A6-7CAE-2F41-9AFC-5F7631C2DD96}"/>
              </a:ext>
            </a:extLst>
          </p:cNvPr>
          <p:cNvSpPr txBox="1">
            <a:spLocks/>
          </p:cNvSpPr>
          <p:nvPr/>
        </p:nvSpPr>
        <p:spPr>
          <a:xfrm>
            <a:off x="236537" y="594026"/>
            <a:ext cx="9432925" cy="565146"/>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ja-JP" altLang="en-US" b="1">
                <a:latin typeface="Meiryo UI" panose="020B0604030504040204" pitchFamily="34" charset="-128"/>
                <a:ea typeface="Meiryo UI" panose="020B0604030504040204" pitchFamily="34" charset="-128"/>
                <a:cs typeface="+mn-cs"/>
              </a:rPr>
              <a:t>業務プロセス改革プロジェクトで整理した潜在課題に基づき、データマネジメント目的とそれによりバリューチェーン上にもたらされるベネフィットを洗い出したうえで</a:t>
            </a:r>
            <a:r>
              <a:rPr lang="en-US" altLang="ja-JP" b="1" dirty="0">
                <a:latin typeface="Meiryo UI" panose="020B0604030504040204" pitchFamily="34" charset="-128"/>
                <a:ea typeface="Meiryo UI" panose="020B0604030504040204" pitchFamily="34" charset="-128"/>
                <a:cs typeface="+mn-cs"/>
              </a:rPr>
              <a:t>CSF</a:t>
            </a:r>
            <a:r>
              <a:rPr lang="ja-JP" altLang="en-US" b="1">
                <a:latin typeface="Meiryo UI" panose="020B0604030504040204" pitchFamily="34" charset="-128"/>
                <a:ea typeface="Meiryo UI" panose="020B0604030504040204" pitchFamily="34" charset="-128"/>
                <a:cs typeface="+mn-cs"/>
              </a:rPr>
              <a:t>の仮説を策定した。</a:t>
            </a:r>
          </a:p>
        </p:txBody>
      </p:sp>
      <p:graphicFrame>
        <p:nvGraphicFramePr>
          <p:cNvPr id="6" name="オブジェクト 5">
            <a:extLst>
              <a:ext uri="{FF2B5EF4-FFF2-40B4-BE49-F238E27FC236}">
                <a16:creationId xmlns:a16="http://schemas.microsoft.com/office/drawing/2014/main" id="{FC857786-A998-BD45-921E-93FD751C2778}"/>
              </a:ext>
            </a:extLst>
          </p:cNvPr>
          <p:cNvGraphicFramePr>
            <a:graphicFrameLocks noChangeAspect="1"/>
          </p:cNvGraphicFramePr>
          <p:nvPr>
            <p:extLst>
              <p:ext uri="{D42A27DB-BD31-4B8C-83A1-F6EECF244321}">
                <p14:modId xmlns:p14="http://schemas.microsoft.com/office/powerpoint/2010/main" val="1631638601"/>
              </p:ext>
            </p:extLst>
          </p:nvPr>
        </p:nvGraphicFramePr>
        <p:xfrm>
          <a:off x="7753927" y="1595149"/>
          <a:ext cx="965200" cy="609600"/>
        </p:xfrm>
        <a:graphic>
          <a:graphicData uri="http://schemas.openxmlformats.org/presentationml/2006/ole">
            <mc:AlternateContent xmlns:mc="http://schemas.openxmlformats.org/markup-compatibility/2006">
              <mc:Choice xmlns:v="urn:schemas-microsoft-com:vml" Requires="v">
                <p:oleObj spid="_x0000_s1036" name="シート" showAsIcon="1" r:id="rId3" imgW="965200" imgH="609600" progId="Excel.Sheet.12">
                  <p:embed/>
                </p:oleObj>
              </mc:Choice>
              <mc:Fallback>
                <p:oleObj name="シート" showAsIcon="1" r:id="rId3" imgW="965200" imgH="609600" progId="Excel.Sheet.12">
                  <p:embed/>
                  <p:pic>
                    <p:nvPicPr>
                      <p:cNvPr id="0" name=""/>
                      <p:cNvPicPr/>
                      <p:nvPr/>
                    </p:nvPicPr>
                    <p:blipFill>
                      <a:blip r:embed="rId4"/>
                      <a:stretch>
                        <a:fillRect/>
                      </a:stretch>
                    </p:blipFill>
                    <p:spPr>
                      <a:xfrm>
                        <a:off x="7753927" y="1595149"/>
                        <a:ext cx="965200" cy="609600"/>
                      </a:xfrm>
                      <a:prstGeom prst="rect">
                        <a:avLst/>
                      </a:prstGeom>
                    </p:spPr>
                  </p:pic>
                </p:oleObj>
              </mc:Fallback>
            </mc:AlternateContent>
          </a:graphicData>
        </a:graphic>
      </p:graphicFrame>
    </p:spTree>
    <p:extLst>
      <p:ext uri="{BB962C8B-B14F-4D97-AF65-F5344CB8AC3E}">
        <p14:creationId xmlns:p14="http://schemas.microsoft.com/office/powerpoint/2010/main" val="3417439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79106-AD7E-B748-8401-9C48EDC2F579}"/>
              </a:ext>
            </a:extLst>
          </p:cNvPr>
          <p:cNvSpPr>
            <a:spLocks noGrp="1"/>
          </p:cNvSpPr>
          <p:nvPr>
            <p:ph type="title"/>
          </p:nvPr>
        </p:nvSpPr>
        <p:spPr>
          <a:xfrm>
            <a:off x="273194" y="128799"/>
            <a:ext cx="7251151" cy="349961"/>
          </a:xfrm>
        </p:spPr>
        <p:txBody>
          <a:bodyPr anchor="ctr"/>
          <a:lstStyle/>
          <a:p>
            <a:r>
              <a:rPr lang="en-US" altLang="ja-JP" sz="1600" dirty="0"/>
              <a:t>Appendix</a:t>
            </a:r>
            <a:br>
              <a:rPr lang="en-US" altLang="ja-JP" b="1" dirty="0"/>
            </a:br>
            <a:r>
              <a:rPr lang="ja-JP" altLang="en-US" b="1"/>
              <a:t>データマネジメント実施スコープ（サンプル）</a:t>
            </a:r>
            <a:endParaRPr kumimoji="1" lang="ja-JP" altLang="en-US" b="1"/>
          </a:p>
        </p:txBody>
      </p:sp>
      <p:sp>
        <p:nvSpPr>
          <p:cNvPr id="5" name="テキスト プレースホルダー 2">
            <a:extLst>
              <a:ext uri="{FF2B5EF4-FFF2-40B4-BE49-F238E27FC236}">
                <a16:creationId xmlns:a16="http://schemas.microsoft.com/office/drawing/2014/main" id="{158928A6-7CAE-2F41-9AFC-5F7631C2DD96}"/>
              </a:ext>
            </a:extLst>
          </p:cNvPr>
          <p:cNvSpPr txBox="1">
            <a:spLocks/>
          </p:cNvSpPr>
          <p:nvPr/>
        </p:nvSpPr>
        <p:spPr>
          <a:xfrm>
            <a:off x="236538" y="574775"/>
            <a:ext cx="9432922" cy="565146"/>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en-US" altLang="ja-JP" b="1" dirty="0">
                <a:latin typeface="Meiryo UI" panose="020B0604030504040204" pitchFamily="34" charset="-128"/>
                <a:ea typeface="Meiryo UI" panose="020B0604030504040204" pitchFamily="34" charset="-128"/>
                <a:cs typeface="+mn-cs"/>
              </a:rPr>
              <a:t>CSF</a:t>
            </a:r>
            <a:r>
              <a:rPr lang="ja-JP" altLang="en-US" b="1">
                <a:latin typeface="Meiryo UI" panose="020B0604030504040204" pitchFamily="34" charset="-128"/>
                <a:ea typeface="Meiryo UI" panose="020B0604030504040204" pitchFamily="34" charset="-128"/>
                <a:cs typeface="+mn-cs"/>
              </a:rPr>
              <a:t>の仮説と</a:t>
            </a:r>
            <a:r>
              <a:rPr lang="en-US" altLang="ja-JP" b="1" dirty="0">
                <a:latin typeface="Meiryo UI" panose="020B0604030504040204" pitchFamily="34" charset="-128"/>
                <a:ea typeface="Meiryo UI" panose="020B0604030504040204" pitchFamily="34" charset="-128"/>
                <a:cs typeface="+mn-cs"/>
              </a:rPr>
              <a:t>DAMA Wheel</a:t>
            </a:r>
            <a:r>
              <a:rPr lang="ja-JP" altLang="en-US" b="1">
                <a:latin typeface="Meiryo UI" panose="020B0604030504040204" pitchFamily="34" charset="-128"/>
                <a:ea typeface="Meiryo UI" panose="020B0604030504040204" pitchFamily="34" charset="-128"/>
                <a:cs typeface="+mn-cs"/>
              </a:rPr>
              <a:t>の各ナレッジエリアを照らし合わせ、各エリアで規定されたアクティビティの実施レベルや実践するテクニック・ツール・マトリックスの初期仮説を策定する。</a:t>
            </a:r>
          </a:p>
        </p:txBody>
      </p:sp>
      <p:pic>
        <p:nvPicPr>
          <p:cNvPr id="4" name="図 3">
            <a:extLst>
              <a:ext uri="{FF2B5EF4-FFF2-40B4-BE49-F238E27FC236}">
                <a16:creationId xmlns:a16="http://schemas.microsoft.com/office/drawing/2014/main" id="{7613920D-33E2-9349-85C7-8C026AE0FD49}"/>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76413" y="2632151"/>
            <a:ext cx="1264661" cy="1443983"/>
          </a:xfrm>
          <a:prstGeom prst="rect">
            <a:avLst/>
          </a:prstGeom>
        </p:spPr>
      </p:pic>
      <p:grpSp>
        <p:nvGrpSpPr>
          <p:cNvPr id="6" name="グループ化 5">
            <a:extLst>
              <a:ext uri="{FF2B5EF4-FFF2-40B4-BE49-F238E27FC236}">
                <a16:creationId xmlns:a16="http://schemas.microsoft.com/office/drawing/2014/main" id="{7D8E11B8-5B59-E34F-AF89-DE998F5B29E4}"/>
              </a:ext>
            </a:extLst>
          </p:cNvPr>
          <p:cNvGrpSpPr/>
          <p:nvPr/>
        </p:nvGrpSpPr>
        <p:grpSpPr>
          <a:xfrm>
            <a:off x="273194" y="2139034"/>
            <a:ext cx="1264661" cy="242374"/>
            <a:chOff x="613809" y="1338344"/>
            <a:chExt cx="4074732" cy="298306"/>
          </a:xfrm>
        </p:grpSpPr>
        <p:cxnSp>
          <p:nvCxnSpPr>
            <p:cNvPr id="7" name="直線コネクタ 6">
              <a:extLst>
                <a:ext uri="{FF2B5EF4-FFF2-40B4-BE49-F238E27FC236}">
                  <a16:creationId xmlns:a16="http://schemas.microsoft.com/office/drawing/2014/main" id="{AFA0C42F-E005-B441-AD9E-27A43EB5BE84}"/>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F7C1E45C-C8EF-0C4E-976F-47C2E80F0CDD}"/>
                </a:ext>
              </a:extLst>
            </p:cNvPr>
            <p:cNvSpPr txBox="1"/>
            <p:nvPr/>
          </p:nvSpPr>
          <p:spPr>
            <a:xfrm>
              <a:off x="613809" y="1338344"/>
              <a:ext cx="4074732" cy="298306"/>
            </a:xfrm>
            <a:prstGeom prst="rect">
              <a:avLst/>
            </a:prstGeom>
            <a:noFill/>
          </p:spPr>
          <p:txBody>
            <a:bodyPr wrap="square" rtlCol="0">
              <a:spAutoFit/>
            </a:bodyPr>
            <a:lstStyle/>
            <a:p>
              <a:pPr algn="ctr"/>
              <a:r>
                <a:rPr lang="en-US" altLang="ja-JP" sz="975" dirty="0">
                  <a:latin typeface="Meiryo UI" panose="020B0604030504040204" pitchFamily="34" charset="-128"/>
                  <a:ea typeface="Meiryo UI" panose="020B0604030504040204" pitchFamily="34" charset="-128"/>
                </a:rPr>
                <a:t>DAMA</a:t>
              </a:r>
              <a:r>
                <a:rPr lang="ja-JP" altLang="en-US" sz="975" dirty="0">
                  <a:latin typeface="Meiryo UI" panose="020B0604030504040204" pitchFamily="34" charset="-128"/>
                  <a:ea typeface="Meiryo UI" panose="020B0604030504040204" pitchFamily="34" charset="-128"/>
                </a:rPr>
                <a:t> </a:t>
              </a:r>
              <a:r>
                <a:rPr lang="en-US" altLang="ja-JP" sz="975" dirty="0">
                  <a:latin typeface="Meiryo UI" panose="020B0604030504040204" pitchFamily="34" charset="-128"/>
                  <a:ea typeface="Meiryo UI" panose="020B0604030504040204" pitchFamily="34" charset="-128"/>
                </a:rPr>
                <a:t>Wheel</a:t>
              </a:r>
              <a:endParaRPr lang="ja-JP" altLang="en-US" sz="975" dirty="0">
                <a:latin typeface="Meiryo UI" panose="020B0604030504040204" pitchFamily="34" charset="-128"/>
                <a:ea typeface="Meiryo UI" panose="020B0604030504040204" pitchFamily="34" charset="-128"/>
              </a:endParaRPr>
            </a:p>
          </p:txBody>
        </p:sp>
      </p:grpSp>
      <p:cxnSp>
        <p:nvCxnSpPr>
          <p:cNvPr id="9" name="直線コネクタ 8">
            <a:extLst>
              <a:ext uri="{FF2B5EF4-FFF2-40B4-BE49-F238E27FC236}">
                <a16:creationId xmlns:a16="http://schemas.microsoft.com/office/drawing/2014/main" id="{F39BD426-6A30-2C4D-A81B-C41BD8D023EA}"/>
              </a:ext>
            </a:extLst>
          </p:cNvPr>
          <p:cNvCxnSpPr>
            <a:cxnSpLocks/>
          </p:cNvCxnSpPr>
          <p:nvPr/>
        </p:nvCxnSpPr>
        <p:spPr>
          <a:xfrm>
            <a:off x="1785864" y="2572169"/>
            <a:ext cx="0" cy="34632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E660397-48DF-2A4F-874C-F3A40BAB553C}"/>
              </a:ext>
            </a:extLst>
          </p:cNvPr>
          <p:cNvCxnSpPr>
            <a:cxnSpLocks/>
          </p:cNvCxnSpPr>
          <p:nvPr/>
        </p:nvCxnSpPr>
        <p:spPr>
          <a:xfrm>
            <a:off x="8247860" y="2572169"/>
            <a:ext cx="0" cy="346252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B44C59FA-73FA-4149-8684-A8A2DCECDD30}"/>
              </a:ext>
            </a:extLst>
          </p:cNvPr>
          <p:cNvSpPr txBox="1"/>
          <p:nvPr/>
        </p:nvSpPr>
        <p:spPr>
          <a:xfrm>
            <a:off x="8492649" y="3132864"/>
            <a:ext cx="1181569" cy="442557"/>
          </a:xfrm>
          <a:prstGeom prst="rect">
            <a:avLst/>
          </a:prstGeom>
          <a:noFill/>
        </p:spPr>
        <p:txBody>
          <a:bodyPr wrap="square" rtlCol="0">
            <a:spAutoFit/>
          </a:bodyPr>
          <a:lstStyle/>
          <a:p>
            <a:pPr algn="ctr"/>
            <a:r>
              <a:rPr lang="ja-JP" altLang="en-US" sz="1138" dirty="0">
                <a:latin typeface="Meiryo UI" panose="020B0604030504040204" pitchFamily="34" charset="-128"/>
                <a:ea typeface="Meiryo UI" panose="020B0604030504040204" pitchFamily="34" charset="-128"/>
              </a:rPr>
              <a:t>データマネジメント</a:t>
            </a:r>
            <a:endParaRPr lang="en-US" altLang="ja-JP" sz="1138" dirty="0">
              <a:latin typeface="Meiryo UI" panose="020B0604030504040204" pitchFamily="34" charset="-128"/>
              <a:ea typeface="Meiryo UI" panose="020B0604030504040204" pitchFamily="34" charset="-128"/>
            </a:endParaRPr>
          </a:p>
          <a:p>
            <a:pPr algn="ctr"/>
            <a:r>
              <a:rPr lang="ja-JP" altLang="en-US" sz="1138">
                <a:latin typeface="Meiryo UI" panose="020B0604030504040204" pitchFamily="34" charset="-128"/>
                <a:ea typeface="Meiryo UI" panose="020B0604030504040204" pitchFamily="34" charset="-128"/>
              </a:rPr>
              <a:t>実装ロードマップ</a:t>
            </a:r>
            <a:endParaRPr lang="ja-JP" altLang="en-US" sz="1138" dirty="0">
              <a:latin typeface="Meiryo UI" panose="020B0604030504040204" pitchFamily="34" charset="-128"/>
              <a:ea typeface="Meiryo UI" panose="020B0604030504040204" pitchFamily="34" charset="-128"/>
            </a:endParaRPr>
          </a:p>
        </p:txBody>
      </p:sp>
      <p:sp>
        <p:nvSpPr>
          <p:cNvPr id="12" name="円/楕円 92">
            <a:extLst>
              <a:ext uri="{FF2B5EF4-FFF2-40B4-BE49-F238E27FC236}">
                <a16:creationId xmlns:a16="http://schemas.microsoft.com/office/drawing/2014/main" id="{8A1C61CD-6950-434D-A166-6DDA4A07AA1A}"/>
              </a:ext>
            </a:extLst>
          </p:cNvPr>
          <p:cNvSpPr/>
          <p:nvPr/>
        </p:nvSpPr>
        <p:spPr>
          <a:xfrm>
            <a:off x="1639614" y="3207892"/>
            <a:ext cx="292500" cy="292500"/>
          </a:xfrm>
          <a:prstGeom prst="ellipse">
            <a:avLst/>
          </a:prstGeom>
          <a:solidFill>
            <a:schemeClr val="tx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950" dirty="0">
                <a:solidFill>
                  <a:schemeClr val="bg1"/>
                </a:solidFill>
                <a:latin typeface="Meiryo UI" panose="020B0604030504040204" pitchFamily="34" charset="-128"/>
                <a:ea typeface="Meiryo UI" panose="020B0604030504040204" pitchFamily="34" charset="-128"/>
              </a:rPr>
              <a:t>＞</a:t>
            </a:r>
          </a:p>
        </p:txBody>
      </p:sp>
      <p:sp>
        <p:nvSpPr>
          <p:cNvPr id="13" name="円/楕円 111">
            <a:extLst>
              <a:ext uri="{FF2B5EF4-FFF2-40B4-BE49-F238E27FC236}">
                <a16:creationId xmlns:a16="http://schemas.microsoft.com/office/drawing/2014/main" id="{E0928C82-CB44-614F-980E-47F0E85ED808}"/>
              </a:ext>
            </a:extLst>
          </p:cNvPr>
          <p:cNvSpPr/>
          <p:nvPr/>
        </p:nvSpPr>
        <p:spPr>
          <a:xfrm>
            <a:off x="8101610" y="3207892"/>
            <a:ext cx="292500" cy="292500"/>
          </a:xfrm>
          <a:prstGeom prst="ellipse">
            <a:avLst/>
          </a:prstGeom>
          <a:solidFill>
            <a:schemeClr val="tx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950" dirty="0">
                <a:solidFill>
                  <a:schemeClr val="bg1"/>
                </a:solidFill>
                <a:latin typeface="Meiryo UI" panose="020B0604030504040204" pitchFamily="34" charset="-128"/>
                <a:ea typeface="Meiryo UI" panose="020B0604030504040204" pitchFamily="34" charset="-128"/>
              </a:rPr>
              <a:t>＞</a:t>
            </a:r>
          </a:p>
        </p:txBody>
      </p:sp>
      <p:grpSp>
        <p:nvGrpSpPr>
          <p:cNvPr id="14" name="グループ化 13">
            <a:extLst>
              <a:ext uri="{FF2B5EF4-FFF2-40B4-BE49-F238E27FC236}">
                <a16:creationId xmlns:a16="http://schemas.microsoft.com/office/drawing/2014/main" id="{44DC8B73-97CE-1D4B-A5A9-3A0818296503}"/>
              </a:ext>
            </a:extLst>
          </p:cNvPr>
          <p:cNvGrpSpPr/>
          <p:nvPr/>
        </p:nvGrpSpPr>
        <p:grpSpPr>
          <a:xfrm>
            <a:off x="273195" y="1650514"/>
            <a:ext cx="7974656" cy="300081"/>
            <a:chOff x="613809" y="1253281"/>
            <a:chExt cx="4074732" cy="369331"/>
          </a:xfrm>
        </p:grpSpPr>
        <p:cxnSp>
          <p:nvCxnSpPr>
            <p:cNvPr id="15" name="直線コネクタ 14">
              <a:extLst>
                <a:ext uri="{FF2B5EF4-FFF2-40B4-BE49-F238E27FC236}">
                  <a16:creationId xmlns:a16="http://schemas.microsoft.com/office/drawing/2014/main" id="{A6255A0E-B65F-D243-8E82-12AAB959C7E6}"/>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5792DA3-70B6-C945-B30E-6636FD7C1449}"/>
                </a:ext>
              </a:extLst>
            </p:cNvPr>
            <p:cNvSpPr txBox="1"/>
            <p:nvPr/>
          </p:nvSpPr>
          <p:spPr>
            <a:xfrm>
              <a:off x="613809" y="1253281"/>
              <a:ext cx="4074732" cy="359863"/>
            </a:xfrm>
            <a:prstGeom prst="rect">
              <a:avLst/>
            </a:prstGeom>
            <a:noFill/>
          </p:spPr>
          <p:txBody>
            <a:bodyPr wrap="square" rtlCol="0">
              <a:spAutoFit/>
            </a:bodyPr>
            <a:lstStyle/>
            <a:p>
              <a:pPr algn="ctr"/>
              <a:r>
                <a:rPr lang="ja-JP" altLang="en-US" sz="1300">
                  <a:latin typeface="Meiryo UI" panose="020B0604030504040204" pitchFamily="34" charset="-128"/>
                  <a:ea typeface="Meiryo UI" panose="020B0604030504040204" pitchFamily="34" charset="-128"/>
                </a:rPr>
                <a:t>データマネジメント実施スコープ（サンプル）</a:t>
              </a:r>
              <a:endParaRPr lang="ja-JP" altLang="en-US" sz="1300" dirty="0">
                <a:latin typeface="Meiryo UI" panose="020B0604030504040204" pitchFamily="34" charset="-128"/>
                <a:ea typeface="Meiryo UI" panose="020B0604030504040204" pitchFamily="34" charset="-128"/>
              </a:endParaRPr>
            </a:p>
          </p:txBody>
        </p:sp>
      </p:grpSp>
      <p:grpSp>
        <p:nvGrpSpPr>
          <p:cNvPr id="18" name="グループ化 17">
            <a:extLst>
              <a:ext uri="{FF2B5EF4-FFF2-40B4-BE49-F238E27FC236}">
                <a16:creationId xmlns:a16="http://schemas.microsoft.com/office/drawing/2014/main" id="{A00A0390-32EC-C84E-A9BC-CD2DB479C6F4}"/>
              </a:ext>
            </a:extLst>
          </p:cNvPr>
          <p:cNvGrpSpPr/>
          <p:nvPr/>
        </p:nvGrpSpPr>
        <p:grpSpPr>
          <a:xfrm>
            <a:off x="2030654" y="2139034"/>
            <a:ext cx="5965448" cy="242374"/>
            <a:chOff x="613809" y="1338344"/>
            <a:chExt cx="4074732" cy="298306"/>
          </a:xfrm>
        </p:grpSpPr>
        <p:cxnSp>
          <p:nvCxnSpPr>
            <p:cNvPr id="96" name="直線コネクタ 95">
              <a:extLst>
                <a:ext uri="{FF2B5EF4-FFF2-40B4-BE49-F238E27FC236}">
                  <a16:creationId xmlns:a16="http://schemas.microsoft.com/office/drawing/2014/main" id="{07FFC650-2CF5-194C-AB35-28D072B0C1DD}"/>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7" name="テキスト ボックス 96">
              <a:extLst>
                <a:ext uri="{FF2B5EF4-FFF2-40B4-BE49-F238E27FC236}">
                  <a16:creationId xmlns:a16="http://schemas.microsoft.com/office/drawing/2014/main" id="{71D53CF4-D857-0142-BF5F-AD0A5AC55A71}"/>
                </a:ext>
              </a:extLst>
            </p:cNvPr>
            <p:cNvSpPr txBox="1"/>
            <p:nvPr/>
          </p:nvSpPr>
          <p:spPr>
            <a:xfrm>
              <a:off x="613809" y="1338344"/>
              <a:ext cx="4074732" cy="298306"/>
            </a:xfrm>
            <a:prstGeom prst="rect">
              <a:avLst/>
            </a:prstGeom>
            <a:noFill/>
          </p:spPr>
          <p:txBody>
            <a:bodyPr wrap="square" rtlCol="0">
              <a:spAutoFit/>
            </a:bodyPr>
            <a:lstStyle/>
            <a:p>
              <a:pPr algn="ctr"/>
              <a:r>
                <a:rPr lang="ja-JP" altLang="en-US" sz="975">
                  <a:latin typeface="Meiryo UI" panose="020B0604030504040204" pitchFamily="34" charset="-128"/>
                  <a:ea typeface="Meiryo UI" panose="020B0604030504040204" pitchFamily="34" charset="-128"/>
                </a:rPr>
                <a:t>データマネジメントのアクティビティと成熟度</a:t>
              </a:r>
              <a:r>
                <a:rPr lang="en-US" altLang="ja-JP" sz="975" dirty="0" err="1">
                  <a:latin typeface="Meiryo UI" panose="020B0604030504040204" pitchFamily="34" charset="-128"/>
                  <a:ea typeface="Meiryo UI" panose="020B0604030504040204" pitchFamily="34" charset="-128"/>
                </a:rPr>
                <a:t>Lv</a:t>
              </a:r>
              <a:r>
                <a:rPr lang="ja-JP" altLang="en-US" sz="975" dirty="0">
                  <a:latin typeface="Meiryo UI" panose="020B0604030504040204" pitchFamily="34" charset="-128"/>
                  <a:ea typeface="Meiryo UI" panose="020B0604030504040204" pitchFamily="34" charset="-128"/>
                </a:rPr>
                <a:t>とビジネスバリューの関係</a:t>
              </a:r>
            </a:p>
          </p:txBody>
        </p:sp>
      </p:grpSp>
      <p:sp>
        <p:nvSpPr>
          <p:cNvPr id="19" name="正方形/長方形 18">
            <a:extLst>
              <a:ext uri="{FF2B5EF4-FFF2-40B4-BE49-F238E27FC236}">
                <a16:creationId xmlns:a16="http://schemas.microsoft.com/office/drawing/2014/main" id="{97486BC7-6544-8447-818E-4F6CA5CCF6A0}"/>
              </a:ext>
            </a:extLst>
          </p:cNvPr>
          <p:cNvSpPr/>
          <p:nvPr/>
        </p:nvSpPr>
        <p:spPr bwMode="gray">
          <a:xfrm>
            <a:off x="2030654" y="2968876"/>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データガバナンス</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E2845823-BA3A-B045-B2A5-B3E64F7D7586}"/>
              </a:ext>
            </a:extLst>
          </p:cNvPr>
          <p:cNvSpPr/>
          <p:nvPr/>
        </p:nvSpPr>
        <p:spPr bwMode="gray">
          <a:xfrm>
            <a:off x="2030654" y="3250152"/>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データアーキテクチャ</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4DFDF541-550A-3948-9109-07BCE86B616A}"/>
              </a:ext>
            </a:extLst>
          </p:cNvPr>
          <p:cNvSpPr/>
          <p:nvPr/>
        </p:nvSpPr>
        <p:spPr bwMode="gray">
          <a:xfrm>
            <a:off x="2030654" y="3531428"/>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データモデリングとデザイン</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33FB4973-51BA-0D4A-B164-B6AB426BC27C}"/>
              </a:ext>
            </a:extLst>
          </p:cNvPr>
          <p:cNvSpPr/>
          <p:nvPr/>
        </p:nvSpPr>
        <p:spPr bwMode="gray">
          <a:xfrm>
            <a:off x="2030654" y="3812704"/>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データストレージと</a:t>
            </a:r>
            <a:endParaRPr lang="en-US" altLang="ja-JP" sz="813"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オペレーションズ</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23" name="正方形/長方形 22">
            <a:extLst>
              <a:ext uri="{FF2B5EF4-FFF2-40B4-BE49-F238E27FC236}">
                <a16:creationId xmlns:a16="http://schemas.microsoft.com/office/drawing/2014/main" id="{A9B30C2C-C30E-604E-A034-ED093C4018F9}"/>
              </a:ext>
            </a:extLst>
          </p:cNvPr>
          <p:cNvSpPr/>
          <p:nvPr/>
        </p:nvSpPr>
        <p:spPr bwMode="gray">
          <a:xfrm>
            <a:off x="2030654" y="4093980"/>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データセキュリティ</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261BB507-C785-0149-A597-20BBA65880E8}"/>
              </a:ext>
            </a:extLst>
          </p:cNvPr>
          <p:cNvSpPr/>
          <p:nvPr/>
        </p:nvSpPr>
        <p:spPr bwMode="gray">
          <a:xfrm>
            <a:off x="2030654" y="4375255"/>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データ統合と相互運用性</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25" name="正方形/長方形 24">
            <a:extLst>
              <a:ext uri="{FF2B5EF4-FFF2-40B4-BE49-F238E27FC236}">
                <a16:creationId xmlns:a16="http://schemas.microsoft.com/office/drawing/2014/main" id="{F569E1DE-9848-8F49-8F6A-A30E157B8D22}"/>
              </a:ext>
            </a:extLst>
          </p:cNvPr>
          <p:cNvSpPr/>
          <p:nvPr/>
        </p:nvSpPr>
        <p:spPr bwMode="gray">
          <a:xfrm>
            <a:off x="2030654" y="4656531"/>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813" dirty="0">
                <a:solidFill>
                  <a:schemeClr val="bg1"/>
                </a:solidFill>
                <a:latin typeface="Meiryo UI" panose="020B0604030504040204" pitchFamily="34" charset="-128"/>
                <a:ea typeface="Meiryo UI" panose="020B0604030504040204" pitchFamily="34" charset="-128"/>
              </a:rPr>
              <a:t>ドキュメントとコンテンツ管理</a:t>
            </a:r>
          </a:p>
        </p:txBody>
      </p:sp>
      <p:sp>
        <p:nvSpPr>
          <p:cNvPr id="26" name="正方形/長方形 25">
            <a:extLst>
              <a:ext uri="{FF2B5EF4-FFF2-40B4-BE49-F238E27FC236}">
                <a16:creationId xmlns:a16="http://schemas.microsoft.com/office/drawing/2014/main" id="{F02773B3-2133-FA47-859B-885BB264347B}"/>
              </a:ext>
            </a:extLst>
          </p:cNvPr>
          <p:cNvSpPr/>
          <p:nvPr/>
        </p:nvSpPr>
        <p:spPr bwMode="gray">
          <a:xfrm>
            <a:off x="2030654" y="4937807"/>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813" dirty="0">
                <a:solidFill>
                  <a:schemeClr val="bg1"/>
                </a:solidFill>
                <a:latin typeface="Meiryo UI" panose="020B0604030504040204" pitchFamily="34" charset="-128"/>
                <a:ea typeface="Meiryo UI" panose="020B0604030504040204" pitchFamily="34" charset="-128"/>
              </a:rPr>
              <a:t>参照データとマスターデータ</a:t>
            </a:r>
          </a:p>
        </p:txBody>
      </p:sp>
      <p:sp>
        <p:nvSpPr>
          <p:cNvPr id="27" name="正方形/長方形 26">
            <a:extLst>
              <a:ext uri="{FF2B5EF4-FFF2-40B4-BE49-F238E27FC236}">
                <a16:creationId xmlns:a16="http://schemas.microsoft.com/office/drawing/2014/main" id="{2E6450B4-49A0-724D-8A86-C917C620C3D1}"/>
              </a:ext>
            </a:extLst>
          </p:cNvPr>
          <p:cNvSpPr/>
          <p:nvPr/>
        </p:nvSpPr>
        <p:spPr bwMode="gray">
          <a:xfrm>
            <a:off x="2030654" y="5219083"/>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813" dirty="0">
                <a:solidFill>
                  <a:schemeClr val="bg1"/>
                </a:solidFill>
                <a:latin typeface="Meiryo UI" panose="020B0604030504040204" pitchFamily="34" charset="-128"/>
                <a:ea typeface="Meiryo UI" panose="020B0604030504040204" pitchFamily="34" charset="-128"/>
              </a:rPr>
              <a:t>データウェアハウジングと</a:t>
            </a:r>
            <a:endParaRPr lang="en-US" altLang="ja-JP" sz="813" dirty="0">
              <a:solidFill>
                <a:schemeClr val="bg1"/>
              </a:solidFill>
              <a:latin typeface="Meiryo UI" panose="020B0604030504040204" pitchFamily="34" charset="-128"/>
              <a:ea typeface="Meiryo UI" panose="020B0604030504040204" pitchFamily="34" charset="-128"/>
            </a:endParaRPr>
          </a:p>
          <a:p>
            <a:pPr algn="ctr"/>
            <a:r>
              <a:rPr lang="ja-JP" altLang="en-US" sz="813" dirty="0">
                <a:solidFill>
                  <a:schemeClr val="bg1"/>
                </a:solidFill>
                <a:latin typeface="Meiryo UI" panose="020B0604030504040204" pitchFamily="34" charset="-128"/>
                <a:ea typeface="Meiryo UI" panose="020B0604030504040204" pitchFamily="34" charset="-128"/>
              </a:rPr>
              <a:t>ビジネスインテリジェンス</a:t>
            </a:r>
          </a:p>
        </p:txBody>
      </p:sp>
      <p:sp>
        <p:nvSpPr>
          <p:cNvPr id="28" name="正方形/長方形 27">
            <a:extLst>
              <a:ext uri="{FF2B5EF4-FFF2-40B4-BE49-F238E27FC236}">
                <a16:creationId xmlns:a16="http://schemas.microsoft.com/office/drawing/2014/main" id="{62DB40E8-4720-CE41-8DD4-91EBEABD2968}"/>
              </a:ext>
            </a:extLst>
          </p:cNvPr>
          <p:cNvSpPr/>
          <p:nvPr/>
        </p:nvSpPr>
        <p:spPr bwMode="gray">
          <a:xfrm>
            <a:off x="2030654" y="5500359"/>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a:solidFill>
                  <a:schemeClr val="bg1"/>
                </a:solidFill>
                <a:latin typeface="Meiryo UI" panose="020B0604030504040204" pitchFamily="34" charset="-128"/>
                <a:ea typeface="Meiryo UI" panose="020B0604030504040204" pitchFamily="34" charset="-128"/>
              </a:rPr>
              <a:t>メタデータ</a:t>
            </a:r>
            <a:endParaRPr lang="ja-JP" altLang="en-US" sz="813" dirty="0">
              <a:solidFill>
                <a:schemeClr val="bg1"/>
              </a:solidFill>
              <a:latin typeface="Meiryo UI" panose="020B0604030504040204" pitchFamily="34" charset="-128"/>
              <a:ea typeface="Meiryo UI" panose="020B0604030504040204" pitchFamily="34" charset="-128"/>
            </a:endParaRPr>
          </a:p>
        </p:txBody>
      </p:sp>
      <p:sp>
        <p:nvSpPr>
          <p:cNvPr id="29" name="正方形/長方形 28">
            <a:extLst>
              <a:ext uri="{FF2B5EF4-FFF2-40B4-BE49-F238E27FC236}">
                <a16:creationId xmlns:a16="http://schemas.microsoft.com/office/drawing/2014/main" id="{73DF9C96-5C07-9247-BE5E-D4D4FE251EFA}"/>
              </a:ext>
            </a:extLst>
          </p:cNvPr>
          <p:cNvSpPr/>
          <p:nvPr/>
        </p:nvSpPr>
        <p:spPr bwMode="gray">
          <a:xfrm>
            <a:off x="2030654" y="5781635"/>
            <a:ext cx="1362099" cy="246801"/>
          </a:xfrm>
          <a:prstGeom prst="rect">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a:solidFill>
                  <a:schemeClr val="bg1"/>
                </a:solidFill>
                <a:latin typeface="Meiryo UI" panose="020B0604030504040204" pitchFamily="34" charset="-128"/>
                <a:ea typeface="Meiryo UI" panose="020B0604030504040204" pitchFamily="34" charset="-128"/>
              </a:rPr>
              <a:t>データ品質</a:t>
            </a:r>
            <a:endParaRPr lang="ja-JP" altLang="en-US" sz="813" dirty="0">
              <a:solidFill>
                <a:schemeClr val="bg1"/>
              </a:solidFill>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467FE527-08E8-BD45-BF71-DFBE21632590}"/>
              </a:ext>
            </a:extLst>
          </p:cNvPr>
          <p:cNvSpPr/>
          <p:nvPr/>
        </p:nvSpPr>
        <p:spPr bwMode="gray">
          <a:xfrm>
            <a:off x="2030654" y="2454512"/>
            <a:ext cx="1362099" cy="455756"/>
          </a:xfrm>
          <a:prstGeom prst="rect">
            <a:avLst/>
          </a:prstGeom>
          <a:solidFill>
            <a:schemeClr val="tx2">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13" b="1" dirty="0">
                <a:solidFill>
                  <a:schemeClr val="bg1"/>
                </a:solidFill>
                <a:latin typeface="Meiryo UI" panose="020B0604030504040204" pitchFamily="34" charset="-128"/>
                <a:ea typeface="Meiryo UI" panose="020B0604030504040204" pitchFamily="34" charset="-128"/>
              </a:rPr>
              <a:t>DAMA</a:t>
            </a:r>
            <a:r>
              <a:rPr lang="en" altLang="ja-JP" sz="813" b="1" dirty="0">
                <a:solidFill>
                  <a:schemeClr val="bg1"/>
                </a:solidFill>
                <a:latin typeface="Meiryo UI" panose="020B0604030504040204" pitchFamily="34" charset="-128"/>
                <a:ea typeface="Meiryo UI" panose="020B0604030504040204" pitchFamily="34" charset="-128"/>
              </a:rPr>
              <a:t> Wheel</a:t>
            </a:r>
            <a:r>
              <a:rPr lang="ja-JP" altLang="en-US" sz="813" b="1">
                <a:solidFill>
                  <a:schemeClr val="bg1"/>
                </a:solidFill>
                <a:latin typeface="Meiryo UI" panose="020B0604030504040204" pitchFamily="34" charset="-128"/>
                <a:ea typeface="Meiryo UI" panose="020B0604030504040204" pitchFamily="34" charset="-128"/>
              </a:rPr>
              <a:t>の</a:t>
            </a:r>
            <a:endParaRPr lang="en-US" altLang="ja-JP" sz="813" b="1"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813" b="1">
                <a:solidFill>
                  <a:schemeClr val="bg1"/>
                </a:solidFill>
                <a:latin typeface="Meiryo UI" panose="020B0604030504040204" pitchFamily="34" charset="-128"/>
                <a:ea typeface="Meiryo UI" panose="020B0604030504040204" pitchFamily="34" charset="-128"/>
              </a:rPr>
              <a:t>各ナレッジエリア毎の</a:t>
            </a:r>
            <a:endParaRPr lang="en-US" altLang="ja-JP" sz="813" b="1"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813" b="1">
                <a:solidFill>
                  <a:schemeClr val="bg1"/>
                </a:solidFill>
                <a:latin typeface="Meiryo UI" panose="020B0604030504040204" pitchFamily="34" charset="-128"/>
                <a:ea typeface="Meiryo UI" panose="020B0604030504040204" pitchFamily="34" charset="-128"/>
              </a:rPr>
              <a:t>アクティビティ一覧</a:t>
            </a:r>
            <a:endParaRPr lang="en-US" altLang="ja-JP" sz="813" b="1" dirty="0">
              <a:solidFill>
                <a:schemeClr val="bg1"/>
              </a:solidFill>
              <a:latin typeface="Meiryo UI" panose="020B0604030504040204" pitchFamily="34" charset="-128"/>
              <a:ea typeface="Meiryo UI" panose="020B0604030504040204" pitchFamily="34" charset="-128"/>
            </a:endParaRPr>
          </a:p>
        </p:txBody>
      </p:sp>
      <p:sp>
        <p:nvSpPr>
          <p:cNvPr id="31" name="ホームベース 31">
            <a:extLst>
              <a:ext uri="{FF2B5EF4-FFF2-40B4-BE49-F238E27FC236}">
                <a16:creationId xmlns:a16="http://schemas.microsoft.com/office/drawing/2014/main" id="{6EEA620A-6AA5-074D-A99E-0E2F7DF0931B}"/>
              </a:ext>
            </a:extLst>
          </p:cNvPr>
          <p:cNvSpPr/>
          <p:nvPr/>
        </p:nvSpPr>
        <p:spPr bwMode="gray">
          <a:xfrm>
            <a:off x="3428097" y="2453496"/>
            <a:ext cx="885096" cy="455756"/>
          </a:xfrm>
          <a:prstGeom prst="homePlate">
            <a:avLst>
              <a:gd name="adj" fmla="val 10244"/>
            </a:avLst>
          </a:prstGeom>
          <a:solidFill>
            <a:schemeClr val="tx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ysClr val="windowText" lastClr="000000"/>
                </a:solidFill>
                <a:latin typeface="Meiryo UI" panose="020B0604030504040204" pitchFamily="34" charset="-128"/>
                <a:ea typeface="Meiryo UI" panose="020B0604030504040204" pitchFamily="34" charset="-128"/>
              </a:rPr>
              <a:t>成熟度</a:t>
            </a:r>
            <a:r>
              <a:rPr lang="en-US" altLang="ja-JP" sz="813" dirty="0">
                <a:solidFill>
                  <a:sysClr val="windowText" lastClr="000000"/>
                </a:solidFill>
                <a:latin typeface="Meiryo UI" panose="020B0604030504040204" pitchFamily="34" charset="-128"/>
                <a:ea typeface="Meiryo UI" panose="020B0604030504040204" pitchFamily="34" charset="-128"/>
              </a:rPr>
              <a:t>Lv1</a:t>
            </a:r>
          </a:p>
          <a:p>
            <a:pPr algn="ctr">
              <a:buFont typeface="Wingdings 2" pitchFamily="18" charset="2"/>
              <a:buNone/>
            </a:pPr>
            <a:r>
              <a:rPr lang="ja-JP" altLang="en-US" sz="813" dirty="0">
                <a:solidFill>
                  <a:sysClr val="windowText" lastClr="000000"/>
                </a:solidFill>
                <a:latin typeface="Meiryo UI" panose="020B0604030504040204" pitchFamily="34" charset="-128"/>
                <a:ea typeface="Meiryo UI" panose="020B0604030504040204" pitchFamily="34" charset="-128"/>
              </a:rPr>
              <a:t>（初期状態）</a:t>
            </a: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16AE7556-DDB1-9041-9B3B-1FB1610B877E}"/>
              </a:ext>
            </a:extLst>
          </p:cNvPr>
          <p:cNvSpPr/>
          <p:nvPr/>
        </p:nvSpPr>
        <p:spPr bwMode="gray">
          <a:xfrm>
            <a:off x="3428097" y="2968876"/>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80192042-0A48-304D-91EB-99E3DAFEB77F}"/>
              </a:ext>
            </a:extLst>
          </p:cNvPr>
          <p:cNvSpPr/>
          <p:nvPr/>
        </p:nvSpPr>
        <p:spPr bwMode="gray">
          <a:xfrm>
            <a:off x="4348825" y="2968876"/>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55C27680-1F0C-EE46-AD95-1BE83A80A09A}"/>
              </a:ext>
            </a:extLst>
          </p:cNvPr>
          <p:cNvSpPr/>
          <p:nvPr/>
        </p:nvSpPr>
        <p:spPr bwMode="gray">
          <a:xfrm>
            <a:off x="5269553" y="2968876"/>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7D10661A-C9EE-EA41-944F-B806BB17A655}"/>
              </a:ext>
            </a:extLst>
          </p:cNvPr>
          <p:cNvSpPr/>
          <p:nvPr/>
        </p:nvSpPr>
        <p:spPr bwMode="gray">
          <a:xfrm>
            <a:off x="6190281" y="2968876"/>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28DB2F47-7FFA-AC4A-B7D3-944CBFFAFF2B}"/>
              </a:ext>
            </a:extLst>
          </p:cNvPr>
          <p:cNvSpPr/>
          <p:nvPr/>
        </p:nvSpPr>
        <p:spPr bwMode="gray">
          <a:xfrm>
            <a:off x="7111010" y="2968876"/>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EC29D78E-ED70-3C41-B908-65B888779932}"/>
              </a:ext>
            </a:extLst>
          </p:cNvPr>
          <p:cNvSpPr/>
          <p:nvPr/>
        </p:nvSpPr>
        <p:spPr bwMode="gray">
          <a:xfrm>
            <a:off x="3428097" y="3250152"/>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AD8D12A5-B2F6-D24B-8D85-013BD3335045}"/>
              </a:ext>
            </a:extLst>
          </p:cNvPr>
          <p:cNvSpPr/>
          <p:nvPr/>
        </p:nvSpPr>
        <p:spPr bwMode="gray">
          <a:xfrm>
            <a:off x="4348825" y="3250152"/>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39" name="正方形/長方形 38">
            <a:extLst>
              <a:ext uri="{FF2B5EF4-FFF2-40B4-BE49-F238E27FC236}">
                <a16:creationId xmlns:a16="http://schemas.microsoft.com/office/drawing/2014/main" id="{1761827C-A324-3946-93C9-D22DA9047B31}"/>
              </a:ext>
            </a:extLst>
          </p:cNvPr>
          <p:cNvSpPr/>
          <p:nvPr/>
        </p:nvSpPr>
        <p:spPr bwMode="gray">
          <a:xfrm>
            <a:off x="5269553" y="3250152"/>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0" name="正方形/長方形 39">
            <a:extLst>
              <a:ext uri="{FF2B5EF4-FFF2-40B4-BE49-F238E27FC236}">
                <a16:creationId xmlns:a16="http://schemas.microsoft.com/office/drawing/2014/main" id="{E15C8D28-6D84-364A-AF6E-CA34F4493D67}"/>
              </a:ext>
            </a:extLst>
          </p:cNvPr>
          <p:cNvSpPr/>
          <p:nvPr/>
        </p:nvSpPr>
        <p:spPr bwMode="gray">
          <a:xfrm>
            <a:off x="6190281" y="3250152"/>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14A36AC4-ECFA-0E48-BB63-D60BEB7DCD9A}"/>
              </a:ext>
            </a:extLst>
          </p:cNvPr>
          <p:cNvSpPr/>
          <p:nvPr/>
        </p:nvSpPr>
        <p:spPr bwMode="gray">
          <a:xfrm>
            <a:off x="7111010" y="3250152"/>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5F66EDA0-0EAC-4244-B5B8-6DC3595AFD2E}"/>
              </a:ext>
            </a:extLst>
          </p:cNvPr>
          <p:cNvSpPr/>
          <p:nvPr/>
        </p:nvSpPr>
        <p:spPr bwMode="gray">
          <a:xfrm>
            <a:off x="3430841" y="3529396"/>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B95760B4-A232-0749-B343-B2392B84DE6A}"/>
              </a:ext>
            </a:extLst>
          </p:cNvPr>
          <p:cNvSpPr/>
          <p:nvPr/>
        </p:nvSpPr>
        <p:spPr bwMode="gray">
          <a:xfrm>
            <a:off x="4351570" y="3529396"/>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5D8ADF4C-6316-5540-8513-D33C11101870}"/>
              </a:ext>
            </a:extLst>
          </p:cNvPr>
          <p:cNvSpPr/>
          <p:nvPr/>
        </p:nvSpPr>
        <p:spPr bwMode="gray">
          <a:xfrm>
            <a:off x="5272297" y="3529396"/>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3FE1221E-6311-E04D-9F82-9F0A0FAA22DC}"/>
              </a:ext>
            </a:extLst>
          </p:cNvPr>
          <p:cNvSpPr/>
          <p:nvPr/>
        </p:nvSpPr>
        <p:spPr bwMode="gray">
          <a:xfrm>
            <a:off x="6193025" y="3529396"/>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1C741B15-7F87-EF48-851F-F6B54A9866E1}"/>
              </a:ext>
            </a:extLst>
          </p:cNvPr>
          <p:cNvSpPr/>
          <p:nvPr/>
        </p:nvSpPr>
        <p:spPr bwMode="gray">
          <a:xfrm>
            <a:off x="7113754" y="3529396"/>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7" name="正方形/長方形 46">
            <a:extLst>
              <a:ext uri="{FF2B5EF4-FFF2-40B4-BE49-F238E27FC236}">
                <a16:creationId xmlns:a16="http://schemas.microsoft.com/office/drawing/2014/main" id="{F5A1AB69-4939-1746-90DE-79D7866897BD}"/>
              </a:ext>
            </a:extLst>
          </p:cNvPr>
          <p:cNvSpPr/>
          <p:nvPr/>
        </p:nvSpPr>
        <p:spPr bwMode="gray">
          <a:xfrm>
            <a:off x="3430841" y="3810672"/>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FCB4201D-E8EB-F14E-BD7D-04A5F9FB2D2F}"/>
              </a:ext>
            </a:extLst>
          </p:cNvPr>
          <p:cNvSpPr/>
          <p:nvPr/>
        </p:nvSpPr>
        <p:spPr bwMode="gray">
          <a:xfrm>
            <a:off x="4351570" y="3810672"/>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49" name="正方形/長方形 48">
            <a:extLst>
              <a:ext uri="{FF2B5EF4-FFF2-40B4-BE49-F238E27FC236}">
                <a16:creationId xmlns:a16="http://schemas.microsoft.com/office/drawing/2014/main" id="{CA8787E7-2F7C-834A-A95B-3E6DEF634510}"/>
              </a:ext>
            </a:extLst>
          </p:cNvPr>
          <p:cNvSpPr/>
          <p:nvPr/>
        </p:nvSpPr>
        <p:spPr bwMode="gray">
          <a:xfrm>
            <a:off x="5272297" y="3810672"/>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0" name="正方形/長方形 49">
            <a:extLst>
              <a:ext uri="{FF2B5EF4-FFF2-40B4-BE49-F238E27FC236}">
                <a16:creationId xmlns:a16="http://schemas.microsoft.com/office/drawing/2014/main" id="{3AFB3DFC-53F0-ED4D-B093-BC21789F2B12}"/>
              </a:ext>
            </a:extLst>
          </p:cNvPr>
          <p:cNvSpPr/>
          <p:nvPr/>
        </p:nvSpPr>
        <p:spPr bwMode="gray">
          <a:xfrm>
            <a:off x="6193025" y="3810672"/>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1" name="正方形/長方形 50">
            <a:extLst>
              <a:ext uri="{FF2B5EF4-FFF2-40B4-BE49-F238E27FC236}">
                <a16:creationId xmlns:a16="http://schemas.microsoft.com/office/drawing/2014/main" id="{B14CD3FF-020C-0F4F-9278-E08B6ACD70A6}"/>
              </a:ext>
            </a:extLst>
          </p:cNvPr>
          <p:cNvSpPr/>
          <p:nvPr/>
        </p:nvSpPr>
        <p:spPr bwMode="gray">
          <a:xfrm>
            <a:off x="7113754" y="3810672"/>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58E3EC53-05D2-EE4F-AE1C-AE4B45A7C0FF}"/>
              </a:ext>
            </a:extLst>
          </p:cNvPr>
          <p:cNvSpPr/>
          <p:nvPr/>
        </p:nvSpPr>
        <p:spPr bwMode="gray">
          <a:xfrm>
            <a:off x="3432317" y="4093833"/>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61324E54-55FD-0F47-8D7F-29D3E45DF7C0}"/>
              </a:ext>
            </a:extLst>
          </p:cNvPr>
          <p:cNvSpPr/>
          <p:nvPr/>
        </p:nvSpPr>
        <p:spPr bwMode="gray">
          <a:xfrm>
            <a:off x="4353044" y="4093833"/>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A37ED298-8F82-334F-936D-8604F49D04AD}"/>
              </a:ext>
            </a:extLst>
          </p:cNvPr>
          <p:cNvSpPr/>
          <p:nvPr/>
        </p:nvSpPr>
        <p:spPr bwMode="gray">
          <a:xfrm>
            <a:off x="5273773" y="4093833"/>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5" name="正方形/長方形 54">
            <a:extLst>
              <a:ext uri="{FF2B5EF4-FFF2-40B4-BE49-F238E27FC236}">
                <a16:creationId xmlns:a16="http://schemas.microsoft.com/office/drawing/2014/main" id="{54FAFD65-E175-B94A-B240-601E09021580}"/>
              </a:ext>
            </a:extLst>
          </p:cNvPr>
          <p:cNvSpPr/>
          <p:nvPr/>
        </p:nvSpPr>
        <p:spPr bwMode="gray">
          <a:xfrm>
            <a:off x="6194500" y="4093833"/>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6" name="正方形/長方形 55">
            <a:extLst>
              <a:ext uri="{FF2B5EF4-FFF2-40B4-BE49-F238E27FC236}">
                <a16:creationId xmlns:a16="http://schemas.microsoft.com/office/drawing/2014/main" id="{D80921AD-8BA8-4E41-83F7-B288AE68D977}"/>
              </a:ext>
            </a:extLst>
          </p:cNvPr>
          <p:cNvSpPr/>
          <p:nvPr/>
        </p:nvSpPr>
        <p:spPr bwMode="gray">
          <a:xfrm>
            <a:off x="7115230" y="4093833"/>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28CEA63A-65F7-414E-B1D4-AB4C55D3C364}"/>
              </a:ext>
            </a:extLst>
          </p:cNvPr>
          <p:cNvSpPr/>
          <p:nvPr/>
        </p:nvSpPr>
        <p:spPr bwMode="gray">
          <a:xfrm>
            <a:off x="3432317" y="4375109"/>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8" name="正方形/長方形 57">
            <a:extLst>
              <a:ext uri="{FF2B5EF4-FFF2-40B4-BE49-F238E27FC236}">
                <a16:creationId xmlns:a16="http://schemas.microsoft.com/office/drawing/2014/main" id="{BCA29F64-E4E4-1045-9643-2B1AD811ABEE}"/>
              </a:ext>
            </a:extLst>
          </p:cNvPr>
          <p:cNvSpPr/>
          <p:nvPr/>
        </p:nvSpPr>
        <p:spPr bwMode="gray">
          <a:xfrm>
            <a:off x="4353044" y="4375109"/>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59" name="正方形/長方形 58">
            <a:extLst>
              <a:ext uri="{FF2B5EF4-FFF2-40B4-BE49-F238E27FC236}">
                <a16:creationId xmlns:a16="http://schemas.microsoft.com/office/drawing/2014/main" id="{75A5EF12-AFDB-C04B-B835-3D6DA817F798}"/>
              </a:ext>
            </a:extLst>
          </p:cNvPr>
          <p:cNvSpPr/>
          <p:nvPr/>
        </p:nvSpPr>
        <p:spPr bwMode="gray">
          <a:xfrm>
            <a:off x="5273773" y="437510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0" name="正方形/長方形 59">
            <a:extLst>
              <a:ext uri="{FF2B5EF4-FFF2-40B4-BE49-F238E27FC236}">
                <a16:creationId xmlns:a16="http://schemas.microsoft.com/office/drawing/2014/main" id="{E2AEC53E-62C8-6549-93FF-035D528136EA}"/>
              </a:ext>
            </a:extLst>
          </p:cNvPr>
          <p:cNvSpPr/>
          <p:nvPr/>
        </p:nvSpPr>
        <p:spPr bwMode="gray">
          <a:xfrm>
            <a:off x="6194500" y="4375109"/>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1" name="正方形/長方形 60">
            <a:extLst>
              <a:ext uri="{FF2B5EF4-FFF2-40B4-BE49-F238E27FC236}">
                <a16:creationId xmlns:a16="http://schemas.microsoft.com/office/drawing/2014/main" id="{71317F42-D736-964C-8911-200876D8115D}"/>
              </a:ext>
            </a:extLst>
          </p:cNvPr>
          <p:cNvSpPr/>
          <p:nvPr/>
        </p:nvSpPr>
        <p:spPr bwMode="gray">
          <a:xfrm>
            <a:off x="7115230" y="4375109"/>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2" name="正方形/長方形 61">
            <a:extLst>
              <a:ext uri="{FF2B5EF4-FFF2-40B4-BE49-F238E27FC236}">
                <a16:creationId xmlns:a16="http://schemas.microsoft.com/office/drawing/2014/main" id="{8062CA12-4265-5840-9F62-2536F7035CD0}"/>
              </a:ext>
            </a:extLst>
          </p:cNvPr>
          <p:cNvSpPr/>
          <p:nvPr/>
        </p:nvSpPr>
        <p:spPr bwMode="gray">
          <a:xfrm>
            <a:off x="3435061" y="4654353"/>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3" name="正方形/長方形 62">
            <a:extLst>
              <a:ext uri="{FF2B5EF4-FFF2-40B4-BE49-F238E27FC236}">
                <a16:creationId xmlns:a16="http://schemas.microsoft.com/office/drawing/2014/main" id="{6DB1BF67-606D-A543-89B4-5CD9318EACD1}"/>
              </a:ext>
            </a:extLst>
          </p:cNvPr>
          <p:cNvSpPr/>
          <p:nvPr/>
        </p:nvSpPr>
        <p:spPr bwMode="gray">
          <a:xfrm>
            <a:off x="4355790" y="4654353"/>
            <a:ext cx="885096" cy="24680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4" name="正方形/長方形 63">
            <a:extLst>
              <a:ext uri="{FF2B5EF4-FFF2-40B4-BE49-F238E27FC236}">
                <a16:creationId xmlns:a16="http://schemas.microsoft.com/office/drawing/2014/main" id="{6599AB46-E8EF-A84E-8F90-303F8DF24F20}"/>
              </a:ext>
            </a:extLst>
          </p:cNvPr>
          <p:cNvSpPr/>
          <p:nvPr/>
        </p:nvSpPr>
        <p:spPr bwMode="gray">
          <a:xfrm>
            <a:off x="5276517" y="4654353"/>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5" name="正方形/長方形 64">
            <a:extLst>
              <a:ext uri="{FF2B5EF4-FFF2-40B4-BE49-F238E27FC236}">
                <a16:creationId xmlns:a16="http://schemas.microsoft.com/office/drawing/2014/main" id="{10511267-085C-7546-96FB-49CEC6875EF5}"/>
              </a:ext>
            </a:extLst>
          </p:cNvPr>
          <p:cNvSpPr/>
          <p:nvPr/>
        </p:nvSpPr>
        <p:spPr bwMode="gray">
          <a:xfrm>
            <a:off x="6197245" y="4654353"/>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6" name="正方形/長方形 65">
            <a:extLst>
              <a:ext uri="{FF2B5EF4-FFF2-40B4-BE49-F238E27FC236}">
                <a16:creationId xmlns:a16="http://schemas.microsoft.com/office/drawing/2014/main" id="{2845E465-C25F-BB41-A96A-4A79CC99D609}"/>
              </a:ext>
            </a:extLst>
          </p:cNvPr>
          <p:cNvSpPr/>
          <p:nvPr/>
        </p:nvSpPr>
        <p:spPr bwMode="gray">
          <a:xfrm>
            <a:off x="7117974" y="4654353"/>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7" name="正方形/長方形 66">
            <a:extLst>
              <a:ext uri="{FF2B5EF4-FFF2-40B4-BE49-F238E27FC236}">
                <a16:creationId xmlns:a16="http://schemas.microsoft.com/office/drawing/2014/main" id="{BA68217E-115F-C74D-A987-4F9F05778CCA}"/>
              </a:ext>
            </a:extLst>
          </p:cNvPr>
          <p:cNvSpPr/>
          <p:nvPr/>
        </p:nvSpPr>
        <p:spPr bwMode="gray">
          <a:xfrm>
            <a:off x="3435061" y="4935629"/>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8" name="正方形/長方形 67">
            <a:extLst>
              <a:ext uri="{FF2B5EF4-FFF2-40B4-BE49-F238E27FC236}">
                <a16:creationId xmlns:a16="http://schemas.microsoft.com/office/drawing/2014/main" id="{842A5EB3-2EED-A047-BA90-A9C9776F09FA}"/>
              </a:ext>
            </a:extLst>
          </p:cNvPr>
          <p:cNvSpPr/>
          <p:nvPr/>
        </p:nvSpPr>
        <p:spPr bwMode="gray">
          <a:xfrm>
            <a:off x="4355790" y="493562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69" name="正方形/長方形 68">
            <a:extLst>
              <a:ext uri="{FF2B5EF4-FFF2-40B4-BE49-F238E27FC236}">
                <a16:creationId xmlns:a16="http://schemas.microsoft.com/office/drawing/2014/main" id="{E2F64F8B-65DD-2849-B5B8-37A62F8B32A6}"/>
              </a:ext>
            </a:extLst>
          </p:cNvPr>
          <p:cNvSpPr/>
          <p:nvPr/>
        </p:nvSpPr>
        <p:spPr bwMode="gray">
          <a:xfrm>
            <a:off x="5276517" y="493562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0" name="正方形/長方形 69">
            <a:extLst>
              <a:ext uri="{FF2B5EF4-FFF2-40B4-BE49-F238E27FC236}">
                <a16:creationId xmlns:a16="http://schemas.microsoft.com/office/drawing/2014/main" id="{71AE8DD7-E838-9A4C-88A1-1C3B3B6D78B3}"/>
              </a:ext>
            </a:extLst>
          </p:cNvPr>
          <p:cNvSpPr/>
          <p:nvPr/>
        </p:nvSpPr>
        <p:spPr bwMode="gray">
          <a:xfrm>
            <a:off x="6197245" y="4935629"/>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1" name="正方形/長方形 70">
            <a:extLst>
              <a:ext uri="{FF2B5EF4-FFF2-40B4-BE49-F238E27FC236}">
                <a16:creationId xmlns:a16="http://schemas.microsoft.com/office/drawing/2014/main" id="{AB58877D-0A4B-6945-AC1F-38097EA81B3B}"/>
              </a:ext>
            </a:extLst>
          </p:cNvPr>
          <p:cNvSpPr/>
          <p:nvPr/>
        </p:nvSpPr>
        <p:spPr bwMode="gray">
          <a:xfrm>
            <a:off x="7117974" y="4935629"/>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2" name="正方形/長方形 71">
            <a:extLst>
              <a:ext uri="{FF2B5EF4-FFF2-40B4-BE49-F238E27FC236}">
                <a16:creationId xmlns:a16="http://schemas.microsoft.com/office/drawing/2014/main" id="{B85EBDAE-F84E-2B47-886B-52083FB41596}"/>
              </a:ext>
            </a:extLst>
          </p:cNvPr>
          <p:cNvSpPr/>
          <p:nvPr/>
        </p:nvSpPr>
        <p:spPr bwMode="gray">
          <a:xfrm>
            <a:off x="3432317" y="5214439"/>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3" name="正方形/長方形 72">
            <a:extLst>
              <a:ext uri="{FF2B5EF4-FFF2-40B4-BE49-F238E27FC236}">
                <a16:creationId xmlns:a16="http://schemas.microsoft.com/office/drawing/2014/main" id="{E7AEA55A-BA21-FA41-92A0-F7CC401AFA1E}"/>
              </a:ext>
            </a:extLst>
          </p:cNvPr>
          <p:cNvSpPr/>
          <p:nvPr/>
        </p:nvSpPr>
        <p:spPr bwMode="gray">
          <a:xfrm>
            <a:off x="4353044" y="521443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4" name="正方形/長方形 73">
            <a:extLst>
              <a:ext uri="{FF2B5EF4-FFF2-40B4-BE49-F238E27FC236}">
                <a16:creationId xmlns:a16="http://schemas.microsoft.com/office/drawing/2014/main" id="{3522F3BB-2056-8845-8789-461B0835F9B2}"/>
              </a:ext>
            </a:extLst>
          </p:cNvPr>
          <p:cNvSpPr/>
          <p:nvPr/>
        </p:nvSpPr>
        <p:spPr bwMode="gray">
          <a:xfrm>
            <a:off x="5273773" y="521443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5" name="正方形/長方形 74">
            <a:extLst>
              <a:ext uri="{FF2B5EF4-FFF2-40B4-BE49-F238E27FC236}">
                <a16:creationId xmlns:a16="http://schemas.microsoft.com/office/drawing/2014/main" id="{7914235F-01A0-7142-B94C-16B7D38C79FD}"/>
              </a:ext>
            </a:extLst>
          </p:cNvPr>
          <p:cNvSpPr/>
          <p:nvPr/>
        </p:nvSpPr>
        <p:spPr bwMode="gray">
          <a:xfrm>
            <a:off x="6194500" y="5214439"/>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6" name="正方形/長方形 75">
            <a:extLst>
              <a:ext uri="{FF2B5EF4-FFF2-40B4-BE49-F238E27FC236}">
                <a16:creationId xmlns:a16="http://schemas.microsoft.com/office/drawing/2014/main" id="{8E1B1C5D-806E-354E-ABF7-17ECF3737031}"/>
              </a:ext>
            </a:extLst>
          </p:cNvPr>
          <p:cNvSpPr/>
          <p:nvPr/>
        </p:nvSpPr>
        <p:spPr bwMode="gray">
          <a:xfrm>
            <a:off x="7115230" y="5214439"/>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7" name="正方形/長方形 76">
            <a:extLst>
              <a:ext uri="{FF2B5EF4-FFF2-40B4-BE49-F238E27FC236}">
                <a16:creationId xmlns:a16="http://schemas.microsoft.com/office/drawing/2014/main" id="{169721AA-8413-0445-9439-E6929F0E9365}"/>
              </a:ext>
            </a:extLst>
          </p:cNvPr>
          <p:cNvSpPr/>
          <p:nvPr/>
        </p:nvSpPr>
        <p:spPr bwMode="gray">
          <a:xfrm>
            <a:off x="3435061" y="5493683"/>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8" name="正方形/長方形 77">
            <a:extLst>
              <a:ext uri="{FF2B5EF4-FFF2-40B4-BE49-F238E27FC236}">
                <a16:creationId xmlns:a16="http://schemas.microsoft.com/office/drawing/2014/main" id="{0AA6FCE2-2045-5A41-9C47-C2C0D6B29C99}"/>
              </a:ext>
            </a:extLst>
          </p:cNvPr>
          <p:cNvSpPr/>
          <p:nvPr/>
        </p:nvSpPr>
        <p:spPr bwMode="gray">
          <a:xfrm>
            <a:off x="4355790" y="5493683"/>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79" name="正方形/長方形 78">
            <a:extLst>
              <a:ext uri="{FF2B5EF4-FFF2-40B4-BE49-F238E27FC236}">
                <a16:creationId xmlns:a16="http://schemas.microsoft.com/office/drawing/2014/main" id="{E8FF7501-92FC-C645-A973-0057773D96F6}"/>
              </a:ext>
            </a:extLst>
          </p:cNvPr>
          <p:cNvSpPr/>
          <p:nvPr/>
        </p:nvSpPr>
        <p:spPr bwMode="gray">
          <a:xfrm>
            <a:off x="5276517" y="5493683"/>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0" name="正方形/長方形 79">
            <a:extLst>
              <a:ext uri="{FF2B5EF4-FFF2-40B4-BE49-F238E27FC236}">
                <a16:creationId xmlns:a16="http://schemas.microsoft.com/office/drawing/2014/main" id="{1EB6C968-C9BC-C045-92AF-F2F80ED98600}"/>
              </a:ext>
            </a:extLst>
          </p:cNvPr>
          <p:cNvSpPr/>
          <p:nvPr/>
        </p:nvSpPr>
        <p:spPr bwMode="gray">
          <a:xfrm>
            <a:off x="6197245" y="5493683"/>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1" name="正方形/長方形 80">
            <a:extLst>
              <a:ext uri="{FF2B5EF4-FFF2-40B4-BE49-F238E27FC236}">
                <a16:creationId xmlns:a16="http://schemas.microsoft.com/office/drawing/2014/main" id="{E7782623-EE1F-494D-9F2D-777171501261}"/>
              </a:ext>
            </a:extLst>
          </p:cNvPr>
          <p:cNvSpPr/>
          <p:nvPr/>
        </p:nvSpPr>
        <p:spPr bwMode="gray">
          <a:xfrm>
            <a:off x="7117974" y="5493683"/>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2" name="正方形/長方形 81">
            <a:extLst>
              <a:ext uri="{FF2B5EF4-FFF2-40B4-BE49-F238E27FC236}">
                <a16:creationId xmlns:a16="http://schemas.microsoft.com/office/drawing/2014/main" id="{159241F3-77F8-EA4A-9D4C-DCBB44F5E51B}"/>
              </a:ext>
            </a:extLst>
          </p:cNvPr>
          <p:cNvSpPr/>
          <p:nvPr/>
        </p:nvSpPr>
        <p:spPr bwMode="gray">
          <a:xfrm>
            <a:off x="3435061" y="5774959"/>
            <a:ext cx="885096" cy="24680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3" name="正方形/長方形 82">
            <a:extLst>
              <a:ext uri="{FF2B5EF4-FFF2-40B4-BE49-F238E27FC236}">
                <a16:creationId xmlns:a16="http://schemas.microsoft.com/office/drawing/2014/main" id="{821BE56B-78BE-6148-9B9F-7286562E9FBF}"/>
              </a:ext>
            </a:extLst>
          </p:cNvPr>
          <p:cNvSpPr/>
          <p:nvPr/>
        </p:nvSpPr>
        <p:spPr bwMode="gray">
          <a:xfrm>
            <a:off x="4355790" y="577495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4" name="正方形/長方形 83">
            <a:extLst>
              <a:ext uri="{FF2B5EF4-FFF2-40B4-BE49-F238E27FC236}">
                <a16:creationId xmlns:a16="http://schemas.microsoft.com/office/drawing/2014/main" id="{80BAEB8C-BD34-CC43-BDC5-E8899933E060}"/>
              </a:ext>
            </a:extLst>
          </p:cNvPr>
          <p:cNvSpPr/>
          <p:nvPr/>
        </p:nvSpPr>
        <p:spPr bwMode="gray">
          <a:xfrm>
            <a:off x="5276517" y="5774959"/>
            <a:ext cx="885096" cy="246801"/>
          </a:xfrm>
          <a:prstGeom prst="rect">
            <a:avLst/>
          </a:prstGeom>
          <a:solidFill>
            <a:schemeClr val="bg1">
              <a:lumMod val="8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5" name="正方形/長方形 84">
            <a:extLst>
              <a:ext uri="{FF2B5EF4-FFF2-40B4-BE49-F238E27FC236}">
                <a16:creationId xmlns:a16="http://schemas.microsoft.com/office/drawing/2014/main" id="{4DBC206F-A775-1645-BE87-ADF4C4F03C50}"/>
              </a:ext>
            </a:extLst>
          </p:cNvPr>
          <p:cNvSpPr/>
          <p:nvPr/>
        </p:nvSpPr>
        <p:spPr bwMode="gray">
          <a:xfrm>
            <a:off x="6197245" y="5774959"/>
            <a:ext cx="885096" cy="246801"/>
          </a:xfrm>
          <a:prstGeom prst="rect">
            <a:avLst/>
          </a:prstGeom>
          <a:solidFill>
            <a:schemeClr val="bg1">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6" name="正方形/長方形 85">
            <a:extLst>
              <a:ext uri="{FF2B5EF4-FFF2-40B4-BE49-F238E27FC236}">
                <a16:creationId xmlns:a16="http://schemas.microsoft.com/office/drawing/2014/main" id="{4FB17539-3B5C-1B49-9DED-1CD572FB6DB2}"/>
              </a:ext>
            </a:extLst>
          </p:cNvPr>
          <p:cNvSpPr/>
          <p:nvPr/>
        </p:nvSpPr>
        <p:spPr bwMode="gray">
          <a:xfrm>
            <a:off x="7117974" y="5774959"/>
            <a:ext cx="885096" cy="246801"/>
          </a:xfrm>
          <a:prstGeom prst="rect">
            <a:avLst/>
          </a:prstGeom>
          <a:solidFill>
            <a:schemeClr val="bg1">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7" name="ホームベース 93">
            <a:extLst>
              <a:ext uri="{FF2B5EF4-FFF2-40B4-BE49-F238E27FC236}">
                <a16:creationId xmlns:a16="http://schemas.microsoft.com/office/drawing/2014/main" id="{14CFA465-D04E-4B45-A392-05329AEB384C}"/>
              </a:ext>
            </a:extLst>
          </p:cNvPr>
          <p:cNvSpPr/>
          <p:nvPr/>
        </p:nvSpPr>
        <p:spPr bwMode="gray">
          <a:xfrm>
            <a:off x="4346389" y="2453496"/>
            <a:ext cx="885096" cy="455756"/>
          </a:xfrm>
          <a:prstGeom prst="homePlate">
            <a:avLst>
              <a:gd name="adj" fmla="val 10244"/>
            </a:avLst>
          </a:prstGeom>
          <a:solidFill>
            <a:schemeClr val="tx2">
              <a:lumMod val="40000"/>
              <a:lumOff val="6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ysClr val="windowText" lastClr="000000"/>
                </a:solidFill>
                <a:latin typeface="Meiryo UI" panose="020B0604030504040204" pitchFamily="34" charset="-128"/>
                <a:ea typeface="Meiryo UI" panose="020B0604030504040204" pitchFamily="34" charset="-128"/>
              </a:rPr>
              <a:t>成熟度</a:t>
            </a:r>
            <a:r>
              <a:rPr lang="en-US" altLang="ja-JP" sz="813" dirty="0">
                <a:solidFill>
                  <a:sysClr val="windowText" lastClr="000000"/>
                </a:solidFill>
                <a:latin typeface="Meiryo UI" panose="020B0604030504040204" pitchFamily="34" charset="-128"/>
                <a:ea typeface="Meiryo UI" panose="020B0604030504040204" pitchFamily="34" charset="-128"/>
              </a:rPr>
              <a:t>Lv2</a:t>
            </a:r>
          </a:p>
          <a:p>
            <a:pPr algn="ctr">
              <a:buFont typeface="Wingdings 2" pitchFamily="18" charset="2"/>
              <a:buNone/>
            </a:pPr>
            <a:r>
              <a:rPr lang="ja-JP" altLang="en-US" sz="813" dirty="0">
                <a:solidFill>
                  <a:sysClr val="windowText" lastClr="000000"/>
                </a:solidFill>
                <a:latin typeface="Meiryo UI" panose="020B0604030504040204" pitchFamily="34" charset="-128"/>
                <a:ea typeface="Meiryo UI" panose="020B0604030504040204" pitchFamily="34" charset="-128"/>
              </a:rPr>
              <a:t>（管理された）</a:t>
            </a: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8" name="ホームベース 94">
            <a:extLst>
              <a:ext uri="{FF2B5EF4-FFF2-40B4-BE49-F238E27FC236}">
                <a16:creationId xmlns:a16="http://schemas.microsoft.com/office/drawing/2014/main" id="{8BE03368-83B2-DA43-A885-6707D9796FB5}"/>
              </a:ext>
            </a:extLst>
          </p:cNvPr>
          <p:cNvSpPr/>
          <p:nvPr/>
        </p:nvSpPr>
        <p:spPr bwMode="gray">
          <a:xfrm>
            <a:off x="5260903" y="2453496"/>
            <a:ext cx="885096" cy="455756"/>
          </a:xfrm>
          <a:prstGeom prst="homePlate">
            <a:avLst>
              <a:gd name="adj" fmla="val 10244"/>
            </a:avLst>
          </a:prstGeom>
          <a:solidFill>
            <a:schemeClr val="tx2">
              <a:lumMod val="60000"/>
              <a:lumOff val="4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ysClr val="windowText" lastClr="000000"/>
                </a:solidFill>
                <a:latin typeface="Meiryo UI" panose="020B0604030504040204" pitchFamily="34" charset="-128"/>
                <a:ea typeface="Meiryo UI" panose="020B0604030504040204" pitchFamily="34" charset="-128"/>
              </a:rPr>
              <a:t>成熟度</a:t>
            </a:r>
            <a:r>
              <a:rPr lang="en-US" altLang="ja-JP" sz="813" dirty="0">
                <a:solidFill>
                  <a:sysClr val="windowText" lastClr="000000"/>
                </a:solidFill>
                <a:latin typeface="Meiryo UI" panose="020B0604030504040204" pitchFamily="34" charset="-128"/>
                <a:ea typeface="Meiryo UI" panose="020B0604030504040204" pitchFamily="34" charset="-128"/>
              </a:rPr>
              <a:t>Lv3</a:t>
            </a:r>
          </a:p>
          <a:p>
            <a:pPr algn="ctr">
              <a:buFont typeface="Wingdings 2" pitchFamily="18" charset="2"/>
              <a:buNone/>
            </a:pPr>
            <a:r>
              <a:rPr lang="ja-JP" altLang="en-US" sz="813" dirty="0">
                <a:solidFill>
                  <a:sysClr val="windowText" lastClr="000000"/>
                </a:solidFill>
                <a:latin typeface="Meiryo UI" panose="020B0604030504040204" pitchFamily="34" charset="-128"/>
                <a:ea typeface="Meiryo UI" panose="020B0604030504040204" pitchFamily="34" charset="-128"/>
              </a:rPr>
              <a:t>（定義された）</a:t>
            </a:r>
            <a:endParaRPr lang="en-US" altLang="ja-JP" sz="813" dirty="0">
              <a:solidFill>
                <a:sysClr val="windowText" lastClr="000000"/>
              </a:solidFill>
              <a:latin typeface="Meiryo UI" panose="020B0604030504040204" pitchFamily="34" charset="-128"/>
              <a:ea typeface="Meiryo UI" panose="020B0604030504040204" pitchFamily="34" charset="-128"/>
            </a:endParaRPr>
          </a:p>
        </p:txBody>
      </p:sp>
      <p:sp>
        <p:nvSpPr>
          <p:cNvPr id="89" name="ホームベース 95">
            <a:extLst>
              <a:ext uri="{FF2B5EF4-FFF2-40B4-BE49-F238E27FC236}">
                <a16:creationId xmlns:a16="http://schemas.microsoft.com/office/drawing/2014/main" id="{82020221-B513-7A4F-81A7-EDE3A3464394}"/>
              </a:ext>
            </a:extLst>
          </p:cNvPr>
          <p:cNvSpPr/>
          <p:nvPr/>
        </p:nvSpPr>
        <p:spPr bwMode="gray">
          <a:xfrm>
            <a:off x="6196496" y="2453496"/>
            <a:ext cx="885096" cy="455756"/>
          </a:xfrm>
          <a:prstGeom prst="homePlate">
            <a:avLst>
              <a:gd name="adj" fmla="val 10244"/>
            </a:avLst>
          </a:prstGeom>
          <a:solidFill>
            <a:schemeClr val="tx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成熟度</a:t>
            </a:r>
            <a:r>
              <a:rPr lang="en-US" altLang="ja-JP" sz="813" dirty="0">
                <a:solidFill>
                  <a:schemeClr val="bg1"/>
                </a:solidFill>
                <a:latin typeface="Meiryo UI" panose="020B0604030504040204" pitchFamily="34" charset="-128"/>
                <a:ea typeface="Meiryo UI" panose="020B0604030504040204" pitchFamily="34" charset="-128"/>
              </a:rPr>
              <a:t>Lv4</a:t>
            </a:r>
          </a:p>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（定量的に管理された）</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90" name="ホームベース 96">
            <a:extLst>
              <a:ext uri="{FF2B5EF4-FFF2-40B4-BE49-F238E27FC236}">
                <a16:creationId xmlns:a16="http://schemas.microsoft.com/office/drawing/2014/main" id="{D52269BD-FF00-544E-BAD5-CF7862DB2EA4}"/>
              </a:ext>
            </a:extLst>
          </p:cNvPr>
          <p:cNvSpPr/>
          <p:nvPr/>
        </p:nvSpPr>
        <p:spPr bwMode="gray">
          <a:xfrm>
            <a:off x="7111010" y="2453496"/>
            <a:ext cx="885096" cy="455756"/>
          </a:xfrm>
          <a:prstGeom prst="homePlate">
            <a:avLst>
              <a:gd name="adj" fmla="val 10244"/>
            </a:avLst>
          </a:prstGeom>
          <a:solidFill>
            <a:schemeClr val="tx2">
              <a:lumMod val="5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成熟度</a:t>
            </a:r>
            <a:r>
              <a:rPr lang="en-US" altLang="ja-JP" sz="813" dirty="0">
                <a:solidFill>
                  <a:schemeClr val="bg1"/>
                </a:solidFill>
                <a:latin typeface="Meiryo UI" panose="020B0604030504040204" pitchFamily="34" charset="-128"/>
                <a:ea typeface="Meiryo UI" panose="020B0604030504040204" pitchFamily="34" charset="-128"/>
              </a:rPr>
              <a:t>Lv5</a:t>
            </a:r>
          </a:p>
          <a:p>
            <a:pPr algn="ctr">
              <a:buFont typeface="Wingdings 2" pitchFamily="18" charset="2"/>
              <a:buNone/>
            </a:pPr>
            <a:r>
              <a:rPr lang="ja-JP" altLang="en-US" sz="813" dirty="0">
                <a:solidFill>
                  <a:schemeClr val="bg1"/>
                </a:solidFill>
                <a:latin typeface="Meiryo UI" panose="020B0604030504040204" pitchFamily="34" charset="-128"/>
                <a:ea typeface="Meiryo UI" panose="020B0604030504040204" pitchFamily="34" charset="-128"/>
              </a:rPr>
              <a:t>（最適化している）</a:t>
            </a:r>
            <a:endParaRPr lang="en-US" altLang="ja-JP" sz="813" dirty="0">
              <a:solidFill>
                <a:schemeClr val="bg1"/>
              </a:solidFill>
              <a:latin typeface="Meiryo UI" panose="020B0604030504040204" pitchFamily="34" charset="-128"/>
              <a:ea typeface="Meiryo UI" panose="020B0604030504040204" pitchFamily="34" charset="-128"/>
            </a:endParaRPr>
          </a:p>
        </p:txBody>
      </p:sp>
      <p:sp>
        <p:nvSpPr>
          <p:cNvPr id="91" name="角丸四角形 97">
            <a:extLst>
              <a:ext uri="{FF2B5EF4-FFF2-40B4-BE49-F238E27FC236}">
                <a16:creationId xmlns:a16="http://schemas.microsoft.com/office/drawing/2014/main" id="{D9E5FA60-5E02-C24E-998C-7180B2D1C2AD}"/>
              </a:ext>
            </a:extLst>
          </p:cNvPr>
          <p:cNvSpPr/>
          <p:nvPr/>
        </p:nvSpPr>
        <p:spPr bwMode="gray">
          <a:xfrm>
            <a:off x="3592351" y="3035792"/>
            <a:ext cx="570516" cy="2830650"/>
          </a:xfrm>
          <a:prstGeom prst="roundRect">
            <a:avLst>
              <a:gd name="adj" fmla="val 34000"/>
            </a:avLst>
          </a:prstGeom>
          <a:solidFill>
            <a:schemeClr val="tx1">
              <a:alpha val="51373"/>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ビジネス</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バリュー⓪</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a:t>
            </a:r>
            <a:r>
              <a:rPr lang="en-US" altLang="ja-JP" sz="975" dirty="0" err="1">
                <a:solidFill>
                  <a:schemeClr val="bg1"/>
                </a:solidFill>
                <a:latin typeface="Meiryo UI" panose="020B0604030504040204" pitchFamily="34" charset="-128"/>
                <a:ea typeface="Meiryo UI" panose="020B0604030504040204" pitchFamily="34" charset="-128"/>
              </a:rPr>
              <a:t>AsIs</a:t>
            </a:r>
            <a:r>
              <a:rPr lang="ja-JP" altLang="en-US" sz="975">
                <a:solidFill>
                  <a:schemeClr val="bg1"/>
                </a:solidFill>
                <a:latin typeface="Meiryo UI" panose="020B0604030504040204" pitchFamily="34" charset="-128"/>
                <a:ea typeface="Meiryo UI" panose="020B0604030504040204" pitchFamily="34" charset="-128"/>
              </a:rPr>
              <a:t>）</a:t>
            </a:r>
            <a:endParaRPr lang="en-US" altLang="ja-JP" sz="975" dirty="0">
              <a:solidFill>
                <a:schemeClr val="bg1"/>
              </a:solidFill>
              <a:latin typeface="Meiryo UI" panose="020B0604030504040204" pitchFamily="34" charset="-128"/>
              <a:ea typeface="Meiryo UI" panose="020B0604030504040204" pitchFamily="34" charset="-128"/>
            </a:endParaRPr>
          </a:p>
        </p:txBody>
      </p:sp>
      <p:sp>
        <p:nvSpPr>
          <p:cNvPr id="92" name="フリーフォーム 105">
            <a:extLst>
              <a:ext uri="{FF2B5EF4-FFF2-40B4-BE49-F238E27FC236}">
                <a16:creationId xmlns:a16="http://schemas.microsoft.com/office/drawing/2014/main" id="{DADD204C-B0FC-274C-96AD-BE29D28438DA}"/>
              </a:ext>
            </a:extLst>
          </p:cNvPr>
          <p:cNvSpPr/>
          <p:nvPr/>
        </p:nvSpPr>
        <p:spPr bwMode="gray">
          <a:xfrm>
            <a:off x="4471127" y="3053770"/>
            <a:ext cx="1533196" cy="2812672"/>
          </a:xfrm>
          <a:custGeom>
            <a:avLst/>
            <a:gdLst>
              <a:gd name="connsiteX0" fmla="*/ 1431903 w 2075490"/>
              <a:gd name="connsiteY0" fmla="*/ 0 h 4102744"/>
              <a:gd name="connsiteX1" fmla="*/ 1946769 w 2075490"/>
              <a:gd name="connsiteY1" fmla="*/ 0 h 4102744"/>
              <a:gd name="connsiteX2" fmla="*/ 2075490 w 2075490"/>
              <a:gd name="connsiteY2" fmla="*/ 128721 h 4102744"/>
              <a:gd name="connsiteX3" fmla="*/ 2075490 w 2075490"/>
              <a:gd name="connsiteY3" fmla="*/ 3974023 h 4102744"/>
              <a:gd name="connsiteX4" fmla="*/ 1946769 w 2075490"/>
              <a:gd name="connsiteY4" fmla="*/ 4102744 h 4102744"/>
              <a:gd name="connsiteX5" fmla="*/ 1431903 w 2075490"/>
              <a:gd name="connsiteY5" fmla="*/ 4102744 h 4102744"/>
              <a:gd name="connsiteX6" fmla="*/ 1381799 w 2075490"/>
              <a:gd name="connsiteY6" fmla="*/ 4092629 h 4102744"/>
              <a:gd name="connsiteX7" fmla="*/ 1374917 w 2075490"/>
              <a:gd name="connsiteY7" fmla="*/ 4087989 h 4102744"/>
              <a:gd name="connsiteX8" fmla="*/ 1301832 w 2075490"/>
              <a:gd name="connsiteY8" fmla="*/ 4102744 h 4102744"/>
              <a:gd name="connsiteX9" fmla="*/ 197304 w 2075490"/>
              <a:gd name="connsiteY9" fmla="*/ 4102744 h 4102744"/>
              <a:gd name="connsiteX10" fmla="*/ 0 w 2075490"/>
              <a:gd name="connsiteY10" fmla="*/ 3905440 h 4102744"/>
              <a:gd name="connsiteX11" fmla="*/ 0 w 2075490"/>
              <a:gd name="connsiteY11" fmla="*/ 3116248 h 4102744"/>
              <a:gd name="connsiteX12" fmla="*/ 197304 w 2075490"/>
              <a:gd name="connsiteY12" fmla="*/ 2918944 h 4102744"/>
              <a:gd name="connsiteX13" fmla="*/ 1301832 w 2075490"/>
              <a:gd name="connsiteY13" fmla="*/ 2918944 h 4102744"/>
              <a:gd name="connsiteX14" fmla="*/ 1303182 w 2075490"/>
              <a:gd name="connsiteY14" fmla="*/ 2919217 h 4102744"/>
              <a:gd name="connsiteX15" fmla="*/ 1303182 w 2075490"/>
              <a:gd name="connsiteY15" fmla="*/ 128721 h 4102744"/>
              <a:gd name="connsiteX16" fmla="*/ 1431903 w 2075490"/>
              <a:gd name="connsiteY16" fmla="*/ 0 h 410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5490" h="4102744">
                <a:moveTo>
                  <a:pt x="1431903" y="0"/>
                </a:moveTo>
                <a:lnTo>
                  <a:pt x="1946769" y="0"/>
                </a:lnTo>
                <a:cubicBezTo>
                  <a:pt x="2017860" y="0"/>
                  <a:pt x="2075490" y="57630"/>
                  <a:pt x="2075490" y="128721"/>
                </a:cubicBezTo>
                <a:lnTo>
                  <a:pt x="2075490" y="3974023"/>
                </a:lnTo>
                <a:cubicBezTo>
                  <a:pt x="2075490" y="4045114"/>
                  <a:pt x="2017860" y="4102744"/>
                  <a:pt x="1946769" y="4102744"/>
                </a:cubicBezTo>
                <a:lnTo>
                  <a:pt x="1431903" y="4102744"/>
                </a:lnTo>
                <a:cubicBezTo>
                  <a:pt x="1414130" y="4102744"/>
                  <a:pt x="1397199" y="4099142"/>
                  <a:pt x="1381799" y="4092629"/>
                </a:cubicBezTo>
                <a:lnTo>
                  <a:pt x="1374917" y="4087989"/>
                </a:lnTo>
                <a:lnTo>
                  <a:pt x="1301832" y="4102744"/>
                </a:lnTo>
                <a:lnTo>
                  <a:pt x="197304" y="4102744"/>
                </a:lnTo>
                <a:cubicBezTo>
                  <a:pt x="88336" y="4102744"/>
                  <a:pt x="0" y="4014408"/>
                  <a:pt x="0" y="3905440"/>
                </a:cubicBezTo>
                <a:lnTo>
                  <a:pt x="0" y="3116248"/>
                </a:lnTo>
                <a:cubicBezTo>
                  <a:pt x="0" y="3007280"/>
                  <a:pt x="88336" y="2918944"/>
                  <a:pt x="197304" y="2918944"/>
                </a:cubicBezTo>
                <a:lnTo>
                  <a:pt x="1301832" y="2918944"/>
                </a:lnTo>
                <a:lnTo>
                  <a:pt x="1303182" y="2919217"/>
                </a:lnTo>
                <a:lnTo>
                  <a:pt x="1303182" y="128721"/>
                </a:lnTo>
                <a:cubicBezTo>
                  <a:pt x="1303182" y="57630"/>
                  <a:pt x="1360812" y="0"/>
                  <a:pt x="1431903" y="0"/>
                </a:cubicBezTo>
                <a:close/>
              </a:path>
            </a:pathLst>
          </a:custGeom>
          <a:solidFill>
            <a:schemeClr val="tx1">
              <a:alpha val="51373"/>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ビジネスバリュー②</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（定着化）</a:t>
            </a:r>
            <a:endParaRPr lang="en-US" altLang="ja-JP" sz="975" dirty="0">
              <a:solidFill>
                <a:schemeClr val="bg1"/>
              </a:solidFill>
              <a:latin typeface="Meiryo UI" panose="020B0604030504040204" pitchFamily="34" charset="-128"/>
              <a:ea typeface="Meiryo UI" panose="020B0604030504040204" pitchFamily="34" charset="-128"/>
            </a:endParaRPr>
          </a:p>
        </p:txBody>
      </p:sp>
      <p:sp>
        <p:nvSpPr>
          <p:cNvPr id="93" name="フリーフォーム 108">
            <a:extLst>
              <a:ext uri="{FF2B5EF4-FFF2-40B4-BE49-F238E27FC236}">
                <a16:creationId xmlns:a16="http://schemas.microsoft.com/office/drawing/2014/main" id="{9E59EDE1-9C65-0A4E-A085-094B7D06DC2A}"/>
              </a:ext>
            </a:extLst>
          </p:cNvPr>
          <p:cNvSpPr/>
          <p:nvPr/>
        </p:nvSpPr>
        <p:spPr bwMode="gray">
          <a:xfrm>
            <a:off x="6274146" y="3053769"/>
            <a:ext cx="1626489" cy="2812672"/>
          </a:xfrm>
          <a:custGeom>
            <a:avLst/>
            <a:gdLst>
              <a:gd name="connsiteX0" fmla="*/ 1377109 w 2020696"/>
              <a:gd name="connsiteY0" fmla="*/ 0 h 4102744"/>
              <a:gd name="connsiteX1" fmla="*/ 1891975 w 2020696"/>
              <a:gd name="connsiteY1" fmla="*/ 0 h 4102744"/>
              <a:gd name="connsiteX2" fmla="*/ 2020696 w 2020696"/>
              <a:gd name="connsiteY2" fmla="*/ 128721 h 4102744"/>
              <a:gd name="connsiteX3" fmla="*/ 2020696 w 2020696"/>
              <a:gd name="connsiteY3" fmla="*/ 3974023 h 4102744"/>
              <a:gd name="connsiteX4" fmla="*/ 1891975 w 2020696"/>
              <a:gd name="connsiteY4" fmla="*/ 4102744 h 4102744"/>
              <a:gd name="connsiteX5" fmla="*/ 1377109 w 2020696"/>
              <a:gd name="connsiteY5" fmla="*/ 4102744 h 4102744"/>
              <a:gd name="connsiteX6" fmla="*/ 1248388 w 2020696"/>
              <a:gd name="connsiteY6" fmla="*/ 3974023 h 4102744"/>
              <a:gd name="connsiteX7" fmla="*/ 1248388 w 2020696"/>
              <a:gd name="connsiteY7" fmla="*/ 1343156 h 4102744"/>
              <a:gd name="connsiteX8" fmla="*/ 223689 w 2020696"/>
              <a:gd name="connsiteY8" fmla="*/ 1343156 h 4102744"/>
              <a:gd name="connsiteX9" fmla="*/ 0 w 2020696"/>
              <a:gd name="connsiteY9" fmla="*/ 1119467 h 4102744"/>
              <a:gd name="connsiteX10" fmla="*/ 0 w 2020696"/>
              <a:gd name="connsiteY10" fmla="*/ 224736 h 4102744"/>
              <a:gd name="connsiteX11" fmla="*/ 223689 w 2020696"/>
              <a:gd name="connsiteY11" fmla="*/ 1047 h 4102744"/>
              <a:gd name="connsiteX12" fmla="*/ 1371923 w 2020696"/>
              <a:gd name="connsiteY12" fmla="*/ 1047 h 410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0696" h="4102744">
                <a:moveTo>
                  <a:pt x="1377109" y="0"/>
                </a:moveTo>
                <a:lnTo>
                  <a:pt x="1891975" y="0"/>
                </a:lnTo>
                <a:cubicBezTo>
                  <a:pt x="1963066" y="0"/>
                  <a:pt x="2020696" y="57630"/>
                  <a:pt x="2020696" y="128721"/>
                </a:cubicBezTo>
                <a:lnTo>
                  <a:pt x="2020696" y="3974023"/>
                </a:lnTo>
                <a:cubicBezTo>
                  <a:pt x="2020696" y="4045114"/>
                  <a:pt x="1963066" y="4102744"/>
                  <a:pt x="1891975" y="4102744"/>
                </a:cubicBezTo>
                <a:lnTo>
                  <a:pt x="1377109" y="4102744"/>
                </a:lnTo>
                <a:cubicBezTo>
                  <a:pt x="1306018" y="4102744"/>
                  <a:pt x="1248388" y="4045114"/>
                  <a:pt x="1248388" y="3974023"/>
                </a:cubicBezTo>
                <a:lnTo>
                  <a:pt x="1248388" y="1343156"/>
                </a:lnTo>
                <a:lnTo>
                  <a:pt x="223689" y="1343156"/>
                </a:lnTo>
                <a:cubicBezTo>
                  <a:pt x="100149" y="1343156"/>
                  <a:pt x="0" y="1243007"/>
                  <a:pt x="0" y="1119467"/>
                </a:cubicBezTo>
                <a:lnTo>
                  <a:pt x="0" y="224736"/>
                </a:lnTo>
                <a:cubicBezTo>
                  <a:pt x="0" y="101196"/>
                  <a:pt x="100149" y="1047"/>
                  <a:pt x="223689" y="1047"/>
                </a:cubicBezTo>
                <a:lnTo>
                  <a:pt x="1371923" y="1047"/>
                </a:lnTo>
                <a:close/>
              </a:path>
            </a:pathLst>
          </a:custGeom>
          <a:solidFill>
            <a:schemeClr val="tx1">
              <a:alpha val="51373"/>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dirty="0">
                <a:solidFill>
                  <a:schemeClr val="bg1"/>
                </a:solidFill>
                <a:latin typeface="Meiryo UI" panose="020B0604030504040204" pitchFamily="34" charset="-128"/>
                <a:ea typeface="Meiryo UI" panose="020B0604030504040204" pitchFamily="34" charset="-128"/>
              </a:rPr>
              <a:t>ビジネスバリュー④</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dirty="0">
                <a:solidFill>
                  <a:schemeClr val="bg1"/>
                </a:solidFill>
                <a:latin typeface="Meiryo UI" panose="020B0604030504040204" pitchFamily="34" charset="-128"/>
                <a:ea typeface="Meiryo UI" panose="020B0604030504040204" pitchFamily="34" charset="-128"/>
              </a:rPr>
              <a:t>（</a:t>
            </a:r>
            <a:r>
              <a:rPr lang="en-US" altLang="ja-JP" sz="975" dirty="0" err="1">
                <a:solidFill>
                  <a:schemeClr val="bg1"/>
                </a:solidFill>
                <a:latin typeface="Meiryo UI" panose="020B0604030504040204" pitchFamily="34" charset="-128"/>
                <a:ea typeface="Meiryo UI" panose="020B0604030504040204" pitchFamily="34" charset="-128"/>
              </a:rPr>
              <a:t>ToBe</a:t>
            </a:r>
            <a:r>
              <a:rPr lang="ja-JP" altLang="en-US" sz="975" dirty="0">
                <a:solidFill>
                  <a:schemeClr val="bg1"/>
                </a:solidFill>
                <a:latin typeface="Meiryo UI" panose="020B0604030504040204" pitchFamily="34" charset="-128"/>
                <a:ea typeface="Meiryo UI" panose="020B0604030504040204" pitchFamily="34" charset="-128"/>
              </a:rPr>
              <a:t>：データドリブン文化）</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dirty="0">
                <a:solidFill>
                  <a:schemeClr val="bg1"/>
                </a:solidFill>
                <a:latin typeface="Meiryo UI" panose="020B0604030504040204" pitchFamily="34" charset="-128"/>
                <a:ea typeface="Meiryo UI" panose="020B0604030504040204" pitchFamily="34" charset="-128"/>
              </a:rPr>
              <a:t>　　</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endParaRPr lang="en-US" altLang="ja-JP" sz="975" dirty="0">
              <a:solidFill>
                <a:schemeClr val="bg1"/>
              </a:solidFill>
              <a:latin typeface="Meiryo UI" panose="020B0604030504040204" pitchFamily="34" charset="-128"/>
              <a:ea typeface="Meiryo UI" panose="020B0604030504040204" pitchFamily="34" charset="-128"/>
            </a:endParaRPr>
          </a:p>
        </p:txBody>
      </p:sp>
      <p:sp>
        <p:nvSpPr>
          <p:cNvPr id="94" name="角丸四角形 100">
            <a:extLst>
              <a:ext uri="{FF2B5EF4-FFF2-40B4-BE49-F238E27FC236}">
                <a16:creationId xmlns:a16="http://schemas.microsoft.com/office/drawing/2014/main" id="{85C8101C-AD91-B44D-ACA9-FDDF17A7C982}"/>
              </a:ext>
            </a:extLst>
          </p:cNvPr>
          <p:cNvSpPr/>
          <p:nvPr/>
        </p:nvSpPr>
        <p:spPr bwMode="gray">
          <a:xfrm>
            <a:off x="6353786" y="4158237"/>
            <a:ext cx="570516" cy="1708206"/>
          </a:xfrm>
          <a:prstGeom prst="roundRect">
            <a:avLst>
              <a:gd name="adj" fmla="val 26121"/>
            </a:avLst>
          </a:prstGeom>
          <a:solidFill>
            <a:schemeClr val="tx1">
              <a:alpha val="51373"/>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ビジネス</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バリュー③</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（高度化）</a:t>
            </a:r>
            <a:endParaRPr lang="en-US" altLang="ja-JP" sz="975" dirty="0">
              <a:solidFill>
                <a:schemeClr val="bg1"/>
              </a:solidFill>
              <a:latin typeface="Meiryo UI" panose="020B0604030504040204" pitchFamily="34" charset="-128"/>
              <a:ea typeface="Meiryo UI" panose="020B0604030504040204" pitchFamily="34" charset="-128"/>
            </a:endParaRPr>
          </a:p>
        </p:txBody>
      </p:sp>
      <p:sp>
        <p:nvSpPr>
          <p:cNvPr id="95" name="角丸四角形 98">
            <a:extLst>
              <a:ext uri="{FF2B5EF4-FFF2-40B4-BE49-F238E27FC236}">
                <a16:creationId xmlns:a16="http://schemas.microsoft.com/office/drawing/2014/main" id="{3A92EC39-6DBA-F54A-B902-267A9F01CB91}"/>
              </a:ext>
            </a:extLst>
          </p:cNvPr>
          <p:cNvSpPr/>
          <p:nvPr/>
        </p:nvSpPr>
        <p:spPr bwMode="gray">
          <a:xfrm>
            <a:off x="4471126" y="3030650"/>
            <a:ext cx="570516" cy="1768488"/>
          </a:xfrm>
          <a:prstGeom prst="roundRect">
            <a:avLst>
              <a:gd name="adj" fmla="val 32424"/>
            </a:avLst>
          </a:prstGeom>
          <a:solidFill>
            <a:schemeClr val="tx1">
              <a:alpha val="51373"/>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ビジネス</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バリュー①</a:t>
            </a:r>
            <a:endParaRPr lang="en-US" altLang="ja-JP" sz="975"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75">
                <a:solidFill>
                  <a:schemeClr val="bg1"/>
                </a:solidFill>
                <a:latin typeface="Meiryo UI" panose="020B0604030504040204" pitchFamily="34" charset="-128"/>
                <a:ea typeface="Meiryo UI" panose="020B0604030504040204" pitchFamily="34" charset="-128"/>
              </a:rPr>
              <a:t>（効率化）</a:t>
            </a:r>
            <a:endParaRPr lang="en-US" altLang="ja-JP" sz="975" dirty="0">
              <a:solidFill>
                <a:schemeClr val="bg1"/>
              </a:solidFill>
              <a:latin typeface="Meiryo UI" panose="020B0604030504040204" pitchFamily="34" charset="-128"/>
              <a:ea typeface="Meiryo UI" panose="020B0604030504040204" pitchFamily="34" charset="-128"/>
            </a:endParaRPr>
          </a:p>
        </p:txBody>
      </p:sp>
      <p:sp>
        <p:nvSpPr>
          <p:cNvPr id="98" name="正方形/長方形 97">
            <a:extLst>
              <a:ext uri="{FF2B5EF4-FFF2-40B4-BE49-F238E27FC236}">
                <a16:creationId xmlns:a16="http://schemas.microsoft.com/office/drawing/2014/main" id="{60E23EBC-5D29-A049-9541-7AB7556A59BB}"/>
              </a:ext>
            </a:extLst>
          </p:cNvPr>
          <p:cNvSpPr/>
          <p:nvPr/>
        </p:nvSpPr>
        <p:spPr>
          <a:xfrm>
            <a:off x="9680915" y="199747"/>
            <a:ext cx="1330522" cy="576064"/>
          </a:xfrm>
          <a:prstGeom prst="rect">
            <a:avLst/>
          </a:prstGeom>
          <a:solidFill>
            <a:schemeClr val="accent6">
              <a:lumMod val="60000"/>
              <a:lumOff val="4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r>
              <a:rPr lang="ja-JP" altLang="en-US" sz="1000" b="1">
                <a:solidFill>
                  <a:schemeClr val="bg1"/>
                </a:solidFill>
                <a:latin typeface="Meiryo UI" panose="020B0604030504040204" pitchFamily="50" charset="-128"/>
                <a:ea typeface="Meiryo UI" panose="020B0604030504040204" pitchFamily="50" charset="-128"/>
              </a:rPr>
              <a:t>実施粒度→実施レベル</a:t>
            </a:r>
            <a:endParaRPr lang="en-US" altLang="ja-JP" sz="1000" b="1" dirty="0">
              <a:solidFill>
                <a:schemeClr val="bg1"/>
              </a:solidFill>
              <a:latin typeface="Meiryo UI" panose="020B0604030504040204" pitchFamily="50" charset="-128"/>
              <a:ea typeface="Meiryo UI" panose="020B0604030504040204" pitchFamily="50" charset="-128"/>
            </a:endParaRPr>
          </a:p>
          <a:p>
            <a:r>
              <a:rPr kumimoji="1" lang="ja-JP" altLang="en-US" sz="1000" b="1">
                <a:solidFill>
                  <a:schemeClr val="bg1"/>
                </a:solidFill>
                <a:latin typeface="Meiryo UI" panose="020B0604030504040204" pitchFamily="50" charset="-128"/>
                <a:ea typeface="Meiryo UI" panose="020B0604030504040204" pitchFamily="50" charset="-128"/>
              </a:rPr>
              <a:t>に変更</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94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8423985" cy="349961"/>
          </a:xfrm>
        </p:spPr>
        <p:txBody>
          <a:bodyPr anchor="ctr"/>
          <a:lstStyle/>
          <a:p>
            <a:r>
              <a:rPr lang="ja-JP" altLang="en-US" sz="1600"/>
              <a:t>データマネジメント実施スコープ</a:t>
            </a:r>
            <a:br>
              <a:rPr lang="en-US" altLang="ja-JP" sz="1600" b="1" dirty="0"/>
            </a:br>
            <a:r>
              <a:rPr lang="ja-JP" altLang="en-US" b="1"/>
              <a:t>データマネジメント目的</a:t>
            </a:r>
            <a:r>
              <a:rPr lang="ja-JP" altLang="en-US" b="1" dirty="0"/>
              <a:t>仮説とその実現に向けた重点強化領域</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4775"/>
            <a:ext cx="9440862"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現行のビジネスの課題を解決するためにはすでに業務</a:t>
            </a:r>
            <a:r>
              <a:rPr lang="en-US" altLang="ja-JP" b="1" dirty="0">
                <a:latin typeface="Meiryo UI" panose="020B0604030504040204" pitchFamily="34" charset="-128"/>
                <a:ea typeface="Meiryo UI" panose="020B0604030504040204" pitchFamily="34" charset="-128"/>
                <a:cs typeface="+mn-cs"/>
              </a:rPr>
              <a:t>WG</a:t>
            </a:r>
            <a:r>
              <a:rPr lang="ja-JP" altLang="en-US" b="1" dirty="0">
                <a:latin typeface="Meiryo UI" panose="020B0604030504040204" pitchFamily="34" charset="-128"/>
                <a:ea typeface="Meiryo UI" panose="020B0604030504040204" pitchFamily="34" charset="-128"/>
                <a:cs typeface="+mn-cs"/>
              </a:rPr>
              <a:t>と共同で取り組んでいるマスタデータの一元化を含め、以下の</a:t>
            </a:r>
            <a:r>
              <a:rPr lang="en-US" altLang="ja-JP" b="1" dirty="0">
                <a:latin typeface="Meiryo UI" panose="020B0604030504040204" pitchFamily="34" charset="-128"/>
                <a:ea typeface="Meiryo UI" panose="020B0604030504040204" pitchFamily="34" charset="-128"/>
                <a:cs typeface="+mn-cs"/>
              </a:rPr>
              <a:t>5</a:t>
            </a:r>
            <a:r>
              <a:rPr lang="ja-JP" altLang="en-US" b="1" dirty="0">
                <a:latin typeface="Meiryo UI" panose="020B0604030504040204" pitchFamily="34" charset="-128"/>
                <a:ea typeface="Meiryo UI" panose="020B0604030504040204" pitchFamily="34" charset="-128"/>
                <a:cs typeface="+mn-cs"/>
              </a:rPr>
              <a:t>つの重点強化領域に取り組むべきである。</a:t>
            </a:r>
          </a:p>
        </p:txBody>
      </p:sp>
      <p:sp>
        <p:nvSpPr>
          <p:cNvPr id="63" name="正方形/長方形 3">
            <a:extLst>
              <a:ext uri="{FF2B5EF4-FFF2-40B4-BE49-F238E27FC236}">
                <a16:creationId xmlns:a16="http://schemas.microsoft.com/office/drawing/2014/main" id="{EF148CCC-0F64-44E1-8F86-687341583AA5}"/>
              </a:ext>
            </a:extLst>
          </p:cNvPr>
          <p:cNvSpPr/>
          <p:nvPr/>
        </p:nvSpPr>
        <p:spPr bwMode="gray">
          <a:xfrm>
            <a:off x="1636950" y="2570178"/>
            <a:ext cx="3942293" cy="796753"/>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拠点間・プロセス間で図面・仕様書等で用いられる個々の情報の解釈（メタデータ）が統一化されていないため拠点を跨ぐ生産</a:t>
            </a:r>
            <a:br>
              <a:rPr lang="en-US" altLang="ja-JP" sz="1200" dirty="0">
                <a:solidFill>
                  <a:sysClr val="windowText" lastClr="000000"/>
                </a:solidFill>
                <a:latin typeface="Meiryo UI" panose="020B0604030504040204" pitchFamily="34" charset="-128"/>
                <a:ea typeface="Meiryo UI" panose="020B0604030504040204" pitchFamily="34" charset="-128"/>
              </a:rPr>
            </a:br>
            <a:r>
              <a:rPr lang="ja-JP" altLang="en-US" sz="1200" dirty="0">
                <a:solidFill>
                  <a:sysClr val="windowText" lastClr="000000"/>
                </a:solidFill>
                <a:latin typeface="Meiryo UI" panose="020B0604030504040204" pitchFamily="34" charset="-128"/>
                <a:ea typeface="Meiryo UI" panose="020B0604030504040204" pitchFamily="34" charset="-128"/>
              </a:rPr>
              <a:t>融通で多くの課題が発生している。</a:t>
            </a:r>
          </a:p>
        </p:txBody>
      </p:sp>
      <p:sp>
        <p:nvSpPr>
          <p:cNvPr id="64" name="正方形/長方形 4">
            <a:extLst>
              <a:ext uri="{FF2B5EF4-FFF2-40B4-BE49-F238E27FC236}">
                <a16:creationId xmlns:a16="http://schemas.microsoft.com/office/drawing/2014/main" id="{F47AEF35-F98D-47B0-BAE1-2B18204F1B0C}"/>
              </a:ext>
            </a:extLst>
          </p:cNvPr>
          <p:cNvSpPr/>
          <p:nvPr/>
        </p:nvSpPr>
        <p:spPr bwMode="gray">
          <a:xfrm>
            <a:off x="313127" y="2570178"/>
            <a:ext cx="1264837" cy="796753"/>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情報共有を効率化</a:t>
            </a:r>
          </a:p>
        </p:txBody>
      </p:sp>
      <p:sp>
        <p:nvSpPr>
          <p:cNvPr id="65" name="正方形/長方形 6">
            <a:extLst>
              <a:ext uri="{FF2B5EF4-FFF2-40B4-BE49-F238E27FC236}">
                <a16:creationId xmlns:a16="http://schemas.microsoft.com/office/drawing/2014/main" id="{13689759-757D-4CA1-B5F4-73C14FDF8E94}"/>
              </a:ext>
            </a:extLst>
          </p:cNvPr>
          <p:cNvSpPr/>
          <p:nvPr/>
        </p:nvSpPr>
        <p:spPr bwMode="gray">
          <a:xfrm>
            <a:off x="1636950" y="3428523"/>
            <a:ext cx="3942293" cy="800198"/>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引合～出荷までの各工程で生成された情報が、拠点・工程</a:t>
            </a:r>
            <a:br>
              <a:rPr lang="en-US" altLang="ja-JP" sz="1200" dirty="0">
                <a:solidFill>
                  <a:sysClr val="windowText" lastClr="000000"/>
                </a:solidFill>
                <a:latin typeface="Meiryo UI" panose="020B0604030504040204" pitchFamily="34" charset="-128"/>
                <a:ea typeface="Meiryo UI" panose="020B0604030504040204" pitchFamily="34" charset="-128"/>
              </a:rPr>
            </a:br>
            <a:r>
              <a:rPr lang="ja-JP" altLang="en-US" sz="1200" dirty="0">
                <a:solidFill>
                  <a:sysClr val="windowText" lastClr="000000"/>
                </a:solidFill>
                <a:latin typeface="Meiryo UI" panose="020B0604030504040204" pitchFamily="34" charset="-128"/>
                <a:ea typeface="Meiryo UI" panose="020B0604030504040204" pitchFamily="34" charset="-128"/>
              </a:rPr>
              <a:t>単位で個別に管理されており、過去データの活用に際しデータの集約と整合性を確保するまで多くの時間を要する。</a:t>
            </a:r>
          </a:p>
        </p:txBody>
      </p:sp>
      <p:sp>
        <p:nvSpPr>
          <p:cNvPr id="66" name="正方形/長方形 7">
            <a:extLst>
              <a:ext uri="{FF2B5EF4-FFF2-40B4-BE49-F238E27FC236}">
                <a16:creationId xmlns:a16="http://schemas.microsoft.com/office/drawing/2014/main" id="{D3785449-BAA8-40CA-A258-1283BBC2F660}"/>
              </a:ext>
            </a:extLst>
          </p:cNvPr>
          <p:cNvSpPr/>
          <p:nvPr/>
        </p:nvSpPr>
        <p:spPr bwMode="gray">
          <a:xfrm>
            <a:off x="313127" y="3428523"/>
            <a:ext cx="1264837" cy="800198"/>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情報検索と活用の効率化</a:t>
            </a:r>
          </a:p>
        </p:txBody>
      </p:sp>
      <p:sp>
        <p:nvSpPr>
          <p:cNvPr id="67" name="正方形/長方形 9">
            <a:extLst>
              <a:ext uri="{FF2B5EF4-FFF2-40B4-BE49-F238E27FC236}">
                <a16:creationId xmlns:a16="http://schemas.microsoft.com/office/drawing/2014/main" id="{CD75E7BB-C353-41C6-83F0-738B5C24E04D}"/>
              </a:ext>
            </a:extLst>
          </p:cNvPr>
          <p:cNvSpPr/>
          <p:nvPr/>
        </p:nvSpPr>
        <p:spPr bwMode="gray">
          <a:xfrm>
            <a:off x="1636950" y="4290313"/>
            <a:ext cx="3942293" cy="800198"/>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ja-JP" altLang="en-US" sz="1200" dirty="0">
                <a:solidFill>
                  <a:sysClr val="windowText" lastClr="000000"/>
                </a:solidFill>
                <a:latin typeface="Meiryo UI" panose="020B0604030504040204" pitchFamily="34" charset="-128"/>
                <a:ea typeface="Meiryo UI" panose="020B0604030504040204" pitchFamily="34" charset="-128"/>
              </a:rPr>
              <a:t>引合～出荷までの各プロセスで用いられる情報の粒度や頻度等が拠点間で一致していないため、同じ工程を複数システムで管理したり、コード違いによるオーダーの変更等の手戻りが発生する。</a:t>
            </a:r>
          </a:p>
        </p:txBody>
      </p:sp>
      <p:sp>
        <p:nvSpPr>
          <p:cNvPr id="68" name="正方形/長方形 10">
            <a:extLst>
              <a:ext uri="{FF2B5EF4-FFF2-40B4-BE49-F238E27FC236}">
                <a16:creationId xmlns:a16="http://schemas.microsoft.com/office/drawing/2014/main" id="{9D9FF2F5-346F-4290-8FA7-A296F4A8FBD4}"/>
              </a:ext>
            </a:extLst>
          </p:cNvPr>
          <p:cNvSpPr/>
          <p:nvPr/>
        </p:nvSpPr>
        <p:spPr bwMode="gray">
          <a:xfrm>
            <a:off x="320638" y="4290313"/>
            <a:ext cx="1264837" cy="800198"/>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情報管理・活用にかかる</a:t>
            </a:r>
            <a:endParaRPr lang="en-US" altLang="ja-JP" sz="12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費用の効率化</a:t>
            </a:r>
          </a:p>
        </p:txBody>
      </p:sp>
      <p:sp>
        <p:nvSpPr>
          <p:cNvPr id="69" name="正方形/長方形 12">
            <a:extLst>
              <a:ext uri="{FF2B5EF4-FFF2-40B4-BE49-F238E27FC236}">
                <a16:creationId xmlns:a16="http://schemas.microsoft.com/office/drawing/2014/main" id="{B125085A-D019-4CDC-9DEA-B6F7F5D7C2E0}"/>
              </a:ext>
            </a:extLst>
          </p:cNvPr>
          <p:cNvSpPr/>
          <p:nvPr/>
        </p:nvSpPr>
        <p:spPr bwMode="gray">
          <a:xfrm>
            <a:off x="1636950" y="5152102"/>
            <a:ext cx="3942293" cy="800198"/>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今後</a:t>
            </a:r>
            <a:r>
              <a:rPr lang="en-US" altLang="ja-JP" sz="1200" dirty="0">
                <a:solidFill>
                  <a:sysClr val="windowText" lastClr="000000"/>
                </a:solidFill>
                <a:latin typeface="Meiryo UI" panose="020B0604030504040204" pitchFamily="34" charset="-128"/>
                <a:ea typeface="Meiryo UI" panose="020B0604030504040204" pitchFamily="34" charset="-128"/>
              </a:rPr>
              <a:t>BU</a:t>
            </a:r>
            <a:r>
              <a:rPr lang="ja-JP" altLang="en-US" sz="1200" dirty="0">
                <a:solidFill>
                  <a:sysClr val="windowText" lastClr="000000"/>
                </a:solidFill>
                <a:latin typeface="Meiryo UI" panose="020B0604030504040204" pitchFamily="34" charset="-128"/>
                <a:ea typeface="Meiryo UI" panose="020B0604030504040204" pitchFamily="34" charset="-128"/>
              </a:rPr>
              <a:t>別経営への本格移行や</a:t>
            </a:r>
            <a:r>
              <a:rPr lang="en-US" altLang="ja-JP" sz="1200" dirty="0">
                <a:solidFill>
                  <a:sysClr val="windowText" lastClr="000000"/>
                </a:solidFill>
                <a:latin typeface="Meiryo UI" panose="020B0604030504040204" pitchFamily="34" charset="-128"/>
                <a:ea typeface="Meiryo UI" panose="020B0604030504040204" pitchFamily="34" charset="-128"/>
              </a:rPr>
              <a:t>MHI</a:t>
            </a:r>
            <a:r>
              <a:rPr lang="ja-JP" altLang="en-US" sz="1200" dirty="0">
                <a:solidFill>
                  <a:sysClr val="windowText" lastClr="000000"/>
                </a:solidFill>
                <a:latin typeface="Meiryo UI" panose="020B0604030504040204" pitchFamily="34" charset="-128"/>
                <a:ea typeface="Meiryo UI" panose="020B0604030504040204" pitchFamily="34" charset="-128"/>
              </a:rPr>
              <a:t>との統合により現行の業務プロセスの見直しが予想されており、それにより発生するデータへの影響を早期に把握し変更を安定的に定着化する必要がある。</a:t>
            </a:r>
          </a:p>
        </p:txBody>
      </p:sp>
      <p:sp>
        <p:nvSpPr>
          <p:cNvPr id="70" name="正方形/長方形 13">
            <a:extLst>
              <a:ext uri="{FF2B5EF4-FFF2-40B4-BE49-F238E27FC236}">
                <a16:creationId xmlns:a16="http://schemas.microsoft.com/office/drawing/2014/main" id="{E9335AE9-88D5-421E-BEE8-8D51EFFD2632}"/>
              </a:ext>
            </a:extLst>
          </p:cNvPr>
          <p:cNvSpPr/>
          <p:nvPr/>
        </p:nvSpPr>
        <p:spPr bwMode="gray">
          <a:xfrm>
            <a:off x="320638" y="5152102"/>
            <a:ext cx="1264837" cy="800198"/>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業務プロセス移行・定着の促進</a:t>
            </a:r>
          </a:p>
        </p:txBody>
      </p:sp>
      <p:sp>
        <p:nvSpPr>
          <p:cNvPr id="73" name="正方形/長方形 26">
            <a:extLst>
              <a:ext uri="{FF2B5EF4-FFF2-40B4-BE49-F238E27FC236}">
                <a16:creationId xmlns:a16="http://schemas.microsoft.com/office/drawing/2014/main" id="{85E9041D-3F1E-4720-8000-FFA238D5F79F}"/>
              </a:ext>
            </a:extLst>
          </p:cNvPr>
          <p:cNvSpPr/>
          <p:nvPr/>
        </p:nvSpPr>
        <p:spPr bwMode="gray">
          <a:xfrm>
            <a:off x="6538649" y="2570178"/>
            <a:ext cx="3034141" cy="50628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全拠点・全プロセスで用いられる</a:t>
            </a:r>
            <a:endParaRPr lang="en-US" altLang="ja-JP" sz="12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200" b="1" dirty="0">
                <a:solidFill>
                  <a:sysClr val="windowText" lastClr="000000"/>
                </a:solidFill>
                <a:latin typeface="Meiryo UI" panose="020B0604030504040204" pitchFamily="34" charset="-128"/>
                <a:ea typeface="Meiryo UI" panose="020B0604030504040204" pitchFamily="34" charset="-128"/>
              </a:rPr>
              <a:t>メタデータの共通化</a:t>
            </a:r>
            <a:endParaRPr lang="en-US" altLang="ja-JP" sz="1200" b="1" dirty="0">
              <a:solidFill>
                <a:sysClr val="windowText" lastClr="000000"/>
              </a:solidFill>
              <a:latin typeface="Meiryo UI" panose="020B0604030504040204" pitchFamily="34" charset="-128"/>
              <a:ea typeface="Meiryo UI" panose="020B0604030504040204" pitchFamily="34" charset="-128"/>
            </a:endParaRPr>
          </a:p>
        </p:txBody>
      </p:sp>
      <p:sp>
        <p:nvSpPr>
          <p:cNvPr id="74" name="正方形/長方形 27">
            <a:extLst>
              <a:ext uri="{FF2B5EF4-FFF2-40B4-BE49-F238E27FC236}">
                <a16:creationId xmlns:a16="http://schemas.microsoft.com/office/drawing/2014/main" id="{F1FB6154-04BF-4995-8E2F-69A12429C500}"/>
              </a:ext>
            </a:extLst>
          </p:cNvPr>
          <p:cNvSpPr/>
          <p:nvPr/>
        </p:nvSpPr>
        <p:spPr bwMode="gray">
          <a:xfrm>
            <a:off x="6538648" y="3286949"/>
            <a:ext cx="3034141" cy="50847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1200" dirty="0">
                <a:solidFill>
                  <a:sysClr val="windowText" lastClr="000000"/>
                </a:solidFill>
                <a:latin typeface="Meiryo UI" panose="020B0604030504040204" pitchFamily="34" charset="-128"/>
                <a:ea typeface="Meiryo UI" panose="020B0604030504040204" pitchFamily="34" charset="-128"/>
              </a:rPr>
              <a:t>全拠点・全プロセスで用いられる</a:t>
            </a:r>
            <a:endParaRPr lang="en-US" altLang="ja-JP" sz="12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データ項目・コード（</a:t>
            </a:r>
            <a:r>
              <a:rPr lang="ja-JP" altLang="en-US" sz="1200" b="1" dirty="0">
                <a:solidFill>
                  <a:sysClr val="windowText" lastClr="000000"/>
                </a:solidFill>
                <a:latin typeface="Meiryo UI" panose="020B0604030504040204" pitchFamily="34" charset="-128"/>
                <a:ea typeface="Meiryo UI" panose="020B0604030504040204" pitchFamily="34" charset="-128"/>
              </a:rPr>
              <a:t>マスタデータ</a:t>
            </a:r>
            <a:r>
              <a:rPr lang="ja-JP" altLang="en-US" sz="1200" dirty="0">
                <a:solidFill>
                  <a:sysClr val="windowText" lastClr="000000"/>
                </a:solidFill>
                <a:latin typeface="Meiryo UI" panose="020B0604030504040204" pitchFamily="34" charset="-128"/>
                <a:ea typeface="Meiryo UI" panose="020B0604030504040204" pitchFamily="34" charset="-128"/>
              </a:rPr>
              <a:t>）の</a:t>
            </a:r>
            <a:r>
              <a:rPr lang="ja-JP" altLang="en-US" sz="1200" b="1" dirty="0">
                <a:solidFill>
                  <a:sysClr val="windowText" lastClr="000000"/>
                </a:solidFill>
                <a:latin typeface="Meiryo UI" panose="020B0604030504040204" pitchFamily="34" charset="-128"/>
                <a:ea typeface="Meiryo UI" panose="020B0604030504040204" pitchFamily="34" charset="-128"/>
              </a:rPr>
              <a:t>一元化</a:t>
            </a:r>
            <a:endParaRPr lang="en-US" altLang="ja-JP" sz="1200" b="1" dirty="0">
              <a:solidFill>
                <a:sysClr val="windowText" lastClr="000000"/>
              </a:solidFill>
              <a:latin typeface="Meiryo UI" panose="020B0604030504040204" pitchFamily="34" charset="-128"/>
              <a:ea typeface="Meiryo UI" panose="020B0604030504040204" pitchFamily="34" charset="-128"/>
            </a:endParaRPr>
          </a:p>
        </p:txBody>
      </p:sp>
      <p:sp>
        <p:nvSpPr>
          <p:cNvPr id="76" name="正方形/長方形 28">
            <a:extLst>
              <a:ext uri="{FF2B5EF4-FFF2-40B4-BE49-F238E27FC236}">
                <a16:creationId xmlns:a16="http://schemas.microsoft.com/office/drawing/2014/main" id="{32F7897B-BE65-426C-824E-82B7FAB85684}"/>
              </a:ext>
            </a:extLst>
          </p:cNvPr>
          <p:cNvSpPr/>
          <p:nvPr/>
        </p:nvSpPr>
        <p:spPr bwMode="gray">
          <a:xfrm>
            <a:off x="6538381" y="4005909"/>
            <a:ext cx="3046981" cy="50847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1200" dirty="0">
                <a:solidFill>
                  <a:sysClr val="windowText" lastClr="000000"/>
                </a:solidFill>
                <a:latin typeface="Meiryo UI" panose="020B0604030504040204" pitchFamily="34" charset="-128"/>
                <a:ea typeface="Meiryo UI" panose="020B0604030504040204" pitchFamily="34" charset="-128"/>
              </a:rPr>
              <a:t>全拠点・全プロセスで生成された</a:t>
            </a:r>
            <a:endParaRPr lang="en-US" altLang="ja-JP" sz="12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1200" b="1" dirty="0">
                <a:solidFill>
                  <a:sysClr val="windowText" lastClr="000000"/>
                </a:solidFill>
                <a:latin typeface="Meiryo UI" panose="020B0604030504040204" pitchFamily="34" charset="-128"/>
                <a:ea typeface="Meiryo UI" panose="020B0604030504040204" pitchFamily="34" charset="-128"/>
              </a:rPr>
              <a:t>データの集約と統合</a:t>
            </a:r>
            <a:endParaRPr lang="en-US" altLang="ja-JP" sz="1200" b="1" dirty="0">
              <a:solidFill>
                <a:sysClr val="windowText" lastClr="000000"/>
              </a:solidFill>
              <a:latin typeface="Meiryo UI" panose="020B0604030504040204" pitchFamily="34" charset="-128"/>
              <a:ea typeface="Meiryo UI" panose="020B0604030504040204" pitchFamily="34" charset="-128"/>
            </a:endParaRPr>
          </a:p>
        </p:txBody>
      </p:sp>
      <p:sp>
        <p:nvSpPr>
          <p:cNvPr id="77" name="正方形/長方形 29">
            <a:extLst>
              <a:ext uri="{FF2B5EF4-FFF2-40B4-BE49-F238E27FC236}">
                <a16:creationId xmlns:a16="http://schemas.microsoft.com/office/drawing/2014/main" id="{D51E3DD6-AD32-41E2-8C93-53F040A54CB5}"/>
              </a:ext>
            </a:extLst>
          </p:cNvPr>
          <p:cNvSpPr/>
          <p:nvPr/>
        </p:nvSpPr>
        <p:spPr bwMode="gray">
          <a:xfrm>
            <a:off x="6538381" y="4724869"/>
            <a:ext cx="3046981" cy="50847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全拠点で一元化された</a:t>
            </a:r>
            <a:endParaRPr lang="en-US" altLang="ja-JP" sz="12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200" b="1" dirty="0">
                <a:solidFill>
                  <a:sysClr val="windowText" lastClr="000000"/>
                </a:solidFill>
                <a:latin typeface="Meiryo UI" panose="020B0604030504040204" pitchFamily="34" charset="-128"/>
                <a:ea typeface="Meiryo UI" panose="020B0604030504040204" pitchFamily="34" charset="-128"/>
              </a:rPr>
              <a:t>データ品質指標の確立と定着化</a:t>
            </a:r>
            <a:endParaRPr lang="en-US" altLang="ja-JP" sz="1200" b="1" dirty="0">
              <a:solidFill>
                <a:sysClr val="windowText" lastClr="000000"/>
              </a:solidFill>
              <a:latin typeface="Meiryo UI" panose="020B0604030504040204" pitchFamily="34" charset="-128"/>
              <a:ea typeface="Meiryo UI" panose="020B0604030504040204" pitchFamily="34" charset="-128"/>
            </a:endParaRPr>
          </a:p>
        </p:txBody>
      </p:sp>
      <p:sp>
        <p:nvSpPr>
          <p:cNvPr id="87" name="正方形/長方形 30">
            <a:extLst>
              <a:ext uri="{FF2B5EF4-FFF2-40B4-BE49-F238E27FC236}">
                <a16:creationId xmlns:a16="http://schemas.microsoft.com/office/drawing/2014/main" id="{9999CC39-06FF-431D-9898-6D7B5C827FA4}"/>
              </a:ext>
            </a:extLst>
          </p:cNvPr>
          <p:cNvSpPr/>
          <p:nvPr/>
        </p:nvSpPr>
        <p:spPr bwMode="gray">
          <a:xfrm>
            <a:off x="6529885" y="1875926"/>
            <a:ext cx="3044277" cy="632660"/>
          </a:xfrm>
          <a:prstGeom prst="rect">
            <a:avLst/>
          </a:prstGeom>
          <a:solidFill>
            <a:schemeClr val="tx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100" dirty="0">
                <a:solidFill>
                  <a:sysClr val="windowText" lastClr="000000"/>
                </a:solidFill>
                <a:latin typeface="Meiryo UI" panose="020B0604030504040204" pitchFamily="34" charset="-128"/>
                <a:ea typeface="Meiryo UI" panose="020B0604030504040204" pitchFamily="34" charset="-128"/>
              </a:rPr>
              <a:t>課題の解決に向</a:t>
            </a:r>
            <a:r>
              <a:rPr lang="ja-JP" altLang="en-US" sz="1100">
                <a:solidFill>
                  <a:sysClr val="windowText" lastClr="000000"/>
                </a:solidFill>
                <a:latin typeface="Meiryo UI" panose="020B0604030504040204" pitchFamily="34" charset="-128"/>
                <a:ea typeface="Meiryo UI" panose="020B0604030504040204" pitchFamily="34" charset="-128"/>
              </a:rPr>
              <a:t>けた重点強化領域</a:t>
            </a:r>
            <a:endParaRPr lang="en-US" altLang="ja-JP" sz="1100" dirty="0">
              <a:solidFill>
                <a:sysClr val="windowText" lastClr="000000"/>
              </a:solidFill>
              <a:latin typeface="Meiryo UI" panose="020B0604030504040204" pitchFamily="34" charset="-128"/>
              <a:ea typeface="Meiryo UI" panose="020B0604030504040204" pitchFamily="34" charset="-128"/>
            </a:endParaRPr>
          </a:p>
        </p:txBody>
      </p:sp>
      <p:sp>
        <p:nvSpPr>
          <p:cNvPr id="91" name="円/楕円 37">
            <a:extLst>
              <a:ext uri="{FF2B5EF4-FFF2-40B4-BE49-F238E27FC236}">
                <a16:creationId xmlns:a16="http://schemas.microsoft.com/office/drawing/2014/main" id="{ECBC68CD-C22B-4608-AA8B-18FF77DEC55F}"/>
              </a:ext>
            </a:extLst>
          </p:cNvPr>
          <p:cNvSpPr/>
          <p:nvPr/>
        </p:nvSpPr>
        <p:spPr bwMode="gray">
          <a:xfrm>
            <a:off x="6538649" y="2570178"/>
            <a:ext cx="216000" cy="216000"/>
          </a:xfrm>
          <a:prstGeom prst="rect">
            <a:avLst/>
          </a:prstGeom>
          <a:solidFill>
            <a:schemeClr val="tx1">
              <a:lumMod val="85000"/>
              <a:lumOff val="15000"/>
            </a:schemeClr>
          </a:solidFill>
          <a:ln w="12700"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a</a:t>
            </a:r>
          </a:p>
        </p:txBody>
      </p:sp>
      <p:sp>
        <p:nvSpPr>
          <p:cNvPr id="93" name="円/楕円 38">
            <a:extLst>
              <a:ext uri="{FF2B5EF4-FFF2-40B4-BE49-F238E27FC236}">
                <a16:creationId xmlns:a16="http://schemas.microsoft.com/office/drawing/2014/main" id="{A002FFC3-67B1-4279-A5FC-5B1D62E95CCA}"/>
              </a:ext>
            </a:extLst>
          </p:cNvPr>
          <p:cNvSpPr/>
          <p:nvPr/>
        </p:nvSpPr>
        <p:spPr bwMode="gray">
          <a:xfrm>
            <a:off x="6538649" y="3286949"/>
            <a:ext cx="216000" cy="216000"/>
          </a:xfrm>
          <a:prstGeom prst="rect">
            <a:avLst/>
          </a:prstGeom>
          <a:solidFill>
            <a:schemeClr val="tx1">
              <a:lumMod val="85000"/>
              <a:lumOff val="15000"/>
            </a:schemeClr>
          </a:solidFill>
          <a:ln w="12700"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b</a:t>
            </a:r>
            <a:endParaRPr lang="ja-JP" altLang="en-US" sz="1200" dirty="0">
              <a:solidFill>
                <a:schemeClr val="bg1"/>
              </a:solidFill>
              <a:latin typeface="Meiryo UI" panose="020B0604030504040204" pitchFamily="34" charset="-128"/>
              <a:ea typeface="Meiryo UI" panose="020B0604030504040204" pitchFamily="34" charset="-128"/>
            </a:endParaRPr>
          </a:p>
        </p:txBody>
      </p:sp>
      <p:sp>
        <p:nvSpPr>
          <p:cNvPr id="94" name="円/楕円 39">
            <a:extLst>
              <a:ext uri="{FF2B5EF4-FFF2-40B4-BE49-F238E27FC236}">
                <a16:creationId xmlns:a16="http://schemas.microsoft.com/office/drawing/2014/main" id="{89EE7073-EC71-40E5-A150-222D53EDED26}"/>
              </a:ext>
            </a:extLst>
          </p:cNvPr>
          <p:cNvSpPr/>
          <p:nvPr/>
        </p:nvSpPr>
        <p:spPr bwMode="gray">
          <a:xfrm>
            <a:off x="6538649" y="4007004"/>
            <a:ext cx="216000" cy="216000"/>
          </a:xfrm>
          <a:prstGeom prst="rect">
            <a:avLst/>
          </a:prstGeom>
          <a:solidFill>
            <a:schemeClr val="tx1">
              <a:lumMod val="85000"/>
              <a:lumOff val="15000"/>
            </a:schemeClr>
          </a:solidFill>
          <a:ln w="12700"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c</a:t>
            </a:r>
            <a:endParaRPr lang="ja-JP" altLang="en-US" sz="1200">
              <a:solidFill>
                <a:schemeClr val="bg1"/>
              </a:solidFill>
              <a:latin typeface="Meiryo UI" panose="020B0604030504040204" pitchFamily="34" charset="-128"/>
              <a:ea typeface="Meiryo UI" panose="020B0604030504040204" pitchFamily="34" charset="-128"/>
            </a:endParaRPr>
          </a:p>
        </p:txBody>
      </p:sp>
      <p:sp>
        <p:nvSpPr>
          <p:cNvPr id="96" name="円/楕円 40">
            <a:extLst>
              <a:ext uri="{FF2B5EF4-FFF2-40B4-BE49-F238E27FC236}">
                <a16:creationId xmlns:a16="http://schemas.microsoft.com/office/drawing/2014/main" id="{FEEA157C-D3AA-4271-BB66-EA29F157D12A}"/>
              </a:ext>
            </a:extLst>
          </p:cNvPr>
          <p:cNvSpPr/>
          <p:nvPr/>
        </p:nvSpPr>
        <p:spPr bwMode="gray">
          <a:xfrm>
            <a:off x="6538649" y="4725417"/>
            <a:ext cx="216000" cy="216000"/>
          </a:xfrm>
          <a:prstGeom prst="rect">
            <a:avLst/>
          </a:prstGeom>
          <a:solidFill>
            <a:schemeClr val="tx1">
              <a:lumMod val="85000"/>
              <a:lumOff val="15000"/>
            </a:schemeClr>
          </a:solidFill>
          <a:ln w="12700"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d</a:t>
            </a:r>
          </a:p>
        </p:txBody>
      </p:sp>
      <p:sp>
        <p:nvSpPr>
          <p:cNvPr id="97" name="正方形/長方形 16">
            <a:extLst>
              <a:ext uri="{FF2B5EF4-FFF2-40B4-BE49-F238E27FC236}">
                <a16:creationId xmlns:a16="http://schemas.microsoft.com/office/drawing/2014/main" id="{E531E51E-F6FC-4389-ADC2-0B060411250A}"/>
              </a:ext>
            </a:extLst>
          </p:cNvPr>
          <p:cNvSpPr/>
          <p:nvPr/>
        </p:nvSpPr>
        <p:spPr bwMode="gray">
          <a:xfrm>
            <a:off x="313127" y="2212259"/>
            <a:ext cx="1269062" cy="296327"/>
          </a:xfrm>
          <a:prstGeom prst="rect">
            <a:avLst/>
          </a:prstGeom>
          <a:solidFill>
            <a:schemeClr val="tx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100">
                <a:solidFill>
                  <a:sysClr val="windowText" lastClr="000000"/>
                </a:solidFill>
                <a:latin typeface="Meiryo UI" panose="020B0604030504040204" pitchFamily="34" charset="-128"/>
                <a:ea typeface="Meiryo UI" panose="020B0604030504040204" pitchFamily="34" charset="-128"/>
              </a:rPr>
              <a:t>目的仮説一覧</a:t>
            </a:r>
            <a:endParaRPr lang="en-US" altLang="ja-JP" sz="1100" dirty="0">
              <a:solidFill>
                <a:sysClr val="windowText" lastClr="000000"/>
              </a:solidFill>
              <a:latin typeface="Meiryo UI" panose="020B0604030504040204" pitchFamily="34" charset="-128"/>
              <a:ea typeface="Meiryo UI" panose="020B0604030504040204" pitchFamily="34" charset="-128"/>
            </a:endParaRPr>
          </a:p>
        </p:txBody>
      </p:sp>
      <p:sp>
        <p:nvSpPr>
          <p:cNvPr id="99" name="正方形/長方形 78">
            <a:extLst>
              <a:ext uri="{FF2B5EF4-FFF2-40B4-BE49-F238E27FC236}">
                <a16:creationId xmlns:a16="http://schemas.microsoft.com/office/drawing/2014/main" id="{DE8F4B33-59C0-4AAE-B17D-6E5F2BE3EF7F}"/>
              </a:ext>
            </a:extLst>
          </p:cNvPr>
          <p:cNvSpPr/>
          <p:nvPr/>
        </p:nvSpPr>
        <p:spPr bwMode="gray">
          <a:xfrm>
            <a:off x="1636950" y="2212259"/>
            <a:ext cx="3942293" cy="296327"/>
          </a:xfrm>
          <a:prstGeom prst="rect">
            <a:avLst/>
          </a:prstGeom>
          <a:solidFill>
            <a:schemeClr val="tx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100" dirty="0">
                <a:solidFill>
                  <a:sysClr val="windowText" lastClr="000000"/>
                </a:solidFill>
                <a:latin typeface="Meiryo UI" panose="020B0604030504040204" pitchFamily="34" charset="-128"/>
                <a:ea typeface="Meiryo UI" panose="020B0604030504040204" pitchFamily="34" charset="-128"/>
              </a:rPr>
              <a:t>背景となる課題</a:t>
            </a:r>
            <a:endParaRPr lang="en-US" altLang="ja-JP" sz="1100" dirty="0">
              <a:solidFill>
                <a:sysClr val="windowText" lastClr="000000"/>
              </a:solidFill>
              <a:latin typeface="Meiryo UI" panose="020B0604030504040204" pitchFamily="34" charset="-128"/>
              <a:ea typeface="Meiryo UI" panose="020B0604030504040204" pitchFamily="34" charset="-128"/>
            </a:endParaRPr>
          </a:p>
        </p:txBody>
      </p:sp>
      <p:sp>
        <p:nvSpPr>
          <p:cNvPr id="100" name="正方形/長方形 25">
            <a:extLst>
              <a:ext uri="{FF2B5EF4-FFF2-40B4-BE49-F238E27FC236}">
                <a16:creationId xmlns:a16="http://schemas.microsoft.com/office/drawing/2014/main" id="{0950EE1C-B666-4BE1-9D45-5A14F63F0B6B}"/>
              </a:ext>
            </a:extLst>
          </p:cNvPr>
          <p:cNvSpPr/>
          <p:nvPr/>
        </p:nvSpPr>
        <p:spPr bwMode="gray">
          <a:xfrm>
            <a:off x="313127" y="1875926"/>
            <a:ext cx="5266116" cy="296327"/>
          </a:xfrm>
          <a:prstGeom prst="rect">
            <a:avLst/>
          </a:prstGeom>
          <a:solidFill>
            <a:schemeClr val="tx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100">
                <a:solidFill>
                  <a:sysClr val="windowText" lastClr="000000"/>
                </a:solidFill>
                <a:latin typeface="Meiryo UI" panose="020B0604030504040204" pitchFamily="34" charset="-128"/>
                <a:ea typeface="Meiryo UI" panose="020B0604030504040204" pitchFamily="34" charset="-128"/>
              </a:rPr>
              <a:t>データマネジメントの目的仮説</a:t>
            </a:r>
            <a:endParaRPr lang="en-US" altLang="ja-JP" sz="1100" dirty="0">
              <a:solidFill>
                <a:sysClr val="windowText" lastClr="000000"/>
              </a:solidFill>
              <a:latin typeface="Meiryo UI" panose="020B0604030504040204" pitchFamily="34" charset="-128"/>
              <a:ea typeface="Meiryo UI" panose="020B0604030504040204" pitchFamily="34" charset="-128"/>
            </a:endParaRPr>
          </a:p>
        </p:txBody>
      </p:sp>
      <p:sp>
        <p:nvSpPr>
          <p:cNvPr id="72" name="正方形/長方形 29">
            <a:extLst>
              <a:ext uri="{FF2B5EF4-FFF2-40B4-BE49-F238E27FC236}">
                <a16:creationId xmlns:a16="http://schemas.microsoft.com/office/drawing/2014/main" id="{F95F018C-95DE-48AB-9D78-50F675ADB839}"/>
              </a:ext>
            </a:extLst>
          </p:cNvPr>
          <p:cNvSpPr/>
          <p:nvPr/>
        </p:nvSpPr>
        <p:spPr bwMode="gray">
          <a:xfrm>
            <a:off x="6538381" y="5443830"/>
            <a:ext cx="3046981" cy="50847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全社的なデータ変更の追跡や透過性</a:t>
            </a:r>
            <a:endParaRPr lang="en-US" altLang="ja-JP" sz="12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200" dirty="0">
                <a:solidFill>
                  <a:sysClr val="windowText" lastClr="000000"/>
                </a:solidFill>
                <a:latin typeface="Meiryo UI" panose="020B0604030504040204" pitchFamily="34" charset="-128"/>
                <a:ea typeface="Meiryo UI" panose="020B0604030504040204" pitchFamily="34" charset="-128"/>
              </a:rPr>
              <a:t>担保のための</a:t>
            </a:r>
            <a:r>
              <a:rPr lang="ja-JP" altLang="en-US" sz="1200" b="1" dirty="0">
                <a:solidFill>
                  <a:sysClr val="windowText" lastClr="000000"/>
                </a:solidFill>
                <a:latin typeface="Meiryo UI" panose="020B0604030504040204" pitchFamily="34" charset="-128"/>
                <a:ea typeface="Meiryo UI" panose="020B0604030504040204" pitchFamily="34" charset="-128"/>
              </a:rPr>
              <a:t>データガバナンス体制の確立</a:t>
            </a:r>
            <a:endParaRPr lang="en-US" altLang="ja-JP" sz="1200" b="1" dirty="0">
              <a:solidFill>
                <a:sysClr val="windowText" lastClr="000000"/>
              </a:solidFill>
              <a:latin typeface="Meiryo UI" panose="020B0604030504040204" pitchFamily="34" charset="-128"/>
              <a:ea typeface="Meiryo UI" panose="020B0604030504040204" pitchFamily="34" charset="-128"/>
            </a:endParaRPr>
          </a:p>
        </p:txBody>
      </p:sp>
      <p:sp>
        <p:nvSpPr>
          <p:cNvPr id="75" name="円/楕円 40">
            <a:extLst>
              <a:ext uri="{FF2B5EF4-FFF2-40B4-BE49-F238E27FC236}">
                <a16:creationId xmlns:a16="http://schemas.microsoft.com/office/drawing/2014/main" id="{A42AFAC0-C98B-4CB4-8999-D98C82FFEF64}"/>
              </a:ext>
            </a:extLst>
          </p:cNvPr>
          <p:cNvSpPr/>
          <p:nvPr/>
        </p:nvSpPr>
        <p:spPr bwMode="gray">
          <a:xfrm>
            <a:off x="6538649" y="5443830"/>
            <a:ext cx="216000" cy="216000"/>
          </a:xfrm>
          <a:prstGeom prst="rect">
            <a:avLst/>
          </a:prstGeom>
          <a:solidFill>
            <a:schemeClr val="tx1">
              <a:lumMod val="85000"/>
              <a:lumOff val="15000"/>
            </a:schemeClr>
          </a:solidFill>
          <a:ln w="12700"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e</a:t>
            </a:r>
          </a:p>
        </p:txBody>
      </p:sp>
      <p:sp>
        <p:nvSpPr>
          <p:cNvPr id="98" name="三角形 31">
            <a:extLst>
              <a:ext uri="{FF2B5EF4-FFF2-40B4-BE49-F238E27FC236}">
                <a16:creationId xmlns:a16="http://schemas.microsoft.com/office/drawing/2014/main" id="{AB45D71E-5376-46E1-BFB6-850B87FF614D}"/>
              </a:ext>
            </a:extLst>
          </p:cNvPr>
          <p:cNvSpPr/>
          <p:nvPr/>
        </p:nvSpPr>
        <p:spPr bwMode="gray">
          <a:xfrm rot="5400000">
            <a:off x="5236310" y="4169517"/>
            <a:ext cx="1645004" cy="179997"/>
          </a:xfrm>
          <a:prstGeom prst="triangle">
            <a:avLst/>
          </a:prstGeom>
          <a:solidFill>
            <a:schemeClr val="bg1">
              <a:lumMod val="85000"/>
            </a:schemeClr>
          </a:solidFill>
          <a:ln w="9525" algn="ctr">
            <a:no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endParaRPr lang="ja-JP" altLang="en-US" sz="1000">
              <a:solidFill>
                <a:sysClr val="windowText" lastClr="00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40926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7287807" cy="349961"/>
          </a:xfrm>
        </p:spPr>
        <p:txBody>
          <a:bodyPr anchor="ctr"/>
          <a:lstStyle/>
          <a:p>
            <a:r>
              <a:rPr lang="ja-JP" altLang="en-US" sz="1600"/>
              <a:t>データマネジメント実施スコープ</a:t>
            </a:r>
            <a:br>
              <a:rPr lang="en-US" altLang="ja-JP" sz="2400" b="1" dirty="0"/>
            </a:br>
            <a:r>
              <a:rPr kumimoji="1" lang="ja-JP" altLang="en-US" b="1"/>
              <a:t>重点</a:t>
            </a:r>
            <a:r>
              <a:rPr kumimoji="1" lang="ja-JP" altLang="en-US" b="1" dirty="0"/>
              <a:t>強化領域</a:t>
            </a:r>
            <a:r>
              <a:rPr kumimoji="1" lang="ja-JP" altLang="en-US" b="1"/>
              <a:t>に対する</a:t>
            </a:r>
            <a:r>
              <a:rPr lang="ja-JP" altLang="en-US" b="1"/>
              <a:t>データマネジメント</a:t>
            </a:r>
            <a:r>
              <a:rPr kumimoji="1" lang="ja-JP" altLang="en-US" b="1"/>
              <a:t>実施</a:t>
            </a:r>
            <a:r>
              <a:rPr kumimoji="1" lang="ja-JP" altLang="en-US" b="1" dirty="0"/>
              <a:t>項目</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4775"/>
            <a:ext cx="9440862"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altLang="ja-JP" b="1" dirty="0">
                <a:latin typeface="Meiryo UI" panose="020B0604030504040204" pitchFamily="34" charset="-128"/>
                <a:ea typeface="Meiryo UI" panose="020B0604030504040204" pitchFamily="34" charset="-128"/>
                <a:cs typeface="+mn-cs"/>
              </a:rPr>
              <a:t>BU</a:t>
            </a:r>
            <a:r>
              <a:rPr lang="ja-JP" altLang="en-US" b="1" dirty="0">
                <a:latin typeface="Meiryo UI" panose="020B0604030504040204" pitchFamily="34" charset="-128"/>
                <a:ea typeface="Meiryo UI" panose="020B0604030504040204" pitchFamily="34" charset="-128"/>
                <a:cs typeface="+mn-cs"/>
              </a:rPr>
              <a:t>別経営を見据えたデータアーキテクチャを整備したうえで、そのブループリントに基づきメタデータ・マスタデータの在り方や品質・ガバナンスの強化を検討する。</a:t>
            </a:r>
          </a:p>
        </p:txBody>
      </p:sp>
      <p:grpSp>
        <p:nvGrpSpPr>
          <p:cNvPr id="44" name="グループ化 77">
            <a:extLst>
              <a:ext uri="{FF2B5EF4-FFF2-40B4-BE49-F238E27FC236}">
                <a16:creationId xmlns:a16="http://schemas.microsoft.com/office/drawing/2014/main" id="{3A12B420-2BD1-4E85-9798-E2ED35D3B421}"/>
              </a:ext>
            </a:extLst>
          </p:cNvPr>
          <p:cNvGrpSpPr/>
          <p:nvPr/>
        </p:nvGrpSpPr>
        <p:grpSpPr>
          <a:xfrm>
            <a:off x="2244722" y="1181846"/>
            <a:ext cx="7432678" cy="285149"/>
            <a:chOff x="613809" y="1354708"/>
            <a:chExt cx="4074732" cy="267904"/>
          </a:xfrm>
        </p:grpSpPr>
        <p:cxnSp>
          <p:nvCxnSpPr>
            <p:cNvPr id="45" name="直線コネクタ 78">
              <a:extLst>
                <a:ext uri="{FF2B5EF4-FFF2-40B4-BE49-F238E27FC236}">
                  <a16:creationId xmlns:a16="http://schemas.microsoft.com/office/drawing/2014/main" id="{EECABDB3-0BEA-4478-99B8-CB90F8D57185}"/>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6" name="テキスト ボックス 79">
              <a:extLst>
                <a:ext uri="{FF2B5EF4-FFF2-40B4-BE49-F238E27FC236}">
                  <a16:creationId xmlns:a16="http://schemas.microsoft.com/office/drawing/2014/main" id="{CCA10783-BE84-4549-B1F8-D321481EAFB9}"/>
                </a:ext>
              </a:extLst>
            </p:cNvPr>
            <p:cNvSpPr txBox="1"/>
            <p:nvPr/>
          </p:nvSpPr>
          <p:spPr>
            <a:xfrm>
              <a:off x="613809" y="1354708"/>
              <a:ext cx="4074732" cy="260246"/>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重点強化領域に対する</a:t>
              </a:r>
              <a:r>
                <a:rPr lang="en-US" altLang="ja-JP" sz="1200" dirty="0">
                  <a:latin typeface="Meiryo UI" panose="020B0604030504040204" pitchFamily="34" charset="-128"/>
                  <a:ea typeface="Meiryo UI" panose="020B0604030504040204" pitchFamily="34" charset="-128"/>
                </a:rPr>
                <a:t>DM</a:t>
              </a:r>
              <a:r>
                <a:rPr lang="ja-JP" altLang="en-US" sz="1200" dirty="0">
                  <a:latin typeface="Meiryo UI" panose="020B0604030504040204" pitchFamily="34" charset="-128"/>
                  <a:ea typeface="Meiryo UI" panose="020B0604030504040204" pitchFamily="34" charset="-128"/>
                </a:rPr>
                <a:t>実施項目</a:t>
              </a:r>
            </a:p>
          </p:txBody>
        </p:sp>
      </p:grpSp>
      <p:grpSp>
        <p:nvGrpSpPr>
          <p:cNvPr id="51" name="グループ化 85">
            <a:extLst>
              <a:ext uri="{FF2B5EF4-FFF2-40B4-BE49-F238E27FC236}">
                <a16:creationId xmlns:a16="http://schemas.microsoft.com/office/drawing/2014/main" id="{5C4C445E-CE7C-4872-817C-E20B7971D6A4}"/>
              </a:ext>
            </a:extLst>
          </p:cNvPr>
          <p:cNvGrpSpPr/>
          <p:nvPr/>
        </p:nvGrpSpPr>
        <p:grpSpPr>
          <a:xfrm>
            <a:off x="221393" y="1181846"/>
            <a:ext cx="1402193" cy="285149"/>
            <a:chOff x="613809" y="1354708"/>
            <a:chExt cx="4074732" cy="267904"/>
          </a:xfrm>
        </p:grpSpPr>
        <p:cxnSp>
          <p:nvCxnSpPr>
            <p:cNvPr id="52" name="直線コネクタ 86">
              <a:extLst>
                <a:ext uri="{FF2B5EF4-FFF2-40B4-BE49-F238E27FC236}">
                  <a16:creationId xmlns:a16="http://schemas.microsoft.com/office/drawing/2014/main" id="{CCB12151-70E9-41A1-A70A-267000A6DE6C}"/>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3" name="テキスト ボックス 87">
              <a:extLst>
                <a:ext uri="{FF2B5EF4-FFF2-40B4-BE49-F238E27FC236}">
                  <a16:creationId xmlns:a16="http://schemas.microsoft.com/office/drawing/2014/main" id="{8B8DDA68-6A94-4387-A5F8-BCC5E4DB86A9}"/>
                </a:ext>
              </a:extLst>
            </p:cNvPr>
            <p:cNvSpPr txBox="1"/>
            <p:nvPr/>
          </p:nvSpPr>
          <p:spPr>
            <a:xfrm>
              <a:off x="613809" y="1354708"/>
              <a:ext cx="4074732" cy="260246"/>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重点強化領域</a:t>
              </a:r>
            </a:p>
          </p:txBody>
        </p:sp>
      </p:grpSp>
      <p:sp>
        <p:nvSpPr>
          <p:cNvPr id="58" name="三角形 92">
            <a:extLst>
              <a:ext uri="{FF2B5EF4-FFF2-40B4-BE49-F238E27FC236}">
                <a16:creationId xmlns:a16="http://schemas.microsoft.com/office/drawing/2014/main" id="{7F7A716F-2C79-4895-A54C-171E948C1037}"/>
              </a:ext>
            </a:extLst>
          </p:cNvPr>
          <p:cNvSpPr/>
          <p:nvPr/>
        </p:nvSpPr>
        <p:spPr bwMode="gray">
          <a:xfrm rot="5400000">
            <a:off x="534458" y="3843408"/>
            <a:ext cx="2751240" cy="179998"/>
          </a:xfrm>
          <a:prstGeom prst="triangle">
            <a:avLst/>
          </a:prstGeom>
          <a:solidFill>
            <a:schemeClr val="bg1">
              <a:lumMod val="85000"/>
            </a:schemeClr>
          </a:solidFill>
          <a:ln w="9525" algn="ctr">
            <a:no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endParaRPr lang="ja-JP" altLang="en-US" sz="1000">
              <a:solidFill>
                <a:sysClr val="windowText" lastClr="000000"/>
              </a:solidFill>
              <a:latin typeface="Meiryo UI" panose="020B0604030504040204" pitchFamily="34" charset="-128"/>
              <a:ea typeface="Meiryo UI" panose="020B0604030504040204" pitchFamily="34" charset="-128"/>
            </a:endParaRPr>
          </a:p>
        </p:txBody>
      </p:sp>
      <p:sp>
        <p:nvSpPr>
          <p:cNvPr id="115" name="正方形/長方形 26">
            <a:extLst>
              <a:ext uri="{FF2B5EF4-FFF2-40B4-BE49-F238E27FC236}">
                <a16:creationId xmlns:a16="http://schemas.microsoft.com/office/drawing/2014/main" id="{5EB8C6D0-EDBC-492D-9CA1-74DE683E745D}"/>
              </a:ext>
            </a:extLst>
          </p:cNvPr>
          <p:cNvSpPr/>
          <p:nvPr/>
        </p:nvSpPr>
        <p:spPr bwMode="gray">
          <a:xfrm>
            <a:off x="235511" y="1579344"/>
            <a:ext cx="1382494" cy="801815"/>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050" dirty="0">
                <a:solidFill>
                  <a:sysClr val="windowText" lastClr="000000"/>
                </a:solidFill>
                <a:latin typeface="Meiryo UI" panose="020B0604030504040204" pitchFamily="34" charset="-128"/>
                <a:ea typeface="Meiryo UI" panose="020B0604030504040204" pitchFamily="34" charset="-128"/>
              </a:rPr>
              <a:t>全拠点・全プロセスで</a:t>
            </a: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050" dirty="0">
                <a:solidFill>
                  <a:sysClr val="windowText" lastClr="000000"/>
                </a:solidFill>
                <a:latin typeface="Meiryo UI" panose="020B0604030504040204" pitchFamily="34" charset="-128"/>
                <a:ea typeface="Meiryo UI" panose="020B0604030504040204" pitchFamily="34" charset="-128"/>
              </a:rPr>
              <a:t>用いられる</a:t>
            </a: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050" b="1" dirty="0">
                <a:solidFill>
                  <a:sysClr val="windowText" lastClr="000000"/>
                </a:solidFill>
                <a:latin typeface="Meiryo UI" panose="020B0604030504040204" pitchFamily="34" charset="-128"/>
                <a:ea typeface="Meiryo UI" panose="020B0604030504040204" pitchFamily="34" charset="-128"/>
              </a:rPr>
              <a:t>メタデータの共通化</a:t>
            </a:r>
            <a:endParaRPr lang="en-US" altLang="ja-JP" sz="1050" b="1" dirty="0">
              <a:solidFill>
                <a:sysClr val="windowText" lastClr="000000"/>
              </a:solidFill>
              <a:latin typeface="Meiryo UI" panose="020B0604030504040204" pitchFamily="34" charset="-128"/>
              <a:ea typeface="Meiryo UI" panose="020B0604030504040204" pitchFamily="34" charset="-128"/>
            </a:endParaRPr>
          </a:p>
        </p:txBody>
      </p:sp>
      <p:sp>
        <p:nvSpPr>
          <p:cNvPr id="116" name="正方形/長方形 27">
            <a:extLst>
              <a:ext uri="{FF2B5EF4-FFF2-40B4-BE49-F238E27FC236}">
                <a16:creationId xmlns:a16="http://schemas.microsoft.com/office/drawing/2014/main" id="{FC7046F4-232D-4073-B969-D55DB2C9D723}"/>
              </a:ext>
            </a:extLst>
          </p:cNvPr>
          <p:cNvSpPr/>
          <p:nvPr/>
        </p:nvSpPr>
        <p:spPr bwMode="gray">
          <a:xfrm>
            <a:off x="235510" y="2551832"/>
            <a:ext cx="1382494" cy="805282"/>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1050" dirty="0">
                <a:solidFill>
                  <a:sysClr val="windowText" lastClr="000000"/>
                </a:solidFill>
                <a:latin typeface="Meiryo UI" panose="020B0604030504040204" pitchFamily="34" charset="-128"/>
                <a:ea typeface="Meiryo UI" panose="020B0604030504040204" pitchFamily="34" charset="-128"/>
              </a:rPr>
              <a:t>全拠点・全プロセスで</a:t>
            </a: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1050" dirty="0">
                <a:solidFill>
                  <a:sysClr val="windowText" lastClr="000000"/>
                </a:solidFill>
                <a:latin typeface="Meiryo UI" panose="020B0604030504040204" pitchFamily="34" charset="-128"/>
                <a:ea typeface="Meiryo UI" panose="020B0604030504040204" pitchFamily="34" charset="-128"/>
              </a:rPr>
              <a:t>用いられる</a:t>
            </a:r>
            <a:br>
              <a:rPr lang="en-US" altLang="ja-JP" sz="1050" dirty="0">
                <a:solidFill>
                  <a:sysClr val="windowText" lastClr="000000"/>
                </a:solidFill>
                <a:latin typeface="Meiryo UI" panose="020B0604030504040204" pitchFamily="34" charset="-128"/>
                <a:ea typeface="Meiryo UI" panose="020B0604030504040204" pitchFamily="34" charset="-128"/>
              </a:rPr>
            </a:br>
            <a:r>
              <a:rPr lang="ja-JP" altLang="en-US" sz="1050" b="1" dirty="0">
                <a:solidFill>
                  <a:sysClr val="windowText" lastClr="000000"/>
                </a:solidFill>
                <a:latin typeface="Meiryo UI" panose="020B0604030504040204" pitchFamily="34" charset="-128"/>
                <a:ea typeface="Meiryo UI" panose="020B0604030504040204" pitchFamily="34" charset="-128"/>
              </a:rPr>
              <a:t>マスタデータの一元化</a:t>
            </a:r>
            <a:endParaRPr lang="en-US" altLang="ja-JP" sz="1050" b="1" dirty="0">
              <a:solidFill>
                <a:sysClr val="windowText" lastClr="000000"/>
              </a:solidFill>
              <a:latin typeface="Meiryo UI" panose="020B0604030504040204" pitchFamily="34" charset="-128"/>
              <a:ea typeface="Meiryo UI" panose="020B0604030504040204" pitchFamily="34" charset="-128"/>
            </a:endParaRPr>
          </a:p>
        </p:txBody>
      </p:sp>
      <p:sp>
        <p:nvSpPr>
          <p:cNvPr id="117" name="正方形/長方形 28">
            <a:extLst>
              <a:ext uri="{FF2B5EF4-FFF2-40B4-BE49-F238E27FC236}">
                <a16:creationId xmlns:a16="http://schemas.microsoft.com/office/drawing/2014/main" id="{6A4EFFC2-9AE2-4ACC-85B3-153C9AE46EAA}"/>
              </a:ext>
            </a:extLst>
          </p:cNvPr>
          <p:cNvSpPr/>
          <p:nvPr/>
        </p:nvSpPr>
        <p:spPr bwMode="gray">
          <a:xfrm>
            <a:off x="235243" y="3527787"/>
            <a:ext cx="1388344" cy="805282"/>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1050" dirty="0">
                <a:solidFill>
                  <a:sysClr val="windowText" lastClr="000000"/>
                </a:solidFill>
                <a:latin typeface="Meiryo UI" panose="020B0604030504040204" pitchFamily="34" charset="-128"/>
                <a:ea typeface="Meiryo UI" panose="020B0604030504040204" pitchFamily="34" charset="-128"/>
              </a:rPr>
              <a:t>全拠点・全プロセスで</a:t>
            </a:r>
            <a:br>
              <a:rPr lang="en-US" altLang="ja-JP" sz="1050" dirty="0">
                <a:solidFill>
                  <a:sysClr val="windowText" lastClr="000000"/>
                </a:solidFill>
                <a:latin typeface="Meiryo UI" panose="020B0604030504040204" pitchFamily="34" charset="-128"/>
                <a:ea typeface="Meiryo UI" panose="020B0604030504040204" pitchFamily="34" charset="-128"/>
              </a:rPr>
            </a:br>
            <a:r>
              <a:rPr lang="ja-JP" altLang="en-US" sz="1050" dirty="0">
                <a:solidFill>
                  <a:sysClr val="windowText" lastClr="000000"/>
                </a:solidFill>
                <a:latin typeface="Meiryo UI" panose="020B0604030504040204" pitchFamily="34" charset="-128"/>
                <a:ea typeface="Meiryo UI" panose="020B0604030504040204" pitchFamily="34" charset="-128"/>
              </a:rPr>
              <a:t>生成された</a:t>
            </a: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1050" b="1" dirty="0">
                <a:solidFill>
                  <a:sysClr val="windowText" lastClr="000000"/>
                </a:solidFill>
                <a:latin typeface="Meiryo UI" panose="020B0604030504040204" pitchFamily="34" charset="-128"/>
                <a:ea typeface="Meiryo UI" panose="020B0604030504040204" pitchFamily="34" charset="-128"/>
              </a:rPr>
              <a:t>データの集約と統合</a:t>
            </a:r>
            <a:endParaRPr lang="en-US" altLang="ja-JP" sz="1050" b="1" dirty="0">
              <a:solidFill>
                <a:sysClr val="windowText" lastClr="000000"/>
              </a:solidFill>
              <a:latin typeface="Meiryo UI" panose="020B0604030504040204" pitchFamily="34" charset="-128"/>
              <a:ea typeface="Meiryo UI" panose="020B0604030504040204" pitchFamily="34" charset="-128"/>
            </a:endParaRPr>
          </a:p>
        </p:txBody>
      </p:sp>
      <p:sp>
        <p:nvSpPr>
          <p:cNvPr id="118" name="正方形/長方形 29">
            <a:extLst>
              <a:ext uri="{FF2B5EF4-FFF2-40B4-BE49-F238E27FC236}">
                <a16:creationId xmlns:a16="http://schemas.microsoft.com/office/drawing/2014/main" id="{5432951F-806D-4CC9-A9E8-509ACEAE6A4B}"/>
              </a:ext>
            </a:extLst>
          </p:cNvPr>
          <p:cNvSpPr/>
          <p:nvPr/>
        </p:nvSpPr>
        <p:spPr bwMode="gray">
          <a:xfrm>
            <a:off x="235243" y="4503742"/>
            <a:ext cx="1388344" cy="805282"/>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br>
              <a:rPr lang="en-US" altLang="ja-JP" sz="1050" dirty="0">
                <a:solidFill>
                  <a:sysClr val="windowText" lastClr="000000"/>
                </a:solidFill>
                <a:latin typeface="Meiryo UI" panose="020B0604030504040204" pitchFamily="34" charset="-128"/>
                <a:ea typeface="Meiryo UI" panose="020B0604030504040204" pitchFamily="34" charset="-128"/>
              </a:rPr>
            </a:br>
            <a:r>
              <a:rPr lang="ja-JP" altLang="en-US" sz="1050" dirty="0">
                <a:solidFill>
                  <a:sysClr val="windowText" lastClr="000000"/>
                </a:solidFill>
                <a:latin typeface="Meiryo UI" panose="020B0604030504040204" pitchFamily="34" charset="-128"/>
                <a:ea typeface="Meiryo UI" panose="020B0604030504040204" pitchFamily="34" charset="-128"/>
              </a:rPr>
              <a:t>全拠点で一元化された</a:t>
            </a:r>
            <a:endParaRPr lang="en-US" altLang="ja-JP" sz="105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1050" b="1" dirty="0">
                <a:solidFill>
                  <a:sysClr val="windowText" lastClr="000000"/>
                </a:solidFill>
                <a:latin typeface="Meiryo UI" panose="020B0604030504040204" pitchFamily="34" charset="-128"/>
                <a:ea typeface="Meiryo UI" panose="020B0604030504040204" pitchFamily="34" charset="-128"/>
              </a:rPr>
              <a:t>データ品質指標の確立と定着化</a:t>
            </a:r>
            <a:endParaRPr lang="en-US" altLang="ja-JP" sz="1050" b="1" dirty="0">
              <a:solidFill>
                <a:sysClr val="windowText" lastClr="000000"/>
              </a:solidFill>
              <a:latin typeface="Meiryo UI" panose="020B0604030504040204" pitchFamily="34" charset="-128"/>
              <a:ea typeface="Meiryo UI" panose="020B0604030504040204" pitchFamily="34" charset="-128"/>
            </a:endParaRPr>
          </a:p>
        </p:txBody>
      </p:sp>
      <p:sp>
        <p:nvSpPr>
          <p:cNvPr id="119" name="円/楕円 37">
            <a:extLst>
              <a:ext uri="{FF2B5EF4-FFF2-40B4-BE49-F238E27FC236}">
                <a16:creationId xmlns:a16="http://schemas.microsoft.com/office/drawing/2014/main" id="{BB1D957B-1B26-451C-9DE3-52A97A72954F}"/>
              </a:ext>
            </a:extLst>
          </p:cNvPr>
          <p:cNvSpPr/>
          <p:nvPr/>
        </p:nvSpPr>
        <p:spPr bwMode="gray">
          <a:xfrm>
            <a:off x="235510" y="1579344"/>
            <a:ext cx="216000" cy="216000"/>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latin typeface="Meiryo UI" panose="020B0604030504040204" pitchFamily="34" charset="-128"/>
                <a:ea typeface="Meiryo UI" panose="020B0604030504040204" pitchFamily="34" charset="-128"/>
              </a:rPr>
              <a:t>a</a:t>
            </a:r>
          </a:p>
        </p:txBody>
      </p:sp>
      <p:sp>
        <p:nvSpPr>
          <p:cNvPr id="120" name="円/楕円 38">
            <a:extLst>
              <a:ext uri="{FF2B5EF4-FFF2-40B4-BE49-F238E27FC236}">
                <a16:creationId xmlns:a16="http://schemas.microsoft.com/office/drawing/2014/main" id="{19FE76EC-E8C2-48B2-BEA6-8505D616C5C1}"/>
              </a:ext>
            </a:extLst>
          </p:cNvPr>
          <p:cNvSpPr/>
          <p:nvPr/>
        </p:nvSpPr>
        <p:spPr bwMode="gray">
          <a:xfrm>
            <a:off x="235510" y="2554432"/>
            <a:ext cx="216000" cy="216000"/>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latin typeface="Meiryo UI" panose="020B0604030504040204" pitchFamily="34" charset="-128"/>
                <a:ea typeface="Meiryo UI" panose="020B0604030504040204" pitchFamily="34" charset="-128"/>
              </a:rPr>
              <a:t>b</a:t>
            </a:r>
            <a:endParaRPr lang="ja-JP" altLang="en-US" sz="1200" dirty="0">
              <a:latin typeface="Meiryo UI" panose="020B0604030504040204" pitchFamily="34" charset="-128"/>
              <a:ea typeface="Meiryo UI" panose="020B0604030504040204" pitchFamily="34" charset="-128"/>
            </a:endParaRPr>
          </a:p>
        </p:txBody>
      </p:sp>
      <p:sp>
        <p:nvSpPr>
          <p:cNvPr id="121" name="円/楕円 39">
            <a:extLst>
              <a:ext uri="{FF2B5EF4-FFF2-40B4-BE49-F238E27FC236}">
                <a16:creationId xmlns:a16="http://schemas.microsoft.com/office/drawing/2014/main" id="{1EA267E7-F8BD-41DF-A124-62CA1F937E06}"/>
              </a:ext>
            </a:extLst>
          </p:cNvPr>
          <p:cNvSpPr/>
          <p:nvPr/>
        </p:nvSpPr>
        <p:spPr bwMode="gray">
          <a:xfrm>
            <a:off x="235510" y="3529520"/>
            <a:ext cx="216000" cy="216000"/>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latin typeface="Meiryo UI" panose="020B0604030504040204" pitchFamily="34" charset="-128"/>
                <a:ea typeface="Meiryo UI" panose="020B0604030504040204" pitchFamily="34" charset="-128"/>
              </a:rPr>
              <a:t>c</a:t>
            </a:r>
            <a:endParaRPr lang="ja-JP" altLang="en-US" sz="1200">
              <a:latin typeface="Meiryo UI" panose="020B0604030504040204" pitchFamily="34" charset="-128"/>
              <a:ea typeface="Meiryo UI" panose="020B0604030504040204" pitchFamily="34" charset="-128"/>
            </a:endParaRPr>
          </a:p>
        </p:txBody>
      </p:sp>
      <p:sp>
        <p:nvSpPr>
          <p:cNvPr id="122" name="円/楕円 40">
            <a:extLst>
              <a:ext uri="{FF2B5EF4-FFF2-40B4-BE49-F238E27FC236}">
                <a16:creationId xmlns:a16="http://schemas.microsoft.com/office/drawing/2014/main" id="{984285D3-1EC6-489B-AA17-AC59860B0487}"/>
              </a:ext>
            </a:extLst>
          </p:cNvPr>
          <p:cNvSpPr/>
          <p:nvPr/>
        </p:nvSpPr>
        <p:spPr bwMode="gray">
          <a:xfrm>
            <a:off x="235510" y="4504608"/>
            <a:ext cx="216000" cy="216000"/>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latin typeface="Meiryo UI" panose="020B0604030504040204" pitchFamily="34" charset="-128"/>
                <a:ea typeface="Meiryo UI" panose="020B0604030504040204" pitchFamily="34" charset="-128"/>
              </a:rPr>
              <a:t>d</a:t>
            </a:r>
          </a:p>
        </p:txBody>
      </p:sp>
      <p:sp>
        <p:nvSpPr>
          <p:cNvPr id="123" name="正方形/長方形 29">
            <a:extLst>
              <a:ext uri="{FF2B5EF4-FFF2-40B4-BE49-F238E27FC236}">
                <a16:creationId xmlns:a16="http://schemas.microsoft.com/office/drawing/2014/main" id="{E00F1442-CA5F-4E70-BA5A-9AE266746C5B}"/>
              </a:ext>
            </a:extLst>
          </p:cNvPr>
          <p:cNvSpPr/>
          <p:nvPr/>
        </p:nvSpPr>
        <p:spPr bwMode="gray">
          <a:xfrm>
            <a:off x="235243" y="5479696"/>
            <a:ext cx="1388344" cy="805282"/>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50" dirty="0">
                <a:solidFill>
                  <a:sysClr val="windowText" lastClr="000000"/>
                </a:solidFill>
                <a:latin typeface="Meiryo UI" panose="020B0604030504040204" pitchFamily="34" charset="-128"/>
                <a:ea typeface="Meiryo UI" panose="020B0604030504040204" pitchFamily="34" charset="-128"/>
              </a:rPr>
              <a:t>全社的な</a:t>
            </a:r>
            <a:br>
              <a:rPr lang="en-US" altLang="ja-JP" sz="1050" dirty="0">
                <a:solidFill>
                  <a:sysClr val="windowText" lastClr="000000"/>
                </a:solidFill>
                <a:latin typeface="Meiryo UI" panose="020B0604030504040204" pitchFamily="34" charset="-128"/>
                <a:ea typeface="Meiryo UI" panose="020B0604030504040204" pitchFamily="34" charset="-128"/>
              </a:rPr>
            </a:br>
            <a:r>
              <a:rPr lang="ja-JP" altLang="en-US" sz="1050" b="1" dirty="0">
                <a:solidFill>
                  <a:sysClr val="windowText" lastClr="000000"/>
                </a:solidFill>
                <a:latin typeface="Meiryo UI" panose="020B0604030504040204" pitchFamily="34" charset="-128"/>
                <a:ea typeface="Meiryo UI" panose="020B0604030504040204" pitchFamily="34" charset="-128"/>
              </a:rPr>
              <a:t>データガバナンス</a:t>
            </a:r>
            <a:br>
              <a:rPr lang="en-US" altLang="ja-JP" sz="1050" b="1" dirty="0">
                <a:solidFill>
                  <a:sysClr val="windowText" lastClr="000000"/>
                </a:solidFill>
                <a:latin typeface="Meiryo UI" panose="020B0604030504040204" pitchFamily="34" charset="-128"/>
                <a:ea typeface="Meiryo UI" panose="020B0604030504040204" pitchFamily="34" charset="-128"/>
              </a:rPr>
            </a:br>
            <a:r>
              <a:rPr lang="ja-JP" altLang="en-US" sz="1050" b="1" dirty="0">
                <a:solidFill>
                  <a:sysClr val="windowText" lastClr="000000"/>
                </a:solidFill>
                <a:latin typeface="Meiryo UI" panose="020B0604030504040204" pitchFamily="34" charset="-128"/>
                <a:ea typeface="Meiryo UI" panose="020B0604030504040204" pitchFamily="34" charset="-128"/>
              </a:rPr>
              <a:t>体制の確立</a:t>
            </a:r>
            <a:endParaRPr lang="en-US" altLang="ja-JP" sz="1050" b="1" dirty="0">
              <a:solidFill>
                <a:sysClr val="windowText" lastClr="000000"/>
              </a:solidFill>
              <a:latin typeface="Meiryo UI" panose="020B0604030504040204" pitchFamily="34" charset="-128"/>
              <a:ea typeface="Meiryo UI" panose="020B0604030504040204" pitchFamily="34" charset="-128"/>
            </a:endParaRPr>
          </a:p>
        </p:txBody>
      </p:sp>
      <p:sp>
        <p:nvSpPr>
          <p:cNvPr id="124" name="円/楕円 40">
            <a:extLst>
              <a:ext uri="{FF2B5EF4-FFF2-40B4-BE49-F238E27FC236}">
                <a16:creationId xmlns:a16="http://schemas.microsoft.com/office/drawing/2014/main" id="{B6CB8BCF-7A75-42B9-86BD-55DECF0A510E}"/>
              </a:ext>
            </a:extLst>
          </p:cNvPr>
          <p:cNvSpPr/>
          <p:nvPr/>
        </p:nvSpPr>
        <p:spPr bwMode="gray">
          <a:xfrm>
            <a:off x="235510" y="5479696"/>
            <a:ext cx="216000" cy="216000"/>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latin typeface="Meiryo UI" panose="020B0604030504040204" pitchFamily="34" charset="-128"/>
                <a:ea typeface="Meiryo UI" panose="020B0604030504040204" pitchFamily="34" charset="-128"/>
              </a:rPr>
              <a:t>e</a:t>
            </a:r>
          </a:p>
        </p:txBody>
      </p:sp>
      <p:sp>
        <p:nvSpPr>
          <p:cNvPr id="126" name="正方形/長方形 35">
            <a:extLst>
              <a:ext uri="{FF2B5EF4-FFF2-40B4-BE49-F238E27FC236}">
                <a16:creationId xmlns:a16="http://schemas.microsoft.com/office/drawing/2014/main" id="{636CE929-DC17-4635-AB9B-0055AFF66AB1}"/>
              </a:ext>
            </a:extLst>
          </p:cNvPr>
          <p:cNvSpPr/>
          <p:nvPr/>
        </p:nvSpPr>
        <p:spPr bwMode="gray">
          <a:xfrm>
            <a:off x="2202152" y="1584425"/>
            <a:ext cx="1625283" cy="228600"/>
          </a:xfrm>
          <a:prstGeom prst="rect">
            <a:avLst/>
          </a:prstGeom>
          <a:solidFill>
            <a:schemeClr val="tx2">
              <a:lumMod val="40000"/>
              <a:lumOff val="6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r>
              <a:rPr lang="ja-JP" altLang="en-US" sz="900" b="1" dirty="0">
                <a:solidFill>
                  <a:sysClr val="windowText" lastClr="000000"/>
                </a:solidFill>
                <a:latin typeface="Meiryo UI" panose="020B0604030504040204" pitchFamily="34" charset="-128"/>
                <a:ea typeface="Meiryo UI" panose="020B0604030504040204" pitchFamily="34" charset="-128"/>
              </a:rPr>
              <a:t>①データガバナンス</a:t>
            </a:r>
          </a:p>
        </p:txBody>
      </p:sp>
      <p:sp>
        <p:nvSpPr>
          <p:cNvPr id="128" name="正方形/長方形 34">
            <a:extLst>
              <a:ext uri="{FF2B5EF4-FFF2-40B4-BE49-F238E27FC236}">
                <a16:creationId xmlns:a16="http://schemas.microsoft.com/office/drawing/2014/main" id="{283FFC0B-684A-44C1-A1AE-CA4FB380CEF5}"/>
              </a:ext>
            </a:extLst>
          </p:cNvPr>
          <p:cNvSpPr/>
          <p:nvPr/>
        </p:nvSpPr>
        <p:spPr bwMode="gray">
          <a:xfrm>
            <a:off x="2202152" y="3503446"/>
            <a:ext cx="1625283" cy="228956"/>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dirty="0">
                <a:solidFill>
                  <a:schemeClr val="bg1"/>
                </a:solidFill>
                <a:latin typeface="Meiryo UI" panose="020B0604030504040204" pitchFamily="34" charset="-128"/>
                <a:ea typeface="Meiryo UI" panose="020B0604030504040204" pitchFamily="34" charset="-128"/>
              </a:rPr>
              <a:t>③</a:t>
            </a:r>
            <a:r>
              <a:rPr lang="ja-JP" altLang="en-US" sz="900" b="1" dirty="0">
                <a:solidFill>
                  <a:schemeClr val="bg1"/>
                </a:solidFill>
                <a:latin typeface="Meiryo UI" panose="020B0604030504040204" pitchFamily="34" charset="-128"/>
                <a:ea typeface="Meiryo UI" panose="020B0604030504040204" pitchFamily="34" charset="-128"/>
              </a:rPr>
              <a:t>データモデリングとデザイン</a:t>
            </a:r>
            <a:endParaRPr lang="en-US" altLang="ja-JP" sz="900" b="1" dirty="0">
              <a:solidFill>
                <a:schemeClr val="bg1"/>
              </a:solidFill>
              <a:latin typeface="Meiryo UI" panose="020B0604030504040204" pitchFamily="34" charset="-128"/>
              <a:ea typeface="Meiryo UI" panose="020B0604030504040204" pitchFamily="34" charset="-128"/>
            </a:endParaRPr>
          </a:p>
        </p:txBody>
      </p:sp>
      <p:sp>
        <p:nvSpPr>
          <p:cNvPr id="129" name="正方形/長方形 35">
            <a:extLst>
              <a:ext uri="{FF2B5EF4-FFF2-40B4-BE49-F238E27FC236}">
                <a16:creationId xmlns:a16="http://schemas.microsoft.com/office/drawing/2014/main" id="{0CA3CA3D-1591-48CF-9DF2-1368C939AA5B}"/>
              </a:ext>
            </a:extLst>
          </p:cNvPr>
          <p:cNvSpPr/>
          <p:nvPr/>
        </p:nvSpPr>
        <p:spPr bwMode="gray">
          <a:xfrm>
            <a:off x="2202152" y="3793987"/>
            <a:ext cx="1625283" cy="228956"/>
          </a:xfrm>
          <a:prstGeom prst="rect">
            <a:avLst/>
          </a:prstGeom>
          <a:solidFill>
            <a:schemeClr val="bg1"/>
          </a:solidFill>
          <a:ln w="9525" algn="ctr">
            <a:solidFill>
              <a:schemeClr val="bg1">
                <a:lumMod val="75000"/>
              </a:schemeClr>
            </a:solidFill>
            <a:prstDash val="sysDash"/>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dirty="0">
                <a:solidFill>
                  <a:schemeClr val="bg1">
                    <a:lumMod val="75000"/>
                  </a:schemeClr>
                </a:solidFill>
                <a:latin typeface="Meiryo UI" panose="020B0604030504040204" pitchFamily="34" charset="-128"/>
                <a:ea typeface="Meiryo UI" panose="020B0604030504040204" pitchFamily="34" charset="-128"/>
              </a:rPr>
              <a:t>④</a:t>
            </a:r>
            <a:r>
              <a:rPr lang="ja-JP" altLang="en-US" sz="900" dirty="0">
                <a:solidFill>
                  <a:schemeClr val="bg1">
                    <a:lumMod val="75000"/>
                  </a:schemeClr>
                </a:solidFill>
                <a:latin typeface="Meiryo UI" panose="020B0604030504040204" pitchFamily="34" charset="-128"/>
                <a:ea typeface="Meiryo UI" panose="020B0604030504040204" pitchFamily="34" charset="-128"/>
              </a:rPr>
              <a:t>データストレージとオペレーション</a:t>
            </a:r>
            <a:endParaRPr lang="en-US" altLang="ja-JP" sz="900" dirty="0">
              <a:solidFill>
                <a:schemeClr val="bg1">
                  <a:lumMod val="75000"/>
                </a:schemeClr>
              </a:solidFill>
              <a:latin typeface="Meiryo UI" panose="020B0604030504040204" pitchFamily="34" charset="-128"/>
              <a:ea typeface="Meiryo UI" panose="020B0604030504040204" pitchFamily="34" charset="-128"/>
            </a:endParaRPr>
          </a:p>
        </p:txBody>
      </p:sp>
      <p:sp>
        <p:nvSpPr>
          <p:cNvPr id="130" name="正方形/長方形 36">
            <a:extLst>
              <a:ext uri="{FF2B5EF4-FFF2-40B4-BE49-F238E27FC236}">
                <a16:creationId xmlns:a16="http://schemas.microsoft.com/office/drawing/2014/main" id="{AF503181-38B4-423B-84C5-A5A5CCE91720}"/>
              </a:ext>
            </a:extLst>
          </p:cNvPr>
          <p:cNvSpPr/>
          <p:nvPr/>
        </p:nvSpPr>
        <p:spPr bwMode="gray">
          <a:xfrm>
            <a:off x="2202152" y="4084528"/>
            <a:ext cx="1625283" cy="228956"/>
          </a:xfrm>
          <a:prstGeom prst="rect">
            <a:avLst/>
          </a:prstGeom>
          <a:solidFill>
            <a:schemeClr val="tx2">
              <a:lumMod val="40000"/>
              <a:lumOff val="6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a:solidFill>
                  <a:sysClr val="windowText" lastClr="000000"/>
                </a:solidFill>
                <a:latin typeface="Meiryo UI" panose="020B0604030504040204" pitchFamily="34" charset="-128"/>
                <a:ea typeface="Meiryo UI" panose="020B0604030504040204" pitchFamily="34" charset="-128"/>
              </a:rPr>
              <a:t>⑤</a:t>
            </a:r>
            <a:r>
              <a:rPr lang="ja-JP" altLang="en-US" sz="900" b="1" dirty="0">
                <a:solidFill>
                  <a:sysClr val="windowText" lastClr="000000"/>
                </a:solidFill>
                <a:latin typeface="Meiryo UI" panose="020B0604030504040204" pitchFamily="34" charset="-128"/>
                <a:ea typeface="Meiryo UI" panose="020B0604030504040204" pitchFamily="34" charset="-128"/>
              </a:rPr>
              <a:t>データセキュリティ</a:t>
            </a:r>
            <a:endParaRPr lang="en-US" altLang="ja-JP" sz="900" b="1" dirty="0">
              <a:solidFill>
                <a:sysClr val="windowText" lastClr="000000"/>
              </a:solidFill>
              <a:latin typeface="Meiryo UI" panose="020B0604030504040204" pitchFamily="34" charset="-128"/>
              <a:ea typeface="Meiryo UI" panose="020B0604030504040204" pitchFamily="34" charset="-128"/>
            </a:endParaRPr>
          </a:p>
        </p:txBody>
      </p:sp>
      <p:sp>
        <p:nvSpPr>
          <p:cNvPr id="131" name="正方形/長方形 37">
            <a:extLst>
              <a:ext uri="{FF2B5EF4-FFF2-40B4-BE49-F238E27FC236}">
                <a16:creationId xmlns:a16="http://schemas.microsoft.com/office/drawing/2014/main" id="{84988D8D-EB71-498F-8452-48C202F7EC2A}"/>
              </a:ext>
            </a:extLst>
          </p:cNvPr>
          <p:cNvSpPr/>
          <p:nvPr/>
        </p:nvSpPr>
        <p:spPr bwMode="gray">
          <a:xfrm>
            <a:off x="2202152" y="4375069"/>
            <a:ext cx="1625283" cy="228956"/>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dirty="0">
                <a:solidFill>
                  <a:schemeClr val="bg1"/>
                </a:solidFill>
                <a:latin typeface="Meiryo UI" panose="020B0604030504040204" pitchFamily="34" charset="-128"/>
                <a:ea typeface="Meiryo UI" panose="020B0604030504040204" pitchFamily="34" charset="-128"/>
              </a:rPr>
              <a:t>⑥</a:t>
            </a:r>
            <a:r>
              <a:rPr lang="ja-JP" altLang="en-US" sz="900" b="1" dirty="0">
                <a:solidFill>
                  <a:schemeClr val="bg1"/>
                </a:solidFill>
                <a:latin typeface="Meiryo UI" panose="020B0604030504040204" pitchFamily="34" charset="-128"/>
                <a:ea typeface="Meiryo UI" panose="020B0604030504040204" pitchFamily="34" charset="-128"/>
              </a:rPr>
              <a:t>データ統合と相互運用性</a:t>
            </a:r>
            <a:endParaRPr lang="en-US" altLang="ja-JP" sz="900" b="1" dirty="0">
              <a:solidFill>
                <a:schemeClr val="bg1"/>
              </a:solidFill>
              <a:latin typeface="Meiryo UI" panose="020B0604030504040204" pitchFamily="34" charset="-128"/>
              <a:ea typeface="Meiryo UI" panose="020B0604030504040204" pitchFamily="34" charset="-128"/>
            </a:endParaRPr>
          </a:p>
        </p:txBody>
      </p:sp>
      <p:sp>
        <p:nvSpPr>
          <p:cNvPr id="132" name="正方形/長方形 38">
            <a:extLst>
              <a:ext uri="{FF2B5EF4-FFF2-40B4-BE49-F238E27FC236}">
                <a16:creationId xmlns:a16="http://schemas.microsoft.com/office/drawing/2014/main" id="{56790FF3-9CE7-47D7-A142-BBA9B6492679}"/>
              </a:ext>
            </a:extLst>
          </p:cNvPr>
          <p:cNvSpPr/>
          <p:nvPr/>
        </p:nvSpPr>
        <p:spPr bwMode="gray">
          <a:xfrm>
            <a:off x="2202152" y="4665610"/>
            <a:ext cx="1625283" cy="457200"/>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dirty="0">
                <a:solidFill>
                  <a:schemeClr val="bg1"/>
                </a:solidFill>
                <a:latin typeface="Meiryo UI" panose="020B0604030504040204" pitchFamily="34" charset="-128"/>
                <a:ea typeface="Meiryo UI" panose="020B0604030504040204" pitchFamily="34" charset="-128"/>
              </a:rPr>
              <a:t>⑦</a:t>
            </a:r>
            <a:r>
              <a:rPr lang="ja-JP" altLang="en-US" sz="900" b="1" dirty="0">
                <a:solidFill>
                  <a:schemeClr val="bg1"/>
                </a:solidFill>
                <a:latin typeface="Meiryo UI" panose="020B0604030504040204" pitchFamily="34" charset="-128"/>
                <a:ea typeface="Meiryo UI" panose="020B0604030504040204" pitchFamily="34" charset="-128"/>
              </a:rPr>
              <a:t>ドキュメントとコンテンツ管理</a:t>
            </a:r>
          </a:p>
        </p:txBody>
      </p:sp>
      <p:sp>
        <p:nvSpPr>
          <p:cNvPr id="133" name="正方形/長方形 39">
            <a:extLst>
              <a:ext uri="{FF2B5EF4-FFF2-40B4-BE49-F238E27FC236}">
                <a16:creationId xmlns:a16="http://schemas.microsoft.com/office/drawing/2014/main" id="{622958E7-CC19-48DD-B43A-16D85A287B92}"/>
              </a:ext>
            </a:extLst>
          </p:cNvPr>
          <p:cNvSpPr/>
          <p:nvPr/>
        </p:nvSpPr>
        <p:spPr bwMode="gray">
          <a:xfrm>
            <a:off x="2202152" y="5184395"/>
            <a:ext cx="1625283" cy="228956"/>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dirty="0">
                <a:solidFill>
                  <a:schemeClr val="bg1"/>
                </a:solidFill>
                <a:latin typeface="Meiryo UI" panose="020B0604030504040204" pitchFamily="34" charset="-128"/>
                <a:ea typeface="Meiryo UI" panose="020B0604030504040204" pitchFamily="34" charset="-128"/>
              </a:rPr>
              <a:t>⑧</a:t>
            </a:r>
            <a:r>
              <a:rPr lang="ja-JP" altLang="en-US" sz="900" b="1" dirty="0">
                <a:solidFill>
                  <a:schemeClr val="bg1"/>
                </a:solidFill>
                <a:latin typeface="Meiryo UI" panose="020B0604030504040204" pitchFamily="34" charset="-128"/>
                <a:ea typeface="Meiryo UI" panose="020B0604030504040204" pitchFamily="34" charset="-128"/>
              </a:rPr>
              <a:t>参照データとマスターデータ</a:t>
            </a:r>
          </a:p>
        </p:txBody>
      </p:sp>
      <p:sp>
        <p:nvSpPr>
          <p:cNvPr id="134" name="正方形/長方形 40">
            <a:extLst>
              <a:ext uri="{FF2B5EF4-FFF2-40B4-BE49-F238E27FC236}">
                <a16:creationId xmlns:a16="http://schemas.microsoft.com/office/drawing/2014/main" id="{40A75363-9DE3-49CE-83D2-0B049F20D0B8}"/>
              </a:ext>
            </a:extLst>
          </p:cNvPr>
          <p:cNvSpPr/>
          <p:nvPr/>
        </p:nvSpPr>
        <p:spPr bwMode="gray">
          <a:xfrm>
            <a:off x="2202152" y="5474936"/>
            <a:ext cx="1625283" cy="228956"/>
          </a:xfrm>
          <a:prstGeom prst="rect">
            <a:avLst/>
          </a:prstGeom>
          <a:solidFill>
            <a:schemeClr val="tx2">
              <a:lumMod val="40000"/>
              <a:lumOff val="6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a:solidFill>
                  <a:sysClr val="windowText" lastClr="000000"/>
                </a:solidFill>
                <a:latin typeface="Meiryo UI" panose="020B0604030504040204" pitchFamily="34" charset="-128"/>
                <a:ea typeface="Meiryo UI" panose="020B0604030504040204" pitchFamily="34" charset="-128"/>
              </a:rPr>
              <a:t>⑨DWH</a:t>
            </a:r>
            <a:r>
              <a:rPr lang="ja-JP" altLang="en-US" sz="900" b="1">
                <a:solidFill>
                  <a:sysClr val="windowText" lastClr="000000"/>
                </a:solidFill>
                <a:latin typeface="Meiryo UI" panose="020B0604030504040204" pitchFamily="34" charset="-128"/>
                <a:ea typeface="Meiryo UI" panose="020B0604030504040204" pitchFamily="34" charset="-128"/>
              </a:rPr>
              <a:t>と</a:t>
            </a:r>
            <a:r>
              <a:rPr lang="en-US" altLang="ja-JP" sz="900" b="1">
                <a:solidFill>
                  <a:sysClr val="windowText" lastClr="000000"/>
                </a:solidFill>
                <a:latin typeface="Meiryo UI" panose="020B0604030504040204" pitchFamily="34" charset="-128"/>
                <a:ea typeface="Meiryo UI" panose="020B0604030504040204" pitchFamily="34" charset="-128"/>
              </a:rPr>
              <a:t>BI</a:t>
            </a:r>
            <a:endParaRPr lang="ja-JP" altLang="en-US" sz="900" b="1" dirty="0">
              <a:solidFill>
                <a:sysClr val="windowText" lastClr="000000"/>
              </a:solidFill>
              <a:latin typeface="Meiryo UI" panose="020B0604030504040204" pitchFamily="34" charset="-128"/>
              <a:ea typeface="Meiryo UI" panose="020B0604030504040204" pitchFamily="34" charset="-128"/>
            </a:endParaRPr>
          </a:p>
        </p:txBody>
      </p:sp>
      <p:sp>
        <p:nvSpPr>
          <p:cNvPr id="135" name="正方形/長方形 41">
            <a:extLst>
              <a:ext uri="{FF2B5EF4-FFF2-40B4-BE49-F238E27FC236}">
                <a16:creationId xmlns:a16="http://schemas.microsoft.com/office/drawing/2014/main" id="{48C3CF9A-D35E-4551-82C8-6BCD162A442E}"/>
              </a:ext>
            </a:extLst>
          </p:cNvPr>
          <p:cNvSpPr/>
          <p:nvPr/>
        </p:nvSpPr>
        <p:spPr bwMode="gray">
          <a:xfrm>
            <a:off x="2202152" y="5765477"/>
            <a:ext cx="1625283" cy="228956"/>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a:solidFill>
                  <a:schemeClr val="bg1"/>
                </a:solidFill>
                <a:latin typeface="Meiryo UI" panose="020B0604030504040204" pitchFamily="34" charset="-128"/>
                <a:ea typeface="Meiryo UI" panose="020B0604030504040204" pitchFamily="34" charset="-128"/>
              </a:rPr>
              <a:t>⑩</a:t>
            </a:r>
            <a:r>
              <a:rPr lang="ja-JP" altLang="en-US" sz="900" b="1" dirty="0">
                <a:solidFill>
                  <a:schemeClr val="bg1"/>
                </a:solidFill>
                <a:latin typeface="Meiryo UI" panose="020B0604030504040204" pitchFamily="34" charset="-128"/>
                <a:ea typeface="Meiryo UI" panose="020B0604030504040204" pitchFamily="34" charset="-128"/>
              </a:rPr>
              <a:t>メタデータ管理</a:t>
            </a:r>
          </a:p>
        </p:txBody>
      </p:sp>
      <p:sp>
        <p:nvSpPr>
          <p:cNvPr id="136" name="正方形/長方形 42">
            <a:extLst>
              <a:ext uri="{FF2B5EF4-FFF2-40B4-BE49-F238E27FC236}">
                <a16:creationId xmlns:a16="http://schemas.microsoft.com/office/drawing/2014/main" id="{F64CC706-F413-4B2F-8278-CE3F5C1EB9FF}"/>
              </a:ext>
            </a:extLst>
          </p:cNvPr>
          <p:cNvSpPr/>
          <p:nvPr/>
        </p:nvSpPr>
        <p:spPr bwMode="gray">
          <a:xfrm>
            <a:off x="2202152" y="6056022"/>
            <a:ext cx="1625283" cy="228956"/>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r>
              <a:rPr lang="en-US" altLang="ja-JP" sz="900" b="1">
                <a:solidFill>
                  <a:schemeClr val="bg1"/>
                </a:solidFill>
                <a:latin typeface="Meiryo UI" panose="020B0604030504040204" pitchFamily="34" charset="-128"/>
                <a:ea typeface="Meiryo UI" panose="020B0604030504040204" pitchFamily="34" charset="-128"/>
              </a:rPr>
              <a:t>⑪</a:t>
            </a:r>
            <a:r>
              <a:rPr lang="ja-JP" altLang="en-US" sz="900" b="1" dirty="0">
                <a:solidFill>
                  <a:schemeClr val="bg1"/>
                </a:solidFill>
                <a:latin typeface="Meiryo UI" panose="020B0604030504040204" pitchFamily="34" charset="-128"/>
                <a:ea typeface="Meiryo UI" panose="020B0604030504040204" pitchFamily="34" charset="-128"/>
              </a:rPr>
              <a:t>データ品質</a:t>
            </a:r>
          </a:p>
        </p:txBody>
      </p:sp>
      <p:sp>
        <p:nvSpPr>
          <p:cNvPr id="137" name="正方形/長方形 35">
            <a:extLst>
              <a:ext uri="{FF2B5EF4-FFF2-40B4-BE49-F238E27FC236}">
                <a16:creationId xmlns:a16="http://schemas.microsoft.com/office/drawing/2014/main" id="{411E86FD-2602-4957-AB1E-89E327711154}"/>
              </a:ext>
            </a:extLst>
          </p:cNvPr>
          <p:cNvSpPr/>
          <p:nvPr/>
        </p:nvSpPr>
        <p:spPr bwMode="gray">
          <a:xfrm>
            <a:off x="3881756" y="1584425"/>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en-US" altLang="ja-JP" sz="900" dirty="0">
                <a:solidFill>
                  <a:sysClr val="windowText" lastClr="000000"/>
                </a:solidFill>
                <a:latin typeface="Meiryo UI" panose="020B0604030504040204" pitchFamily="34" charset="-128"/>
                <a:ea typeface="Meiryo UI" panose="020B0604030504040204" pitchFamily="34" charset="-128"/>
              </a:rPr>
              <a:t>DM</a:t>
            </a:r>
            <a:r>
              <a:rPr lang="ja-JP" altLang="en-US" sz="900" dirty="0">
                <a:solidFill>
                  <a:sysClr val="windowText" lastClr="000000"/>
                </a:solidFill>
                <a:latin typeface="Meiryo UI" panose="020B0604030504040204" pitchFamily="34" charset="-128"/>
                <a:ea typeface="Meiryo UI" panose="020B0604030504040204" pitchFamily="34" charset="-128"/>
              </a:rPr>
              <a:t>の継続的な維持・改善を実現するうえで必要な全社的な組織・プロセスを実装し、長期的にその自動化を目指す。</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38" name="正方形/長方形 35">
            <a:extLst>
              <a:ext uri="{FF2B5EF4-FFF2-40B4-BE49-F238E27FC236}">
                <a16:creationId xmlns:a16="http://schemas.microsoft.com/office/drawing/2014/main" id="{DFD98F36-CAAD-40DD-9655-3279DCC03C8B}"/>
              </a:ext>
            </a:extLst>
          </p:cNvPr>
          <p:cNvSpPr/>
          <p:nvPr/>
        </p:nvSpPr>
        <p:spPr bwMode="gray">
          <a:xfrm>
            <a:off x="3881756" y="6056378"/>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各拠点・プロセスで生成されるデータが上記各項目で定める目標に達しているかを判定するための指標を設計し実装する。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39" name="正方形/長方形 35">
            <a:extLst>
              <a:ext uri="{FF2B5EF4-FFF2-40B4-BE49-F238E27FC236}">
                <a16:creationId xmlns:a16="http://schemas.microsoft.com/office/drawing/2014/main" id="{13B559D9-86F2-4755-9480-9C7AEDE403DF}"/>
              </a:ext>
            </a:extLst>
          </p:cNvPr>
          <p:cNvSpPr/>
          <p:nvPr/>
        </p:nvSpPr>
        <p:spPr bwMode="gray">
          <a:xfrm>
            <a:off x="3881756" y="5765906"/>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拠点・プロセスを跨ぐ業務用語の共通理解を図り、メタデータ標準やメタデータアーキテクチャを作成する。</a:t>
            </a:r>
          </a:p>
        </p:txBody>
      </p:sp>
      <p:sp>
        <p:nvSpPr>
          <p:cNvPr id="140" name="正方形/長方形 35">
            <a:extLst>
              <a:ext uri="{FF2B5EF4-FFF2-40B4-BE49-F238E27FC236}">
                <a16:creationId xmlns:a16="http://schemas.microsoft.com/office/drawing/2014/main" id="{7B1E2B57-8F77-46E0-9E16-EB8464BBCB29}"/>
              </a:ext>
            </a:extLst>
          </p:cNvPr>
          <p:cNvSpPr/>
          <p:nvPr/>
        </p:nvSpPr>
        <p:spPr bwMode="gray">
          <a:xfrm>
            <a:off x="3881756" y="5475436"/>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将来的な過去データ活用や</a:t>
            </a:r>
            <a:r>
              <a:rPr lang="en-US" altLang="ja-JP" sz="900" dirty="0">
                <a:solidFill>
                  <a:sysClr val="windowText" lastClr="000000"/>
                </a:solidFill>
                <a:latin typeface="Meiryo UI" panose="020B0604030504040204" pitchFamily="34" charset="-128"/>
                <a:ea typeface="Meiryo UI" panose="020B0604030504040204" pitchFamily="34" charset="-128"/>
              </a:rPr>
              <a:t>AI</a:t>
            </a:r>
            <a:r>
              <a:rPr lang="ja-JP" altLang="en-US" sz="900" dirty="0">
                <a:solidFill>
                  <a:sysClr val="windowText" lastClr="000000"/>
                </a:solidFill>
                <a:latin typeface="Meiryo UI" panose="020B0604030504040204" pitchFamily="34" charset="-128"/>
                <a:ea typeface="Meiryo UI" panose="020B0604030504040204" pitchFamily="34" charset="-128"/>
              </a:rPr>
              <a:t>等の</a:t>
            </a:r>
            <a:r>
              <a:rPr lang="en-US" altLang="ja-JP" sz="900" dirty="0">
                <a:solidFill>
                  <a:sysClr val="windowText" lastClr="000000"/>
                </a:solidFill>
                <a:latin typeface="Meiryo UI" panose="020B0604030504040204" pitchFamily="34" charset="-128"/>
                <a:ea typeface="Meiryo UI" panose="020B0604030504040204" pitchFamily="34" charset="-128"/>
              </a:rPr>
              <a:t>DX</a:t>
            </a:r>
            <a:r>
              <a:rPr lang="ja-JP" altLang="en-US" sz="900" dirty="0">
                <a:solidFill>
                  <a:sysClr val="windowText" lastClr="000000"/>
                </a:solidFill>
                <a:latin typeface="Meiryo UI" panose="020B0604030504040204" pitchFamily="34" charset="-128"/>
                <a:ea typeface="Meiryo UI" panose="020B0604030504040204" pitchFamily="34" charset="-128"/>
              </a:rPr>
              <a:t>化推進に向けたあるべき</a:t>
            </a: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dirty="0">
                <a:solidFill>
                  <a:sysClr val="windowText" lastClr="000000"/>
                </a:solidFill>
                <a:latin typeface="Meiryo UI" panose="020B0604030504040204" pitchFamily="34" charset="-128"/>
                <a:ea typeface="Meiryo UI" panose="020B0604030504040204" pitchFamily="34" charset="-128"/>
              </a:rPr>
              <a:t>のアーキテクチャーを検討する。</a:t>
            </a:r>
          </a:p>
        </p:txBody>
      </p:sp>
      <p:sp>
        <p:nvSpPr>
          <p:cNvPr id="141" name="正方形/長方形 35">
            <a:extLst>
              <a:ext uri="{FF2B5EF4-FFF2-40B4-BE49-F238E27FC236}">
                <a16:creationId xmlns:a16="http://schemas.microsoft.com/office/drawing/2014/main" id="{DE127CA7-496C-43C7-AB5E-00BFBF23C979}"/>
              </a:ext>
            </a:extLst>
          </p:cNvPr>
          <p:cNvSpPr/>
          <p:nvPr/>
        </p:nvSpPr>
        <p:spPr bwMode="gray">
          <a:xfrm>
            <a:off x="3881756" y="5184966"/>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業務</a:t>
            </a:r>
            <a:r>
              <a:rPr lang="en-US" altLang="ja-JP" sz="900" dirty="0">
                <a:solidFill>
                  <a:sysClr val="windowText" lastClr="000000"/>
                </a:solidFill>
                <a:latin typeface="Meiryo UI" panose="020B0604030504040204" pitchFamily="34" charset="-128"/>
                <a:ea typeface="Meiryo UI" panose="020B0604030504040204" pitchFamily="34" charset="-128"/>
              </a:rPr>
              <a:t>WG</a:t>
            </a:r>
            <a:r>
              <a:rPr lang="ja-JP" altLang="en-US" sz="900" dirty="0">
                <a:solidFill>
                  <a:sysClr val="windowText" lastClr="000000"/>
                </a:solidFill>
                <a:latin typeface="Meiryo UI" panose="020B0604030504040204" pitchFamily="34" charset="-128"/>
                <a:ea typeface="Meiryo UI" panose="020B0604030504040204" pitchFamily="34" charset="-128"/>
              </a:rPr>
              <a:t>でプロセス単位で先行して着手しているマスターデータと参照データの要件の取り纏めと共通化を計る。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42" name="正方形/長方形 35">
            <a:extLst>
              <a:ext uri="{FF2B5EF4-FFF2-40B4-BE49-F238E27FC236}">
                <a16:creationId xmlns:a16="http://schemas.microsoft.com/office/drawing/2014/main" id="{00E37AEF-EAD2-4B9C-BB6A-97E390D3AF96}"/>
              </a:ext>
            </a:extLst>
          </p:cNvPr>
          <p:cNvSpPr/>
          <p:nvPr/>
        </p:nvSpPr>
        <p:spPr bwMode="gray">
          <a:xfrm>
            <a:off x="3881756" y="4665896"/>
            <a:ext cx="5795644" cy="4572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コンテンツとレコードの管理に関するポリシーや手順を作成する。</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コンテンツリポジトリを作成する。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43" name="正方形/長方形 35">
            <a:extLst>
              <a:ext uri="{FF2B5EF4-FFF2-40B4-BE49-F238E27FC236}">
                <a16:creationId xmlns:a16="http://schemas.microsoft.com/office/drawing/2014/main" id="{5DF675CC-F05E-49D4-BEC0-85A0EC0A6404}"/>
              </a:ext>
            </a:extLst>
          </p:cNvPr>
          <p:cNvSpPr/>
          <p:nvPr/>
        </p:nvSpPr>
        <p:spPr bwMode="gray">
          <a:xfrm>
            <a:off x="3881756" y="4375426"/>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アプリケーションや組織内及び相互間におけるデータの移動と統合を管理するデータ交換仕様の取り纏める。</a:t>
            </a:r>
          </a:p>
        </p:txBody>
      </p:sp>
      <p:sp>
        <p:nvSpPr>
          <p:cNvPr id="144" name="正方形/長方形 35">
            <a:extLst>
              <a:ext uri="{FF2B5EF4-FFF2-40B4-BE49-F238E27FC236}">
                <a16:creationId xmlns:a16="http://schemas.microsoft.com/office/drawing/2014/main" id="{E8F3E70F-7340-4003-90B8-5869609F1FB8}"/>
              </a:ext>
            </a:extLst>
          </p:cNvPr>
          <p:cNvSpPr/>
          <p:nvPr/>
        </p:nvSpPr>
        <p:spPr bwMode="gray">
          <a:xfrm>
            <a:off x="3881756" y="4084956"/>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業務上喫緊の課題は検知されていないため、統合後の</a:t>
            </a:r>
            <a:r>
              <a:rPr lang="en-US" altLang="ja-JP" sz="900" dirty="0">
                <a:solidFill>
                  <a:sysClr val="windowText" lastClr="000000"/>
                </a:solidFill>
                <a:latin typeface="Meiryo UI" panose="020B0604030504040204" pitchFamily="34" charset="-128"/>
                <a:ea typeface="Meiryo UI" panose="020B0604030504040204" pitchFamily="34" charset="-128"/>
              </a:rPr>
              <a:t>MHI</a:t>
            </a:r>
            <a:r>
              <a:rPr lang="ja-JP" altLang="en-US" sz="900" dirty="0">
                <a:solidFill>
                  <a:sysClr val="windowText" lastClr="000000"/>
                </a:solidFill>
                <a:latin typeface="Meiryo UI" panose="020B0604030504040204" pitchFamily="34" charset="-128"/>
                <a:ea typeface="Meiryo UI" panose="020B0604030504040204" pitchFamily="34" charset="-128"/>
              </a:rPr>
              <a:t>との整合性担保を中心に適宜検討する。</a:t>
            </a:r>
          </a:p>
        </p:txBody>
      </p:sp>
      <p:sp>
        <p:nvSpPr>
          <p:cNvPr id="145" name="正方形/長方形 35">
            <a:extLst>
              <a:ext uri="{FF2B5EF4-FFF2-40B4-BE49-F238E27FC236}">
                <a16:creationId xmlns:a16="http://schemas.microsoft.com/office/drawing/2014/main" id="{CDEECF57-802A-429A-AD94-34209C00133B}"/>
              </a:ext>
            </a:extLst>
          </p:cNvPr>
          <p:cNvSpPr/>
          <p:nvPr/>
        </p:nvSpPr>
        <p:spPr bwMode="gray">
          <a:xfrm>
            <a:off x="3881756" y="3794486"/>
            <a:ext cx="5795644" cy="228600"/>
          </a:xfrm>
          <a:prstGeom prst="rect">
            <a:avLst/>
          </a:prstGeom>
          <a:solidFill>
            <a:schemeClr val="bg1"/>
          </a:solidFill>
          <a:ln w="9525" algn="ctr">
            <a:solidFill>
              <a:schemeClr val="bg1">
                <a:lumMod val="75000"/>
              </a:schemeClr>
            </a:solidFill>
            <a:prstDash val="sysDash"/>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chemeClr val="bg1">
                    <a:lumMod val="75000"/>
                  </a:schemeClr>
                </a:solidFill>
                <a:latin typeface="Meiryo UI" panose="020B0604030504040204" pitchFamily="34" charset="-128"/>
                <a:ea typeface="Meiryo UI" panose="020B0604030504040204" pitchFamily="34" charset="-128"/>
              </a:rPr>
              <a:t>業務上喫緊の課題は検知されていないため、当面の活動ではスコープ外とする。</a:t>
            </a:r>
          </a:p>
        </p:txBody>
      </p:sp>
      <p:sp>
        <p:nvSpPr>
          <p:cNvPr id="146" name="正方形/長方形 35">
            <a:extLst>
              <a:ext uri="{FF2B5EF4-FFF2-40B4-BE49-F238E27FC236}">
                <a16:creationId xmlns:a16="http://schemas.microsoft.com/office/drawing/2014/main" id="{C63F5A22-358A-4498-AE41-616CD166CD67}"/>
              </a:ext>
            </a:extLst>
          </p:cNvPr>
          <p:cNvSpPr/>
          <p:nvPr/>
        </p:nvSpPr>
        <p:spPr bwMode="gray">
          <a:xfrm>
            <a:off x="3881756" y="3504016"/>
            <a:ext cx="5795644" cy="228600"/>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ctr"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データの要件を集約・分析し、取り扱いスコープを決めてデータモデルを取り纏める。</a:t>
            </a:r>
          </a:p>
        </p:txBody>
      </p:sp>
      <p:sp>
        <p:nvSpPr>
          <p:cNvPr id="127" name="正方形/長方形 33">
            <a:extLst>
              <a:ext uri="{FF2B5EF4-FFF2-40B4-BE49-F238E27FC236}">
                <a16:creationId xmlns:a16="http://schemas.microsoft.com/office/drawing/2014/main" id="{FF9D7C69-039A-4393-8F08-D8469A680B19}"/>
              </a:ext>
            </a:extLst>
          </p:cNvPr>
          <p:cNvSpPr/>
          <p:nvPr/>
        </p:nvSpPr>
        <p:spPr bwMode="gray">
          <a:xfrm>
            <a:off x="2202152" y="1879256"/>
            <a:ext cx="1625283" cy="1560942"/>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buFont typeface="Wingdings 2" pitchFamily="18" charset="2"/>
              <a:buNone/>
            </a:pPr>
            <a:r>
              <a:rPr lang="en-US" altLang="ja-JP" sz="900" b="1">
                <a:solidFill>
                  <a:schemeClr val="bg1"/>
                </a:solidFill>
                <a:latin typeface="Meiryo UI" panose="020B0604030504040204" pitchFamily="34" charset="-128"/>
                <a:ea typeface="Meiryo UI" panose="020B0604030504040204" pitchFamily="34" charset="-128"/>
              </a:rPr>
              <a:t>②</a:t>
            </a:r>
            <a:r>
              <a:rPr lang="ja-JP" altLang="en-US" sz="900" b="1">
                <a:solidFill>
                  <a:schemeClr val="bg1"/>
                </a:solidFill>
                <a:latin typeface="Meiryo UI" panose="020B0604030504040204" pitchFamily="34" charset="-128"/>
                <a:ea typeface="Meiryo UI" panose="020B0604030504040204" pitchFamily="34" charset="-128"/>
              </a:rPr>
              <a:t>データアーキテクチャ</a:t>
            </a:r>
            <a:endParaRPr lang="en-US" altLang="ja-JP" sz="900" b="1" dirty="0">
              <a:solidFill>
                <a:schemeClr val="bg1"/>
              </a:solidFill>
              <a:latin typeface="Meiryo UI" panose="020B0604030504040204" pitchFamily="34" charset="-128"/>
              <a:ea typeface="Meiryo UI" panose="020B0604030504040204" pitchFamily="34" charset="-128"/>
            </a:endParaRPr>
          </a:p>
        </p:txBody>
      </p:sp>
      <p:sp>
        <p:nvSpPr>
          <p:cNvPr id="147" name="正方形/長方形 35">
            <a:extLst>
              <a:ext uri="{FF2B5EF4-FFF2-40B4-BE49-F238E27FC236}">
                <a16:creationId xmlns:a16="http://schemas.microsoft.com/office/drawing/2014/main" id="{4EE071E1-837B-4C77-867A-EEA58FE2B50C}"/>
              </a:ext>
            </a:extLst>
          </p:cNvPr>
          <p:cNvSpPr/>
          <p:nvPr/>
        </p:nvSpPr>
        <p:spPr bwMode="gray">
          <a:xfrm>
            <a:off x="3881756" y="1874895"/>
            <a:ext cx="5795644" cy="156725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square" lIns="91440" tIns="27432" rIns="91440" bIns="29250" numCol="1" spcCol="0" rtlCol="0" fromWordArt="0" anchor="t" anchorCtr="0" forceAA="0" compatLnSpc="1">
            <a:prstTxWarp prst="textNoShape">
              <a:avLst/>
            </a:prstTxWarp>
            <a:noAutofit/>
          </a:bodyPr>
          <a:lstStyle/>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全社的なデータに対するニーズを明確にし、その実現に向けたブループリントを設計し維持する。</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marL="112713" indent="-112713">
              <a:buFont typeface="Arial" panose="020B0604020202020204" pitchFamily="34" charset="0"/>
              <a:buChar char="•"/>
            </a:pPr>
            <a:r>
              <a:rPr lang="ja-JP" altLang="en-US" sz="900" dirty="0">
                <a:solidFill>
                  <a:sysClr val="windowText" lastClr="000000"/>
                </a:solidFill>
                <a:latin typeface="Meiryo UI" panose="020B0604030504040204" pitchFamily="34" charset="-128"/>
                <a:ea typeface="Meiryo UI" panose="020B0604030504040204" pitchFamily="34" charset="-128"/>
              </a:rPr>
              <a:t>そのブループリントに基づきデータ統合を手引きしデータ資産をコントロールしビジネス戦略に合わせてデータへの投資を行う。</a:t>
            </a:r>
          </a:p>
        </p:txBody>
      </p:sp>
      <p:grpSp>
        <p:nvGrpSpPr>
          <p:cNvPr id="6" name="Group 5">
            <a:extLst>
              <a:ext uri="{FF2B5EF4-FFF2-40B4-BE49-F238E27FC236}">
                <a16:creationId xmlns:a16="http://schemas.microsoft.com/office/drawing/2014/main" id="{E47FC9DA-CF38-4346-8E41-40D58D78977C}"/>
              </a:ext>
            </a:extLst>
          </p:cNvPr>
          <p:cNvGrpSpPr/>
          <p:nvPr/>
        </p:nvGrpSpPr>
        <p:grpSpPr>
          <a:xfrm>
            <a:off x="4060117" y="2361150"/>
            <a:ext cx="1199367" cy="1060633"/>
            <a:chOff x="4074718" y="2349952"/>
            <a:chExt cx="1199367" cy="1060633"/>
          </a:xfrm>
        </p:grpSpPr>
        <p:sp>
          <p:nvSpPr>
            <p:cNvPr id="148" name="テキスト ボックス 29">
              <a:extLst>
                <a:ext uri="{FF2B5EF4-FFF2-40B4-BE49-F238E27FC236}">
                  <a16:creationId xmlns:a16="http://schemas.microsoft.com/office/drawing/2014/main" id="{D1BD5F9F-69D4-4164-B67B-CA61745CBE00}"/>
                </a:ext>
              </a:extLst>
            </p:cNvPr>
            <p:cNvSpPr txBox="1"/>
            <p:nvPr/>
          </p:nvSpPr>
          <p:spPr>
            <a:xfrm>
              <a:off x="4074718" y="3210530"/>
              <a:ext cx="1199367" cy="200055"/>
            </a:xfrm>
            <a:prstGeom prst="rect">
              <a:avLst/>
            </a:prstGeom>
            <a:noFill/>
            <a:ln>
              <a:noFill/>
            </a:ln>
          </p:spPr>
          <p:txBody>
            <a:bodyPr wrap="none" rtlCol="0">
              <a:spAutoFit/>
            </a:bodyPr>
            <a:lstStyle/>
            <a:p>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図</a:t>
              </a:r>
              <a:r>
                <a:rPr kumimoji="1" lang="en-US" altLang="ja-JP" sz="700" dirty="0">
                  <a:solidFill>
                    <a:schemeClr val="tx1">
                      <a:lumMod val="50000"/>
                      <a:lumOff val="50000"/>
                    </a:schemeClr>
                  </a:solidFill>
                  <a:latin typeface="Meiryo UI" panose="020B0604030504040204" pitchFamily="50" charset="-128"/>
                  <a:ea typeface="Meiryo UI" panose="020B0604030504040204" pitchFamily="50" charset="-128"/>
                </a:rPr>
                <a:t>24</a:t>
              </a:r>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　対象領域モデル図例</a:t>
              </a:r>
            </a:p>
          </p:txBody>
        </p:sp>
        <p:pic>
          <p:nvPicPr>
            <p:cNvPr id="153" name="図 4" descr="ダイアグラム&#10;&#10;自動的に生成された説明">
              <a:extLst>
                <a:ext uri="{FF2B5EF4-FFF2-40B4-BE49-F238E27FC236}">
                  <a16:creationId xmlns:a16="http://schemas.microsoft.com/office/drawing/2014/main" id="{02CE41FC-5A7F-443F-9281-FD76F68BBB4C}"/>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203730" y="2349952"/>
              <a:ext cx="941343" cy="852181"/>
            </a:xfrm>
            <a:prstGeom prst="rect">
              <a:avLst/>
            </a:prstGeom>
          </p:spPr>
        </p:pic>
      </p:grpSp>
      <p:grpSp>
        <p:nvGrpSpPr>
          <p:cNvPr id="4" name="Group 3">
            <a:extLst>
              <a:ext uri="{FF2B5EF4-FFF2-40B4-BE49-F238E27FC236}">
                <a16:creationId xmlns:a16="http://schemas.microsoft.com/office/drawing/2014/main" id="{9336C147-F7EC-4D58-B566-42F35EEF4717}"/>
              </a:ext>
            </a:extLst>
          </p:cNvPr>
          <p:cNvGrpSpPr/>
          <p:nvPr/>
        </p:nvGrpSpPr>
        <p:grpSpPr>
          <a:xfrm>
            <a:off x="6093024" y="2186572"/>
            <a:ext cx="1686867" cy="1223577"/>
            <a:chOff x="5843743" y="2175374"/>
            <a:chExt cx="1686867" cy="1223577"/>
          </a:xfrm>
        </p:grpSpPr>
        <p:sp>
          <p:nvSpPr>
            <p:cNvPr id="149" name="テキスト ボックス 30">
              <a:extLst>
                <a:ext uri="{FF2B5EF4-FFF2-40B4-BE49-F238E27FC236}">
                  <a16:creationId xmlns:a16="http://schemas.microsoft.com/office/drawing/2014/main" id="{CAE3BC31-0175-498B-A6B8-706C87B39587}"/>
                </a:ext>
              </a:extLst>
            </p:cNvPr>
            <p:cNvSpPr txBox="1"/>
            <p:nvPr/>
          </p:nvSpPr>
          <p:spPr>
            <a:xfrm>
              <a:off x="6055526" y="3198896"/>
              <a:ext cx="1475084" cy="200055"/>
            </a:xfrm>
            <a:prstGeom prst="rect">
              <a:avLst/>
            </a:prstGeom>
            <a:noFill/>
            <a:ln>
              <a:noFill/>
            </a:ln>
          </p:spPr>
          <p:txBody>
            <a:bodyPr wrap="none" rtlCol="0">
              <a:spAutoFit/>
            </a:bodyPr>
            <a:lstStyle/>
            <a:p>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図</a:t>
              </a:r>
              <a:r>
                <a:rPr kumimoji="1" lang="en-US" altLang="ja-JP" sz="700" dirty="0">
                  <a:solidFill>
                    <a:schemeClr val="tx1">
                      <a:lumMod val="50000"/>
                      <a:lumOff val="50000"/>
                    </a:schemeClr>
                  </a:solidFill>
                  <a:latin typeface="Meiryo UI" panose="020B0604030504040204" pitchFamily="50" charset="-128"/>
                  <a:ea typeface="Meiryo UI" panose="020B0604030504040204" pitchFamily="50" charset="-128"/>
                </a:rPr>
                <a:t>24</a:t>
              </a:r>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　マトリックス表現のデータフロー</a:t>
              </a:r>
            </a:p>
          </p:txBody>
        </p:sp>
        <p:sp>
          <p:nvSpPr>
            <p:cNvPr id="150" name="テキスト ボックス 31">
              <a:extLst>
                <a:ext uri="{FF2B5EF4-FFF2-40B4-BE49-F238E27FC236}">
                  <a16:creationId xmlns:a16="http://schemas.microsoft.com/office/drawing/2014/main" id="{C479E2C9-4BA7-4B16-82D2-FEED61EBF562}"/>
                </a:ext>
              </a:extLst>
            </p:cNvPr>
            <p:cNvSpPr txBox="1"/>
            <p:nvPr/>
          </p:nvSpPr>
          <p:spPr>
            <a:xfrm>
              <a:off x="6124354" y="2175374"/>
              <a:ext cx="1337429" cy="307777"/>
            </a:xfrm>
            <a:prstGeom prst="rect">
              <a:avLst/>
            </a:prstGeom>
            <a:noFill/>
            <a:ln>
              <a:noFill/>
            </a:ln>
          </p:spPr>
          <p:txBody>
            <a:bodyPr wrap="none" rtlCol="0">
              <a:noAutofit/>
            </a:bodyPr>
            <a:lstStyle/>
            <a:p>
              <a:pPr algn="ctr"/>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業務プロセス（●作成、○読込</a:t>
              </a:r>
              <a:r>
                <a:rPr kumimoji="1" lang="en-US" altLang="ja-JP" sz="700" dirty="0">
                  <a:solidFill>
                    <a:schemeClr val="tx1">
                      <a:lumMod val="50000"/>
                      <a:lumOff val="50000"/>
                    </a:schemeClr>
                  </a:solidFill>
                  <a:latin typeface="Meiryo UI" panose="020B0604030504040204" pitchFamily="50" charset="-128"/>
                  <a:ea typeface="Meiryo UI" panose="020B0604030504040204" pitchFamily="50" charset="-128"/>
                </a:rPr>
                <a:t>/</a:t>
              </a:r>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利用）</a:t>
              </a:r>
            </a:p>
          </p:txBody>
        </p:sp>
        <p:sp>
          <p:nvSpPr>
            <p:cNvPr id="151" name="テキスト ボックス 32">
              <a:extLst>
                <a:ext uri="{FF2B5EF4-FFF2-40B4-BE49-F238E27FC236}">
                  <a16:creationId xmlns:a16="http://schemas.microsoft.com/office/drawing/2014/main" id="{465115F2-50BF-4F08-B3D1-2A916EFC1ABE}"/>
                </a:ext>
              </a:extLst>
            </p:cNvPr>
            <p:cNvSpPr txBox="1"/>
            <p:nvPr/>
          </p:nvSpPr>
          <p:spPr>
            <a:xfrm>
              <a:off x="5843743" y="2389589"/>
              <a:ext cx="292388" cy="810478"/>
            </a:xfrm>
            <a:prstGeom prst="rect">
              <a:avLst/>
            </a:prstGeom>
            <a:noFill/>
            <a:ln>
              <a:noFill/>
            </a:ln>
          </p:spPr>
          <p:txBody>
            <a:bodyPr vert="eaVert" wrap="none" rtlCol="0">
              <a:noAutofit/>
            </a:bodyPr>
            <a:lstStyle>
              <a:defPPr>
                <a:defRPr lang="ja-JP"/>
              </a:defPPr>
              <a:lvl1pPr algn="ctr">
                <a:defRPr sz="700">
                  <a:solidFill>
                    <a:schemeClr val="tx1">
                      <a:lumMod val="50000"/>
                      <a:lumOff val="50000"/>
                    </a:schemeClr>
                  </a:solidFill>
                  <a:latin typeface="Meiryo UI" panose="020B0604030504040204" pitchFamily="50" charset="-128"/>
                  <a:ea typeface="Meiryo UI" panose="020B0604030504040204" pitchFamily="50" charset="-128"/>
                </a:defRPr>
              </a:lvl1pPr>
            </a:lstStyle>
            <a:p>
              <a:r>
                <a:rPr lang="ja-JP" altLang="en-US" dirty="0"/>
                <a:t>主要エンティティ</a:t>
              </a:r>
            </a:p>
          </p:txBody>
        </p:sp>
        <p:pic>
          <p:nvPicPr>
            <p:cNvPr id="154" name="図 6" descr="グラフ&#10;&#10;中程度の精度で自動的に生成された説明">
              <a:extLst>
                <a:ext uri="{FF2B5EF4-FFF2-40B4-BE49-F238E27FC236}">
                  <a16:creationId xmlns:a16="http://schemas.microsoft.com/office/drawing/2014/main" id="{DCB70FC7-373F-48AD-B66B-D28AA6346B1C}"/>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6124354" y="2346295"/>
              <a:ext cx="1337429" cy="854982"/>
            </a:xfrm>
            <a:prstGeom prst="rect">
              <a:avLst/>
            </a:prstGeom>
          </p:spPr>
        </p:pic>
      </p:grpSp>
      <p:grpSp>
        <p:nvGrpSpPr>
          <p:cNvPr id="5" name="Group 4">
            <a:extLst>
              <a:ext uri="{FF2B5EF4-FFF2-40B4-BE49-F238E27FC236}">
                <a16:creationId xmlns:a16="http://schemas.microsoft.com/office/drawing/2014/main" id="{10A435F5-5625-46A6-A0F9-015743F355BC}"/>
              </a:ext>
            </a:extLst>
          </p:cNvPr>
          <p:cNvGrpSpPr/>
          <p:nvPr/>
        </p:nvGrpSpPr>
        <p:grpSpPr>
          <a:xfrm>
            <a:off x="8613431" y="2264833"/>
            <a:ext cx="944489" cy="1156950"/>
            <a:chOff x="8270711" y="2253635"/>
            <a:chExt cx="944489" cy="1156950"/>
          </a:xfrm>
        </p:grpSpPr>
        <p:sp>
          <p:nvSpPr>
            <p:cNvPr id="152" name="テキスト ボックス 33">
              <a:extLst>
                <a:ext uri="{FF2B5EF4-FFF2-40B4-BE49-F238E27FC236}">
                  <a16:creationId xmlns:a16="http://schemas.microsoft.com/office/drawing/2014/main" id="{5EAE1277-67AB-4C92-8301-9C545C7433E7}"/>
                </a:ext>
              </a:extLst>
            </p:cNvPr>
            <p:cNvSpPr txBox="1"/>
            <p:nvPr/>
          </p:nvSpPr>
          <p:spPr>
            <a:xfrm>
              <a:off x="8270711" y="3210530"/>
              <a:ext cx="944489" cy="200055"/>
            </a:xfrm>
            <a:prstGeom prst="rect">
              <a:avLst/>
            </a:prstGeom>
            <a:noFill/>
            <a:ln>
              <a:noFill/>
            </a:ln>
          </p:spPr>
          <p:txBody>
            <a:bodyPr wrap="none" rtlCol="0">
              <a:spAutoFit/>
            </a:bodyPr>
            <a:lstStyle/>
            <a:p>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図</a:t>
              </a:r>
              <a:r>
                <a:rPr kumimoji="1" lang="en-US" altLang="ja-JP" sz="700" dirty="0">
                  <a:solidFill>
                    <a:schemeClr val="tx1">
                      <a:lumMod val="50000"/>
                      <a:lumOff val="50000"/>
                    </a:schemeClr>
                  </a:solidFill>
                  <a:latin typeface="Meiryo UI" panose="020B0604030504040204" pitchFamily="50" charset="-128"/>
                  <a:ea typeface="Meiryo UI" panose="020B0604030504040204" pitchFamily="50" charset="-128"/>
                </a:rPr>
                <a:t>26</a:t>
              </a:r>
              <a:r>
                <a:rPr kumimoji="1" lang="ja-JP" altLang="en-US" sz="700" dirty="0">
                  <a:solidFill>
                    <a:schemeClr val="tx1">
                      <a:lumMod val="50000"/>
                      <a:lumOff val="50000"/>
                    </a:schemeClr>
                  </a:solidFill>
                  <a:latin typeface="Meiryo UI" panose="020B0604030504040204" pitchFamily="50" charset="-128"/>
                  <a:ea typeface="Meiryo UI" panose="020B0604030504040204" pitchFamily="50" charset="-128"/>
                </a:rPr>
                <a:t>　データフロー図</a:t>
              </a:r>
            </a:p>
          </p:txBody>
        </p:sp>
        <p:pic>
          <p:nvPicPr>
            <p:cNvPr id="155" name="図 8" descr="ダイアグラム&#10;&#10;自動的に生成された説明">
              <a:extLst>
                <a:ext uri="{FF2B5EF4-FFF2-40B4-BE49-F238E27FC236}">
                  <a16:creationId xmlns:a16="http://schemas.microsoft.com/office/drawing/2014/main" id="{A4BAD78A-73DD-4D19-A051-9DDABA0F48DA}"/>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8278571" y="2253635"/>
              <a:ext cx="928769" cy="925911"/>
            </a:xfrm>
            <a:prstGeom prst="rect">
              <a:avLst/>
            </a:prstGeom>
          </p:spPr>
        </p:pic>
      </p:grpSp>
      <p:sp>
        <p:nvSpPr>
          <p:cNvPr id="156" name="正方形/長方形 33">
            <a:extLst>
              <a:ext uri="{FF2B5EF4-FFF2-40B4-BE49-F238E27FC236}">
                <a16:creationId xmlns:a16="http://schemas.microsoft.com/office/drawing/2014/main" id="{8C8ECF74-98D8-47C6-ADD3-FAC25B7BB034}"/>
              </a:ext>
            </a:extLst>
          </p:cNvPr>
          <p:cNvSpPr/>
          <p:nvPr/>
        </p:nvSpPr>
        <p:spPr bwMode="gray">
          <a:xfrm>
            <a:off x="2780501" y="6438331"/>
            <a:ext cx="796455" cy="191069"/>
          </a:xfrm>
          <a:prstGeom prst="rect">
            <a:avLst/>
          </a:prstGeom>
          <a:solidFill>
            <a:schemeClr val="tx2">
              <a:lumMod val="5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b="1" dirty="0">
                <a:solidFill>
                  <a:schemeClr val="bg1"/>
                </a:solidFill>
                <a:latin typeface="Meiryo UI" panose="020B0604030504040204" pitchFamily="34" charset="-128"/>
                <a:ea typeface="Meiryo UI" panose="020B0604030504040204" pitchFamily="34" charset="-128"/>
              </a:rPr>
              <a:t>短期施策</a:t>
            </a:r>
            <a:endParaRPr lang="en-US" altLang="ja-JP" sz="900" b="1" dirty="0">
              <a:solidFill>
                <a:schemeClr val="bg1"/>
              </a:solidFill>
              <a:latin typeface="Meiryo UI" panose="020B0604030504040204" pitchFamily="34" charset="-128"/>
              <a:ea typeface="Meiryo UI" panose="020B0604030504040204" pitchFamily="34" charset="-128"/>
            </a:endParaRPr>
          </a:p>
        </p:txBody>
      </p:sp>
      <p:sp>
        <p:nvSpPr>
          <p:cNvPr id="157" name="正方形/長方形 33">
            <a:extLst>
              <a:ext uri="{FF2B5EF4-FFF2-40B4-BE49-F238E27FC236}">
                <a16:creationId xmlns:a16="http://schemas.microsoft.com/office/drawing/2014/main" id="{98B8FFF5-C8C7-4F4B-AE5D-C039CDBB8598}"/>
              </a:ext>
            </a:extLst>
          </p:cNvPr>
          <p:cNvSpPr/>
          <p:nvPr/>
        </p:nvSpPr>
        <p:spPr bwMode="gray">
          <a:xfrm>
            <a:off x="3663650" y="6438331"/>
            <a:ext cx="796455" cy="191069"/>
          </a:xfrm>
          <a:prstGeom prst="rect">
            <a:avLst/>
          </a:prstGeom>
          <a:solidFill>
            <a:schemeClr val="tx2">
              <a:lumMod val="40000"/>
              <a:lumOff val="60000"/>
            </a:schemeClr>
          </a:solidFill>
          <a:ln w="9525" algn="ctr">
            <a:solidFill>
              <a:schemeClr val="tx2">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b="1" dirty="0">
                <a:solidFill>
                  <a:sysClr val="windowText" lastClr="000000"/>
                </a:solidFill>
                <a:latin typeface="Meiryo UI" panose="020B0604030504040204" pitchFamily="34" charset="-128"/>
                <a:ea typeface="Meiryo UI" panose="020B0604030504040204" pitchFamily="34" charset="-128"/>
              </a:rPr>
              <a:t>中期施策</a:t>
            </a:r>
            <a:endParaRPr lang="en-US" altLang="ja-JP" sz="900" b="1" dirty="0">
              <a:solidFill>
                <a:sysClr val="windowText" lastClr="000000"/>
              </a:solidFill>
              <a:latin typeface="Meiryo UI" panose="020B0604030504040204" pitchFamily="34" charset="-128"/>
              <a:ea typeface="Meiryo UI" panose="020B0604030504040204" pitchFamily="34" charset="-128"/>
            </a:endParaRPr>
          </a:p>
        </p:txBody>
      </p:sp>
      <p:sp>
        <p:nvSpPr>
          <p:cNvPr id="158" name="正方形/長方形 33">
            <a:extLst>
              <a:ext uri="{FF2B5EF4-FFF2-40B4-BE49-F238E27FC236}">
                <a16:creationId xmlns:a16="http://schemas.microsoft.com/office/drawing/2014/main" id="{E9E3EAFB-83E0-4559-9E3E-B586D3B33AA3}"/>
              </a:ext>
            </a:extLst>
          </p:cNvPr>
          <p:cNvSpPr/>
          <p:nvPr/>
        </p:nvSpPr>
        <p:spPr bwMode="gray">
          <a:xfrm>
            <a:off x="4546799" y="6438331"/>
            <a:ext cx="796455" cy="191069"/>
          </a:xfrm>
          <a:prstGeom prst="rect">
            <a:avLst/>
          </a:prstGeom>
          <a:solidFill>
            <a:schemeClr val="bg1"/>
          </a:solidFill>
          <a:ln w="9525" algn="ctr">
            <a:solidFill>
              <a:schemeClr val="bg1">
                <a:lumMod val="75000"/>
              </a:schemeClr>
            </a:solidFill>
            <a:prstDash val="sysDash"/>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lumMod val="75000"/>
                  </a:schemeClr>
                </a:solidFill>
                <a:latin typeface="Meiryo UI" panose="020B0604030504040204" pitchFamily="34" charset="-128"/>
                <a:ea typeface="Meiryo UI" panose="020B0604030504040204" pitchFamily="34" charset="-128"/>
              </a:rPr>
              <a:t>長期施策</a:t>
            </a:r>
          </a:p>
        </p:txBody>
      </p:sp>
      <p:sp>
        <p:nvSpPr>
          <p:cNvPr id="159" name="正方形/長方形 33">
            <a:extLst>
              <a:ext uri="{FF2B5EF4-FFF2-40B4-BE49-F238E27FC236}">
                <a16:creationId xmlns:a16="http://schemas.microsoft.com/office/drawing/2014/main" id="{F47C4A5A-140A-419C-9026-C6A855BDF77D}"/>
              </a:ext>
            </a:extLst>
          </p:cNvPr>
          <p:cNvSpPr/>
          <p:nvPr/>
        </p:nvSpPr>
        <p:spPr bwMode="gray">
          <a:xfrm>
            <a:off x="2202152" y="6438331"/>
            <a:ext cx="491655" cy="191069"/>
          </a:xfrm>
          <a:prstGeom prst="rect">
            <a:avLst/>
          </a:prstGeom>
          <a:noFill/>
          <a:ln w="9525" algn="ctr">
            <a:noFill/>
            <a:prstDash val="sysDash"/>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b="1" u="sng" dirty="0">
                <a:solidFill>
                  <a:schemeClr val="bg1"/>
                </a:solidFill>
                <a:latin typeface="Meiryo UI" panose="020B0604030504040204" pitchFamily="34" charset="-128"/>
                <a:ea typeface="Meiryo UI" panose="020B0604030504040204" pitchFamily="34" charset="-128"/>
              </a:rPr>
              <a:t>凡例</a:t>
            </a:r>
            <a:endParaRPr lang="en-US" altLang="ja-JP" sz="900" b="1" u="sng" dirty="0">
              <a:solidFill>
                <a:schemeClr val="bg1"/>
              </a:solidFill>
              <a:latin typeface="Meiryo UI" panose="020B0604030504040204" pitchFamily="34" charset="-128"/>
              <a:ea typeface="Meiryo UI" panose="020B0604030504040204" pitchFamily="34" charset="-128"/>
            </a:endParaRPr>
          </a:p>
        </p:txBody>
      </p:sp>
      <p:sp>
        <p:nvSpPr>
          <p:cNvPr id="160" name="円/楕円 40">
            <a:extLst>
              <a:ext uri="{FF2B5EF4-FFF2-40B4-BE49-F238E27FC236}">
                <a16:creationId xmlns:a16="http://schemas.microsoft.com/office/drawing/2014/main" id="{ABB3DBCD-6712-49B8-86D5-B98A260A3F29}"/>
              </a:ext>
            </a:extLst>
          </p:cNvPr>
          <p:cNvSpPr/>
          <p:nvPr/>
        </p:nvSpPr>
        <p:spPr bwMode="gray">
          <a:xfrm>
            <a:off x="3635140" y="1612487"/>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e</a:t>
            </a:r>
          </a:p>
        </p:txBody>
      </p:sp>
      <p:sp>
        <p:nvSpPr>
          <p:cNvPr id="161" name="円/楕円 40">
            <a:extLst>
              <a:ext uri="{FF2B5EF4-FFF2-40B4-BE49-F238E27FC236}">
                <a16:creationId xmlns:a16="http://schemas.microsoft.com/office/drawing/2014/main" id="{284711CC-169F-4429-AF0D-4E13ECF7A162}"/>
              </a:ext>
            </a:extLst>
          </p:cNvPr>
          <p:cNvSpPr/>
          <p:nvPr/>
        </p:nvSpPr>
        <p:spPr bwMode="gray">
          <a:xfrm>
            <a:off x="3635140" y="1908090"/>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e</a:t>
            </a:r>
          </a:p>
        </p:txBody>
      </p:sp>
      <p:sp>
        <p:nvSpPr>
          <p:cNvPr id="163" name="円/楕円 40">
            <a:extLst>
              <a:ext uri="{FF2B5EF4-FFF2-40B4-BE49-F238E27FC236}">
                <a16:creationId xmlns:a16="http://schemas.microsoft.com/office/drawing/2014/main" id="{6A7410F6-BB00-48F7-9E36-0A2EDA381E68}"/>
              </a:ext>
            </a:extLst>
          </p:cNvPr>
          <p:cNvSpPr/>
          <p:nvPr/>
        </p:nvSpPr>
        <p:spPr bwMode="gray">
          <a:xfrm>
            <a:off x="3463744" y="1908090"/>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d</a:t>
            </a:r>
          </a:p>
        </p:txBody>
      </p:sp>
      <p:sp>
        <p:nvSpPr>
          <p:cNvPr id="164" name="円/楕円 40">
            <a:extLst>
              <a:ext uri="{FF2B5EF4-FFF2-40B4-BE49-F238E27FC236}">
                <a16:creationId xmlns:a16="http://schemas.microsoft.com/office/drawing/2014/main" id="{801DA146-7485-41E0-B974-94B281DF0464}"/>
              </a:ext>
            </a:extLst>
          </p:cNvPr>
          <p:cNvSpPr/>
          <p:nvPr/>
        </p:nvSpPr>
        <p:spPr bwMode="gray">
          <a:xfrm>
            <a:off x="3292348" y="1908090"/>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c</a:t>
            </a:r>
          </a:p>
        </p:txBody>
      </p:sp>
      <p:sp>
        <p:nvSpPr>
          <p:cNvPr id="165" name="円/楕円 40">
            <a:extLst>
              <a:ext uri="{FF2B5EF4-FFF2-40B4-BE49-F238E27FC236}">
                <a16:creationId xmlns:a16="http://schemas.microsoft.com/office/drawing/2014/main" id="{AA8751A0-AD3E-4703-B515-EAD9B6E9CD9E}"/>
              </a:ext>
            </a:extLst>
          </p:cNvPr>
          <p:cNvSpPr/>
          <p:nvPr/>
        </p:nvSpPr>
        <p:spPr bwMode="gray">
          <a:xfrm>
            <a:off x="3120952" y="1908090"/>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b</a:t>
            </a:r>
          </a:p>
        </p:txBody>
      </p:sp>
      <p:sp>
        <p:nvSpPr>
          <p:cNvPr id="166" name="円/楕円 40">
            <a:extLst>
              <a:ext uri="{FF2B5EF4-FFF2-40B4-BE49-F238E27FC236}">
                <a16:creationId xmlns:a16="http://schemas.microsoft.com/office/drawing/2014/main" id="{2AB0D53C-91F7-4DE4-9722-E9611BBAB355}"/>
              </a:ext>
            </a:extLst>
          </p:cNvPr>
          <p:cNvSpPr/>
          <p:nvPr/>
        </p:nvSpPr>
        <p:spPr bwMode="gray">
          <a:xfrm>
            <a:off x="3635140" y="3525867"/>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b</a:t>
            </a:r>
          </a:p>
        </p:txBody>
      </p:sp>
      <p:sp>
        <p:nvSpPr>
          <p:cNvPr id="167" name="円/楕円 40">
            <a:extLst>
              <a:ext uri="{FF2B5EF4-FFF2-40B4-BE49-F238E27FC236}">
                <a16:creationId xmlns:a16="http://schemas.microsoft.com/office/drawing/2014/main" id="{41A5B19D-9BBE-46C5-8D80-22CF28E82C6F}"/>
              </a:ext>
            </a:extLst>
          </p:cNvPr>
          <p:cNvSpPr/>
          <p:nvPr/>
        </p:nvSpPr>
        <p:spPr bwMode="gray">
          <a:xfrm>
            <a:off x="3635140" y="4399597"/>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c</a:t>
            </a:r>
          </a:p>
        </p:txBody>
      </p:sp>
      <p:sp>
        <p:nvSpPr>
          <p:cNvPr id="168" name="円/楕円 40">
            <a:extLst>
              <a:ext uri="{FF2B5EF4-FFF2-40B4-BE49-F238E27FC236}">
                <a16:creationId xmlns:a16="http://schemas.microsoft.com/office/drawing/2014/main" id="{0250A78C-10DC-4D45-A8B1-1216694877F0}"/>
              </a:ext>
            </a:extLst>
          </p:cNvPr>
          <p:cNvSpPr/>
          <p:nvPr/>
        </p:nvSpPr>
        <p:spPr bwMode="gray">
          <a:xfrm>
            <a:off x="3635140" y="4694603"/>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a</a:t>
            </a:r>
          </a:p>
        </p:txBody>
      </p:sp>
      <p:sp>
        <p:nvSpPr>
          <p:cNvPr id="169" name="円/楕円 40">
            <a:extLst>
              <a:ext uri="{FF2B5EF4-FFF2-40B4-BE49-F238E27FC236}">
                <a16:creationId xmlns:a16="http://schemas.microsoft.com/office/drawing/2014/main" id="{B57C7580-BDF3-4C51-B384-4BEEE052A5F2}"/>
              </a:ext>
            </a:extLst>
          </p:cNvPr>
          <p:cNvSpPr/>
          <p:nvPr/>
        </p:nvSpPr>
        <p:spPr bwMode="gray">
          <a:xfrm>
            <a:off x="3635140" y="5207419"/>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b</a:t>
            </a:r>
          </a:p>
        </p:txBody>
      </p:sp>
      <p:sp>
        <p:nvSpPr>
          <p:cNvPr id="170" name="円/楕円 40">
            <a:extLst>
              <a:ext uri="{FF2B5EF4-FFF2-40B4-BE49-F238E27FC236}">
                <a16:creationId xmlns:a16="http://schemas.microsoft.com/office/drawing/2014/main" id="{DD429A91-6600-4DFE-8A29-1857ABDCFF7A}"/>
              </a:ext>
            </a:extLst>
          </p:cNvPr>
          <p:cNvSpPr/>
          <p:nvPr/>
        </p:nvSpPr>
        <p:spPr bwMode="gray">
          <a:xfrm>
            <a:off x="3635140" y="5502946"/>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c</a:t>
            </a:r>
          </a:p>
        </p:txBody>
      </p:sp>
      <p:sp>
        <p:nvSpPr>
          <p:cNvPr id="171" name="円/楕円 40">
            <a:extLst>
              <a:ext uri="{FF2B5EF4-FFF2-40B4-BE49-F238E27FC236}">
                <a16:creationId xmlns:a16="http://schemas.microsoft.com/office/drawing/2014/main" id="{11F972C0-5B95-4F19-8D68-AFE08917DC32}"/>
              </a:ext>
            </a:extLst>
          </p:cNvPr>
          <p:cNvSpPr/>
          <p:nvPr/>
        </p:nvSpPr>
        <p:spPr bwMode="gray">
          <a:xfrm>
            <a:off x="3635140" y="5790077"/>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a</a:t>
            </a:r>
          </a:p>
        </p:txBody>
      </p:sp>
      <p:sp>
        <p:nvSpPr>
          <p:cNvPr id="172" name="円/楕円 40">
            <a:extLst>
              <a:ext uri="{FF2B5EF4-FFF2-40B4-BE49-F238E27FC236}">
                <a16:creationId xmlns:a16="http://schemas.microsoft.com/office/drawing/2014/main" id="{799117C2-B3CF-4C6F-BF77-23A8E16B7CB0}"/>
              </a:ext>
            </a:extLst>
          </p:cNvPr>
          <p:cNvSpPr/>
          <p:nvPr/>
        </p:nvSpPr>
        <p:spPr bwMode="gray">
          <a:xfrm>
            <a:off x="3635140" y="6083365"/>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d</a:t>
            </a:r>
          </a:p>
        </p:txBody>
      </p:sp>
      <p:sp>
        <p:nvSpPr>
          <p:cNvPr id="173" name="円/楕円 40">
            <a:extLst>
              <a:ext uri="{FF2B5EF4-FFF2-40B4-BE49-F238E27FC236}">
                <a16:creationId xmlns:a16="http://schemas.microsoft.com/office/drawing/2014/main" id="{C5EE687C-08D8-4DF4-9245-30DE9993D9C2}"/>
              </a:ext>
            </a:extLst>
          </p:cNvPr>
          <p:cNvSpPr/>
          <p:nvPr/>
        </p:nvSpPr>
        <p:spPr bwMode="gray">
          <a:xfrm>
            <a:off x="3635140" y="4119355"/>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e</a:t>
            </a:r>
          </a:p>
        </p:txBody>
      </p:sp>
      <p:sp>
        <p:nvSpPr>
          <p:cNvPr id="174" name="円/楕円 40">
            <a:extLst>
              <a:ext uri="{FF2B5EF4-FFF2-40B4-BE49-F238E27FC236}">
                <a16:creationId xmlns:a16="http://schemas.microsoft.com/office/drawing/2014/main" id="{E99EAC8B-87F4-45BB-BD53-0546767C18BE}"/>
              </a:ext>
            </a:extLst>
          </p:cNvPr>
          <p:cNvSpPr/>
          <p:nvPr/>
        </p:nvSpPr>
        <p:spPr bwMode="gray">
          <a:xfrm>
            <a:off x="2949556" y="1908090"/>
            <a:ext cx="146304" cy="147055"/>
          </a:xfrm>
          <a:prstGeom prst="rect">
            <a:avLst/>
          </a:prstGeom>
          <a:solidFill>
            <a:schemeClr val="accent4">
              <a:lumMod val="20000"/>
              <a:lumOff val="80000"/>
            </a:schemeClr>
          </a:solidFill>
          <a:ln w="1270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latin typeface="Meiryo UI" panose="020B0604030504040204" pitchFamily="34" charset="-128"/>
                <a:ea typeface="Meiryo UI" panose="020B0604030504040204" pitchFamily="34" charset="-128"/>
              </a:rPr>
              <a:t>a</a:t>
            </a:r>
          </a:p>
        </p:txBody>
      </p:sp>
    </p:spTree>
    <p:extLst>
      <p:ext uri="{BB962C8B-B14F-4D97-AF65-F5344CB8AC3E}">
        <p14:creationId xmlns:p14="http://schemas.microsoft.com/office/powerpoint/2010/main" val="226751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タイトル 1">
            <a:extLst>
              <a:ext uri="{FF2B5EF4-FFF2-40B4-BE49-F238E27FC236}">
                <a16:creationId xmlns:a16="http://schemas.microsoft.com/office/drawing/2014/main" id="{E49B9BAD-19F0-A140-8445-56B43A8E7C5F}"/>
              </a:ext>
            </a:extLst>
          </p:cNvPr>
          <p:cNvSpPr>
            <a:spLocks noGrp="1"/>
          </p:cNvSpPr>
          <p:nvPr>
            <p:ph type="title"/>
          </p:nvPr>
        </p:nvSpPr>
        <p:spPr>
          <a:xfrm>
            <a:off x="236538" y="128800"/>
            <a:ext cx="7287809" cy="349961"/>
          </a:xfrm>
        </p:spPr>
        <p:txBody>
          <a:bodyPr anchor="ctr"/>
          <a:lstStyle/>
          <a:p>
            <a:r>
              <a:rPr lang="ja-JP" altLang="en-US" sz="1600"/>
              <a:t>データマネジメント実施スコープ</a:t>
            </a:r>
            <a:br>
              <a:rPr lang="en-US" altLang="ja-JP" sz="2400" b="1" dirty="0"/>
            </a:br>
            <a:r>
              <a:rPr lang="ja-JP" altLang="en-US" b="1"/>
              <a:t>データマネジメント各実施</a:t>
            </a:r>
            <a:r>
              <a:rPr lang="ja-JP" altLang="en-US" b="1" dirty="0"/>
              <a:t>項目に関する現状仮説</a:t>
            </a:r>
            <a:endParaRPr kumimoji="1" lang="ja-JP" altLang="en-US" b="1" dirty="0"/>
          </a:p>
        </p:txBody>
      </p:sp>
      <p:grpSp>
        <p:nvGrpSpPr>
          <p:cNvPr id="29" name="グループ化 28">
            <a:extLst>
              <a:ext uri="{FF2B5EF4-FFF2-40B4-BE49-F238E27FC236}">
                <a16:creationId xmlns:a16="http://schemas.microsoft.com/office/drawing/2014/main" id="{F433CEE6-8E32-F24F-8627-CA0755EEA828}"/>
              </a:ext>
            </a:extLst>
          </p:cNvPr>
          <p:cNvGrpSpPr/>
          <p:nvPr/>
        </p:nvGrpSpPr>
        <p:grpSpPr>
          <a:xfrm>
            <a:off x="262418" y="1539883"/>
            <a:ext cx="9079420" cy="276998"/>
            <a:chOff x="613809" y="1338894"/>
            <a:chExt cx="4074732" cy="285413"/>
          </a:xfrm>
        </p:grpSpPr>
        <p:cxnSp>
          <p:nvCxnSpPr>
            <p:cNvPr id="30" name="直線コネクタ 29">
              <a:extLst>
                <a:ext uri="{FF2B5EF4-FFF2-40B4-BE49-F238E27FC236}">
                  <a16:creationId xmlns:a16="http://schemas.microsoft.com/office/drawing/2014/main" id="{F76A53F6-4274-6546-AF8C-8F4BAA381464}"/>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BE33861A-9288-404C-AFF6-DB4E82534A1B}"/>
                </a:ext>
              </a:extLst>
            </p:cNvPr>
            <p:cNvSpPr txBox="1"/>
            <p:nvPr/>
          </p:nvSpPr>
          <p:spPr>
            <a:xfrm>
              <a:off x="613809" y="1338894"/>
              <a:ext cx="4074732" cy="285413"/>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データマネジメント実施項目の実施レベル</a:t>
              </a:r>
              <a:endParaRPr lang="ja-JP" altLang="en-US" sz="1200" dirty="0">
                <a:latin typeface="Meiryo UI" panose="020B0604030504040204" pitchFamily="34" charset="-128"/>
                <a:ea typeface="Meiryo UI" panose="020B0604030504040204" pitchFamily="34" charset="-128"/>
              </a:endParaRPr>
            </a:p>
          </p:txBody>
        </p:sp>
      </p:grpSp>
      <p:sp>
        <p:nvSpPr>
          <p:cNvPr id="32" name="ホームベース 31">
            <a:extLst>
              <a:ext uri="{FF2B5EF4-FFF2-40B4-BE49-F238E27FC236}">
                <a16:creationId xmlns:a16="http://schemas.microsoft.com/office/drawing/2014/main" id="{AD37B9F2-E055-774B-9037-8F953E251DF5}"/>
              </a:ext>
            </a:extLst>
          </p:cNvPr>
          <p:cNvSpPr/>
          <p:nvPr/>
        </p:nvSpPr>
        <p:spPr bwMode="gray">
          <a:xfrm>
            <a:off x="1478549" y="5625586"/>
            <a:ext cx="1593298" cy="254582"/>
          </a:xfrm>
          <a:prstGeom prst="homePlate">
            <a:avLst>
              <a:gd name="adj" fmla="val 10244"/>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rgbClr val="000000"/>
                </a:solidFill>
                <a:latin typeface="Meiryo UI" panose="020B0604030504040204" pitchFamily="34" charset="-128"/>
                <a:ea typeface="Meiryo UI" panose="020B0604030504040204" pitchFamily="34" charset="-128"/>
              </a:rPr>
              <a:t>成熟度</a:t>
            </a:r>
            <a:r>
              <a:rPr lang="en-US" altLang="ja-JP" sz="1000" dirty="0">
                <a:solidFill>
                  <a:srgbClr val="000000"/>
                </a:solidFill>
                <a:latin typeface="Meiryo UI" panose="020B0604030504040204" pitchFamily="34" charset="-128"/>
                <a:ea typeface="Meiryo UI" panose="020B0604030504040204" pitchFamily="34" charset="-128"/>
              </a:rPr>
              <a:t>Lv1</a:t>
            </a:r>
          </a:p>
          <a:p>
            <a:pPr algn="ctr">
              <a:buFont typeface="Wingdings 2" pitchFamily="18" charset="2"/>
              <a:buNone/>
            </a:pPr>
            <a:r>
              <a:rPr lang="ja-JP" altLang="en-US" sz="800" dirty="0">
                <a:solidFill>
                  <a:srgbClr val="000000"/>
                </a:solidFill>
                <a:latin typeface="Meiryo UI" panose="020B0604030504040204" pitchFamily="34" charset="-128"/>
                <a:ea typeface="Meiryo UI" panose="020B0604030504040204" pitchFamily="34" charset="-128"/>
              </a:rPr>
              <a:t>（場当たり的</a:t>
            </a:r>
            <a:r>
              <a:rPr lang="en-US" altLang="ja-JP" sz="800" dirty="0">
                <a:solidFill>
                  <a:srgbClr val="000000"/>
                </a:solidFill>
                <a:latin typeface="Meiryo UI" panose="020B0604030504040204" pitchFamily="34" charset="-128"/>
                <a:ea typeface="Meiryo UI" panose="020B0604030504040204" pitchFamily="34" charset="-128"/>
              </a:rPr>
              <a:t>/</a:t>
            </a:r>
            <a:r>
              <a:rPr lang="ja-JP" altLang="en-US" sz="800" dirty="0">
                <a:solidFill>
                  <a:srgbClr val="000000"/>
                </a:solidFill>
                <a:latin typeface="Meiryo UI" panose="020B0604030504040204" pitchFamily="34" charset="-128"/>
                <a:ea typeface="Meiryo UI" panose="020B0604030504040204" pitchFamily="34" charset="-128"/>
              </a:rPr>
              <a:t>属人レベル）</a:t>
            </a:r>
          </a:p>
        </p:txBody>
      </p:sp>
      <p:sp>
        <p:nvSpPr>
          <p:cNvPr id="33" name="ホームベース 93">
            <a:extLst>
              <a:ext uri="{FF2B5EF4-FFF2-40B4-BE49-F238E27FC236}">
                <a16:creationId xmlns:a16="http://schemas.microsoft.com/office/drawing/2014/main" id="{B7A38BE0-E21D-644B-846C-214CB3A46CBB}"/>
              </a:ext>
            </a:extLst>
          </p:cNvPr>
          <p:cNvSpPr/>
          <p:nvPr/>
        </p:nvSpPr>
        <p:spPr bwMode="gray">
          <a:xfrm>
            <a:off x="3131604" y="5625586"/>
            <a:ext cx="1593298" cy="254582"/>
          </a:xfrm>
          <a:prstGeom prst="homePlate">
            <a:avLst>
              <a:gd name="adj" fmla="val 10244"/>
            </a:avLst>
          </a:prstGeom>
          <a:solidFill>
            <a:schemeClr val="bg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Lv2</a:t>
            </a:r>
          </a:p>
          <a:p>
            <a:pPr algn="ctr">
              <a:buFont typeface="Wingdings 2" pitchFamily="18" charset="2"/>
              <a:buNone/>
            </a:pPr>
            <a:r>
              <a:rPr lang="ja-JP" altLang="en-US" sz="800" dirty="0">
                <a:solidFill>
                  <a:sysClr val="windowText" lastClr="000000"/>
                </a:solidFill>
                <a:latin typeface="Meiryo UI" panose="020B0604030504040204" pitchFamily="34" charset="-128"/>
                <a:ea typeface="Meiryo UI" panose="020B0604030504040204" pitchFamily="34" charset="-128"/>
              </a:rPr>
              <a:t>（反復可能</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dirty="0">
                <a:solidFill>
                  <a:sysClr val="windowText" lastClr="000000"/>
                </a:solidFill>
                <a:latin typeface="Meiryo UI" panose="020B0604030504040204" pitchFamily="34" charset="-128"/>
                <a:ea typeface="Meiryo UI" panose="020B0604030504040204" pitchFamily="34" charset="-128"/>
              </a:rPr>
              <a:t>部門（拠点）レベル）</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34" name="ホームベース 94">
            <a:extLst>
              <a:ext uri="{FF2B5EF4-FFF2-40B4-BE49-F238E27FC236}">
                <a16:creationId xmlns:a16="http://schemas.microsoft.com/office/drawing/2014/main" id="{3D18B7CB-CC6B-9A48-A78E-055CE6A7C8BF}"/>
              </a:ext>
            </a:extLst>
          </p:cNvPr>
          <p:cNvSpPr/>
          <p:nvPr/>
        </p:nvSpPr>
        <p:spPr bwMode="gray">
          <a:xfrm>
            <a:off x="4777857" y="5625586"/>
            <a:ext cx="1593298" cy="254582"/>
          </a:xfrm>
          <a:prstGeom prst="homePlate">
            <a:avLst>
              <a:gd name="adj" fmla="val 10244"/>
            </a:avLst>
          </a:prstGeom>
          <a:solidFill>
            <a:schemeClr val="bg2">
              <a:lumMod val="40000"/>
              <a:lumOff val="6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Lv3</a:t>
            </a:r>
          </a:p>
          <a:p>
            <a:pPr algn="ctr">
              <a:buFont typeface="Wingdings 2" pitchFamily="18" charset="2"/>
              <a:buNone/>
            </a:pPr>
            <a:r>
              <a:rPr lang="ja-JP" altLang="en-US" sz="800">
                <a:solidFill>
                  <a:sysClr val="windowText" lastClr="000000"/>
                </a:solidFill>
                <a:latin typeface="Meiryo UI" panose="020B0604030504040204" pitchFamily="34" charset="-128"/>
                <a:ea typeface="Meiryo UI" panose="020B0604030504040204" pitchFamily="34" charset="-128"/>
              </a:rPr>
              <a:t>（定義された</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a:solidFill>
                  <a:sysClr val="windowText" lastClr="000000"/>
                </a:solidFill>
                <a:latin typeface="Meiryo UI" panose="020B0604030504040204" pitchFamily="34" charset="-128"/>
                <a:ea typeface="Meiryo UI" panose="020B0604030504040204" pitchFamily="34" charset="-128"/>
              </a:rPr>
              <a:t>全社展開）</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35" name="ホームベース 95">
            <a:extLst>
              <a:ext uri="{FF2B5EF4-FFF2-40B4-BE49-F238E27FC236}">
                <a16:creationId xmlns:a16="http://schemas.microsoft.com/office/drawing/2014/main" id="{386C8DC8-CD4D-A343-A4DB-985228148B8C}"/>
              </a:ext>
            </a:extLst>
          </p:cNvPr>
          <p:cNvSpPr/>
          <p:nvPr/>
        </p:nvSpPr>
        <p:spPr bwMode="gray">
          <a:xfrm>
            <a:off x="6435297" y="5625586"/>
            <a:ext cx="1593298" cy="254582"/>
          </a:xfrm>
          <a:prstGeom prst="homePlate">
            <a:avLst>
              <a:gd name="adj" fmla="val 10244"/>
            </a:avLst>
          </a:prstGeom>
          <a:solidFill>
            <a:schemeClr val="bg2">
              <a:lumMod val="60000"/>
              <a:lumOff val="4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latin typeface="Meiryo UI" panose="020B0604030504040204" pitchFamily="34" charset="-128"/>
                <a:ea typeface="Meiryo UI" panose="020B0604030504040204" pitchFamily="34" charset="-128"/>
              </a:rPr>
              <a:t>成熟度</a:t>
            </a:r>
            <a:r>
              <a:rPr lang="en-US" altLang="ja-JP" sz="1000" dirty="0">
                <a:latin typeface="Meiryo UI" panose="020B0604030504040204" pitchFamily="34" charset="-128"/>
                <a:ea typeface="Meiryo UI" panose="020B0604030504040204" pitchFamily="34" charset="-128"/>
              </a:rPr>
              <a:t>Lv4</a:t>
            </a:r>
          </a:p>
          <a:p>
            <a:pPr algn="ctr">
              <a:buFont typeface="Wingdings 2" pitchFamily="18" charset="2"/>
              <a:buNone/>
            </a:pPr>
            <a:r>
              <a:rPr lang="ja-JP" altLang="en-US" sz="800">
                <a:latin typeface="Meiryo UI" panose="020B0604030504040204" pitchFamily="34" charset="-128"/>
                <a:ea typeface="Meiryo UI" panose="020B0604030504040204" pitchFamily="34" charset="-128"/>
              </a:rPr>
              <a:t>（管理された</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定量的効果測定</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標準ツール）</a:t>
            </a:r>
            <a:endParaRPr lang="en-US" altLang="ja-JP" sz="800" dirty="0">
              <a:latin typeface="Meiryo UI" panose="020B0604030504040204" pitchFamily="34" charset="-128"/>
              <a:ea typeface="Meiryo UI" panose="020B0604030504040204" pitchFamily="34" charset="-128"/>
            </a:endParaRPr>
          </a:p>
        </p:txBody>
      </p:sp>
      <p:sp>
        <p:nvSpPr>
          <p:cNvPr id="36" name="ホームベース 96">
            <a:extLst>
              <a:ext uri="{FF2B5EF4-FFF2-40B4-BE49-F238E27FC236}">
                <a16:creationId xmlns:a16="http://schemas.microsoft.com/office/drawing/2014/main" id="{F6A621B7-531D-3848-B520-850502722F45}"/>
              </a:ext>
            </a:extLst>
          </p:cNvPr>
          <p:cNvSpPr/>
          <p:nvPr/>
        </p:nvSpPr>
        <p:spPr bwMode="gray">
          <a:xfrm>
            <a:off x="8084103" y="5625586"/>
            <a:ext cx="1593298" cy="254582"/>
          </a:xfrm>
          <a:prstGeom prst="homePlate">
            <a:avLst>
              <a:gd name="adj" fmla="val 10244"/>
            </a:avLst>
          </a:prstGeom>
          <a:solidFill>
            <a:schemeClr val="bg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chemeClr val="bg1"/>
                </a:solidFill>
                <a:latin typeface="Meiryo UI" panose="020B0604030504040204" pitchFamily="34" charset="-128"/>
                <a:ea typeface="Meiryo UI" panose="020B0604030504040204" pitchFamily="34" charset="-128"/>
              </a:rPr>
              <a:t>成熟度</a:t>
            </a:r>
            <a:r>
              <a:rPr lang="en-US" altLang="ja-JP" sz="1000" dirty="0">
                <a:solidFill>
                  <a:schemeClr val="bg1"/>
                </a:solidFill>
                <a:latin typeface="Meiryo UI" panose="020B0604030504040204" pitchFamily="34" charset="-128"/>
                <a:ea typeface="Meiryo UI" panose="020B0604030504040204" pitchFamily="34" charset="-128"/>
              </a:rPr>
              <a:t>Lv5</a:t>
            </a:r>
          </a:p>
          <a:p>
            <a:pPr algn="ctr">
              <a:buFont typeface="Wingdings 2" pitchFamily="18" charset="2"/>
              <a:buNone/>
            </a:pPr>
            <a:r>
              <a:rPr lang="ja-JP" altLang="en-US" sz="800">
                <a:solidFill>
                  <a:schemeClr val="bg1"/>
                </a:solidFill>
                <a:latin typeface="Meiryo UI" panose="020B0604030504040204" pitchFamily="34" charset="-128"/>
                <a:ea typeface="Meiryo UI" panose="020B0604030504040204" pitchFamily="34" charset="-128"/>
              </a:rPr>
              <a:t>（最適化</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継続的改善</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プロセス自動化）</a:t>
            </a:r>
            <a:endParaRPr lang="en-US" altLang="ja-JP" sz="800" dirty="0">
              <a:solidFill>
                <a:schemeClr val="bg1"/>
              </a:solidFill>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2499B49C-876A-044E-9A7B-17EBED6F3FB2}"/>
              </a:ext>
            </a:extLst>
          </p:cNvPr>
          <p:cNvSpPr/>
          <p:nvPr/>
        </p:nvSpPr>
        <p:spPr bwMode="gray">
          <a:xfrm>
            <a:off x="3131604" y="4213052"/>
            <a:ext cx="1593298" cy="30093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92E874CB-3946-CB49-B0C5-6703767EBB7A}"/>
              </a:ext>
            </a:extLst>
          </p:cNvPr>
          <p:cNvSpPr/>
          <p:nvPr/>
        </p:nvSpPr>
        <p:spPr bwMode="gray">
          <a:xfrm>
            <a:off x="4777857" y="4213052"/>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9" name="正方形/長方形 38">
            <a:extLst>
              <a:ext uri="{FF2B5EF4-FFF2-40B4-BE49-F238E27FC236}">
                <a16:creationId xmlns:a16="http://schemas.microsoft.com/office/drawing/2014/main" id="{123CEE9A-7B90-1244-8A73-666E6642460E}"/>
              </a:ext>
            </a:extLst>
          </p:cNvPr>
          <p:cNvSpPr/>
          <p:nvPr/>
        </p:nvSpPr>
        <p:spPr bwMode="gray">
          <a:xfrm>
            <a:off x="6435297" y="4213052"/>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マスタデータの信頼度の評価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データ共有量と利用の測定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0" name="正方形/長方形 39">
            <a:extLst>
              <a:ext uri="{FF2B5EF4-FFF2-40B4-BE49-F238E27FC236}">
                <a16:creationId xmlns:a16="http://schemas.microsoft.com/office/drawing/2014/main" id="{8B410DE0-6493-AB4D-9AF5-DE1AD2FD1784}"/>
              </a:ext>
            </a:extLst>
          </p:cNvPr>
          <p:cNvSpPr/>
          <p:nvPr/>
        </p:nvSpPr>
        <p:spPr bwMode="gray">
          <a:xfrm>
            <a:off x="262417" y="4213052"/>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⑧参照データ</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とマスタデータ</a:t>
            </a:r>
          </a:p>
        </p:txBody>
      </p:sp>
      <p:sp>
        <p:nvSpPr>
          <p:cNvPr id="41" name="正方形/長方形 40">
            <a:extLst>
              <a:ext uri="{FF2B5EF4-FFF2-40B4-BE49-F238E27FC236}">
                <a16:creationId xmlns:a16="http://schemas.microsoft.com/office/drawing/2014/main" id="{D38B8287-5962-0B43-BA4B-20CE8287C165}"/>
              </a:ext>
            </a:extLst>
          </p:cNvPr>
          <p:cNvSpPr/>
          <p:nvPr/>
        </p:nvSpPr>
        <p:spPr bwMode="gray">
          <a:xfrm>
            <a:off x="3131604" y="454403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p>
        </p:txBody>
      </p:sp>
      <p:sp>
        <p:nvSpPr>
          <p:cNvPr id="42" name="正方形/長方形 41">
            <a:extLst>
              <a:ext uri="{FF2B5EF4-FFF2-40B4-BE49-F238E27FC236}">
                <a16:creationId xmlns:a16="http://schemas.microsoft.com/office/drawing/2014/main" id="{C2FD50E6-CF47-D341-863C-D6B350723A93}"/>
              </a:ext>
            </a:extLst>
          </p:cNvPr>
          <p:cNvSpPr/>
          <p:nvPr/>
        </p:nvSpPr>
        <p:spPr bwMode="gray">
          <a:xfrm>
            <a:off x="4777857" y="454403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7C89B320-6286-3540-A317-A3694FDEA0AE}"/>
              </a:ext>
            </a:extLst>
          </p:cNvPr>
          <p:cNvSpPr/>
          <p:nvPr/>
        </p:nvSpPr>
        <p:spPr bwMode="gray">
          <a:xfrm>
            <a:off x="6435297" y="4544031"/>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rgbClr val="000000"/>
                </a:solidFill>
                <a:latin typeface="Meiryo UI" panose="020B0604030504040204" pitchFamily="34" charset="-128"/>
                <a:ea typeface="Meiryo UI" panose="020B0604030504040204" pitchFamily="34" charset="-128"/>
              </a:rPr>
              <a:t>利用度の評価</a:t>
            </a:r>
            <a:r>
              <a:rPr lang="en-US" altLang="ja-JP" sz="900" dirty="0">
                <a:solidFill>
                  <a:srgbClr val="000000"/>
                </a:solidFill>
                <a:latin typeface="Meiryo UI" panose="020B0604030504040204" pitchFamily="34" charset="-128"/>
                <a:ea typeface="Meiryo UI" panose="020B0604030504040204" pitchFamily="34" charset="-128"/>
              </a:rPr>
              <a:t>/</a:t>
            </a:r>
            <a:r>
              <a:rPr lang="ja-JP" altLang="en-US" sz="900" dirty="0">
                <a:solidFill>
                  <a:srgbClr val="000000"/>
                </a:solidFill>
                <a:latin typeface="Meiryo UI" panose="020B0604030504040204" pitchFamily="34" charset="-128"/>
                <a:ea typeface="Meiryo UI" panose="020B0604030504040204" pitchFamily="34" charset="-128"/>
              </a:rPr>
              <a:t>パフォーマンスの評価</a:t>
            </a:r>
            <a:endParaRPr lang="en-US" altLang="ja-JP" sz="900" dirty="0">
              <a:solidFill>
                <a:srgbClr val="000000"/>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52524653-2947-0146-9E7F-432FFE8AF51F}"/>
              </a:ext>
            </a:extLst>
          </p:cNvPr>
          <p:cNvSpPr/>
          <p:nvPr/>
        </p:nvSpPr>
        <p:spPr bwMode="gray">
          <a:xfrm>
            <a:off x="262417" y="4544031"/>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⑨</a:t>
            </a:r>
            <a:r>
              <a:rPr lang="en-US" altLang="ja-JP" sz="900" dirty="0">
                <a:latin typeface="Meiryo UI" panose="020B0604030504040204" pitchFamily="34" charset="-128"/>
                <a:ea typeface="Meiryo UI" panose="020B0604030504040204" pitchFamily="34" charset="-128"/>
              </a:rPr>
              <a:t>DWH</a:t>
            </a:r>
            <a:r>
              <a:rPr lang="ja-JP" altLang="en-US" sz="900" dirty="0">
                <a:latin typeface="Meiryo UI" panose="020B0604030504040204" pitchFamily="34" charset="-128"/>
                <a:ea typeface="Meiryo UI" panose="020B0604030504040204" pitchFamily="34" charset="-128"/>
              </a:rPr>
              <a:t>と</a:t>
            </a:r>
            <a:r>
              <a:rPr lang="en-US" altLang="ja-JP" sz="900" dirty="0">
                <a:latin typeface="Meiryo UI" panose="020B0604030504040204" pitchFamily="34" charset="-128"/>
                <a:ea typeface="Meiryo UI" panose="020B0604030504040204" pitchFamily="34" charset="-128"/>
              </a:rPr>
              <a:t>BI</a:t>
            </a:r>
            <a:endParaRPr lang="ja-JP" altLang="en-US" sz="900" dirty="0">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937929E0-3B03-2C40-AD79-8E45233456D7}"/>
              </a:ext>
            </a:extLst>
          </p:cNvPr>
          <p:cNvSpPr/>
          <p:nvPr/>
        </p:nvSpPr>
        <p:spPr bwMode="gray">
          <a:xfrm>
            <a:off x="3131604" y="3883033"/>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管理ポリシー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407D9941-659D-6B47-BA24-C1008C702AC2}"/>
              </a:ext>
            </a:extLst>
          </p:cNvPr>
          <p:cNvSpPr/>
          <p:nvPr/>
        </p:nvSpPr>
        <p:spPr bwMode="gray">
          <a:xfrm>
            <a:off x="4777857" y="3883033"/>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管理ポリシーの全社展開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7" name="正方形/長方形 46">
            <a:extLst>
              <a:ext uri="{FF2B5EF4-FFF2-40B4-BE49-F238E27FC236}">
                <a16:creationId xmlns:a16="http://schemas.microsoft.com/office/drawing/2014/main" id="{63658709-1BE0-144B-8346-ABD10DB873C7}"/>
              </a:ext>
            </a:extLst>
          </p:cNvPr>
          <p:cNvSpPr/>
          <p:nvPr/>
        </p:nvSpPr>
        <p:spPr bwMode="gray">
          <a:xfrm>
            <a:off x="6435297" y="3883033"/>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法令遵守の評価</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利用評価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EA631616-9742-DC42-BB2D-A1998FC0B078}"/>
              </a:ext>
            </a:extLst>
          </p:cNvPr>
          <p:cNvSpPr/>
          <p:nvPr/>
        </p:nvSpPr>
        <p:spPr bwMode="gray">
          <a:xfrm>
            <a:off x="262417" y="3883033"/>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⑦ドキュメントと</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コンテンツ管理</a:t>
            </a:r>
          </a:p>
        </p:txBody>
      </p:sp>
      <p:sp>
        <p:nvSpPr>
          <p:cNvPr id="49" name="正方形/長方形 48">
            <a:extLst>
              <a:ext uri="{FF2B5EF4-FFF2-40B4-BE49-F238E27FC236}">
                <a16:creationId xmlns:a16="http://schemas.microsoft.com/office/drawing/2014/main" id="{89C5572C-592B-5B4C-8B94-432A5BF8D729}"/>
              </a:ext>
            </a:extLst>
          </p:cNvPr>
          <p:cNvSpPr/>
          <p:nvPr/>
        </p:nvSpPr>
        <p:spPr bwMode="gray">
          <a:xfrm>
            <a:off x="1478549" y="1900999"/>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属人的・プロセス単位のガバナンス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0" name="正方形/長方形 49">
            <a:extLst>
              <a:ext uri="{FF2B5EF4-FFF2-40B4-BE49-F238E27FC236}">
                <a16:creationId xmlns:a16="http://schemas.microsoft.com/office/drawing/2014/main" id="{D75108A8-E9FC-F945-A79F-D5553C65E715}"/>
              </a:ext>
            </a:extLst>
          </p:cNvPr>
          <p:cNvSpPr/>
          <p:nvPr/>
        </p:nvSpPr>
        <p:spPr bwMode="gray">
          <a:xfrm>
            <a:off x="3131604" y="1900999"/>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役割の明確化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1" name="正方形/長方形 50">
            <a:extLst>
              <a:ext uri="{FF2B5EF4-FFF2-40B4-BE49-F238E27FC236}">
                <a16:creationId xmlns:a16="http://schemas.microsoft.com/office/drawing/2014/main" id="{1117FDB1-9261-9842-8F1E-45507810F238}"/>
              </a:ext>
            </a:extLst>
          </p:cNvPr>
          <p:cNvSpPr/>
          <p:nvPr/>
        </p:nvSpPr>
        <p:spPr bwMode="gray">
          <a:xfrm>
            <a:off x="4777857" y="1900999"/>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組織的なポリシー定義とガバナンス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78923FED-AFF3-F348-96A7-DEACB5C4526C}"/>
              </a:ext>
            </a:extLst>
          </p:cNvPr>
          <p:cNvSpPr/>
          <p:nvPr/>
        </p:nvSpPr>
        <p:spPr bwMode="gray">
          <a:xfrm>
            <a:off x="6435297" y="1900999"/>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プロセスが数値化された統制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997E2AF1-770C-4A43-BABD-FB0929C9253B}"/>
              </a:ext>
            </a:extLst>
          </p:cNvPr>
          <p:cNvSpPr/>
          <p:nvPr/>
        </p:nvSpPr>
        <p:spPr bwMode="gray">
          <a:xfrm>
            <a:off x="8084103" y="1900999"/>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プロセス改善のゴールが数値化</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7988C822-1E1E-C848-AE1D-E52F6C8C2669}"/>
              </a:ext>
            </a:extLst>
          </p:cNvPr>
          <p:cNvSpPr/>
          <p:nvPr/>
        </p:nvSpPr>
        <p:spPr bwMode="gray">
          <a:xfrm>
            <a:off x="262417" y="190099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en-US" altLang="ja-JP" sz="900" dirty="0">
                <a:latin typeface="Meiryo UI" panose="020B0604030504040204" pitchFamily="34" charset="-128"/>
                <a:ea typeface="Meiryo UI" panose="020B0604030504040204" pitchFamily="34" charset="-128"/>
              </a:rPr>
              <a:t>①</a:t>
            </a:r>
            <a:r>
              <a:rPr lang="ja-JP" altLang="en-US" sz="900" dirty="0">
                <a:latin typeface="Meiryo UI" panose="020B0604030504040204" pitchFamily="34" charset="-128"/>
                <a:ea typeface="Meiryo UI" panose="020B0604030504040204" pitchFamily="34" charset="-128"/>
              </a:rPr>
              <a:t>データガバナンス</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p>
        </p:txBody>
      </p:sp>
      <p:sp>
        <p:nvSpPr>
          <p:cNvPr id="55" name="正方形/長方形 54">
            <a:extLst>
              <a:ext uri="{FF2B5EF4-FFF2-40B4-BE49-F238E27FC236}">
                <a16:creationId xmlns:a16="http://schemas.microsoft.com/office/drawing/2014/main" id="{E6F17646-100C-3A41-B974-1775021CC71A}"/>
              </a:ext>
            </a:extLst>
          </p:cNvPr>
          <p:cNvSpPr/>
          <p:nvPr/>
        </p:nvSpPr>
        <p:spPr bwMode="gray">
          <a:xfrm>
            <a:off x="3131604" y="4875742"/>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部門内でのメタデータ管理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6" name="正方形/長方形 55">
            <a:extLst>
              <a:ext uri="{FF2B5EF4-FFF2-40B4-BE49-F238E27FC236}">
                <a16:creationId xmlns:a16="http://schemas.microsoft.com/office/drawing/2014/main" id="{A4450E33-C71A-FA4A-B10F-FB087A68D715}"/>
              </a:ext>
            </a:extLst>
          </p:cNvPr>
          <p:cNvSpPr/>
          <p:nvPr/>
        </p:nvSpPr>
        <p:spPr bwMode="gray">
          <a:xfrm>
            <a:off x="4777857" y="4875742"/>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メタデータ管理の全社展開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1CA8DF51-2E4E-8A48-B516-4C9D2958430B}"/>
              </a:ext>
            </a:extLst>
          </p:cNvPr>
          <p:cNvSpPr/>
          <p:nvPr/>
        </p:nvSpPr>
        <p:spPr bwMode="gray">
          <a:xfrm>
            <a:off x="6435297" y="4875742"/>
            <a:ext cx="1593298"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8" name="正方形/長方形 57">
            <a:extLst>
              <a:ext uri="{FF2B5EF4-FFF2-40B4-BE49-F238E27FC236}">
                <a16:creationId xmlns:a16="http://schemas.microsoft.com/office/drawing/2014/main" id="{72FAC4CC-9887-B64B-B5AE-27DDC077F15A}"/>
              </a:ext>
            </a:extLst>
          </p:cNvPr>
          <p:cNvSpPr/>
          <p:nvPr/>
        </p:nvSpPr>
        <p:spPr bwMode="gray">
          <a:xfrm>
            <a:off x="8084103" y="4875742"/>
            <a:ext cx="1593298" cy="29997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メタデータ管理の改善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9" name="正方形/長方形 58">
            <a:extLst>
              <a:ext uri="{FF2B5EF4-FFF2-40B4-BE49-F238E27FC236}">
                <a16:creationId xmlns:a16="http://schemas.microsoft.com/office/drawing/2014/main" id="{10AB8EDF-7603-1044-BB9D-00B0D5591235}"/>
              </a:ext>
            </a:extLst>
          </p:cNvPr>
          <p:cNvSpPr/>
          <p:nvPr/>
        </p:nvSpPr>
        <p:spPr bwMode="gray">
          <a:xfrm>
            <a:off x="1482798" y="4874782"/>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メタデータの属人化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0" name="正方形/長方形 59">
            <a:extLst>
              <a:ext uri="{FF2B5EF4-FFF2-40B4-BE49-F238E27FC236}">
                <a16:creationId xmlns:a16="http://schemas.microsoft.com/office/drawing/2014/main" id="{D47954FE-82E1-7D4A-A66D-3B3FF8D3AC48}"/>
              </a:ext>
            </a:extLst>
          </p:cNvPr>
          <p:cNvSpPr/>
          <p:nvPr/>
        </p:nvSpPr>
        <p:spPr bwMode="gray">
          <a:xfrm>
            <a:off x="262417" y="4875742"/>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⑩メタデータ管理</a:t>
            </a:r>
            <a:endParaRPr lang="en-US" altLang="ja-JP" sz="900" dirty="0">
              <a:latin typeface="Meiryo UI" panose="020B0604030504040204" pitchFamily="34" charset="-128"/>
              <a:ea typeface="Meiryo UI" panose="020B0604030504040204" pitchFamily="34" charset="-128"/>
            </a:endParaRPr>
          </a:p>
        </p:txBody>
      </p:sp>
      <p:sp>
        <p:nvSpPr>
          <p:cNvPr id="61" name="正方形/長方形 60">
            <a:extLst>
              <a:ext uri="{FF2B5EF4-FFF2-40B4-BE49-F238E27FC236}">
                <a16:creationId xmlns:a16="http://schemas.microsoft.com/office/drawing/2014/main" id="{D65C260E-26F9-2C43-96C0-3C51018560DE}"/>
              </a:ext>
            </a:extLst>
          </p:cNvPr>
          <p:cNvSpPr/>
          <p:nvPr/>
        </p:nvSpPr>
        <p:spPr bwMode="gray">
          <a:xfrm>
            <a:off x="3131604" y="2561997"/>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部門内でのデータモデルの作成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2" name="正方形/長方形 61">
            <a:extLst>
              <a:ext uri="{FF2B5EF4-FFF2-40B4-BE49-F238E27FC236}">
                <a16:creationId xmlns:a16="http://schemas.microsoft.com/office/drawing/2014/main" id="{1548CF20-039C-D24C-9982-2711912FD41D}"/>
              </a:ext>
            </a:extLst>
          </p:cNvPr>
          <p:cNvSpPr/>
          <p:nvPr/>
        </p:nvSpPr>
        <p:spPr bwMode="gray">
          <a:xfrm>
            <a:off x="4777857" y="2561997"/>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データモデルの全社展開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3" name="正方形/長方形 62">
            <a:extLst>
              <a:ext uri="{FF2B5EF4-FFF2-40B4-BE49-F238E27FC236}">
                <a16:creationId xmlns:a16="http://schemas.microsoft.com/office/drawing/2014/main" id="{4E0F4A4E-EFC9-F449-A4A2-ED7577E8C3C5}"/>
              </a:ext>
            </a:extLst>
          </p:cNvPr>
          <p:cNvSpPr/>
          <p:nvPr/>
        </p:nvSpPr>
        <p:spPr bwMode="gray">
          <a:xfrm>
            <a:off x="6435297" y="2561997"/>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データモデル検証結果の評価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4" name="正方形/長方形 63">
            <a:extLst>
              <a:ext uri="{FF2B5EF4-FFF2-40B4-BE49-F238E27FC236}">
                <a16:creationId xmlns:a16="http://schemas.microsoft.com/office/drawing/2014/main" id="{125F1CDB-933A-A94F-9A8E-69A3343E7AEF}"/>
              </a:ext>
            </a:extLst>
          </p:cNvPr>
          <p:cNvSpPr/>
          <p:nvPr/>
        </p:nvSpPr>
        <p:spPr bwMode="gray">
          <a:xfrm>
            <a:off x="262417" y="2561997"/>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③データモデリングと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デザイン</a:t>
            </a:r>
            <a:endParaRPr lang="en-US" altLang="ja-JP" sz="900" dirty="0">
              <a:latin typeface="Meiryo UI" panose="020B0604030504040204" pitchFamily="34" charset="-128"/>
              <a:ea typeface="Meiryo UI" panose="020B0604030504040204" pitchFamily="34" charset="-128"/>
            </a:endParaRPr>
          </a:p>
        </p:txBody>
      </p:sp>
      <p:sp>
        <p:nvSpPr>
          <p:cNvPr id="65" name="正方形/長方形 64">
            <a:extLst>
              <a:ext uri="{FF2B5EF4-FFF2-40B4-BE49-F238E27FC236}">
                <a16:creationId xmlns:a16="http://schemas.microsoft.com/office/drawing/2014/main" id="{9EBAE81B-C797-9E43-B50F-399D52E79252}"/>
              </a:ext>
            </a:extLst>
          </p:cNvPr>
          <p:cNvSpPr/>
          <p:nvPr/>
        </p:nvSpPr>
        <p:spPr bwMode="gray">
          <a:xfrm>
            <a:off x="3131604" y="2891791"/>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6" name="正方形/長方形 65">
            <a:extLst>
              <a:ext uri="{FF2B5EF4-FFF2-40B4-BE49-F238E27FC236}">
                <a16:creationId xmlns:a16="http://schemas.microsoft.com/office/drawing/2014/main" id="{8694BAD2-48AC-F547-8F74-459FFC4951C4}"/>
              </a:ext>
            </a:extLst>
          </p:cNvPr>
          <p:cNvSpPr/>
          <p:nvPr/>
        </p:nvSpPr>
        <p:spPr bwMode="gray">
          <a:xfrm>
            <a:off x="4777857" y="2891791"/>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a:solidFill>
                  <a:sysClr val="windowText" lastClr="000000"/>
                </a:solidFill>
                <a:latin typeface="Meiryo UI" panose="020B0604030504040204" pitchFamily="34" charset="-128"/>
                <a:ea typeface="Meiryo UI" panose="020B0604030504040204" pitchFamily="34" charset="-128"/>
              </a:rPr>
              <a:t>環境の全社展開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7" name="正方形/長方形 66">
            <a:extLst>
              <a:ext uri="{FF2B5EF4-FFF2-40B4-BE49-F238E27FC236}">
                <a16:creationId xmlns:a16="http://schemas.microsoft.com/office/drawing/2014/main" id="{EB78A098-1A8E-AF4F-A6F7-F8AD7E5EE442}"/>
              </a:ext>
            </a:extLst>
          </p:cNvPr>
          <p:cNvSpPr/>
          <p:nvPr/>
        </p:nvSpPr>
        <p:spPr bwMode="gray">
          <a:xfrm>
            <a:off x="6435296" y="2891791"/>
            <a:ext cx="3242103"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　性能・運用・サービスの評価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8" name="正方形/長方形 67">
            <a:extLst>
              <a:ext uri="{FF2B5EF4-FFF2-40B4-BE49-F238E27FC236}">
                <a16:creationId xmlns:a16="http://schemas.microsoft.com/office/drawing/2014/main" id="{50EE6BA4-7020-2046-B0D0-74BD312E605F}"/>
              </a:ext>
            </a:extLst>
          </p:cNvPr>
          <p:cNvSpPr/>
          <p:nvPr/>
        </p:nvSpPr>
        <p:spPr bwMode="gray">
          <a:xfrm>
            <a:off x="262417" y="2892016"/>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④データストレージと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オペレーションズ</a:t>
            </a:r>
            <a:endParaRPr lang="en-US" altLang="ja-JP" sz="900" dirty="0">
              <a:latin typeface="Meiryo UI" panose="020B0604030504040204" pitchFamily="34" charset="-128"/>
              <a:ea typeface="Meiryo UI" panose="020B0604030504040204" pitchFamily="34" charset="-128"/>
            </a:endParaRPr>
          </a:p>
        </p:txBody>
      </p:sp>
      <p:sp>
        <p:nvSpPr>
          <p:cNvPr id="69" name="正方形/長方形 68">
            <a:extLst>
              <a:ext uri="{FF2B5EF4-FFF2-40B4-BE49-F238E27FC236}">
                <a16:creationId xmlns:a16="http://schemas.microsoft.com/office/drawing/2014/main" id="{7B4C2469-3CB7-DD49-9B16-784F400B7A87}"/>
              </a:ext>
            </a:extLst>
          </p:cNvPr>
          <p:cNvSpPr/>
          <p:nvPr/>
        </p:nvSpPr>
        <p:spPr bwMode="gray">
          <a:xfrm>
            <a:off x="1478549" y="520428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データ品質の問題が散見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0" name="正方形/長方形 69">
            <a:extLst>
              <a:ext uri="{FF2B5EF4-FFF2-40B4-BE49-F238E27FC236}">
                <a16:creationId xmlns:a16="http://schemas.microsoft.com/office/drawing/2014/main" id="{66BD7489-E757-B04F-80C1-70FE4438A397}"/>
              </a:ext>
            </a:extLst>
          </p:cNvPr>
          <p:cNvSpPr/>
          <p:nvPr/>
        </p:nvSpPr>
        <p:spPr bwMode="gray">
          <a:xfrm>
            <a:off x="3131604" y="520428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部門に閉じたデータ品質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1" name="正方形/長方形 70">
            <a:extLst>
              <a:ext uri="{FF2B5EF4-FFF2-40B4-BE49-F238E27FC236}">
                <a16:creationId xmlns:a16="http://schemas.microsoft.com/office/drawing/2014/main" id="{1F19F784-EB02-2744-9A62-8D3970209C75}"/>
              </a:ext>
            </a:extLst>
          </p:cNvPr>
          <p:cNvSpPr/>
          <p:nvPr/>
        </p:nvSpPr>
        <p:spPr bwMode="gray">
          <a:xfrm>
            <a:off x="4777857" y="520428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全社でのデータ品質の向上</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2" name="正方形/長方形 71">
            <a:extLst>
              <a:ext uri="{FF2B5EF4-FFF2-40B4-BE49-F238E27FC236}">
                <a16:creationId xmlns:a16="http://schemas.microsoft.com/office/drawing/2014/main" id="{512BAEBF-80C5-C348-B1AA-97E9847239CA}"/>
              </a:ext>
            </a:extLst>
          </p:cNvPr>
          <p:cNvSpPr/>
          <p:nvPr/>
        </p:nvSpPr>
        <p:spPr bwMode="gray">
          <a:xfrm>
            <a:off x="6435297" y="5204281"/>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データ品質の測定</a:t>
            </a:r>
          </a:p>
        </p:txBody>
      </p:sp>
      <p:sp>
        <p:nvSpPr>
          <p:cNvPr id="73" name="正方形/長方形 72">
            <a:extLst>
              <a:ext uri="{FF2B5EF4-FFF2-40B4-BE49-F238E27FC236}">
                <a16:creationId xmlns:a16="http://schemas.microsoft.com/office/drawing/2014/main" id="{68A68229-6525-4543-8A95-CC20519CE75D}"/>
              </a:ext>
            </a:extLst>
          </p:cNvPr>
          <p:cNvSpPr/>
          <p:nvPr/>
        </p:nvSpPr>
        <p:spPr bwMode="gray">
          <a:xfrm>
            <a:off x="8084103" y="5204281"/>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データ品質の改善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74" name="正方形/長方形 73">
            <a:extLst>
              <a:ext uri="{FF2B5EF4-FFF2-40B4-BE49-F238E27FC236}">
                <a16:creationId xmlns:a16="http://schemas.microsoft.com/office/drawing/2014/main" id="{D61B28BC-1A45-1440-AE79-83D223628C8C}"/>
              </a:ext>
            </a:extLst>
          </p:cNvPr>
          <p:cNvSpPr/>
          <p:nvPr/>
        </p:nvSpPr>
        <p:spPr bwMode="gray">
          <a:xfrm>
            <a:off x="262417" y="520502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⑪データ品質</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ja-JP" altLang="en-US" sz="900" dirty="0">
              <a:latin typeface="Meiryo UI" panose="020B0604030504040204" pitchFamily="34" charset="-128"/>
              <a:ea typeface="Meiryo UI" panose="020B0604030504040204" pitchFamily="34" charset="-128"/>
            </a:endParaRPr>
          </a:p>
        </p:txBody>
      </p:sp>
      <p:cxnSp>
        <p:nvCxnSpPr>
          <p:cNvPr id="75" name="直線矢印コネクタ 74">
            <a:extLst>
              <a:ext uri="{FF2B5EF4-FFF2-40B4-BE49-F238E27FC236}">
                <a16:creationId xmlns:a16="http://schemas.microsoft.com/office/drawing/2014/main" id="{FBA4220C-B8A9-D04C-9AD7-B6271F464A19}"/>
              </a:ext>
            </a:extLst>
          </p:cNvPr>
          <p:cNvCxnSpPr>
            <a:cxnSpLocks/>
          </p:cNvCxnSpPr>
          <p:nvPr/>
        </p:nvCxnSpPr>
        <p:spPr>
          <a:xfrm flipV="1">
            <a:off x="1384661" y="1802856"/>
            <a:ext cx="0" cy="3744820"/>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6" name="直線矢印コネクタ 75">
            <a:extLst>
              <a:ext uri="{FF2B5EF4-FFF2-40B4-BE49-F238E27FC236}">
                <a16:creationId xmlns:a16="http://schemas.microsoft.com/office/drawing/2014/main" id="{4FA80155-DEAA-514B-A3F4-A96D1B60370A}"/>
              </a:ext>
            </a:extLst>
          </p:cNvPr>
          <p:cNvCxnSpPr>
            <a:cxnSpLocks/>
          </p:cNvCxnSpPr>
          <p:nvPr/>
        </p:nvCxnSpPr>
        <p:spPr>
          <a:xfrm flipV="1">
            <a:off x="1376348" y="5547677"/>
            <a:ext cx="8292738" cy="1"/>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正方形/長方形 76">
            <a:extLst>
              <a:ext uri="{FF2B5EF4-FFF2-40B4-BE49-F238E27FC236}">
                <a16:creationId xmlns:a16="http://schemas.microsoft.com/office/drawing/2014/main" id="{D11996B5-B7D3-4B4D-963B-992439120B9E}"/>
              </a:ext>
            </a:extLst>
          </p:cNvPr>
          <p:cNvSpPr/>
          <p:nvPr/>
        </p:nvSpPr>
        <p:spPr bwMode="gray">
          <a:xfrm>
            <a:off x="3131604" y="2231978"/>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データアーキテクチャの作成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部門内での業務標準用語</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8" name="正方形/長方形 77">
            <a:extLst>
              <a:ext uri="{FF2B5EF4-FFF2-40B4-BE49-F238E27FC236}">
                <a16:creationId xmlns:a16="http://schemas.microsoft.com/office/drawing/2014/main" id="{98D1772C-D0B8-B34E-9316-6D4E4A704D88}"/>
              </a:ext>
            </a:extLst>
          </p:cNvPr>
          <p:cNvSpPr/>
          <p:nvPr/>
        </p:nvSpPr>
        <p:spPr bwMode="gray">
          <a:xfrm>
            <a:off x="4777857" y="2231978"/>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データアーキテクチャの全社展開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全社共通の業務標準用語</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9" name="正方形/長方形 78">
            <a:extLst>
              <a:ext uri="{FF2B5EF4-FFF2-40B4-BE49-F238E27FC236}">
                <a16:creationId xmlns:a16="http://schemas.microsoft.com/office/drawing/2014/main" id="{03205415-EEA2-F54E-AF38-6A4F58FDAAA1}"/>
              </a:ext>
            </a:extLst>
          </p:cNvPr>
          <p:cNvSpPr/>
          <p:nvPr/>
        </p:nvSpPr>
        <p:spPr bwMode="gray">
          <a:xfrm>
            <a:off x="6435297" y="2231903"/>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データアーキテクチャ遵守の測定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0" name="正方形/長方形 79">
            <a:extLst>
              <a:ext uri="{FF2B5EF4-FFF2-40B4-BE49-F238E27FC236}">
                <a16:creationId xmlns:a16="http://schemas.microsoft.com/office/drawing/2014/main" id="{F7779572-0B0D-7748-A707-838A8DD6E4B0}"/>
              </a:ext>
            </a:extLst>
          </p:cNvPr>
          <p:cNvSpPr/>
          <p:nvPr/>
        </p:nvSpPr>
        <p:spPr bwMode="gray">
          <a:xfrm>
            <a:off x="262417" y="2231978"/>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②データ</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アーキテクチャ</a:t>
            </a:r>
          </a:p>
        </p:txBody>
      </p:sp>
      <p:sp>
        <p:nvSpPr>
          <p:cNvPr id="81" name="正方形/長方形 80">
            <a:extLst>
              <a:ext uri="{FF2B5EF4-FFF2-40B4-BE49-F238E27FC236}">
                <a16:creationId xmlns:a16="http://schemas.microsoft.com/office/drawing/2014/main" id="{9C2B4D0E-A0F6-574F-BE6D-B52ED68FC1D8}"/>
              </a:ext>
            </a:extLst>
          </p:cNvPr>
          <p:cNvSpPr/>
          <p:nvPr/>
        </p:nvSpPr>
        <p:spPr bwMode="gray">
          <a:xfrm>
            <a:off x="3131604" y="3222035"/>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2" name="正方形/長方形 81">
            <a:extLst>
              <a:ext uri="{FF2B5EF4-FFF2-40B4-BE49-F238E27FC236}">
                <a16:creationId xmlns:a16="http://schemas.microsoft.com/office/drawing/2014/main" id="{895759E9-0378-F641-8B9D-F4A286E49811}"/>
              </a:ext>
            </a:extLst>
          </p:cNvPr>
          <p:cNvSpPr/>
          <p:nvPr/>
        </p:nvSpPr>
        <p:spPr bwMode="gray">
          <a:xfrm>
            <a:off x="4777857" y="3222035"/>
            <a:ext cx="1593298" cy="300938"/>
          </a:xfrm>
          <a:prstGeom prst="rect">
            <a:avLst/>
          </a:prstGeom>
          <a:solidFill>
            <a:schemeClr val="bg2">
              <a:lumMod val="40000"/>
              <a:lumOff val="6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3" name="正方形/長方形 82">
            <a:extLst>
              <a:ext uri="{FF2B5EF4-FFF2-40B4-BE49-F238E27FC236}">
                <a16:creationId xmlns:a16="http://schemas.microsoft.com/office/drawing/2014/main" id="{7317565E-BF1D-3544-B238-972052ABA960}"/>
              </a:ext>
            </a:extLst>
          </p:cNvPr>
          <p:cNvSpPr/>
          <p:nvPr/>
        </p:nvSpPr>
        <p:spPr bwMode="gray">
          <a:xfrm>
            <a:off x="6435297" y="3222035"/>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データセキュリティ実現評価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4" name="正方形/長方形 83">
            <a:extLst>
              <a:ext uri="{FF2B5EF4-FFF2-40B4-BE49-F238E27FC236}">
                <a16:creationId xmlns:a16="http://schemas.microsoft.com/office/drawing/2014/main" id="{EAC1CC13-6A24-E941-8E12-E72B2FA5075A}"/>
              </a:ext>
            </a:extLst>
          </p:cNvPr>
          <p:cNvSpPr/>
          <p:nvPr/>
        </p:nvSpPr>
        <p:spPr bwMode="gray">
          <a:xfrm>
            <a:off x="8084103" y="3222035"/>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データセキュリティの改善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85" name="正方形/長方形 84">
            <a:extLst>
              <a:ext uri="{FF2B5EF4-FFF2-40B4-BE49-F238E27FC236}">
                <a16:creationId xmlns:a16="http://schemas.microsoft.com/office/drawing/2014/main" id="{651AF7CC-9D76-A94C-8892-BD002898F8C1}"/>
              </a:ext>
            </a:extLst>
          </p:cNvPr>
          <p:cNvSpPr/>
          <p:nvPr/>
        </p:nvSpPr>
        <p:spPr bwMode="gray">
          <a:xfrm>
            <a:off x="262417" y="3222035"/>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⑤データセキュリティ</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en-US" altLang="ja-JP" sz="900" dirty="0">
              <a:latin typeface="Meiryo UI" panose="020B0604030504040204" pitchFamily="34" charset="-128"/>
              <a:ea typeface="Meiryo UI" panose="020B0604030504040204" pitchFamily="34" charset="-128"/>
            </a:endParaRPr>
          </a:p>
        </p:txBody>
      </p:sp>
      <p:sp>
        <p:nvSpPr>
          <p:cNvPr id="86" name="正方形/長方形 85">
            <a:extLst>
              <a:ext uri="{FF2B5EF4-FFF2-40B4-BE49-F238E27FC236}">
                <a16:creationId xmlns:a16="http://schemas.microsoft.com/office/drawing/2014/main" id="{3DEAA759-1CAE-394A-BA1E-9DEC80F8EE39}"/>
              </a:ext>
            </a:extLst>
          </p:cNvPr>
          <p:cNvSpPr/>
          <p:nvPr/>
        </p:nvSpPr>
        <p:spPr bwMode="gray">
          <a:xfrm>
            <a:off x="3131604" y="3553014"/>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データの移動と統合の管理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7" name="正方形/長方形 86">
            <a:extLst>
              <a:ext uri="{FF2B5EF4-FFF2-40B4-BE49-F238E27FC236}">
                <a16:creationId xmlns:a16="http://schemas.microsoft.com/office/drawing/2014/main" id="{52CE7AFC-3A95-8243-89EB-73A3643B6834}"/>
              </a:ext>
            </a:extLst>
          </p:cNvPr>
          <p:cNvSpPr/>
          <p:nvPr/>
        </p:nvSpPr>
        <p:spPr bwMode="gray">
          <a:xfrm>
            <a:off x="4777857" y="3553014"/>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データの移動</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a:solidFill>
                  <a:sysClr val="windowText" lastClr="000000"/>
                </a:solidFill>
                <a:latin typeface="Meiryo UI" panose="020B0604030504040204" pitchFamily="34" charset="-128"/>
                <a:ea typeface="Meiryo UI" panose="020B0604030504040204" pitchFamily="34" charset="-128"/>
              </a:rPr>
              <a:t>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8" name="正方形/長方形 87">
            <a:extLst>
              <a:ext uri="{FF2B5EF4-FFF2-40B4-BE49-F238E27FC236}">
                <a16:creationId xmlns:a16="http://schemas.microsoft.com/office/drawing/2014/main" id="{922AAEE0-A4D6-2145-9712-9DB0924354FB}"/>
              </a:ext>
            </a:extLst>
          </p:cNvPr>
          <p:cNvSpPr/>
          <p:nvPr/>
        </p:nvSpPr>
        <p:spPr bwMode="gray">
          <a:xfrm>
            <a:off x="6435297" y="3553014"/>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可用性・量・速度の測定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89" name="正方形/長方形 88">
            <a:extLst>
              <a:ext uri="{FF2B5EF4-FFF2-40B4-BE49-F238E27FC236}">
                <a16:creationId xmlns:a16="http://schemas.microsoft.com/office/drawing/2014/main" id="{CC2B7046-E84B-784F-99C8-D35C3914ABB1}"/>
              </a:ext>
            </a:extLst>
          </p:cNvPr>
          <p:cNvSpPr/>
          <p:nvPr/>
        </p:nvSpPr>
        <p:spPr bwMode="gray">
          <a:xfrm>
            <a:off x="262417" y="3553014"/>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⑥データ統合と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相互運用性</a:t>
            </a:r>
            <a:endParaRPr lang="en-US" altLang="ja-JP" sz="900" dirty="0">
              <a:latin typeface="Meiryo UI" panose="020B0604030504040204" pitchFamily="34" charset="-128"/>
              <a:ea typeface="Meiryo UI" panose="020B0604030504040204" pitchFamily="34" charset="-128"/>
            </a:endParaRPr>
          </a:p>
        </p:txBody>
      </p:sp>
      <p:sp>
        <p:nvSpPr>
          <p:cNvPr id="90" name="テキスト ボックス 89">
            <a:extLst>
              <a:ext uri="{FF2B5EF4-FFF2-40B4-BE49-F238E27FC236}">
                <a16:creationId xmlns:a16="http://schemas.microsoft.com/office/drawing/2014/main" id="{41060D98-6D3F-4543-8FDC-F860295EFE72}"/>
              </a:ext>
            </a:extLst>
          </p:cNvPr>
          <p:cNvSpPr txBox="1"/>
          <p:nvPr/>
        </p:nvSpPr>
        <p:spPr>
          <a:xfrm>
            <a:off x="263769" y="6132673"/>
            <a:ext cx="6165470" cy="307777"/>
          </a:xfrm>
          <a:prstGeom prst="rect">
            <a:avLst/>
          </a:prstGeom>
          <a:noFill/>
        </p:spPr>
        <p:txBody>
          <a:bodyPr wrap="none" rtlCol="0">
            <a:spAutoFit/>
          </a:bodyPr>
          <a:lstStyle/>
          <a:p>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1</a:t>
            </a:r>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①②③</a:t>
            </a:r>
            <a:r>
              <a:rPr kumimoji="1" lang="ja-JP" altLang="en-US" sz="700" dirty="0">
                <a:solidFill>
                  <a:schemeClr val="tx1">
                    <a:lumMod val="50000"/>
                    <a:lumOff val="50000"/>
                  </a:schemeClr>
                </a:solidFill>
                <a:latin typeface="Meiryo UI" panose="020B0604030504040204" pitchFamily="34" charset="-128"/>
              </a:rPr>
              <a:t>は基礎的なアクティビティであり、他の実施項目と依存関係によりステップ毎に同等レベルで実施される。（</a:t>
            </a:r>
            <a:r>
              <a:rPr kumimoji="1" lang="en-US" altLang="ja-JP" sz="700" dirty="0">
                <a:solidFill>
                  <a:schemeClr val="tx1">
                    <a:lumMod val="50000"/>
                    <a:lumOff val="50000"/>
                  </a:schemeClr>
                </a:solidFill>
                <a:latin typeface="Meiryo UI" panose="020B0604030504040204" pitchFamily="34" charset="-128"/>
              </a:rPr>
              <a:t>Appendix</a:t>
            </a:r>
            <a:r>
              <a:rPr kumimoji="1" lang="ja-JP" altLang="en-US" sz="700" dirty="0">
                <a:solidFill>
                  <a:schemeClr val="tx1">
                    <a:lumMod val="50000"/>
                    <a:lumOff val="50000"/>
                  </a:schemeClr>
                </a:solidFill>
                <a:latin typeface="Meiryo UI" panose="020B0604030504040204" pitchFamily="34" charset="-128"/>
              </a:rPr>
              <a:t>参照）</a:t>
            </a:r>
            <a:endParaRPr kumimoji="1" lang="en-US" altLang="ja-JP" sz="700" dirty="0">
              <a:solidFill>
                <a:schemeClr val="tx1">
                  <a:lumMod val="50000"/>
                  <a:lumOff val="50000"/>
                </a:schemeClr>
              </a:solidFill>
              <a:latin typeface="Meiryo UI" panose="020B0604030504040204" pitchFamily="34" charset="-128"/>
            </a:endParaRPr>
          </a:p>
          <a:p>
            <a:r>
              <a:rPr lang="en-US" altLang="ja-JP" sz="700" dirty="0">
                <a:solidFill>
                  <a:schemeClr val="tx1">
                    <a:lumMod val="50000"/>
                    <a:lumOff val="50000"/>
                  </a:schemeClr>
                </a:solidFill>
                <a:latin typeface="Meiryo UI" panose="020B0604030504040204" pitchFamily="34" charset="-128"/>
              </a:rPr>
              <a:t>*2</a:t>
            </a:r>
            <a:r>
              <a:rPr lang="ja-JP" altLang="en-US" sz="700" dirty="0">
                <a:solidFill>
                  <a:schemeClr val="tx1">
                    <a:lumMod val="50000"/>
                    <a:lumOff val="50000"/>
                  </a:schemeClr>
                </a:solidFill>
                <a:latin typeface="Meiryo UI" panose="020B0604030504040204" pitchFamily="34" charset="-128"/>
              </a:rPr>
              <a:t>：</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は拠点内では実施できている想定。</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に加え、</a:t>
            </a:r>
            <a:r>
              <a:rPr lang="en-US" altLang="ja-JP" sz="700" dirty="0">
                <a:solidFill>
                  <a:schemeClr val="tx1">
                    <a:lumMod val="50000"/>
                    <a:lumOff val="50000"/>
                  </a:schemeClr>
                </a:solidFill>
                <a:latin typeface="Meiryo UI" panose="020B0604030504040204" pitchFamily="34" charset="-128"/>
              </a:rPr>
              <a:t>⑤〜⑪</a:t>
            </a:r>
            <a:r>
              <a:rPr lang="ja-JP" altLang="en-US" sz="700" dirty="0">
                <a:solidFill>
                  <a:schemeClr val="tx1">
                    <a:lumMod val="50000"/>
                    <a:lumOff val="50000"/>
                  </a:schemeClr>
                </a:solidFill>
                <a:latin typeface="Meiryo UI" panose="020B0604030504040204" pitchFamily="34" charset="-128"/>
              </a:rPr>
              <a:t>については基幹刷新で目指す</a:t>
            </a:r>
            <a:r>
              <a:rPr lang="en-US" altLang="ja-JP" sz="700" dirty="0">
                <a:solidFill>
                  <a:schemeClr val="tx1">
                    <a:lumMod val="50000"/>
                    <a:lumOff val="50000"/>
                  </a:schemeClr>
                </a:solidFill>
                <a:latin typeface="Meiryo UI" panose="020B0604030504040204" pitchFamily="34" charset="-128"/>
              </a:rPr>
              <a:t>SBU</a:t>
            </a:r>
            <a:r>
              <a:rPr lang="ja-JP" altLang="en-US" sz="700" dirty="0">
                <a:solidFill>
                  <a:schemeClr val="tx1">
                    <a:lumMod val="50000"/>
                    <a:lumOff val="50000"/>
                  </a:schemeClr>
                </a:solidFill>
                <a:latin typeface="Meiryo UI" panose="020B0604030504040204" pitchFamily="34" charset="-128"/>
              </a:rPr>
              <a:t>単位での位置づけでの実施レベルは不十分との想定。</a:t>
            </a:r>
            <a:endParaRPr kumimoji="1" lang="ja-JP" altLang="en-US" sz="700" dirty="0">
              <a:solidFill>
                <a:schemeClr val="tx1">
                  <a:lumMod val="50000"/>
                  <a:lumOff val="50000"/>
                </a:schemeClr>
              </a:solidFill>
              <a:latin typeface="Meiryo UI" panose="020B0604030504040204" pitchFamily="34" charset="-128"/>
            </a:endParaRPr>
          </a:p>
        </p:txBody>
      </p:sp>
      <p:sp>
        <p:nvSpPr>
          <p:cNvPr id="91" name="正方形/長方形 53">
            <a:extLst>
              <a:ext uri="{FF2B5EF4-FFF2-40B4-BE49-F238E27FC236}">
                <a16:creationId xmlns:a16="http://schemas.microsoft.com/office/drawing/2014/main" id="{0C28F077-E50E-5940-9300-42217835A6B6}"/>
              </a:ext>
            </a:extLst>
          </p:cNvPr>
          <p:cNvSpPr/>
          <p:nvPr/>
        </p:nvSpPr>
        <p:spPr bwMode="gray">
          <a:xfrm>
            <a:off x="1478549" y="2231018"/>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2" name="正方形/長方形 53">
            <a:extLst>
              <a:ext uri="{FF2B5EF4-FFF2-40B4-BE49-F238E27FC236}">
                <a16:creationId xmlns:a16="http://schemas.microsoft.com/office/drawing/2014/main" id="{7CD5AEFB-A9FE-1D42-B02D-2B5D70B93221}"/>
              </a:ext>
            </a:extLst>
          </p:cNvPr>
          <p:cNvSpPr/>
          <p:nvPr/>
        </p:nvSpPr>
        <p:spPr bwMode="gray">
          <a:xfrm>
            <a:off x="1478549" y="2561037"/>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データモデリングとデザイン</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3" name="正方形/長方形 94">
            <a:extLst>
              <a:ext uri="{FF2B5EF4-FFF2-40B4-BE49-F238E27FC236}">
                <a16:creationId xmlns:a16="http://schemas.microsoft.com/office/drawing/2014/main" id="{091F8140-BE00-3C44-B958-5DB55F17371F}"/>
              </a:ext>
            </a:extLst>
          </p:cNvPr>
          <p:cNvSpPr/>
          <p:nvPr/>
        </p:nvSpPr>
        <p:spPr bwMode="gray">
          <a:xfrm>
            <a:off x="1478549" y="3552054"/>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アプリケーション・プロセス単位でのデータ管理・運用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4" name="正方形/長方形 94">
            <a:extLst>
              <a:ext uri="{FF2B5EF4-FFF2-40B4-BE49-F238E27FC236}">
                <a16:creationId xmlns:a16="http://schemas.microsoft.com/office/drawing/2014/main" id="{0D256E72-F277-D140-875C-1977E48000A3}"/>
              </a:ext>
            </a:extLst>
          </p:cNvPr>
          <p:cNvSpPr/>
          <p:nvPr/>
        </p:nvSpPr>
        <p:spPr bwMode="gray">
          <a:xfrm>
            <a:off x="1478549" y="3882073"/>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拠点・プロセス単位での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ドキュメント・コンテンツ管理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5" name="正方形/長方形 94">
            <a:extLst>
              <a:ext uri="{FF2B5EF4-FFF2-40B4-BE49-F238E27FC236}">
                <a16:creationId xmlns:a16="http://schemas.microsoft.com/office/drawing/2014/main" id="{0CE7BF2A-FB19-674D-8867-3B26845C6555}"/>
              </a:ext>
            </a:extLst>
          </p:cNvPr>
          <p:cNvSpPr/>
          <p:nvPr/>
        </p:nvSpPr>
        <p:spPr bwMode="gray">
          <a:xfrm>
            <a:off x="1478549" y="4213052"/>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拠点・アプリケーション単位での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参照データマスタデータ管理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6" name="正方形/長方形 88">
            <a:extLst>
              <a:ext uri="{FF2B5EF4-FFF2-40B4-BE49-F238E27FC236}">
                <a16:creationId xmlns:a16="http://schemas.microsoft.com/office/drawing/2014/main" id="{88AA283F-F4B1-EC49-AE3B-4D14BEACC16F}"/>
              </a:ext>
            </a:extLst>
          </p:cNvPr>
          <p:cNvSpPr/>
          <p:nvPr/>
        </p:nvSpPr>
        <p:spPr bwMode="gray">
          <a:xfrm>
            <a:off x="1482798" y="454403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共通の</a:t>
            </a: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dirty="0">
                <a:solidFill>
                  <a:sysClr val="windowText" lastClr="000000"/>
                </a:solidFill>
                <a:latin typeface="Meiryo UI" panose="020B0604030504040204" pitchFamily="34" charset="-128"/>
                <a:ea typeface="Meiryo UI" panose="020B0604030504040204" pitchFamily="34" charset="-128"/>
              </a:rPr>
              <a:t>の不在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7" name="正方形/長方形 94">
            <a:extLst>
              <a:ext uri="{FF2B5EF4-FFF2-40B4-BE49-F238E27FC236}">
                <a16:creationId xmlns:a16="http://schemas.microsoft.com/office/drawing/2014/main" id="{0C6B1D65-0D85-C743-B577-498BC07D754F}"/>
              </a:ext>
            </a:extLst>
          </p:cNvPr>
          <p:cNvSpPr/>
          <p:nvPr/>
        </p:nvSpPr>
        <p:spPr bwMode="gray">
          <a:xfrm>
            <a:off x="1478549" y="3222035"/>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8" name="正方形/長方形 94">
            <a:extLst>
              <a:ext uri="{FF2B5EF4-FFF2-40B4-BE49-F238E27FC236}">
                <a16:creationId xmlns:a16="http://schemas.microsoft.com/office/drawing/2014/main" id="{03A61020-4FD8-B04B-81C1-551C0690F5CC}"/>
              </a:ext>
            </a:extLst>
          </p:cNvPr>
          <p:cNvSpPr/>
          <p:nvPr/>
        </p:nvSpPr>
        <p:spPr bwMode="gray">
          <a:xfrm>
            <a:off x="1478549" y="2891791"/>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環境と運用体制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99" name="テキスト プレースホルダー 2">
            <a:extLst>
              <a:ext uri="{FF2B5EF4-FFF2-40B4-BE49-F238E27FC236}">
                <a16:creationId xmlns:a16="http://schemas.microsoft.com/office/drawing/2014/main" id="{76D212E2-5AF5-BE48-8B33-87A271DF55CE}"/>
              </a:ext>
            </a:extLst>
          </p:cNvPr>
          <p:cNvSpPr>
            <a:spLocks noGrp="1"/>
          </p:cNvSpPr>
          <p:nvPr>
            <p:ph type="body" sz="quarter" idx="10"/>
          </p:nvPr>
        </p:nvSpPr>
        <p:spPr>
          <a:xfrm>
            <a:off x="236538" y="574775"/>
            <a:ext cx="9440862" cy="527315"/>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過去の報告書等ご教示いただいた情報に鑑み、データセキュリティを除いた各ナレッジエリアにおいて、拠点単位の最適化に止まっている状態と推察する。</a:t>
            </a:r>
          </a:p>
        </p:txBody>
      </p:sp>
      <p:sp>
        <p:nvSpPr>
          <p:cNvPr id="100" name="Callout: Line 28">
            <a:extLst>
              <a:ext uri="{FF2B5EF4-FFF2-40B4-BE49-F238E27FC236}">
                <a16:creationId xmlns:a16="http://schemas.microsoft.com/office/drawing/2014/main" id="{67F9AF11-86C6-AE4C-AD3E-964C45BBFED6}"/>
              </a:ext>
            </a:extLst>
          </p:cNvPr>
          <p:cNvSpPr/>
          <p:nvPr/>
        </p:nvSpPr>
        <p:spPr>
          <a:xfrm>
            <a:off x="6122126" y="2828643"/>
            <a:ext cx="1297576" cy="350934"/>
          </a:xfrm>
          <a:prstGeom prst="borderCallout1">
            <a:avLst>
              <a:gd name="adj1" fmla="val 73344"/>
              <a:gd name="adj2" fmla="val -950"/>
              <a:gd name="adj3" fmla="val 112500"/>
              <a:gd name="adj4" fmla="val -38333"/>
            </a:avLst>
          </a:prstGeom>
          <a:solidFill>
            <a:schemeClr val="bg1"/>
          </a:solidFill>
          <a:ln>
            <a:solidFill>
              <a:schemeClr val="tx2">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700" dirty="0">
                <a:solidFill>
                  <a:sysClr val="windowText" lastClr="000000"/>
                </a:solidFill>
                <a:latin typeface="Meiryo UI" panose="020B0604030504040204" pitchFamily="34" charset="-128"/>
                <a:ea typeface="Meiryo UI" panose="020B0604030504040204" pitchFamily="34" charset="-128"/>
              </a:rPr>
              <a:t>IT</a:t>
            </a:r>
            <a:r>
              <a:rPr lang="ja-JP" altLang="en-US" sz="700" dirty="0">
                <a:solidFill>
                  <a:sysClr val="windowText" lastClr="000000"/>
                </a:solidFill>
                <a:latin typeface="Meiryo UI" panose="020B0604030504040204" pitchFamily="34" charset="-128"/>
                <a:ea typeface="Meiryo UI" panose="020B0604030504040204" pitchFamily="34" charset="-128"/>
              </a:rPr>
              <a:t>セキュリティの観点で</a:t>
            </a:r>
            <a:br>
              <a:rPr lang="en-US" altLang="ja-JP" sz="700" dirty="0">
                <a:solidFill>
                  <a:sysClr val="windowText" lastClr="000000"/>
                </a:solidFill>
                <a:latin typeface="Meiryo UI" panose="020B0604030504040204" pitchFamily="34" charset="-128"/>
                <a:ea typeface="Meiryo UI" panose="020B0604030504040204" pitchFamily="34" charset="-128"/>
              </a:rPr>
            </a:br>
            <a:r>
              <a:rPr lang="ja-JP" altLang="en-US" sz="700" dirty="0">
                <a:solidFill>
                  <a:sysClr val="windowText" lastClr="000000"/>
                </a:solidFill>
                <a:latin typeface="Meiryo UI" panose="020B0604030504040204" pitchFamily="34" charset="-128"/>
                <a:ea typeface="Meiryo UI" panose="020B0604030504040204" pitchFamily="34" charset="-128"/>
              </a:rPr>
              <a:t>全社レベルで最低限担保されている状態と推測。</a:t>
            </a:r>
            <a:endParaRPr lang="en-US" sz="700" dirty="0">
              <a:solidFill>
                <a:sysClr val="windowText" lastClr="000000"/>
              </a:solidFill>
              <a:latin typeface="Meiryo UI" panose="020B0604030504040204" pitchFamily="34" charset="-128"/>
              <a:ea typeface="Meiryo UI" panose="020B0604030504040204" pitchFamily="34" charset="-128"/>
            </a:endParaRPr>
          </a:p>
        </p:txBody>
      </p:sp>
      <p:sp>
        <p:nvSpPr>
          <p:cNvPr id="101" name="Callout: Line 162">
            <a:extLst>
              <a:ext uri="{FF2B5EF4-FFF2-40B4-BE49-F238E27FC236}">
                <a16:creationId xmlns:a16="http://schemas.microsoft.com/office/drawing/2014/main" id="{23255066-C549-F043-A55B-57BA3A44019B}"/>
              </a:ext>
            </a:extLst>
          </p:cNvPr>
          <p:cNvSpPr/>
          <p:nvPr/>
        </p:nvSpPr>
        <p:spPr>
          <a:xfrm>
            <a:off x="5304542" y="5946563"/>
            <a:ext cx="1297576" cy="350934"/>
          </a:xfrm>
          <a:prstGeom prst="borderCallout1">
            <a:avLst>
              <a:gd name="adj1" fmla="val 41084"/>
              <a:gd name="adj2" fmla="val -7661"/>
              <a:gd name="adj3" fmla="val -4132"/>
              <a:gd name="adj4" fmla="val -57125"/>
            </a:avLst>
          </a:prstGeom>
          <a:solidFill>
            <a:schemeClr val="bg1"/>
          </a:solidFill>
          <a:ln>
            <a:solidFill>
              <a:schemeClr val="tx2">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ysClr val="windowText" lastClr="000000"/>
                </a:solidFill>
                <a:latin typeface="Meiryo UI" panose="020B0604030504040204" pitchFamily="34" charset="-128"/>
                <a:ea typeface="Meiryo UI" panose="020B0604030504040204" pitchFamily="34" charset="-128"/>
              </a:rPr>
              <a:t>各拠点内ではある程度一貫性があるが、拠点間の共通化がされていない。</a:t>
            </a:r>
            <a:endParaRPr lang="en-US" sz="700" dirty="0">
              <a:solidFill>
                <a:sysClr val="windowText" lastClr="000000"/>
              </a:solidFill>
              <a:latin typeface="Meiryo UI" panose="020B0604030504040204" pitchFamily="34" charset="-128"/>
              <a:ea typeface="Meiryo UI" panose="020B0604030504040204" pitchFamily="34" charset="-128"/>
            </a:endParaRPr>
          </a:p>
        </p:txBody>
      </p:sp>
      <p:sp>
        <p:nvSpPr>
          <p:cNvPr id="102" name="正方形/長方形 53">
            <a:extLst>
              <a:ext uri="{FF2B5EF4-FFF2-40B4-BE49-F238E27FC236}">
                <a16:creationId xmlns:a16="http://schemas.microsoft.com/office/drawing/2014/main" id="{AC1ACE68-55ED-FC4B-B478-5CAB8FA5A16C}"/>
              </a:ext>
            </a:extLst>
          </p:cNvPr>
          <p:cNvSpPr/>
          <p:nvPr/>
        </p:nvSpPr>
        <p:spPr bwMode="gray">
          <a:xfrm>
            <a:off x="236538" y="1288200"/>
            <a:ext cx="355600" cy="182434"/>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03" name="TextBox 165">
            <a:extLst>
              <a:ext uri="{FF2B5EF4-FFF2-40B4-BE49-F238E27FC236}">
                <a16:creationId xmlns:a16="http://schemas.microsoft.com/office/drawing/2014/main" id="{8094C411-E978-9F43-A446-7E57060CF6F9}"/>
              </a:ext>
            </a:extLst>
          </p:cNvPr>
          <p:cNvSpPr txBox="1"/>
          <p:nvPr/>
        </p:nvSpPr>
        <p:spPr>
          <a:xfrm>
            <a:off x="552452" y="1258671"/>
            <a:ext cx="1046235" cy="23083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 typeface="Wingdings 2" pitchFamily="18" charset="2"/>
              <a:buNone/>
              <a:tabLst/>
              <a:defRPr/>
            </a:pPr>
            <a:r>
              <a:rPr kumimoji="1" lang="ja-JP" altLang="en-US" sz="900" b="0" i="0" u="none" strike="noStrike" kern="1200" cap="none" spc="0" normalizeH="0" baseline="0" noProof="0" dirty="0">
                <a:ln>
                  <a:noFill/>
                </a:ln>
                <a:solidFill>
                  <a:sysClr val="windowText" lastClr="000000"/>
                </a:solidFill>
                <a:effectLst/>
                <a:uLnTx/>
                <a:uFillTx/>
                <a:latin typeface="Meiryo UI" panose="020B0604030504040204" pitchFamily="34" charset="-128"/>
                <a:ea typeface="Meiryo UI" panose="020B0604030504040204" pitchFamily="34" charset="-128"/>
                <a:cs typeface="+mn-cs"/>
              </a:rPr>
              <a:t>現状レベルの仮説</a:t>
            </a:r>
            <a:endParaRPr kumimoji="1" lang="en-US" altLang="ja-JP" sz="900" b="0" i="0" u="none" strike="noStrike" kern="1200" cap="none" spc="0" normalizeH="0" baseline="0" noProof="0" dirty="0">
              <a:ln>
                <a:noFill/>
              </a:ln>
              <a:solidFill>
                <a:sysClr val="windowText" lastClr="000000"/>
              </a:solidFill>
              <a:effectLst/>
              <a:uLnTx/>
              <a:uFillTx/>
              <a:latin typeface="Meiryo UI" panose="020B0604030504040204" pitchFamily="34" charset="-128"/>
              <a:ea typeface="Meiryo UI" panose="020B0604030504040204" pitchFamily="34" charset="-128"/>
              <a:cs typeface="+mn-cs"/>
            </a:endParaRPr>
          </a:p>
        </p:txBody>
      </p:sp>
    </p:spTree>
    <p:extLst>
      <p:ext uri="{BB962C8B-B14F-4D97-AF65-F5344CB8AC3E}">
        <p14:creationId xmlns:p14="http://schemas.microsoft.com/office/powerpoint/2010/main" val="1177901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1DC9CB-1CAB-EC4C-ACE3-33CE582DDB0D}"/>
              </a:ext>
            </a:extLst>
          </p:cNvPr>
          <p:cNvSpPr>
            <a:spLocks noGrp="1"/>
          </p:cNvSpPr>
          <p:nvPr>
            <p:ph type="title"/>
          </p:nvPr>
        </p:nvSpPr>
        <p:spPr>
          <a:xfrm>
            <a:off x="236538" y="128800"/>
            <a:ext cx="7754165" cy="349961"/>
          </a:xfrm>
        </p:spPr>
        <p:txBody>
          <a:bodyPr anchor="ctr"/>
          <a:lstStyle/>
          <a:p>
            <a:r>
              <a:rPr kumimoji="1" lang="en-US" altLang="ja-JP" sz="1600" dirty="0"/>
              <a:t>Appendix</a:t>
            </a:r>
            <a:br>
              <a:rPr kumimoji="1" lang="en-US" altLang="ja-JP" dirty="0"/>
            </a:br>
            <a:r>
              <a:rPr kumimoji="1" lang="en-US" altLang="ja-JP" b="1" dirty="0"/>
              <a:t>DAMA</a:t>
            </a:r>
            <a:r>
              <a:rPr kumimoji="1" lang="ja-JP" altLang="en-US" b="1"/>
              <a:t>データマネジメント機能フレームワーク</a:t>
            </a:r>
          </a:p>
        </p:txBody>
      </p:sp>
      <p:sp>
        <p:nvSpPr>
          <p:cNvPr id="3" name="テキスト プレースホルダー 2">
            <a:extLst>
              <a:ext uri="{FF2B5EF4-FFF2-40B4-BE49-F238E27FC236}">
                <a16:creationId xmlns:a16="http://schemas.microsoft.com/office/drawing/2014/main" id="{6E15CD67-9463-4F4B-8256-2F3C01078322}"/>
              </a:ext>
            </a:extLst>
          </p:cNvPr>
          <p:cNvSpPr txBox="1">
            <a:spLocks/>
          </p:cNvSpPr>
          <p:nvPr/>
        </p:nvSpPr>
        <p:spPr>
          <a:xfrm>
            <a:off x="540351" y="801767"/>
            <a:ext cx="8924925" cy="409196"/>
          </a:xfrm>
          <a:prstGeom prst="rect">
            <a:avLst/>
          </a:prstGeom>
          <a:solidFill>
            <a:schemeClr val="bg2">
              <a:lumMod val="20000"/>
              <a:lumOff val="80000"/>
            </a:schemeClr>
          </a:solidFill>
        </p:spPr>
        <p:txBody>
          <a:bodyPr/>
          <a:lstStyle>
            <a:lvl1pPr marL="0" indent="0" algn="l" defTabSz="685800" rtl="0" eaLnBrk="1" latinLnBrk="0" hangingPunct="1">
              <a:lnSpc>
                <a:spcPct val="120000"/>
              </a:lnSpc>
              <a:spcBef>
                <a:spcPts val="692"/>
              </a:spcBef>
              <a:buFont typeface="Arial" panose="020B0604020202020204" pitchFamily="34" charset="0"/>
              <a:buNone/>
              <a:defRPr kumimoji="1" sz="1477"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177750" indent="-177750" fontAlgn="auto">
              <a:lnSpc>
                <a:spcPts val="1372"/>
              </a:lnSpc>
              <a:spcBef>
                <a:spcPts val="0"/>
              </a:spcBef>
              <a:spcAft>
                <a:spcPts val="0"/>
              </a:spcAft>
              <a:buFont typeface="Wingdings" pitchFamily="2" charset="2"/>
              <a:buChar char="n"/>
            </a:pPr>
            <a:r>
              <a:rPr lang="en-US" altLang="ja-JP" sz="1400" dirty="0">
                <a:solidFill>
                  <a:srgbClr val="4B4B4B"/>
                </a:solidFill>
                <a:latin typeface="Meiryo UI" panose="020B0604030504040204" pitchFamily="50" charset="-128"/>
                <a:ea typeface="Meiryo UI" panose="020B0604030504040204" pitchFamily="50" charset="-128"/>
              </a:rPr>
              <a:t>DMBOK</a:t>
            </a:r>
            <a:r>
              <a:rPr lang="ja-JP" altLang="en-US" sz="1400">
                <a:solidFill>
                  <a:srgbClr val="4B4B4B"/>
                </a:solidFill>
                <a:latin typeface="Meiryo UI" panose="020B0604030504040204" pitchFamily="50" charset="-128"/>
                <a:ea typeface="Meiryo UI" panose="020B0604030504040204" pitchFamily="50" charset="-128"/>
              </a:rPr>
              <a:t>の各領域は相互依存関係（下記、フレームワーク）その位置関係は入れ替えることができない。</a:t>
            </a:r>
            <a:endParaRPr lang="en-US" altLang="ja-JP" sz="1400" dirty="0">
              <a:solidFill>
                <a:srgbClr val="4B4B4B"/>
              </a:solidFill>
              <a:latin typeface="Meiryo UI" panose="020B0604030504040204" pitchFamily="50" charset="-128"/>
              <a:ea typeface="Meiryo UI" panose="020B0604030504040204" pitchFamily="50" charset="-128"/>
            </a:endParaRPr>
          </a:p>
        </p:txBody>
      </p:sp>
      <p:pic>
        <p:nvPicPr>
          <p:cNvPr id="4" name="図 3" descr="グラフィカル ユーザー インターフェイス, ダイアグラム&#10;&#10;自動的に生成された説明">
            <a:extLst>
              <a:ext uri="{FF2B5EF4-FFF2-40B4-BE49-F238E27FC236}">
                <a16:creationId xmlns:a16="http://schemas.microsoft.com/office/drawing/2014/main" id="{19447850-FEC2-5A4E-9D61-4682BC33D469}"/>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914545" y="1977081"/>
            <a:ext cx="3357032" cy="4230583"/>
          </a:xfrm>
          <a:prstGeom prst="rect">
            <a:avLst/>
          </a:prstGeom>
        </p:spPr>
      </p:pic>
      <p:grpSp>
        <p:nvGrpSpPr>
          <p:cNvPr id="5" name="グループ化 4">
            <a:extLst>
              <a:ext uri="{FF2B5EF4-FFF2-40B4-BE49-F238E27FC236}">
                <a16:creationId xmlns:a16="http://schemas.microsoft.com/office/drawing/2014/main" id="{D8EBD801-7B07-8B4B-9E4C-9BFA91E41FC3}"/>
              </a:ext>
            </a:extLst>
          </p:cNvPr>
          <p:cNvGrpSpPr/>
          <p:nvPr/>
        </p:nvGrpSpPr>
        <p:grpSpPr>
          <a:xfrm>
            <a:off x="262418" y="1572046"/>
            <a:ext cx="4597906" cy="307777"/>
            <a:chOff x="613809" y="1307489"/>
            <a:chExt cx="4074732" cy="317126"/>
          </a:xfrm>
        </p:grpSpPr>
        <p:cxnSp>
          <p:nvCxnSpPr>
            <p:cNvPr id="6" name="直線コネクタ 5">
              <a:extLst>
                <a:ext uri="{FF2B5EF4-FFF2-40B4-BE49-F238E27FC236}">
                  <a16:creationId xmlns:a16="http://schemas.microsoft.com/office/drawing/2014/main" id="{C655C1D3-325E-5548-9DDD-C3553A845F1E}"/>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E3DE2855-1621-FA41-993F-6D63EEE2F35B}"/>
                </a:ext>
              </a:extLst>
            </p:cNvPr>
            <p:cNvSpPr txBox="1"/>
            <p:nvPr/>
          </p:nvSpPr>
          <p:spPr>
            <a:xfrm>
              <a:off x="613809" y="1307489"/>
              <a:ext cx="4074732" cy="317126"/>
            </a:xfrm>
            <a:prstGeom prst="rect">
              <a:avLst/>
            </a:prstGeom>
            <a:noFill/>
          </p:spPr>
          <p:txBody>
            <a:bodyPr wrap="square" rtlCol="0">
              <a:spAutoFit/>
            </a:bodyPr>
            <a:lstStyle/>
            <a:p>
              <a:pPr algn="ctr"/>
              <a:r>
                <a:rPr lang="ja-JP" altLang="en-US" sz="1400">
                  <a:latin typeface="Meiryo UI" panose="020B0604030504040204" pitchFamily="34" charset="-128"/>
                  <a:ea typeface="Meiryo UI" panose="020B0604030504040204" pitchFamily="34" charset="-128"/>
                </a:rPr>
                <a:t>機能フレームワーク</a:t>
              </a:r>
              <a:endParaRPr lang="ja-JP" altLang="en-US" sz="1400" dirty="0">
                <a:latin typeface="Meiryo UI" panose="020B0604030504040204" pitchFamily="34" charset="-128"/>
                <a:ea typeface="Meiryo UI" panose="020B0604030504040204" pitchFamily="34" charset="-128"/>
              </a:endParaRPr>
            </a:p>
          </p:txBody>
        </p:sp>
      </p:grpSp>
      <p:grpSp>
        <p:nvGrpSpPr>
          <p:cNvPr id="8" name="グループ化 7">
            <a:extLst>
              <a:ext uri="{FF2B5EF4-FFF2-40B4-BE49-F238E27FC236}">
                <a16:creationId xmlns:a16="http://schemas.microsoft.com/office/drawing/2014/main" id="{41EFFD6B-97A6-F24A-882C-77D01EBC7174}"/>
              </a:ext>
            </a:extLst>
          </p:cNvPr>
          <p:cNvGrpSpPr/>
          <p:nvPr/>
        </p:nvGrpSpPr>
        <p:grpSpPr>
          <a:xfrm>
            <a:off x="5079494" y="1572046"/>
            <a:ext cx="4597906" cy="307777"/>
            <a:chOff x="613809" y="1307489"/>
            <a:chExt cx="4074732" cy="317126"/>
          </a:xfrm>
        </p:grpSpPr>
        <p:cxnSp>
          <p:nvCxnSpPr>
            <p:cNvPr id="9" name="直線コネクタ 8">
              <a:extLst>
                <a:ext uri="{FF2B5EF4-FFF2-40B4-BE49-F238E27FC236}">
                  <a16:creationId xmlns:a16="http://schemas.microsoft.com/office/drawing/2014/main" id="{5038EAC7-E20D-9E45-BB5D-4C2DCF2B1A70}"/>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92A475D6-D035-5F46-A51B-F8B4B4A25543}"/>
                </a:ext>
              </a:extLst>
            </p:cNvPr>
            <p:cNvSpPr txBox="1"/>
            <p:nvPr/>
          </p:nvSpPr>
          <p:spPr>
            <a:xfrm>
              <a:off x="613809" y="1307489"/>
              <a:ext cx="4074732" cy="317126"/>
            </a:xfrm>
            <a:prstGeom prst="rect">
              <a:avLst/>
            </a:prstGeom>
            <a:noFill/>
          </p:spPr>
          <p:txBody>
            <a:bodyPr wrap="square" rtlCol="0">
              <a:spAutoFit/>
            </a:bodyPr>
            <a:lstStyle/>
            <a:p>
              <a:pPr algn="ctr"/>
              <a:r>
                <a:rPr lang="ja-JP" altLang="en-US" sz="1400">
                  <a:latin typeface="Meiryo UI" panose="020B0604030504040204" pitchFamily="34" charset="-128"/>
                  <a:ea typeface="Meiryo UI" panose="020B0604030504040204" pitchFamily="34" charset="-128"/>
                </a:rPr>
                <a:t>データ活用に到達するステップ</a:t>
              </a:r>
              <a:endParaRPr lang="ja-JP" altLang="en-US" sz="1400" dirty="0">
                <a:latin typeface="Meiryo UI" panose="020B0604030504040204" pitchFamily="34" charset="-128"/>
                <a:ea typeface="Meiryo UI" panose="020B0604030504040204" pitchFamily="34" charset="-128"/>
              </a:endParaRPr>
            </a:p>
          </p:txBody>
        </p:sp>
      </p:grpSp>
      <p:grpSp>
        <p:nvGrpSpPr>
          <p:cNvPr id="11" name="グループ化 10">
            <a:extLst>
              <a:ext uri="{FF2B5EF4-FFF2-40B4-BE49-F238E27FC236}">
                <a16:creationId xmlns:a16="http://schemas.microsoft.com/office/drawing/2014/main" id="{D193C99F-C9D9-264B-ADC0-08402D18110F}"/>
              </a:ext>
            </a:extLst>
          </p:cNvPr>
          <p:cNvGrpSpPr/>
          <p:nvPr/>
        </p:nvGrpSpPr>
        <p:grpSpPr>
          <a:xfrm>
            <a:off x="5079495" y="2029823"/>
            <a:ext cx="4597905" cy="4230583"/>
            <a:chOff x="5079495" y="2029824"/>
            <a:chExt cx="4597905" cy="2792991"/>
          </a:xfrm>
        </p:grpSpPr>
        <p:sp>
          <p:nvSpPr>
            <p:cNvPr id="12" name="テキスト ボックス 11">
              <a:extLst>
                <a:ext uri="{FF2B5EF4-FFF2-40B4-BE49-F238E27FC236}">
                  <a16:creationId xmlns:a16="http://schemas.microsoft.com/office/drawing/2014/main" id="{6FEF643D-81BB-F743-A36E-D4CC36B7AC57}"/>
                </a:ext>
              </a:extLst>
            </p:cNvPr>
            <p:cNvSpPr txBox="1"/>
            <p:nvPr/>
          </p:nvSpPr>
          <p:spPr>
            <a:xfrm>
              <a:off x="6244281" y="2029824"/>
              <a:ext cx="3433119" cy="830997"/>
            </a:xfrm>
            <a:prstGeom prst="rect">
              <a:avLst/>
            </a:prstGeom>
            <a:noFill/>
            <a:ln>
              <a:solidFill>
                <a:schemeClr val="tx1">
                  <a:lumMod val="50000"/>
                  <a:lumOff val="50000"/>
                </a:schemeClr>
              </a:solidFill>
            </a:ln>
          </p:spPr>
          <p:txBody>
            <a:bodyPr wrap="square" rtlCol="0">
              <a:noAutofit/>
            </a:bodyPr>
            <a:lstStyle/>
            <a:p>
              <a:r>
                <a:rPr lang="ja-JP" altLang="en-US" sz="1100">
                  <a:latin typeface="Meiryo UI" panose="020B0604030504040204" pitchFamily="34" charset="-128"/>
                  <a:ea typeface="Meiryo UI" panose="020B0604030504040204" pitchFamily="34" charset="-128"/>
                </a:rPr>
                <a:t>多くの企業では、ライフサイクル管理領域のデータベース機能などのアプリケーションが整備されている。</a:t>
              </a:r>
              <a:endParaRPr lang="en-US" altLang="ja-JP" sz="1100" dirty="0">
                <a:latin typeface="Meiryo UI" panose="020B0604030504040204" pitchFamily="34" charset="-128"/>
                <a:ea typeface="Meiryo UI" panose="020B0604030504040204" pitchFamily="34" charset="-128"/>
              </a:endParaRPr>
            </a:p>
          </p:txBody>
        </p:sp>
        <p:sp>
          <p:nvSpPr>
            <p:cNvPr id="13" name="テキスト ボックス 12">
              <a:extLst>
                <a:ext uri="{FF2B5EF4-FFF2-40B4-BE49-F238E27FC236}">
                  <a16:creationId xmlns:a16="http://schemas.microsoft.com/office/drawing/2014/main" id="{6C634BA4-431B-7F43-8EE0-E958995C0487}"/>
                </a:ext>
              </a:extLst>
            </p:cNvPr>
            <p:cNvSpPr txBox="1"/>
            <p:nvPr/>
          </p:nvSpPr>
          <p:spPr>
            <a:xfrm>
              <a:off x="5079495" y="2029824"/>
              <a:ext cx="1041220" cy="830997"/>
            </a:xfrm>
            <a:prstGeom prst="rect">
              <a:avLst/>
            </a:prstGeom>
            <a:noFill/>
            <a:ln>
              <a:solidFill>
                <a:schemeClr val="tx1">
                  <a:lumMod val="50000"/>
                  <a:lumOff val="50000"/>
                </a:schemeClr>
              </a:solidFill>
            </a:ln>
          </p:spPr>
          <p:txBody>
            <a:bodyPr wrap="square" rtlCol="0" anchor="ctr">
              <a:noAutofit/>
            </a:bodyPr>
            <a:lstStyle/>
            <a:p>
              <a:pPr algn="ctr"/>
              <a:r>
                <a:rPr lang="ja-JP" altLang="en-US" sz="1100">
                  <a:latin typeface="Meiryo UI" panose="020B0604030504040204" pitchFamily="34" charset="-128"/>
                  <a:ea typeface="Meiryo UI" panose="020B0604030504040204" pitchFamily="34" charset="-128"/>
                </a:rPr>
                <a:t>ステップ</a:t>
              </a:r>
              <a:r>
                <a:rPr lang="en-US" altLang="ja-JP" sz="1100" dirty="0">
                  <a:latin typeface="Meiryo UI" panose="020B0604030504040204" pitchFamily="34" charset="-128"/>
                  <a:ea typeface="Meiryo UI" panose="020B0604030504040204" pitchFamily="34" charset="-128"/>
                </a:rPr>
                <a:t>1</a:t>
              </a:r>
            </a:p>
          </p:txBody>
        </p:sp>
        <p:sp>
          <p:nvSpPr>
            <p:cNvPr id="14" name="テキスト ボックス 13">
              <a:extLst>
                <a:ext uri="{FF2B5EF4-FFF2-40B4-BE49-F238E27FC236}">
                  <a16:creationId xmlns:a16="http://schemas.microsoft.com/office/drawing/2014/main" id="{D788AF68-ABB3-E145-AB3F-285776EE8B12}"/>
                </a:ext>
              </a:extLst>
            </p:cNvPr>
            <p:cNvSpPr txBox="1"/>
            <p:nvPr/>
          </p:nvSpPr>
          <p:spPr>
            <a:xfrm>
              <a:off x="5079495" y="3010822"/>
              <a:ext cx="1041220" cy="830997"/>
            </a:xfrm>
            <a:prstGeom prst="rect">
              <a:avLst/>
            </a:prstGeom>
            <a:noFill/>
            <a:ln>
              <a:solidFill>
                <a:schemeClr val="tx1">
                  <a:lumMod val="50000"/>
                  <a:lumOff val="50000"/>
                </a:schemeClr>
              </a:solidFill>
            </a:ln>
          </p:spPr>
          <p:txBody>
            <a:bodyPr wrap="square" rtlCol="0" anchor="ctr">
              <a:noAutofit/>
            </a:bodyPr>
            <a:lstStyle/>
            <a:p>
              <a:pPr algn="ctr"/>
              <a:r>
                <a:rPr lang="ja-JP" altLang="en-US" sz="1100">
                  <a:latin typeface="Meiryo UI" panose="020B0604030504040204" pitchFamily="34" charset="-128"/>
                  <a:ea typeface="Meiryo UI" panose="020B0604030504040204" pitchFamily="34" charset="-128"/>
                </a:rPr>
                <a:t>ステップ</a:t>
              </a:r>
              <a:r>
                <a:rPr lang="en-US" altLang="ja-JP" sz="1100" dirty="0">
                  <a:latin typeface="Meiryo UI" panose="020B0604030504040204" pitchFamily="34" charset="-128"/>
                  <a:ea typeface="Meiryo UI" panose="020B0604030504040204" pitchFamily="34" charset="-128"/>
                </a:rPr>
                <a:t>2</a:t>
              </a:r>
            </a:p>
          </p:txBody>
        </p:sp>
        <p:sp>
          <p:nvSpPr>
            <p:cNvPr id="15" name="テキスト ボックス 14">
              <a:extLst>
                <a:ext uri="{FF2B5EF4-FFF2-40B4-BE49-F238E27FC236}">
                  <a16:creationId xmlns:a16="http://schemas.microsoft.com/office/drawing/2014/main" id="{0069C8CC-FC4E-6340-90DB-AB465441A385}"/>
                </a:ext>
              </a:extLst>
            </p:cNvPr>
            <p:cNvSpPr txBox="1"/>
            <p:nvPr/>
          </p:nvSpPr>
          <p:spPr>
            <a:xfrm>
              <a:off x="6244280" y="3010821"/>
              <a:ext cx="3433119" cy="830997"/>
            </a:xfrm>
            <a:prstGeom prst="rect">
              <a:avLst/>
            </a:prstGeom>
            <a:noFill/>
            <a:ln>
              <a:solidFill>
                <a:schemeClr val="tx1">
                  <a:lumMod val="50000"/>
                  <a:lumOff val="50000"/>
                </a:schemeClr>
              </a:solidFill>
            </a:ln>
          </p:spPr>
          <p:txBody>
            <a:bodyPr wrap="square" rtlCol="0">
              <a:noAutofit/>
            </a:bodyPr>
            <a:lstStyle/>
            <a:p>
              <a:r>
                <a:rPr lang="ja-JP" altLang="en-US" sz="1100">
                  <a:latin typeface="Meiryo UI" panose="020B0604030504040204" pitchFamily="34" charset="-128"/>
                  <a:ea typeface="Meiryo UI" panose="020B0604030504040204" pitchFamily="34" charset="-128"/>
                </a:rPr>
                <a:t>✓アプリケーションの使用を開始すると、データ品質に問題があることに気付く。</a:t>
              </a:r>
              <a:endParaRPr lang="en-US" altLang="ja-JP" sz="1100" dirty="0">
                <a:latin typeface="Meiryo UI" panose="020B0604030504040204" pitchFamily="34" charset="-128"/>
                <a:ea typeface="Meiryo UI" panose="020B0604030504040204" pitchFamily="34" charset="-128"/>
              </a:endParaRPr>
            </a:p>
            <a:p>
              <a:endParaRPr lang="en-US" altLang="ja-JP" sz="1100" dirty="0">
                <a:latin typeface="Meiryo UI" panose="020B0604030504040204" pitchFamily="34" charset="-128"/>
                <a:ea typeface="Meiryo UI" panose="020B0604030504040204" pitchFamily="34" charset="-128"/>
              </a:endParaRPr>
            </a:p>
            <a:p>
              <a:r>
                <a:rPr lang="ja-JP" altLang="en-US" sz="1100">
                  <a:latin typeface="Meiryo UI" panose="020B0604030504040204" pitchFamily="34" charset="-128"/>
                  <a:ea typeface="Meiryo UI" panose="020B0604030504040204" pitchFamily="34" charset="-128"/>
                </a:rPr>
                <a:t>✓より高品質のデータを整備するには、信頼性の高いメタデータと一環したアーキテクチャが必要となる。</a:t>
              </a:r>
              <a:endParaRPr lang="en-US" altLang="ja-JP" sz="1100" dirty="0">
                <a:latin typeface="Meiryo UI" panose="020B0604030504040204" pitchFamily="34" charset="-128"/>
                <a:ea typeface="Meiryo UI" panose="020B0604030504040204" pitchFamily="34" charset="-128"/>
              </a:endParaRPr>
            </a:p>
          </p:txBody>
        </p:sp>
        <p:sp>
          <p:nvSpPr>
            <p:cNvPr id="16" name="テキスト ボックス 15">
              <a:extLst>
                <a:ext uri="{FF2B5EF4-FFF2-40B4-BE49-F238E27FC236}">
                  <a16:creationId xmlns:a16="http://schemas.microsoft.com/office/drawing/2014/main" id="{836C0B08-0880-7B4D-8ACE-0FA398361E07}"/>
                </a:ext>
              </a:extLst>
            </p:cNvPr>
            <p:cNvSpPr txBox="1"/>
            <p:nvPr/>
          </p:nvSpPr>
          <p:spPr>
            <a:xfrm>
              <a:off x="5079495" y="3991818"/>
              <a:ext cx="1041220" cy="830997"/>
            </a:xfrm>
            <a:prstGeom prst="rect">
              <a:avLst/>
            </a:prstGeom>
            <a:noFill/>
            <a:ln>
              <a:solidFill>
                <a:schemeClr val="tx1">
                  <a:lumMod val="50000"/>
                  <a:lumOff val="50000"/>
                </a:schemeClr>
              </a:solidFill>
            </a:ln>
          </p:spPr>
          <p:txBody>
            <a:bodyPr wrap="square" rtlCol="0" anchor="ctr">
              <a:noAutofit/>
            </a:bodyPr>
            <a:lstStyle/>
            <a:p>
              <a:pPr algn="ctr"/>
              <a:r>
                <a:rPr lang="ja-JP" altLang="en-US" sz="1100">
                  <a:latin typeface="Meiryo UI" panose="020B0604030504040204" pitchFamily="34" charset="-128"/>
                  <a:ea typeface="Meiryo UI" panose="020B0604030504040204" pitchFamily="34" charset="-128"/>
                </a:rPr>
                <a:t>ステップ</a:t>
              </a:r>
              <a:r>
                <a:rPr lang="en-US" altLang="ja-JP" sz="1100" dirty="0">
                  <a:latin typeface="Meiryo UI" panose="020B0604030504040204" pitchFamily="34" charset="-128"/>
                  <a:ea typeface="Meiryo UI" panose="020B0604030504040204" pitchFamily="34" charset="-128"/>
                </a:rPr>
                <a:t>2</a:t>
              </a:r>
            </a:p>
          </p:txBody>
        </p:sp>
        <p:sp>
          <p:nvSpPr>
            <p:cNvPr id="17" name="テキスト ボックス 16">
              <a:extLst>
                <a:ext uri="{FF2B5EF4-FFF2-40B4-BE49-F238E27FC236}">
                  <a16:creationId xmlns:a16="http://schemas.microsoft.com/office/drawing/2014/main" id="{EFC2D83C-D9E6-1F44-8A82-056378076CC7}"/>
                </a:ext>
              </a:extLst>
            </p:cNvPr>
            <p:cNvSpPr txBox="1"/>
            <p:nvPr/>
          </p:nvSpPr>
          <p:spPr>
            <a:xfrm>
              <a:off x="6244280" y="3991817"/>
              <a:ext cx="3433119" cy="830997"/>
            </a:xfrm>
            <a:prstGeom prst="rect">
              <a:avLst/>
            </a:prstGeom>
            <a:noFill/>
            <a:ln>
              <a:solidFill>
                <a:schemeClr val="tx1">
                  <a:lumMod val="50000"/>
                  <a:lumOff val="50000"/>
                </a:schemeClr>
              </a:solidFill>
            </a:ln>
          </p:spPr>
          <p:txBody>
            <a:bodyPr wrap="square" rtlCol="0">
              <a:noAutofit/>
            </a:bodyPr>
            <a:lstStyle/>
            <a:p>
              <a:r>
                <a:rPr lang="ja-JP" altLang="en-US" sz="1100">
                  <a:latin typeface="Meiryo UI" panose="020B0604030504040204" pitchFamily="34" charset="-128"/>
                  <a:ea typeface="Meiryo UI" panose="020B0604030504040204" pitchFamily="34" charset="-128"/>
                </a:rPr>
                <a:t>✓データ品質、メタデータ、アークテクチャの管理が必要になり、そのためにはデータマネジメント活動におけるデータガバナンスが必要となる。</a:t>
              </a:r>
              <a:endParaRPr lang="en-US" altLang="ja-JP" sz="1100" dirty="0">
                <a:latin typeface="Meiryo UI" panose="020B0604030504040204" pitchFamily="34" charset="-128"/>
                <a:ea typeface="Meiryo UI" panose="020B0604030504040204" pitchFamily="34" charset="-128"/>
              </a:endParaRPr>
            </a:p>
            <a:p>
              <a:endParaRPr lang="en-US" altLang="ja-JP" sz="1100" dirty="0">
                <a:latin typeface="Meiryo UI" panose="020B0604030504040204" pitchFamily="34" charset="-128"/>
                <a:ea typeface="Meiryo UI" panose="020B0604030504040204" pitchFamily="34" charset="-128"/>
              </a:endParaRPr>
            </a:p>
            <a:p>
              <a:r>
                <a:rPr lang="ja-JP" altLang="en-US" sz="1100">
                  <a:latin typeface="Meiryo UI" panose="020B0604030504040204" pitchFamily="34" charset="-128"/>
                  <a:ea typeface="Meiryo UI" panose="020B0604030504040204" pitchFamily="34" charset="-128"/>
                </a:rPr>
                <a:t>✓データガバナンスによって、ドキュメントとコンテンツ管理、参照データ管理、マスターデータ管理、</a:t>
              </a:r>
              <a:r>
                <a:rPr lang="en-US" altLang="ja-JP" sz="1100" dirty="0">
                  <a:latin typeface="Meiryo UI" panose="020B0604030504040204" pitchFamily="34" charset="-128"/>
                  <a:ea typeface="Meiryo UI" panose="020B0604030504040204" pitchFamily="34" charset="-128"/>
                </a:rPr>
                <a:t>DWH/BI</a:t>
              </a:r>
              <a:r>
                <a:rPr lang="ja-JP" altLang="en-US" sz="1100">
                  <a:latin typeface="Meiryo UI" panose="020B0604030504040204" pitchFamily="34" charset="-128"/>
                  <a:ea typeface="Meiryo UI" panose="020B0604030504040204" pitchFamily="34" charset="-128"/>
                </a:rPr>
                <a:t>などの取り組みが実施可能となる。</a:t>
              </a:r>
              <a:endParaRPr lang="en-US" altLang="ja-JP" sz="1100" dirty="0">
                <a:latin typeface="Meiryo UI" panose="020B0604030504040204" pitchFamily="34" charset="-128"/>
                <a:ea typeface="Meiryo UI" panose="020B0604030504040204" pitchFamily="34" charset="-128"/>
              </a:endParaRPr>
            </a:p>
            <a:p>
              <a:endParaRPr lang="en-US" altLang="ja-JP" sz="1100" dirty="0">
                <a:latin typeface="Meiryo UI" panose="020B0604030504040204" pitchFamily="34" charset="-128"/>
                <a:ea typeface="Meiryo UI" panose="020B0604030504040204" pitchFamily="34" charset="-128"/>
              </a:endParaRPr>
            </a:p>
          </p:txBody>
        </p:sp>
      </p:grpSp>
      <p:sp>
        <p:nvSpPr>
          <p:cNvPr id="18" name="三角形 17">
            <a:extLst>
              <a:ext uri="{FF2B5EF4-FFF2-40B4-BE49-F238E27FC236}">
                <a16:creationId xmlns:a16="http://schemas.microsoft.com/office/drawing/2014/main" id="{3E0F773A-5FCF-C146-AD0A-47D7CE40193B}"/>
              </a:ext>
            </a:extLst>
          </p:cNvPr>
          <p:cNvSpPr/>
          <p:nvPr/>
        </p:nvSpPr>
        <p:spPr>
          <a:xfrm rot="10800000">
            <a:off x="5243055" y="3369901"/>
            <a:ext cx="782740" cy="156519"/>
          </a:xfrm>
          <a:prstGeom prs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19" name="三角形 18">
            <a:extLst>
              <a:ext uri="{FF2B5EF4-FFF2-40B4-BE49-F238E27FC236}">
                <a16:creationId xmlns:a16="http://schemas.microsoft.com/office/drawing/2014/main" id="{2404F373-71EE-024B-9A0F-8274675AE74D}"/>
              </a:ext>
            </a:extLst>
          </p:cNvPr>
          <p:cNvSpPr/>
          <p:nvPr/>
        </p:nvSpPr>
        <p:spPr>
          <a:xfrm rot="10800000">
            <a:off x="5208735" y="4825308"/>
            <a:ext cx="782740" cy="156519"/>
          </a:xfrm>
          <a:prstGeom prs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980104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758761-62E2-3942-8CA1-5EC3FCD8C5C5}"/>
              </a:ext>
            </a:extLst>
          </p:cNvPr>
          <p:cNvSpPr>
            <a:spLocks noGrp="1"/>
          </p:cNvSpPr>
          <p:nvPr>
            <p:ph type="title"/>
          </p:nvPr>
        </p:nvSpPr>
        <p:spPr>
          <a:xfrm>
            <a:off x="236538" y="111302"/>
            <a:ext cx="7287809" cy="384957"/>
          </a:xfrm>
        </p:spPr>
        <p:txBody>
          <a:bodyPr anchor="ctr"/>
          <a:lstStyle/>
          <a:p>
            <a:r>
              <a:rPr lang="ja-JP" altLang="en-US" sz="1600"/>
              <a:t>データマネジメント実施スコープ</a:t>
            </a:r>
            <a:br>
              <a:rPr lang="en-US" altLang="ja-JP" sz="1600" dirty="0"/>
            </a:br>
            <a:r>
              <a:rPr lang="ja-JP" altLang="en-US" b="1"/>
              <a:t>データマネジメント成熟度向上案（初期導入フェーズ）</a:t>
            </a:r>
            <a:endParaRPr kumimoji="1" lang="ja-JP" altLang="en-US" b="1" dirty="0"/>
          </a:p>
        </p:txBody>
      </p:sp>
      <p:grpSp>
        <p:nvGrpSpPr>
          <p:cNvPr id="3" name="グループ化 2">
            <a:extLst>
              <a:ext uri="{FF2B5EF4-FFF2-40B4-BE49-F238E27FC236}">
                <a16:creationId xmlns:a16="http://schemas.microsoft.com/office/drawing/2014/main" id="{C4238ACA-8A35-8F47-ACF4-AD3206D84926}"/>
              </a:ext>
            </a:extLst>
          </p:cNvPr>
          <p:cNvGrpSpPr/>
          <p:nvPr/>
        </p:nvGrpSpPr>
        <p:grpSpPr>
          <a:xfrm>
            <a:off x="262418" y="1539883"/>
            <a:ext cx="9079420" cy="276998"/>
            <a:chOff x="613809" y="1338894"/>
            <a:chExt cx="4074732" cy="285413"/>
          </a:xfrm>
        </p:grpSpPr>
        <p:cxnSp>
          <p:nvCxnSpPr>
            <p:cNvPr id="4" name="直線コネクタ 3">
              <a:extLst>
                <a:ext uri="{FF2B5EF4-FFF2-40B4-BE49-F238E27FC236}">
                  <a16:creationId xmlns:a16="http://schemas.microsoft.com/office/drawing/2014/main" id="{9E0401F5-9359-A74F-BC87-38CD8021B5F0}"/>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3307FA0B-3EA5-F447-9239-BF2A542C93F0}"/>
                </a:ext>
              </a:extLst>
            </p:cNvPr>
            <p:cNvSpPr txBox="1"/>
            <p:nvPr/>
          </p:nvSpPr>
          <p:spPr>
            <a:xfrm>
              <a:off x="613809" y="1338894"/>
              <a:ext cx="4074732" cy="285413"/>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データマネジメント実施項目の実施レベル</a:t>
              </a:r>
              <a:endParaRPr lang="ja-JP" altLang="en-US" sz="1200" dirty="0">
                <a:latin typeface="Meiryo UI" panose="020B0604030504040204" pitchFamily="34" charset="-128"/>
                <a:ea typeface="Meiryo UI" panose="020B0604030504040204" pitchFamily="34" charset="-128"/>
              </a:endParaRPr>
            </a:p>
          </p:txBody>
        </p:sp>
      </p:grpSp>
      <p:sp>
        <p:nvSpPr>
          <p:cNvPr id="6" name="ホームベース 31">
            <a:extLst>
              <a:ext uri="{FF2B5EF4-FFF2-40B4-BE49-F238E27FC236}">
                <a16:creationId xmlns:a16="http://schemas.microsoft.com/office/drawing/2014/main" id="{9FA6CB28-B847-6545-8639-C20CB028EC07}"/>
              </a:ext>
            </a:extLst>
          </p:cNvPr>
          <p:cNvSpPr/>
          <p:nvPr/>
        </p:nvSpPr>
        <p:spPr bwMode="gray">
          <a:xfrm>
            <a:off x="1478549" y="5625586"/>
            <a:ext cx="1593298" cy="254582"/>
          </a:xfrm>
          <a:prstGeom prst="homePlate">
            <a:avLst>
              <a:gd name="adj" fmla="val 10244"/>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rgbClr val="000000"/>
                </a:solidFill>
                <a:latin typeface="Meiryo UI" panose="020B0604030504040204" pitchFamily="34" charset="-128"/>
                <a:ea typeface="Meiryo UI" panose="020B0604030504040204" pitchFamily="34" charset="-128"/>
              </a:rPr>
              <a:t>成熟度</a:t>
            </a:r>
            <a:r>
              <a:rPr lang="en-US" altLang="ja-JP" sz="1000" dirty="0">
                <a:solidFill>
                  <a:srgbClr val="000000"/>
                </a:solidFill>
                <a:latin typeface="Meiryo UI" panose="020B0604030504040204" pitchFamily="34" charset="-128"/>
                <a:ea typeface="Meiryo UI" panose="020B0604030504040204" pitchFamily="34" charset="-128"/>
              </a:rPr>
              <a:t>Lv1</a:t>
            </a:r>
          </a:p>
          <a:p>
            <a:pPr algn="ctr">
              <a:buFont typeface="Wingdings 2" pitchFamily="18" charset="2"/>
              <a:buNone/>
            </a:pPr>
            <a:r>
              <a:rPr lang="ja-JP" altLang="en-US" sz="800" dirty="0">
                <a:solidFill>
                  <a:srgbClr val="000000"/>
                </a:solidFill>
                <a:latin typeface="Meiryo UI" panose="020B0604030504040204" pitchFamily="34" charset="-128"/>
                <a:ea typeface="Meiryo UI" panose="020B0604030504040204" pitchFamily="34" charset="-128"/>
              </a:rPr>
              <a:t>（場当たり的</a:t>
            </a:r>
            <a:r>
              <a:rPr lang="en-US" altLang="ja-JP" sz="800" dirty="0">
                <a:solidFill>
                  <a:srgbClr val="000000"/>
                </a:solidFill>
                <a:latin typeface="Meiryo UI" panose="020B0604030504040204" pitchFamily="34" charset="-128"/>
                <a:ea typeface="Meiryo UI" panose="020B0604030504040204" pitchFamily="34" charset="-128"/>
              </a:rPr>
              <a:t>/</a:t>
            </a:r>
            <a:r>
              <a:rPr lang="ja-JP" altLang="en-US" sz="800" dirty="0">
                <a:solidFill>
                  <a:srgbClr val="000000"/>
                </a:solidFill>
                <a:latin typeface="Meiryo UI" panose="020B0604030504040204" pitchFamily="34" charset="-128"/>
                <a:ea typeface="Meiryo UI" panose="020B0604030504040204" pitchFamily="34" charset="-128"/>
              </a:rPr>
              <a:t>属人レベル）</a:t>
            </a:r>
          </a:p>
        </p:txBody>
      </p:sp>
      <p:sp>
        <p:nvSpPr>
          <p:cNvPr id="7" name="ホームベース 93">
            <a:extLst>
              <a:ext uri="{FF2B5EF4-FFF2-40B4-BE49-F238E27FC236}">
                <a16:creationId xmlns:a16="http://schemas.microsoft.com/office/drawing/2014/main" id="{F95DCE66-8A18-1142-9224-9466D6B04396}"/>
              </a:ext>
            </a:extLst>
          </p:cNvPr>
          <p:cNvSpPr/>
          <p:nvPr/>
        </p:nvSpPr>
        <p:spPr bwMode="gray">
          <a:xfrm>
            <a:off x="3131604" y="5625586"/>
            <a:ext cx="1593298" cy="254582"/>
          </a:xfrm>
          <a:prstGeom prst="homePlate">
            <a:avLst>
              <a:gd name="adj" fmla="val 10244"/>
            </a:avLst>
          </a:prstGeom>
          <a:solidFill>
            <a:schemeClr val="bg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Lv2</a:t>
            </a:r>
          </a:p>
          <a:p>
            <a:pPr algn="ctr">
              <a:buFont typeface="Wingdings 2" pitchFamily="18" charset="2"/>
              <a:buNone/>
            </a:pPr>
            <a:r>
              <a:rPr lang="ja-JP" altLang="en-US" sz="800" dirty="0">
                <a:solidFill>
                  <a:sysClr val="windowText" lastClr="000000"/>
                </a:solidFill>
                <a:latin typeface="Meiryo UI" panose="020B0604030504040204" pitchFamily="34" charset="-128"/>
                <a:ea typeface="Meiryo UI" panose="020B0604030504040204" pitchFamily="34" charset="-128"/>
              </a:rPr>
              <a:t>（反復可能</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dirty="0">
                <a:solidFill>
                  <a:sysClr val="windowText" lastClr="000000"/>
                </a:solidFill>
                <a:latin typeface="Meiryo UI" panose="020B0604030504040204" pitchFamily="34" charset="-128"/>
                <a:ea typeface="Meiryo UI" panose="020B0604030504040204" pitchFamily="34" charset="-128"/>
              </a:rPr>
              <a:t>部門（拠点）レベル）</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8" name="ホームベース 94">
            <a:extLst>
              <a:ext uri="{FF2B5EF4-FFF2-40B4-BE49-F238E27FC236}">
                <a16:creationId xmlns:a16="http://schemas.microsoft.com/office/drawing/2014/main" id="{C83FB3E3-20FE-CA40-ABFF-F5007B1C2355}"/>
              </a:ext>
            </a:extLst>
          </p:cNvPr>
          <p:cNvSpPr/>
          <p:nvPr/>
        </p:nvSpPr>
        <p:spPr bwMode="gray">
          <a:xfrm>
            <a:off x="4777857" y="5625586"/>
            <a:ext cx="1593298" cy="254582"/>
          </a:xfrm>
          <a:prstGeom prst="homePlate">
            <a:avLst>
              <a:gd name="adj" fmla="val 10244"/>
            </a:avLst>
          </a:prstGeom>
          <a:solidFill>
            <a:schemeClr val="bg2">
              <a:lumMod val="40000"/>
              <a:lumOff val="6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Lv3</a:t>
            </a:r>
          </a:p>
          <a:p>
            <a:pPr algn="ctr">
              <a:buFont typeface="Wingdings 2" pitchFamily="18" charset="2"/>
              <a:buNone/>
            </a:pPr>
            <a:r>
              <a:rPr lang="ja-JP" altLang="en-US" sz="800">
                <a:solidFill>
                  <a:sysClr val="windowText" lastClr="000000"/>
                </a:solidFill>
                <a:latin typeface="Meiryo UI" panose="020B0604030504040204" pitchFamily="34" charset="-128"/>
                <a:ea typeface="Meiryo UI" panose="020B0604030504040204" pitchFamily="34" charset="-128"/>
              </a:rPr>
              <a:t>（定義された</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a:solidFill>
                  <a:sysClr val="windowText" lastClr="000000"/>
                </a:solidFill>
                <a:latin typeface="Meiryo UI" panose="020B0604030504040204" pitchFamily="34" charset="-128"/>
                <a:ea typeface="Meiryo UI" panose="020B0604030504040204" pitchFamily="34" charset="-128"/>
              </a:rPr>
              <a:t>全社展開）</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9" name="ホームベース 95">
            <a:extLst>
              <a:ext uri="{FF2B5EF4-FFF2-40B4-BE49-F238E27FC236}">
                <a16:creationId xmlns:a16="http://schemas.microsoft.com/office/drawing/2014/main" id="{0AA1B523-617C-4544-9615-6EA8BA9B047D}"/>
              </a:ext>
            </a:extLst>
          </p:cNvPr>
          <p:cNvSpPr/>
          <p:nvPr/>
        </p:nvSpPr>
        <p:spPr bwMode="gray">
          <a:xfrm>
            <a:off x="6435297" y="5625586"/>
            <a:ext cx="1593298" cy="254582"/>
          </a:xfrm>
          <a:prstGeom prst="homePlate">
            <a:avLst>
              <a:gd name="adj" fmla="val 10244"/>
            </a:avLst>
          </a:prstGeom>
          <a:solidFill>
            <a:schemeClr val="bg2">
              <a:lumMod val="60000"/>
              <a:lumOff val="4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latin typeface="Meiryo UI" panose="020B0604030504040204" pitchFamily="34" charset="-128"/>
                <a:ea typeface="Meiryo UI" panose="020B0604030504040204" pitchFamily="34" charset="-128"/>
              </a:rPr>
              <a:t>成熟度</a:t>
            </a:r>
            <a:r>
              <a:rPr lang="en-US" altLang="ja-JP" sz="1000" dirty="0">
                <a:latin typeface="Meiryo UI" panose="020B0604030504040204" pitchFamily="34" charset="-128"/>
                <a:ea typeface="Meiryo UI" panose="020B0604030504040204" pitchFamily="34" charset="-128"/>
              </a:rPr>
              <a:t>Lv4</a:t>
            </a:r>
          </a:p>
          <a:p>
            <a:pPr algn="ctr">
              <a:buFont typeface="Wingdings 2" pitchFamily="18" charset="2"/>
              <a:buNone/>
            </a:pPr>
            <a:r>
              <a:rPr lang="ja-JP" altLang="en-US" sz="800">
                <a:latin typeface="Meiryo UI" panose="020B0604030504040204" pitchFamily="34" charset="-128"/>
                <a:ea typeface="Meiryo UI" panose="020B0604030504040204" pitchFamily="34" charset="-128"/>
              </a:rPr>
              <a:t>（管理された</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定量的効果測定</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標準ツール）</a:t>
            </a:r>
            <a:endParaRPr lang="en-US" altLang="ja-JP" sz="800" dirty="0">
              <a:latin typeface="Meiryo UI" panose="020B0604030504040204" pitchFamily="34" charset="-128"/>
              <a:ea typeface="Meiryo UI" panose="020B0604030504040204" pitchFamily="34" charset="-128"/>
            </a:endParaRPr>
          </a:p>
        </p:txBody>
      </p:sp>
      <p:sp>
        <p:nvSpPr>
          <p:cNvPr id="10" name="ホームベース 96">
            <a:extLst>
              <a:ext uri="{FF2B5EF4-FFF2-40B4-BE49-F238E27FC236}">
                <a16:creationId xmlns:a16="http://schemas.microsoft.com/office/drawing/2014/main" id="{BD739E32-E816-264C-921D-6112AE55866A}"/>
              </a:ext>
            </a:extLst>
          </p:cNvPr>
          <p:cNvSpPr/>
          <p:nvPr/>
        </p:nvSpPr>
        <p:spPr bwMode="gray">
          <a:xfrm>
            <a:off x="8084103" y="5625586"/>
            <a:ext cx="1593298" cy="254582"/>
          </a:xfrm>
          <a:prstGeom prst="homePlate">
            <a:avLst>
              <a:gd name="adj" fmla="val 10244"/>
            </a:avLst>
          </a:prstGeom>
          <a:solidFill>
            <a:schemeClr val="bg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chemeClr val="bg1"/>
                </a:solidFill>
                <a:latin typeface="Meiryo UI" panose="020B0604030504040204" pitchFamily="34" charset="-128"/>
                <a:ea typeface="Meiryo UI" panose="020B0604030504040204" pitchFamily="34" charset="-128"/>
              </a:rPr>
              <a:t>成熟度</a:t>
            </a:r>
            <a:r>
              <a:rPr lang="en-US" altLang="ja-JP" sz="1000" dirty="0">
                <a:solidFill>
                  <a:schemeClr val="bg1"/>
                </a:solidFill>
                <a:latin typeface="Meiryo UI" panose="020B0604030504040204" pitchFamily="34" charset="-128"/>
                <a:ea typeface="Meiryo UI" panose="020B0604030504040204" pitchFamily="34" charset="-128"/>
              </a:rPr>
              <a:t>Lv5</a:t>
            </a:r>
          </a:p>
          <a:p>
            <a:pPr algn="ctr">
              <a:buFont typeface="Wingdings 2" pitchFamily="18" charset="2"/>
              <a:buNone/>
            </a:pPr>
            <a:r>
              <a:rPr lang="ja-JP" altLang="en-US" sz="800">
                <a:solidFill>
                  <a:schemeClr val="bg1"/>
                </a:solidFill>
                <a:latin typeface="Meiryo UI" panose="020B0604030504040204" pitchFamily="34" charset="-128"/>
                <a:ea typeface="Meiryo UI" panose="020B0604030504040204" pitchFamily="34" charset="-128"/>
              </a:rPr>
              <a:t>（最適化</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継続的改善</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プロセス自動化）</a:t>
            </a:r>
            <a:endParaRPr lang="en-US" altLang="ja-JP" sz="800" dirty="0">
              <a:solidFill>
                <a:schemeClr val="bg1"/>
              </a:solidFill>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0D59BE46-DFA6-CC49-B249-71E31FED0AF3}"/>
              </a:ext>
            </a:extLst>
          </p:cNvPr>
          <p:cNvSpPr/>
          <p:nvPr/>
        </p:nvSpPr>
        <p:spPr bwMode="gray">
          <a:xfrm>
            <a:off x="3131604" y="4213052"/>
            <a:ext cx="1593298" cy="30093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28A74099-E739-4342-9C67-6394CE7C2F43}"/>
              </a:ext>
            </a:extLst>
          </p:cNvPr>
          <p:cNvSpPr/>
          <p:nvPr/>
        </p:nvSpPr>
        <p:spPr bwMode="gray">
          <a:xfrm>
            <a:off x="4777857" y="4213052"/>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61BB96FE-BCBC-5547-8CC9-21CB2F5BDB39}"/>
              </a:ext>
            </a:extLst>
          </p:cNvPr>
          <p:cNvSpPr/>
          <p:nvPr/>
        </p:nvSpPr>
        <p:spPr bwMode="gray">
          <a:xfrm>
            <a:off x="6435297" y="4213052"/>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マスタデータの信頼度の評価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データ共有量と利用の測定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3BDFC6AC-C18B-0B4C-9AB3-A4EBBE2A5D8B}"/>
              </a:ext>
            </a:extLst>
          </p:cNvPr>
          <p:cNvSpPr/>
          <p:nvPr/>
        </p:nvSpPr>
        <p:spPr bwMode="gray">
          <a:xfrm>
            <a:off x="262417" y="4213052"/>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⑧参照データ</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とマスタデータ</a:t>
            </a:r>
          </a:p>
        </p:txBody>
      </p:sp>
      <p:sp>
        <p:nvSpPr>
          <p:cNvPr id="15" name="正方形/長方形 14">
            <a:extLst>
              <a:ext uri="{FF2B5EF4-FFF2-40B4-BE49-F238E27FC236}">
                <a16:creationId xmlns:a16="http://schemas.microsoft.com/office/drawing/2014/main" id="{2D2382E5-7704-2048-B9B8-5013E0CD97C1}"/>
              </a:ext>
            </a:extLst>
          </p:cNvPr>
          <p:cNvSpPr/>
          <p:nvPr/>
        </p:nvSpPr>
        <p:spPr bwMode="gray">
          <a:xfrm>
            <a:off x="3131604" y="454403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p>
        </p:txBody>
      </p:sp>
      <p:sp>
        <p:nvSpPr>
          <p:cNvPr id="16" name="正方形/長方形 15">
            <a:extLst>
              <a:ext uri="{FF2B5EF4-FFF2-40B4-BE49-F238E27FC236}">
                <a16:creationId xmlns:a16="http://schemas.microsoft.com/office/drawing/2014/main" id="{77D564A5-BED5-D84B-BFD2-A172FB1567FB}"/>
              </a:ext>
            </a:extLst>
          </p:cNvPr>
          <p:cNvSpPr/>
          <p:nvPr/>
        </p:nvSpPr>
        <p:spPr bwMode="gray">
          <a:xfrm>
            <a:off x="4777857" y="454403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A90945D2-38AA-4C4C-BECC-274188738E62}"/>
              </a:ext>
            </a:extLst>
          </p:cNvPr>
          <p:cNvSpPr/>
          <p:nvPr/>
        </p:nvSpPr>
        <p:spPr bwMode="gray">
          <a:xfrm>
            <a:off x="6435297" y="4544031"/>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rgbClr val="000000"/>
                </a:solidFill>
                <a:latin typeface="Meiryo UI" panose="020B0604030504040204" pitchFamily="34" charset="-128"/>
                <a:ea typeface="Meiryo UI" panose="020B0604030504040204" pitchFamily="34" charset="-128"/>
              </a:rPr>
              <a:t>利用度の評価</a:t>
            </a:r>
            <a:r>
              <a:rPr lang="en-US" altLang="ja-JP" sz="900" dirty="0">
                <a:solidFill>
                  <a:srgbClr val="000000"/>
                </a:solidFill>
                <a:latin typeface="Meiryo UI" panose="020B0604030504040204" pitchFamily="34" charset="-128"/>
                <a:ea typeface="Meiryo UI" panose="020B0604030504040204" pitchFamily="34" charset="-128"/>
              </a:rPr>
              <a:t>/</a:t>
            </a:r>
            <a:r>
              <a:rPr lang="ja-JP" altLang="en-US" sz="900" dirty="0">
                <a:solidFill>
                  <a:srgbClr val="000000"/>
                </a:solidFill>
                <a:latin typeface="Meiryo UI" panose="020B0604030504040204" pitchFamily="34" charset="-128"/>
                <a:ea typeface="Meiryo UI" panose="020B0604030504040204" pitchFamily="34" charset="-128"/>
              </a:rPr>
              <a:t>パフォーマンスの評価</a:t>
            </a:r>
            <a:endParaRPr lang="en-US" altLang="ja-JP" sz="900" dirty="0">
              <a:solidFill>
                <a:srgbClr val="000000"/>
              </a:solidFill>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3FAA4781-C978-D44F-A42B-6384921C9861}"/>
              </a:ext>
            </a:extLst>
          </p:cNvPr>
          <p:cNvSpPr/>
          <p:nvPr/>
        </p:nvSpPr>
        <p:spPr bwMode="gray">
          <a:xfrm>
            <a:off x="262417" y="4544031"/>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⑨</a:t>
            </a:r>
            <a:r>
              <a:rPr lang="en-US" altLang="ja-JP" sz="900" dirty="0">
                <a:latin typeface="Meiryo UI" panose="020B0604030504040204" pitchFamily="34" charset="-128"/>
                <a:ea typeface="Meiryo UI" panose="020B0604030504040204" pitchFamily="34" charset="-128"/>
              </a:rPr>
              <a:t>DWH</a:t>
            </a:r>
            <a:r>
              <a:rPr lang="ja-JP" altLang="en-US" sz="900" dirty="0">
                <a:latin typeface="Meiryo UI" panose="020B0604030504040204" pitchFamily="34" charset="-128"/>
                <a:ea typeface="Meiryo UI" panose="020B0604030504040204" pitchFamily="34" charset="-128"/>
              </a:rPr>
              <a:t>と</a:t>
            </a:r>
            <a:r>
              <a:rPr lang="en-US" altLang="ja-JP" sz="900" dirty="0">
                <a:latin typeface="Meiryo UI" panose="020B0604030504040204" pitchFamily="34" charset="-128"/>
                <a:ea typeface="Meiryo UI" panose="020B0604030504040204" pitchFamily="34" charset="-128"/>
              </a:rPr>
              <a:t>BI</a:t>
            </a:r>
            <a:endParaRPr lang="ja-JP" altLang="en-US" sz="900" dirty="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5BEFCF23-62E3-0A4B-A05E-877733B2635A}"/>
              </a:ext>
            </a:extLst>
          </p:cNvPr>
          <p:cNvSpPr/>
          <p:nvPr/>
        </p:nvSpPr>
        <p:spPr bwMode="gray">
          <a:xfrm>
            <a:off x="3131604" y="3883033"/>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管理ポリシー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8A349E73-266E-664F-8963-C971C50F3FAE}"/>
              </a:ext>
            </a:extLst>
          </p:cNvPr>
          <p:cNvSpPr/>
          <p:nvPr/>
        </p:nvSpPr>
        <p:spPr bwMode="gray">
          <a:xfrm>
            <a:off x="4777857" y="3883033"/>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管理ポリシーの全社展開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D5CCF2CF-F9AE-4B4A-A789-B24B37051077}"/>
              </a:ext>
            </a:extLst>
          </p:cNvPr>
          <p:cNvSpPr/>
          <p:nvPr/>
        </p:nvSpPr>
        <p:spPr bwMode="gray">
          <a:xfrm>
            <a:off x="6435297" y="3883033"/>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法令遵守の評価</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利用評価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1CC45985-E83C-BC43-BCDB-7EDAE1F38392}"/>
              </a:ext>
            </a:extLst>
          </p:cNvPr>
          <p:cNvSpPr/>
          <p:nvPr/>
        </p:nvSpPr>
        <p:spPr bwMode="gray">
          <a:xfrm>
            <a:off x="262417" y="3883033"/>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⑦ドキュメントと</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コンテンツ管理</a:t>
            </a:r>
          </a:p>
        </p:txBody>
      </p:sp>
      <p:sp>
        <p:nvSpPr>
          <p:cNvPr id="23" name="正方形/長方形 22">
            <a:extLst>
              <a:ext uri="{FF2B5EF4-FFF2-40B4-BE49-F238E27FC236}">
                <a16:creationId xmlns:a16="http://schemas.microsoft.com/office/drawing/2014/main" id="{076B998F-E3F9-7C4E-8097-CAA9FCC5CBC9}"/>
              </a:ext>
            </a:extLst>
          </p:cNvPr>
          <p:cNvSpPr/>
          <p:nvPr/>
        </p:nvSpPr>
        <p:spPr bwMode="gray">
          <a:xfrm>
            <a:off x="1478549" y="1900999"/>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属人的・プロセス単位のガバナンス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F97A6336-F032-2445-9438-75CEF525FE7A}"/>
              </a:ext>
            </a:extLst>
          </p:cNvPr>
          <p:cNvSpPr/>
          <p:nvPr/>
        </p:nvSpPr>
        <p:spPr bwMode="gray">
          <a:xfrm>
            <a:off x="3131604" y="1900999"/>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a:solidFill>
                  <a:schemeClr val="bg1"/>
                </a:solidFill>
                <a:latin typeface="Meiryo UI" panose="020B0604030504040204" pitchFamily="34" charset="-128"/>
                <a:ea typeface="Meiryo UI" panose="020B0604030504040204" pitchFamily="34" charset="-128"/>
              </a:rPr>
              <a:t>役割の明確化</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5" name="正方形/長方形 24">
            <a:extLst>
              <a:ext uri="{FF2B5EF4-FFF2-40B4-BE49-F238E27FC236}">
                <a16:creationId xmlns:a16="http://schemas.microsoft.com/office/drawing/2014/main" id="{76D25384-00EC-6D47-A5BC-64AC22320628}"/>
              </a:ext>
            </a:extLst>
          </p:cNvPr>
          <p:cNvSpPr/>
          <p:nvPr/>
        </p:nvSpPr>
        <p:spPr bwMode="gray">
          <a:xfrm>
            <a:off x="4777857" y="1900999"/>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組織的なポリシー定義とガバナンス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6" name="正方形/長方形 25">
            <a:extLst>
              <a:ext uri="{FF2B5EF4-FFF2-40B4-BE49-F238E27FC236}">
                <a16:creationId xmlns:a16="http://schemas.microsoft.com/office/drawing/2014/main" id="{9C73F60F-F3A7-D04E-986E-3F89572541EF}"/>
              </a:ext>
            </a:extLst>
          </p:cNvPr>
          <p:cNvSpPr/>
          <p:nvPr/>
        </p:nvSpPr>
        <p:spPr bwMode="gray">
          <a:xfrm>
            <a:off x="6435297" y="1900999"/>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プロセスが数値化された統制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788D09C3-3F89-D84D-8E4D-48BC7A9D8052}"/>
              </a:ext>
            </a:extLst>
          </p:cNvPr>
          <p:cNvSpPr/>
          <p:nvPr/>
        </p:nvSpPr>
        <p:spPr bwMode="gray">
          <a:xfrm>
            <a:off x="8084103" y="1900999"/>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プロセス改善のゴールが数値化</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8" name="正方形/長方形 27">
            <a:extLst>
              <a:ext uri="{FF2B5EF4-FFF2-40B4-BE49-F238E27FC236}">
                <a16:creationId xmlns:a16="http://schemas.microsoft.com/office/drawing/2014/main" id="{A6453DC8-6628-8341-9E3C-E6E7010744EF}"/>
              </a:ext>
            </a:extLst>
          </p:cNvPr>
          <p:cNvSpPr/>
          <p:nvPr/>
        </p:nvSpPr>
        <p:spPr bwMode="gray">
          <a:xfrm>
            <a:off x="262417" y="190099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en-US" altLang="ja-JP" sz="900" dirty="0">
                <a:latin typeface="Meiryo UI" panose="020B0604030504040204" pitchFamily="34" charset="-128"/>
                <a:ea typeface="Meiryo UI" panose="020B0604030504040204" pitchFamily="34" charset="-128"/>
              </a:rPr>
              <a:t>①</a:t>
            </a:r>
            <a:r>
              <a:rPr lang="ja-JP" altLang="en-US" sz="900" dirty="0">
                <a:latin typeface="Meiryo UI" panose="020B0604030504040204" pitchFamily="34" charset="-128"/>
                <a:ea typeface="Meiryo UI" panose="020B0604030504040204" pitchFamily="34" charset="-128"/>
              </a:rPr>
              <a:t>データガバナンス</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p>
        </p:txBody>
      </p:sp>
      <p:sp>
        <p:nvSpPr>
          <p:cNvPr id="29" name="正方形/長方形 28">
            <a:extLst>
              <a:ext uri="{FF2B5EF4-FFF2-40B4-BE49-F238E27FC236}">
                <a16:creationId xmlns:a16="http://schemas.microsoft.com/office/drawing/2014/main" id="{0EAC1D0D-8095-0348-83E7-099F39C964C0}"/>
              </a:ext>
            </a:extLst>
          </p:cNvPr>
          <p:cNvSpPr/>
          <p:nvPr/>
        </p:nvSpPr>
        <p:spPr bwMode="gray">
          <a:xfrm>
            <a:off x="3131604" y="4875742"/>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部門内でのメタデータ管理</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669558DA-CF3E-8D4A-BB75-9C714F2324D0}"/>
              </a:ext>
            </a:extLst>
          </p:cNvPr>
          <p:cNvSpPr/>
          <p:nvPr/>
        </p:nvSpPr>
        <p:spPr bwMode="gray">
          <a:xfrm>
            <a:off x="4777857" y="4875742"/>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メタデータ管理の全社展開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4E4D6804-DCDC-F847-AEAC-642065B9A385}"/>
              </a:ext>
            </a:extLst>
          </p:cNvPr>
          <p:cNvSpPr/>
          <p:nvPr/>
        </p:nvSpPr>
        <p:spPr bwMode="gray">
          <a:xfrm>
            <a:off x="6435297" y="4875742"/>
            <a:ext cx="1593298"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BF431977-8A70-E14A-950C-1A3647DB8143}"/>
              </a:ext>
            </a:extLst>
          </p:cNvPr>
          <p:cNvSpPr/>
          <p:nvPr/>
        </p:nvSpPr>
        <p:spPr bwMode="gray">
          <a:xfrm>
            <a:off x="8084103" y="4875742"/>
            <a:ext cx="1593298" cy="29997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メタデータ管理の改善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76BABBB9-E701-114E-8DAA-1C9D2DDD7BDF}"/>
              </a:ext>
            </a:extLst>
          </p:cNvPr>
          <p:cNvSpPr/>
          <p:nvPr/>
        </p:nvSpPr>
        <p:spPr bwMode="gray">
          <a:xfrm>
            <a:off x="1482798" y="4874782"/>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メタデータの属人化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63BA43EA-A099-434F-855A-AB682266E33F}"/>
              </a:ext>
            </a:extLst>
          </p:cNvPr>
          <p:cNvSpPr/>
          <p:nvPr/>
        </p:nvSpPr>
        <p:spPr bwMode="gray">
          <a:xfrm>
            <a:off x="262417" y="4875742"/>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⑩メタデータ管理</a:t>
            </a:r>
            <a:endParaRPr lang="en-US" altLang="ja-JP" sz="900" dirty="0">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4079E529-6A45-FF44-97D7-15AD07D23DB7}"/>
              </a:ext>
            </a:extLst>
          </p:cNvPr>
          <p:cNvSpPr/>
          <p:nvPr/>
        </p:nvSpPr>
        <p:spPr bwMode="gray">
          <a:xfrm>
            <a:off x="3131604" y="2561997"/>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部門内でのデータモデルの作成</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B82A9B84-DCC0-504A-93E8-F5AFE4670C8E}"/>
              </a:ext>
            </a:extLst>
          </p:cNvPr>
          <p:cNvSpPr/>
          <p:nvPr/>
        </p:nvSpPr>
        <p:spPr bwMode="gray">
          <a:xfrm>
            <a:off x="4777857" y="2561997"/>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データモデルの全社展開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38D52ED7-E9BC-0B46-8D75-7EE8E96F40D7}"/>
              </a:ext>
            </a:extLst>
          </p:cNvPr>
          <p:cNvSpPr/>
          <p:nvPr/>
        </p:nvSpPr>
        <p:spPr bwMode="gray">
          <a:xfrm>
            <a:off x="6435297" y="2561997"/>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データモデル検証結果の評価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376F2B80-2A10-6047-A271-0FC50C48577D}"/>
              </a:ext>
            </a:extLst>
          </p:cNvPr>
          <p:cNvSpPr/>
          <p:nvPr/>
        </p:nvSpPr>
        <p:spPr bwMode="gray">
          <a:xfrm>
            <a:off x="262417" y="2561997"/>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③データモデリングと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デザイン</a:t>
            </a:r>
            <a:endParaRPr lang="en-US" altLang="ja-JP" sz="900" dirty="0">
              <a:latin typeface="Meiryo UI" panose="020B0604030504040204" pitchFamily="34" charset="-128"/>
              <a:ea typeface="Meiryo UI" panose="020B0604030504040204" pitchFamily="34" charset="-128"/>
            </a:endParaRPr>
          </a:p>
        </p:txBody>
      </p:sp>
      <p:sp>
        <p:nvSpPr>
          <p:cNvPr id="39" name="正方形/長方形 38">
            <a:extLst>
              <a:ext uri="{FF2B5EF4-FFF2-40B4-BE49-F238E27FC236}">
                <a16:creationId xmlns:a16="http://schemas.microsoft.com/office/drawing/2014/main" id="{A98BC02D-CD3D-4949-8D23-EE88A2E89D93}"/>
              </a:ext>
            </a:extLst>
          </p:cNvPr>
          <p:cNvSpPr/>
          <p:nvPr/>
        </p:nvSpPr>
        <p:spPr bwMode="gray">
          <a:xfrm>
            <a:off x="3131604" y="2891791"/>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0" name="正方形/長方形 39">
            <a:extLst>
              <a:ext uri="{FF2B5EF4-FFF2-40B4-BE49-F238E27FC236}">
                <a16:creationId xmlns:a16="http://schemas.microsoft.com/office/drawing/2014/main" id="{051F3BB6-3120-204E-A367-8CBFCDB8B72E}"/>
              </a:ext>
            </a:extLst>
          </p:cNvPr>
          <p:cNvSpPr/>
          <p:nvPr/>
        </p:nvSpPr>
        <p:spPr bwMode="gray">
          <a:xfrm>
            <a:off x="4777857" y="2891791"/>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a:solidFill>
                  <a:sysClr val="windowText" lastClr="000000"/>
                </a:solidFill>
                <a:latin typeface="Meiryo UI" panose="020B0604030504040204" pitchFamily="34" charset="-128"/>
                <a:ea typeface="Meiryo UI" panose="020B0604030504040204" pitchFamily="34" charset="-128"/>
              </a:rPr>
              <a:t>環境の全社展開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96E5F033-603A-214D-92A4-C654F983F227}"/>
              </a:ext>
            </a:extLst>
          </p:cNvPr>
          <p:cNvSpPr/>
          <p:nvPr/>
        </p:nvSpPr>
        <p:spPr bwMode="gray">
          <a:xfrm>
            <a:off x="6435296" y="2891791"/>
            <a:ext cx="3242103"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　性能・運用・サービスの評価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0A498C2A-6027-3946-91D9-8862E5F5A629}"/>
              </a:ext>
            </a:extLst>
          </p:cNvPr>
          <p:cNvSpPr/>
          <p:nvPr/>
        </p:nvSpPr>
        <p:spPr bwMode="gray">
          <a:xfrm>
            <a:off x="262417" y="2892016"/>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④データストレージと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オペレーションズ</a:t>
            </a:r>
            <a:endParaRPr lang="en-US" altLang="ja-JP" sz="900" dirty="0">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9A39CC63-FD7D-F748-81F9-AA8447A7B865}"/>
              </a:ext>
            </a:extLst>
          </p:cNvPr>
          <p:cNvSpPr/>
          <p:nvPr/>
        </p:nvSpPr>
        <p:spPr bwMode="gray">
          <a:xfrm>
            <a:off x="1478549" y="520428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データ品質の問題が散見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8CC5EF85-EA30-B046-A9EC-8213740DD473}"/>
              </a:ext>
            </a:extLst>
          </p:cNvPr>
          <p:cNvSpPr/>
          <p:nvPr/>
        </p:nvSpPr>
        <p:spPr bwMode="gray">
          <a:xfrm>
            <a:off x="3131604" y="5204281"/>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部門に閉じたデータ品質</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1C828001-1E9A-ED41-9F9D-20BEA41A8ED5}"/>
              </a:ext>
            </a:extLst>
          </p:cNvPr>
          <p:cNvSpPr/>
          <p:nvPr/>
        </p:nvSpPr>
        <p:spPr bwMode="gray">
          <a:xfrm>
            <a:off x="4777857" y="520428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全社でのデータ品質の向上</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026CD6A8-BED5-2E4F-AC18-EA7D4AD54ECA}"/>
              </a:ext>
            </a:extLst>
          </p:cNvPr>
          <p:cNvSpPr/>
          <p:nvPr/>
        </p:nvSpPr>
        <p:spPr bwMode="gray">
          <a:xfrm>
            <a:off x="6435297" y="5204281"/>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データ品質の測定</a:t>
            </a:r>
          </a:p>
        </p:txBody>
      </p:sp>
      <p:sp>
        <p:nvSpPr>
          <p:cNvPr id="47" name="正方形/長方形 46">
            <a:extLst>
              <a:ext uri="{FF2B5EF4-FFF2-40B4-BE49-F238E27FC236}">
                <a16:creationId xmlns:a16="http://schemas.microsoft.com/office/drawing/2014/main" id="{F9F5A0FE-59FB-1D42-A1C5-D37B0D1459A2}"/>
              </a:ext>
            </a:extLst>
          </p:cNvPr>
          <p:cNvSpPr/>
          <p:nvPr/>
        </p:nvSpPr>
        <p:spPr bwMode="gray">
          <a:xfrm>
            <a:off x="8084103" y="5204281"/>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データ品質の改善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3A22C038-9073-594D-957E-AF640FA44748}"/>
              </a:ext>
            </a:extLst>
          </p:cNvPr>
          <p:cNvSpPr/>
          <p:nvPr/>
        </p:nvSpPr>
        <p:spPr bwMode="gray">
          <a:xfrm>
            <a:off x="262417" y="520502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⑪データ品質</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ja-JP" altLang="en-US" sz="900" dirty="0">
              <a:latin typeface="Meiryo UI" panose="020B0604030504040204" pitchFamily="34" charset="-128"/>
              <a:ea typeface="Meiryo UI" panose="020B0604030504040204" pitchFamily="34" charset="-128"/>
            </a:endParaRPr>
          </a:p>
        </p:txBody>
      </p:sp>
      <p:cxnSp>
        <p:nvCxnSpPr>
          <p:cNvPr id="49" name="直線矢印コネクタ 48">
            <a:extLst>
              <a:ext uri="{FF2B5EF4-FFF2-40B4-BE49-F238E27FC236}">
                <a16:creationId xmlns:a16="http://schemas.microsoft.com/office/drawing/2014/main" id="{7BAE51DD-E8F9-6A4F-BF89-334E4DF96D5B}"/>
              </a:ext>
            </a:extLst>
          </p:cNvPr>
          <p:cNvCxnSpPr>
            <a:cxnSpLocks/>
          </p:cNvCxnSpPr>
          <p:nvPr/>
        </p:nvCxnSpPr>
        <p:spPr>
          <a:xfrm flipV="1">
            <a:off x="1384661" y="1802856"/>
            <a:ext cx="0" cy="3744820"/>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B4E6C20C-15F2-C146-8F85-399135504BAD}"/>
              </a:ext>
            </a:extLst>
          </p:cNvPr>
          <p:cNvCxnSpPr>
            <a:cxnSpLocks/>
          </p:cNvCxnSpPr>
          <p:nvPr/>
        </p:nvCxnSpPr>
        <p:spPr>
          <a:xfrm flipV="1">
            <a:off x="1376348" y="5547677"/>
            <a:ext cx="8292738" cy="1"/>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正方形/長方形 50">
            <a:extLst>
              <a:ext uri="{FF2B5EF4-FFF2-40B4-BE49-F238E27FC236}">
                <a16:creationId xmlns:a16="http://schemas.microsoft.com/office/drawing/2014/main" id="{105E7E42-C319-8F47-A247-4F49151DF839}"/>
              </a:ext>
            </a:extLst>
          </p:cNvPr>
          <p:cNvSpPr/>
          <p:nvPr/>
        </p:nvSpPr>
        <p:spPr bwMode="gray">
          <a:xfrm>
            <a:off x="3131604" y="2231978"/>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部門内での業務標準用語</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E1D26772-1D8C-2245-A838-6050C82A66DC}"/>
              </a:ext>
            </a:extLst>
          </p:cNvPr>
          <p:cNvSpPr/>
          <p:nvPr/>
        </p:nvSpPr>
        <p:spPr bwMode="gray">
          <a:xfrm>
            <a:off x="4777857" y="2231978"/>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データアーキテクチャの全社展開</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全社共通の業務標準用語</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7E5CC576-F125-CD40-B873-B9452EABBA2E}"/>
              </a:ext>
            </a:extLst>
          </p:cNvPr>
          <p:cNvSpPr/>
          <p:nvPr/>
        </p:nvSpPr>
        <p:spPr bwMode="gray">
          <a:xfrm>
            <a:off x="6435297" y="2231903"/>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データアーキテクチャ遵守の測定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F548D690-23BA-4243-9EA8-D9797B030E10}"/>
              </a:ext>
            </a:extLst>
          </p:cNvPr>
          <p:cNvSpPr/>
          <p:nvPr/>
        </p:nvSpPr>
        <p:spPr bwMode="gray">
          <a:xfrm>
            <a:off x="262417" y="2231978"/>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②データ</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アーキテクチャ</a:t>
            </a:r>
          </a:p>
        </p:txBody>
      </p:sp>
      <p:sp>
        <p:nvSpPr>
          <p:cNvPr id="55" name="正方形/長方形 54">
            <a:extLst>
              <a:ext uri="{FF2B5EF4-FFF2-40B4-BE49-F238E27FC236}">
                <a16:creationId xmlns:a16="http://schemas.microsoft.com/office/drawing/2014/main" id="{26712D8B-EDC3-464F-87C6-5985773CEA11}"/>
              </a:ext>
            </a:extLst>
          </p:cNvPr>
          <p:cNvSpPr/>
          <p:nvPr/>
        </p:nvSpPr>
        <p:spPr bwMode="gray">
          <a:xfrm>
            <a:off x="3131604" y="3222035"/>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6" name="正方形/長方形 55">
            <a:extLst>
              <a:ext uri="{FF2B5EF4-FFF2-40B4-BE49-F238E27FC236}">
                <a16:creationId xmlns:a16="http://schemas.microsoft.com/office/drawing/2014/main" id="{E6B8F6CA-46C8-AA45-86D6-E22C08DFB482}"/>
              </a:ext>
            </a:extLst>
          </p:cNvPr>
          <p:cNvSpPr/>
          <p:nvPr/>
        </p:nvSpPr>
        <p:spPr bwMode="gray">
          <a:xfrm>
            <a:off x="4777857" y="3222035"/>
            <a:ext cx="1593298" cy="300938"/>
          </a:xfrm>
          <a:prstGeom prst="rect">
            <a:avLst/>
          </a:prstGeom>
          <a:solidFill>
            <a:schemeClr val="bg2">
              <a:lumMod val="40000"/>
              <a:lumOff val="6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468A546D-DFE2-1441-A4F8-72B38C5AEAD3}"/>
              </a:ext>
            </a:extLst>
          </p:cNvPr>
          <p:cNvSpPr/>
          <p:nvPr/>
        </p:nvSpPr>
        <p:spPr bwMode="gray">
          <a:xfrm>
            <a:off x="6435297" y="3222035"/>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データセキュリティ実現評価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8" name="正方形/長方形 57">
            <a:extLst>
              <a:ext uri="{FF2B5EF4-FFF2-40B4-BE49-F238E27FC236}">
                <a16:creationId xmlns:a16="http://schemas.microsoft.com/office/drawing/2014/main" id="{24618BAE-FCC4-8F40-BAF3-5C64BDC765AC}"/>
              </a:ext>
            </a:extLst>
          </p:cNvPr>
          <p:cNvSpPr/>
          <p:nvPr/>
        </p:nvSpPr>
        <p:spPr bwMode="gray">
          <a:xfrm>
            <a:off x="8084103" y="3222035"/>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データセキュリティの改善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9" name="正方形/長方形 58">
            <a:extLst>
              <a:ext uri="{FF2B5EF4-FFF2-40B4-BE49-F238E27FC236}">
                <a16:creationId xmlns:a16="http://schemas.microsoft.com/office/drawing/2014/main" id="{3C414F4D-F4C9-1E40-98C2-DBC53E4489D3}"/>
              </a:ext>
            </a:extLst>
          </p:cNvPr>
          <p:cNvSpPr/>
          <p:nvPr/>
        </p:nvSpPr>
        <p:spPr bwMode="gray">
          <a:xfrm>
            <a:off x="262417" y="3222035"/>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⑤データセキュリティ</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en-US" altLang="ja-JP" sz="900" dirty="0">
              <a:latin typeface="Meiryo UI" panose="020B0604030504040204" pitchFamily="34" charset="-128"/>
              <a:ea typeface="Meiryo UI" panose="020B0604030504040204" pitchFamily="34" charset="-128"/>
            </a:endParaRPr>
          </a:p>
        </p:txBody>
      </p:sp>
      <p:sp>
        <p:nvSpPr>
          <p:cNvPr id="60" name="正方形/長方形 59">
            <a:extLst>
              <a:ext uri="{FF2B5EF4-FFF2-40B4-BE49-F238E27FC236}">
                <a16:creationId xmlns:a16="http://schemas.microsoft.com/office/drawing/2014/main" id="{0207068B-502C-F540-A04B-477395E4F0ED}"/>
              </a:ext>
            </a:extLst>
          </p:cNvPr>
          <p:cNvSpPr/>
          <p:nvPr/>
        </p:nvSpPr>
        <p:spPr bwMode="gray">
          <a:xfrm>
            <a:off x="3131604" y="3553014"/>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データの移動と統合の管理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1" name="正方形/長方形 60">
            <a:extLst>
              <a:ext uri="{FF2B5EF4-FFF2-40B4-BE49-F238E27FC236}">
                <a16:creationId xmlns:a16="http://schemas.microsoft.com/office/drawing/2014/main" id="{9439CB5E-0310-1E4C-BCB4-3387F23BBCE9}"/>
              </a:ext>
            </a:extLst>
          </p:cNvPr>
          <p:cNvSpPr/>
          <p:nvPr/>
        </p:nvSpPr>
        <p:spPr bwMode="gray">
          <a:xfrm>
            <a:off x="4777857" y="3553014"/>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データの移動</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a:solidFill>
                  <a:sysClr val="windowText" lastClr="000000"/>
                </a:solidFill>
                <a:latin typeface="Meiryo UI" panose="020B0604030504040204" pitchFamily="34" charset="-128"/>
                <a:ea typeface="Meiryo UI" panose="020B0604030504040204" pitchFamily="34" charset="-128"/>
              </a:rPr>
              <a:t>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2" name="正方形/長方形 61">
            <a:extLst>
              <a:ext uri="{FF2B5EF4-FFF2-40B4-BE49-F238E27FC236}">
                <a16:creationId xmlns:a16="http://schemas.microsoft.com/office/drawing/2014/main" id="{3661CC15-330F-CE45-937A-2818D07F0189}"/>
              </a:ext>
            </a:extLst>
          </p:cNvPr>
          <p:cNvSpPr/>
          <p:nvPr/>
        </p:nvSpPr>
        <p:spPr bwMode="gray">
          <a:xfrm>
            <a:off x="6435297" y="3553014"/>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可用性・量・速度の測定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3" name="正方形/長方形 62">
            <a:extLst>
              <a:ext uri="{FF2B5EF4-FFF2-40B4-BE49-F238E27FC236}">
                <a16:creationId xmlns:a16="http://schemas.microsoft.com/office/drawing/2014/main" id="{BBD95999-46A0-4D48-9B13-1B904271773A}"/>
              </a:ext>
            </a:extLst>
          </p:cNvPr>
          <p:cNvSpPr/>
          <p:nvPr/>
        </p:nvSpPr>
        <p:spPr bwMode="gray">
          <a:xfrm>
            <a:off x="262417" y="3553014"/>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⑥データ統合と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相互運用性</a:t>
            </a:r>
            <a:endParaRPr lang="en-US" altLang="ja-JP" sz="900" dirty="0">
              <a:latin typeface="Meiryo UI" panose="020B0604030504040204" pitchFamily="34" charset="-128"/>
              <a:ea typeface="Meiryo UI" panose="020B0604030504040204" pitchFamily="34" charset="-128"/>
            </a:endParaRPr>
          </a:p>
        </p:txBody>
      </p:sp>
      <p:sp>
        <p:nvSpPr>
          <p:cNvPr id="64" name="テキスト ボックス 63">
            <a:extLst>
              <a:ext uri="{FF2B5EF4-FFF2-40B4-BE49-F238E27FC236}">
                <a16:creationId xmlns:a16="http://schemas.microsoft.com/office/drawing/2014/main" id="{C61B64CF-7B07-9A43-8D82-BA654EB8DBA6}"/>
              </a:ext>
            </a:extLst>
          </p:cNvPr>
          <p:cNvSpPr txBox="1"/>
          <p:nvPr/>
        </p:nvSpPr>
        <p:spPr>
          <a:xfrm>
            <a:off x="263769" y="6132673"/>
            <a:ext cx="6165470" cy="307777"/>
          </a:xfrm>
          <a:prstGeom prst="rect">
            <a:avLst/>
          </a:prstGeom>
          <a:noFill/>
        </p:spPr>
        <p:txBody>
          <a:bodyPr wrap="none" rtlCol="0">
            <a:spAutoFit/>
          </a:bodyPr>
          <a:lstStyle/>
          <a:p>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1</a:t>
            </a:r>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①②③</a:t>
            </a:r>
            <a:r>
              <a:rPr kumimoji="1" lang="ja-JP" altLang="en-US" sz="700" dirty="0">
                <a:solidFill>
                  <a:schemeClr val="tx1">
                    <a:lumMod val="50000"/>
                    <a:lumOff val="50000"/>
                  </a:schemeClr>
                </a:solidFill>
                <a:latin typeface="Meiryo UI" panose="020B0604030504040204" pitchFamily="34" charset="-128"/>
              </a:rPr>
              <a:t>は基礎的なアクティビティであり、他の実施項目と依存関係によりステップ毎に同等レベルで実施される。（</a:t>
            </a:r>
            <a:r>
              <a:rPr kumimoji="1" lang="en-US" altLang="ja-JP" sz="700" dirty="0">
                <a:solidFill>
                  <a:schemeClr val="tx1">
                    <a:lumMod val="50000"/>
                    <a:lumOff val="50000"/>
                  </a:schemeClr>
                </a:solidFill>
                <a:latin typeface="Meiryo UI" panose="020B0604030504040204" pitchFamily="34" charset="-128"/>
              </a:rPr>
              <a:t>Appendix</a:t>
            </a:r>
            <a:r>
              <a:rPr kumimoji="1" lang="ja-JP" altLang="en-US" sz="700" dirty="0">
                <a:solidFill>
                  <a:schemeClr val="tx1">
                    <a:lumMod val="50000"/>
                    <a:lumOff val="50000"/>
                  </a:schemeClr>
                </a:solidFill>
                <a:latin typeface="Meiryo UI" panose="020B0604030504040204" pitchFamily="34" charset="-128"/>
              </a:rPr>
              <a:t>参照）</a:t>
            </a:r>
            <a:endParaRPr kumimoji="1" lang="en-US" altLang="ja-JP" sz="700" dirty="0">
              <a:solidFill>
                <a:schemeClr val="tx1">
                  <a:lumMod val="50000"/>
                  <a:lumOff val="50000"/>
                </a:schemeClr>
              </a:solidFill>
              <a:latin typeface="Meiryo UI" panose="020B0604030504040204" pitchFamily="34" charset="-128"/>
            </a:endParaRPr>
          </a:p>
          <a:p>
            <a:r>
              <a:rPr lang="en-US" altLang="ja-JP" sz="700" dirty="0">
                <a:solidFill>
                  <a:schemeClr val="tx1">
                    <a:lumMod val="50000"/>
                    <a:lumOff val="50000"/>
                  </a:schemeClr>
                </a:solidFill>
                <a:latin typeface="Meiryo UI" panose="020B0604030504040204" pitchFamily="34" charset="-128"/>
              </a:rPr>
              <a:t>*2</a:t>
            </a:r>
            <a:r>
              <a:rPr lang="ja-JP" altLang="en-US" sz="700" dirty="0">
                <a:solidFill>
                  <a:schemeClr val="tx1">
                    <a:lumMod val="50000"/>
                    <a:lumOff val="50000"/>
                  </a:schemeClr>
                </a:solidFill>
                <a:latin typeface="Meiryo UI" panose="020B0604030504040204" pitchFamily="34" charset="-128"/>
              </a:rPr>
              <a:t>：</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は拠点内では実施できている想定。</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に加え、</a:t>
            </a:r>
            <a:r>
              <a:rPr lang="en-US" altLang="ja-JP" sz="700" dirty="0">
                <a:solidFill>
                  <a:schemeClr val="tx1">
                    <a:lumMod val="50000"/>
                    <a:lumOff val="50000"/>
                  </a:schemeClr>
                </a:solidFill>
                <a:latin typeface="Meiryo UI" panose="020B0604030504040204" pitchFamily="34" charset="-128"/>
              </a:rPr>
              <a:t>⑤〜⑪</a:t>
            </a:r>
            <a:r>
              <a:rPr lang="ja-JP" altLang="en-US" sz="700" dirty="0">
                <a:solidFill>
                  <a:schemeClr val="tx1">
                    <a:lumMod val="50000"/>
                    <a:lumOff val="50000"/>
                  </a:schemeClr>
                </a:solidFill>
                <a:latin typeface="Meiryo UI" panose="020B0604030504040204" pitchFamily="34" charset="-128"/>
              </a:rPr>
              <a:t>については基幹刷新で目指す</a:t>
            </a:r>
            <a:r>
              <a:rPr lang="en-US" altLang="ja-JP" sz="700" dirty="0">
                <a:solidFill>
                  <a:schemeClr val="tx1">
                    <a:lumMod val="50000"/>
                    <a:lumOff val="50000"/>
                  </a:schemeClr>
                </a:solidFill>
                <a:latin typeface="Meiryo UI" panose="020B0604030504040204" pitchFamily="34" charset="-128"/>
              </a:rPr>
              <a:t>SBU</a:t>
            </a:r>
            <a:r>
              <a:rPr lang="ja-JP" altLang="en-US" sz="700" dirty="0">
                <a:solidFill>
                  <a:schemeClr val="tx1">
                    <a:lumMod val="50000"/>
                    <a:lumOff val="50000"/>
                  </a:schemeClr>
                </a:solidFill>
                <a:latin typeface="Meiryo UI" panose="020B0604030504040204" pitchFamily="34" charset="-128"/>
              </a:rPr>
              <a:t>単位での位置づけでの実施レベルは不十分との想定。</a:t>
            </a:r>
            <a:endParaRPr kumimoji="1" lang="ja-JP" altLang="en-US" sz="700" dirty="0">
              <a:solidFill>
                <a:schemeClr val="tx1">
                  <a:lumMod val="50000"/>
                  <a:lumOff val="50000"/>
                </a:schemeClr>
              </a:solidFill>
              <a:latin typeface="Meiryo UI" panose="020B0604030504040204" pitchFamily="34" charset="-128"/>
            </a:endParaRPr>
          </a:p>
        </p:txBody>
      </p:sp>
      <p:sp>
        <p:nvSpPr>
          <p:cNvPr id="65" name="正方形/長方形 53">
            <a:extLst>
              <a:ext uri="{FF2B5EF4-FFF2-40B4-BE49-F238E27FC236}">
                <a16:creationId xmlns:a16="http://schemas.microsoft.com/office/drawing/2014/main" id="{8DAE78A6-3723-7B42-BF4A-C4C33A1F32F0}"/>
              </a:ext>
            </a:extLst>
          </p:cNvPr>
          <p:cNvSpPr/>
          <p:nvPr/>
        </p:nvSpPr>
        <p:spPr bwMode="gray">
          <a:xfrm>
            <a:off x="1478549" y="2231018"/>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6" name="正方形/長方形 53">
            <a:extLst>
              <a:ext uri="{FF2B5EF4-FFF2-40B4-BE49-F238E27FC236}">
                <a16:creationId xmlns:a16="http://schemas.microsoft.com/office/drawing/2014/main" id="{F5ED8E27-B1A4-F847-98D5-0D999C0505A8}"/>
              </a:ext>
            </a:extLst>
          </p:cNvPr>
          <p:cNvSpPr/>
          <p:nvPr/>
        </p:nvSpPr>
        <p:spPr bwMode="gray">
          <a:xfrm>
            <a:off x="1478549" y="2561037"/>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データモデリングとデザイン</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7" name="正方形/長方形 94">
            <a:extLst>
              <a:ext uri="{FF2B5EF4-FFF2-40B4-BE49-F238E27FC236}">
                <a16:creationId xmlns:a16="http://schemas.microsoft.com/office/drawing/2014/main" id="{5AD24D29-715B-8442-BEF2-6F72D7CBEF6D}"/>
              </a:ext>
            </a:extLst>
          </p:cNvPr>
          <p:cNvSpPr/>
          <p:nvPr/>
        </p:nvSpPr>
        <p:spPr bwMode="gray">
          <a:xfrm>
            <a:off x="1478549" y="3552054"/>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アプリケーション・プロセス単位でのデータ管理・運用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8" name="正方形/長方形 94">
            <a:extLst>
              <a:ext uri="{FF2B5EF4-FFF2-40B4-BE49-F238E27FC236}">
                <a16:creationId xmlns:a16="http://schemas.microsoft.com/office/drawing/2014/main" id="{9767BE3E-D76D-FD42-8DC0-586FA100FD95}"/>
              </a:ext>
            </a:extLst>
          </p:cNvPr>
          <p:cNvSpPr/>
          <p:nvPr/>
        </p:nvSpPr>
        <p:spPr bwMode="gray">
          <a:xfrm>
            <a:off x="1478549" y="3882073"/>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拠点・プロセス単位での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ドキュメント・コンテンツ管理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9" name="正方形/長方形 94">
            <a:extLst>
              <a:ext uri="{FF2B5EF4-FFF2-40B4-BE49-F238E27FC236}">
                <a16:creationId xmlns:a16="http://schemas.microsoft.com/office/drawing/2014/main" id="{2A18F144-43EC-944F-B0CD-4FBA4530DF2F}"/>
              </a:ext>
            </a:extLst>
          </p:cNvPr>
          <p:cNvSpPr/>
          <p:nvPr/>
        </p:nvSpPr>
        <p:spPr bwMode="gray">
          <a:xfrm>
            <a:off x="1478549" y="4213052"/>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拠点・アプリケーション単位での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参照データマスタデータ管理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0" name="正方形/長方形 88">
            <a:extLst>
              <a:ext uri="{FF2B5EF4-FFF2-40B4-BE49-F238E27FC236}">
                <a16:creationId xmlns:a16="http://schemas.microsoft.com/office/drawing/2014/main" id="{DDC57159-FB7F-2D4D-8700-626B77575318}"/>
              </a:ext>
            </a:extLst>
          </p:cNvPr>
          <p:cNvSpPr/>
          <p:nvPr/>
        </p:nvSpPr>
        <p:spPr bwMode="gray">
          <a:xfrm>
            <a:off x="1482798" y="454403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共通の</a:t>
            </a: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dirty="0">
                <a:solidFill>
                  <a:sysClr val="windowText" lastClr="000000"/>
                </a:solidFill>
                <a:latin typeface="Meiryo UI" panose="020B0604030504040204" pitchFamily="34" charset="-128"/>
                <a:ea typeface="Meiryo UI" panose="020B0604030504040204" pitchFamily="34" charset="-128"/>
              </a:rPr>
              <a:t>の不在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1" name="正方形/長方形 94">
            <a:extLst>
              <a:ext uri="{FF2B5EF4-FFF2-40B4-BE49-F238E27FC236}">
                <a16:creationId xmlns:a16="http://schemas.microsoft.com/office/drawing/2014/main" id="{86F38161-2DAF-AB43-BE4F-5A15BF893E4C}"/>
              </a:ext>
            </a:extLst>
          </p:cNvPr>
          <p:cNvSpPr/>
          <p:nvPr/>
        </p:nvSpPr>
        <p:spPr bwMode="gray">
          <a:xfrm>
            <a:off x="1478549" y="3222035"/>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2" name="正方形/長方形 94">
            <a:extLst>
              <a:ext uri="{FF2B5EF4-FFF2-40B4-BE49-F238E27FC236}">
                <a16:creationId xmlns:a16="http://schemas.microsoft.com/office/drawing/2014/main" id="{D9350EE1-151D-7943-B6F5-6479DB2551A8}"/>
              </a:ext>
            </a:extLst>
          </p:cNvPr>
          <p:cNvSpPr/>
          <p:nvPr/>
        </p:nvSpPr>
        <p:spPr bwMode="gray">
          <a:xfrm>
            <a:off x="1478549" y="2891791"/>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環境と運用体制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3" name="テキスト プレースホルダー 2">
            <a:extLst>
              <a:ext uri="{FF2B5EF4-FFF2-40B4-BE49-F238E27FC236}">
                <a16:creationId xmlns:a16="http://schemas.microsoft.com/office/drawing/2014/main" id="{D451AB07-E75F-0C48-ABF7-079806405079}"/>
              </a:ext>
            </a:extLst>
          </p:cNvPr>
          <p:cNvSpPr>
            <a:spLocks noGrp="1"/>
          </p:cNvSpPr>
          <p:nvPr>
            <p:ph type="body" sz="quarter" idx="10"/>
          </p:nvPr>
        </p:nvSpPr>
        <p:spPr>
          <a:xfrm>
            <a:off x="236538" y="574775"/>
            <a:ext cx="9440862" cy="527315"/>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初期導入フェーズでは、リファレンスモデルに基づく全社レベルのデータアーキテクチャ（</a:t>
            </a:r>
            <a:r>
              <a:rPr lang="en-US" altLang="ja-JP" b="1" dirty="0">
                <a:latin typeface="Meiryo UI" panose="020B0604030504040204" pitchFamily="34" charset="-128"/>
                <a:ea typeface="Meiryo UI" panose="020B0604030504040204" pitchFamily="34" charset="-128"/>
                <a:cs typeface="+mn-cs"/>
              </a:rPr>
              <a:t>Lv3</a:t>
            </a:r>
            <a:r>
              <a:rPr lang="ja-JP" altLang="en-US" b="1" dirty="0">
                <a:latin typeface="Meiryo UI" panose="020B0604030504040204" pitchFamily="34" charset="-128"/>
                <a:ea typeface="Meiryo UI" panose="020B0604030504040204" pitchFamily="34" charset="-128"/>
                <a:cs typeface="+mn-cs"/>
              </a:rPr>
              <a:t>）の設計と、そのブループリントに基づき成熟度</a:t>
            </a:r>
            <a:r>
              <a:rPr lang="en-US" altLang="ja-JP" b="1" dirty="0">
                <a:latin typeface="Meiryo UI" panose="020B0604030504040204" pitchFamily="34" charset="-128"/>
                <a:ea typeface="Meiryo UI" panose="020B0604030504040204" pitchFamily="34" charset="-128"/>
                <a:cs typeface="+mn-cs"/>
              </a:rPr>
              <a:t>1</a:t>
            </a:r>
            <a:r>
              <a:rPr lang="ja-JP" altLang="en-US" b="1" dirty="0">
                <a:latin typeface="Meiryo UI" panose="020B0604030504040204" pitchFamily="34" charset="-128"/>
                <a:ea typeface="Meiryo UI" panose="020B0604030504040204" pitchFamily="34" charset="-128"/>
                <a:cs typeface="+mn-cs"/>
              </a:rPr>
              <a:t>に止まっている各領域の底上げを計る。</a:t>
            </a:r>
          </a:p>
        </p:txBody>
      </p:sp>
      <p:sp>
        <p:nvSpPr>
          <p:cNvPr id="74" name="ホームベース 31">
            <a:extLst>
              <a:ext uri="{FF2B5EF4-FFF2-40B4-BE49-F238E27FC236}">
                <a16:creationId xmlns:a16="http://schemas.microsoft.com/office/drawing/2014/main" id="{9163423F-FC93-ED48-8AC7-9C6A344C4742}"/>
              </a:ext>
            </a:extLst>
          </p:cNvPr>
          <p:cNvSpPr/>
          <p:nvPr/>
        </p:nvSpPr>
        <p:spPr bwMode="gray">
          <a:xfrm>
            <a:off x="236539" y="1199862"/>
            <a:ext cx="2269526" cy="254582"/>
          </a:xfrm>
          <a:prstGeom prst="homePlate">
            <a:avLst>
              <a:gd name="adj" fmla="val 10244"/>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chemeClr val="bg1"/>
                </a:solidFill>
                <a:latin typeface="Meiryo UI" panose="020B0604030504040204" pitchFamily="34" charset="-128"/>
                <a:ea typeface="Meiryo UI" panose="020B0604030504040204" pitchFamily="34" charset="-128"/>
              </a:rPr>
              <a:t>データマネジメントの初期導入</a:t>
            </a:r>
          </a:p>
        </p:txBody>
      </p:sp>
      <p:sp>
        <p:nvSpPr>
          <p:cNvPr id="75" name="ホームベース 31">
            <a:extLst>
              <a:ext uri="{FF2B5EF4-FFF2-40B4-BE49-F238E27FC236}">
                <a16:creationId xmlns:a16="http://schemas.microsoft.com/office/drawing/2014/main" id="{D1B50DD9-BF02-2D4E-9B89-BD9F2D3358A6}"/>
              </a:ext>
            </a:extLst>
          </p:cNvPr>
          <p:cNvSpPr/>
          <p:nvPr/>
        </p:nvSpPr>
        <p:spPr bwMode="gray">
          <a:xfrm>
            <a:off x="2624214"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a:t>
            </a:r>
            <a:r>
              <a:rPr lang="en-US" altLang="ja-JP" sz="1000" dirty="0">
                <a:solidFill>
                  <a:schemeClr val="bg1"/>
                </a:solidFill>
                <a:latin typeface="Meiryo UI" panose="020B0604030504040204" pitchFamily="34" charset="-128"/>
                <a:ea typeface="Meiryo UI" panose="020B0604030504040204" pitchFamily="34" charset="-128"/>
              </a:rPr>
              <a:t>BU</a:t>
            </a:r>
            <a:r>
              <a:rPr lang="ja-JP" altLang="en-US" sz="1000" dirty="0">
                <a:solidFill>
                  <a:schemeClr val="bg1"/>
                </a:solidFill>
                <a:latin typeface="Meiryo UI" panose="020B0604030504040204" pitchFamily="34" charset="-128"/>
                <a:ea typeface="Meiryo UI" panose="020B0604030504040204" pitchFamily="34" charset="-128"/>
              </a:rPr>
              <a:t>別最適化</a:t>
            </a:r>
          </a:p>
        </p:txBody>
      </p:sp>
      <p:sp>
        <p:nvSpPr>
          <p:cNvPr id="76" name="ホームベース 31">
            <a:extLst>
              <a:ext uri="{FF2B5EF4-FFF2-40B4-BE49-F238E27FC236}">
                <a16:creationId xmlns:a16="http://schemas.microsoft.com/office/drawing/2014/main" id="{9794CFAD-DAAE-ED40-98B4-663D8502C955}"/>
              </a:ext>
            </a:extLst>
          </p:cNvPr>
          <p:cNvSpPr/>
          <p:nvPr/>
        </p:nvSpPr>
        <p:spPr bwMode="gray">
          <a:xfrm>
            <a:off x="5011887"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プロセスの全社最適化</a:t>
            </a:r>
          </a:p>
        </p:txBody>
      </p:sp>
      <p:sp>
        <p:nvSpPr>
          <p:cNvPr id="77" name="ホームベース 31">
            <a:extLst>
              <a:ext uri="{FF2B5EF4-FFF2-40B4-BE49-F238E27FC236}">
                <a16:creationId xmlns:a16="http://schemas.microsoft.com/office/drawing/2014/main" id="{F86DD6FB-E3A1-5B4F-9049-341B5990F89A}"/>
              </a:ext>
            </a:extLst>
          </p:cNvPr>
          <p:cNvSpPr/>
          <p:nvPr/>
        </p:nvSpPr>
        <p:spPr bwMode="gray">
          <a:xfrm>
            <a:off x="7399560"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プロセスの自動化・継続的改善の定着</a:t>
            </a:r>
          </a:p>
        </p:txBody>
      </p:sp>
      <p:sp>
        <p:nvSpPr>
          <p:cNvPr id="78" name="Callout: Line 101">
            <a:extLst>
              <a:ext uri="{FF2B5EF4-FFF2-40B4-BE49-F238E27FC236}">
                <a16:creationId xmlns:a16="http://schemas.microsoft.com/office/drawing/2014/main" id="{46EE6E43-CB8C-E84E-AD74-50FEC46A0198}"/>
              </a:ext>
            </a:extLst>
          </p:cNvPr>
          <p:cNvSpPr/>
          <p:nvPr/>
        </p:nvSpPr>
        <p:spPr>
          <a:xfrm>
            <a:off x="5181100" y="4300041"/>
            <a:ext cx="1593295" cy="350934"/>
          </a:xfrm>
          <a:prstGeom prst="borderCallout1">
            <a:avLst>
              <a:gd name="adj1" fmla="val 46047"/>
              <a:gd name="adj2" fmla="val -1497"/>
              <a:gd name="adj3" fmla="val 112500"/>
              <a:gd name="adj4" fmla="val -38333"/>
            </a:avLst>
          </a:prstGeom>
          <a:solidFill>
            <a:schemeClr val="bg1"/>
          </a:solidFill>
          <a:ln>
            <a:solidFill>
              <a:schemeClr val="tx2">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700" dirty="0">
                <a:solidFill>
                  <a:sysClr val="windowText" lastClr="000000"/>
                </a:solidFill>
                <a:latin typeface="Meiryo UI" panose="020B0604030504040204" pitchFamily="34" charset="-128"/>
                <a:ea typeface="Meiryo UI" panose="020B0604030504040204" pitchFamily="34" charset="-128"/>
              </a:rPr>
              <a:t>DWH</a:t>
            </a:r>
            <a:r>
              <a:rPr lang="ja-JP" altLang="en-US" sz="700" dirty="0">
                <a:solidFill>
                  <a:sysClr val="windowText" lastClr="000000"/>
                </a:solidFill>
                <a:latin typeface="Meiryo UI" panose="020B0604030504040204" pitchFamily="34" charset="-128"/>
                <a:ea typeface="Meiryo UI" panose="020B0604030504040204" pitchFamily="34" charset="-128"/>
              </a:rPr>
              <a:t>と</a:t>
            </a:r>
            <a:r>
              <a:rPr lang="en-US" altLang="ja-JP" sz="700" dirty="0">
                <a:solidFill>
                  <a:sysClr val="windowText" lastClr="000000"/>
                </a:solidFill>
                <a:latin typeface="Meiryo UI" panose="020B0604030504040204" pitchFamily="34" charset="-128"/>
                <a:ea typeface="Meiryo UI" panose="020B0604030504040204" pitchFamily="34" charset="-128"/>
              </a:rPr>
              <a:t>BI</a:t>
            </a:r>
            <a:r>
              <a:rPr lang="ja-JP" altLang="en-US" sz="700" dirty="0">
                <a:solidFill>
                  <a:sysClr val="windowText" lastClr="000000"/>
                </a:solidFill>
                <a:latin typeface="Meiryo UI" panose="020B0604030504040204" pitchFamily="34" charset="-128"/>
                <a:ea typeface="Meiryo UI" panose="020B0604030504040204" pitchFamily="34" charset="-128"/>
              </a:rPr>
              <a:t>に関しては、全社レベルのメタ・マスタデータの整備が完了した後、実装を検討する方が投資対効果が良い。</a:t>
            </a:r>
            <a:endParaRPr lang="en-US" altLang="ja-JP" sz="700" dirty="0">
              <a:solidFill>
                <a:sysClr val="windowText" lastClr="00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438719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89D60E-18A6-3F4C-8E0C-64873AB76581}"/>
              </a:ext>
            </a:extLst>
          </p:cNvPr>
          <p:cNvSpPr>
            <a:spLocks noGrp="1"/>
          </p:cNvSpPr>
          <p:nvPr>
            <p:ph type="title"/>
          </p:nvPr>
        </p:nvSpPr>
        <p:spPr>
          <a:xfrm>
            <a:off x="236538" y="128800"/>
            <a:ext cx="7287809" cy="349961"/>
          </a:xfrm>
        </p:spPr>
        <p:txBody>
          <a:bodyPr anchor="ctr"/>
          <a:lstStyle/>
          <a:p>
            <a:r>
              <a:rPr lang="ja-JP" altLang="en-US" sz="1600"/>
              <a:t>データマネジメント実施スコープ</a:t>
            </a:r>
            <a:br>
              <a:rPr lang="en-US" altLang="ja-JP" sz="1600" dirty="0"/>
            </a:br>
            <a:r>
              <a:rPr lang="ja-JP" altLang="en-US" b="1"/>
              <a:t>データマネジメント成熟度向上案（</a:t>
            </a:r>
            <a:r>
              <a:rPr lang="en-US" altLang="ja-JP" b="1" dirty="0"/>
              <a:t>BU</a:t>
            </a:r>
            <a:r>
              <a:rPr lang="ja-JP" altLang="en-US" b="1" dirty="0"/>
              <a:t>別</a:t>
            </a:r>
            <a:r>
              <a:rPr lang="ja-JP" altLang="en-US" b="1"/>
              <a:t>最適化フェーズ）</a:t>
            </a:r>
            <a:endParaRPr kumimoji="1" lang="ja-JP" altLang="en-US" b="1" dirty="0"/>
          </a:p>
        </p:txBody>
      </p:sp>
      <p:grpSp>
        <p:nvGrpSpPr>
          <p:cNvPr id="3" name="グループ化 2">
            <a:extLst>
              <a:ext uri="{FF2B5EF4-FFF2-40B4-BE49-F238E27FC236}">
                <a16:creationId xmlns:a16="http://schemas.microsoft.com/office/drawing/2014/main" id="{FC8CD0DE-7939-8742-8172-1D3C7F7D56BA}"/>
              </a:ext>
            </a:extLst>
          </p:cNvPr>
          <p:cNvGrpSpPr/>
          <p:nvPr/>
        </p:nvGrpSpPr>
        <p:grpSpPr>
          <a:xfrm>
            <a:off x="262418" y="1539883"/>
            <a:ext cx="9079420" cy="276998"/>
            <a:chOff x="613809" y="1338894"/>
            <a:chExt cx="4074732" cy="285413"/>
          </a:xfrm>
        </p:grpSpPr>
        <p:cxnSp>
          <p:nvCxnSpPr>
            <p:cNvPr id="4" name="直線コネクタ 3">
              <a:extLst>
                <a:ext uri="{FF2B5EF4-FFF2-40B4-BE49-F238E27FC236}">
                  <a16:creationId xmlns:a16="http://schemas.microsoft.com/office/drawing/2014/main" id="{D7D73B04-25FA-854A-87B8-0992D7AC37A1}"/>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076E69DC-F977-F542-B833-0ED3AD38D40B}"/>
                </a:ext>
              </a:extLst>
            </p:cNvPr>
            <p:cNvSpPr txBox="1"/>
            <p:nvPr/>
          </p:nvSpPr>
          <p:spPr>
            <a:xfrm>
              <a:off x="613809" y="1338894"/>
              <a:ext cx="4074732" cy="285413"/>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データマネジメント実施項目の実施レベル</a:t>
              </a:r>
              <a:endParaRPr lang="ja-JP" altLang="en-US" sz="1200" dirty="0">
                <a:latin typeface="Meiryo UI" panose="020B0604030504040204" pitchFamily="34" charset="-128"/>
                <a:ea typeface="Meiryo UI" panose="020B0604030504040204" pitchFamily="34" charset="-128"/>
              </a:endParaRPr>
            </a:p>
          </p:txBody>
        </p:sp>
      </p:grpSp>
      <p:sp>
        <p:nvSpPr>
          <p:cNvPr id="6" name="ホームベース 31">
            <a:extLst>
              <a:ext uri="{FF2B5EF4-FFF2-40B4-BE49-F238E27FC236}">
                <a16:creationId xmlns:a16="http://schemas.microsoft.com/office/drawing/2014/main" id="{71E81DAF-A4B7-C644-9DCB-963747A63702}"/>
              </a:ext>
            </a:extLst>
          </p:cNvPr>
          <p:cNvSpPr/>
          <p:nvPr/>
        </p:nvSpPr>
        <p:spPr bwMode="gray">
          <a:xfrm>
            <a:off x="1478549" y="5625586"/>
            <a:ext cx="1593298" cy="254582"/>
          </a:xfrm>
          <a:prstGeom prst="homePlate">
            <a:avLst>
              <a:gd name="adj" fmla="val 10244"/>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rgbClr val="000000"/>
                </a:solidFill>
                <a:latin typeface="Meiryo UI" panose="020B0604030504040204" pitchFamily="34" charset="-128"/>
                <a:ea typeface="Meiryo UI" panose="020B0604030504040204" pitchFamily="34" charset="-128"/>
              </a:rPr>
              <a:t>成熟度</a:t>
            </a:r>
            <a:r>
              <a:rPr lang="en-US" altLang="ja-JP" sz="1000" dirty="0">
                <a:solidFill>
                  <a:srgbClr val="000000"/>
                </a:solidFill>
                <a:latin typeface="Meiryo UI" panose="020B0604030504040204" pitchFamily="34" charset="-128"/>
                <a:ea typeface="Meiryo UI" panose="020B0604030504040204" pitchFamily="34" charset="-128"/>
              </a:rPr>
              <a:t>Lv1</a:t>
            </a:r>
          </a:p>
          <a:p>
            <a:pPr algn="ctr">
              <a:buFont typeface="Wingdings 2" pitchFamily="18" charset="2"/>
              <a:buNone/>
            </a:pPr>
            <a:r>
              <a:rPr lang="ja-JP" altLang="en-US" sz="800" dirty="0">
                <a:solidFill>
                  <a:srgbClr val="000000"/>
                </a:solidFill>
                <a:latin typeface="Meiryo UI" panose="020B0604030504040204" pitchFamily="34" charset="-128"/>
                <a:ea typeface="Meiryo UI" panose="020B0604030504040204" pitchFamily="34" charset="-128"/>
              </a:rPr>
              <a:t>（場当たり的</a:t>
            </a:r>
            <a:r>
              <a:rPr lang="en-US" altLang="ja-JP" sz="800" dirty="0">
                <a:solidFill>
                  <a:srgbClr val="000000"/>
                </a:solidFill>
                <a:latin typeface="Meiryo UI" panose="020B0604030504040204" pitchFamily="34" charset="-128"/>
                <a:ea typeface="Meiryo UI" panose="020B0604030504040204" pitchFamily="34" charset="-128"/>
              </a:rPr>
              <a:t>/</a:t>
            </a:r>
            <a:r>
              <a:rPr lang="ja-JP" altLang="en-US" sz="800" dirty="0">
                <a:solidFill>
                  <a:srgbClr val="000000"/>
                </a:solidFill>
                <a:latin typeface="Meiryo UI" panose="020B0604030504040204" pitchFamily="34" charset="-128"/>
                <a:ea typeface="Meiryo UI" panose="020B0604030504040204" pitchFamily="34" charset="-128"/>
              </a:rPr>
              <a:t>属人レベル）</a:t>
            </a:r>
          </a:p>
        </p:txBody>
      </p:sp>
      <p:sp>
        <p:nvSpPr>
          <p:cNvPr id="7" name="ホームベース 93">
            <a:extLst>
              <a:ext uri="{FF2B5EF4-FFF2-40B4-BE49-F238E27FC236}">
                <a16:creationId xmlns:a16="http://schemas.microsoft.com/office/drawing/2014/main" id="{FAC99B46-3725-3048-AAF6-3E0FDA6EC030}"/>
              </a:ext>
            </a:extLst>
          </p:cNvPr>
          <p:cNvSpPr/>
          <p:nvPr/>
        </p:nvSpPr>
        <p:spPr bwMode="gray">
          <a:xfrm>
            <a:off x="3131604" y="5625586"/>
            <a:ext cx="1593298" cy="254582"/>
          </a:xfrm>
          <a:prstGeom prst="homePlate">
            <a:avLst>
              <a:gd name="adj" fmla="val 10244"/>
            </a:avLst>
          </a:prstGeom>
          <a:solidFill>
            <a:schemeClr val="bg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Lv2</a:t>
            </a:r>
          </a:p>
          <a:p>
            <a:pPr algn="ctr">
              <a:buFont typeface="Wingdings 2" pitchFamily="18" charset="2"/>
              <a:buNone/>
            </a:pPr>
            <a:r>
              <a:rPr lang="ja-JP" altLang="en-US" sz="800" dirty="0">
                <a:solidFill>
                  <a:sysClr val="windowText" lastClr="000000"/>
                </a:solidFill>
                <a:latin typeface="Meiryo UI" panose="020B0604030504040204" pitchFamily="34" charset="-128"/>
                <a:ea typeface="Meiryo UI" panose="020B0604030504040204" pitchFamily="34" charset="-128"/>
              </a:rPr>
              <a:t>（反復可能</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dirty="0">
                <a:solidFill>
                  <a:sysClr val="windowText" lastClr="000000"/>
                </a:solidFill>
                <a:latin typeface="Meiryo UI" panose="020B0604030504040204" pitchFamily="34" charset="-128"/>
                <a:ea typeface="Meiryo UI" panose="020B0604030504040204" pitchFamily="34" charset="-128"/>
              </a:rPr>
              <a:t>部門（拠点）レベル）</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8" name="ホームベース 94">
            <a:extLst>
              <a:ext uri="{FF2B5EF4-FFF2-40B4-BE49-F238E27FC236}">
                <a16:creationId xmlns:a16="http://schemas.microsoft.com/office/drawing/2014/main" id="{15EB7145-D10B-9348-B132-0CB6FD246378}"/>
              </a:ext>
            </a:extLst>
          </p:cNvPr>
          <p:cNvSpPr/>
          <p:nvPr/>
        </p:nvSpPr>
        <p:spPr bwMode="gray">
          <a:xfrm>
            <a:off x="4777857" y="5625586"/>
            <a:ext cx="1593298" cy="254582"/>
          </a:xfrm>
          <a:prstGeom prst="homePlate">
            <a:avLst>
              <a:gd name="adj" fmla="val 10244"/>
            </a:avLst>
          </a:prstGeom>
          <a:solidFill>
            <a:schemeClr val="bg2">
              <a:lumMod val="40000"/>
              <a:lumOff val="6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Lv3</a:t>
            </a:r>
          </a:p>
          <a:p>
            <a:pPr algn="ctr">
              <a:buFont typeface="Wingdings 2" pitchFamily="18" charset="2"/>
              <a:buNone/>
            </a:pPr>
            <a:r>
              <a:rPr lang="ja-JP" altLang="en-US" sz="800">
                <a:solidFill>
                  <a:sysClr val="windowText" lastClr="000000"/>
                </a:solidFill>
                <a:latin typeface="Meiryo UI" panose="020B0604030504040204" pitchFamily="34" charset="-128"/>
                <a:ea typeface="Meiryo UI" panose="020B0604030504040204" pitchFamily="34" charset="-128"/>
              </a:rPr>
              <a:t>（定義された</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a:solidFill>
                  <a:sysClr val="windowText" lastClr="000000"/>
                </a:solidFill>
                <a:latin typeface="Meiryo UI" panose="020B0604030504040204" pitchFamily="34" charset="-128"/>
                <a:ea typeface="Meiryo UI" panose="020B0604030504040204" pitchFamily="34" charset="-128"/>
              </a:rPr>
              <a:t>全社展開）</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9" name="ホームベース 95">
            <a:extLst>
              <a:ext uri="{FF2B5EF4-FFF2-40B4-BE49-F238E27FC236}">
                <a16:creationId xmlns:a16="http://schemas.microsoft.com/office/drawing/2014/main" id="{4C0314BC-2537-B943-91D8-31CA0D770D7F}"/>
              </a:ext>
            </a:extLst>
          </p:cNvPr>
          <p:cNvSpPr/>
          <p:nvPr/>
        </p:nvSpPr>
        <p:spPr bwMode="gray">
          <a:xfrm>
            <a:off x="6435297" y="5625586"/>
            <a:ext cx="1593298" cy="254582"/>
          </a:xfrm>
          <a:prstGeom prst="homePlate">
            <a:avLst>
              <a:gd name="adj" fmla="val 10244"/>
            </a:avLst>
          </a:prstGeom>
          <a:solidFill>
            <a:schemeClr val="bg2">
              <a:lumMod val="60000"/>
              <a:lumOff val="4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latin typeface="Meiryo UI" panose="020B0604030504040204" pitchFamily="34" charset="-128"/>
                <a:ea typeface="Meiryo UI" panose="020B0604030504040204" pitchFamily="34" charset="-128"/>
              </a:rPr>
              <a:t>成熟度</a:t>
            </a:r>
            <a:r>
              <a:rPr lang="en-US" altLang="ja-JP" sz="1000" dirty="0">
                <a:latin typeface="Meiryo UI" panose="020B0604030504040204" pitchFamily="34" charset="-128"/>
                <a:ea typeface="Meiryo UI" panose="020B0604030504040204" pitchFamily="34" charset="-128"/>
              </a:rPr>
              <a:t>Lv4</a:t>
            </a:r>
          </a:p>
          <a:p>
            <a:pPr algn="ctr">
              <a:buFont typeface="Wingdings 2" pitchFamily="18" charset="2"/>
              <a:buNone/>
            </a:pPr>
            <a:r>
              <a:rPr lang="ja-JP" altLang="en-US" sz="800">
                <a:latin typeface="Meiryo UI" panose="020B0604030504040204" pitchFamily="34" charset="-128"/>
                <a:ea typeface="Meiryo UI" panose="020B0604030504040204" pitchFamily="34" charset="-128"/>
              </a:rPr>
              <a:t>（管理された</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定量的効果測定</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標準ツール）</a:t>
            </a:r>
            <a:endParaRPr lang="en-US" altLang="ja-JP" sz="800" dirty="0">
              <a:latin typeface="Meiryo UI" panose="020B0604030504040204" pitchFamily="34" charset="-128"/>
              <a:ea typeface="Meiryo UI" panose="020B0604030504040204" pitchFamily="34" charset="-128"/>
            </a:endParaRPr>
          </a:p>
        </p:txBody>
      </p:sp>
      <p:sp>
        <p:nvSpPr>
          <p:cNvPr id="10" name="ホームベース 96">
            <a:extLst>
              <a:ext uri="{FF2B5EF4-FFF2-40B4-BE49-F238E27FC236}">
                <a16:creationId xmlns:a16="http://schemas.microsoft.com/office/drawing/2014/main" id="{BA3CBA6F-D090-ED4E-8C5C-35B4BCFB966B}"/>
              </a:ext>
            </a:extLst>
          </p:cNvPr>
          <p:cNvSpPr/>
          <p:nvPr/>
        </p:nvSpPr>
        <p:spPr bwMode="gray">
          <a:xfrm>
            <a:off x="8084103" y="5625586"/>
            <a:ext cx="1593298" cy="254582"/>
          </a:xfrm>
          <a:prstGeom prst="homePlate">
            <a:avLst>
              <a:gd name="adj" fmla="val 10244"/>
            </a:avLst>
          </a:prstGeom>
          <a:solidFill>
            <a:schemeClr val="bg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chemeClr val="bg1"/>
                </a:solidFill>
                <a:latin typeface="Meiryo UI" panose="020B0604030504040204" pitchFamily="34" charset="-128"/>
                <a:ea typeface="Meiryo UI" panose="020B0604030504040204" pitchFamily="34" charset="-128"/>
              </a:rPr>
              <a:t>成熟度</a:t>
            </a:r>
            <a:r>
              <a:rPr lang="en-US" altLang="ja-JP" sz="1000" dirty="0">
                <a:solidFill>
                  <a:schemeClr val="bg1"/>
                </a:solidFill>
                <a:latin typeface="Meiryo UI" panose="020B0604030504040204" pitchFamily="34" charset="-128"/>
                <a:ea typeface="Meiryo UI" panose="020B0604030504040204" pitchFamily="34" charset="-128"/>
              </a:rPr>
              <a:t>Lv5</a:t>
            </a:r>
          </a:p>
          <a:p>
            <a:pPr algn="ctr">
              <a:buFont typeface="Wingdings 2" pitchFamily="18" charset="2"/>
              <a:buNone/>
            </a:pPr>
            <a:r>
              <a:rPr lang="ja-JP" altLang="en-US" sz="800">
                <a:solidFill>
                  <a:schemeClr val="bg1"/>
                </a:solidFill>
                <a:latin typeface="Meiryo UI" panose="020B0604030504040204" pitchFamily="34" charset="-128"/>
                <a:ea typeface="Meiryo UI" panose="020B0604030504040204" pitchFamily="34" charset="-128"/>
              </a:rPr>
              <a:t>（最適化</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継続的改善</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プロセス自動化）</a:t>
            </a:r>
            <a:endParaRPr lang="en-US" altLang="ja-JP" sz="800" dirty="0">
              <a:solidFill>
                <a:schemeClr val="bg1"/>
              </a:solidFill>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3584AAA8-56EE-0644-87C9-918E6EA75FCA}"/>
              </a:ext>
            </a:extLst>
          </p:cNvPr>
          <p:cNvSpPr/>
          <p:nvPr/>
        </p:nvSpPr>
        <p:spPr bwMode="gray">
          <a:xfrm>
            <a:off x="3131604" y="4213052"/>
            <a:ext cx="1593298" cy="30093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A14FF362-24E0-3F4B-B956-C3147949EB92}"/>
              </a:ext>
            </a:extLst>
          </p:cNvPr>
          <p:cNvSpPr/>
          <p:nvPr/>
        </p:nvSpPr>
        <p:spPr bwMode="gray">
          <a:xfrm>
            <a:off x="4777857" y="4213052"/>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5DBD3320-3D7A-A84F-BF31-29235AFF4A6B}"/>
              </a:ext>
            </a:extLst>
          </p:cNvPr>
          <p:cNvSpPr/>
          <p:nvPr/>
        </p:nvSpPr>
        <p:spPr bwMode="gray">
          <a:xfrm>
            <a:off x="6435297" y="4213052"/>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マスタデータの信頼度の評価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データ共有量と利用の測定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38173B66-39A2-1745-94F6-E40DA612FA8C}"/>
              </a:ext>
            </a:extLst>
          </p:cNvPr>
          <p:cNvSpPr/>
          <p:nvPr/>
        </p:nvSpPr>
        <p:spPr bwMode="gray">
          <a:xfrm>
            <a:off x="262417" y="4213052"/>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⑧参照データ</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とマスタデータ</a:t>
            </a:r>
          </a:p>
        </p:txBody>
      </p:sp>
      <p:sp>
        <p:nvSpPr>
          <p:cNvPr id="15" name="正方形/長方形 14">
            <a:extLst>
              <a:ext uri="{FF2B5EF4-FFF2-40B4-BE49-F238E27FC236}">
                <a16:creationId xmlns:a16="http://schemas.microsoft.com/office/drawing/2014/main" id="{4A658CDE-5769-2F46-94E4-CA30F51D93DE}"/>
              </a:ext>
            </a:extLst>
          </p:cNvPr>
          <p:cNvSpPr/>
          <p:nvPr/>
        </p:nvSpPr>
        <p:spPr bwMode="gray">
          <a:xfrm>
            <a:off x="3131604" y="454403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p>
        </p:txBody>
      </p:sp>
      <p:sp>
        <p:nvSpPr>
          <p:cNvPr id="16" name="正方形/長方形 15">
            <a:extLst>
              <a:ext uri="{FF2B5EF4-FFF2-40B4-BE49-F238E27FC236}">
                <a16:creationId xmlns:a16="http://schemas.microsoft.com/office/drawing/2014/main" id="{55449E3C-2B61-DD44-9C09-FFC9188713D6}"/>
              </a:ext>
            </a:extLst>
          </p:cNvPr>
          <p:cNvSpPr/>
          <p:nvPr/>
        </p:nvSpPr>
        <p:spPr bwMode="gray">
          <a:xfrm>
            <a:off x="4777857" y="454403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0091B10C-CD9F-B949-9BD5-35DAB9AF26E6}"/>
              </a:ext>
            </a:extLst>
          </p:cNvPr>
          <p:cNvSpPr/>
          <p:nvPr/>
        </p:nvSpPr>
        <p:spPr bwMode="gray">
          <a:xfrm>
            <a:off x="6435297" y="4544031"/>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rgbClr val="000000"/>
                </a:solidFill>
                <a:latin typeface="Meiryo UI" panose="020B0604030504040204" pitchFamily="34" charset="-128"/>
                <a:ea typeface="Meiryo UI" panose="020B0604030504040204" pitchFamily="34" charset="-128"/>
              </a:rPr>
              <a:t>利用度の評価</a:t>
            </a:r>
            <a:r>
              <a:rPr lang="en-US" altLang="ja-JP" sz="900" dirty="0">
                <a:solidFill>
                  <a:srgbClr val="000000"/>
                </a:solidFill>
                <a:latin typeface="Meiryo UI" panose="020B0604030504040204" pitchFamily="34" charset="-128"/>
                <a:ea typeface="Meiryo UI" panose="020B0604030504040204" pitchFamily="34" charset="-128"/>
              </a:rPr>
              <a:t>/</a:t>
            </a:r>
            <a:r>
              <a:rPr lang="ja-JP" altLang="en-US" sz="900" dirty="0">
                <a:solidFill>
                  <a:srgbClr val="000000"/>
                </a:solidFill>
                <a:latin typeface="Meiryo UI" panose="020B0604030504040204" pitchFamily="34" charset="-128"/>
                <a:ea typeface="Meiryo UI" panose="020B0604030504040204" pitchFamily="34" charset="-128"/>
              </a:rPr>
              <a:t>パフォーマンスの評価</a:t>
            </a:r>
            <a:endParaRPr lang="en-US" altLang="ja-JP" sz="900" dirty="0">
              <a:solidFill>
                <a:srgbClr val="000000"/>
              </a:solidFill>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B296EF97-5DD8-9843-A720-3E158356EC0B}"/>
              </a:ext>
            </a:extLst>
          </p:cNvPr>
          <p:cNvSpPr/>
          <p:nvPr/>
        </p:nvSpPr>
        <p:spPr bwMode="gray">
          <a:xfrm>
            <a:off x="262417" y="4544031"/>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⑨</a:t>
            </a:r>
            <a:r>
              <a:rPr lang="en-US" altLang="ja-JP" sz="900" dirty="0">
                <a:latin typeface="Meiryo UI" panose="020B0604030504040204" pitchFamily="34" charset="-128"/>
                <a:ea typeface="Meiryo UI" panose="020B0604030504040204" pitchFamily="34" charset="-128"/>
              </a:rPr>
              <a:t>DWH</a:t>
            </a:r>
            <a:r>
              <a:rPr lang="ja-JP" altLang="en-US" sz="900" dirty="0">
                <a:latin typeface="Meiryo UI" panose="020B0604030504040204" pitchFamily="34" charset="-128"/>
                <a:ea typeface="Meiryo UI" panose="020B0604030504040204" pitchFamily="34" charset="-128"/>
              </a:rPr>
              <a:t>と</a:t>
            </a:r>
            <a:r>
              <a:rPr lang="en-US" altLang="ja-JP" sz="900" dirty="0">
                <a:latin typeface="Meiryo UI" panose="020B0604030504040204" pitchFamily="34" charset="-128"/>
                <a:ea typeface="Meiryo UI" panose="020B0604030504040204" pitchFamily="34" charset="-128"/>
              </a:rPr>
              <a:t>BI</a:t>
            </a:r>
            <a:endParaRPr lang="ja-JP" altLang="en-US" sz="900" dirty="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576FF86A-BFF4-424C-826F-08AB4CC319AE}"/>
              </a:ext>
            </a:extLst>
          </p:cNvPr>
          <p:cNvSpPr/>
          <p:nvPr/>
        </p:nvSpPr>
        <p:spPr bwMode="gray">
          <a:xfrm>
            <a:off x="3131604" y="3883033"/>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管理ポリシー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23A738DA-F674-A243-BE34-DFE10917F763}"/>
              </a:ext>
            </a:extLst>
          </p:cNvPr>
          <p:cNvSpPr/>
          <p:nvPr/>
        </p:nvSpPr>
        <p:spPr bwMode="gray">
          <a:xfrm>
            <a:off x="4777857" y="3883033"/>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管理ポリシーの全社展開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196135F5-5217-F241-9DCA-242F5BD3B1A7}"/>
              </a:ext>
            </a:extLst>
          </p:cNvPr>
          <p:cNvSpPr/>
          <p:nvPr/>
        </p:nvSpPr>
        <p:spPr bwMode="gray">
          <a:xfrm>
            <a:off x="6435297" y="3883033"/>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法令遵守の評価</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利用評価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90F3A02B-A653-764C-BE6F-D581E0F60DDA}"/>
              </a:ext>
            </a:extLst>
          </p:cNvPr>
          <p:cNvSpPr/>
          <p:nvPr/>
        </p:nvSpPr>
        <p:spPr bwMode="gray">
          <a:xfrm>
            <a:off x="262417" y="3883033"/>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⑦ドキュメントと</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コンテンツ管理</a:t>
            </a:r>
          </a:p>
        </p:txBody>
      </p:sp>
      <p:sp>
        <p:nvSpPr>
          <p:cNvPr id="23" name="正方形/長方形 22">
            <a:extLst>
              <a:ext uri="{FF2B5EF4-FFF2-40B4-BE49-F238E27FC236}">
                <a16:creationId xmlns:a16="http://schemas.microsoft.com/office/drawing/2014/main" id="{1359244D-0F03-6042-852A-B79224777313}"/>
              </a:ext>
            </a:extLst>
          </p:cNvPr>
          <p:cNvSpPr/>
          <p:nvPr/>
        </p:nvSpPr>
        <p:spPr bwMode="gray">
          <a:xfrm>
            <a:off x="1478549" y="1900999"/>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属人的・プロセス単位のガバナンス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B77511D7-9BC0-9444-A97E-331667A1D430}"/>
              </a:ext>
            </a:extLst>
          </p:cNvPr>
          <p:cNvSpPr/>
          <p:nvPr/>
        </p:nvSpPr>
        <p:spPr bwMode="gray">
          <a:xfrm>
            <a:off x="3131604" y="1900999"/>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役割の明確化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5" name="正方形/長方形 24">
            <a:extLst>
              <a:ext uri="{FF2B5EF4-FFF2-40B4-BE49-F238E27FC236}">
                <a16:creationId xmlns:a16="http://schemas.microsoft.com/office/drawing/2014/main" id="{B0427112-0F75-2643-B16F-8094042C8A06}"/>
              </a:ext>
            </a:extLst>
          </p:cNvPr>
          <p:cNvSpPr/>
          <p:nvPr/>
        </p:nvSpPr>
        <p:spPr bwMode="gray">
          <a:xfrm>
            <a:off x="4777857" y="1900999"/>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組織的なポリシー定義と</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ガバナンス</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6" name="正方形/長方形 25">
            <a:extLst>
              <a:ext uri="{FF2B5EF4-FFF2-40B4-BE49-F238E27FC236}">
                <a16:creationId xmlns:a16="http://schemas.microsoft.com/office/drawing/2014/main" id="{779410DA-032C-9C42-BFA5-7917DC4B7FD5}"/>
              </a:ext>
            </a:extLst>
          </p:cNvPr>
          <p:cNvSpPr/>
          <p:nvPr/>
        </p:nvSpPr>
        <p:spPr bwMode="gray">
          <a:xfrm>
            <a:off x="6435297" y="1900999"/>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プロセスが数値化された統制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10E79DB1-2D38-7D4D-891C-674D9F567444}"/>
              </a:ext>
            </a:extLst>
          </p:cNvPr>
          <p:cNvSpPr/>
          <p:nvPr/>
        </p:nvSpPr>
        <p:spPr bwMode="gray">
          <a:xfrm>
            <a:off x="8084103" y="1900999"/>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プロセス改善のゴールが数値化</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8" name="正方形/長方形 27">
            <a:extLst>
              <a:ext uri="{FF2B5EF4-FFF2-40B4-BE49-F238E27FC236}">
                <a16:creationId xmlns:a16="http://schemas.microsoft.com/office/drawing/2014/main" id="{E401ADAA-63B9-EB49-8B69-2590FE6FE121}"/>
              </a:ext>
            </a:extLst>
          </p:cNvPr>
          <p:cNvSpPr/>
          <p:nvPr/>
        </p:nvSpPr>
        <p:spPr bwMode="gray">
          <a:xfrm>
            <a:off x="262417" y="190099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en-US" altLang="ja-JP" sz="900" dirty="0">
                <a:latin typeface="Meiryo UI" panose="020B0604030504040204" pitchFamily="34" charset="-128"/>
                <a:ea typeface="Meiryo UI" panose="020B0604030504040204" pitchFamily="34" charset="-128"/>
              </a:rPr>
              <a:t>①</a:t>
            </a:r>
            <a:r>
              <a:rPr lang="ja-JP" altLang="en-US" sz="900" dirty="0">
                <a:latin typeface="Meiryo UI" panose="020B0604030504040204" pitchFamily="34" charset="-128"/>
                <a:ea typeface="Meiryo UI" panose="020B0604030504040204" pitchFamily="34" charset="-128"/>
              </a:rPr>
              <a:t>データガバナンス</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p>
        </p:txBody>
      </p:sp>
      <p:sp>
        <p:nvSpPr>
          <p:cNvPr id="29" name="正方形/長方形 28">
            <a:extLst>
              <a:ext uri="{FF2B5EF4-FFF2-40B4-BE49-F238E27FC236}">
                <a16:creationId xmlns:a16="http://schemas.microsoft.com/office/drawing/2014/main" id="{19079446-95D5-2444-BC7D-85FCB86D1D83}"/>
              </a:ext>
            </a:extLst>
          </p:cNvPr>
          <p:cNvSpPr/>
          <p:nvPr/>
        </p:nvSpPr>
        <p:spPr bwMode="gray">
          <a:xfrm>
            <a:off x="3131604" y="4875742"/>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部門内でのメタデータ管理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BD59E415-0FC6-BA41-AE78-E4E35C1C0BBB}"/>
              </a:ext>
            </a:extLst>
          </p:cNvPr>
          <p:cNvSpPr/>
          <p:nvPr/>
        </p:nvSpPr>
        <p:spPr bwMode="gray">
          <a:xfrm>
            <a:off x="4777857" y="4875742"/>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メタデータ管理の全社展開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394D8D21-5CC1-4044-A08C-D7301211C4E8}"/>
              </a:ext>
            </a:extLst>
          </p:cNvPr>
          <p:cNvSpPr/>
          <p:nvPr/>
        </p:nvSpPr>
        <p:spPr bwMode="gray">
          <a:xfrm>
            <a:off x="6435297" y="4875742"/>
            <a:ext cx="1593298"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65A91B32-1845-BF4D-942E-2E30501D3719}"/>
              </a:ext>
            </a:extLst>
          </p:cNvPr>
          <p:cNvSpPr/>
          <p:nvPr/>
        </p:nvSpPr>
        <p:spPr bwMode="gray">
          <a:xfrm>
            <a:off x="8084103" y="4875742"/>
            <a:ext cx="1593298" cy="29997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メタデータ管理の改善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BEF1B9DC-3287-BD4D-A63D-056DE6B21278}"/>
              </a:ext>
            </a:extLst>
          </p:cNvPr>
          <p:cNvSpPr/>
          <p:nvPr/>
        </p:nvSpPr>
        <p:spPr bwMode="gray">
          <a:xfrm>
            <a:off x="1482798" y="4874782"/>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メタデータの属人化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AADDCCBA-8A6A-4747-8EFA-1362C170E0E1}"/>
              </a:ext>
            </a:extLst>
          </p:cNvPr>
          <p:cNvSpPr/>
          <p:nvPr/>
        </p:nvSpPr>
        <p:spPr bwMode="gray">
          <a:xfrm>
            <a:off x="262417" y="4875742"/>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⑩メタデータ管理</a:t>
            </a:r>
            <a:endParaRPr lang="en-US" altLang="ja-JP" sz="900" dirty="0">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B1F0CD64-C5CB-4C42-8074-FA510E9E97DB}"/>
              </a:ext>
            </a:extLst>
          </p:cNvPr>
          <p:cNvSpPr/>
          <p:nvPr/>
        </p:nvSpPr>
        <p:spPr bwMode="gray">
          <a:xfrm>
            <a:off x="3131604" y="2561997"/>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部門内でのデータモデルの作成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A8774FAA-DD13-4848-9B1D-44CE6E049A96}"/>
              </a:ext>
            </a:extLst>
          </p:cNvPr>
          <p:cNvSpPr/>
          <p:nvPr/>
        </p:nvSpPr>
        <p:spPr bwMode="gray">
          <a:xfrm>
            <a:off x="4777857" y="2561997"/>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データモデルの全社展開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381DBDA8-C702-6144-B5F2-0676419E8088}"/>
              </a:ext>
            </a:extLst>
          </p:cNvPr>
          <p:cNvSpPr/>
          <p:nvPr/>
        </p:nvSpPr>
        <p:spPr bwMode="gray">
          <a:xfrm>
            <a:off x="6435297" y="2561997"/>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データモデル検証結果の評価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78460A10-EAA6-4E4A-A5DF-0A2079E8BF80}"/>
              </a:ext>
            </a:extLst>
          </p:cNvPr>
          <p:cNvSpPr/>
          <p:nvPr/>
        </p:nvSpPr>
        <p:spPr bwMode="gray">
          <a:xfrm>
            <a:off x="262417" y="2561997"/>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③データモデリングと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デザイン</a:t>
            </a:r>
            <a:endParaRPr lang="en-US" altLang="ja-JP" sz="900" dirty="0">
              <a:latin typeface="Meiryo UI" panose="020B0604030504040204" pitchFamily="34" charset="-128"/>
              <a:ea typeface="Meiryo UI" panose="020B0604030504040204" pitchFamily="34" charset="-128"/>
            </a:endParaRPr>
          </a:p>
        </p:txBody>
      </p:sp>
      <p:sp>
        <p:nvSpPr>
          <p:cNvPr id="39" name="正方形/長方形 38">
            <a:extLst>
              <a:ext uri="{FF2B5EF4-FFF2-40B4-BE49-F238E27FC236}">
                <a16:creationId xmlns:a16="http://schemas.microsoft.com/office/drawing/2014/main" id="{B933B680-AD0A-8244-A76C-AE2495F05B54}"/>
              </a:ext>
            </a:extLst>
          </p:cNvPr>
          <p:cNvSpPr/>
          <p:nvPr/>
        </p:nvSpPr>
        <p:spPr bwMode="gray">
          <a:xfrm>
            <a:off x="3131604" y="2891791"/>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0" name="正方形/長方形 39">
            <a:extLst>
              <a:ext uri="{FF2B5EF4-FFF2-40B4-BE49-F238E27FC236}">
                <a16:creationId xmlns:a16="http://schemas.microsoft.com/office/drawing/2014/main" id="{8DAE0E1B-26BF-4A49-BA94-AF58B01E5909}"/>
              </a:ext>
            </a:extLst>
          </p:cNvPr>
          <p:cNvSpPr/>
          <p:nvPr/>
        </p:nvSpPr>
        <p:spPr bwMode="gray">
          <a:xfrm>
            <a:off x="4777857" y="2891791"/>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a:solidFill>
                  <a:sysClr val="windowText" lastClr="000000"/>
                </a:solidFill>
                <a:latin typeface="Meiryo UI" panose="020B0604030504040204" pitchFamily="34" charset="-128"/>
                <a:ea typeface="Meiryo UI" panose="020B0604030504040204" pitchFamily="34" charset="-128"/>
              </a:rPr>
              <a:t>環境の全社展開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CFFCB694-963F-954C-985A-6B539D1A810B}"/>
              </a:ext>
            </a:extLst>
          </p:cNvPr>
          <p:cNvSpPr/>
          <p:nvPr/>
        </p:nvSpPr>
        <p:spPr bwMode="gray">
          <a:xfrm>
            <a:off x="6435296" y="2891791"/>
            <a:ext cx="3242103"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　性能・運用・サービスの評価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ABACC9AC-FFB3-2A41-BD6C-E887B69091EA}"/>
              </a:ext>
            </a:extLst>
          </p:cNvPr>
          <p:cNvSpPr/>
          <p:nvPr/>
        </p:nvSpPr>
        <p:spPr bwMode="gray">
          <a:xfrm>
            <a:off x="262417" y="2892016"/>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④データストレージと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オペレーションズ</a:t>
            </a:r>
            <a:endParaRPr lang="en-US" altLang="ja-JP" sz="900" dirty="0">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621A037E-FFD6-6E4C-83CD-96D5B9C84C66}"/>
              </a:ext>
            </a:extLst>
          </p:cNvPr>
          <p:cNvSpPr/>
          <p:nvPr/>
        </p:nvSpPr>
        <p:spPr bwMode="gray">
          <a:xfrm>
            <a:off x="1478549" y="520428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データ品質の問題が散見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B1E16ABC-FDD8-7B4B-936D-4B9BEB94FCE4}"/>
              </a:ext>
            </a:extLst>
          </p:cNvPr>
          <p:cNvSpPr/>
          <p:nvPr/>
        </p:nvSpPr>
        <p:spPr bwMode="gray">
          <a:xfrm>
            <a:off x="3131604" y="520428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部門に閉じたデータ品質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14F1F5CB-3EF7-C34D-998E-1C36D9E35D27}"/>
              </a:ext>
            </a:extLst>
          </p:cNvPr>
          <p:cNvSpPr/>
          <p:nvPr/>
        </p:nvSpPr>
        <p:spPr bwMode="gray">
          <a:xfrm>
            <a:off x="4777857" y="520428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全社でのデータ品質の向上</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18DC2073-8DEF-894C-A189-4D5D68083610}"/>
              </a:ext>
            </a:extLst>
          </p:cNvPr>
          <p:cNvSpPr/>
          <p:nvPr/>
        </p:nvSpPr>
        <p:spPr bwMode="gray">
          <a:xfrm>
            <a:off x="6435297" y="5204281"/>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データ品質の測定</a:t>
            </a:r>
          </a:p>
        </p:txBody>
      </p:sp>
      <p:sp>
        <p:nvSpPr>
          <p:cNvPr id="47" name="正方形/長方形 46">
            <a:extLst>
              <a:ext uri="{FF2B5EF4-FFF2-40B4-BE49-F238E27FC236}">
                <a16:creationId xmlns:a16="http://schemas.microsoft.com/office/drawing/2014/main" id="{6CE25A32-00D9-7B49-8AA1-73BD1777CAB9}"/>
              </a:ext>
            </a:extLst>
          </p:cNvPr>
          <p:cNvSpPr/>
          <p:nvPr/>
        </p:nvSpPr>
        <p:spPr bwMode="gray">
          <a:xfrm>
            <a:off x="8084103" y="5204281"/>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データ品質の改善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5061EC49-5A96-EE4E-9901-24109230B182}"/>
              </a:ext>
            </a:extLst>
          </p:cNvPr>
          <p:cNvSpPr/>
          <p:nvPr/>
        </p:nvSpPr>
        <p:spPr bwMode="gray">
          <a:xfrm>
            <a:off x="262417" y="520502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⑪データ品質</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ja-JP" altLang="en-US" sz="900" dirty="0">
              <a:latin typeface="Meiryo UI" panose="020B0604030504040204" pitchFamily="34" charset="-128"/>
              <a:ea typeface="Meiryo UI" panose="020B0604030504040204" pitchFamily="34" charset="-128"/>
            </a:endParaRPr>
          </a:p>
        </p:txBody>
      </p:sp>
      <p:cxnSp>
        <p:nvCxnSpPr>
          <p:cNvPr id="49" name="直線矢印コネクタ 48">
            <a:extLst>
              <a:ext uri="{FF2B5EF4-FFF2-40B4-BE49-F238E27FC236}">
                <a16:creationId xmlns:a16="http://schemas.microsoft.com/office/drawing/2014/main" id="{2F230942-6537-2649-BC66-75D51EA14F80}"/>
              </a:ext>
            </a:extLst>
          </p:cNvPr>
          <p:cNvCxnSpPr>
            <a:cxnSpLocks/>
          </p:cNvCxnSpPr>
          <p:nvPr/>
        </p:nvCxnSpPr>
        <p:spPr>
          <a:xfrm flipV="1">
            <a:off x="1384661" y="1802856"/>
            <a:ext cx="0" cy="3744820"/>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70B2E0E8-15D1-6443-9AAE-70594F538956}"/>
              </a:ext>
            </a:extLst>
          </p:cNvPr>
          <p:cNvCxnSpPr>
            <a:cxnSpLocks/>
          </p:cNvCxnSpPr>
          <p:nvPr/>
        </p:nvCxnSpPr>
        <p:spPr>
          <a:xfrm flipV="1">
            <a:off x="1376348" y="5547677"/>
            <a:ext cx="8292738" cy="1"/>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正方形/長方形 50">
            <a:extLst>
              <a:ext uri="{FF2B5EF4-FFF2-40B4-BE49-F238E27FC236}">
                <a16:creationId xmlns:a16="http://schemas.microsoft.com/office/drawing/2014/main" id="{9E3A3694-B1C7-1B4D-AA29-84C48EAFC523}"/>
              </a:ext>
            </a:extLst>
          </p:cNvPr>
          <p:cNvSpPr/>
          <p:nvPr/>
        </p:nvSpPr>
        <p:spPr bwMode="gray">
          <a:xfrm>
            <a:off x="3131604" y="2231978"/>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部門内での業務標準用語</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F80CC5CE-0ADF-D241-9C49-31ED9A0017B0}"/>
              </a:ext>
            </a:extLst>
          </p:cNvPr>
          <p:cNvSpPr/>
          <p:nvPr/>
        </p:nvSpPr>
        <p:spPr bwMode="gray">
          <a:xfrm>
            <a:off x="4777857" y="2231978"/>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データアーキテクチャの全社展開</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全社共通の業務標準用語</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F4685034-4B7D-2940-AF59-BBB9E2E1DA9F}"/>
              </a:ext>
            </a:extLst>
          </p:cNvPr>
          <p:cNvSpPr/>
          <p:nvPr/>
        </p:nvSpPr>
        <p:spPr bwMode="gray">
          <a:xfrm>
            <a:off x="6435297" y="2231903"/>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データアーキテクチャ遵守の測定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BA9910BC-A842-3E4C-9388-5B843EE7F2A0}"/>
              </a:ext>
            </a:extLst>
          </p:cNvPr>
          <p:cNvSpPr/>
          <p:nvPr/>
        </p:nvSpPr>
        <p:spPr bwMode="gray">
          <a:xfrm>
            <a:off x="262417" y="2231978"/>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②データ</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アーキテクチャ</a:t>
            </a:r>
          </a:p>
        </p:txBody>
      </p:sp>
      <p:sp>
        <p:nvSpPr>
          <p:cNvPr id="55" name="正方形/長方形 54">
            <a:extLst>
              <a:ext uri="{FF2B5EF4-FFF2-40B4-BE49-F238E27FC236}">
                <a16:creationId xmlns:a16="http://schemas.microsoft.com/office/drawing/2014/main" id="{9073ECA3-A4CF-204D-8F62-BAA28EB7CCBE}"/>
              </a:ext>
            </a:extLst>
          </p:cNvPr>
          <p:cNvSpPr/>
          <p:nvPr/>
        </p:nvSpPr>
        <p:spPr bwMode="gray">
          <a:xfrm>
            <a:off x="3131604" y="3222035"/>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6" name="正方形/長方形 55">
            <a:extLst>
              <a:ext uri="{FF2B5EF4-FFF2-40B4-BE49-F238E27FC236}">
                <a16:creationId xmlns:a16="http://schemas.microsoft.com/office/drawing/2014/main" id="{60DFAE57-88DA-2E47-8C2F-E89B7004A67F}"/>
              </a:ext>
            </a:extLst>
          </p:cNvPr>
          <p:cNvSpPr/>
          <p:nvPr/>
        </p:nvSpPr>
        <p:spPr bwMode="gray">
          <a:xfrm>
            <a:off x="4777857" y="3222035"/>
            <a:ext cx="1593298" cy="300938"/>
          </a:xfrm>
          <a:prstGeom prst="rect">
            <a:avLst/>
          </a:prstGeom>
          <a:solidFill>
            <a:schemeClr val="bg2">
              <a:lumMod val="40000"/>
              <a:lumOff val="6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4AF73575-C8BC-DB47-8A10-698964466EA4}"/>
              </a:ext>
            </a:extLst>
          </p:cNvPr>
          <p:cNvSpPr/>
          <p:nvPr/>
        </p:nvSpPr>
        <p:spPr bwMode="gray">
          <a:xfrm>
            <a:off x="6435297" y="3222035"/>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データセキュリティ実現評価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8" name="正方形/長方形 57">
            <a:extLst>
              <a:ext uri="{FF2B5EF4-FFF2-40B4-BE49-F238E27FC236}">
                <a16:creationId xmlns:a16="http://schemas.microsoft.com/office/drawing/2014/main" id="{0AA9256C-49AD-C340-B635-546B2391E32E}"/>
              </a:ext>
            </a:extLst>
          </p:cNvPr>
          <p:cNvSpPr/>
          <p:nvPr/>
        </p:nvSpPr>
        <p:spPr bwMode="gray">
          <a:xfrm>
            <a:off x="8084103" y="3222035"/>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データセキュリティの改善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9" name="正方形/長方形 58">
            <a:extLst>
              <a:ext uri="{FF2B5EF4-FFF2-40B4-BE49-F238E27FC236}">
                <a16:creationId xmlns:a16="http://schemas.microsoft.com/office/drawing/2014/main" id="{C817677D-EAA2-7244-9A36-082D49A60137}"/>
              </a:ext>
            </a:extLst>
          </p:cNvPr>
          <p:cNvSpPr/>
          <p:nvPr/>
        </p:nvSpPr>
        <p:spPr bwMode="gray">
          <a:xfrm>
            <a:off x="262417" y="3222035"/>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⑤データセキュリティ</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en-US" altLang="ja-JP" sz="900" dirty="0">
              <a:latin typeface="Meiryo UI" panose="020B0604030504040204" pitchFamily="34" charset="-128"/>
              <a:ea typeface="Meiryo UI" panose="020B0604030504040204" pitchFamily="34" charset="-128"/>
            </a:endParaRPr>
          </a:p>
        </p:txBody>
      </p:sp>
      <p:sp>
        <p:nvSpPr>
          <p:cNvPr id="60" name="正方形/長方形 59">
            <a:extLst>
              <a:ext uri="{FF2B5EF4-FFF2-40B4-BE49-F238E27FC236}">
                <a16:creationId xmlns:a16="http://schemas.microsoft.com/office/drawing/2014/main" id="{2622301C-B233-7E4E-9936-EFAB2D3536C1}"/>
              </a:ext>
            </a:extLst>
          </p:cNvPr>
          <p:cNvSpPr/>
          <p:nvPr/>
        </p:nvSpPr>
        <p:spPr bwMode="gray">
          <a:xfrm>
            <a:off x="3131604" y="3553014"/>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データの移動と統合の管理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1" name="正方形/長方形 60">
            <a:extLst>
              <a:ext uri="{FF2B5EF4-FFF2-40B4-BE49-F238E27FC236}">
                <a16:creationId xmlns:a16="http://schemas.microsoft.com/office/drawing/2014/main" id="{4CC6E59C-5720-4E46-84F5-0F2A783D74D3}"/>
              </a:ext>
            </a:extLst>
          </p:cNvPr>
          <p:cNvSpPr/>
          <p:nvPr/>
        </p:nvSpPr>
        <p:spPr bwMode="gray">
          <a:xfrm>
            <a:off x="4777857" y="3553014"/>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データの移動</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a:solidFill>
                  <a:sysClr val="windowText" lastClr="000000"/>
                </a:solidFill>
                <a:latin typeface="Meiryo UI" panose="020B0604030504040204" pitchFamily="34" charset="-128"/>
                <a:ea typeface="Meiryo UI" panose="020B0604030504040204" pitchFamily="34" charset="-128"/>
              </a:rPr>
              <a:t>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2" name="正方形/長方形 61">
            <a:extLst>
              <a:ext uri="{FF2B5EF4-FFF2-40B4-BE49-F238E27FC236}">
                <a16:creationId xmlns:a16="http://schemas.microsoft.com/office/drawing/2014/main" id="{583A5D57-9C00-1746-B808-2519ED23D74D}"/>
              </a:ext>
            </a:extLst>
          </p:cNvPr>
          <p:cNvSpPr/>
          <p:nvPr/>
        </p:nvSpPr>
        <p:spPr bwMode="gray">
          <a:xfrm>
            <a:off x="6435297" y="3553014"/>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可用性・量・速度の測定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3" name="正方形/長方形 62">
            <a:extLst>
              <a:ext uri="{FF2B5EF4-FFF2-40B4-BE49-F238E27FC236}">
                <a16:creationId xmlns:a16="http://schemas.microsoft.com/office/drawing/2014/main" id="{CFDE86A6-AFE2-A64F-B927-D2A8E7EC1754}"/>
              </a:ext>
            </a:extLst>
          </p:cNvPr>
          <p:cNvSpPr/>
          <p:nvPr/>
        </p:nvSpPr>
        <p:spPr bwMode="gray">
          <a:xfrm>
            <a:off x="262417" y="3553014"/>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⑥データ統合と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相互運用性</a:t>
            </a:r>
            <a:endParaRPr lang="en-US" altLang="ja-JP" sz="900" dirty="0">
              <a:latin typeface="Meiryo UI" panose="020B0604030504040204" pitchFamily="34" charset="-128"/>
              <a:ea typeface="Meiryo UI" panose="020B0604030504040204" pitchFamily="34" charset="-128"/>
            </a:endParaRPr>
          </a:p>
        </p:txBody>
      </p:sp>
      <p:sp>
        <p:nvSpPr>
          <p:cNvPr id="64" name="テキスト ボックス 63">
            <a:extLst>
              <a:ext uri="{FF2B5EF4-FFF2-40B4-BE49-F238E27FC236}">
                <a16:creationId xmlns:a16="http://schemas.microsoft.com/office/drawing/2014/main" id="{E60C32F3-D4AC-B045-BA8F-6B712F36052E}"/>
              </a:ext>
            </a:extLst>
          </p:cNvPr>
          <p:cNvSpPr txBox="1"/>
          <p:nvPr/>
        </p:nvSpPr>
        <p:spPr>
          <a:xfrm>
            <a:off x="263769" y="6132673"/>
            <a:ext cx="6165470" cy="307777"/>
          </a:xfrm>
          <a:prstGeom prst="rect">
            <a:avLst/>
          </a:prstGeom>
          <a:noFill/>
        </p:spPr>
        <p:txBody>
          <a:bodyPr wrap="none" rtlCol="0">
            <a:spAutoFit/>
          </a:bodyPr>
          <a:lstStyle/>
          <a:p>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1</a:t>
            </a:r>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①②③</a:t>
            </a:r>
            <a:r>
              <a:rPr kumimoji="1" lang="ja-JP" altLang="en-US" sz="700" dirty="0">
                <a:solidFill>
                  <a:schemeClr val="tx1">
                    <a:lumMod val="50000"/>
                    <a:lumOff val="50000"/>
                  </a:schemeClr>
                </a:solidFill>
                <a:latin typeface="Meiryo UI" panose="020B0604030504040204" pitchFamily="34" charset="-128"/>
              </a:rPr>
              <a:t>は基礎的なアクティビティであり、他の実施項目と依存関係によりステップ毎に同等レベルで実施される。（</a:t>
            </a:r>
            <a:r>
              <a:rPr kumimoji="1" lang="en-US" altLang="ja-JP" sz="700" dirty="0">
                <a:solidFill>
                  <a:schemeClr val="tx1">
                    <a:lumMod val="50000"/>
                    <a:lumOff val="50000"/>
                  </a:schemeClr>
                </a:solidFill>
                <a:latin typeface="Meiryo UI" panose="020B0604030504040204" pitchFamily="34" charset="-128"/>
              </a:rPr>
              <a:t>Appendix</a:t>
            </a:r>
            <a:r>
              <a:rPr kumimoji="1" lang="ja-JP" altLang="en-US" sz="700" dirty="0">
                <a:solidFill>
                  <a:schemeClr val="tx1">
                    <a:lumMod val="50000"/>
                    <a:lumOff val="50000"/>
                  </a:schemeClr>
                </a:solidFill>
                <a:latin typeface="Meiryo UI" panose="020B0604030504040204" pitchFamily="34" charset="-128"/>
              </a:rPr>
              <a:t>参照）</a:t>
            </a:r>
            <a:endParaRPr kumimoji="1" lang="en-US" altLang="ja-JP" sz="700" dirty="0">
              <a:solidFill>
                <a:schemeClr val="tx1">
                  <a:lumMod val="50000"/>
                  <a:lumOff val="50000"/>
                </a:schemeClr>
              </a:solidFill>
              <a:latin typeface="Meiryo UI" panose="020B0604030504040204" pitchFamily="34" charset="-128"/>
            </a:endParaRPr>
          </a:p>
          <a:p>
            <a:r>
              <a:rPr lang="en-US" altLang="ja-JP" sz="700" dirty="0">
                <a:solidFill>
                  <a:schemeClr val="tx1">
                    <a:lumMod val="50000"/>
                    <a:lumOff val="50000"/>
                  </a:schemeClr>
                </a:solidFill>
                <a:latin typeface="Meiryo UI" panose="020B0604030504040204" pitchFamily="34" charset="-128"/>
              </a:rPr>
              <a:t>*2</a:t>
            </a:r>
            <a:r>
              <a:rPr lang="ja-JP" altLang="en-US" sz="700" dirty="0">
                <a:solidFill>
                  <a:schemeClr val="tx1">
                    <a:lumMod val="50000"/>
                    <a:lumOff val="50000"/>
                  </a:schemeClr>
                </a:solidFill>
                <a:latin typeface="Meiryo UI" panose="020B0604030504040204" pitchFamily="34" charset="-128"/>
              </a:rPr>
              <a:t>：</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は拠点内では実施できている想定。</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に加え、</a:t>
            </a:r>
            <a:r>
              <a:rPr lang="en-US" altLang="ja-JP" sz="700" dirty="0">
                <a:solidFill>
                  <a:schemeClr val="tx1">
                    <a:lumMod val="50000"/>
                    <a:lumOff val="50000"/>
                  </a:schemeClr>
                </a:solidFill>
                <a:latin typeface="Meiryo UI" panose="020B0604030504040204" pitchFamily="34" charset="-128"/>
              </a:rPr>
              <a:t>⑤〜⑪</a:t>
            </a:r>
            <a:r>
              <a:rPr lang="ja-JP" altLang="en-US" sz="700" dirty="0">
                <a:solidFill>
                  <a:schemeClr val="tx1">
                    <a:lumMod val="50000"/>
                    <a:lumOff val="50000"/>
                  </a:schemeClr>
                </a:solidFill>
                <a:latin typeface="Meiryo UI" panose="020B0604030504040204" pitchFamily="34" charset="-128"/>
              </a:rPr>
              <a:t>については基幹刷新で目指す</a:t>
            </a:r>
            <a:r>
              <a:rPr lang="en-US" altLang="ja-JP" sz="700" dirty="0">
                <a:solidFill>
                  <a:schemeClr val="tx1">
                    <a:lumMod val="50000"/>
                    <a:lumOff val="50000"/>
                  </a:schemeClr>
                </a:solidFill>
                <a:latin typeface="Meiryo UI" panose="020B0604030504040204" pitchFamily="34" charset="-128"/>
              </a:rPr>
              <a:t>SBU</a:t>
            </a:r>
            <a:r>
              <a:rPr lang="ja-JP" altLang="en-US" sz="700" dirty="0">
                <a:solidFill>
                  <a:schemeClr val="tx1">
                    <a:lumMod val="50000"/>
                    <a:lumOff val="50000"/>
                  </a:schemeClr>
                </a:solidFill>
                <a:latin typeface="Meiryo UI" panose="020B0604030504040204" pitchFamily="34" charset="-128"/>
              </a:rPr>
              <a:t>単位での位置づけでの実施レベルは不十分との想定。</a:t>
            </a:r>
            <a:endParaRPr kumimoji="1" lang="ja-JP" altLang="en-US" sz="700" dirty="0">
              <a:solidFill>
                <a:schemeClr val="tx1">
                  <a:lumMod val="50000"/>
                  <a:lumOff val="50000"/>
                </a:schemeClr>
              </a:solidFill>
              <a:latin typeface="Meiryo UI" panose="020B0604030504040204" pitchFamily="34" charset="-128"/>
            </a:endParaRPr>
          </a:p>
        </p:txBody>
      </p:sp>
      <p:sp>
        <p:nvSpPr>
          <p:cNvPr id="65" name="正方形/長方形 53">
            <a:extLst>
              <a:ext uri="{FF2B5EF4-FFF2-40B4-BE49-F238E27FC236}">
                <a16:creationId xmlns:a16="http://schemas.microsoft.com/office/drawing/2014/main" id="{CC0DA4C9-9E21-884E-A344-BC29ACBB1003}"/>
              </a:ext>
            </a:extLst>
          </p:cNvPr>
          <p:cNvSpPr/>
          <p:nvPr/>
        </p:nvSpPr>
        <p:spPr bwMode="gray">
          <a:xfrm>
            <a:off x="1478549" y="2231018"/>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6" name="正方形/長方形 53">
            <a:extLst>
              <a:ext uri="{FF2B5EF4-FFF2-40B4-BE49-F238E27FC236}">
                <a16:creationId xmlns:a16="http://schemas.microsoft.com/office/drawing/2014/main" id="{7EC25FC1-E38E-F149-B080-A81786D5C476}"/>
              </a:ext>
            </a:extLst>
          </p:cNvPr>
          <p:cNvSpPr/>
          <p:nvPr/>
        </p:nvSpPr>
        <p:spPr bwMode="gray">
          <a:xfrm>
            <a:off x="1478549" y="2561037"/>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データモデリングとデザイン</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7" name="正方形/長方形 94">
            <a:extLst>
              <a:ext uri="{FF2B5EF4-FFF2-40B4-BE49-F238E27FC236}">
                <a16:creationId xmlns:a16="http://schemas.microsoft.com/office/drawing/2014/main" id="{47060474-2DD8-EC4E-A88C-8745BF9C8708}"/>
              </a:ext>
            </a:extLst>
          </p:cNvPr>
          <p:cNvSpPr/>
          <p:nvPr/>
        </p:nvSpPr>
        <p:spPr bwMode="gray">
          <a:xfrm>
            <a:off x="1478549" y="3552054"/>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アプリケーション・プロセス単位でのデータ管理・運用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8" name="正方形/長方形 94">
            <a:extLst>
              <a:ext uri="{FF2B5EF4-FFF2-40B4-BE49-F238E27FC236}">
                <a16:creationId xmlns:a16="http://schemas.microsoft.com/office/drawing/2014/main" id="{1A4E13B7-0F84-254C-947E-F85737482FF3}"/>
              </a:ext>
            </a:extLst>
          </p:cNvPr>
          <p:cNvSpPr/>
          <p:nvPr/>
        </p:nvSpPr>
        <p:spPr bwMode="gray">
          <a:xfrm>
            <a:off x="1478549" y="3882073"/>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拠点・プロセス単位での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ドキュメント・コンテンツ管理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9" name="正方形/長方形 94">
            <a:extLst>
              <a:ext uri="{FF2B5EF4-FFF2-40B4-BE49-F238E27FC236}">
                <a16:creationId xmlns:a16="http://schemas.microsoft.com/office/drawing/2014/main" id="{CFDC530B-35FF-F948-8179-90774A60284D}"/>
              </a:ext>
            </a:extLst>
          </p:cNvPr>
          <p:cNvSpPr/>
          <p:nvPr/>
        </p:nvSpPr>
        <p:spPr bwMode="gray">
          <a:xfrm>
            <a:off x="1478549" y="4213052"/>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拠点・アプリケーション単位での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参照データマスタデータ管理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0" name="正方形/長方形 88">
            <a:extLst>
              <a:ext uri="{FF2B5EF4-FFF2-40B4-BE49-F238E27FC236}">
                <a16:creationId xmlns:a16="http://schemas.microsoft.com/office/drawing/2014/main" id="{E2E0F20C-CBDC-8448-9650-875855064FB0}"/>
              </a:ext>
            </a:extLst>
          </p:cNvPr>
          <p:cNvSpPr/>
          <p:nvPr/>
        </p:nvSpPr>
        <p:spPr bwMode="gray">
          <a:xfrm>
            <a:off x="1482798" y="454403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共通の</a:t>
            </a: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dirty="0">
                <a:solidFill>
                  <a:sysClr val="windowText" lastClr="000000"/>
                </a:solidFill>
                <a:latin typeface="Meiryo UI" panose="020B0604030504040204" pitchFamily="34" charset="-128"/>
                <a:ea typeface="Meiryo UI" panose="020B0604030504040204" pitchFamily="34" charset="-128"/>
              </a:rPr>
              <a:t>の不在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1" name="正方形/長方形 94">
            <a:extLst>
              <a:ext uri="{FF2B5EF4-FFF2-40B4-BE49-F238E27FC236}">
                <a16:creationId xmlns:a16="http://schemas.microsoft.com/office/drawing/2014/main" id="{287342A0-FBF8-2243-8E24-C55914E93549}"/>
              </a:ext>
            </a:extLst>
          </p:cNvPr>
          <p:cNvSpPr/>
          <p:nvPr/>
        </p:nvSpPr>
        <p:spPr bwMode="gray">
          <a:xfrm>
            <a:off x="1478549" y="3222035"/>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2" name="正方形/長方形 94">
            <a:extLst>
              <a:ext uri="{FF2B5EF4-FFF2-40B4-BE49-F238E27FC236}">
                <a16:creationId xmlns:a16="http://schemas.microsoft.com/office/drawing/2014/main" id="{C1BE0645-295B-6644-914E-95D04E256A62}"/>
              </a:ext>
            </a:extLst>
          </p:cNvPr>
          <p:cNvSpPr/>
          <p:nvPr/>
        </p:nvSpPr>
        <p:spPr bwMode="gray">
          <a:xfrm>
            <a:off x="1478549" y="2891791"/>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環境と運用体制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3" name="テキスト プレースホルダー 2">
            <a:extLst>
              <a:ext uri="{FF2B5EF4-FFF2-40B4-BE49-F238E27FC236}">
                <a16:creationId xmlns:a16="http://schemas.microsoft.com/office/drawing/2014/main" id="{25C08A3C-D676-DC4A-B79C-C026143D3B04}"/>
              </a:ext>
            </a:extLst>
          </p:cNvPr>
          <p:cNvSpPr>
            <a:spLocks noGrp="1"/>
          </p:cNvSpPr>
          <p:nvPr>
            <p:ph type="body" sz="quarter" idx="10"/>
          </p:nvPr>
        </p:nvSpPr>
        <p:spPr>
          <a:xfrm>
            <a:off x="236538" y="574775"/>
            <a:ext cx="9440862" cy="527315"/>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成熟度</a:t>
            </a:r>
            <a:r>
              <a:rPr lang="en-US" altLang="ja-JP" b="1" dirty="0">
                <a:latin typeface="Meiryo UI" panose="020B0604030504040204" pitchFamily="34" charset="-128"/>
                <a:ea typeface="Meiryo UI" panose="020B0604030504040204" pitchFamily="34" charset="-128"/>
                <a:cs typeface="+mn-cs"/>
              </a:rPr>
              <a:t>2</a:t>
            </a:r>
            <a:r>
              <a:rPr lang="ja-JP" altLang="en-US" b="1" dirty="0">
                <a:latin typeface="Meiryo UI" panose="020B0604030504040204" pitchFamily="34" charset="-128"/>
                <a:ea typeface="Meiryo UI" panose="020B0604030504040204" pitchFamily="34" charset="-128"/>
                <a:cs typeface="+mn-cs"/>
              </a:rPr>
              <a:t>と</a:t>
            </a:r>
            <a:r>
              <a:rPr lang="en-US" altLang="ja-JP" b="1" dirty="0">
                <a:latin typeface="Meiryo UI" panose="020B0604030504040204" pitchFamily="34" charset="-128"/>
                <a:ea typeface="Meiryo UI" panose="020B0604030504040204" pitchFamily="34" charset="-128"/>
                <a:cs typeface="+mn-cs"/>
              </a:rPr>
              <a:t>3</a:t>
            </a:r>
            <a:r>
              <a:rPr lang="ja-JP" altLang="en-US" b="1" dirty="0">
                <a:latin typeface="Meiryo UI" panose="020B0604030504040204" pitchFamily="34" charset="-128"/>
                <a:ea typeface="Meiryo UI" panose="020B0604030504040204" pitchFamily="34" charset="-128"/>
                <a:cs typeface="+mn-cs"/>
              </a:rPr>
              <a:t>の間に位置する</a:t>
            </a:r>
            <a:r>
              <a:rPr lang="en-US" altLang="ja-JP" b="1" dirty="0">
                <a:latin typeface="Meiryo UI" panose="020B0604030504040204" pitchFamily="34" charset="-128"/>
                <a:ea typeface="Meiryo UI" panose="020B0604030504040204" pitchFamily="34" charset="-128"/>
                <a:cs typeface="+mn-cs"/>
              </a:rPr>
              <a:t>BU</a:t>
            </a:r>
            <a:r>
              <a:rPr lang="ja-JP" altLang="en-US" b="1" dirty="0">
                <a:latin typeface="Meiryo UI" panose="020B0604030504040204" pitchFamily="34" charset="-128"/>
                <a:ea typeface="Meiryo UI" panose="020B0604030504040204" pitchFamily="34" charset="-128"/>
                <a:cs typeface="+mn-cs"/>
              </a:rPr>
              <a:t>別最適化フェーズにおいては初期導入フェーズで設計したブループリントに従い全社最適化に配慮しつつ、</a:t>
            </a:r>
            <a:r>
              <a:rPr lang="en-US" altLang="ja-JP" b="1" dirty="0">
                <a:latin typeface="Meiryo UI" panose="020B0604030504040204" pitchFamily="34" charset="-128"/>
                <a:ea typeface="Meiryo UI" panose="020B0604030504040204" pitchFamily="34" charset="-128"/>
                <a:cs typeface="+mn-cs"/>
              </a:rPr>
              <a:t>BU</a:t>
            </a:r>
            <a:r>
              <a:rPr lang="ja-JP" altLang="en-US" b="1" dirty="0">
                <a:latin typeface="Meiryo UI" panose="020B0604030504040204" pitchFamily="34" charset="-128"/>
                <a:ea typeface="Meiryo UI" panose="020B0604030504040204" pitchFamily="34" charset="-128"/>
                <a:cs typeface="+mn-cs"/>
              </a:rPr>
              <a:t>単位でのデータモデルやメタ・マスタデータ管理、データ品質指標の定義を実現する。</a:t>
            </a:r>
          </a:p>
        </p:txBody>
      </p:sp>
      <p:sp>
        <p:nvSpPr>
          <p:cNvPr id="74" name="ホームベース 31">
            <a:extLst>
              <a:ext uri="{FF2B5EF4-FFF2-40B4-BE49-F238E27FC236}">
                <a16:creationId xmlns:a16="http://schemas.microsoft.com/office/drawing/2014/main" id="{46BAB1EB-E005-B149-B88A-200E87B9B371}"/>
              </a:ext>
            </a:extLst>
          </p:cNvPr>
          <p:cNvSpPr/>
          <p:nvPr/>
        </p:nvSpPr>
        <p:spPr bwMode="gray">
          <a:xfrm>
            <a:off x="236539"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1000" dirty="0">
                <a:solidFill>
                  <a:schemeClr val="bg1"/>
                </a:solidFill>
                <a:latin typeface="Meiryo UI" panose="020B0604030504040204" pitchFamily="34" charset="-128"/>
                <a:ea typeface="Meiryo UI" panose="020B0604030504040204" pitchFamily="34" charset="-128"/>
              </a:rPr>
              <a:t>データマネジメントの初期導入</a:t>
            </a:r>
          </a:p>
        </p:txBody>
      </p:sp>
      <p:sp>
        <p:nvSpPr>
          <p:cNvPr id="75" name="ホームベース 31">
            <a:extLst>
              <a:ext uri="{FF2B5EF4-FFF2-40B4-BE49-F238E27FC236}">
                <a16:creationId xmlns:a16="http://schemas.microsoft.com/office/drawing/2014/main" id="{C71C3944-3328-7B49-9060-C433988CEF45}"/>
              </a:ext>
            </a:extLst>
          </p:cNvPr>
          <p:cNvSpPr/>
          <p:nvPr/>
        </p:nvSpPr>
        <p:spPr bwMode="gray">
          <a:xfrm>
            <a:off x="2624214" y="1199862"/>
            <a:ext cx="2269526" cy="254582"/>
          </a:xfrm>
          <a:prstGeom prst="homePlate">
            <a:avLst>
              <a:gd name="adj" fmla="val 10244"/>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100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a:t>
            </a:r>
            <a:r>
              <a:rPr lang="ja-JP" altLang="en-US" sz="1000">
                <a:solidFill>
                  <a:schemeClr val="bg1"/>
                </a:solidFill>
                <a:latin typeface="Meiryo UI" panose="020B0604030504040204" pitchFamily="34" charset="-128"/>
                <a:ea typeface="Meiryo UI" panose="020B0604030504040204" pitchFamily="34" charset="-128"/>
              </a:rPr>
              <a:t>の</a:t>
            </a:r>
            <a:r>
              <a:rPr lang="en-US" altLang="ja-JP" sz="1000">
                <a:solidFill>
                  <a:schemeClr val="bg1"/>
                </a:solidFill>
                <a:latin typeface="Meiryo UI" panose="020B0604030504040204" pitchFamily="34" charset="-128"/>
                <a:ea typeface="Meiryo UI" panose="020B0604030504040204" pitchFamily="34" charset="-128"/>
              </a:rPr>
              <a:t>BU</a:t>
            </a:r>
            <a:r>
              <a:rPr lang="ja-JP" altLang="en-US" sz="1000" dirty="0">
                <a:solidFill>
                  <a:schemeClr val="bg1"/>
                </a:solidFill>
                <a:latin typeface="Meiryo UI" panose="020B0604030504040204" pitchFamily="34" charset="-128"/>
                <a:ea typeface="Meiryo UI" panose="020B0604030504040204" pitchFamily="34" charset="-128"/>
              </a:rPr>
              <a:t>別最適化</a:t>
            </a:r>
          </a:p>
        </p:txBody>
      </p:sp>
      <p:sp>
        <p:nvSpPr>
          <p:cNvPr id="76" name="ホームベース 31">
            <a:extLst>
              <a:ext uri="{FF2B5EF4-FFF2-40B4-BE49-F238E27FC236}">
                <a16:creationId xmlns:a16="http://schemas.microsoft.com/office/drawing/2014/main" id="{C4B8675E-08B5-AD4A-B8F4-5CD162682BA9}"/>
              </a:ext>
            </a:extLst>
          </p:cNvPr>
          <p:cNvSpPr/>
          <p:nvPr/>
        </p:nvSpPr>
        <p:spPr bwMode="gray">
          <a:xfrm>
            <a:off x="5011887"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プロセスの全社最適化</a:t>
            </a:r>
          </a:p>
        </p:txBody>
      </p:sp>
      <p:sp>
        <p:nvSpPr>
          <p:cNvPr id="77" name="ホームベース 31">
            <a:extLst>
              <a:ext uri="{FF2B5EF4-FFF2-40B4-BE49-F238E27FC236}">
                <a16:creationId xmlns:a16="http://schemas.microsoft.com/office/drawing/2014/main" id="{D74A7E8E-A2D1-9F41-97DF-8EF3C68DFBA9}"/>
              </a:ext>
            </a:extLst>
          </p:cNvPr>
          <p:cNvSpPr/>
          <p:nvPr/>
        </p:nvSpPr>
        <p:spPr bwMode="gray">
          <a:xfrm>
            <a:off x="7399560"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プロセスの自動化・継続的改善の定着</a:t>
            </a:r>
          </a:p>
        </p:txBody>
      </p:sp>
      <p:sp>
        <p:nvSpPr>
          <p:cNvPr id="78" name="正方形/長方形 64">
            <a:extLst>
              <a:ext uri="{FF2B5EF4-FFF2-40B4-BE49-F238E27FC236}">
                <a16:creationId xmlns:a16="http://schemas.microsoft.com/office/drawing/2014/main" id="{42FB1F08-8ED7-E745-952E-45A9E64E454A}"/>
              </a:ext>
            </a:extLst>
          </p:cNvPr>
          <p:cNvSpPr/>
          <p:nvPr/>
        </p:nvSpPr>
        <p:spPr bwMode="gray">
          <a:xfrm>
            <a:off x="3956923" y="2561997"/>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900" dirty="0">
                <a:solidFill>
                  <a:schemeClr val="bg1"/>
                </a:solidFill>
                <a:latin typeface="Meiryo UI" panose="020B0604030504040204" pitchFamily="34" charset="-128"/>
                <a:ea typeface="Meiryo UI" panose="020B0604030504040204" pitchFamily="34" charset="-128"/>
              </a:rPr>
              <a:t>BU</a:t>
            </a:r>
            <a:r>
              <a:rPr lang="ja-JP" altLang="en-US" sz="900" dirty="0">
                <a:solidFill>
                  <a:schemeClr val="bg1"/>
                </a:solidFill>
                <a:latin typeface="Meiryo UI" panose="020B0604030504040204" pitchFamily="34" charset="-128"/>
                <a:ea typeface="Meiryo UI" panose="020B0604030504040204" pitchFamily="34" charset="-128"/>
              </a:rPr>
              <a:t>単位のデータモデルの作成</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79" name="正方形/長方形 64">
            <a:extLst>
              <a:ext uri="{FF2B5EF4-FFF2-40B4-BE49-F238E27FC236}">
                <a16:creationId xmlns:a16="http://schemas.microsoft.com/office/drawing/2014/main" id="{5D664C79-90D6-0A40-B821-6DB97B2F6F03}"/>
              </a:ext>
            </a:extLst>
          </p:cNvPr>
          <p:cNvSpPr/>
          <p:nvPr/>
        </p:nvSpPr>
        <p:spPr bwMode="gray">
          <a:xfrm>
            <a:off x="3956923" y="4875742"/>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900" dirty="0">
                <a:solidFill>
                  <a:schemeClr val="bg1"/>
                </a:solidFill>
                <a:latin typeface="Meiryo UI" panose="020B0604030504040204" pitchFamily="34" charset="-128"/>
                <a:ea typeface="Meiryo UI" panose="020B0604030504040204" pitchFamily="34" charset="-128"/>
              </a:rPr>
              <a:t>BU</a:t>
            </a:r>
            <a:r>
              <a:rPr lang="ja-JP" altLang="en-US" sz="900" dirty="0">
                <a:solidFill>
                  <a:schemeClr val="bg1"/>
                </a:solidFill>
                <a:latin typeface="Meiryo UI" panose="020B0604030504040204" pitchFamily="34" charset="-128"/>
                <a:ea typeface="Meiryo UI" panose="020B0604030504040204" pitchFamily="34" charset="-128"/>
              </a:rPr>
              <a:t>単位のメタデータ定義・管理</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80" name="正方形/長方形 64">
            <a:extLst>
              <a:ext uri="{FF2B5EF4-FFF2-40B4-BE49-F238E27FC236}">
                <a16:creationId xmlns:a16="http://schemas.microsoft.com/office/drawing/2014/main" id="{ACC55EE0-0A95-5944-9037-8BBDFAA4E9A5}"/>
              </a:ext>
            </a:extLst>
          </p:cNvPr>
          <p:cNvSpPr/>
          <p:nvPr/>
        </p:nvSpPr>
        <p:spPr bwMode="gray">
          <a:xfrm>
            <a:off x="3956923" y="5205241"/>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900" dirty="0">
                <a:solidFill>
                  <a:schemeClr val="bg1"/>
                </a:solidFill>
                <a:latin typeface="Meiryo UI" panose="020B0604030504040204" pitchFamily="34" charset="-128"/>
                <a:ea typeface="Meiryo UI" panose="020B0604030504040204" pitchFamily="34" charset="-128"/>
              </a:rPr>
              <a:t>BU</a:t>
            </a:r>
            <a:r>
              <a:rPr lang="ja-JP" altLang="en-US" sz="900" dirty="0">
                <a:solidFill>
                  <a:schemeClr val="bg1"/>
                </a:solidFill>
                <a:latin typeface="Meiryo UI" panose="020B0604030504040204" pitchFamily="34" charset="-128"/>
                <a:ea typeface="Meiryo UI" panose="020B0604030504040204" pitchFamily="34" charset="-128"/>
              </a:rPr>
              <a:t>単位のデータ品質定義・管理</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81" name="正方形/長方形 64">
            <a:extLst>
              <a:ext uri="{FF2B5EF4-FFF2-40B4-BE49-F238E27FC236}">
                <a16:creationId xmlns:a16="http://schemas.microsoft.com/office/drawing/2014/main" id="{391BFA31-58DF-A447-8E1B-7A5C3B92C94C}"/>
              </a:ext>
            </a:extLst>
          </p:cNvPr>
          <p:cNvSpPr/>
          <p:nvPr/>
        </p:nvSpPr>
        <p:spPr bwMode="gray">
          <a:xfrm>
            <a:off x="3956923" y="4214012"/>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900" dirty="0">
                <a:solidFill>
                  <a:schemeClr val="bg1"/>
                </a:solidFill>
                <a:latin typeface="Meiryo UI" panose="020B0604030504040204" pitchFamily="34" charset="-128"/>
                <a:ea typeface="Meiryo UI" panose="020B0604030504040204" pitchFamily="34" charset="-128"/>
              </a:rPr>
              <a:t>BU</a:t>
            </a:r>
            <a:r>
              <a:rPr lang="ja-JP" altLang="en-US" sz="900" dirty="0">
                <a:solidFill>
                  <a:schemeClr val="bg1"/>
                </a:solidFill>
                <a:latin typeface="Meiryo UI" panose="020B0604030504040204" pitchFamily="34" charset="-128"/>
                <a:ea typeface="Meiryo UI" panose="020B0604030504040204" pitchFamily="34" charset="-128"/>
              </a:rPr>
              <a:t>単位のマスタデータ</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定義・管理</a:t>
            </a:r>
            <a:endParaRPr lang="en-US" altLang="ja-JP" sz="900" dirty="0">
              <a:solidFill>
                <a:schemeClr val="bg1"/>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682046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BFBADA-D7D7-3045-8F31-99DEDE8A64A0}"/>
              </a:ext>
            </a:extLst>
          </p:cNvPr>
          <p:cNvSpPr>
            <a:spLocks noGrp="1"/>
          </p:cNvSpPr>
          <p:nvPr>
            <p:ph type="title"/>
          </p:nvPr>
        </p:nvSpPr>
        <p:spPr>
          <a:xfrm>
            <a:off x="236538" y="128800"/>
            <a:ext cx="7287809" cy="349961"/>
          </a:xfrm>
        </p:spPr>
        <p:txBody>
          <a:bodyPr anchor="ctr"/>
          <a:lstStyle/>
          <a:p>
            <a:r>
              <a:rPr lang="ja-JP" altLang="en-US" sz="1600"/>
              <a:t>データマネジメント実施スコープ</a:t>
            </a:r>
            <a:br>
              <a:rPr lang="en-US" altLang="ja-JP" sz="1600" dirty="0"/>
            </a:br>
            <a:r>
              <a:rPr lang="ja-JP" altLang="en-US" b="1"/>
              <a:t>データマネジメント成熟度向上案（全社最適化フェーズ）</a:t>
            </a:r>
            <a:endParaRPr kumimoji="1" lang="ja-JP" altLang="en-US" b="1" dirty="0"/>
          </a:p>
        </p:txBody>
      </p:sp>
      <p:grpSp>
        <p:nvGrpSpPr>
          <p:cNvPr id="3" name="グループ化 2">
            <a:extLst>
              <a:ext uri="{FF2B5EF4-FFF2-40B4-BE49-F238E27FC236}">
                <a16:creationId xmlns:a16="http://schemas.microsoft.com/office/drawing/2014/main" id="{FEBDFE7A-E7DB-4F4F-A2CF-4F52305923F3}"/>
              </a:ext>
            </a:extLst>
          </p:cNvPr>
          <p:cNvGrpSpPr/>
          <p:nvPr/>
        </p:nvGrpSpPr>
        <p:grpSpPr>
          <a:xfrm>
            <a:off x="262418" y="1539883"/>
            <a:ext cx="9079420" cy="276998"/>
            <a:chOff x="613809" y="1338894"/>
            <a:chExt cx="4074732" cy="285413"/>
          </a:xfrm>
        </p:grpSpPr>
        <p:cxnSp>
          <p:nvCxnSpPr>
            <p:cNvPr id="4" name="直線コネクタ 3">
              <a:extLst>
                <a:ext uri="{FF2B5EF4-FFF2-40B4-BE49-F238E27FC236}">
                  <a16:creationId xmlns:a16="http://schemas.microsoft.com/office/drawing/2014/main" id="{AFCCD3FB-B878-4B45-940C-B27F21E1A76A}"/>
                </a:ext>
              </a:extLst>
            </p:cNvPr>
            <p:cNvCxnSpPr>
              <a:cxnSpLocks/>
            </p:cNvCxnSpPr>
            <p:nvPr/>
          </p:nvCxnSpPr>
          <p:spPr>
            <a:xfrm>
              <a:off x="613809" y="1622612"/>
              <a:ext cx="407473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4327D549-AEF1-7343-93E4-0C92D313536E}"/>
                </a:ext>
              </a:extLst>
            </p:cNvPr>
            <p:cNvSpPr txBox="1"/>
            <p:nvPr/>
          </p:nvSpPr>
          <p:spPr>
            <a:xfrm>
              <a:off x="613809" y="1338894"/>
              <a:ext cx="4074732" cy="285413"/>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データマネジメント実施項目の実施レベル</a:t>
              </a:r>
              <a:endParaRPr lang="ja-JP" altLang="en-US" sz="1200" dirty="0">
                <a:latin typeface="Meiryo UI" panose="020B0604030504040204" pitchFamily="34" charset="-128"/>
                <a:ea typeface="Meiryo UI" panose="020B0604030504040204" pitchFamily="34" charset="-128"/>
              </a:endParaRPr>
            </a:p>
          </p:txBody>
        </p:sp>
      </p:grpSp>
      <p:sp>
        <p:nvSpPr>
          <p:cNvPr id="6" name="ホームベース 31">
            <a:extLst>
              <a:ext uri="{FF2B5EF4-FFF2-40B4-BE49-F238E27FC236}">
                <a16:creationId xmlns:a16="http://schemas.microsoft.com/office/drawing/2014/main" id="{B55BE71A-9491-0C46-A9FD-856F080A8A6C}"/>
              </a:ext>
            </a:extLst>
          </p:cNvPr>
          <p:cNvSpPr/>
          <p:nvPr/>
        </p:nvSpPr>
        <p:spPr bwMode="gray">
          <a:xfrm>
            <a:off x="1478549" y="5625586"/>
            <a:ext cx="1593298" cy="254582"/>
          </a:xfrm>
          <a:prstGeom prst="homePlate">
            <a:avLst>
              <a:gd name="adj" fmla="val 10244"/>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rgbClr val="000000"/>
                </a:solidFill>
                <a:latin typeface="Meiryo UI" panose="020B0604030504040204" pitchFamily="34" charset="-128"/>
                <a:ea typeface="Meiryo UI" panose="020B0604030504040204" pitchFamily="34" charset="-128"/>
              </a:rPr>
              <a:t>成熟度</a:t>
            </a:r>
            <a:r>
              <a:rPr lang="en-US" altLang="ja-JP" sz="1000" dirty="0">
                <a:solidFill>
                  <a:srgbClr val="000000"/>
                </a:solidFill>
                <a:latin typeface="Meiryo UI" panose="020B0604030504040204" pitchFamily="34" charset="-128"/>
                <a:ea typeface="Meiryo UI" panose="020B0604030504040204" pitchFamily="34" charset="-128"/>
              </a:rPr>
              <a:t>Lv1</a:t>
            </a:r>
          </a:p>
          <a:p>
            <a:pPr algn="ctr">
              <a:buFont typeface="Wingdings 2" pitchFamily="18" charset="2"/>
              <a:buNone/>
            </a:pPr>
            <a:r>
              <a:rPr lang="ja-JP" altLang="en-US" sz="800" dirty="0">
                <a:solidFill>
                  <a:srgbClr val="000000"/>
                </a:solidFill>
                <a:latin typeface="Meiryo UI" panose="020B0604030504040204" pitchFamily="34" charset="-128"/>
                <a:ea typeface="Meiryo UI" panose="020B0604030504040204" pitchFamily="34" charset="-128"/>
              </a:rPr>
              <a:t>（場当たり的</a:t>
            </a:r>
            <a:r>
              <a:rPr lang="en-US" altLang="ja-JP" sz="800" dirty="0">
                <a:solidFill>
                  <a:srgbClr val="000000"/>
                </a:solidFill>
                <a:latin typeface="Meiryo UI" panose="020B0604030504040204" pitchFamily="34" charset="-128"/>
                <a:ea typeface="Meiryo UI" panose="020B0604030504040204" pitchFamily="34" charset="-128"/>
              </a:rPr>
              <a:t>/</a:t>
            </a:r>
            <a:r>
              <a:rPr lang="ja-JP" altLang="en-US" sz="800" dirty="0">
                <a:solidFill>
                  <a:srgbClr val="000000"/>
                </a:solidFill>
                <a:latin typeface="Meiryo UI" panose="020B0604030504040204" pitchFamily="34" charset="-128"/>
                <a:ea typeface="Meiryo UI" panose="020B0604030504040204" pitchFamily="34" charset="-128"/>
              </a:rPr>
              <a:t>属人レベル）</a:t>
            </a:r>
          </a:p>
        </p:txBody>
      </p:sp>
      <p:sp>
        <p:nvSpPr>
          <p:cNvPr id="7" name="ホームベース 93">
            <a:extLst>
              <a:ext uri="{FF2B5EF4-FFF2-40B4-BE49-F238E27FC236}">
                <a16:creationId xmlns:a16="http://schemas.microsoft.com/office/drawing/2014/main" id="{2247DB30-DCD1-124C-8904-E9A8026E5171}"/>
              </a:ext>
            </a:extLst>
          </p:cNvPr>
          <p:cNvSpPr/>
          <p:nvPr/>
        </p:nvSpPr>
        <p:spPr bwMode="gray">
          <a:xfrm>
            <a:off x="3131604" y="5625586"/>
            <a:ext cx="1593298" cy="254582"/>
          </a:xfrm>
          <a:prstGeom prst="homePlate">
            <a:avLst>
              <a:gd name="adj" fmla="val 10244"/>
            </a:avLst>
          </a:prstGeom>
          <a:solidFill>
            <a:schemeClr val="bg2">
              <a:lumMod val="20000"/>
              <a:lumOff val="8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Lv2</a:t>
            </a:r>
          </a:p>
          <a:p>
            <a:pPr algn="ctr">
              <a:buFont typeface="Wingdings 2" pitchFamily="18" charset="2"/>
              <a:buNone/>
            </a:pPr>
            <a:r>
              <a:rPr lang="ja-JP" altLang="en-US" sz="800" dirty="0">
                <a:solidFill>
                  <a:sysClr val="windowText" lastClr="000000"/>
                </a:solidFill>
                <a:latin typeface="Meiryo UI" panose="020B0604030504040204" pitchFamily="34" charset="-128"/>
                <a:ea typeface="Meiryo UI" panose="020B0604030504040204" pitchFamily="34" charset="-128"/>
              </a:rPr>
              <a:t>（反復可能</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dirty="0">
                <a:solidFill>
                  <a:sysClr val="windowText" lastClr="000000"/>
                </a:solidFill>
                <a:latin typeface="Meiryo UI" panose="020B0604030504040204" pitchFamily="34" charset="-128"/>
                <a:ea typeface="Meiryo UI" panose="020B0604030504040204" pitchFamily="34" charset="-128"/>
              </a:rPr>
              <a:t>部門（拠点）レベル）</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8" name="ホームベース 94">
            <a:extLst>
              <a:ext uri="{FF2B5EF4-FFF2-40B4-BE49-F238E27FC236}">
                <a16:creationId xmlns:a16="http://schemas.microsoft.com/office/drawing/2014/main" id="{069269AA-26E9-3A41-8B54-3BBFBE391909}"/>
              </a:ext>
            </a:extLst>
          </p:cNvPr>
          <p:cNvSpPr/>
          <p:nvPr/>
        </p:nvSpPr>
        <p:spPr bwMode="gray">
          <a:xfrm>
            <a:off x="4777857" y="5625586"/>
            <a:ext cx="1593298" cy="254582"/>
          </a:xfrm>
          <a:prstGeom prst="homePlate">
            <a:avLst>
              <a:gd name="adj" fmla="val 10244"/>
            </a:avLst>
          </a:prstGeom>
          <a:solidFill>
            <a:schemeClr val="bg2">
              <a:lumMod val="40000"/>
              <a:lumOff val="6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ysClr val="windowText" lastClr="000000"/>
                </a:solidFill>
                <a:latin typeface="Meiryo UI" panose="020B0604030504040204" pitchFamily="34" charset="-128"/>
                <a:ea typeface="Meiryo UI" panose="020B0604030504040204" pitchFamily="34" charset="-128"/>
              </a:rPr>
              <a:t>成熟度</a:t>
            </a:r>
            <a:r>
              <a:rPr lang="en-US" altLang="ja-JP" sz="1000" dirty="0">
                <a:solidFill>
                  <a:sysClr val="windowText" lastClr="000000"/>
                </a:solidFill>
                <a:latin typeface="Meiryo UI" panose="020B0604030504040204" pitchFamily="34" charset="-128"/>
                <a:ea typeface="Meiryo UI" panose="020B0604030504040204" pitchFamily="34" charset="-128"/>
              </a:rPr>
              <a:t>Lv3</a:t>
            </a:r>
          </a:p>
          <a:p>
            <a:pPr algn="ctr">
              <a:buFont typeface="Wingdings 2" pitchFamily="18" charset="2"/>
              <a:buNone/>
            </a:pPr>
            <a:r>
              <a:rPr lang="ja-JP" altLang="en-US" sz="800">
                <a:solidFill>
                  <a:sysClr val="windowText" lastClr="000000"/>
                </a:solidFill>
                <a:latin typeface="Meiryo UI" panose="020B0604030504040204" pitchFamily="34" charset="-128"/>
                <a:ea typeface="Meiryo UI" panose="020B0604030504040204" pitchFamily="34" charset="-128"/>
              </a:rPr>
              <a:t>（定義された</a:t>
            </a:r>
            <a:r>
              <a:rPr lang="en-US" altLang="ja-JP" sz="800" dirty="0">
                <a:solidFill>
                  <a:sysClr val="windowText" lastClr="000000"/>
                </a:solidFill>
                <a:latin typeface="Meiryo UI" panose="020B0604030504040204" pitchFamily="34" charset="-128"/>
                <a:ea typeface="Meiryo UI" panose="020B0604030504040204" pitchFamily="34" charset="-128"/>
              </a:rPr>
              <a:t>/</a:t>
            </a:r>
            <a:r>
              <a:rPr lang="ja-JP" altLang="en-US" sz="800">
                <a:solidFill>
                  <a:sysClr val="windowText" lastClr="000000"/>
                </a:solidFill>
                <a:latin typeface="Meiryo UI" panose="020B0604030504040204" pitchFamily="34" charset="-128"/>
                <a:ea typeface="Meiryo UI" panose="020B0604030504040204" pitchFamily="34" charset="-128"/>
              </a:rPr>
              <a:t>全社展開）</a:t>
            </a:r>
            <a:endParaRPr lang="en-US" altLang="ja-JP" sz="800" dirty="0">
              <a:solidFill>
                <a:sysClr val="windowText" lastClr="000000"/>
              </a:solidFill>
              <a:latin typeface="Meiryo UI" panose="020B0604030504040204" pitchFamily="34" charset="-128"/>
              <a:ea typeface="Meiryo UI" panose="020B0604030504040204" pitchFamily="34" charset="-128"/>
            </a:endParaRPr>
          </a:p>
        </p:txBody>
      </p:sp>
      <p:sp>
        <p:nvSpPr>
          <p:cNvPr id="9" name="ホームベース 95">
            <a:extLst>
              <a:ext uri="{FF2B5EF4-FFF2-40B4-BE49-F238E27FC236}">
                <a16:creationId xmlns:a16="http://schemas.microsoft.com/office/drawing/2014/main" id="{0B795196-63DE-9949-83F1-1AAEAE7907C2}"/>
              </a:ext>
            </a:extLst>
          </p:cNvPr>
          <p:cNvSpPr/>
          <p:nvPr/>
        </p:nvSpPr>
        <p:spPr bwMode="gray">
          <a:xfrm>
            <a:off x="6435297" y="5625586"/>
            <a:ext cx="1593298" cy="254582"/>
          </a:xfrm>
          <a:prstGeom prst="homePlate">
            <a:avLst>
              <a:gd name="adj" fmla="val 10244"/>
            </a:avLst>
          </a:prstGeom>
          <a:solidFill>
            <a:schemeClr val="bg2">
              <a:lumMod val="60000"/>
              <a:lumOff val="40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latin typeface="Meiryo UI" panose="020B0604030504040204" pitchFamily="34" charset="-128"/>
                <a:ea typeface="Meiryo UI" panose="020B0604030504040204" pitchFamily="34" charset="-128"/>
              </a:rPr>
              <a:t>成熟度</a:t>
            </a:r>
            <a:r>
              <a:rPr lang="en-US" altLang="ja-JP" sz="1000" dirty="0">
                <a:latin typeface="Meiryo UI" panose="020B0604030504040204" pitchFamily="34" charset="-128"/>
                <a:ea typeface="Meiryo UI" panose="020B0604030504040204" pitchFamily="34" charset="-128"/>
              </a:rPr>
              <a:t>Lv4</a:t>
            </a:r>
          </a:p>
          <a:p>
            <a:pPr algn="ctr">
              <a:buFont typeface="Wingdings 2" pitchFamily="18" charset="2"/>
              <a:buNone/>
            </a:pPr>
            <a:r>
              <a:rPr lang="ja-JP" altLang="en-US" sz="800">
                <a:latin typeface="Meiryo UI" panose="020B0604030504040204" pitchFamily="34" charset="-128"/>
                <a:ea typeface="Meiryo UI" panose="020B0604030504040204" pitchFamily="34" charset="-128"/>
              </a:rPr>
              <a:t>（管理された</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定量的効果測定</a:t>
            </a:r>
            <a:r>
              <a:rPr lang="en-US" altLang="ja-JP" sz="800" dirty="0">
                <a:latin typeface="Meiryo UI" panose="020B0604030504040204" pitchFamily="34" charset="-128"/>
                <a:ea typeface="Meiryo UI" panose="020B0604030504040204" pitchFamily="34" charset="-128"/>
              </a:rPr>
              <a:t>/</a:t>
            </a:r>
            <a:r>
              <a:rPr lang="ja-JP" altLang="en-US" sz="800">
                <a:latin typeface="Meiryo UI" panose="020B0604030504040204" pitchFamily="34" charset="-128"/>
                <a:ea typeface="Meiryo UI" panose="020B0604030504040204" pitchFamily="34" charset="-128"/>
              </a:rPr>
              <a:t>標準ツール）</a:t>
            </a:r>
            <a:endParaRPr lang="en-US" altLang="ja-JP" sz="800" dirty="0">
              <a:latin typeface="Meiryo UI" panose="020B0604030504040204" pitchFamily="34" charset="-128"/>
              <a:ea typeface="Meiryo UI" panose="020B0604030504040204" pitchFamily="34" charset="-128"/>
            </a:endParaRPr>
          </a:p>
        </p:txBody>
      </p:sp>
      <p:sp>
        <p:nvSpPr>
          <p:cNvPr id="10" name="ホームベース 96">
            <a:extLst>
              <a:ext uri="{FF2B5EF4-FFF2-40B4-BE49-F238E27FC236}">
                <a16:creationId xmlns:a16="http://schemas.microsoft.com/office/drawing/2014/main" id="{C3CA2923-1D5A-6549-8B99-ADD321856A05}"/>
              </a:ext>
            </a:extLst>
          </p:cNvPr>
          <p:cNvSpPr/>
          <p:nvPr/>
        </p:nvSpPr>
        <p:spPr bwMode="gray">
          <a:xfrm>
            <a:off x="8084103" y="5625586"/>
            <a:ext cx="1593298" cy="254582"/>
          </a:xfrm>
          <a:prstGeom prst="homePlate">
            <a:avLst>
              <a:gd name="adj" fmla="val 10244"/>
            </a:avLst>
          </a:prstGeom>
          <a:solidFill>
            <a:schemeClr val="bg2">
              <a:lumMod val="75000"/>
            </a:schemeClr>
          </a:solidFill>
          <a:ln w="9525" algn="ctr">
            <a:solidFill>
              <a:schemeClr val="tx1">
                <a:lumMod val="65000"/>
                <a:lumOff val="3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1000" dirty="0">
                <a:solidFill>
                  <a:schemeClr val="bg1"/>
                </a:solidFill>
                <a:latin typeface="Meiryo UI" panose="020B0604030504040204" pitchFamily="34" charset="-128"/>
                <a:ea typeface="Meiryo UI" panose="020B0604030504040204" pitchFamily="34" charset="-128"/>
              </a:rPr>
              <a:t>成熟度</a:t>
            </a:r>
            <a:r>
              <a:rPr lang="en-US" altLang="ja-JP" sz="1000" dirty="0">
                <a:solidFill>
                  <a:schemeClr val="bg1"/>
                </a:solidFill>
                <a:latin typeface="Meiryo UI" panose="020B0604030504040204" pitchFamily="34" charset="-128"/>
                <a:ea typeface="Meiryo UI" panose="020B0604030504040204" pitchFamily="34" charset="-128"/>
              </a:rPr>
              <a:t>Lv5</a:t>
            </a:r>
          </a:p>
          <a:p>
            <a:pPr algn="ctr">
              <a:buFont typeface="Wingdings 2" pitchFamily="18" charset="2"/>
              <a:buNone/>
            </a:pPr>
            <a:r>
              <a:rPr lang="ja-JP" altLang="en-US" sz="800">
                <a:solidFill>
                  <a:schemeClr val="bg1"/>
                </a:solidFill>
                <a:latin typeface="Meiryo UI" panose="020B0604030504040204" pitchFamily="34" charset="-128"/>
                <a:ea typeface="Meiryo UI" panose="020B0604030504040204" pitchFamily="34" charset="-128"/>
              </a:rPr>
              <a:t>（最適化</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継続的改善</a:t>
            </a:r>
            <a:r>
              <a:rPr lang="en-US" altLang="ja-JP" sz="800" dirty="0">
                <a:solidFill>
                  <a:schemeClr val="bg1"/>
                </a:solidFill>
                <a:latin typeface="Meiryo UI" panose="020B0604030504040204" pitchFamily="34" charset="-128"/>
                <a:ea typeface="Meiryo UI" panose="020B0604030504040204" pitchFamily="34" charset="-128"/>
              </a:rPr>
              <a:t>/</a:t>
            </a:r>
            <a:r>
              <a:rPr lang="ja-JP" altLang="en-US" sz="800">
                <a:solidFill>
                  <a:schemeClr val="bg1"/>
                </a:solidFill>
                <a:latin typeface="Meiryo UI" panose="020B0604030504040204" pitchFamily="34" charset="-128"/>
                <a:ea typeface="Meiryo UI" panose="020B0604030504040204" pitchFamily="34" charset="-128"/>
              </a:rPr>
              <a:t>プロセス自動化）</a:t>
            </a:r>
            <a:endParaRPr lang="en-US" altLang="ja-JP" sz="800" dirty="0">
              <a:solidFill>
                <a:schemeClr val="bg1"/>
              </a:solidFill>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240A2FDB-C9DB-0640-90BF-DA14327AAB0A}"/>
              </a:ext>
            </a:extLst>
          </p:cNvPr>
          <p:cNvSpPr/>
          <p:nvPr/>
        </p:nvSpPr>
        <p:spPr bwMode="gray">
          <a:xfrm>
            <a:off x="3131604" y="4213052"/>
            <a:ext cx="1593298" cy="30093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参照データとマスタデータ</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C762019A-7048-C340-AEEA-E200F5089798}"/>
              </a:ext>
            </a:extLst>
          </p:cNvPr>
          <p:cNvSpPr/>
          <p:nvPr/>
        </p:nvSpPr>
        <p:spPr bwMode="gray">
          <a:xfrm>
            <a:off x="4777857" y="4213052"/>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a:solidFill>
                  <a:schemeClr val="bg1"/>
                </a:solidFill>
                <a:latin typeface="Meiryo UI" panose="020B0604030504040204" pitchFamily="34" charset="-128"/>
                <a:ea typeface="Meiryo UI" panose="020B0604030504040204" pitchFamily="34" charset="-128"/>
              </a:rPr>
              <a:t>参照データとマスタデータ</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a:solidFill>
                  <a:schemeClr val="bg1"/>
                </a:solidFill>
                <a:latin typeface="Meiryo UI" panose="020B0604030504040204" pitchFamily="34" charset="-128"/>
                <a:ea typeface="Meiryo UI" panose="020B0604030504040204" pitchFamily="34" charset="-128"/>
              </a:rPr>
              <a:t>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7600FB76-BA90-E343-8349-EE1B2F66615C}"/>
              </a:ext>
            </a:extLst>
          </p:cNvPr>
          <p:cNvSpPr/>
          <p:nvPr/>
        </p:nvSpPr>
        <p:spPr bwMode="gray">
          <a:xfrm>
            <a:off x="6435297" y="4213052"/>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マスタデータの信頼度の評価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データ共有量と利用の測定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8523D456-CCC9-B543-9513-AEEC50849920}"/>
              </a:ext>
            </a:extLst>
          </p:cNvPr>
          <p:cNvSpPr/>
          <p:nvPr/>
        </p:nvSpPr>
        <p:spPr bwMode="gray">
          <a:xfrm>
            <a:off x="262417" y="4213052"/>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⑧参照データ</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とマスタデータ</a:t>
            </a:r>
          </a:p>
        </p:txBody>
      </p:sp>
      <p:sp>
        <p:nvSpPr>
          <p:cNvPr id="15" name="正方形/長方形 14">
            <a:extLst>
              <a:ext uri="{FF2B5EF4-FFF2-40B4-BE49-F238E27FC236}">
                <a16:creationId xmlns:a16="http://schemas.microsoft.com/office/drawing/2014/main" id="{85C725A2-942E-D44A-9062-C24CAD694E9D}"/>
              </a:ext>
            </a:extLst>
          </p:cNvPr>
          <p:cNvSpPr/>
          <p:nvPr/>
        </p:nvSpPr>
        <p:spPr bwMode="gray">
          <a:xfrm>
            <a:off x="3131604" y="454403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p>
        </p:txBody>
      </p:sp>
      <p:sp>
        <p:nvSpPr>
          <p:cNvPr id="16" name="正方形/長方形 15">
            <a:extLst>
              <a:ext uri="{FF2B5EF4-FFF2-40B4-BE49-F238E27FC236}">
                <a16:creationId xmlns:a16="http://schemas.microsoft.com/office/drawing/2014/main" id="{F5B48B6C-4918-BB4A-A73B-D0C434CECBBD}"/>
              </a:ext>
            </a:extLst>
          </p:cNvPr>
          <p:cNvSpPr/>
          <p:nvPr/>
        </p:nvSpPr>
        <p:spPr bwMode="gray">
          <a:xfrm>
            <a:off x="4777857" y="4544031"/>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900" dirty="0">
                <a:solidFill>
                  <a:schemeClr val="bg1"/>
                </a:solidFill>
                <a:latin typeface="Meiryo UI" panose="020B0604030504040204" pitchFamily="34" charset="-128"/>
                <a:ea typeface="Meiryo UI" panose="020B0604030504040204" pitchFamily="34" charset="-128"/>
              </a:rPr>
              <a:t>DWH</a:t>
            </a:r>
            <a:r>
              <a:rPr lang="ja-JP" altLang="en-US" sz="900" dirty="0">
                <a:solidFill>
                  <a:schemeClr val="bg1"/>
                </a:solidFill>
                <a:latin typeface="Meiryo UI" panose="020B0604030504040204" pitchFamily="34" charset="-128"/>
                <a:ea typeface="Meiryo UI" panose="020B0604030504040204" pitchFamily="34" charset="-128"/>
              </a:rPr>
              <a:t>と</a:t>
            </a:r>
            <a:r>
              <a:rPr lang="en-US" altLang="ja-JP" sz="900" dirty="0">
                <a:solidFill>
                  <a:schemeClr val="bg1"/>
                </a:solidFill>
                <a:latin typeface="Meiryo UI" panose="020B0604030504040204" pitchFamily="34" charset="-128"/>
                <a:ea typeface="Meiryo UI" panose="020B0604030504040204" pitchFamily="34" charset="-128"/>
              </a:rPr>
              <a:t>BI</a:t>
            </a:r>
            <a:r>
              <a:rPr lang="ja-JP" altLang="en-US" sz="900" dirty="0">
                <a:solidFill>
                  <a:schemeClr val="bg1"/>
                </a:solidFill>
                <a:latin typeface="Meiryo UI" panose="020B0604030504040204" pitchFamily="34" charset="-128"/>
                <a:ea typeface="Meiryo UI" panose="020B0604030504040204" pitchFamily="34" charset="-128"/>
              </a:rPr>
              <a:t>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577DB002-6BCF-3B47-9429-79A034A50F31}"/>
              </a:ext>
            </a:extLst>
          </p:cNvPr>
          <p:cNvSpPr/>
          <p:nvPr/>
        </p:nvSpPr>
        <p:spPr bwMode="gray">
          <a:xfrm>
            <a:off x="6435297" y="4544031"/>
            <a:ext cx="3242102"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rgbClr val="000000"/>
                </a:solidFill>
                <a:latin typeface="Meiryo UI" panose="020B0604030504040204" pitchFamily="34" charset="-128"/>
                <a:ea typeface="Meiryo UI" panose="020B0604030504040204" pitchFamily="34" charset="-128"/>
              </a:rPr>
              <a:t>利用度の評価</a:t>
            </a:r>
            <a:r>
              <a:rPr lang="en-US" altLang="ja-JP" sz="900" dirty="0">
                <a:solidFill>
                  <a:srgbClr val="000000"/>
                </a:solidFill>
                <a:latin typeface="Meiryo UI" panose="020B0604030504040204" pitchFamily="34" charset="-128"/>
                <a:ea typeface="Meiryo UI" panose="020B0604030504040204" pitchFamily="34" charset="-128"/>
              </a:rPr>
              <a:t>/</a:t>
            </a:r>
            <a:r>
              <a:rPr lang="ja-JP" altLang="en-US" sz="900" dirty="0">
                <a:solidFill>
                  <a:srgbClr val="000000"/>
                </a:solidFill>
                <a:latin typeface="Meiryo UI" panose="020B0604030504040204" pitchFamily="34" charset="-128"/>
                <a:ea typeface="Meiryo UI" panose="020B0604030504040204" pitchFamily="34" charset="-128"/>
              </a:rPr>
              <a:t>パフォーマンスの評価</a:t>
            </a:r>
            <a:endParaRPr lang="en-US" altLang="ja-JP" sz="900" dirty="0">
              <a:solidFill>
                <a:srgbClr val="000000"/>
              </a:solidFill>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EDDA5FB0-8A39-274E-B89C-54FEDC8460F6}"/>
              </a:ext>
            </a:extLst>
          </p:cNvPr>
          <p:cNvSpPr/>
          <p:nvPr/>
        </p:nvSpPr>
        <p:spPr bwMode="gray">
          <a:xfrm>
            <a:off x="262417" y="4544031"/>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⑨</a:t>
            </a:r>
            <a:r>
              <a:rPr lang="en-US" altLang="ja-JP" sz="900" dirty="0">
                <a:latin typeface="Meiryo UI" panose="020B0604030504040204" pitchFamily="34" charset="-128"/>
                <a:ea typeface="Meiryo UI" panose="020B0604030504040204" pitchFamily="34" charset="-128"/>
              </a:rPr>
              <a:t>DWH</a:t>
            </a:r>
            <a:r>
              <a:rPr lang="ja-JP" altLang="en-US" sz="900" dirty="0">
                <a:latin typeface="Meiryo UI" panose="020B0604030504040204" pitchFamily="34" charset="-128"/>
                <a:ea typeface="Meiryo UI" panose="020B0604030504040204" pitchFamily="34" charset="-128"/>
              </a:rPr>
              <a:t>と</a:t>
            </a:r>
            <a:r>
              <a:rPr lang="en-US" altLang="ja-JP" sz="900" dirty="0">
                <a:latin typeface="Meiryo UI" panose="020B0604030504040204" pitchFamily="34" charset="-128"/>
                <a:ea typeface="Meiryo UI" panose="020B0604030504040204" pitchFamily="34" charset="-128"/>
              </a:rPr>
              <a:t>BI</a:t>
            </a:r>
            <a:endParaRPr lang="ja-JP" altLang="en-US" sz="900" dirty="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CBD3679D-006A-8B48-B139-9BAFD18BF58A}"/>
              </a:ext>
            </a:extLst>
          </p:cNvPr>
          <p:cNvSpPr/>
          <p:nvPr/>
        </p:nvSpPr>
        <p:spPr bwMode="gray">
          <a:xfrm>
            <a:off x="3131604" y="3883033"/>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管理ポリシー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605EEE23-6725-7B4B-B5FB-4B07D6BF66F9}"/>
              </a:ext>
            </a:extLst>
          </p:cNvPr>
          <p:cNvSpPr/>
          <p:nvPr/>
        </p:nvSpPr>
        <p:spPr bwMode="gray">
          <a:xfrm>
            <a:off x="4777857" y="3883033"/>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a:solidFill>
                  <a:schemeClr val="bg1"/>
                </a:solidFill>
                <a:latin typeface="Meiryo UI" panose="020B0604030504040204" pitchFamily="34" charset="-128"/>
                <a:ea typeface="Meiryo UI" panose="020B0604030504040204" pitchFamily="34" charset="-128"/>
              </a:rPr>
              <a:t>管理ポリシーの全社展開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FBAA639E-913B-C04B-A4C7-6A0A25C20B50}"/>
              </a:ext>
            </a:extLst>
          </p:cNvPr>
          <p:cNvSpPr/>
          <p:nvPr/>
        </p:nvSpPr>
        <p:spPr bwMode="gray">
          <a:xfrm>
            <a:off x="6435297" y="3883033"/>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法令遵守の評価</a:t>
            </a:r>
            <a:r>
              <a:rPr lang="en-US" altLang="ja-JP" sz="900" dirty="0">
                <a:solidFill>
                  <a:sysClr val="windowText" lastClr="000000"/>
                </a:solidFill>
                <a:latin typeface="Meiryo UI" panose="020B0604030504040204" pitchFamily="34" charset="-128"/>
                <a:ea typeface="Meiryo UI" panose="020B0604030504040204" pitchFamily="34" charset="-128"/>
              </a:rPr>
              <a:t>/</a:t>
            </a:r>
            <a:r>
              <a:rPr lang="ja-JP" altLang="en-US" sz="900" dirty="0">
                <a:solidFill>
                  <a:sysClr val="windowText" lastClr="000000"/>
                </a:solidFill>
                <a:latin typeface="Meiryo UI" panose="020B0604030504040204" pitchFamily="34" charset="-128"/>
                <a:ea typeface="Meiryo UI" panose="020B0604030504040204" pitchFamily="34" charset="-128"/>
              </a:rPr>
              <a:t>利用評価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3422B19C-32B4-5243-9536-8193744660EB}"/>
              </a:ext>
            </a:extLst>
          </p:cNvPr>
          <p:cNvSpPr/>
          <p:nvPr/>
        </p:nvSpPr>
        <p:spPr bwMode="gray">
          <a:xfrm>
            <a:off x="262417" y="3883033"/>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⑦ドキュメントと</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コンテンツ管理</a:t>
            </a:r>
          </a:p>
        </p:txBody>
      </p:sp>
      <p:sp>
        <p:nvSpPr>
          <p:cNvPr id="23" name="正方形/長方形 22">
            <a:extLst>
              <a:ext uri="{FF2B5EF4-FFF2-40B4-BE49-F238E27FC236}">
                <a16:creationId xmlns:a16="http://schemas.microsoft.com/office/drawing/2014/main" id="{DB853F53-96F6-F146-B626-662BAF485A67}"/>
              </a:ext>
            </a:extLst>
          </p:cNvPr>
          <p:cNvSpPr/>
          <p:nvPr/>
        </p:nvSpPr>
        <p:spPr bwMode="gray">
          <a:xfrm>
            <a:off x="1478549" y="1900999"/>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属人的・プロセス単位のガバナンス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63977F05-7462-694C-9197-665C47A658EF}"/>
              </a:ext>
            </a:extLst>
          </p:cNvPr>
          <p:cNvSpPr/>
          <p:nvPr/>
        </p:nvSpPr>
        <p:spPr bwMode="gray">
          <a:xfrm>
            <a:off x="3131604" y="1900999"/>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役割の明確化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5" name="正方形/長方形 24">
            <a:extLst>
              <a:ext uri="{FF2B5EF4-FFF2-40B4-BE49-F238E27FC236}">
                <a16:creationId xmlns:a16="http://schemas.microsoft.com/office/drawing/2014/main" id="{49813EE6-0A36-6940-81DA-08B81CD0FD84}"/>
              </a:ext>
            </a:extLst>
          </p:cNvPr>
          <p:cNvSpPr/>
          <p:nvPr/>
        </p:nvSpPr>
        <p:spPr bwMode="gray">
          <a:xfrm>
            <a:off x="4777857" y="1900999"/>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組織的なポリシー定義と</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dirty="0">
                <a:solidFill>
                  <a:sysClr val="windowText" lastClr="000000"/>
                </a:solidFill>
                <a:latin typeface="Meiryo UI" panose="020B0604030504040204" pitchFamily="34" charset="-128"/>
                <a:ea typeface="Meiryo UI" panose="020B0604030504040204" pitchFamily="34" charset="-128"/>
              </a:rPr>
              <a:t>ガバナンス</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26" name="正方形/長方形 25">
            <a:extLst>
              <a:ext uri="{FF2B5EF4-FFF2-40B4-BE49-F238E27FC236}">
                <a16:creationId xmlns:a16="http://schemas.microsoft.com/office/drawing/2014/main" id="{6083D018-5E08-B54E-ABA7-4FC332475DA7}"/>
              </a:ext>
            </a:extLst>
          </p:cNvPr>
          <p:cNvSpPr/>
          <p:nvPr/>
        </p:nvSpPr>
        <p:spPr bwMode="gray">
          <a:xfrm>
            <a:off x="6435297" y="1900999"/>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プロセスが数値化された統制</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F53ADC4B-4FFC-7349-942B-0D729667BD2C}"/>
              </a:ext>
            </a:extLst>
          </p:cNvPr>
          <p:cNvSpPr/>
          <p:nvPr/>
        </p:nvSpPr>
        <p:spPr bwMode="gray">
          <a:xfrm>
            <a:off x="8084103" y="1900999"/>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プロセス改善のゴールが数値化</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28" name="正方形/長方形 27">
            <a:extLst>
              <a:ext uri="{FF2B5EF4-FFF2-40B4-BE49-F238E27FC236}">
                <a16:creationId xmlns:a16="http://schemas.microsoft.com/office/drawing/2014/main" id="{AD90110F-D866-5E41-9F07-D27DF663C811}"/>
              </a:ext>
            </a:extLst>
          </p:cNvPr>
          <p:cNvSpPr/>
          <p:nvPr/>
        </p:nvSpPr>
        <p:spPr bwMode="gray">
          <a:xfrm>
            <a:off x="262417" y="190099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en-US" altLang="ja-JP" sz="900" dirty="0">
                <a:latin typeface="Meiryo UI" panose="020B0604030504040204" pitchFamily="34" charset="-128"/>
                <a:ea typeface="Meiryo UI" panose="020B0604030504040204" pitchFamily="34" charset="-128"/>
              </a:rPr>
              <a:t>①</a:t>
            </a:r>
            <a:r>
              <a:rPr lang="ja-JP" altLang="en-US" sz="900" dirty="0">
                <a:latin typeface="Meiryo UI" panose="020B0604030504040204" pitchFamily="34" charset="-128"/>
                <a:ea typeface="Meiryo UI" panose="020B0604030504040204" pitchFamily="34" charset="-128"/>
              </a:rPr>
              <a:t>データガバナンス</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p>
        </p:txBody>
      </p:sp>
      <p:sp>
        <p:nvSpPr>
          <p:cNvPr id="29" name="正方形/長方形 28">
            <a:extLst>
              <a:ext uri="{FF2B5EF4-FFF2-40B4-BE49-F238E27FC236}">
                <a16:creationId xmlns:a16="http://schemas.microsoft.com/office/drawing/2014/main" id="{538496B5-B221-334D-81F5-055A9EA187C3}"/>
              </a:ext>
            </a:extLst>
          </p:cNvPr>
          <p:cNvSpPr/>
          <p:nvPr/>
        </p:nvSpPr>
        <p:spPr bwMode="gray">
          <a:xfrm>
            <a:off x="3131604" y="4875742"/>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部門内でのメタデータ管理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12AEB418-C415-2A4A-963F-B8B9A76CFFE6}"/>
              </a:ext>
            </a:extLst>
          </p:cNvPr>
          <p:cNvSpPr/>
          <p:nvPr/>
        </p:nvSpPr>
        <p:spPr bwMode="gray">
          <a:xfrm>
            <a:off x="4777857" y="4875742"/>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メタデータ管理の全社展開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1D74D1CB-92A4-D54D-947D-EF32E57FA58C}"/>
              </a:ext>
            </a:extLst>
          </p:cNvPr>
          <p:cNvSpPr/>
          <p:nvPr/>
        </p:nvSpPr>
        <p:spPr bwMode="gray">
          <a:xfrm>
            <a:off x="6435297" y="4875742"/>
            <a:ext cx="1593298"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メタデータ利用の測定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2785F8C3-12B0-364F-BD95-69B14303E1B7}"/>
              </a:ext>
            </a:extLst>
          </p:cNvPr>
          <p:cNvSpPr/>
          <p:nvPr/>
        </p:nvSpPr>
        <p:spPr bwMode="gray">
          <a:xfrm>
            <a:off x="8084103" y="4875742"/>
            <a:ext cx="1593298" cy="29997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メタデータ管理の改善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EB913181-BAC3-7F40-AC3C-C97ADE32E69E}"/>
              </a:ext>
            </a:extLst>
          </p:cNvPr>
          <p:cNvSpPr/>
          <p:nvPr/>
        </p:nvSpPr>
        <p:spPr bwMode="gray">
          <a:xfrm>
            <a:off x="1482798" y="4874782"/>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メタデータの属人化</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6E8059E3-E4E0-6040-8CB5-C64A82C6F599}"/>
              </a:ext>
            </a:extLst>
          </p:cNvPr>
          <p:cNvSpPr/>
          <p:nvPr/>
        </p:nvSpPr>
        <p:spPr bwMode="gray">
          <a:xfrm>
            <a:off x="262417" y="4875742"/>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⑩メタデータ管理</a:t>
            </a:r>
            <a:endParaRPr lang="en-US" altLang="ja-JP" sz="900" dirty="0">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525C4BB5-C58D-6241-B9F0-708F5AB089A5}"/>
              </a:ext>
            </a:extLst>
          </p:cNvPr>
          <p:cNvSpPr/>
          <p:nvPr/>
        </p:nvSpPr>
        <p:spPr bwMode="gray">
          <a:xfrm>
            <a:off x="3131604" y="2561997"/>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部門内でのデータモデルの作成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74DB22F7-CDA2-BC46-A15F-F326681D6D8D}"/>
              </a:ext>
            </a:extLst>
          </p:cNvPr>
          <p:cNvSpPr/>
          <p:nvPr/>
        </p:nvSpPr>
        <p:spPr bwMode="gray">
          <a:xfrm>
            <a:off x="4777857" y="2561997"/>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a:solidFill>
                  <a:schemeClr val="bg1"/>
                </a:solidFill>
                <a:latin typeface="Meiryo UI" panose="020B0604030504040204" pitchFamily="34" charset="-128"/>
                <a:ea typeface="Meiryo UI" panose="020B0604030504040204" pitchFamily="34" charset="-128"/>
              </a:rPr>
              <a:t>データモデルの全社展開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44ACFB08-0D83-0842-803E-56166715BA28}"/>
              </a:ext>
            </a:extLst>
          </p:cNvPr>
          <p:cNvSpPr/>
          <p:nvPr/>
        </p:nvSpPr>
        <p:spPr bwMode="gray">
          <a:xfrm>
            <a:off x="6435297" y="2561997"/>
            <a:ext cx="3242104"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データモデル検証結果の評価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4B4C3350-8CA4-0B4C-8A85-BD2B0D45C802}"/>
              </a:ext>
            </a:extLst>
          </p:cNvPr>
          <p:cNvSpPr/>
          <p:nvPr/>
        </p:nvSpPr>
        <p:spPr bwMode="gray">
          <a:xfrm>
            <a:off x="262417" y="2561997"/>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③データモデリングと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デザイン</a:t>
            </a:r>
            <a:endParaRPr lang="en-US" altLang="ja-JP" sz="900" dirty="0">
              <a:latin typeface="Meiryo UI" panose="020B0604030504040204" pitchFamily="34" charset="-128"/>
              <a:ea typeface="Meiryo UI" panose="020B0604030504040204" pitchFamily="34" charset="-128"/>
            </a:endParaRPr>
          </a:p>
        </p:txBody>
      </p:sp>
      <p:sp>
        <p:nvSpPr>
          <p:cNvPr id="39" name="正方形/長方形 38">
            <a:extLst>
              <a:ext uri="{FF2B5EF4-FFF2-40B4-BE49-F238E27FC236}">
                <a16:creationId xmlns:a16="http://schemas.microsoft.com/office/drawing/2014/main" id="{CE159656-384A-E446-929D-90C0A8313A0D}"/>
              </a:ext>
            </a:extLst>
          </p:cNvPr>
          <p:cNvSpPr/>
          <p:nvPr/>
        </p:nvSpPr>
        <p:spPr bwMode="gray">
          <a:xfrm>
            <a:off x="3131604" y="2891791"/>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0" name="正方形/長方形 39">
            <a:extLst>
              <a:ext uri="{FF2B5EF4-FFF2-40B4-BE49-F238E27FC236}">
                <a16:creationId xmlns:a16="http://schemas.microsoft.com/office/drawing/2014/main" id="{ADCA34D6-BA77-B74E-BC34-7693628F7278}"/>
              </a:ext>
            </a:extLst>
          </p:cNvPr>
          <p:cNvSpPr/>
          <p:nvPr/>
        </p:nvSpPr>
        <p:spPr bwMode="gray">
          <a:xfrm>
            <a:off x="4777857" y="2891791"/>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900">
                <a:solidFill>
                  <a:schemeClr val="bg1"/>
                </a:solidFill>
                <a:latin typeface="Meiryo UI" panose="020B0604030504040204" pitchFamily="34" charset="-128"/>
                <a:ea typeface="Meiryo UI" panose="020B0604030504040204" pitchFamily="34" charset="-128"/>
              </a:rPr>
              <a:t>DB</a:t>
            </a:r>
            <a:r>
              <a:rPr lang="ja-JP" altLang="en-US" sz="900" dirty="0">
                <a:solidFill>
                  <a:schemeClr val="bg1"/>
                </a:solidFill>
                <a:latin typeface="Meiryo UI" panose="020B0604030504040204" pitchFamily="34" charset="-128"/>
                <a:ea typeface="Meiryo UI" panose="020B0604030504040204" pitchFamily="34" charset="-128"/>
              </a:rPr>
              <a:t>環境の全社展開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9E0B85D3-B9F2-E341-B55F-142953D4F854}"/>
              </a:ext>
            </a:extLst>
          </p:cNvPr>
          <p:cNvSpPr/>
          <p:nvPr/>
        </p:nvSpPr>
        <p:spPr bwMode="gray">
          <a:xfrm>
            <a:off x="6435296" y="2891791"/>
            <a:ext cx="3242103"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　性能・運用・サービスの評価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B782C0C2-9F77-E542-8AAD-EA18F334FB23}"/>
              </a:ext>
            </a:extLst>
          </p:cNvPr>
          <p:cNvSpPr/>
          <p:nvPr/>
        </p:nvSpPr>
        <p:spPr bwMode="gray">
          <a:xfrm>
            <a:off x="262417" y="2892016"/>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④データストレージと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オペレーションズ</a:t>
            </a:r>
            <a:endParaRPr lang="en-US" altLang="ja-JP" sz="900" dirty="0">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6A453C95-66D2-4241-88B8-3683AC566AFF}"/>
              </a:ext>
            </a:extLst>
          </p:cNvPr>
          <p:cNvSpPr/>
          <p:nvPr/>
        </p:nvSpPr>
        <p:spPr bwMode="gray">
          <a:xfrm>
            <a:off x="1478549" y="520428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データ品質の問題が散見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08E31695-5D0F-E442-9735-F3731A329E5D}"/>
              </a:ext>
            </a:extLst>
          </p:cNvPr>
          <p:cNvSpPr/>
          <p:nvPr/>
        </p:nvSpPr>
        <p:spPr bwMode="gray">
          <a:xfrm>
            <a:off x="3131604" y="5204281"/>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部門に閉じたデータ品質</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DE8FD8DF-5334-AB40-A608-6B976B5DA5E4}"/>
              </a:ext>
            </a:extLst>
          </p:cNvPr>
          <p:cNvSpPr/>
          <p:nvPr/>
        </p:nvSpPr>
        <p:spPr bwMode="gray">
          <a:xfrm>
            <a:off x="4777857" y="5204281"/>
            <a:ext cx="1593298" cy="30093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全社でのデータ品質の向上</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49C1FDE9-BC13-F146-89A5-209159BE2622}"/>
              </a:ext>
            </a:extLst>
          </p:cNvPr>
          <p:cNvSpPr/>
          <p:nvPr/>
        </p:nvSpPr>
        <p:spPr bwMode="gray">
          <a:xfrm>
            <a:off x="6435297" y="5204281"/>
            <a:ext cx="1593298" cy="30093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データ品質の測定</a:t>
            </a:r>
          </a:p>
        </p:txBody>
      </p:sp>
      <p:sp>
        <p:nvSpPr>
          <p:cNvPr id="47" name="正方形/長方形 46">
            <a:extLst>
              <a:ext uri="{FF2B5EF4-FFF2-40B4-BE49-F238E27FC236}">
                <a16:creationId xmlns:a16="http://schemas.microsoft.com/office/drawing/2014/main" id="{68154D53-982E-BB47-BB74-552BEE5A804A}"/>
              </a:ext>
            </a:extLst>
          </p:cNvPr>
          <p:cNvSpPr/>
          <p:nvPr/>
        </p:nvSpPr>
        <p:spPr bwMode="gray">
          <a:xfrm>
            <a:off x="8084103" y="5204281"/>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chemeClr val="bg1"/>
                </a:solidFill>
                <a:latin typeface="Meiryo UI" panose="020B0604030504040204" pitchFamily="34" charset="-128"/>
                <a:ea typeface="Meiryo UI" panose="020B0604030504040204" pitchFamily="34" charset="-128"/>
              </a:rPr>
              <a:t>データ品質の改善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0CA547B4-31B3-8E40-93B4-5C19A8882972}"/>
              </a:ext>
            </a:extLst>
          </p:cNvPr>
          <p:cNvSpPr/>
          <p:nvPr/>
        </p:nvSpPr>
        <p:spPr bwMode="gray">
          <a:xfrm>
            <a:off x="262417" y="5205029"/>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⑪データ品質</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ja-JP" altLang="en-US" sz="900" dirty="0">
              <a:latin typeface="Meiryo UI" panose="020B0604030504040204" pitchFamily="34" charset="-128"/>
              <a:ea typeface="Meiryo UI" panose="020B0604030504040204" pitchFamily="34" charset="-128"/>
            </a:endParaRPr>
          </a:p>
        </p:txBody>
      </p:sp>
      <p:cxnSp>
        <p:nvCxnSpPr>
          <p:cNvPr id="49" name="直線矢印コネクタ 48">
            <a:extLst>
              <a:ext uri="{FF2B5EF4-FFF2-40B4-BE49-F238E27FC236}">
                <a16:creationId xmlns:a16="http://schemas.microsoft.com/office/drawing/2014/main" id="{EF8E3F5F-F9E2-6F40-8283-8C6D405A9DD8}"/>
              </a:ext>
            </a:extLst>
          </p:cNvPr>
          <p:cNvCxnSpPr>
            <a:cxnSpLocks/>
          </p:cNvCxnSpPr>
          <p:nvPr/>
        </p:nvCxnSpPr>
        <p:spPr>
          <a:xfrm flipV="1">
            <a:off x="1384661" y="1802856"/>
            <a:ext cx="0" cy="3744820"/>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52349BE5-7617-F542-8E9D-AFFCD003C8E2}"/>
              </a:ext>
            </a:extLst>
          </p:cNvPr>
          <p:cNvCxnSpPr>
            <a:cxnSpLocks/>
          </p:cNvCxnSpPr>
          <p:nvPr/>
        </p:nvCxnSpPr>
        <p:spPr>
          <a:xfrm flipV="1">
            <a:off x="1376348" y="5547677"/>
            <a:ext cx="8292738" cy="1"/>
          </a:xfrm>
          <a:prstGeom prst="straightConnector1">
            <a:avLst/>
          </a:prstGeom>
          <a:ln w="38100">
            <a:solidFill>
              <a:schemeClr val="tx1">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正方形/長方形 50">
            <a:extLst>
              <a:ext uri="{FF2B5EF4-FFF2-40B4-BE49-F238E27FC236}">
                <a16:creationId xmlns:a16="http://schemas.microsoft.com/office/drawing/2014/main" id="{3146066F-0E8D-6B41-97CC-0BBE7704BFCD}"/>
              </a:ext>
            </a:extLst>
          </p:cNvPr>
          <p:cNvSpPr/>
          <p:nvPr/>
        </p:nvSpPr>
        <p:spPr bwMode="gray">
          <a:xfrm>
            <a:off x="3131604" y="2231978"/>
            <a:ext cx="1593298" cy="29997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データアーキテクチャの作成</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dirty="0">
                <a:solidFill>
                  <a:sysClr val="windowText" lastClr="000000"/>
                </a:solidFill>
                <a:latin typeface="Meiryo UI" panose="020B0604030504040204" pitchFamily="34" charset="-128"/>
                <a:ea typeface="Meiryo UI" panose="020B0604030504040204" pitchFamily="34" charset="-128"/>
              </a:rPr>
              <a:t>部門内での業務標準用語</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2D489F42-AF09-CC43-841B-72DA70D40606}"/>
              </a:ext>
            </a:extLst>
          </p:cNvPr>
          <p:cNvSpPr/>
          <p:nvPr/>
        </p:nvSpPr>
        <p:spPr bwMode="gray">
          <a:xfrm>
            <a:off x="4777857" y="2231978"/>
            <a:ext cx="1593298" cy="299978"/>
          </a:xfrm>
          <a:prstGeom prst="rect">
            <a:avLst/>
          </a:prstGeom>
          <a:solidFill>
            <a:schemeClr val="bg2">
              <a:lumMod val="40000"/>
              <a:lumOff val="6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dirty="0">
                <a:solidFill>
                  <a:sysClr val="windowText" lastClr="000000"/>
                </a:solidFill>
                <a:latin typeface="Meiryo UI" panose="020B0604030504040204" pitchFamily="34" charset="-128"/>
                <a:ea typeface="Meiryo UI" panose="020B0604030504040204" pitchFamily="34" charset="-128"/>
              </a:rPr>
              <a:t>全社共通の業務標準用語</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5DD2BF7E-DBCE-D045-8C1E-BF389432705C}"/>
              </a:ext>
            </a:extLst>
          </p:cNvPr>
          <p:cNvSpPr/>
          <p:nvPr/>
        </p:nvSpPr>
        <p:spPr bwMode="gray">
          <a:xfrm>
            <a:off x="6435297" y="2231903"/>
            <a:ext cx="3242104"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a:solidFill>
                  <a:schemeClr val="bg1"/>
                </a:solidFill>
                <a:latin typeface="Meiryo UI" panose="020B0604030504040204" pitchFamily="34" charset="-128"/>
                <a:ea typeface="Meiryo UI" panose="020B0604030504040204" pitchFamily="34" charset="-128"/>
              </a:rPr>
              <a:t>データアーキテクチャ遵守の測定</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22E79918-D0E1-A74F-9215-D224BC73F512}"/>
              </a:ext>
            </a:extLst>
          </p:cNvPr>
          <p:cNvSpPr/>
          <p:nvPr/>
        </p:nvSpPr>
        <p:spPr bwMode="gray">
          <a:xfrm>
            <a:off x="262417" y="2231978"/>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②データ</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アーキテクチャ</a:t>
            </a:r>
          </a:p>
        </p:txBody>
      </p:sp>
      <p:sp>
        <p:nvSpPr>
          <p:cNvPr id="55" name="正方形/長方形 54">
            <a:extLst>
              <a:ext uri="{FF2B5EF4-FFF2-40B4-BE49-F238E27FC236}">
                <a16:creationId xmlns:a16="http://schemas.microsoft.com/office/drawing/2014/main" id="{C7BD398D-4CA1-9E46-B2A3-A5EFBB2A8E1C}"/>
              </a:ext>
            </a:extLst>
          </p:cNvPr>
          <p:cNvSpPr/>
          <p:nvPr/>
        </p:nvSpPr>
        <p:spPr bwMode="gray">
          <a:xfrm>
            <a:off x="3131604" y="3222035"/>
            <a:ext cx="1593298" cy="300938"/>
          </a:xfrm>
          <a:prstGeom prst="rect">
            <a:avLst/>
          </a:prstGeom>
          <a:solidFill>
            <a:schemeClr val="bg2">
              <a:lumMod val="20000"/>
              <a:lumOff val="8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部門内に閉じた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6" name="正方形/長方形 55">
            <a:extLst>
              <a:ext uri="{FF2B5EF4-FFF2-40B4-BE49-F238E27FC236}">
                <a16:creationId xmlns:a16="http://schemas.microsoft.com/office/drawing/2014/main" id="{E6A9AD5D-5601-B840-883A-93E5D1B6651B}"/>
              </a:ext>
            </a:extLst>
          </p:cNvPr>
          <p:cNvSpPr/>
          <p:nvPr/>
        </p:nvSpPr>
        <p:spPr bwMode="gray">
          <a:xfrm>
            <a:off x="4777857" y="3222035"/>
            <a:ext cx="1593298" cy="300938"/>
          </a:xfrm>
          <a:prstGeom prst="rect">
            <a:avLst/>
          </a:prstGeom>
          <a:solidFill>
            <a:schemeClr val="bg2">
              <a:lumMod val="40000"/>
              <a:lumOff val="6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r>
              <a:rPr lang="ja-JP" altLang="en-US" sz="900">
                <a:solidFill>
                  <a:sysClr val="windowText" lastClr="000000"/>
                </a:solidFill>
                <a:latin typeface="Meiryo UI" panose="020B0604030504040204" pitchFamily="34" charset="-128"/>
                <a:ea typeface="Meiryo UI" panose="020B0604030504040204" pitchFamily="34" charset="-128"/>
              </a:rPr>
              <a:t>の全社展開</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DD0B6455-43C2-4643-BEEA-83554643A7B6}"/>
              </a:ext>
            </a:extLst>
          </p:cNvPr>
          <p:cNvSpPr/>
          <p:nvPr/>
        </p:nvSpPr>
        <p:spPr bwMode="gray">
          <a:xfrm>
            <a:off x="6435297" y="3222035"/>
            <a:ext cx="1593298" cy="30093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a:solidFill>
                  <a:sysClr val="windowText" lastClr="000000"/>
                </a:solidFill>
                <a:latin typeface="Meiryo UI" panose="020B0604030504040204" pitchFamily="34" charset="-128"/>
                <a:ea typeface="Meiryo UI" panose="020B0604030504040204" pitchFamily="34" charset="-128"/>
              </a:rPr>
              <a:t>データセキュリティ実現評価</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58" name="正方形/長方形 57">
            <a:extLst>
              <a:ext uri="{FF2B5EF4-FFF2-40B4-BE49-F238E27FC236}">
                <a16:creationId xmlns:a16="http://schemas.microsoft.com/office/drawing/2014/main" id="{E4828CC3-1FBF-E542-B8D7-D6125340BC8B}"/>
              </a:ext>
            </a:extLst>
          </p:cNvPr>
          <p:cNvSpPr/>
          <p:nvPr/>
        </p:nvSpPr>
        <p:spPr bwMode="gray">
          <a:xfrm>
            <a:off x="8084103" y="3222035"/>
            <a:ext cx="1593298" cy="300938"/>
          </a:xfrm>
          <a:prstGeom prst="rect">
            <a:avLst/>
          </a:prstGeom>
          <a:solidFill>
            <a:schemeClr val="bg2">
              <a:lumMod val="75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測定尺度を用いた</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データセキュリティの改善</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59" name="正方形/長方形 58">
            <a:extLst>
              <a:ext uri="{FF2B5EF4-FFF2-40B4-BE49-F238E27FC236}">
                <a16:creationId xmlns:a16="http://schemas.microsoft.com/office/drawing/2014/main" id="{F1CEE109-1E3C-B04E-9E84-759A89FEBECE}"/>
              </a:ext>
            </a:extLst>
          </p:cNvPr>
          <p:cNvSpPr/>
          <p:nvPr/>
        </p:nvSpPr>
        <p:spPr bwMode="gray">
          <a:xfrm>
            <a:off x="262417" y="3222035"/>
            <a:ext cx="1028241" cy="30093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r>
              <a:rPr lang="ja-JP" altLang="en-US" sz="900" dirty="0">
                <a:latin typeface="Meiryo UI" panose="020B0604030504040204" pitchFamily="34" charset="-128"/>
                <a:ea typeface="Meiryo UI" panose="020B0604030504040204" pitchFamily="34" charset="-128"/>
              </a:rPr>
              <a:t>⑤データセキュリティ</a:t>
            </a:r>
            <a:r>
              <a:rPr lang="ja-JP" altLang="en-US" sz="900" baseline="30000" dirty="0">
                <a:latin typeface="Meiryo UI" panose="020B0604030504040204" pitchFamily="34" charset="-128"/>
                <a:ea typeface="Meiryo UI" panose="020B0604030504040204" pitchFamily="34" charset="-128"/>
              </a:rPr>
              <a:t>*</a:t>
            </a:r>
            <a:r>
              <a:rPr lang="en-US" altLang="ja-JP" sz="900" baseline="30000" dirty="0">
                <a:latin typeface="Meiryo UI" panose="020B0604030504040204" pitchFamily="34" charset="-128"/>
                <a:ea typeface="Meiryo UI" panose="020B0604030504040204" pitchFamily="34" charset="-128"/>
              </a:rPr>
              <a:t>1</a:t>
            </a:r>
            <a:endParaRPr lang="en-US" altLang="ja-JP" sz="900" dirty="0">
              <a:latin typeface="Meiryo UI" panose="020B0604030504040204" pitchFamily="34" charset="-128"/>
              <a:ea typeface="Meiryo UI" panose="020B0604030504040204" pitchFamily="34" charset="-128"/>
            </a:endParaRPr>
          </a:p>
        </p:txBody>
      </p:sp>
      <p:sp>
        <p:nvSpPr>
          <p:cNvPr id="60" name="正方形/長方形 59">
            <a:extLst>
              <a:ext uri="{FF2B5EF4-FFF2-40B4-BE49-F238E27FC236}">
                <a16:creationId xmlns:a16="http://schemas.microsoft.com/office/drawing/2014/main" id="{4F7046DD-6BDA-A24B-808D-676F5A9F8744}"/>
              </a:ext>
            </a:extLst>
          </p:cNvPr>
          <p:cNvSpPr/>
          <p:nvPr/>
        </p:nvSpPr>
        <p:spPr bwMode="gray">
          <a:xfrm>
            <a:off x="3131604" y="3553014"/>
            <a:ext cx="1593298" cy="299978"/>
          </a:xfrm>
          <a:prstGeom prst="rect">
            <a:avLst/>
          </a:prstGeom>
          <a:solidFill>
            <a:schemeClr val="bg2">
              <a:lumMod val="20000"/>
              <a:lumOff val="80000"/>
            </a:scheme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部門内での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データの移動と統合の管理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1" name="正方形/長方形 60">
            <a:extLst>
              <a:ext uri="{FF2B5EF4-FFF2-40B4-BE49-F238E27FC236}">
                <a16:creationId xmlns:a16="http://schemas.microsoft.com/office/drawing/2014/main" id="{A39CF24F-3A38-D640-AF89-810964E0C004}"/>
              </a:ext>
            </a:extLst>
          </p:cNvPr>
          <p:cNvSpPr/>
          <p:nvPr/>
        </p:nvSpPr>
        <p:spPr bwMode="gray">
          <a:xfrm>
            <a:off x="4777857" y="3553014"/>
            <a:ext cx="1593298" cy="299978"/>
          </a:xfrm>
          <a:prstGeom prst="rect">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900" dirty="0">
                <a:solidFill>
                  <a:schemeClr val="bg1"/>
                </a:solidFill>
                <a:latin typeface="Meiryo UI" panose="020B0604030504040204" pitchFamily="34" charset="-128"/>
                <a:ea typeface="Meiryo UI" panose="020B0604030504040204" pitchFamily="34" charset="-128"/>
              </a:rPr>
              <a:t>データの移動</a:t>
            </a:r>
            <a:r>
              <a:rPr lang="en-US" altLang="ja-JP" sz="900" dirty="0">
                <a:solidFill>
                  <a:schemeClr val="bg1"/>
                </a:solidFill>
                <a:latin typeface="Meiryo UI" panose="020B0604030504040204" pitchFamily="34" charset="-128"/>
                <a:ea typeface="Meiryo UI" panose="020B0604030504040204" pitchFamily="34" charset="-128"/>
              </a:rPr>
              <a:t>/</a:t>
            </a:r>
            <a:r>
              <a:rPr lang="ja-JP" altLang="en-US" sz="900" dirty="0">
                <a:solidFill>
                  <a:schemeClr val="bg1"/>
                </a:solidFill>
                <a:latin typeface="Meiryo UI" panose="020B0604030504040204" pitchFamily="34" charset="-128"/>
                <a:ea typeface="Meiryo UI" panose="020B0604030504040204" pitchFamily="34" charset="-128"/>
              </a:rPr>
              <a:t>統合の管理</a:t>
            </a:r>
            <a:endParaRPr lang="en-US" altLang="ja-JP" sz="900" dirty="0">
              <a:solidFill>
                <a:schemeClr val="bg1"/>
              </a:solidFill>
              <a:latin typeface="Meiryo UI" panose="020B0604030504040204" pitchFamily="34" charset="-128"/>
              <a:ea typeface="Meiryo UI" panose="020B0604030504040204" pitchFamily="34" charset="-128"/>
            </a:endParaRPr>
          </a:p>
          <a:p>
            <a:pPr algn="ctr"/>
            <a:r>
              <a:rPr lang="ja-JP" altLang="en-US" sz="900" dirty="0">
                <a:solidFill>
                  <a:schemeClr val="bg1"/>
                </a:solidFill>
                <a:latin typeface="Meiryo UI" panose="020B0604030504040204" pitchFamily="34" charset="-128"/>
                <a:ea typeface="Meiryo UI" panose="020B0604030504040204" pitchFamily="34" charset="-128"/>
              </a:rPr>
              <a:t>の全社展開</a:t>
            </a:r>
            <a:endParaRPr lang="en-US" altLang="ja-JP" sz="900" dirty="0">
              <a:solidFill>
                <a:schemeClr val="bg1"/>
              </a:solidFill>
              <a:latin typeface="Meiryo UI" panose="020B0604030504040204" pitchFamily="34" charset="-128"/>
              <a:ea typeface="Meiryo UI" panose="020B0604030504040204" pitchFamily="34" charset="-128"/>
            </a:endParaRPr>
          </a:p>
        </p:txBody>
      </p:sp>
      <p:sp>
        <p:nvSpPr>
          <p:cNvPr id="62" name="正方形/長方形 61">
            <a:extLst>
              <a:ext uri="{FF2B5EF4-FFF2-40B4-BE49-F238E27FC236}">
                <a16:creationId xmlns:a16="http://schemas.microsoft.com/office/drawing/2014/main" id="{BDE59C10-6129-9A42-8C0D-DEAAC8DDB0D9}"/>
              </a:ext>
            </a:extLst>
          </p:cNvPr>
          <p:cNvSpPr/>
          <p:nvPr/>
        </p:nvSpPr>
        <p:spPr bwMode="gray">
          <a:xfrm>
            <a:off x="6435297" y="3553014"/>
            <a:ext cx="3242102" cy="299978"/>
          </a:xfrm>
          <a:prstGeom prst="rect">
            <a:avLst/>
          </a:prstGeom>
          <a:solidFill>
            <a:schemeClr val="bg2">
              <a:lumMod val="60000"/>
              <a:lumOff val="40000"/>
            </a:schemeClr>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a:solidFill>
                  <a:sysClr val="windowText" lastClr="000000"/>
                </a:solidFill>
                <a:latin typeface="Meiryo UI" panose="020B0604030504040204" pitchFamily="34" charset="-128"/>
                <a:ea typeface="Meiryo UI" panose="020B0604030504040204" pitchFamily="34" charset="-128"/>
              </a:rPr>
              <a:t>可用性・量・速度の測定</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3" name="正方形/長方形 62">
            <a:extLst>
              <a:ext uri="{FF2B5EF4-FFF2-40B4-BE49-F238E27FC236}">
                <a16:creationId xmlns:a16="http://schemas.microsoft.com/office/drawing/2014/main" id="{5C99EFE7-55DD-3F45-855C-D1EF34E03E75}"/>
              </a:ext>
            </a:extLst>
          </p:cNvPr>
          <p:cNvSpPr/>
          <p:nvPr/>
        </p:nvSpPr>
        <p:spPr bwMode="gray">
          <a:xfrm>
            <a:off x="262417" y="3553014"/>
            <a:ext cx="1028241" cy="299978"/>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buFont typeface="Wingdings 2" pitchFamily="18" charset="2"/>
              <a:buNone/>
            </a:pPr>
            <a:r>
              <a:rPr lang="ja-JP" altLang="en-US" sz="900" dirty="0">
                <a:latin typeface="Meiryo UI" panose="020B0604030504040204" pitchFamily="34" charset="-128"/>
                <a:ea typeface="Meiryo UI" panose="020B0604030504040204" pitchFamily="34" charset="-128"/>
              </a:rPr>
              <a:t>⑥データ統合と</a:t>
            </a:r>
            <a:endParaRPr lang="en-US" altLang="ja-JP" sz="900" dirty="0">
              <a:latin typeface="Meiryo UI" panose="020B0604030504040204" pitchFamily="34" charset="-128"/>
              <a:ea typeface="Meiryo UI" panose="020B0604030504040204" pitchFamily="34" charset="-128"/>
            </a:endParaRPr>
          </a:p>
          <a:p>
            <a:pPr>
              <a:buFont typeface="Wingdings 2" pitchFamily="18" charset="2"/>
              <a:buNone/>
            </a:pPr>
            <a:r>
              <a:rPr lang="ja-JP" altLang="en-US" sz="900" dirty="0">
                <a:latin typeface="Meiryo UI" panose="020B0604030504040204" pitchFamily="34" charset="-128"/>
                <a:ea typeface="Meiryo UI" panose="020B0604030504040204" pitchFamily="34" charset="-128"/>
              </a:rPr>
              <a:t>相互運用性</a:t>
            </a:r>
            <a:endParaRPr lang="en-US" altLang="ja-JP" sz="900" dirty="0">
              <a:latin typeface="Meiryo UI" panose="020B0604030504040204" pitchFamily="34" charset="-128"/>
              <a:ea typeface="Meiryo UI" panose="020B0604030504040204" pitchFamily="34" charset="-128"/>
            </a:endParaRPr>
          </a:p>
        </p:txBody>
      </p:sp>
      <p:sp>
        <p:nvSpPr>
          <p:cNvPr id="64" name="テキスト ボックス 63">
            <a:extLst>
              <a:ext uri="{FF2B5EF4-FFF2-40B4-BE49-F238E27FC236}">
                <a16:creationId xmlns:a16="http://schemas.microsoft.com/office/drawing/2014/main" id="{82B9099F-2CB2-CA41-9C61-1B292D521EA5}"/>
              </a:ext>
            </a:extLst>
          </p:cNvPr>
          <p:cNvSpPr txBox="1"/>
          <p:nvPr/>
        </p:nvSpPr>
        <p:spPr>
          <a:xfrm>
            <a:off x="263769" y="6132673"/>
            <a:ext cx="6165470" cy="307777"/>
          </a:xfrm>
          <a:prstGeom prst="rect">
            <a:avLst/>
          </a:prstGeom>
          <a:noFill/>
        </p:spPr>
        <p:txBody>
          <a:bodyPr wrap="none" rtlCol="0">
            <a:spAutoFit/>
          </a:bodyPr>
          <a:lstStyle/>
          <a:p>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1</a:t>
            </a:r>
            <a:r>
              <a:rPr kumimoji="1" lang="ja-JP" altLang="en-US" sz="700" dirty="0">
                <a:solidFill>
                  <a:schemeClr val="tx1">
                    <a:lumMod val="50000"/>
                    <a:lumOff val="50000"/>
                  </a:schemeClr>
                </a:solidFill>
                <a:latin typeface="Meiryo UI" panose="020B0604030504040204" pitchFamily="34" charset="-128"/>
              </a:rPr>
              <a:t>：</a:t>
            </a:r>
            <a:r>
              <a:rPr kumimoji="1" lang="en-US" altLang="ja-JP" sz="700" dirty="0">
                <a:solidFill>
                  <a:schemeClr val="tx1">
                    <a:lumMod val="50000"/>
                    <a:lumOff val="50000"/>
                  </a:schemeClr>
                </a:solidFill>
                <a:latin typeface="Meiryo UI" panose="020B0604030504040204" pitchFamily="34" charset="-128"/>
              </a:rPr>
              <a:t>①②③</a:t>
            </a:r>
            <a:r>
              <a:rPr kumimoji="1" lang="ja-JP" altLang="en-US" sz="700" dirty="0">
                <a:solidFill>
                  <a:schemeClr val="tx1">
                    <a:lumMod val="50000"/>
                    <a:lumOff val="50000"/>
                  </a:schemeClr>
                </a:solidFill>
                <a:latin typeface="Meiryo UI" panose="020B0604030504040204" pitchFamily="34" charset="-128"/>
              </a:rPr>
              <a:t>は基礎的なアクティビティであり、他の実施項目と依存関係によりステップ毎に同等レベルで実施される。（</a:t>
            </a:r>
            <a:r>
              <a:rPr kumimoji="1" lang="en-US" altLang="ja-JP" sz="700" dirty="0">
                <a:solidFill>
                  <a:schemeClr val="tx1">
                    <a:lumMod val="50000"/>
                    <a:lumOff val="50000"/>
                  </a:schemeClr>
                </a:solidFill>
                <a:latin typeface="Meiryo UI" panose="020B0604030504040204" pitchFamily="34" charset="-128"/>
              </a:rPr>
              <a:t>Appendix</a:t>
            </a:r>
            <a:r>
              <a:rPr kumimoji="1" lang="ja-JP" altLang="en-US" sz="700" dirty="0">
                <a:solidFill>
                  <a:schemeClr val="tx1">
                    <a:lumMod val="50000"/>
                    <a:lumOff val="50000"/>
                  </a:schemeClr>
                </a:solidFill>
                <a:latin typeface="Meiryo UI" panose="020B0604030504040204" pitchFamily="34" charset="-128"/>
              </a:rPr>
              <a:t>参照）</a:t>
            </a:r>
            <a:endParaRPr kumimoji="1" lang="en-US" altLang="ja-JP" sz="700" dirty="0">
              <a:solidFill>
                <a:schemeClr val="tx1">
                  <a:lumMod val="50000"/>
                  <a:lumOff val="50000"/>
                </a:schemeClr>
              </a:solidFill>
              <a:latin typeface="Meiryo UI" panose="020B0604030504040204" pitchFamily="34" charset="-128"/>
            </a:endParaRPr>
          </a:p>
          <a:p>
            <a:r>
              <a:rPr lang="en-US" altLang="ja-JP" sz="700" dirty="0">
                <a:solidFill>
                  <a:schemeClr val="tx1">
                    <a:lumMod val="50000"/>
                    <a:lumOff val="50000"/>
                  </a:schemeClr>
                </a:solidFill>
                <a:latin typeface="Meiryo UI" panose="020B0604030504040204" pitchFamily="34" charset="-128"/>
              </a:rPr>
              <a:t>*2</a:t>
            </a:r>
            <a:r>
              <a:rPr lang="ja-JP" altLang="en-US" sz="700" dirty="0">
                <a:solidFill>
                  <a:schemeClr val="tx1">
                    <a:lumMod val="50000"/>
                    <a:lumOff val="50000"/>
                  </a:schemeClr>
                </a:solidFill>
                <a:latin typeface="Meiryo UI" panose="020B0604030504040204" pitchFamily="34" charset="-128"/>
              </a:rPr>
              <a:t>：</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は拠点内では実施できている想定。</a:t>
            </a:r>
            <a:r>
              <a:rPr lang="en-US" altLang="ja-JP" sz="700" dirty="0">
                <a:solidFill>
                  <a:schemeClr val="tx1">
                    <a:lumMod val="50000"/>
                    <a:lumOff val="50000"/>
                  </a:schemeClr>
                </a:solidFill>
                <a:latin typeface="Meiryo UI" panose="020B0604030504040204" pitchFamily="34" charset="-128"/>
              </a:rPr>
              <a:t>①〜④</a:t>
            </a:r>
            <a:r>
              <a:rPr lang="ja-JP" altLang="en-US" sz="700" dirty="0">
                <a:solidFill>
                  <a:schemeClr val="tx1">
                    <a:lumMod val="50000"/>
                    <a:lumOff val="50000"/>
                  </a:schemeClr>
                </a:solidFill>
                <a:latin typeface="Meiryo UI" panose="020B0604030504040204" pitchFamily="34" charset="-128"/>
              </a:rPr>
              <a:t>に加え、</a:t>
            </a:r>
            <a:r>
              <a:rPr lang="en-US" altLang="ja-JP" sz="700" dirty="0">
                <a:solidFill>
                  <a:schemeClr val="tx1">
                    <a:lumMod val="50000"/>
                    <a:lumOff val="50000"/>
                  </a:schemeClr>
                </a:solidFill>
                <a:latin typeface="Meiryo UI" panose="020B0604030504040204" pitchFamily="34" charset="-128"/>
              </a:rPr>
              <a:t>⑤〜⑪</a:t>
            </a:r>
            <a:r>
              <a:rPr lang="ja-JP" altLang="en-US" sz="700" dirty="0">
                <a:solidFill>
                  <a:schemeClr val="tx1">
                    <a:lumMod val="50000"/>
                    <a:lumOff val="50000"/>
                  </a:schemeClr>
                </a:solidFill>
                <a:latin typeface="Meiryo UI" panose="020B0604030504040204" pitchFamily="34" charset="-128"/>
              </a:rPr>
              <a:t>については基幹刷新で目指す</a:t>
            </a:r>
            <a:r>
              <a:rPr lang="en-US" altLang="ja-JP" sz="700" dirty="0">
                <a:solidFill>
                  <a:schemeClr val="tx1">
                    <a:lumMod val="50000"/>
                    <a:lumOff val="50000"/>
                  </a:schemeClr>
                </a:solidFill>
                <a:latin typeface="Meiryo UI" panose="020B0604030504040204" pitchFamily="34" charset="-128"/>
              </a:rPr>
              <a:t>SBU</a:t>
            </a:r>
            <a:r>
              <a:rPr lang="ja-JP" altLang="en-US" sz="700" dirty="0">
                <a:solidFill>
                  <a:schemeClr val="tx1">
                    <a:lumMod val="50000"/>
                    <a:lumOff val="50000"/>
                  </a:schemeClr>
                </a:solidFill>
                <a:latin typeface="Meiryo UI" panose="020B0604030504040204" pitchFamily="34" charset="-128"/>
              </a:rPr>
              <a:t>単位での位置づけでの実施レベルは不十分との想定。</a:t>
            </a:r>
            <a:endParaRPr kumimoji="1" lang="ja-JP" altLang="en-US" sz="700" dirty="0">
              <a:solidFill>
                <a:schemeClr val="tx1">
                  <a:lumMod val="50000"/>
                  <a:lumOff val="50000"/>
                </a:schemeClr>
              </a:solidFill>
              <a:latin typeface="Meiryo UI" panose="020B0604030504040204" pitchFamily="34" charset="-128"/>
            </a:endParaRPr>
          </a:p>
        </p:txBody>
      </p:sp>
      <p:sp>
        <p:nvSpPr>
          <p:cNvPr id="65" name="正方形/長方形 53">
            <a:extLst>
              <a:ext uri="{FF2B5EF4-FFF2-40B4-BE49-F238E27FC236}">
                <a16:creationId xmlns:a16="http://schemas.microsoft.com/office/drawing/2014/main" id="{4C7F9E28-F416-8941-A270-80322E90E2A3}"/>
              </a:ext>
            </a:extLst>
          </p:cNvPr>
          <p:cNvSpPr/>
          <p:nvPr/>
        </p:nvSpPr>
        <p:spPr bwMode="gray">
          <a:xfrm>
            <a:off x="1478549" y="2231018"/>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データアーキテクチャ</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6" name="正方形/長方形 53">
            <a:extLst>
              <a:ext uri="{FF2B5EF4-FFF2-40B4-BE49-F238E27FC236}">
                <a16:creationId xmlns:a16="http://schemas.microsoft.com/office/drawing/2014/main" id="{32312507-76A0-5441-808D-5882AC7729BB}"/>
              </a:ext>
            </a:extLst>
          </p:cNvPr>
          <p:cNvSpPr/>
          <p:nvPr/>
        </p:nvSpPr>
        <p:spPr bwMode="gray">
          <a:xfrm>
            <a:off x="1478549" y="2561037"/>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データモデリングとデザイン</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7" name="正方形/長方形 94">
            <a:extLst>
              <a:ext uri="{FF2B5EF4-FFF2-40B4-BE49-F238E27FC236}">
                <a16:creationId xmlns:a16="http://schemas.microsoft.com/office/drawing/2014/main" id="{FAC11D52-48AB-2549-BA94-9ADF460C71EF}"/>
              </a:ext>
            </a:extLst>
          </p:cNvPr>
          <p:cNvSpPr/>
          <p:nvPr/>
        </p:nvSpPr>
        <p:spPr bwMode="gray">
          <a:xfrm>
            <a:off x="1478549" y="3552054"/>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アプリケーション・プロセス単位でのデータ管理・運用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8" name="正方形/長方形 94">
            <a:extLst>
              <a:ext uri="{FF2B5EF4-FFF2-40B4-BE49-F238E27FC236}">
                <a16:creationId xmlns:a16="http://schemas.microsoft.com/office/drawing/2014/main" id="{B8356E33-82A4-D24C-AE51-AF1B48FDC0AE}"/>
              </a:ext>
            </a:extLst>
          </p:cNvPr>
          <p:cNvSpPr/>
          <p:nvPr/>
        </p:nvSpPr>
        <p:spPr bwMode="gray">
          <a:xfrm>
            <a:off x="1478549" y="3882073"/>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拠点・プロセス単位での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ドキュメント・コンテンツ管理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69" name="正方形/長方形 94">
            <a:extLst>
              <a:ext uri="{FF2B5EF4-FFF2-40B4-BE49-F238E27FC236}">
                <a16:creationId xmlns:a16="http://schemas.microsoft.com/office/drawing/2014/main" id="{F607BC4C-B326-C148-8AF6-0A158841979B}"/>
              </a:ext>
            </a:extLst>
          </p:cNvPr>
          <p:cNvSpPr/>
          <p:nvPr/>
        </p:nvSpPr>
        <p:spPr bwMode="gray">
          <a:xfrm>
            <a:off x="1478549" y="4213052"/>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拠点・アプリケーション単位での</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参照データマスタデータ管理</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0" name="正方形/長方形 88">
            <a:extLst>
              <a:ext uri="{FF2B5EF4-FFF2-40B4-BE49-F238E27FC236}">
                <a16:creationId xmlns:a16="http://schemas.microsoft.com/office/drawing/2014/main" id="{F15638C9-FBD4-7C4C-8705-2E5C081435DA}"/>
              </a:ext>
            </a:extLst>
          </p:cNvPr>
          <p:cNvSpPr/>
          <p:nvPr/>
        </p:nvSpPr>
        <p:spPr bwMode="gray">
          <a:xfrm>
            <a:off x="1482798" y="4544031"/>
            <a:ext cx="1593298" cy="300938"/>
          </a:xfrm>
          <a:prstGeom prst="rect">
            <a:avLst/>
          </a:prstGeom>
          <a:solidFill>
            <a:schemeClr val="bg1"/>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共通の</a:t>
            </a:r>
            <a:r>
              <a:rPr lang="en-US" altLang="ja-JP" sz="900" dirty="0">
                <a:solidFill>
                  <a:sysClr val="windowText" lastClr="000000"/>
                </a:solidFill>
                <a:latin typeface="Meiryo UI" panose="020B0604030504040204" pitchFamily="34" charset="-128"/>
                <a:ea typeface="Meiryo UI" panose="020B0604030504040204" pitchFamily="34" charset="-128"/>
              </a:rPr>
              <a:t>DWH</a:t>
            </a:r>
            <a:r>
              <a:rPr lang="ja-JP" altLang="en-US" sz="900" dirty="0">
                <a:solidFill>
                  <a:sysClr val="windowText" lastClr="000000"/>
                </a:solidFill>
                <a:latin typeface="Meiryo UI" panose="020B0604030504040204" pitchFamily="34" charset="-128"/>
                <a:ea typeface="Meiryo UI" panose="020B0604030504040204" pitchFamily="34" charset="-128"/>
              </a:rPr>
              <a:t>と</a:t>
            </a:r>
            <a:r>
              <a:rPr lang="en-US" altLang="ja-JP" sz="900" dirty="0">
                <a:solidFill>
                  <a:sysClr val="windowText" lastClr="000000"/>
                </a:solidFill>
                <a:latin typeface="Meiryo UI" panose="020B0604030504040204" pitchFamily="34" charset="-128"/>
                <a:ea typeface="Meiryo UI" panose="020B0604030504040204" pitchFamily="34" charset="-128"/>
              </a:rPr>
              <a:t>BI</a:t>
            </a:r>
            <a:r>
              <a:rPr lang="ja-JP" altLang="en-US" sz="900" dirty="0">
                <a:solidFill>
                  <a:sysClr val="windowText" lastClr="000000"/>
                </a:solidFill>
                <a:latin typeface="Meiryo UI" panose="020B0604030504040204" pitchFamily="34" charset="-128"/>
                <a:ea typeface="Meiryo UI" panose="020B0604030504040204" pitchFamily="34" charset="-128"/>
              </a:rPr>
              <a:t>の不在</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1" name="正方形/長方形 94">
            <a:extLst>
              <a:ext uri="{FF2B5EF4-FFF2-40B4-BE49-F238E27FC236}">
                <a16:creationId xmlns:a16="http://schemas.microsoft.com/office/drawing/2014/main" id="{FA2270E9-6CCA-8648-A8F8-33E7806BB9D0}"/>
              </a:ext>
            </a:extLst>
          </p:cNvPr>
          <p:cNvSpPr/>
          <p:nvPr/>
        </p:nvSpPr>
        <p:spPr bwMode="gray">
          <a:xfrm>
            <a:off x="1478549" y="3222035"/>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属人化した</a:t>
            </a:r>
            <a:endParaRPr lang="en-US" altLang="ja-JP" sz="900" dirty="0">
              <a:solidFill>
                <a:sysClr val="windowText" lastClr="000000"/>
              </a:solidFill>
              <a:latin typeface="Meiryo UI" panose="020B0604030504040204" pitchFamily="34" charset="-128"/>
              <a:ea typeface="Meiryo UI" panose="020B0604030504040204" pitchFamily="34" charset="-128"/>
            </a:endParaRPr>
          </a:p>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データセキュリティポリシー</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2" name="正方形/長方形 94">
            <a:extLst>
              <a:ext uri="{FF2B5EF4-FFF2-40B4-BE49-F238E27FC236}">
                <a16:creationId xmlns:a16="http://schemas.microsoft.com/office/drawing/2014/main" id="{7333960A-AEEA-9E40-9003-8401D85A2A78}"/>
              </a:ext>
            </a:extLst>
          </p:cNvPr>
          <p:cNvSpPr/>
          <p:nvPr/>
        </p:nvSpPr>
        <p:spPr bwMode="gray">
          <a:xfrm>
            <a:off x="1478549" y="2891791"/>
            <a:ext cx="1593298" cy="300938"/>
          </a:xfrm>
          <a:prstGeom prst="rect">
            <a:avLst/>
          </a:prstGeom>
          <a:solidFill>
            <a:schemeClr val="bg1"/>
          </a:solidFill>
          <a:ln w="9525" algn="ctr">
            <a:solidFill>
              <a:schemeClr val="bg1">
                <a:lumMod val="8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900" dirty="0">
                <a:solidFill>
                  <a:sysClr val="windowText" lastClr="000000"/>
                </a:solidFill>
                <a:latin typeface="Meiryo UI" panose="020B0604030504040204" pitchFamily="34" charset="-128"/>
                <a:ea typeface="Meiryo UI" panose="020B0604030504040204" pitchFamily="34" charset="-128"/>
              </a:rPr>
              <a:t>アプリケーション単位の</a:t>
            </a:r>
            <a:r>
              <a:rPr lang="en-US" altLang="ja-JP" sz="900" dirty="0">
                <a:solidFill>
                  <a:sysClr val="windowText" lastClr="000000"/>
                </a:solidFill>
                <a:latin typeface="Meiryo UI" panose="020B0604030504040204" pitchFamily="34" charset="-128"/>
                <a:ea typeface="Meiryo UI" panose="020B0604030504040204" pitchFamily="34" charset="-128"/>
              </a:rPr>
              <a:t>DB</a:t>
            </a:r>
            <a:r>
              <a:rPr lang="ja-JP" altLang="en-US" sz="900" dirty="0">
                <a:solidFill>
                  <a:sysClr val="windowText" lastClr="000000"/>
                </a:solidFill>
                <a:latin typeface="Meiryo UI" panose="020B0604030504040204" pitchFamily="34" charset="-128"/>
                <a:ea typeface="Meiryo UI" panose="020B0604030504040204" pitchFamily="34" charset="-128"/>
              </a:rPr>
              <a:t>環境と運用体制</a:t>
            </a:r>
            <a:endParaRPr lang="en-US" altLang="ja-JP" sz="900" dirty="0">
              <a:solidFill>
                <a:sysClr val="windowText" lastClr="000000"/>
              </a:solidFill>
              <a:latin typeface="Meiryo UI" panose="020B0604030504040204" pitchFamily="34" charset="-128"/>
              <a:ea typeface="Meiryo UI" panose="020B0604030504040204" pitchFamily="34" charset="-128"/>
            </a:endParaRPr>
          </a:p>
        </p:txBody>
      </p:sp>
      <p:sp>
        <p:nvSpPr>
          <p:cNvPr id="73" name="テキスト プレースホルダー 2">
            <a:extLst>
              <a:ext uri="{FF2B5EF4-FFF2-40B4-BE49-F238E27FC236}">
                <a16:creationId xmlns:a16="http://schemas.microsoft.com/office/drawing/2014/main" id="{CE3094CA-A35D-A54E-B9BB-7606BC36C72E}"/>
              </a:ext>
            </a:extLst>
          </p:cNvPr>
          <p:cNvSpPr>
            <a:spLocks noGrp="1"/>
          </p:cNvSpPr>
          <p:nvPr>
            <p:ph type="body" sz="quarter" idx="10"/>
          </p:nvPr>
        </p:nvSpPr>
        <p:spPr>
          <a:xfrm>
            <a:off x="236538" y="574775"/>
            <a:ext cx="9440862" cy="527315"/>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全社最適化フェーズにおいては、今後の自動化や継続的改善の土台となるガバナンスやアーキテクチャ、データ品質の成熟度</a:t>
            </a:r>
            <a:r>
              <a:rPr lang="en-US" altLang="ja-JP" b="1" dirty="0">
                <a:latin typeface="Meiryo UI" panose="020B0604030504040204" pitchFamily="34" charset="-128"/>
                <a:ea typeface="Meiryo UI" panose="020B0604030504040204" pitchFamily="34" charset="-128"/>
                <a:cs typeface="+mn-cs"/>
              </a:rPr>
              <a:t>4</a:t>
            </a:r>
            <a:r>
              <a:rPr lang="ja-JP" altLang="en-US" b="1" dirty="0">
                <a:latin typeface="Meiryo UI" panose="020B0604030504040204" pitchFamily="34" charset="-128"/>
                <a:ea typeface="Meiryo UI" panose="020B0604030504040204" pitchFamily="34" charset="-128"/>
                <a:cs typeface="+mn-cs"/>
              </a:rPr>
              <a:t>を目指しつつ、他の領域を確実に成熟度</a:t>
            </a:r>
            <a:r>
              <a:rPr lang="en-US" altLang="ja-JP" b="1" dirty="0">
                <a:latin typeface="Meiryo UI" panose="020B0604030504040204" pitchFamily="34" charset="-128"/>
                <a:ea typeface="Meiryo UI" panose="020B0604030504040204" pitchFamily="34" charset="-128"/>
                <a:cs typeface="+mn-cs"/>
              </a:rPr>
              <a:t>3</a:t>
            </a:r>
            <a:r>
              <a:rPr lang="ja-JP" altLang="en-US" b="1" dirty="0">
                <a:latin typeface="Meiryo UI" panose="020B0604030504040204" pitchFamily="34" charset="-128"/>
                <a:ea typeface="Meiryo UI" panose="020B0604030504040204" pitchFamily="34" charset="-128"/>
                <a:cs typeface="+mn-cs"/>
              </a:rPr>
              <a:t>まで引き上げる。</a:t>
            </a:r>
          </a:p>
        </p:txBody>
      </p:sp>
      <p:sp>
        <p:nvSpPr>
          <p:cNvPr id="74" name="ホームベース 31">
            <a:extLst>
              <a:ext uri="{FF2B5EF4-FFF2-40B4-BE49-F238E27FC236}">
                <a16:creationId xmlns:a16="http://schemas.microsoft.com/office/drawing/2014/main" id="{07F0FAE3-0BD0-C44D-80AB-8F1F45F003E3}"/>
              </a:ext>
            </a:extLst>
          </p:cNvPr>
          <p:cNvSpPr/>
          <p:nvPr/>
        </p:nvSpPr>
        <p:spPr bwMode="gray">
          <a:xfrm>
            <a:off x="236539"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ja-JP" altLang="en-US" sz="1000" dirty="0">
                <a:solidFill>
                  <a:schemeClr val="bg1"/>
                </a:solidFill>
                <a:latin typeface="Meiryo UI" panose="020B0604030504040204" pitchFamily="34" charset="-128"/>
                <a:ea typeface="Meiryo UI" panose="020B0604030504040204" pitchFamily="34" charset="-128"/>
              </a:rPr>
              <a:t>データマネジメントの初期導入</a:t>
            </a:r>
          </a:p>
        </p:txBody>
      </p:sp>
      <p:sp>
        <p:nvSpPr>
          <p:cNvPr id="75" name="ホームベース 31">
            <a:extLst>
              <a:ext uri="{FF2B5EF4-FFF2-40B4-BE49-F238E27FC236}">
                <a16:creationId xmlns:a16="http://schemas.microsoft.com/office/drawing/2014/main" id="{0B2A39D0-145E-5C4E-9470-8B6A2F228CC0}"/>
              </a:ext>
            </a:extLst>
          </p:cNvPr>
          <p:cNvSpPr/>
          <p:nvPr/>
        </p:nvSpPr>
        <p:spPr bwMode="gray">
          <a:xfrm>
            <a:off x="2624214"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a:t>
            </a:r>
            <a:r>
              <a:rPr lang="en-US" altLang="ja-JP" sz="1000" dirty="0">
                <a:solidFill>
                  <a:schemeClr val="bg1"/>
                </a:solidFill>
                <a:latin typeface="Meiryo UI" panose="020B0604030504040204" pitchFamily="34" charset="-128"/>
                <a:ea typeface="Meiryo UI" panose="020B0604030504040204" pitchFamily="34" charset="-128"/>
              </a:rPr>
              <a:t>BU</a:t>
            </a:r>
            <a:r>
              <a:rPr lang="ja-JP" altLang="en-US" sz="1000" dirty="0">
                <a:solidFill>
                  <a:schemeClr val="bg1"/>
                </a:solidFill>
                <a:latin typeface="Meiryo UI" panose="020B0604030504040204" pitchFamily="34" charset="-128"/>
                <a:ea typeface="Meiryo UI" panose="020B0604030504040204" pitchFamily="34" charset="-128"/>
              </a:rPr>
              <a:t>別最適化</a:t>
            </a:r>
          </a:p>
        </p:txBody>
      </p:sp>
      <p:sp>
        <p:nvSpPr>
          <p:cNvPr id="76" name="ホームベース 31">
            <a:extLst>
              <a:ext uri="{FF2B5EF4-FFF2-40B4-BE49-F238E27FC236}">
                <a16:creationId xmlns:a16="http://schemas.microsoft.com/office/drawing/2014/main" id="{6647ACAD-8908-E041-919B-009A5187A2A8}"/>
              </a:ext>
            </a:extLst>
          </p:cNvPr>
          <p:cNvSpPr/>
          <p:nvPr/>
        </p:nvSpPr>
        <p:spPr bwMode="gray">
          <a:xfrm>
            <a:off x="5011887" y="1199862"/>
            <a:ext cx="2269526" cy="254582"/>
          </a:xfrm>
          <a:prstGeom prst="homePlate">
            <a:avLst>
              <a:gd name="adj" fmla="val 10244"/>
            </a:avLst>
          </a:prstGeom>
          <a:solidFill>
            <a:srgbClr val="0070C0"/>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r>
              <a:rPr lang="en-US" altLang="ja-JP" sz="100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プロセスの全社最適化</a:t>
            </a:r>
          </a:p>
        </p:txBody>
      </p:sp>
      <p:sp>
        <p:nvSpPr>
          <p:cNvPr id="77" name="ホームベース 31">
            <a:extLst>
              <a:ext uri="{FF2B5EF4-FFF2-40B4-BE49-F238E27FC236}">
                <a16:creationId xmlns:a16="http://schemas.microsoft.com/office/drawing/2014/main" id="{58A41A7D-7B3C-1F49-9485-86190ACFCC53}"/>
              </a:ext>
            </a:extLst>
          </p:cNvPr>
          <p:cNvSpPr/>
          <p:nvPr/>
        </p:nvSpPr>
        <p:spPr bwMode="gray">
          <a:xfrm>
            <a:off x="7399560" y="1199862"/>
            <a:ext cx="2269526" cy="254582"/>
          </a:xfrm>
          <a:prstGeom prst="homePlate">
            <a:avLst>
              <a:gd name="adj" fmla="val 10244"/>
            </a:avLst>
          </a:prstGeom>
          <a:solidFill>
            <a:schemeClr val="accent1">
              <a:lumMod val="20000"/>
              <a:lumOff val="80000"/>
            </a:schemeClr>
          </a:solidFill>
          <a:ln w="9525" algn="ctr">
            <a:solidFill>
              <a:srgbClr val="002060"/>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000" dirty="0">
                <a:solidFill>
                  <a:schemeClr val="bg1"/>
                </a:solidFill>
                <a:latin typeface="Meiryo UI" panose="020B0604030504040204" pitchFamily="34" charset="-128"/>
                <a:ea typeface="Meiryo UI" panose="020B0604030504040204" pitchFamily="34" charset="-128"/>
              </a:rPr>
              <a:t>DM</a:t>
            </a:r>
            <a:r>
              <a:rPr lang="ja-JP" altLang="en-US" sz="1000" dirty="0">
                <a:solidFill>
                  <a:schemeClr val="bg1"/>
                </a:solidFill>
                <a:latin typeface="Meiryo UI" panose="020B0604030504040204" pitchFamily="34" charset="-128"/>
                <a:ea typeface="Meiryo UI" panose="020B0604030504040204" pitchFamily="34" charset="-128"/>
              </a:rPr>
              <a:t>プロセスの自動化・継続的改善の定着</a:t>
            </a:r>
          </a:p>
        </p:txBody>
      </p:sp>
    </p:spTree>
    <p:extLst>
      <p:ext uri="{BB962C8B-B14F-4D97-AF65-F5344CB8AC3E}">
        <p14:creationId xmlns:p14="http://schemas.microsoft.com/office/powerpoint/2010/main" val="327471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7287807" cy="349961"/>
          </a:xfrm>
        </p:spPr>
        <p:txBody>
          <a:bodyPr/>
          <a:lstStyle/>
          <a:p>
            <a:r>
              <a:rPr lang="ja-JP" altLang="en-US" b="1"/>
              <a:t>データマネジメント</a:t>
            </a:r>
            <a:r>
              <a:rPr kumimoji="1" lang="ja-JP" altLang="en-US" b="1"/>
              <a:t>強化</a:t>
            </a:r>
            <a:r>
              <a:rPr kumimoji="1" lang="ja-JP" altLang="en-US" b="1" dirty="0"/>
              <a:t>の実施ロードマップ（案）</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4775"/>
            <a:ext cx="9440862"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これまで検討されてこなかったデータマネジメントという新たな概念やマインドセットの基礎を今年度中にまずは刷新プロジェクト内でしっかり根付かせたうえで、徐々に階層を広げながら全社の</a:t>
            </a:r>
            <a:r>
              <a:rPr lang="en-US" altLang="ja-JP" b="1" dirty="0">
                <a:latin typeface="Meiryo UI" panose="020B0604030504040204" pitchFamily="34" charset="-128"/>
                <a:ea typeface="Meiryo UI" panose="020B0604030504040204" pitchFamily="34" charset="-128"/>
                <a:cs typeface="+mn-cs"/>
              </a:rPr>
              <a:t>DM</a:t>
            </a:r>
            <a:r>
              <a:rPr lang="ja-JP" altLang="en-US" b="1" dirty="0">
                <a:latin typeface="Meiryo UI" panose="020B0604030504040204" pitchFamily="34" charset="-128"/>
                <a:ea typeface="Meiryo UI" panose="020B0604030504040204" pitchFamily="34" charset="-128"/>
                <a:cs typeface="+mn-cs"/>
              </a:rPr>
              <a:t>成熟度の向上を推進する。</a:t>
            </a:r>
          </a:p>
        </p:txBody>
      </p:sp>
      <p:sp>
        <p:nvSpPr>
          <p:cNvPr id="8" name="図形 9">
            <a:extLst>
              <a:ext uri="{FF2B5EF4-FFF2-40B4-BE49-F238E27FC236}">
                <a16:creationId xmlns:a16="http://schemas.microsoft.com/office/drawing/2014/main" id="{1C00369C-9C81-4AB0-B2D4-F393A3678639}"/>
              </a:ext>
            </a:extLst>
          </p:cNvPr>
          <p:cNvSpPr/>
          <p:nvPr/>
        </p:nvSpPr>
        <p:spPr>
          <a:xfrm>
            <a:off x="227829" y="1723164"/>
            <a:ext cx="8885323" cy="4481683"/>
          </a:xfrm>
          <a:prstGeom prst="swooshArrow">
            <a:avLst>
              <a:gd name="adj1" fmla="val 25000"/>
              <a:gd name="adj2" fmla="val 25000"/>
            </a:avLst>
          </a:prstGeom>
          <a:gradFill rotWithShape="1">
            <a:gsLst>
              <a:gs pos="0">
                <a:srgbClr val="96C0E6">
                  <a:shade val="51000"/>
                  <a:satMod val="130000"/>
                </a:srgbClr>
              </a:gs>
              <a:gs pos="80000">
                <a:srgbClr val="96C0E6">
                  <a:shade val="93000"/>
                  <a:satMod val="130000"/>
                </a:srgbClr>
              </a:gs>
              <a:gs pos="100000">
                <a:srgbClr val="96C0E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L 字 13">
            <a:extLst>
              <a:ext uri="{FF2B5EF4-FFF2-40B4-BE49-F238E27FC236}">
                <a16:creationId xmlns:a16="http://schemas.microsoft.com/office/drawing/2014/main" id="{2687889C-E699-4955-B955-2F38B6EEE5EF}"/>
              </a:ext>
            </a:extLst>
          </p:cNvPr>
          <p:cNvSpPr/>
          <p:nvPr/>
        </p:nvSpPr>
        <p:spPr>
          <a:xfrm rot="5400000">
            <a:off x="600863" y="3479196"/>
            <a:ext cx="1440000" cy="2256408"/>
          </a:xfrm>
          <a:prstGeom prst="corner">
            <a:avLst>
              <a:gd name="adj1" fmla="val 16120"/>
              <a:gd name="adj2" fmla="val 27197"/>
            </a:avLst>
          </a:prstGeom>
          <a:gradFill rotWithShape="1">
            <a:gsLst>
              <a:gs pos="0">
                <a:srgbClr val="C00000"/>
              </a:gs>
              <a:gs pos="80000">
                <a:srgbClr val="C00000"/>
              </a:gs>
              <a:gs pos="100000">
                <a:srgbClr val="C00000"/>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auto">
              <a:spcBef>
                <a:spcPts val="0"/>
              </a:spcBef>
              <a:spcAft>
                <a:spcPts val="0"/>
              </a:spcAft>
            </a:pPr>
            <a:endParaRPr kumimoji="0" lang="ja-JP" altLang="en-US" kern="0">
              <a:solidFill>
                <a:srgbClr val="FFFFFF"/>
              </a:solidFill>
              <a:latin typeface="Meiryo UI" panose="020B0604030504040204" pitchFamily="34" charset="-128"/>
              <a:ea typeface="Meiryo UI"/>
            </a:endParaRPr>
          </a:p>
        </p:txBody>
      </p:sp>
      <p:sp>
        <p:nvSpPr>
          <p:cNvPr id="10" name="フリーフォーム 26">
            <a:extLst>
              <a:ext uri="{FF2B5EF4-FFF2-40B4-BE49-F238E27FC236}">
                <a16:creationId xmlns:a16="http://schemas.microsoft.com/office/drawing/2014/main" id="{1C6034DA-07D7-4CE4-BEF5-2B191C65F764}"/>
              </a:ext>
            </a:extLst>
          </p:cNvPr>
          <p:cNvSpPr/>
          <p:nvPr/>
        </p:nvSpPr>
        <p:spPr>
          <a:xfrm>
            <a:off x="361235" y="4297647"/>
            <a:ext cx="2300642" cy="1027616"/>
          </a:xfrm>
          <a:custGeom>
            <a:avLst/>
            <a:gdLst>
              <a:gd name="connsiteX0" fmla="*/ 0 w 3063303"/>
              <a:gd name="connsiteY0" fmla="*/ 0 h 2343444"/>
              <a:gd name="connsiteX1" fmla="*/ 3063303 w 3063303"/>
              <a:gd name="connsiteY1" fmla="*/ 0 h 2343444"/>
              <a:gd name="connsiteX2" fmla="*/ 3063303 w 3063303"/>
              <a:gd name="connsiteY2" fmla="*/ 2343444 h 2343444"/>
              <a:gd name="connsiteX3" fmla="*/ 0 w 3063303"/>
              <a:gd name="connsiteY3" fmla="*/ 2343444 h 2343444"/>
              <a:gd name="connsiteX4" fmla="*/ 0 w 3063303"/>
              <a:gd name="connsiteY4" fmla="*/ 0 h 2343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3303" h="2343444">
                <a:moveTo>
                  <a:pt x="0" y="0"/>
                </a:moveTo>
                <a:lnTo>
                  <a:pt x="3063303" y="0"/>
                </a:lnTo>
                <a:lnTo>
                  <a:pt x="3063303" y="2343444"/>
                </a:lnTo>
                <a:lnTo>
                  <a:pt x="0" y="2343444"/>
                </a:lnTo>
                <a:lnTo>
                  <a:pt x="0" y="0"/>
                </a:lnTo>
                <a:close/>
              </a:path>
            </a:pathLst>
          </a:custGeom>
          <a:noFill/>
          <a:ln>
            <a:noFill/>
          </a:ln>
          <a:effectLst/>
        </p:spPr>
        <p:txBody>
          <a:bodyPr spcFirstLastPara="0" vert="horz" wrap="square" lIns="68580" tIns="68580" rIns="68580" bIns="68580" numCol="1" spcCol="1270" anchor="t" anchorCtr="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R="0" lvl="0" algn="l" defTabSz="800100" rtl="0" eaLnBrk="1" fontAlgn="auto" latinLnBrk="0" hangingPunct="1">
              <a:lnSpc>
                <a:spcPct val="90000"/>
              </a:lnSpc>
              <a:spcBef>
                <a:spcPct val="0"/>
              </a:spcBef>
              <a:spcAft>
                <a:spcPct val="35000"/>
              </a:spcAft>
              <a:buClrTx/>
              <a:buSzTx/>
              <a:tabLst/>
              <a:defRPr/>
            </a:pPr>
            <a:r>
              <a:rPr kumimoji="0" lang="ja-JP" altLang="en-US" sz="1400" b="1"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DM</a:t>
            </a:r>
            <a:r>
              <a:rPr kumimoji="0" lang="ja-JP" altLang="en-US"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ブループリントの策定</a:t>
            </a: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今後の活動の</a:t>
            </a:r>
            <a: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BP</a:t>
            </a: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を策定</a:t>
            </a:r>
            <a:endPar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BP</a:t>
            </a: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と整合性を取りながらメタ</a:t>
            </a:r>
            <a:b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・メタデータの整備に着手</a:t>
            </a:r>
            <a:endPar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二等辺三角形 15">
            <a:extLst>
              <a:ext uri="{FF2B5EF4-FFF2-40B4-BE49-F238E27FC236}">
                <a16:creationId xmlns:a16="http://schemas.microsoft.com/office/drawing/2014/main" id="{CE32A8A4-FB71-43B2-9B61-8AC9DC5B0C80}"/>
              </a:ext>
            </a:extLst>
          </p:cNvPr>
          <p:cNvSpPr/>
          <p:nvPr/>
        </p:nvSpPr>
        <p:spPr>
          <a:xfrm>
            <a:off x="2044287" y="3438651"/>
            <a:ext cx="406600" cy="390671"/>
          </a:xfrm>
          <a:prstGeom prst="triangle">
            <a:avLst>
              <a:gd name="adj" fmla="val 100000"/>
            </a:avLst>
          </a:prstGeom>
          <a:gradFill rotWithShape="1">
            <a:gsLst>
              <a:gs pos="0">
                <a:srgbClr val="C00000"/>
              </a:gs>
              <a:gs pos="80000">
                <a:srgbClr val="C00000"/>
              </a:gs>
              <a:gs pos="100000">
                <a:srgbClr val="C00000"/>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auto">
              <a:spcBef>
                <a:spcPts val="0"/>
              </a:spcBef>
              <a:spcAft>
                <a:spcPts val="0"/>
              </a:spcAft>
            </a:pPr>
            <a:endParaRPr kumimoji="0" lang="ja-JP" altLang="en-US" kern="0">
              <a:solidFill>
                <a:srgbClr val="FFFFFF"/>
              </a:solidFill>
              <a:latin typeface="Meiryo UI" panose="020B0604030504040204" pitchFamily="34" charset="-128"/>
              <a:ea typeface="Meiryo UI"/>
            </a:endParaRPr>
          </a:p>
        </p:txBody>
      </p:sp>
      <p:sp>
        <p:nvSpPr>
          <p:cNvPr id="12" name="L 字 16">
            <a:extLst>
              <a:ext uri="{FF2B5EF4-FFF2-40B4-BE49-F238E27FC236}">
                <a16:creationId xmlns:a16="http://schemas.microsoft.com/office/drawing/2014/main" id="{ECA57857-6EEC-4CBE-87BD-7004894FE26F}"/>
              </a:ext>
            </a:extLst>
          </p:cNvPr>
          <p:cNvSpPr/>
          <p:nvPr/>
        </p:nvSpPr>
        <p:spPr>
          <a:xfrm rot="5400000">
            <a:off x="2956850" y="3008329"/>
            <a:ext cx="1440000" cy="2300643"/>
          </a:xfrm>
          <a:prstGeom prst="corner">
            <a:avLst>
              <a:gd name="adj1" fmla="val 16120"/>
              <a:gd name="adj2" fmla="val 26641"/>
            </a:avLst>
          </a:prstGeom>
          <a:gradFill rotWithShape="1">
            <a:gsLst>
              <a:gs pos="0">
                <a:srgbClr val="004785">
                  <a:shade val="51000"/>
                  <a:satMod val="130000"/>
                </a:srgbClr>
              </a:gs>
              <a:gs pos="80000">
                <a:srgbClr val="004785">
                  <a:shade val="93000"/>
                  <a:satMod val="130000"/>
                </a:srgbClr>
              </a:gs>
              <a:gs pos="100000">
                <a:srgbClr val="004785">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u="none" strike="noStrike" kern="0" cap="none" spc="0" normalizeH="0" baseline="0" noProof="0">
              <a:ln>
                <a:noFill/>
              </a:ln>
              <a:solidFill>
                <a:srgbClr val="FFFFFF"/>
              </a:solidFill>
              <a:effectLst/>
              <a:uLnTx/>
              <a:uFillTx/>
              <a:latin typeface="Meiryo UI" panose="020B0604030504040204" pitchFamily="34" charset="-128"/>
              <a:ea typeface="Meiryo UI"/>
              <a:cs typeface="+mn-cs"/>
            </a:endParaRPr>
          </a:p>
        </p:txBody>
      </p:sp>
      <p:sp>
        <p:nvSpPr>
          <p:cNvPr id="13" name="フリーフォーム 29">
            <a:extLst>
              <a:ext uri="{FF2B5EF4-FFF2-40B4-BE49-F238E27FC236}">
                <a16:creationId xmlns:a16="http://schemas.microsoft.com/office/drawing/2014/main" id="{61952F59-12EB-4320-BEDE-041D7E17E1AA}"/>
              </a:ext>
            </a:extLst>
          </p:cNvPr>
          <p:cNvSpPr/>
          <p:nvPr/>
        </p:nvSpPr>
        <p:spPr>
          <a:xfrm>
            <a:off x="2710525" y="3821097"/>
            <a:ext cx="2458211" cy="1761047"/>
          </a:xfrm>
          <a:custGeom>
            <a:avLst/>
            <a:gdLst>
              <a:gd name="connsiteX0" fmla="*/ 0 w 3604171"/>
              <a:gd name="connsiteY0" fmla="*/ 0 h 2343444"/>
              <a:gd name="connsiteX1" fmla="*/ 3604171 w 3604171"/>
              <a:gd name="connsiteY1" fmla="*/ 0 h 2343444"/>
              <a:gd name="connsiteX2" fmla="*/ 3604171 w 3604171"/>
              <a:gd name="connsiteY2" fmla="*/ 2343444 h 2343444"/>
              <a:gd name="connsiteX3" fmla="*/ 0 w 3604171"/>
              <a:gd name="connsiteY3" fmla="*/ 2343444 h 2343444"/>
              <a:gd name="connsiteX4" fmla="*/ 0 w 3604171"/>
              <a:gd name="connsiteY4" fmla="*/ 0 h 2343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4171" h="2343444">
                <a:moveTo>
                  <a:pt x="0" y="0"/>
                </a:moveTo>
                <a:lnTo>
                  <a:pt x="3604171" y="0"/>
                </a:lnTo>
                <a:lnTo>
                  <a:pt x="3604171" y="2343444"/>
                </a:lnTo>
                <a:lnTo>
                  <a:pt x="0" y="2343444"/>
                </a:lnTo>
                <a:lnTo>
                  <a:pt x="0" y="0"/>
                </a:lnTo>
                <a:close/>
              </a:path>
            </a:pathLst>
          </a:custGeom>
          <a:noFill/>
          <a:ln>
            <a:noFill/>
          </a:ln>
          <a:effectLst/>
        </p:spPr>
        <p:txBody>
          <a:bodyPr spcFirstLastPara="0" vert="horz" wrap="square" lIns="68580" tIns="68580" rIns="68580" bIns="68580" numCol="1" spcCol="1270" anchor="t" anchorCtr="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R="0" lvl="0" algn="l" defTabSz="800100" rtl="0" eaLnBrk="1" fontAlgn="auto" latinLnBrk="0" hangingPunct="1">
              <a:lnSpc>
                <a:spcPct val="90000"/>
              </a:lnSpc>
              <a:spcBef>
                <a:spcPct val="0"/>
              </a:spcBef>
              <a:spcAft>
                <a:spcPct val="35000"/>
              </a:spcAft>
              <a:buClrTx/>
              <a:buSzTx/>
              <a:tabLst/>
              <a:defRPr/>
            </a:pPr>
            <a:r>
              <a:rPr kumimoji="0" lang="ja-JP" altLang="en-US"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●拠点から</a:t>
            </a:r>
            <a:r>
              <a:rPr kumimoji="0" lang="en-US" altLang="ja-JP"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BU</a:t>
            </a:r>
            <a:r>
              <a:rPr kumimoji="0" lang="ja-JP" altLang="en-US"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へ</a:t>
            </a:r>
            <a:endParaRPr kumimoji="0" lang="en-US" altLang="ja-JP"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各</a:t>
            </a:r>
            <a: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BU</a:t>
            </a: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の新体制に沿った</a:t>
            </a:r>
            <a:b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BU</a:t>
            </a: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単位</a:t>
            </a:r>
            <a: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DM</a:t>
            </a: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プロセスの設計</a:t>
            </a:r>
            <a:endPar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次フェーズでの全社最適化に</a:t>
            </a:r>
            <a:b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向けた課題の整理・対策検討</a:t>
            </a:r>
            <a:endPar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BU</a:t>
            </a: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単位のデータセキュリティ・</a:t>
            </a:r>
            <a: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DWH</a:t>
            </a: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BI</a:t>
            </a: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の検討</a:t>
            </a:r>
            <a:endPar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二等辺三角形 18">
            <a:extLst>
              <a:ext uri="{FF2B5EF4-FFF2-40B4-BE49-F238E27FC236}">
                <a16:creationId xmlns:a16="http://schemas.microsoft.com/office/drawing/2014/main" id="{A350B0D6-4180-4A0C-8A08-F0DDC5FE7E01}"/>
              </a:ext>
            </a:extLst>
          </p:cNvPr>
          <p:cNvSpPr/>
          <p:nvPr/>
        </p:nvSpPr>
        <p:spPr>
          <a:xfrm>
            <a:off x="4413365" y="3015230"/>
            <a:ext cx="406600" cy="390671"/>
          </a:xfrm>
          <a:prstGeom prst="triangle">
            <a:avLst>
              <a:gd name="adj" fmla="val 100000"/>
            </a:avLst>
          </a:prstGeom>
          <a:gradFill rotWithShape="1">
            <a:gsLst>
              <a:gs pos="0">
                <a:srgbClr val="004785">
                  <a:shade val="51000"/>
                  <a:satMod val="130000"/>
                </a:srgbClr>
              </a:gs>
              <a:gs pos="80000">
                <a:srgbClr val="004785">
                  <a:shade val="93000"/>
                  <a:satMod val="130000"/>
                </a:srgbClr>
              </a:gs>
              <a:gs pos="100000">
                <a:srgbClr val="004785">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u="none" strike="noStrike" kern="0" cap="none" spc="0" normalizeH="0" baseline="0" noProof="0">
              <a:ln>
                <a:noFill/>
              </a:ln>
              <a:solidFill>
                <a:srgbClr val="FFFFFF"/>
              </a:solidFill>
              <a:effectLst/>
              <a:uLnTx/>
              <a:uFillTx/>
              <a:latin typeface="Meiryo UI" panose="020B0604030504040204" pitchFamily="34" charset="-128"/>
              <a:ea typeface="Meiryo UI"/>
              <a:cs typeface="+mn-cs"/>
            </a:endParaRPr>
          </a:p>
        </p:txBody>
      </p:sp>
      <p:sp>
        <p:nvSpPr>
          <p:cNvPr id="15" name="L 字 19">
            <a:extLst>
              <a:ext uri="{FF2B5EF4-FFF2-40B4-BE49-F238E27FC236}">
                <a16:creationId xmlns:a16="http://schemas.microsoft.com/office/drawing/2014/main" id="{3F0F8E05-9DE4-450D-8361-01F2DA56865B}"/>
              </a:ext>
            </a:extLst>
          </p:cNvPr>
          <p:cNvSpPr/>
          <p:nvPr/>
        </p:nvSpPr>
        <p:spPr>
          <a:xfrm rot="5400000">
            <a:off x="5334954" y="2590363"/>
            <a:ext cx="1440000" cy="2300644"/>
          </a:xfrm>
          <a:prstGeom prst="corner">
            <a:avLst>
              <a:gd name="adj1" fmla="val 16120"/>
              <a:gd name="adj2" fmla="val 27919"/>
            </a:avLst>
          </a:prstGeom>
          <a:gradFill rotWithShape="1">
            <a:gsLst>
              <a:gs pos="0">
                <a:srgbClr val="004785">
                  <a:shade val="51000"/>
                  <a:satMod val="130000"/>
                </a:srgbClr>
              </a:gs>
              <a:gs pos="80000">
                <a:srgbClr val="004785">
                  <a:shade val="93000"/>
                  <a:satMod val="130000"/>
                </a:srgbClr>
              </a:gs>
              <a:gs pos="100000">
                <a:srgbClr val="004785">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u="none" strike="noStrike" kern="0" cap="none" spc="0" normalizeH="0" baseline="0" noProof="0" dirty="0">
              <a:ln>
                <a:noFill/>
              </a:ln>
              <a:solidFill>
                <a:srgbClr val="FFFFFF"/>
              </a:solidFill>
              <a:effectLst/>
              <a:uLnTx/>
              <a:uFillTx/>
              <a:latin typeface="Meiryo UI" panose="020B0604030504040204" pitchFamily="34" charset="-128"/>
              <a:ea typeface="Meiryo UI"/>
              <a:cs typeface="+mn-cs"/>
            </a:endParaRPr>
          </a:p>
        </p:txBody>
      </p:sp>
      <p:sp>
        <p:nvSpPr>
          <p:cNvPr id="16" name="タイトル 2">
            <a:extLst>
              <a:ext uri="{FF2B5EF4-FFF2-40B4-BE49-F238E27FC236}">
                <a16:creationId xmlns:a16="http://schemas.microsoft.com/office/drawing/2014/main" id="{D97F8D35-E26D-45E9-8E12-A1D4362CF67E}"/>
              </a:ext>
            </a:extLst>
          </p:cNvPr>
          <p:cNvSpPr txBox="1">
            <a:spLocks/>
          </p:cNvSpPr>
          <p:nvPr/>
        </p:nvSpPr>
        <p:spPr>
          <a:xfrm>
            <a:off x="340802" y="3326658"/>
            <a:ext cx="2139575" cy="540000"/>
          </a:xfrm>
          <a:prstGeom prst="rect">
            <a:avLst/>
          </a:prstGeom>
        </p:spPr>
        <p:txBody>
          <a:bodyPr vert="horz" lIns="0" tIns="0" rIns="0" bIns="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データマネジメントの</a:t>
            </a:r>
            <a:endPar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初期導入</a:t>
            </a:r>
          </a:p>
        </p:txBody>
      </p:sp>
      <p:sp>
        <p:nvSpPr>
          <p:cNvPr id="17" name="テキスト ボックス 2">
            <a:extLst>
              <a:ext uri="{FF2B5EF4-FFF2-40B4-BE49-F238E27FC236}">
                <a16:creationId xmlns:a16="http://schemas.microsoft.com/office/drawing/2014/main" id="{8FCB8736-29CD-4EFF-8BE4-926F14CAF8B0}"/>
              </a:ext>
            </a:extLst>
          </p:cNvPr>
          <p:cNvSpPr txBox="1"/>
          <p:nvPr/>
        </p:nvSpPr>
        <p:spPr>
          <a:xfrm>
            <a:off x="274958" y="3936050"/>
            <a:ext cx="2174109" cy="246221"/>
          </a:xfrm>
          <a:prstGeom prst="rect">
            <a:avLst/>
          </a:prstGeom>
          <a:noFill/>
        </p:spPr>
        <p:txBody>
          <a:bodyPr wrap="square" lIns="0" tIns="0" rIns="0" bIns="0"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ts val="600"/>
              </a:spcBef>
              <a:spcAft>
                <a:spcPct val="0"/>
              </a:spcAft>
              <a:buClr>
                <a:srgbClr val="F0AB00"/>
              </a:buClr>
              <a:buSzPct val="80000"/>
            </a:pPr>
            <a:r>
              <a:rPr lang="ja-JP" altLang="en-US" sz="1600" b="1" u="sng" kern="0">
                <a:solidFill>
                  <a:srgbClr val="FFFFFF"/>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600" b="1" u="sng" kern="0">
                <a:solidFill>
                  <a:srgbClr val="FFFFFF"/>
                </a:solidFill>
                <a:latin typeface="Meiryo UI" panose="020B0604030504040204" pitchFamily="50" charset="-128"/>
                <a:ea typeface="Meiryo UI" panose="020B0604030504040204" pitchFamily="50" charset="-128"/>
                <a:cs typeface="Meiryo UI" panose="020B0604030504040204" pitchFamily="50" charset="-128"/>
              </a:rPr>
              <a:t>2022</a:t>
            </a:r>
            <a:r>
              <a:rPr lang="ja-JP" altLang="en-US" sz="1600" b="1" u="sng" kern="0">
                <a:solidFill>
                  <a:srgbClr val="FFFFFF"/>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1600" b="1" u="sng" kern="0">
                <a:solidFill>
                  <a:srgbClr val="FFFFFF"/>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1600" b="1" u="sng" kern="0">
                <a:solidFill>
                  <a:srgbClr val="FFFFFF"/>
                </a:solidFill>
                <a:latin typeface="Meiryo UI" panose="020B0604030504040204" pitchFamily="50" charset="-128"/>
                <a:ea typeface="Meiryo UI" panose="020B0604030504040204" pitchFamily="50" charset="-128"/>
                <a:cs typeface="Meiryo UI" panose="020B0604030504040204" pitchFamily="50" charset="-128"/>
              </a:rPr>
              <a:t>月</a:t>
            </a:r>
            <a:endParaRPr lang="ja-JP" altLang="en-US"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タイトル 2">
            <a:extLst>
              <a:ext uri="{FF2B5EF4-FFF2-40B4-BE49-F238E27FC236}">
                <a16:creationId xmlns:a16="http://schemas.microsoft.com/office/drawing/2014/main" id="{D31ADA17-E92C-4D7D-8922-1D3365F81D01}"/>
              </a:ext>
            </a:extLst>
          </p:cNvPr>
          <p:cNvSpPr txBox="1">
            <a:spLocks/>
          </p:cNvSpPr>
          <p:nvPr/>
        </p:nvSpPr>
        <p:spPr>
          <a:xfrm>
            <a:off x="2717467" y="2849169"/>
            <a:ext cx="2109705" cy="540000"/>
          </a:xfrm>
          <a:prstGeom prst="rect">
            <a:avLst/>
          </a:prstGeom>
        </p:spPr>
        <p:txBody>
          <a:bodyPr vert="horz" lIns="0" tIns="0" rIns="0" bIns="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DM</a:t>
            </a:r>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プロセスの</a:t>
            </a:r>
            <a:endPar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BU</a:t>
            </a:r>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別最適化</a:t>
            </a:r>
          </a:p>
        </p:txBody>
      </p:sp>
      <p:sp>
        <p:nvSpPr>
          <p:cNvPr id="19" name="テキスト ボックス 2">
            <a:extLst>
              <a:ext uri="{FF2B5EF4-FFF2-40B4-BE49-F238E27FC236}">
                <a16:creationId xmlns:a16="http://schemas.microsoft.com/office/drawing/2014/main" id="{9EAEBFE1-7558-4EFB-B77E-550317CAC765}"/>
              </a:ext>
            </a:extLst>
          </p:cNvPr>
          <p:cNvSpPr txBox="1"/>
          <p:nvPr/>
        </p:nvSpPr>
        <p:spPr>
          <a:xfrm>
            <a:off x="2653062" y="3495817"/>
            <a:ext cx="2126014" cy="246221"/>
          </a:xfrm>
          <a:prstGeom prst="rect">
            <a:avLst/>
          </a:prstGeom>
          <a:noFill/>
        </p:spPr>
        <p:txBody>
          <a:bodyPr wrap="square" lIns="0" tIns="0" rIns="0" bIns="0"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ts val="600"/>
              </a:spcBef>
              <a:spcAft>
                <a:spcPct val="0"/>
              </a:spcAft>
              <a:buClr>
                <a:srgbClr val="F0AB00"/>
              </a:buClr>
              <a:buSzPct val="80000"/>
            </a:pPr>
            <a:r>
              <a:rPr lang="en-US" altLang="ja-JP"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2022</a:t>
            </a:r>
            <a:r>
              <a:rPr lang="ja-JP" altLang="en-US"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4</a:t>
            </a:r>
            <a:r>
              <a:rPr lang="ja-JP" altLang="en-US"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月～</a:t>
            </a:r>
          </a:p>
        </p:txBody>
      </p:sp>
      <p:sp>
        <p:nvSpPr>
          <p:cNvPr id="20" name="タイトル 2">
            <a:extLst>
              <a:ext uri="{FF2B5EF4-FFF2-40B4-BE49-F238E27FC236}">
                <a16:creationId xmlns:a16="http://schemas.microsoft.com/office/drawing/2014/main" id="{C95AA20E-5CFB-43F6-9A21-C4C362EBA293}"/>
              </a:ext>
            </a:extLst>
          </p:cNvPr>
          <p:cNvSpPr txBox="1">
            <a:spLocks/>
          </p:cNvSpPr>
          <p:nvPr/>
        </p:nvSpPr>
        <p:spPr>
          <a:xfrm>
            <a:off x="5080093" y="2471766"/>
            <a:ext cx="2075039" cy="531612"/>
          </a:xfrm>
          <a:prstGeom prst="rect">
            <a:avLst/>
          </a:prstGeom>
        </p:spPr>
        <p:txBody>
          <a:bodyPr vert="horz" lIns="0" tIns="0" rIns="0" bIns="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DM</a:t>
            </a:r>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プロセスの</a:t>
            </a:r>
            <a:endPar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全社最適化</a:t>
            </a:r>
            <a:endPar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テキスト ボックス 2">
            <a:extLst>
              <a:ext uri="{FF2B5EF4-FFF2-40B4-BE49-F238E27FC236}">
                <a16:creationId xmlns:a16="http://schemas.microsoft.com/office/drawing/2014/main" id="{F330A46A-D507-42FF-AA8E-7E4C44375FF1}"/>
              </a:ext>
            </a:extLst>
          </p:cNvPr>
          <p:cNvSpPr txBox="1"/>
          <p:nvPr/>
        </p:nvSpPr>
        <p:spPr>
          <a:xfrm>
            <a:off x="4990408" y="3074565"/>
            <a:ext cx="1125851" cy="246221"/>
          </a:xfrm>
          <a:prstGeom prst="rect">
            <a:avLst/>
          </a:prstGeom>
          <a:noFill/>
        </p:spPr>
        <p:txBody>
          <a:bodyPr wrap="square" lIns="0" tIns="0" rIns="0" bIns="0"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ts val="600"/>
              </a:spcBef>
              <a:spcAft>
                <a:spcPct val="0"/>
              </a:spcAft>
              <a:buClr>
                <a:srgbClr val="F0AB00"/>
              </a:buClr>
              <a:buSzPct val="80000"/>
            </a:pPr>
            <a:r>
              <a:rPr lang="en-US" altLang="ja-JP"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24</a:t>
            </a:r>
            <a:r>
              <a:rPr lang="ja-JP" altLang="en-US"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事計～</a:t>
            </a:r>
          </a:p>
        </p:txBody>
      </p:sp>
      <p:sp>
        <p:nvSpPr>
          <p:cNvPr id="22" name="タイトル 2">
            <a:extLst>
              <a:ext uri="{FF2B5EF4-FFF2-40B4-BE49-F238E27FC236}">
                <a16:creationId xmlns:a16="http://schemas.microsoft.com/office/drawing/2014/main" id="{ADBA578E-67CD-4F20-83E3-4CC7019254EB}"/>
              </a:ext>
            </a:extLst>
          </p:cNvPr>
          <p:cNvSpPr txBox="1">
            <a:spLocks/>
          </p:cNvSpPr>
          <p:nvPr/>
        </p:nvSpPr>
        <p:spPr>
          <a:xfrm>
            <a:off x="7534803" y="1954037"/>
            <a:ext cx="2191522" cy="618591"/>
          </a:xfrm>
          <a:prstGeom prst="rect">
            <a:avLst/>
          </a:prstGeom>
        </p:spPr>
        <p:txBody>
          <a:bodyPr vert="horz" lIns="0" tIns="0" rIns="0" bIns="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DM</a:t>
            </a:r>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プロセスの自動化・</a:t>
            </a:r>
            <a:endParaRPr lang="en-US" altLang="ja-JP"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600" b="1" dirty="0">
                <a:solidFill>
                  <a:srgbClr val="E5E5E5">
                    <a:lumMod val="25000"/>
                  </a:srgbClr>
                </a:solidFill>
                <a:latin typeface="Meiryo UI" panose="020B0604030504040204" pitchFamily="50" charset="-128"/>
                <a:ea typeface="Meiryo UI" panose="020B0604030504040204" pitchFamily="50" charset="-128"/>
                <a:cs typeface="Meiryo UI" panose="020B0604030504040204" pitchFamily="50" charset="-128"/>
              </a:rPr>
              <a:t>継続的改善の定着</a:t>
            </a:r>
          </a:p>
        </p:txBody>
      </p:sp>
      <p:sp>
        <p:nvSpPr>
          <p:cNvPr id="23" name="L 字 33">
            <a:extLst>
              <a:ext uri="{FF2B5EF4-FFF2-40B4-BE49-F238E27FC236}">
                <a16:creationId xmlns:a16="http://schemas.microsoft.com/office/drawing/2014/main" id="{32DB85D7-908E-44D8-842A-A4D0A97A485C}"/>
              </a:ext>
            </a:extLst>
          </p:cNvPr>
          <p:cNvSpPr/>
          <p:nvPr/>
        </p:nvSpPr>
        <p:spPr>
          <a:xfrm rot="5400000">
            <a:off x="7681750" y="2142306"/>
            <a:ext cx="1440000" cy="2300645"/>
          </a:xfrm>
          <a:prstGeom prst="corner">
            <a:avLst>
              <a:gd name="adj1" fmla="val 16120"/>
              <a:gd name="adj2" fmla="val 27919"/>
            </a:avLst>
          </a:prstGeom>
          <a:gradFill rotWithShape="1">
            <a:gsLst>
              <a:gs pos="0">
                <a:srgbClr val="004785">
                  <a:shade val="51000"/>
                  <a:satMod val="130000"/>
                </a:srgbClr>
              </a:gs>
              <a:gs pos="80000">
                <a:srgbClr val="004785">
                  <a:shade val="93000"/>
                  <a:satMod val="130000"/>
                </a:srgbClr>
              </a:gs>
              <a:gs pos="100000">
                <a:srgbClr val="004785">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auto">
              <a:spcBef>
                <a:spcPts val="0"/>
              </a:spcBef>
              <a:spcAft>
                <a:spcPts val="0"/>
              </a:spcAft>
            </a:pPr>
            <a:endParaRPr kumimoji="0" lang="ja-JP" altLang="en-US" kern="0" dirty="0">
              <a:solidFill>
                <a:srgbClr val="FFFFFF"/>
              </a:solidFill>
              <a:latin typeface="Meiryo UI" panose="020B0604030504040204" pitchFamily="34" charset="-128"/>
              <a:ea typeface="Meiryo UI"/>
            </a:endParaRPr>
          </a:p>
        </p:txBody>
      </p:sp>
      <p:sp>
        <p:nvSpPr>
          <p:cNvPr id="24" name="フリーフォーム 29">
            <a:extLst>
              <a:ext uri="{FF2B5EF4-FFF2-40B4-BE49-F238E27FC236}">
                <a16:creationId xmlns:a16="http://schemas.microsoft.com/office/drawing/2014/main" id="{C3F1F459-7616-4FFA-A630-947546A93891}"/>
              </a:ext>
            </a:extLst>
          </p:cNvPr>
          <p:cNvSpPr/>
          <p:nvPr/>
        </p:nvSpPr>
        <p:spPr>
          <a:xfrm>
            <a:off x="5080093" y="3474626"/>
            <a:ext cx="2458211" cy="1486370"/>
          </a:xfrm>
          <a:custGeom>
            <a:avLst/>
            <a:gdLst>
              <a:gd name="connsiteX0" fmla="*/ 0 w 3604171"/>
              <a:gd name="connsiteY0" fmla="*/ 0 h 2343444"/>
              <a:gd name="connsiteX1" fmla="*/ 3604171 w 3604171"/>
              <a:gd name="connsiteY1" fmla="*/ 0 h 2343444"/>
              <a:gd name="connsiteX2" fmla="*/ 3604171 w 3604171"/>
              <a:gd name="connsiteY2" fmla="*/ 2343444 h 2343444"/>
              <a:gd name="connsiteX3" fmla="*/ 0 w 3604171"/>
              <a:gd name="connsiteY3" fmla="*/ 2343444 h 2343444"/>
              <a:gd name="connsiteX4" fmla="*/ 0 w 3604171"/>
              <a:gd name="connsiteY4" fmla="*/ 0 h 2343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4171" h="2343444">
                <a:moveTo>
                  <a:pt x="0" y="0"/>
                </a:moveTo>
                <a:lnTo>
                  <a:pt x="3604171" y="0"/>
                </a:lnTo>
                <a:lnTo>
                  <a:pt x="3604171" y="2343444"/>
                </a:lnTo>
                <a:lnTo>
                  <a:pt x="0" y="2343444"/>
                </a:lnTo>
                <a:lnTo>
                  <a:pt x="0" y="0"/>
                </a:lnTo>
                <a:close/>
              </a:path>
            </a:pathLst>
          </a:custGeom>
          <a:noFill/>
          <a:ln>
            <a:noFill/>
          </a:ln>
          <a:effectLst/>
        </p:spPr>
        <p:txBody>
          <a:bodyPr spcFirstLastPara="0" vert="horz" wrap="square" lIns="68580" tIns="68580" rIns="68580" bIns="68580" numCol="1" spcCol="1270" anchor="t" anchorCtr="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R="0" lvl="0" algn="l" defTabSz="800100" rtl="0" eaLnBrk="1" fontAlgn="auto" latinLnBrk="0" hangingPunct="1">
              <a:lnSpc>
                <a:spcPct val="90000"/>
              </a:lnSpc>
              <a:spcBef>
                <a:spcPct val="0"/>
              </a:spcBef>
              <a:spcAft>
                <a:spcPct val="35000"/>
              </a:spcAft>
              <a:buClrTx/>
              <a:buSzTx/>
              <a:tabLst/>
              <a:defRPr/>
            </a:pPr>
            <a:r>
              <a:rPr kumimoji="0" lang="ja-JP" altLang="en-US"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●データガバナンスの徹底</a:t>
            </a:r>
            <a:endParaRPr kumimoji="0" lang="en-US" altLang="ja-JP"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全社レベルで統一プロセス・</a:t>
            </a:r>
            <a:b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統一指標に基づくデータ</a:t>
            </a:r>
            <a:br>
              <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ガバナンスを徹底</a:t>
            </a:r>
            <a:endParaRPr kumimoji="0" lang="en-US" altLang="ja-JP"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データセキュリティや全社統一</a:t>
            </a:r>
            <a: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DWH</a:t>
            </a: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BI</a:t>
            </a:r>
            <a:r>
              <a:rPr kumimoji="0" lang="ja-JP" altLang="en-US"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rPr>
              <a:t>の検討</a:t>
            </a:r>
            <a:endPar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テキスト ボックス 2">
            <a:extLst>
              <a:ext uri="{FF2B5EF4-FFF2-40B4-BE49-F238E27FC236}">
                <a16:creationId xmlns:a16="http://schemas.microsoft.com/office/drawing/2014/main" id="{D21C8599-08A3-4F7C-ADAA-91925F9E5E2A}"/>
              </a:ext>
            </a:extLst>
          </p:cNvPr>
          <p:cNvSpPr txBox="1"/>
          <p:nvPr/>
        </p:nvSpPr>
        <p:spPr>
          <a:xfrm>
            <a:off x="7356121" y="2632262"/>
            <a:ext cx="999644" cy="246221"/>
          </a:xfrm>
          <a:prstGeom prst="rect">
            <a:avLst/>
          </a:prstGeom>
          <a:noFill/>
        </p:spPr>
        <p:txBody>
          <a:bodyPr wrap="square" lIns="0" tIns="0" rIns="0" bIns="0"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ts val="600"/>
              </a:spcBef>
              <a:spcAft>
                <a:spcPct val="0"/>
              </a:spcAft>
              <a:buClr>
                <a:srgbClr val="F0AB00"/>
              </a:buClr>
              <a:buSzPct val="80000"/>
            </a:pPr>
            <a:r>
              <a:rPr lang="en-US" altLang="ja-JP"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27</a:t>
            </a:r>
            <a:r>
              <a:rPr lang="ja-JP" altLang="en-US" sz="1600" b="1" u="sng" kern="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事計～</a:t>
            </a:r>
          </a:p>
        </p:txBody>
      </p:sp>
      <p:sp>
        <p:nvSpPr>
          <p:cNvPr id="26" name="フリーフォーム 29">
            <a:extLst>
              <a:ext uri="{FF2B5EF4-FFF2-40B4-BE49-F238E27FC236}">
                <a16:creationId xmlns:a16="http://schemas.microsoft.com/office/drawing/2014/main" id="{AA332E69-BA8C-4681-BEDB-0C1B5DD96B46}"/>
              </a:ext>
            </a:extLst>
          </p:cNvPr>
          <p:cNvSpPr/>
          <p:nvPr/>
        </p:nvSpPr>
        <p:spPr>
          <a:xfrm>
            <a:off x="7442365" y="3026782"/>
            <a:ext cx="2119646" cy="1169069"/>
          </a:xfrm>
          <a:custGeom>
            <a:avLst/>
            <a:gdLst>
              <a:gd name="connsiteX0" fmla="*/ 0 w 3604171"/>
              <a:gd name="connsiteY0" fmla="*/ 0 h 2343444"/>
              <a:gd name="connsiteX1" fmla="*/ 3604171 w 3604171"/>
              <a:gd name="connsiteY1" fmla="*/ 0 h 2343444"/>
              <a:gd name="connsiteX2" fmla="*/ 3604171 w 3604171"/>
              <a:gd name="connsiteY2" fmla="*/ 2343444 h 2343444"/>
              <a:gd name="connsiteX3" fmla="*/ 0 w 3604171"/>
              <a:gd name="connsiteY3" fmla="*/ 2343444 h 2343444"/>
              <a:gd name="connsiteX4" fmla="*/ 0 w 3604171"/>
              <a:gd name="connsiteY4" fmla="*/ 0 h 2343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4171" h="2343444">
                <a:moveTo>
                  <a:pt x="0" y="0"/>
                </a:moveTo>
                <a:lnTo>
                  <a:pt x="3604171" y="0"/>
                </a:lnTo>
                <a:lnTo>
                  <a:pt x="3604171" y="2343444"/>
                </a:lnTo>
                <a:lnTo>
                  <a:pt x="0" y="2343444"/>
                </a:lnTo>
                <a:lnTo>
                  <a:pt x="0" y="0"/>
                </a:lnTo>
                <a:close/>
              </a:path>
            </a:pathLst>
          </a:custGeom>
          <a:noFill/>
          <a:ln>
            <a:noFill/>
          </a:ln>
          <a:effectLst/>
        </p:spPr>
        <p:txBody>
          <a:bodyPr spcFirstLastPara="0" vert="horz" wrap="square" lIns="68580" tIns="68580" rIns="68580" bIns="68580" numCol="1" spcCol="1270" anchor="t" anchorCtr="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R="0" lvl="0" algn="l" defTabSz="800100" rtl="0" eaLnBrk="1" fontAlgn="auto" latinLnBrk="0" hangingPunct="1">
              <a:lnSpc>
                <a:spcPct val="90000"/>
              </a:lnSpc>
              <a:spcBef>
                <a:spcPct val="0"/>
              </a:spcBef>
              <a:spcAft>
                <a:spcPct val="35000"/>
              </a:spcAft>
              <a:buClrTx/>
              <a:buSzTx/>
              <a:tabLst/>
              <a:defRPr/>
            </a:pPr>
            <a:r>
              <a:rPr kumimoji="0" lang="ja-JP" altLang="en-US"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●自動化と継続的な改善</a:t>
            </a:r>
            <a:endParaRPr kumimoji="0" lang="en-US" altLang="ja-JP" sz="1400" b="1"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12713" marR="0" lvl="0" indent="-112713" algn="l" defTabSz="80010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ja-JP" altLang="en-US" sz="1400" b="0" i="0" u="none" strike="noStrike" kern="1200" cap="none" spc="0" normalizeH="0" baseline="0" noProof="0" dirty="0">
                <a:ln>
                  <a:noFill/>
                </a:ln>
                <a:solidFill>
                  <a:srgbClr val="000000">
                    <a:hueOff val="0"/>
                    <a:satOff val="0"/>
                    <a:lumOff val="0"/>
                    <a:alphaOff val="0"/>
                  </a:srgbClr>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データガバナンスの自動化と継続的改善体制の確立</a:t>
            </a:r>
            <a:endParaRPr kumimoji="0" lang="en-US" altLang="ja-JP" sz="1400" dirty="0">
              <a:solidFill>
                <a:srgbClr val="000000">
                  <a:hueOff val="0"/>
                  <a:satOff val="0"/>
                  <a:lumOff val="0"/>
                  <a:alphaOff val="0"/>
                </a:srgb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二等辺三角形 37">
            <a:extLst>
              <a:ext uri="{FF2B5EF4-FFF2-40B4-BE49-F238E27FC236}">
                <a16:creationId xmlns:a16="http://schemas.microsoft.com/office/drawing/2014/main" id="{8AC14896-3F6A-4C18-8E99-A32F00BFF822}"/>
              </a:ext>
            </a:extLst>
          </p:cNvPr>
          <p:cNvSpPr/>
          <p:nvPr/>
        </p:nvSpPr>
        <p:spPr>
          <a:xfrm>
            <a:off x="6794683" y="2586371"/>
            <a:ext cx="406600" cy="390671"/>
          </a:xfrm>
          <a:prstGeom prst="triangle">
            <a:avLst>
              <a:gd name="adj" fmla="val 100000"/>
            </a:avLst>
          </a:prstGeom>
          <a:gradFill rotWithShape="1">
            <a:gsLst>
              <a:gs pos="0">
                <a:srgbClr val="004785">
                  <a:shade val="51000"/>
                  <a:satMod val="130000"/>
                </a:srgbClr>
              </a:gs>
              <a:gs pos="80000">
                <a:srgbClr val="004785">
                  <a:shade val="93000"/>
                  <a:satMod val="130000"/>
                </a:srgbClr>
              </a:gs>
              <a:gs pos="100000">
                <a:srgbClr val="004785">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auto">
              <a:spcBef>
                <a:spcPts val="0"/>
              </a:spcBef>
              <a:spcAft>
                <a:spcPts val="0"/>
              </a:spcAft>
            </a:pPr>
            <a:endParaRPr kumimoji="0" lang="ja-JP" altLang="en-US" kern="0">
              <a:solidFill>
                <a:srgbClr val="FFFFFF"/>
              </a:solidFill>
              <a:latin typeface="Meiryo UI" panose="020B0604030504040204" pitchFamily="34" charset="-128"/>
              <a:ea typeface="Meiryo UI"/>
            </a:endParaRPr>
          </a:p>
        </p:txBody>
      </p:sp>
    </p:spTree>
    <p:extLst>
      <p:ext uri="{BB962C8B-B14F-4D97-AF65-F5344CB8AC3E}">
        <p14:creationId xmlns:p14="http://schemas.microsoft.com/office/powerpoint/2010/main" val="244133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16FC0B-DC43-7343-ADE6-1648B7B9AC96}"/>
              </a:ext>
            </a:extLst>
          </p:cNvPr>
          <p:cNvSpPr>
            <a:spLocks noGrp="1"/>
          </p:cNvSpPr>
          <p:nvPr>
            <p:ph type="title"/>
          </p:nvPr>
        </p:nvSpPr>
        <p:spPr>
          <a:xfrm>
            <a:off x="236538" y="128799"/>
            <a:ext cx="7287807" cy="349961"/>
          </a:xfrm>
        </p:spPr>
        <p:txBody>
          <a:bodyPr/>
          <a:lstStyle/>
          <a:p>
            <a:r>
              <a:rPr lang="ja-JP" altLang="en-US" sz="2400" b="1"/>
              <a:t>データマネジメントの実施計画（</a:t>
            </a:r>
            <a:r>
              <a:rPr lang="en-US" altLang="ja-JP" sz="2400" b="1" dirty="0"/>
              <a:t>6/4</a:t>
            </a:r>
            <a:r>
              <a:rPr lang="ja-JP" altLang="en-US" sz="2400" b="1"/>
              <a:t>更新版）</a:t>
            </a:r>
            <a:endParaRPr kumimoji="1" lang="ja-JP" altLang="en-US" sz="2400" b="1"/>
          </a:p>
        </p:txBody>
      </p:sp>
      <p:graphicFrame>
        <p:nvGraphicFramePr>
          <p:cNvPr id="6" name="表 5">
            <a:extLst>
              <a:ext uri="{FF2B5EF4-FFF2-40B4-BE49-F238E27FC236}">
                <a16:creationId xmlns:a16="http://schemas.microsoft.com/office/drawing/2014/main" id="{C61E9576-42C8-D149-9B6E-7AB2E23F0305}"/>
              </a:ext>
            </a:extLst>
          </p:cNvPr>
          <p:cNvGraphicFramePr>
            <a:graphicFrameLocks noGrp="1"/>
          </p:cNvGraphicFramePr>
          <p:nvPr>
            <p:extLst>
              <p:ext uri="{D42A27DB-BD31-4B8C-83A1-F6EECF244321}">
                <p14:modId xmlns:p14="http://schemas.microsoft.com/office/powerpoint/2010/main" val="2136650674"/>
              </p:ext>
            </p:extLst>
          </p:nvPr>
        </p:nvGraphicFramePr>
        <p:xfrm>
          <a:off x="777496" y="1380684"/>
          <a:ext cx="8495988" cy="5132984"/>
        </p:xfrm>
        <a:graphic>
          <a:graphicData uri="http://schemas.openxmlformats.org/drawingml/2006/table">
            <a:tbl>
              <a:tblPr firstRow="1" bandRow="1">
                <a:tableStyleId>{5940675A-B579-460E-94D1-54222C63F5DA}</a:tableStyleId>
              </a:tblPr>
              <a:tblGrid>
                <a:gridCol w="863136">
                  <a:extLst>
                    <a:ext uri="{9D8B030D-6E8A-4147-A177-3AD203B41FA5}">
                      <a16:colId xmlns:a16="http://schemas.microsoft.com/office/drawing/2014/main" val="966304046"/>
                    </a:ext>
                  </a:extLst>
                </a:gridCol>
                <a:gridCol w="636071">
                  <a:extLst>
                    <a:ext uri="{9D8B030D-6E8A-4147-A177-3AD203B41FA5}">
                      <a16:colId xmlns:a16="http://schemas.microsoft.com/office/drawing/2014/main" val="2614436814"/>
                    </a:ext>
                  </a:extLst>
                </a:gridCol>
                <a:gridCol w="636071">
                  <a:extLst>
                    <a:ext uri="{9D8B030D-6E8A-4147-A177-3AD203B41FA5}">
                      <a16:colId xmlns:a16="http://schemas.microsoft.com/office/drawing/2014/main" val="441767732"/>
                    </a:ext>
                  </a:extLst>
                </a:gridCol>
                <a:gridCol w="636071">
                  <a:extLst>
                    <a:ext uri="{9D8B030D-6E8A-4147-A177-3AD203B41FA5}">
                      <a16:colId xmlns:a16="http://schemas.microsoft.com/office/drawing/2014/main" val="570119764"/>
                    </a:ext>
                  </a:extLst>
                </a:gridCol>
                <a:gridCol w="636071">
                  <a:extLst>
                    <a:ext uri="{9D8B030D-6E8A-4147-A177-3AD203B41FA5}">
                      <a16:colId xmlns:a16="http://schemas.microsoft.com/office/drawing/2014/main" val="2871979522"/>
                    </a:ext>
                  </a:extLst>
                </a:gridCol>
                <a:gridCol w="636071">
                  <a:extLst>
                    <a:ext uri="{9D8B030D-6E8A-4147-A177-3AD203B41FA5}">
                      <a16:colId xmlns:a16="http://schemas.microsoft.com/office/drawing/2014/main" val="1625943638"/>
                    </a:ext>
                  </a:extLst>
                </a:gridCol>
                <a:gridCol w="636071">
                  <a:extLst>
                    <a:ext uri="{9D8B030D-6E8A-4147-A177-3AD203B41FA5}">
                      <a16:colId xmlns:a16="http://schemas.microsoft.com/office/drawing/2014/main" val="3723096015"/>
                    </a:ext>
                  </a:extLst>
                </a:gridCol>
                <a:gridCol w="636071">
                  <a:extLst>
                    <a:ext uri="{9D8B030D-6E8A-4147-A177-3AD203B41FA5}">
                      <a16:colId xmlns:a16="http://schemas.microsoft.com/office/drawing/2014/main" val="3099649167"/>
                    </a:ext>
                  </a:extLst>
                </a:gridCol>
                <a:gridCol w="636071">
                  <a:extLst>
                    <a:ext uri="{9D8B030D-6E8A-4147-A177-3AD203B41FA5}">
                      <a16:colId xmlns:a16="http://schemas.microsoft.com/office/drawing/2014/main" val="4247469904"/>
                    </a:ext>
                  </a:extLst>
                </a:gridCol>
                <a:gridCol w="636071">
                  <a:extLst>
                    <a:ext uri="{9D8B030D-6E8A-4147-A177-3AD203B41FA5}">
                      <a16:colId xmlns:a16="http://schemas.microsoft.com/office/drawing/2014/main" val="749753892"/>
                    </a:ext>
                  </a:extLst>
                </a:gridCol>
                <a:gridCol w="636071">
                  <a:extLst>
                    <a:ext uri="{9D8B030D-6E8A-4147-A177-3AD203B41FA5}">
                      <a16:colId xmlns:a16="http://schemas.microsoft.com/office/drawing/2014/main" val="3157347468"/>
                    </a:ext>
                  </a:extLst>
                </a:gridCol>
                <a:gridCol w="636071">
                  <a:extLst>
                    <a:ext uri="{9D8B030D-6E8A-4147-A177-3AD203B41FA5}">
                      <a16:colId xmlns:a16="http://schemas.microsoft.com/office/drawing/2014/main" val="587567438"/>
                    </a:ext>
                  </a:extLst>
                </a:gridCol>
                <a:gridCol w="636071">
                  <a:extLst>
                    <a:ext uri="{9D8B030D-6E8A-4147-A177-3AD203B41FA5}">
                      <a16:colId xmlns:a16="http://schemas.microsoft.com/office/drawing/2014/main" val="4021225547"/>
                    </a:ext>
                  </a:extLst>
                </a:gridCol>
              </a:tblGrid>
              <a:tr h="186225">
                <a:tc rowSpan="2">
                  <a:txBody>
                    <a:bodyPr/>
                    <a:lstStyle/>
                    <a:p>
                      <a:endParaRPr kumimoji="1" lang="ja-JP" altLang="en-US" b="0" i="0" dirty="0">
                        <a:solidFill>
                          <a:schemeClr val="bg1"/>
                        </a:solidFill>
                        <a:latin typeface="Meiryo UI" panose="020B0604030504040204" pitchFamily="34" charset="-128"/>
                        <a:ea typeface="Meiryo UI" panose="020B0604030504040204" pitchFamily="34"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gridSpan="12">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FY21</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extLst>
                  <a:ext uri="{0D108BD9-81ED-4DB2-BD59-A6C34878D82A}">
                    <a16:rowId xmlns:a16="http://schemas.microsoft.com/office/drawing/2014/main" val="2226292608"/>
                  </a:ext>
                </a:extLst>
              </a:tr>
              <a:tr h="186225">
                <a:tc vMerge="1">
                  <a:txBody>
                    <a:bodyPr/>
                    <a:lstStyle/>
                    <a:p>
                      <a:endParaRPr kumimoji="1" lang="ja-JP" altLang="en-US"/>
                    </a:p>
                  </a:txBody>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4</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5</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6</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7</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8</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9</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10</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11</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12</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2</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3</a:t>
                      </a:r>
                      <a:r>
                        <a:rPr kumimoji="1" lang="ja-JP" altLang="en-US" sz="1000" b="0" i="0" dirty="0">
                          <a:solidFill>
                            <a:schemeClr val="bg1"/>
                          </a:solidFill>
                          <a:latin typeface="Meiryo UI" panose="020B0604030504040204" pitchFamily="34" charset="-128"/>
                          <a:ea typeface="Meiryo UI" panose="020B0604030504040204" pitchFamily="34" charset="-128"/>
                        </a:rPr>
                        <a:t>月</a:t>
                      </a: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101368573"/>
                  </a:ext>
                </a:extLst>
              </a:tr>
              <a:tr h="560784">
                <a:tc>
                  <a:txBody>
                    <a:bodyPr/>
                    <a:lstStyle/>
                    <a:p>
                      <a:r>
                        <a:rPr kumimoji="1" lang="ja-JP" altLang="en-US" sz="900" b="0" i="0" dirty="0">
                          <a:latin typeface="Meiryo UI" panose="020B0604030504040204" pitchFamily="34" charset="-128"/>
                          <a:ea typeface="Meiryo UI" panose="020B0604030504040204" pitchFamily="34" charset="-128"/>
                        </a:rPr>
                        <a:t>ﾏｲﾙｽﾄｰﾝ</a:t>
                      </a:r>
                      <a:endParaRPr kumimoji="1" lang="ja-JP" altLang="en-US" sz="1200" dirty="0"/>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60784155"/>
                  </a:ext>
                </a:extLst>
              </a:tr>
              <a:tr h="1619250">
                <a:tc>
                  <a:txBody>
                    <a:bodyPr/>
                    <a:lstStyle/>
                    <a:p>
                      <a:pPr algn="ctr"/>
                      <a:endParaRPr kumimoji="1" lang="en-US" altLang="ja-JP"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0" marR="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8787720"/>
                  </a:ext>
                </a:extLst>
              </a:tr>
              <a:tr h="2216150">
                <a:tc>
                  <a:txBody>
                    <a:bodyPr/>
                    <a:lstStyle/>
                    <a:p>
                      <a:pPr algn="ctr"/>
                      <a:endParaRPr kumimoji="1" lang="en-US" altLang="ja-JP"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0" marR="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7274703"/>
                  </a:ext>
                </a:extLst>
              </a:tr>
              <a:tr h="360000">
                <a:tc>
                  <a:txBody>
                    <a:bodyPr/>
                    <a:lstStyle/>
                    <a:p>
                      <a:pPr algn="ctr"/>
                      <a:endParaRPr kumimoji="1" lang="en-US" altLang="ja-JP"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0" marR="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3267245"/>
                  </a:ext>
                </a:extLst>
              </a:tr>
            </a:tbl>
          </a:graphicData>
        </a:graphic>
      </p:graphicFrame>
      <p:sp>
        <p:nvSpPr>
          <p:cNvPr id="7" name="円/楕円 136">
            <a:extLst>
              <a:ext uri="{FF2B5EF4-FFF2-40B4-BE49-F238E27FC236}">
                <a16:creationId xmlns:a16="http://schemas.microsoft.com/office/drawing/2014/main" id="{A4906D10-4D0A-CE41-BC96-7A80BCBCC246}"/>
              </a:ext>
            </a:extLst>
          </p:cNvPr>
          <p:cNvSpPr>
            <a:spLocks/>
          </p:cNvSpPr>
          <p:nvPr/>
        </p:nvSpPr>
        <p:spPr bwMode="gray">
          <a:xfrm>
            <a:off x="389082" y="6156954"/>
            <a:ext cx="424710" cy="396955"/>
          </a:xfrm>
          <a:prstGeom prst="ellipse">
            <a:avLst/>
          </a:prstGeom>
          <a:gradFill flip="none" rotWithShape="1">
            <a:gsLst>
              <a:gs pos="0">
                <a:schemeClr val="accent3">
                  <a:lumMod val="50000"/>
                </a:schemeClr>
              </a:gs>
              <a:gs pos="50000">
                <a:schemeClr val="accent3">
                  <a:lumMod val="75000"/>
                </a:schemeClr>
              </a:gs>
              <a:gs pos="100000">
                <a:schemeClr val="accent3">
                  <a:lumMod val="60000"/>
                  <a:lumOff val="40000"/>
                </a:scheme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拠点</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8" name="円/楕円 135">
            <a:extLst>
              <a:ext uri="{FF2B5EF4-FFF2-40B4-BE49-F238E27FC236}">
                <a16:creationId xmlns:a16="http://schemas.microsoft.com/office/drawing/2014/main" id="{63CBC3BA-6003-B944-A37A-663775F1A395}"/>
              </a:ext>
            </a:extLst>
          </p:cNvPr>
          <p:cNvSpPr>
            <a:spLocks/>
          </p:cNvSpPr>
          <p:nvPr/>
        </p:nvSpPr>
        <p:spPr bwMode="gray">
          <a:xfrm>
            <a:off x="389082" y="2935612"/>
            <a:ext cx="424710" cy="396955"/>
          </a:xfrm>
          <a:prstGeom prst="ellipse">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業務</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9" name="円/楕円 136">
            <a:extLst>
              <a:ext uri="{FF2B5EF4-FFF2-40B4-BE49-F238E27FC236}">
                <a16:creationId xmlns:a16="http://schemas.microsoft.com/office/drawing/2014/main" id="{C4CA6DFE-829C-2545-912A-B692ECC53D0C}"/>
              </a:ext>
            </a:extLst>
          </p:cNvPr>
          <p:cNvSpPr>
            <a:spLocks/>
          </p:cNvSpPr>
          <p:nvPr/>
        </p:nvSpPr>
        <p:spPr bwMode="gray">
          <a:xfrm>
            <a:off x="389082" y="4688101"/>
            <a:ext cx="424710" cy="427491"/>
          </a:xfrm>
          <a:prstGeom prst="ellipse">
            <a:avLst/>
          </a:prstGeom>
          <a:gradFill flip="none" rotWithShape="1">
            <a:gsLst>
              <a:gs pos="0">
                <a:srgbClr val="008000">
                  <a:shade val="30000"/>
                  <a:satMod val="115000"/>
                </a:srgbClr>
              </a:gs>
              <a:gs pos="50000">
                <a:srgbClr val="008000">
                  <a:shade val="67500"/>
                  <a:satMod val="115000"/>
                </a:srgbClr>
              </a:gs>
              <a:gs pos="100000">
                <a:srgbClr val="008000">
                  <a:shade val="100000"/>
                  <a:satMod val="115000"/>
                </a:srgbClr>
              </a:gs>
            </a:gsLst>
            <a:lin ang="27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IT</a:t>
            </a:r>
          </a:p>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アーキ</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0" name="ホームベース 126">
            <a:extLst>
              <a:ext uri="{FF2B5EF4-FFF2-40B4-BE49-F238E27FC236}">
                <a16:creationId xmlns:a16="http://schemas.microsoft.com/office/drawing/2014/main" id="{3650DB90-927F-714D-9CB3-050291702CFC}"/>
              </a:ext>
            </a:extLst>
          </p:cNvPr>
          <p:cNvSpPr/>
          <p:nvPr/>
        </p:nvSpPr>
        <p:spPr>
          <a:xfrm>
            <a:off x="1637689" y="2334875"/>
            <a:ext cx="1081596"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調・財・品質</a:t>
            </a:r>
            <a:r>
              <a:rPr lang="en-US" altLang="ja-JP" sz="900" dirty="0">
                <a:solidFill>
                  <a:schemeClr val="tx1"/>
                </a:solidFill>
                <a:latin typeface="Meiryo UI" panose="020B0604030504040204" pitchFamily="34" charset="-128"/>
                <a:ea typeface="Meiryo UI" panose="020B0604030504040204" pitchFamily="34" charset="-128"/>
              </a:rPr>
              <a:t>】</a:t>
            </a:r>
          </a:p>
          <a:p>
            <a:r>
              <a:rPr lang="ja-JP" altLang="en-US" sz="900" dirty="0">
                <a:solidFill>
                  <a:schemeClr val="tx1"/>
                </a:solidFill>
                <a:latin typeface="Meiryo UI" panose="020B0604030504040204" pitchFamily="34" charset="-128"/>
                <a:ea typeface="Meiryo UI" panose="020B0604030504040204" pitchFamily="34" charset="-128"/>
              </a:rPr>
              <a:t>変革ﾃｰﾏﾏｯﾌﾟ作成</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1" name="ホームベース 126">
            <a:extLst>
              <a:ext uri="{FF2B5EF4-FFF2-40B4-BE49-F238E27FC236}">
                <a16:creationId xmlns:a16="http://schemas.microsoft.com/office/drawing/2014/main" id="{5441F26E-6F33-9348-9A46-53A9A4A819AD}"/>
              </a:ext>
            </a:extLst>
          </p:cNvPr>
          <p:cNvSpPr/>
          <p:nvPr/>
        </p:nvSpPr>
        <p:spPr>
          <a:xfrm>
            <a:off x="2720751" y="2334875"/>
            <a:ext cx="828000"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経戦との</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ﾚﾍﾞﾙ整合</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2" name="ホームベース 126">
            <a:extLst>
              <a:ext uri="{FF2B5EF4-FFF2-40B4-BE49-F238E27FC236}">
                <a16:creationId xmlns:a16="http://schemas.microsoft.com/office/drawing/2014/main" id="{435DF054-94CE-C247-85B7-B2843390FF1A}"/>
              </a:ext>
            </a:extLst>
          </p:cNvPr>
          <p:cNvSpPr/>
          <p:nvPr/>
        </p:nvSpPr>
        <p:spPr>
          <a:xfrm>
            <a:off x="2275623" y="3284647"/>
            <a:ext cx="1165080" cy="288000"/>
          </a:xfrm>
          <a:prstGeom prst="homePlate">
            <a:avLst>
              <a:gd name="adj" fmla="val 23736"/>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Ref</a:t>
            </a:r>
            <a:r>
              <a:rPr lang="ja-JP" altLang="en-US" sz="900" dirty="0">
                <a:solidFill>
                  <a:schemeClr val="tx1"/>
                </a:solidFill>
                <a:latin typeface="Meiryo UI" panose="020B0604030504040204" pitchFamily="34" charset="-128"/>
                <a:ea typeface="Meiryo UI" panose="020B0604030504040204" pitchFamily="34" charset="-128"/>
              </a:rPr>
              <a:t>ﾓﾃﾞﾙ教育</a:t>
            </a:r>
            <a:r>
              <a:rPr lang="en-US" altLang="ja-JP" sz="900" dirty="0">
                <a:solidFill>
                  <a:schemeClr val="tx1"/>
                </a:solidFill>
                <a:latin typeface="Meiryo UI" panose="020B0604030504040204" pitchFamily="34" charset="-128"/>
                <a:ea typeface="Meiryo UI" panose="020B0604030504040204" pitchFamily="34" charset="-128"/>
              </a:rPr>
              <a:t>#1~2</a:t>
            </a:r>
          </a:p>
          <a:p>
            <a:r>
              <a:rPr lang="en-US" altLang="ja-JP" sz="900" dirty="0">
                <a:solidFill>
                  <a:schemeClr val="tx1"/>
                </a:solidFill>
                <a:latin typeface="Meiryo UI" panose="020B0604030504040204" pitchFamily="34" charset="-128"/>
                <a:ea typeface="Meiryo UI" panose="020B0604030504040204" pitchFamily="34" charset="-128"/>
              </a:rPr>
              <a:t>(DI</a:t>
            </a:r>
            <a:r>
              <a:rPr lang="ja-JP" altLang="en-US" sz="900" dirty="0" err="1">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13" name="ホームベース 126">
            <a:extLst>
              <a:ext uri="{FF2B5EF4-FFF2-40B4-BE49-F238E27FC236}">
                <a16:creationId xmlns:a16="http://schemas.microsoft.com/office/drawing/2014/main" id="{F595CC68-9A26-3C45-B84B-500A93ADDC31}"/>
              </a:ext>
            </a:extLst>
          </p:cNvPr>
          <p:cNvSpPr/>
          <p:nvPr/>
        </p:nvSpPr>
        <p:spPr>
          <a:xfrm>
            <a:off x="1637687" y="6192973"/>
            <a:ext cx="1896897" cy="288000"/>
          </a:xfrm>
          <a:prstGeom prst="homePlate">
            <a:avLst>
              <a:gd name="adj" fmla="val 23973"/>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立上準備、計画作成</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2649C7AD-A084-0940-9AA4-9BBC7A03B41A}"/>
              </a:ext>
            </a:extLst>
          </p:cNvPr>
          <p:cNvSpPr/>
          <p:nvPr/>
        </p:nvSpPr>
        <p:spPr>
          <a:xfrm>
            <a:off x="656616" y="2915846"/>
            <a:ext cx="1094501" cy="369332"/>
          </a:xfrm>
          <a:prstGeom prst="rect">
            <a:avLst/>
          </a:prstGeom>
        </p:spPr>
        <p:txBody>
          <a:bodyPr>
            <a:spAutoFit/>
          </a:bodyPr>
          <a:lstStyle/>
          <a:p>
            <a:pPr algn="ctr"/>
            <a:r>
              <a:rPr lang="zh-TW" altLang="en-US" sz="900" dirty="0">
                <a:latin typeface="Meiryo UI" panose="020B0604030504040204" pitchFamily="50" charset="-128"/>
                <a:ea typeface="Meiryo UI" panose="020B0604030504040204" pitchFamily="50" charset="-128"/>
              </a:rPr>
              <a:t>改革業務</a:t>
            </a:r>
            <a:endParaRPr lang="en-US" altLang="zh-TW" sz="900" dirty="0">
              <a:latin typeface="Meiryo UI" panose="020B0604030504040204" pitchFamily="50" charset="-128"/>
              <a:ea typeface="Meiryo UI" panose="020B0604030504040204" pitchFamily="50" charset="-128"/>
            </a:endParaRPr>
          </a:p>
          <a:p>
            <a:pPr algn="ctr"/>
            <a:r>
              <a:rPr lang="zh-TW" altLang="en-US" sz="900" dirty="0">
                <a:latin typeface="Meiryo UI" panose="020B0604030504040204" pitchFamily="50" charset="-128"/>
                <a:ea typeface="Meiryo UI" panose="020B0604030504040204" pitchFamily="50" charset="-128"/>
              </a:rPr>
              <a:t>ﾓﾃﾞﾙ作成</a:t>
            </a:r>
          </a:p>
        </p:txBody>
      </p:sp>
      <p:sp>
        <p:nvSpPr>
          <p:cNvPr id="15" name="ホームベース 126">
            <a:extLst>
              <a:ext uri="{FF2B5EF4-FFF2-40B4-BE49-F238E27FC236}">
                <a16:creationId xmlns:a16="http://schemas.microsoft.com/office/drawing/2014/main" id="{D625612B-BE72-DD49-B511-A46483886761}"/>
              </a:ext>
            </a:extLst>
          </p:cNvPr>
          <p:cNvSpPr/>
          <p:nvPr/>
        </p:nvSpPr>
        <p:spPr>
          <a:xfrm>
            <a:off x="1637688" y="3284647"/>
            <a:ext cx="622697" cy="288000"/>
          </a:xfrm>
          <a:prstGeom prst="homePlate">
            <a:avLst>
              <a:gd name="adj" fmla="val 23973"/>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教育準備</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6" name="ホームベース 126">
            <a:extLst>
              <a:ext uri="{FF2B5EF4-FFF2-40B4-BE49-F238E27FC236}">
                <a16:creationId xmlns:a16="http://schemas.microsoft.com/office/drawing/2014/main" id="{0156DE07-116F-074A-84D4-3149915B3BF4}"/>
              </a:ext>
            </a:extLst>
          </p:cNvPr>
          <p:cNvSpPr/>
          <p:nvPr/>
        </p:nvSpPr>
        <p:spPr>
          <a:xfrm>
            <a:off x="3562122" y="2956512"/>
            <a:ext cx="1143096" cy="288000"/>
          </a:xfrm>
          <a:prstGeom prst="homePlate">
            <a:avLst>
              <a:gd name="adj" fmla="val 26179"/>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Ref</a:t>
            </a:r>
            <a:r>
              <a:rPr lang="ja-JP" altLang="en-US" sz="900" dirty="0">
                <a:solidFill>
                  <a:schemeClr val="tx1"/>
                </a:solidFill>
                <a:latin typeface="Meiryo UI" panose="020B0604030504040204" pitchFamily="34" charset="-128"/>
                <a:ea typeface="Meiryo UI" panose="020B0604030504040204" pitchFamily="34" charset="-128"/>
              </a:rPr>
              <a:t>ﾓﾃﾞﾙ業務定義（</a:t>
            </a:r>
            <a:r>
              <a:rPr lang="en-US" altLang="ja-JP" sz="900" dirty="0">
                <a:solidFill>
                  <a:schemeClr val="tx1"/>
                </a:solidFill>
                <a:latin typeface="Meiryo UI" panose="020B0604030504040204" pitchFamily="34" charset="-128"/>
                <a:ea typeface="Meiryo UI" panose="020B0604030504040204" pitchFamily="34" charset="-128"/>
              </a:rPr>
              <a:t>#2</a:t>
            </a:r>
            <a:r>
              <a:rPr lang="ja-JP" altLang="en-US" sz="900" dirty="0">
                <a:solidFill>
                  <a:schemeClr val="tx1"/>
                </a:solidFill>
                <a:latin typeface="Meiryo UI" panose="020B0604030504040204" pitchFamily="34" charset="-128"/>
                <a:ea typeface="Meiryo UI" panose="020B0604030504040204" pitchFamily="34" charset="-128"/>
              </a:rPr>
              <a:t> 調達）</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7" name="ホームベース 126">
            <a:extLst>
              <a:ext uri="{FF2B5EF4-FFF2-40B4-BE49-F238E27FC236}">
                <a16:creationId xmlns:a16="http://schemas.microsoft.com/office/drawing/2014/main" id="{8572F89A-6041-7D43-8601-480FE3867324}"/>
              </a:ext>
            </a:extLst>
          </p:cNvPr>
          <p:cNvSpPr/>
          <p:nvPr/>
        </p:nvSpPr>
        <p:spPr>
          <a:xfrm>
            <a:off x="4888992" y="2956512"/>
            <a:ext cx="1188000" cy="288000"/>
          </a:xfrm>
          <a:prstGeom prst="homePlate">
            <a:avLst>
              <a:gd name="adj" fmla="val 26179"/>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Ref</a:t>
            </a:r>
            <a:r>
              <a:rPr lang="ja-JP" altLang="en-US" sz="900" dirty="0">
                <a:solidFill>
                  <a:schemeClr val="tx1"/>
                </a:solidFill>
                <a:latin typeface="Meiryo UI" panose="020B0604030504040204" pitchFamily="34" charset="-128"/>
                <a:ea typeface="Meiryo UI" panose="020B0604030504040204" pitchFamily="34" charset="-128"/>
              </a:rPr>
              <a:t>ﾓﾃﾞﾙ業務</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a:t>
            </a:r>
            <a:r>
              <a:rPr lang="en-US" altLang="ja-JP" sz="900" dirty="0">
                <a:solidFill>
                  <a:schemeClr val="tx1"/>
                </a:solidFill>
                <a:latin typeface="Meiryo UI" panose="020B0604030504040204" pitchFamily="34" charset="-128"/>
                <a:ea typeface="Meiryo UI" panose="020B0604030504040204" pitchFamily="34" charset="-128"/>
              </a:rPr>
              <a:t>#3</a:t>
            </a:r>
            <a:r>
              <a:rPr lang="ja-JP" altLang="en-US" sz="900" dirty="0">
                <a:solidFill>
                  <a:schemeClr val="tx1"/>
                </a:solidFill>
                <a:latin typeface="Meiryo UI" panose="020B0604030504040204" pitchFamily="34" charset="-128"/>
                <a:ea typeface="Meiryo UI" panose="020B0604030504040204" pitchFamily="34" charset="-128"/>
              </a:rPr>
              <a:t>財務、</a:t>
            </a:r>
            <a:r>
              <a:rPr lang="en-US" altLang="ja-JP" sz="900" dirty="0">
                <a:solidFill>
                  <a:schemeClr val="tx1"/>
                </a:solidFill>
                <a:latin typeface="Meiryo UI" panose="020B0604030504040204" pitchFamily="34" charset="-128"/>
                <a:ea typeface="Meiryo UI" panose="020B0604030504040204" pitchFamily="34" charset="-128"/>
              </a:rPr>
              <a:t>4</a:t>
            </a:r>
            <a:r>
              <a:rPr lang="ja-JP" altLang="en-US" sz="900" dirty="0">
                <a:solidFill>
                  <a:schemeClr val="tx1"/>
                </a:solidFill>
                <a:latin typeface="Meiryo UI" panose="020B0604030504040204" pitchFamily="34" charset="-128"/>
                <a:ea typeface="Meiryo UI" panose="020B0604030504040204" pitchFamily="34" charset="-128"/>
              </a:rPr>
              <a:t>？）</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8" name="ホームベース 126">
            <a:extLst>
              <a:ext uri="{FF2B5EF4-FFF2-40B4-BE49-F238E27FC236}">
                <a16:creationId xmlns:a16="http://schemas.microsoft.com/office/drawing/2014/main" id="{B77660E0-CF91-2243-9F68-48A8BCB61B6A}"/>
              </a:ext>
            </a:extLst>
          </p:cNvPr>
          <p:cNvSpPr/>
          <p:nvPr/>
        </p:nvSpPr>
        <p:spPr>
          <a:xfrm>
            <a:off x="2723520" y="2640204"/>
            <a:ext cx="828000"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ja-JP" altLang="en-US" sz="900" dirty="0">
                <a:solidFill>
                  <a:schemeClr val="tx1"/>
                </a:solidFill>
                <a:latin typeface="Meiryo UI" panose="020B0604030504040204" pitchFamily="34" charset="-128"/>
                <a:ea typeface="Meiryo UI" panose="020B0604030504040204" pitchFamily="34" charset="-128"/>
              </a:rPr>
              <a:t>変革ﾃｰﾏ具体化</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優先順位付け</a:t>
            </a:r>
          </a:p>
        </p:txBody>
      </p:sp>
      <p:sp>
        <p:nvSpPr>
          <p:cNvPr id="19" name="ホームベース 126">
            <a:extLst>
              <a:ext uri="{FF2B5EF4-FFF2-40B4-BE49-F238E27FC236}">
                <a16:creationId xmlns:a16="http://schemas.microsoft.com/office/drawing/2014/main" id="{F16F712D-145E-3A43-8493-FF2F1986A6E0}"/>
              </a:ext>
            </a:extLst>
          </p:cNvPr>
          <p:cNvSpPr/>
          <p:nvPr/>
        </p:nvSpPr>
        <p:spPr>
          <a:xfrm>
            <a:off x="4888992" y="3284647"/>
            <a:ext cx="1188000" cy="288000"/>
          </a:xfrm>
          <a:prstGeom prst="homePlate">
            <a:avLst>
              <a:gd name="adj" fmla="val 26179"/>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教育</a:t>
            </a:r>
            <a:r>
              <a:rPr lang="en-US" altLang="ja-JP" sz="900" dirty="0">
                <a:solidFill>
                  <a:schemeClr val="tx1"/>
                </a:solidFill>
                <a:latin typeface="Meiryo UI" panose="020B0604030504040204" pitchFamily="34" charset="-128"/>
                <a:ea typeface="Meiryo UI" panose="020B0604030504040204" pitchFamily="34" charset="-128"/>
              </a:rPr>
              <a:t>#3</a:t>
            </a:r>
            <a:r>
              <a:rPr lang="ja-JP" altLang="en-US" sz="900" dirty="0" err="1">
                <a:solidFill>
                  <a:schemeClr val="tx1"/>
                </a:solidFill>
                <a:latin typeface="Meiryo UI" panose="020B0604030504040204" pitchFamily="34" charset="-128"/>
                <a:ea typeface="Meiryo UI" panose="020B0604030504040204" pitchFamily="34" charset="-128"/>
              </a:rPr>
              <a:t>、</a:t>
            </a:r>
            <a:r>
              <a:rPr lang="en-US" altLang="ja-JP" sz="900" dirty="0">
                <a:solidFill>
                  <a:schemeClr val="tx1"/>
                </a:solidFill>
                <a:latin typeface="Meiryo UI" panose="020B0604030504040204" pitchFamily="34" charset="-128"/>
                <a:ea typeface="Meiryo UI" panose="020B0604030504040204" pitchFamily="34" charset="-128"/>
              </a:rPr>
              <a:t>4</a:t>
            </a:r>
          </a:p>
          <a:p>
            <a:r>
              <a:rPr lang="ja-JP" altLang="en-US" sz="900" dirty="0">
                <a:solidFill>
                  <a:schemeClr val="tx1"/>
                </a:solidFill>
                <a:latin typeface="Meiryo UI" panose="020B0604030504040204" pitchFamily="34" charset="-128"/>
                <a:ea typeface="Meiryo UI" panose="020B0604030504040204" pitchFamily="34" charset="-128"/>
              </a:rPr>
              <a:t>（</a:t>
            </a:r>
            <a:r>
              <a:rPr lang="en-US" altLang="ja-JP" sz="900" dirty="0">
                <a:solidFill>
                  <a:schemeClr val="tx1"/>
                </a:solidFill>
                <a:latin typeface="Meiryo UI" panose="020B0604030504040204" pitchFamily="34" charset="-128"/>
                <a:ea typeface="Meiryo UI" panose="020B0604030504040204" pitchFamily="34" charset="-128"/>
              </a:rPr>
              <a:t>#3:</a:t>
            </a:r>
            <a:r>
              <a:rPr lang="ja-JP" altLang="en-US" sz="900" dirty="0">
                <a:solidFill>
                  <a:schemeClr val="tx1"/>
                </a:solidFill>
                <a:latin typeface="Meiryo UI" panose="020B0604030504040204" pitchFamily="34" charset="-128"/>
                <a:ea typeface="Meiryo UI" panose="020B0604030504040204" pitchFamily="34" charset="-128"/>
              </a:rPr>
              <a:t>財務、</a:t>
            </a:r>
            <a:r>
              <a:rPr lang="en-US" altLang="ja-JP" sz="900" dirty="0">
                <a:solidFill>
                  <a:schemeClr val="tx1"/>
                </a:solidFill>
                <a:latin typeface="Meiryo UI" panose="020B0604030504040204" pitchFamily="34" charset="-128"/>
                <a:ea typeface="Meiryo UI" panose="020B0604030504040204" pitchFamily="34" charset="-128"/>
              </a:rPr>
              <a:t>#4:?</a:t>
            </a:r>
            <a:r>
              <a:rPr lang="ja-JP" altLang="en-US" sz="900" dirty="0">
                <a:solidFill>
                  <a:schemeClr val="tx1"/>
                </a:solidFill>
                <a:latin typeface="Meiryo UI" panose="020B0604030504040204" pitchFamily="34" charset="-128"/>
                <a:ea typeface="Meiryo UI" panose="020B0604030504040204" pitchFamily="34" charset="-128"/>
              </a:rPr>
              <a:t>）</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20" name="ホームベース 48">
            <a:extLst>
              <a:ext uri="{FF2B5EF4-FFF2-40B4-BE49-F238E27FC236}">
                <a16:creationId xmlns:a16="http://schemas.microsoft.com/office/drawing/2014/main" id="{F9F8D5D5-AD92-894D-B02A-EAEB23EF44FE}"/>
              </a:ext>
            </a:extLst>
          </p:cNvPr>
          <p:cNvSpPr/>
          <p:nvPr/>
        </p:nvSpPr>
        <p:spPr>
          <a:xfrm>
            <a:off x="4192454" y="2334875"/>
            <a:ext cx="1264394" cy="275131"/>
          </a:xfrm>
          <a:prstGeom prst="homePlate">
            <a:avLst>
              <a:gd name="adj" fmla="val 15079"/>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err="1">
                <a:solidFill>
                  <a:schemeClr val="tx1"/>
                </a:solidFill>
                <a:latin typeface="Meiryo UI" panose="020B0604030504040204" pitchFamily="34" charset="-128"/>
                <a:ea typeface="Meiryo UI" panose="020B0604030504040204" pitchFamily="34" charset="-128"/>
              </a:rPr>
              <a:t>AsIs</a:t>
            </a:r>
            <a:r>
              <a:rPr lang="ja-JP" altLang="en-US" sz="900" dirty="0">
                <a:solidFill>
                  <a:schemeClr val="tx1"/>
                </a:solidFill>
                <a:latin typeface="Meiryo UI" panose="020B0604030504040204" pitchFamily="34" charset="-128"/>
                <a:ea typeface="Meiryo UI" panose="020B0604030504040204" pitchFamily="34" charset="-128"/>
              </a:rPr>
              <a:t>業務分析</a:t>
            </a:r>
            <a:br>
              <a:rPr lang="en-US" altLang="ja-JP" sz="900" dirty="0">
                <a:solidFill>
                  <a:schemeClr val="tx1"/>
                </a:solidFill>
                <a:latin typeface="Meiryo UI" panose="020B0604030504040204" pitchFamily="34" charset="-128"/>
                <a:ea typeface="Meiryo UI" panose="020B0604030504040204" pitchFamily="34" charset="-128"/>
              </a:rPr>
            </a:br>
            <a:r>
              <a:rPr lang="en-US" altLang="ja-JP" sz="900" dirty="0">
                <a:solidFill>
                  <a:schemeClr val="tx1"/>
                </a:solidFill>
                <a:latin typeface="Meiryo UI" panose="020B0604030504040204" pitchFamily="34" charset="-128"/>
                <a:ea typeface="Meiryo UI" panose="020B0604030504040204" pitchFamily="34" charset="-128"/>
              </a:rPr>
              <a:t>(#2</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21" name="ホームベース 48">
            <a:extLst>
              <a:ext uri="{FF2B5EF4-FFF2-40B4-BE49-F238E27FC236}">
                <a16:creationId xmlns:a16="http://schemas.microsoft.com/office/drawing/2014/main" id="{5A33BA1C-22BA-164B-9B5C-D36C46BAE016}"/>
              </a:ext>
            </a:extLst>
          </p:cNvPr>
          <p:cNvSpPr/>
          <p:nvPr/>
        </p:nvSpPr>
        <p:spPr>
          <a:xfrm>
            <a:off x="5467615" y="2334875"/>
            <a:ext cx="1897585" cy="288000"/>
          </a:xfrm>
          <a:prstGeom prst="homePlate">
            <a:avLst>
              <a:gd name="adj" fmla="val 15079"/>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業務ﾌﾟﾛｾｽ定義・要件定義</a:t>
            </a:r>
            <a:endParaRPr lang="en-US" altLang="ja-JP" sz="900" dirty="0">
              <a:solidFill>
                <a:schemeClr val="tx1"/>
              </a:solidFill>
              <a:latin typeface="Meiryo UI" panose="020B0604030504040204" pitchFamily="34" charset="-128"/>
              <a:ea typeface="Meiryo UI" panose="020B0604030504040204" pitchFamily="34" charset="-128"/>
            </a:endParaRPr>
          </a:p>
          <a:p>
            <a:r>
              <a:rPr lang="en-US" altLang="ja-JP" sz="900" dirty="0">
                <a:solidFill>
                  <a:schemeClr val="tx1"/>
                </a:solidFill>
                <a:latin typeface="Meiryo UI" panose="020B0604030504040204" pitchFamily="34" charset="-128"/>
                <a:ea typeface="Meiryo UI" panose="020B0604030504040204" pitchFamily="34" charset="-128"/>
              </a:rPr>
              <a:t>(#2</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22" name="ホームベース 48">
            <a:extLst>
              <a:ext uri="{FF2B5EF4-FFF2-40B4-BE49-F238E27FC236}">
                <a16:creationId xmlns:a16="http://schemas.microsoft.com/office/drawing/2014/main" id="{7F75F396-07EE-4E4D-97B6-F3254F262F8D}"/>
              </a:ext>
            </a:extLst>
          </p:cNvPr>
          <p:cNvSpPr/>
          <p:nvPr/>
        </p:nvSpPr>
        <p:spPr>
          <a:xfrm>
            <a:off x="5467615" y="2640204"/>
            <a:ext cx="1883393" cy="288000"/>
          </a:xfrm>
          <a:prstGeom prst="homePlate">
            <a:avLst>
              <a:gd name="adj" fmla="val 15079"/>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err="1">
                <a:solidFill>
                  <a:schemeClr val="tx1"/>
                </a:solidFill>
                <a:latin typeface="Meiryo UI" panose="020B0604030504040204" pitchFamily="34" charset="-128"/>
                <a:ea typeface="Meiryo UI" panose="020B0604030504040204" pitchFamily="34" charset="-128"/>
              </a:rPr>
              <a:t>AsIs</a:t>
            </a:r>
            <a:r>
              <a:rPr lang="ja-JP" altLang="en-US" sz="900" dirty="0">
                <a:solidFill>
                  <a:schemeClr val="tx1"/>
                </a:solidFill>
                <a:latin typeface="Meiryo UI" panose="020B0604030504040204" pitchFamily="34" charset="-128"/>
                <a:ea typeface="Meiryo UI" panose="020B0604030504040204" pitchFamily="34" charset="-128"/>
              </a:rPr>
              <a:t>業務分析</a:t>
            </a:r>
            <a:br>
              <a:rPr lang="en-US" altLang="ja-JP" sz="900" dirty="0">
                <a:solidFill>
                  <a:schemeClr val="tx1"/>
                </a:solidFill>
                <a:latin typeface="Meiryo UI" panose="020B0604030504040204" pitchFamily="34" charset="-128"/>
                <a:ea typeface="Meiryo UI" panose="020B0604030504040204" pitchFamily="34" charset="-128"/>
              </a:rPr>
            </a:br>
            <a:r>
              <a:rPr lang="en-US" altLang="ja-JP" sz="900" dirty="0">
                <a:solidFill>
                  <a:schemeClr val="tx1"/>
                </a:solidFill>
                <a:latin typeface="Meiryo UI" panose="020B0604030504040204" pitchFamily="34" charset="-128"/>
                <a:ea typeface="Meiryo UI" panose="020B0604030504040204" pitchFamily="34" charset="-128"/>
              </a:rPr>
              <a:t>(#3</a:t>
            </a:r>
            <a:r>
              <a:rPr lang="ja-JP" altLang="en-US" sz="900" dirty="0">
                <a:solidFill>
                  <a:schemeClr val="tx1"/>
                </a:solidFill>
                <a:latin typeface="Meiryo UI" panose="020B0604030504040204" pitchFamily="34" charset="-128"/>
                <a:ea typeface="Meiryo UI" panose="020B0604030504040204" pitchFamily="34" charset="-128"/>
              </a:rPr>
              <a:t>財務</a:t>
            </a:r>
            <a:r>
              <a:rPr lang="en-US" altLang="ja-JP" sz="900" dirty="0">
                <a:solidFill>
                  <a:schemeClr val="tx1"/>
                </a:solidFill>
                <a:latin typeface="Meiryo UI" panose="020B0604030504040204" pitchFamily="34" charset="-128"/>
                <a:ea typeface="Meiryo UI" panose="020B0604030504040204" pitchFamily="34" charset="-128"/>
              </a:rPr>
              <a:t>.#4)</a:t>
            </a:r>
          </a:p>
        </p:txBody>
      </p:sp>
      <p:sp>
        <p:nvSpPr>
          <p:cNvPr id="23" name="ホームベース 48">
            <a:extLst>
              <a:ext uri="{FF2B5EF4-FFF2-40B4-BE49-F238E27FC236}">
                <a16:creationId xmlns:a16="http://schemas.microsoft.com/office/drawing/2014/main" id="{CABE713E-02A4-454E-AC6E-28D2ED2CE8BA}"/>
              </a:ext>
            </a:extLst>
          </p:cNvPr>
          <p:cNvSpPr/>
          <p:nvPr/>
        </p:nvSpPr>
        <p:spPr>
          <a:xfrm>
            <a:off x="7365200" y="2640204"/>
            <a:ext cx="1897584" cy="288000"/>
          </a:xfrm>
          <a:prstGeom prst="homePlate">
            <a:avLst>
              <a:gd name="adj" fmla="val 15079"/>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業務ﾌﾟﾛｾｽ定義・要件定義</a:t>
            </a:r>
            <a:endParaRPr lang="en-US" altLang="ja-JP" sz="900" dirty="0">
              <a:solidFill>
                <a:schemeClr val="tx1"/>
              </a:solidFill>
              <a:latin typeface="Meiryo UI" panose="020B0604030504040204" pitchFamily="34" charset="-128"/>
              <a:ea typeface="Meiryo UI" panose="020B0604030504040204" pitchFamily="34" charset="-128"/>
            </a:endParaRPr>
          </a:p>
          <a:p>
            <a:r>
              <a:rPr lang="en-US" altLang="ja-JP" sz="900" dirty="0">
                <a:solidFill>
                  <a:schemeClr val="tx1"/>
                </a:solidFill>
                <a:latin typeface="Meiryo UI" panose="020B0604030504040204" pitchFamily="34" charset="-128"/>
                <a:ea typeface="Meiryo UI" panose="020B0604030504040204" pitchFamily="34" charset="-128"/>
              </a:rPr>
              <a:t>(#3</a:t>
            </a:r>
            <a:r>
              <a:rPr lang="ja-JP" altLang="en-US" sz="900" dirty="0">
                <a:solidFill>
                  <a:schemeClr val="tx1"/>
                </a:solidFill>
                <a:latin typeface="Meiryo UI" panose="020B0604030504040204" pitchFamily="34" charset="-128"/>
                <a:ea typeface="Meiryo UI" panose="020B0604030504040204" pitchFamily="34" charset="-128"/>
              </a:rPr>
              <a:t>財務</a:t>
            </a:r>
            <a:r>
              <a:rPr lang="en-US" altLang="ja-JP" sz="900" dirty="0">
                <a:solidFill>
                  <a:schemeClr val="tx1"/>
                </a:solidFill>
                <a:latin typeface="Meiryo UI" panose="020B0604030504040204" pitchFamily="34" charset="-128"/>
                <a:ea typeface="Meiryo UI" panose="020B0604030504040204" pitchFamily="34" charset="-128"/>
              </a:rPr>
              <a:t>.#4)</a:t>
            </a:r>
          </a:p>
        </p:txBody>
      </p:sp>
      <p:sp>
        <p:nvSpPr>
          <p:cNvPr id="24" name="ホームベース 126">
            <a:extLst>
              <a:ext uri="{FF2B5EF4-FFF2-40B4-BE49-F238E27FC236}">
                <a16:creationId xmlns:a16="http://schemas.microsoft.com/office/drawing/2014/main" id="{9C48C2C3-59E1-C243-8A75-93CD1AA364BD}"/>
              </a:ext>
            </a:extLst>
          </p:cNvPr>
          <p:cNvSpPr/>
          <p:nvPr/>
        </p:nvSpPr>
        <p:spPr>
          <a:xfrm>
            <a:off x="3548751" y="2640204"/>
            <a:ext cx="1147703"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他部門</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変革ﾃｰﾏ調査</a:t>
            </a:r>
          </a:p>
        </p:txBody>
      </p:sp>
      <p:cxnSp>
        <p:nvCxnSpPr>
          <p:cNvPr id="25" name="直線矢印コネクタ 314">
            <a:extLst>
              <a:ext uri="{FF2B5EF4-FFF2-40B4-BE49-F238E27FC236}">
                <a16:creationId xmlns:a16="http://schemas.microsoft.com/office/drawing/2014/main" id="{9007AF99-DD7B-7641-BEB0-DE8BFBEDE0B1}"/>
              </a:ext>
            </a:extLst>
          </p:cNvPr>
          <p:cNvCxnSpPr>
            <a:cxnSpLocks/>
            <a:stCxn id="24" idx="3"/>
            <a:endCxn id="17" idx="1"/>
          </p:cNvCxnSpPr>
          <p:nvPr/>
        </p:nvCxnSpPr>
        <p:spPr>
          <a:xfrm>
            <a:off x="4696454" y="2784204"/>
            <a:ext cx="192538" cy="31630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314">
            <a:extLst>
              <a:ext uri="{FF2B5EF4-FFF2-40B4-BE49-F238E27FC236}">
                <a16:creationId xmlns:a16="http://schemas.microsoft.com/office/drawing/2014/main" id="{7A41E796-7BC3-664C-AC9F-CAF3006A1ECC}"/>
              </a:ext>
            </a:extLst>
          </p:cNvPr>
          <p:cNvCxnSpPr>
            <a:cxnSpLocks/>
            <a:stCxn id="24" idx="3"/>
            <a:endCxn id="19" idx="1"/>
          </p:cNvCxnSpPr>
          <p:nvPr/>
        </p:nvCxnSpPr>
        <p:spPr>
          <a:xfrm>
            <a:off x="4696454" y="2784204"/>
            <a:ext cx="192538" cy="644443"/>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6440E660-D0CF-434A-93F8-400281C4748A}"/>
              </a:ext>
            </a:extLst>
          </p:cNvPr>
          <p:cNvSpPr/>
          <p:nvPr/>
        </p:nvSpPr>
        <p:spPr>
          <a:xfrm>
            <a:off x="656616" y="3918345"/>
            <a:ext cx="1094501" cy="369332"/>
          </a:xfrm>
          <a:prstGeom prst="rect">
            <a:avLst/>
          </a:prstGeom>
        </p:spPr>
        <p:txBody>
          <a:bodyPr>
            <a:spAutoFit/>
          </a:bodyPr>
          <a:lstStyle/>
          <a:p>
            <a:pPr algn="ctr"/>
            <a:r>
              <a:rPr lang="ja-JP" altLang="en-US" sz="900" dirty="0">
                <a:latin typeface="Meiryo UI" panose="020B0604030504040204" pitchFamily="50" charset="-128"/>
                <a:ea typeface="Meiryo UI" panose="020B0604030504040204" pitchFamily="50" charset="-128"/>
              </a:rPr>
              <a:t>モックシナリオ＆</a:t>
            </a:r>
          </a:p>
          <a:p>
            <a:pPr algn="ctr"/>
            <a:r>
              <a:rPr lang="ja-JP" altLang="en-US" sz="900" dirty="0">
                <a:latin typeface="Meiryo UI" panose="020B0604030504040204" pitchFamily="50" charset="-128"/>
                <a:ea typeface="Meiryo UI" panose="020B0604030504040204" pitchFamily="50" charset="-128"/>
              </a:rPr>
              <a:t>データモデル</a:t>
            </a:r>
          </a:p>
        </p:txBody>
      </p:sp>
      <p:sp>
        <p:nvSpPr>
          <p:cNvPr id="28" name="正方形/長方形 27">
            <a:extLst>
              <a:ext uri="{FF2B5EF4-FFF2-40B4-BE49-F238E27FC236}">
                <a16:creationId xmlns:a16="http://schemas.microsoft.com/office/drawing/2014/main" id="{12610A44-2C97-174D-9A07-950CC344F1FF}"/>
              </a:ext>
            </a:extLst>
          </p:cNvPr>
          <p:cNvSpPr/>
          <p:nvPr/>
        </p:nvSpPr>
        <p:spPr>
          <a:xfrm>
            <a:off x="656616" y="4830526"/>
            <a:ext cx="1094501" cy="230832"/>
          </a:xfrm>
          <a:prstGeom prst="rect">
            <a:avLst/>
          </a:prstGeom>
        </p:spPr>
        <p:txBody>
          <a:bodyPr>
            <a:spAutoFit/>
          </a:bodyPr>
          <a:lstStyle/>
          <a:p>
            <a:pPr algn="ctr"/>
            <a:r>
              <a:rPr lang="en-US" altLang="zh-TW" sz="900" dirty="0">
                <a:latin typeface="Meiryo UI" panose="020B0604030504040204" pitchFamily="50" charset="-128"/>
                <a:ea typeface="Meiryo UI" panose="020B0604030504040204" pitchFamily="50" charset="-128"/>
              </a:rPr>
              <a:t>IT</a:t>
            </a:r>
            <a:r>
              <a:rPr lang="ja-JP" altLang="en-US" sz="900" dirty="0">
                <a:latin typeface="Meiryo UI" panose="020B0604030504040204" pitchFamily="50" charset="-128"/>
                <a:ea typeface="Meiryo UI" panose="020B0604030504040204" pitchFamily="50" charset="-128"/>
              </a:rPr>
              <a:t>アーキ</a:t>
            </a:r>
            <a:r>
              <a:rPr lang="zh-TW" altLang="en-US" sz="900" dirty="0">
                <a:latin typeface="Meiryo UI" panose="020B0604030504040204" pitchFamily="50" charset="-128"/>
                <a:ea typeface="Meiryo UI" panose="020B0604030504040204" pitchFamily="50" charset="-128"/>
              </a:rPr>
              <a:t>設計</a:t>
            </a:r>
          </a:p>
        </p:txBody>
      </p:sp>
      <p:sp>
        <p:nvSpPr>
          <p:cNvPr id="29" name="正方形/長方形 28">
            <a:extLst>
              <a:ext uri="{FF2B5EF4-FFF2-40B4-BE49-F238E27FC236}">
                <a16:creationId xmlns:a16="http://schemas.microsoft.com/office/drawing/2014/main" id="{1F12D99B-9901-E34B-B7A2-A4E9A61585A4}"/>
              </a:ext>
            </a:extLst>
          </p:cNvPr>
          <p:cNvSpPr/>
          <p:nvPr/>
        </p:nvSpPr>
        <p:spPr>
          <a:xfrm>
            <a:off x="656616" y="5289223"/>
            <a:ext cx="1094501" cy="230832"/>
          </a:xfrm>
          <a:prstGeom prst="rect">
            <a:avLst/>
          </a:prstGeom>
        </p:spPr>
        <p:txBody>
          <a:bodyPr>
            <a:spAutoFit/>
          </a:bodyPr>
          <a:lstStyle/>
          <a:p>
            <a:pPr algn="ctr"/>
            <a:r>
              <a:rPr lang="ja-JP" altLang="en-US" sz="900" dirty="0">
                <a:latin typeface="Meiryo UI" panose="020B0604030504040204" pitchFamily="50" charset="-128"/>
                <a:ea typeface="Meiryo UI" panose="020B0604030504040204" pitchFamily="50" charset="-128"/>
              </a:rPr>
              <a:t>モック環境実装</a:t>
            </a:r>
          </a:p>
        </p:txBody>
      </p:sp>
      <p:sp>
        <p:nvSpPr>
          <p:cNvPr id="30" name="二等辺三角形 179">
            <a:extLst>
              <a:ext uri="{FF2B5EF4-FFF2-40B4-BE49-F238E27FC236}">
                <a16:creationId xmlns:a16="http://schemas.microsoft.com/office/drawing/2014/main" id="{0959EEA4-29B5-6147-A83B-A1F524CB4FA6}"/>
              </a:ext>
            </a:extLst>
          </p:cNvPr>
          <p:cNvSpPr/>
          <p:nvPr/>
        </p:nvSpPr>
        <p:spPr>
          <a:xfrm flipV="1">
            <a:off x="3471462" y="1896836"/>
            <a:ext cx="180000" cy="108000"/>
          </a:xfrm>
          <a:prstGeom prst="triangle">
            <a:avLst/>
          </a:prstGeom>
          <a:solidFill>
            <a:srgbClr val="FF0000"/>
          </a:soli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p>
            <a:pPr algn="ctr" defTabSz="457133">
              <a:lnSpc>
                <a:spcPct val="85000"/>
              </a:lnSpc>
            </a:pP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31" name="テキスト ボックス 30">
            <a:extLst>
              <a:ext uri="{FF2B5EF4-FFF2-40B4-BE49-F238E27FC236}">
                <a16:creationId xmlns:a16="http://schemas.microsoft.com/office/drawing/2014/main" id="{AB84F580-8963-A54A-9A8D-3F8F258FCD95}"/>
              </a:ext>
            </a:extLst>
          </p:cNvPr>
          <p:cNvSpPr txBox="1"/>
          <p:nvPr/>
        </p:nvSpPr>
        <p:spPr>
          <a:xfrm>
            <a:off x="2305634" y="1766170"/>
            <a:ext cx="1275667" cy="369332"/>
          </a:xfrm>
          <a:prstGeom prst="rect">
            <a:avLst/>
          </a:prstGeom>
          <a:noFill/>
        </p:spPr>
        <p:txBody>
          <a:bodyPr wrap="square" rtlCol="0">
            <a:spAutoFit/>
          </a:bodyPr>
          <a:lstStyle/>
          <a:p>
            <a:pPr algn="ctr"/>
            <a:r>
              <a:rPr lang="ja-JP" altLang="en-US" sz="900" dirty="0">
                <a:latin typeface="Meiryo UI" panose="020B0604030504040204" pitchFamily="34" charset="-128"/>
                <a:ea typeface="Meiryo UI" panose="020B0604030504040204" pitchFamily="34" charset="-128"/>
              </a:rPr>
              <a:t>変革ﾃｰﾏ導出</a:t>
            </a:r>
            <a:endParaRPr lang="en-US" altLang="ja-JP" sz="900" dirty="0">
              <a:latin typeface="Meiryo UI" panose="020B0604030504040204" pitchFamily="34" charset="-128"/>
              <a:ea typeface="Meiryo UI" panose="020B0604030504040204" pitchFamily="34" charset="-128"/>
            </a:endParaRPr>
          </a:p>
          <a:p>
            <a:pPr algn="ctr"/>
            <a:r>
              <a:rPr lang="en-US" altLang="ja-JP" sz="900" dirty="0">
                <a:latin typeface="Meiryo UI" panose="020B0604030504040204" pitchFamily="34" charset="-128"/>
                <a:ea typeface="Meiryo UI" panose="020B0604030504040204" pitchFamily="34" charset="-128"/>
              </a:rPr>
              <a:t>(</a:t>
            </a:r>
            <a:r>
              <a:rPr lang="ja-JP" altLang="en-US" sz="900" dirty="0">
                <a:latin typeface="Meiryo UI" panose="020B0604030504040204" pitchFamily="34" charset="-128"/>
                <a:ea typeface="Meiryo UI" panose="020B0604030504040204" pitchFamily="34" charset="-128"/>
              </a:rPr>
              <a:t>財務、調達、品証）</a:t>
            </a:r>
          </a:p>
        </p:txBody>
      </p:sp>
      <p:sp>
        <p:nvSpPr>
          <p:cNvPr id="32" name="二等辺三角形 187">
            <a:extLst>
              <a:ext uri="{FF2B5EF4-FFF2-40B4-BE49-F238E27FC236}">
                <a16:creationId xmlns:a16="http://schemas.microsoft.com/office/drawing/2014/main" id="{904ABF74-5092-3545-A508-26EFF3891038}"/>
              </a:ext>
            </a:extLst>
          </p:cNvPr>
          <p:cNvSpPr/>
          <p:nvPr/>
        </p:nvSpPr>
        <p:spPr>
          <a:xfrm flipV="1">
            <a:off x="4724673" y="1896836"/>
            <a:ext cx="180000" cy="108000"/>
          </a:xfrm>
          <a:prstGeom prst="triangle">
            <a:avLst/>
          </a:prstGeom>
          <a:solidFill>
            <a:srgbClr val="FF0000"/>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none" lIns="36000" tIns="72000" rIns="36000" bIns="0" anchor="ctr"/>
          <a:lstStyle/>
          <a:p>
            <a:pPr algn="ctr" defTabSz="457133">
              <a:lnSpc>
                <a:spcPct val="85000"/>
              </a:lnSpc>
            </a:pP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33" name="テキスト ボックス 32">
            <a:extLst>
              <a:ext uri="{FF2B5EF4-FFF2-40B4-BE49-F238E27FC236}">
                <a16:creationId xmlns:a16="http://schemas.microsoft.com/office/drawing/2014/main" id="{FD758CDB-62FB-0B45-ACBC-3A6D5F40464D}"/>
              </a:ext>
            </a:extLst>
          </p:cNvPr>
          <p:cNvSpPr txBox="1"/>
          <p:nvPr/>
        </p:nvSpPr>
        <p:spPr>
          <a:xfrm>
            <a:off x="3950826" y="1764432"/>
            <a:ext cx="871297" cy="369332"/>
          </a:xfrm>
          <a:prstGeom prst="rect">
            <a:avLst/>
          </a:prstGeom>
          <a:noFill/>
        </p:spPr>
        <p:txBody>
          <a:bodyPr wrap="square" rtlCol="0">
            <a:spAutoFit/>
          </a:bodyPr>
          <a:lstStyle/>
          <a:p>
            <a:pPr algn="ctr"/>
            <a:r>
              <a:rPr lang="ja-JP" altLang="en-US" sz="900" dirty="0">
                <a:latin typeface="Meiryo UI" panose="020B0604030504040204" pitchFamily="34" charset="-128"/>
                <a:ea typeface="Meiryo UI" panose="020B0604030504040204" pitchFamily="34" charset="-128"/>
              </a:rPr>
              <a:t>変革ﾃｰﾏ導出</a:t>
            </a:r>
            <a:endParaRPr lang="en-US" altLang="ja-JP" sz="900" dirty="0">
              <a:latin typeface="Meiryo UI" panose="020B0604030504040204" pitchFamily="34" charset="-128"/>
              <a:ea typeface="Meiryo UI" panose="020B0604030504040204" pitchFamily="34" charset="-128"/>
            </a:endParaRPr>
          </a:p>
          <a:p>
            <a:pPr algn="ctr"/>
            <a:r>
              <a:rPr lang="en-US" altLang="ja-JP" sz="900" dirty="0">
                <a:latin typeface="Meiryo UI" panose="020B0604030504040204" pitchFamily="34" charset="-128"/>
                <a:ea typeface="Meiryo UI" panose="020B0604030504040204" pitchFamily="34" charset="-128"/>
              </a:rPr>
              <a:t>(</a:t>
            </a:r>
            <a:r>
              <a:rPr lang="ja-JP" altLang="en-US" sz="900" dirty="0">
                <a:latin typeface="Meiryo UI" panose="020B0604030504040204" pitchFamily="34" charset="-128"/>
                <a:ea typeface="Meiryo UI" panose="020B0604030504040204" pitchFamily="34" charset="-128"/>
              </a:rPr>
              <a:t>他</a:t>
            </a:r>
            <a:r>
              <a:rPr lang="en-US" altLang="ja-JP" sz="900" dirty="0">
                <a:latin typeface="Meiryo UI" panose="020B0604030504040204" pitchFamily="34" charset="-128"/>
                <a:ea typeface="Meiryo UI" panose="020B0604030504040204" pitchFamily="34" charset="-128"/>
              </a:rPr>
              <a:t>BU</a:t>
            </a:r>
            <a:r>
              <a:rPr lang="ja-JP" altLang="en-US" sz="900" dirty="0">
                <a:latin typeface="Meiryo UI" panose="020B0604030504040204" pitchFamily="34" charset="-128"/>
                <a:ea typeface="Meiryo UI" panose="020B0604030504040204" pitchFamily="34" charset="-128"/>
              </a:rPr>
              <a:t>）</a:t>
            </a:r>
          </a:p>
        </p:txBody>
      </p:sp>
      <p:sp>
        <p:nvSpPr>
          <p:cNvPr id="34" name="二等辺三角形 191">
            <a:extLst>
              <a:ext uri="{FF2B5EF4-FFF2-40B4-BE49-F238E27FC236}">
                <a16:creationId xmlns:a16="http://schemas.microsoft.com/office/drawing/2014/main" id="{7A293BDF-EFA4-8D4D-B485-FA61B68BEA03}"/>
              </a:ext>
            </a:extLst>
          </p:cNvPr>
          <p:cNvSpPr/>
          <p:nvPr/>
        </p:nvSpPr>
        <p:spPr>
          <a:xfrm flipV="1">
            <a:off x="7270421" y="1896836"/>
            <a:ext cx="180000" cy="108000"/>
          </a:xfrm>
          <a:prstGeom prst="triangle">
            <a:avLst/>
          </a:prstGeom>
          <a:solidFill>
            <a:srgbClr val="FF0000"/>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none" lIns="36000" tIns="72000" rIns="36000" bIns="0" anchor="ctr"/>
          <a:lstStyle/>
          <a:p>
            <a:pPr algn="ctr" defTabSz="457133">
              <a:lnSpc>
                <a:spcPct val="85000"/>
              </a:lnSpc>
            </a:pP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35" name="テキスト ボックス 34">
            <a:extLst>
              <a:ext uri="{FF2B5EF4-FFF2-40B4-BE49-F238E27FC236}">
                <a16:creationId xmlns:a16="http://schemas.microsoft.com/office/drawing/2014/main" id="{BAD09745-521D-394D-8AA8-EAB9308D3B75}"/>
              </a:ext>
            </a:extLst>
          </p:cNvPr>
          <p:cNvSpPr txBox="1"/>
          <p:nvPr/>
        </p:nvSpPr>
        <p:spPr>
          <a:xfrm>
            <a:off x="6026060" y="1749844"/>
            <a:ext cx="1403234" cy="369332"/>
          </a:xfrm>
          <a:prstGeom prst="rect">
            <a:avLst/>
          </a:prstGeom>
          <a:noFill/>
        </p:spPr>
        <p:txBody>
          <a:bodyPr wrap="square" rtlCol="0">
            <a:spAutoFit/>
          </a:bodyPr>
          <a:lstStyle/>
          <a:p>
            <a:pPr algn="ctr"/>
            <a:r>
              <a:rPr lang="en-US" altLang="ja-JP" sz="900" dirty="0">
                <a:latin typeface="Meiryo UI" panose="020B0604030504040204" pitchFamily="34" charset="-128"/>
                <a:ea typeface="Meiryo UI" panose="020B0604030504040204" pitchFamily="34" charset="-128"/>
              </a:rPr>
              <a:t>GEMS</a:t>
            </a:r>
            <a:r>
              <a:rPr lang="ja-JP" altLang="en-US" sz="900" dirty="0">
                <a:latin typeface="Meiryo UI" panose="020B0604030504040204" pitchFamily="34" charset="-128"/>
                <a:ea typeface="Meiryo UI" panose="020B0604030504040204" pitchFamily="34" charset="-128"/>
              </a:rPr>
              <a:t>対応ﾌﾟﾛｾｽ定義</a:t>
            </a:r>
            <a:endParaRPr lang="en-US" altLang="ja-JP" sz="900" dirty="0">
              <a:latin typeface="Meiryo UI" panose="020B0604030504040204" pitchFamily="34" charset="-128"/>
              <a:ea typeface="Meiryo UI" panose="020B0604030504040204" pitchFamily="34" charset="-128"/>
            </a:endParaRPr>
          </a:p>
          <a:p>
            <a:pPr algn="ctr"/>
            <a:r>
              <a:rPr lang="en-US" altLang="ja-JP" sz="900" dirty="0">
                <a:latin typeface="Meiryo UI" panose="020B0604030504040204" pitchFamily="34" charset="-128"/>
                <a:ea typeface="Meiryo UI" panose="020B0604030504040204" pitchFamily="34" charset="-128"/>
              </a:rPr>
              <a:t>(</a:t>
            </a:r>
            <a:r>
              <a:rPr lang="ja-JP" altLang="en-US" sz="900" dirty="0">
                <a:latin typeface="Meiryo UI" panose="020B0604030504040204" pitchFamily="34" charset="-128"/>
                <a:ea typeface="Meiryo UI" panose="020B0604030504040204" pitchFamily="34" charset="-128"/>
              </a:rPr>
              <a:t>財務、調達</a:t>
            </a:r>
            <a:r>
              <a:rPr lang="en-US" altLang="ja-JP" sz="900" dirty="0">
                <a:latin typeface="Meiryo UI" panose="020B0604030504040204" pitchFamily="34" charset="-128"/>
                <a:ea typeface="Meiryo UI" panose="020B0604030504040204" pitchFamily="34" charset="-128"/>
              </a:rPr>
              <a:t>)</a:t>
            </a:r>
            <a:endParaRPr lang="ja-JP" altLang="en-US" sz="900" dirty="0">
              <a:latin typeface="Meiryo UI" panose="020B0604030504040204" pitchFamily="34" charset="-128"/>
              <a:ea typeface="Meiryo UI" panose="020B0604030504040204" pitchFamily="34" charset="-128"/>
            </a:endParaRPr>
          </a:p>
        </p:txBody>
      </p:sp>
      <p:sp>
        <p:nvSpPr>
          <p:cNvPr id="36" name="二等辺三角形 193">
            <a:extLst>
              <a:ext uri="{FF2B5EF4-FFF2-40B4-BE49-F238E27FC236}">
                <a16:creationId xmlns:a16="http://schemas.microsoft.com/office/drawing/2014/main" id="{61C96F8E-BC3D-6C42-AC70-623067E5EF8E}"/>
              </a:ext>
            </a:extLst>
          </p:cNvPr>
          <p:cNvSpPr/>
          <p:nvPr/>
        </p:nvSpPr>
        <p:spPr>
          <a:xfrm flipV="1">
            <a:off x="9069000" y="1896836"/>
            <a:ext cx="180000" cy="108000"/>
          </a:xfrm>
          <a:prstGeom prst="triangle">
            <a:avLst/>
          </a:prstGeom>
          <a:solidFill>
            <a:srgbClr val="FF0000"/>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none" lIns="36000" tIns="72000" rIns="36000" bIns="0" anchor="ctr"/>
          <a:lstStyle/>
          <a:p>
            <a:pPr algn="ctr" defTabSz="457133">
              <a:lnSpc>
                <a:spcPct val="85000"/>
              </a:lnSpc>
            </a:pP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37" name="テキスト ボックス 36">
            <a:extLst>
              <a:ext uri="{FF2B5EF4-FFF2-40B4-BE49-F238E27FC236}">
                <a16:creationId xmlns:a16="http://schemas.microsoft.com/office/drawing/2014/main" id="{F62D1573-E356-4542-83AB-B285A0E0751E}"/>
              </a:ext>
            </a:extLst>
          </p:cNvPr>
          <p:cNvSpPr txBox="1"/>
          <p:nvPr/>
        </p:nvSpPr>
        <p:spPr>
          <a:xfrm>
            <a:off x="8311348" y="1764432"/>
            <a:ext cx="871297" cy="369332"/>
          </a:xfrm>
          <a:prstGeom prst="rect">
            <a:avLst/>
          </a:prstGeom>
          <a:noFill/>
        </p:spPr>
        <p:txBody>
          <a:bodyPr wrap="square" rtlCol="0">
            <a:spAutoFit/>
          </a:bodyPr>
          <a:lstStyle/>
          <a:p>
            <a:pPr algn="ctr"/>
            <a:r>
              <a:rPr lang="en-US" altLang="ja-JP" sz="900" dirty="0">
                <a:latin typeface="Meiryo UI" panose="020B0604030504040204" pitchFamily="34" charset="-128"/>
                <a:ea typeface="Meiryo UI" panose="020B0604030504040204" pitchFamily="34" charset="-128"/>
              </a:rPr>
              <a:t>GEMS</a:t>
            </a:r>
            <a:r>
              <a:rPr lang="ja-JP" altLang="en-US" sz="900" dirty="0">
                <a:latin typeface="Meiryo UI" panose="020B0604030504040204" pitchFamily="34" charset="-128"/>
                <a:ea typeface="Meiryo UI" panose="020B0604030504040204" pitchFamily="34" charset="-128"/>
              </a:rPr>
              <a:t>対応</a:t>
            </a:r>
            <a:endParaRPr lang="en-US" altLang="ja-JP" sz="900" dirty="0">
              <a:latin typeface="Meiryo UI" panose="020B0604030504040204" pitchFamily="34" charset="-128"/>
              <a:ea typeface="Meiryo UI" panose="020B0604030504040204" pitchFamily="34" charset="-128"/>
            </a:endParaRPr>
          </a:p>
          <a:p>
            <a:pPr algn="ctr"/>
            <a:r>
              <a:rPr lang="ja-JP" altLang="en-US" sz="900" dirty="0">
                <a:latin typeface="Meiryo UI" panose="020B0604030504040204" pitchFamily="34" charset="-128"/>
                <a:ea typeface="Meiryo UI" panose="020B0604030504040204" pitchFamily="34" charset="-128"/>
              </a:rPr>
              <a:t>ﾌﾟﾛｾｽ定義</a:t>
            </a:r>
          </a:p>
        </p:txBody>
      </p:sp>
      <p:sp>
        <p:nvSpPr>
          <p:cNvPr id="38" name="ホームベース 32">
            <a:extLst>
              <a:ext uri="{FF2B5EF4-FFF2-40B4-BE49-F238E27FC236}">
                <a16:creationId xmlns:a16="http://schemas.microsoft.com/office/drawing/2014/main" id="{920494C5-2F50-644B-B266-4B5D2CA9076B}"/>
              </a:ext>
            </a:extLst>
          </p:cNvPr>
          <p:cNvSpPr/>
          <p:nvPr/>
        </p:nvSpPr>
        <p:spPr>
          <a:xfrm>
            <a:off x="2275623" y="3959011"/>
            <a:ext cx="1273128" cy="288000"/>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r"/>
            <a:r>
              <a:rPr lang="ja-JP" altLang="en-US" sz="900" dirty="0">
                <a:solidFill>
                  <a:schemeClr val="tx1"/>
                </a:solidFill>
                <a:latin typeface="Meiryo UI" panose="020B0604030504040204" pitchFamily="34" charset="-128"/>
                <a:ea typeface="Meiryo UI" panose="020B0604030504040204" pitchFamily="34" charset="-128"/>
              </a:rPr>
              <a:t>ﾃﾞｰﾀﾓﾃﾞﾙ整理</a:t>
            </a:r>
            <a:endParaRPr lang="en-US" altLang="ja-JP" sz="900" dirty="0">
              <a:solidFill>
                <a:schemeClr val="tx1"/>
              </a:solidFill>
              <a:latin typeface="Meiryo UI" panose="020B0604030504040204" pitchFamily="34" charset="-128"/>
              <a:ea typeface="Meiryo UI" panose="020B0604030504040204" pitchFamily="34" charset="-128"/>
            </a:endParaRPr>
          </a:p>
          <a:p>
            <a:pPr algn="r"/>
            <a:r>
              <a:rPr lang="ja-JP" altLang="en-US" sz="900" dirty="0">
                <a:solidFill>
                  <a:schemeClr val="tx1"/>
                </a:solidFill>
                <a:latin typeface="Meiryo UI" panose="020B0604030504040204" pitchFamily="34" charset="-128"/>
                <a:ea typeface="Meiryo UI" panose="020B0604030504040204" pitchFamily="34" charset="-128"/>
              </a:rPr>
              <a:t>（概略ﾃﾞｰﾀﾌﾛｰ、ﾃﾞｰﾀﾓﾃﾞﾙ図）</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39" name="テキスト ボックス 38">
            <a:extLst>
              <a:ext uri="{FF2B5EF4-FFF2-40B4-BE49-F238E27FC236}">
                <a16:creationId xmlns:a16="http://schemas.microsoft.com/office/drawing/2014/main" id="{C602C16C-A7DD-524C-A198-19555E2B218C}"/>
              </a:ext>
            </a:extLst>
          </p:cNvPr>
          <p:cNvSpPr txBox="1"/>
          <p:nvPr/>
        </p:nvSpPr>
        <p:spPr>
          <a:xfrm>
            <a:off x="2394476" y="2054757"/>
            <a:ext cx="1351185" cy="230832"/>
          </a:xfrm>
          <a:prstGeom prst="rect">
            <a:avLst/>
          </a:prstGeom>
          <a:noFill/>
        </p:spPr>
        <p:txBody>
          <a:bodyPr wrap="square" rtlCol="0">
            <a:spAutoFit/>
          </a:bodyPr>
          <a:lstStyle>
            <a:defPPr>
              <a:defRPr lang="ja-JP"/>
            </a:defPPr>
            <a:lvl1pPr algn="ctr">
              <a:defRPr sz="900"/>
            </a:lvl1pPr>
          </a:lstStyle>
          <a:p>
            <a:r>
              <a:rPr lang="ja-JP" altLang="en-US" dirty="0">
                <a:latin typeface="Meiryo UI" panose="020B0604030504040204" pitchFamily="34" charset="-128"/>
                <a:ea typeface="Meiryo UI" panose="020B0604030504040204" pitchFamily="34" charset="-128"/>
              </a:rPr>
              <a:t>試行開始</a:t>
            </a:r>
            <a:endParaRPr lang="en-US" altLang="ja-JP" dirty="0">
              <a:latin typeface="Meiryo UI" panose="020B0604030504040204" pitchFamily="34" charset="-128"/>
              <a:ea typeface="Meiryo UI" panose="020B0604030504040204" pitchFamily="34" charset="-128"/>
            </a:endParaRPr>
          </a:p>
        </p:txBody>
      </p:sp>
      <p:sp>
        <p:nvSpPr>
          <p:cNvPr id="40" name="ホームベース 32">
            <a:extLst>
              <a:ext uri="{FF2B5EF4-FFF2-40B4-BE49-F238E27FC236}">
                <a16:creationId xmlns:a16="http://schemas.microsoft.com/office/drawing/2014/main" id="{F431C0DB-69C2-F347-96DE-CA123AF34D38}"/>
              </a:ext>
            </a:extLst>
          </p:cNvPr>
          <p:cNvSpPr/>
          <p:nvPr/>
        </p:nvSpPr>
        <p:spPr>
          <a:xfrm>
            <a:off x="5465611" y="3959011"/>
            <a:ext cx="1899589" cy="288000"/>
          </a:xfrm>
          <a:prstGeom prst="homePlate">
            <a:avLst>
              <a:gd name="adj" fmla="val 15043"/>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#3</a:t>
            </a:r>
            <a:r>
              <a:rPr lang="ja-JP" altLang="en-US" sz="900" dirty="0">
                <a:solidFill>
                  <a:schemeClr val="tx1"/>
                </a:solidFill>
                <a:latin typeface="Meiryo UI" panose="020B0604030504040204" pitchFamily="34" charset="-128"/>
                <a:ea typeface="Meiryo UI" panose="020B0604030504040204" pitchFamily="34" charset="-128"/>
              </a:rPr>
              <a:t>（財務）、</a:t>
            </a:r>
            <a:r>
              <a:rPr lang="en-US" altLang="ja-JP" sz="900" dirty="0">
                <a:solidFill>
                  <a:schemeClr val="tx1"/>
                </a:solidFill>
                <a:latin typeface="Meiryo UI" panose="020B0604030504040204" pitchFamily="34" charset="-128"/>
                <a:ea typeface="Meiryo UI" panose="020B0604030504040204" pitchFamily="34" charset="-128"/>
              </a:rPr>
              <a:t>4</a:t>
            </a:r>
            <a:r>
              <a:rPr lang="ja-JP" altLang="en-US" sz="900" dirty="0">
                <a:solidFill>
                  <a:schemeClr val="tx1"/>
                </a:solidFill>
                <a:latin typeface="Meiryo UI" panose="020B0604030504040204" pitchFamily="34" charset="-128"/>
                <a:ea typeface="Meiryo UI" panose="020B0604030504040204" pitchFamily="34" charset="-128"/>
              </a:rPr>
              <a:t>（</a:t>
            </a:r>
            <a:r>
              <a:rPr lang="en-US" altLang="ja-JP" sz="900" dirty="0">
                <a:solidFill>
                  <a:schemeClr val="tx1"/>
                </a:solidFill>
                <a:latin typeface="Meiryo UI" panose="020B0604030504040204" pitchFamily="34" charset="-128"/>
                <a:ea typeface="Meiryo UI" panose="020B0604030504040204" pitchFamily="34" charset="-128"/>
              </a:rPr>
              <a:t>TBD</a:t>
            </a:r>
            <a:r>
              <a:rPr lang="ja-JP" altLang="en-US" sz="900" dirty="0">
                <a:solidFill>
                  <a:schemeClr val="tx1"/>
                </a:solidFill>
                <a:latin typeface="Meiryo UI" panose="020B0604030504040204" pitchFamily="34" charset="-128"/>
                <a:ea typeface="Meiryo UI" panose="020B0604030504040204" pitchFamily="34" charset="-128"/>
              </a:rPr>
              <a:t>）</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dirty="0">
                <a:solidFill>
                  <a:schemeClr val="tx1"/>
                </a:solidFill>
                <a:latin typeface="Meiryo UI" panose="020B0604030504040204" pitchFamily="34" charset="-128"/>
                <a:ea typeface="Meiryo UI" panose="020B0604030504040204" pitchFamily="34" charset="-128"/>
              </a:rPr>
              <a:t>ｼﾅﾘｵ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ﾃｽﾄｹｰｽ</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ﾃﾞｰﾀﾓﾃﾞﾙ</a:t>
            </a:r>
            <a:endParaRPr lang="en-US" altLang="ja-JP" sz="900" dirty="0">
              <a:solidFill>
                <a:schemeClr val="tx1"/>
              </a:solidFill>
              <a:latin typeface="Meiryo UI" panose="020B0604030504040204" pitchFamily="34" charset="-128"/>
              <a:ea typeface="Meiryo UI" panose="020B0604030504040204" pitchFamily="34" charset="-128"/>
            </a:endParaRPr>
          </a:p>
        </p:txBody>
      </p:sp>
      <p:cxnSp>
        <p:nvCxnSpPr>
          <p:cNvPr id="41" name="直線矢印コネクタ 314">
            <a:extLst>
              <a:ext uri="{FF2B5EF4-FFF2-40B4-BE49-F238E27FC236}">
                <a16:creationId xmlns:a16="http://schemas.microsoft.com/office/drawing/2014/main" id="{C065D3B4-818C-0E46-ABE4-4E59449FF314}"/>
              </a:ext>
            </a:extLst>
          </p:cNvPr>
          <p:cNvCxnSpPr>
            <a:cxnSpLocks/>
            <a:stCxn id="16" idx="3"/>
          </p:cNvCxnSpPr>
          <p:nvPr/>
        </p:nvCxnSpPr>
        <p:spPr>
          <a:xfrm>
            <a:off x="4705218" y="3100512"/>
            <a:ext cx="55235" cy="85849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ホームベース 32">
            <a:extLst>
              <a:ext uri="{FF2B5EF4-FFF2-40B4-BE49-F238E27FC236}">
                <a16:creationId xmlns:a16="http://schemas.microsoft.com/office/drawing/2014/main" id="{7EC69161-88BB-4A43-BE49-5FE22F820A14}"/>
              </a:ext>
            </a:extLst>
          </p:cNvPr>
          <p:cNvSpPr/>
          <p:nvPr/>
        </p:nvSpPr>
        <p:spPr>
          <a:xfrm>
            <a:off x="1637688" y="4854333"/>
            <a:ext cx="1896897" cy="288000"/>
          </a:xfrm>
          <a:prstGeom prst="homePlate">
            <a:avLst>
              <a:gd name="adj" fmla="val 14621"/>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ﾍﾞｰｽｱｰｷ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ｼﾅﾘｵ用ｱｰｷ検討</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43" name="ホームベース 32">
            <a:extLst>
              <a:ext uri="{FF2B5EF4-FFF2-40B4-BE49-F238E27FC236}">
                <a16:creationId xmlns:a16="http://schemas.microsoft.com/office/drawing/2014/main" id="{572275FB-2EB9-3041-B6A4-7584032F92F1}"/>
              </a:ext>
            </a:extLst>
          </p:cNvPr>
          <p:cNvSpPr/>
          <p:nvPr/>
        </p:nvSpPr>
        <p:spPr>
          <a:xfrm>
            <a:off x="5456848" y="4854333"/>
            <a:ext cx="1894160" cy="288000"/>
          </a:xfrm>
          <a:prstGeom prst="homePlate">
            <a:avLst>
              <a:gd name="adj" fmla="val 14621"/>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Ph.1</a:t>
            </a:r>
            <a:r>
              <a:rPr lang="ja-JP" altLang="en-US" sz="900" dirty="0">
                <a:solidFill>
                  <a:schemeClr val="tx1"/>
                </a:solidFill>
                <a:latin typeface="Meiryo UI" panose="020B0604030504040204" pitchFamily="34" charset="-128"/>
                <a:ea typeface="Meiryo UI" panose="020B0604030504040204" pitchFamily="34" charset="-128"/>
              </a:rPr>
              <a:t>向け</a:t>
            </a:r>
            <a:br>
              <a:rPr lang="en-US" altLang="ja-JP" sz="900" dirty="0">
                <a:solidFill>
                  <a:schemeClr val="tx1"/>
                </a:solidFill>
                <a:latin typeface="Meiryo UI" panose="020B0604030504040204" pitchFamily="34" charset="-128"/>
                <a:ea typeface="Meiryo UI" panose="020B0604030504040204" pitchFamily="34" charset="-128"/>
              </a:rPr>
            </a:br>
            <a:r>
              <a:rPr lang="ja-JP" altLang="en-US" sz="900" dirty="0">
                <a:solidFill>
                  <a:schemeClr val="tx1"/>
                </a:solidFill>
                <a:latin typeface="Meiryo UI" panose="020B0604030504040204" pitchFamily="34" charset="-128"/>
                <a:ea typeface="Meiryo UI" panose="020B0604030504040204" pitchFamily="34" charset="-128"/>
              </a:rPr>
              <a:t>本番環境</a:t>
            </a:r>
            <a:r>
              <a:rPr lang="en-US" altLang="ja-JP" sz="900" dirty="0">
                <a:solidFill>
                  <a:schemeClr val="tx1"/>
                </a:solidFill>
                <a:latin typeface="Meiryo UI" panose="020B0604030504040204" pitchFamily="34" charset="-128"/>
                <a:ea typeface="Meiryo UI" panose="020B0604030504040204" pitchFamily="34" charset="-128"/>
              </a:rPr>
              <a:t>IT</a:t>
            </a:r>
            <a:r>
              <a:rPr lang="ja-JP" altLang="en-US" sz="900" dirty="0">
                <a:solidFill>
                  <a:schemeClr val="tx1"/>
                </a:solidFill>
                <a:latin typeface="Meiryo UI" panose="020B0604030504040204" pitchFamily="34" charset="-128"/>
                <a:ea typeface="Meiryo UI" panose="020B0604030504040204" pitchFamily="34" charset="-128"/>
              </a:rPr>
              <a:t>ｱｰｷ設計</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44" name="ホームベース 32">
            <a:extLst>
              <a:ext uri="{FF2B5EF4-FFF2-40B4-BE49-F238E27FC236}">
                <a16:creationId xmlns:a16="http://schemas.microsoft.com/office/drawing/2014/main" id="{EF71298B-A67A-4B44-8877-51898A17F87A}"/>
              </a:ext>
            </a:extLst>
          </p:cNvPr>
          <p:cNvSpPr/>
          <p:nvPr/>
        </p:nvSpPr>
        <p:spPr>
          <a:xfrm>
            <a:off x="3558967" y="4854333"/>
            <a:ext cx="680254" cy="288000"/>
          </a:xfrm>
          <a:prstGeom prst="homePlate">
            <a:avLst>
              <a:gd name="adj" fmla="val 26684"/>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IT</a:t>
            </a:r>
            <a:r>
              <a:rPr lang="ja-JP" altLang="en-US" sz="900" dirty="0">
                <a:solidFill>
                  <a:schemeClr val="tx1"/>
                </a:solidFill>
                <a:latin typeface="Meiryo UI" panose="020B0604030504040204" pitchFamily="34" charset="-128"/>
                <a:ea typeface="Meiryo UI" panose="020B0604030504040204" pitchFamily="34" charset="-128"/>
              </a:rPr>
              <a:t>統制</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dirty="0">
                <a:solidFill>
                  <a:schemeClr val="tx1"/>
                </a:solidFill>
                <a:latin typeface="Meiryo UI" panose="020B0604030504040204" pitchFamily="34" charset="-128"/>
                <a:ea typeface="Meiryo UI" panose="020B0604030504040204" pitchFamily="34" charset="-128"/>
              </a:rPr>
              <a:t>ｱｰｷ要件整理</a:t>
            </a:r>
          </a:p>
        </p:txBody>
      </p:sp>
      <p:sp>
        <p:nvSpPr>
          <p:cNvPr id="45" name="ホームベース 32">
            <a:extLst>
              <a:ext uri="{FF2B5EF4-FFF2-40B4-BE49-F238E27FC236}">
                <a16:creationId xmlns:a16="http://schemas.microsoft.com/office/drawing/2014/main" id="{4EA057BD-3F4C-8443-A444-A8F92B5C23BD}"/>
              </a:ext>
            </a:extLst>
          </p:cNvPr>
          <p:cNvSpPr/>
          <p:nvPr/>
        </p:nvSpPr>
        <p:spPr>
          <a:xfrm>
            <a:off x="4260753" y="4854333"/>
            <a:ext cx="1196095" cy="288000"/>
          </a:xfrm>
          <a:prstGeom prst="homePlate">
            <a:avLst>
              <a:gd name="adj" fmla="val 26684"/>
            </a:avLst>
          </a:prstGeom>
          <a:solidFill>
            <a:schemeClr val="accent4">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IT</a:t>
            </a:r>
            <a:r>
              <a:rPr lang="ja-JP" altLang="en-US" sz="900" dirty="0">
                <a:solidFill>
                  <a:schemeClr val="tx1"/>
                </a:solidFill>
                <a:latin typeface="Meiryo UI" panose="020B0604030504040204" pitchFamily="34" charset="-128"/>
                <a:ea typeface="Meiryo UI" panose="020B0604030504040204" pitchFamily="34" charset="-128"/>
              </a:rPr>
              <a:t>統制要件</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dirty="0">
                <a:solidFill>
                  <a:schemeClr val="tx1"/>
                </a:solidFill>
                <a:latin typeface="Meiryo UI" panose="020B0604030504040204" pitchFamily="34" charset="-128"/>
                <a:ea typeface="Meiryo UI" panose="020B0604030504040204" pitchFamily="34" charset="-128"/>
              </a:rPr>
              <a:t>ｱｰｷﾃｸﾁｬ設計</a:t>
            </a:r>
          </a:p>
        </p:txBody>
      </p:sp>
      <p:sp>
        <p:nvSpPr>
          <p:cNvPr id="46" name="ホームベース 32">
            <a:extLst>
              <a:ext uri="{FF2B5EF4-FFF2-40B4-BE49-F238E27FC236}">
                <a16:creationId xmlns:a16="http://schemas.microsoft.com/office/drawing/2014/main" id="{7192B831-32AE-2A4B-9041-92D6B5E69FA6}"/>
              </a:ext>
            </a:extLst>
          </p:cNvPr>
          <p:cNvSpPr/>
          <p:nvPr/>
        </p:nvSpPr>
        <p:spPr>
          <a:xfrm>
            <a:off x="1637688" y="5508247"/>
            <a:ext cx="1280081"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S/4 </a:t>
            </a:r>
            <a:r>
              <a:rPr lang="ja-JP" altLang="en-US" sz="900" dirty="0">
                <a:solidFill>
                  <a:schemeClr val="tx1"/>
                </a:solidFill>
                <a:latin typeface="Meiryo UI" panose="020B0604030504040204" pitchFamily="34" charset="-128"/>
                <a:ea typeface="Meiryo UI" panose="020B0604030504040204" pitchFamily="34" charset="-128"/>
              </a:rPr>
              <a:t>環境</a:t>
            </a:r>
            <a:r>
              <a:rPr lang="en-US" altLang="ja-JP" sz="900" dirty="0">
                <a:solidFill>
                  <a:schemeClr val="tx1"/>
                </a:solidFill>
                <a:latin typeface="Meiryo UI" panose="020B0604030504040204" pitchFamily="34" charset="-128"/>
                <a:ea typeface="Meiryo UI" panose="020B0604030504040204" pitchFamily="34" charset="-128"/>
              </a:rPr>
              <a:t>MHI</a:t>
            </a:r>
            <a:r>
              <a:rPr lang="ja-JP" altLang="en-US" sz="900" dirty="0">
                <a:solidFill>
                  <a:schemeClr val="tx1"/>
                </a:solidFill>
                <a:latin typeface="Meiryo UI" panose="020B0604030504040204" pitchFamily="34" charset="-128"/>
                <a:ea typeface="Meiryo UI" panose="020B0604030504040204" pitchFamily="34" charset="-128"/>
              </a:rPr>
              <a:t>調整</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必要に応じ環境調達</a:t>
            </a:r>
            <a:r>
              <a:rPr lang="en-US" altLang="ja-JP" sz="900" dirty="0">
                <a:solidFill>
                  <a:schemeClr val="tx1"/>
                </a:solidFill>
                <a:latin typeface="Meiryo UI" panose="020B0604030504040204" pitchFamily="34" charset="-128"/>
                <a:ea typeface="Meiryo UI" panose="020B0604030504040204" pitchFamily="34" charset="-128"/>
              </a:rPr>
              <a:t>)</a:t>
            </a:r>
            <a:endParaRPr lang="ja-JP" altLang="en-US" sz="900" dirty="0">
              <a:solidFill>
                <a:schemeClr val="tx1"/>
              </a:solidFill>
              <a:latin typeface="Meiryo UI" panose="020B0604030504040204" pitchFamily="34" charset="-128"/>
              <a:ea typeface="Meiryo UI" panose="020B0604030504040204" pitchFamily="34" charset="-128"/>
            </a:endParaRPr>
          </a:p>
        </p:txBody>
      </p:sp>
      <p:sp>
        <p:nvSpPr>
          <p:cNvPr id="47" name="ホームベース 32">
            <a:extLst>
              <a:ext uri="{FF2B5EF4-FFF2-40B4-BE49-F238E27FC236}">
                <a16:creationId xmlns:a16="http://schemas.microsoft.com/office/drawing/2014/main" id="{CF25B77A-35FA-EC4C-9B49-41F80F942CFB}"/>
              </a:ext>
            </a:extLst>
          </p:cNvPr>
          <p:cNvSpPr/>
          <p:nvPr/>
        </p:nvSpPr>
        <p:spPr>
          <a:xfrm>
            <a:off x="1637688" y="5199242"/>
            <a:ext cx="630929"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NW/Infra</a:t>
            </a:r>
          </a:p>
          <a:p>
            <a:pPr algn="ctr"/>
            <a:r>
              <a:rPr lang="ja-JP" altLang="en-US" sz="900" dirty="0">
                <a:solidFill>
                  <a:schemeClr val="tx1"/>
                </a:solidFill>
                <a:latin typeface="Meiryo UI" panose="020B0604030504040204" pitchFamily="34" charset="-128"/>
                <a:ea typeface="Meiryo UI" panose="020B0604030504040204" pitchFamily="34" charset="-128"/>
              </a:rPr>
              <a:t>課題検討</a:t>
            </a:r>
          </a:p>
        </p:txBody>
      </p:sp>
      <p:sp>
        <p:nvSpPr>
          <p:cNvPr id="48" name="ホームベース 32">
            <a:extLst>
              <a:ext uri="{FF2B5EF4-FFF2-40B4-BE49-F238E27FC236}">
                <a16:creationId xmlns:a16="http://schemas.microsoft.com/office/drawing/2014/main" id="{5BB3A083-93A5-8C4B-B405-53D21CD8FD03}"/>
              </a:ext>
            </a:extLst>
          </p:cNvPr>
          <p:cNvSpPr/>
          <p:nvPr/>
        </p:nvSpPr>
        <p:spPr>
          <a:xfrm>
            <a:off x="2283855" y="5199242"/>
            <a:ext cx="633914"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MHI</a:t>
            </a:r>
            <a:r>
              <a:rPr lang="ja-JP" altLang="en-US" sz="900" dirty="0">
                <a:solidFill>
                  <a:schemeClr val="tx1"/>
                </a:solidFill>
                <a:latin typeface="Meiryo UI" panose="020B0604030504040204" pitchFamily="34" charset="-128"/>
                <a:ea typeface="Meiryo UI" panose="020B0604030504040204" pitchFamily="34" charset="-128"/>
              </a:rPr>
              <a:t>調整</a:t>
            </a:r>
          </a:p>
        </p:txBody>
      </p:sp>
      <p:sp>
        <p:nvSpPr>
          <p:cNvPr id="49" name="ホームベース 32">
            <a:extLst>
              <a:ext uri="{FF2B5EF4-FFF2-40B4-BE49-F238E27FC236}">
                <a16:creationId xmlns:a16="http://schemas.microsoft.com/office/drawing/2014/main" id="{E5C7F0B6-EEF8-7143-9CDC-8C6BAEB4FB4F}"/>
              </a:ext>
            </a:extLst>
          </p:cNvPr>
          <p:cNvSpPr/>
          <p:nvPr/>
        </p:nvSpPr>
        <p:spPr>
          <a:xfrm>
            <a:off x="3556123" y="5508247"/>
            <a:ext cx="1900725"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S/4</a:t>
            </a:r>
            <a:r>
              <a:rPr lang="ja-JP" altLang="en-US" sz="900" dirty="0">
                <a:solidFill>
                  <a:schemeClr val="tx1"/>
                </a:solidFill>
                <a:latin typeface="Meiryo UI" panose="020B0604030504040204" pitchFamily="34" charset="-128"/>
                <a:ea typeface="Meiryo UI" panose="020B0604030504040204" pitchFamily="34" charset="-128"/>
              </a:rPr>
              <a:t>環境ﾏｽﾀﾏｲｽﾞ</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経営</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財務</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a:p>
            <a:r>
              <a:rPr lang="ja-JP" altLang="en-US" sz="900" dirty="0">
                <a:solidFill>
                  <a:schemeClr val="tx1"/>
                </a:solidFill>
                <a:latin typeface="Meiryo UI" panose="020B0604030504040204" pitchFamily="34" charset="-128"/>
                <a:ea typeface="Meiryo UI" panose="020B0604030504040204" pitchFamily="34" charset="-128"/>
              </a:rPr>
              <a:t>含む、ｼﾅﾘｵに応じた</a:t>
            </a:r>
            <a:r>
              <a:rPr lang="en-US" altLang="ja-JP" sz="900" dirty="0" err="1">
                <a:solidFill>
                  <a:schemeClr val="tx1"/>
                </a:solidFill>
                <a:latin typeface="Meiryo UI" panose="020B0604030504040204" pitchFamily="34" charset="-128"/>
                <a:ea typeface="Meiryo UI" panose="020B0604030504040204" pitchFamily="34" charset="-128"/>
              </a:rPr>
              <a:t>Odata</a:t>
            </a:r>
            <a:r>
              <a:rPr lang="ja-JP" altLang="en-US" sz="900" dirty="0">
                <a:solidFill>
                  <a:schemeClr val="tx1"/>
                </a:solidFill>
                <a:latin typeface="Meiryo UI" panose="020B0604030504040204" pitchFamily="34" charset="-128"/>
                <a:ea typeface="Meiryo UI" panose="020B0604030504040204" pitchFamily="34" charset="-128"/>
              </a:rPr>
              <a:t>連携周り</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50" name="ホームベース 32">
            <a:extLst>
              <a:ext uri="{FF2B5EF4-FFF2-40B4-BE49-F238E27FC236}">
                <a16:creationId xmlns:a16="http://schemas.microsoft.com/office/drawing/2014/main" id="{09D48CC6-43F3-6B4D-8AEA-3871AE9E760B}"/>
              </a:ext>
            </a:extLst>
          </p:cNvPr>
          <p:cNvSpPr/>
          <p:nvPr/>
        </p:nvSpPr>
        <p:spPr>
          <a:xfrm>
            <a:off x="5456848" y="5199242"/>
            <a:ext cx="1900725"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IT</a:t>
            </a:r>
            <a:r>
              <a:rPr lang="ja-JP" altLang="en-US" sz="900" dirty="0">
                <a:solidFill>
                  <a:schemeClr val="tx1"/>
                </a:solidFill>
                <a:latin typeface="Meiryo UI" panose="020B0604030504040204" pitchFamily="34" charset="-128"/>
                <a:ea typeface="Meiryo UI" panose="020B0604030504040204" pitchFamily="34" charset="-128"/>
              </a:rPr>
              <a:t>統制要件 実装試行＆検証</a:t>
            </a:r>
            <a:endParaRPr lang="en-US" altLang="ja-JP" sz="900" dirty="0">
              <a:solidFill>
                <a:schemeClr val="tx1"/>
              </a:solidFill>
              <a:latin typeface="Meiryo UI" panose="020B0604030504040204" pitchFamily="34" charset="-128"/>
              <a:ea typeface="Meiryo UI" panose="020B0604030504040204" pitchFamily="34" charset="-128"/>
            </a:endParaRPr>
          </a:p>
        </p:txBody>
      </p:sp>
      <p:grpSp>
        <p:nvGrpSpPr>
          <p:cNvPr id="51" name="Group 73">
            <a:extLst>
              <a:ext uri="{FF2B5EF4-FFF2-40B4-BE49-F238E27FC236}">
                <a16:creationId xmlns:a16="http://schemas.microsoft.com/office/drawing/2014/main" id="{8AF8019B-19D9-6C4A-9495-00DB36597B33}"/>
              </a:ext>
            </a:extLst>
          </p:cNvPr>
          <p:cNvGrpSpPr/>
          <p:nvPr/>
        </p:nvGrpSpPr>
        <p:grpSpPr>
          <a:xfrm>
            <a:off x="7419336" y="5845497"/>
            <a:ext cx="1810272" cy="288000"/>
            <a:chOff x="7419336" y="5635429"/>
            <a:chExt cx="1810272" cy="288000"/>
          </a:xfrm>
        </p:grpSpPr>
        <p:sp>
          <p:nvSpPr>
            <p:cNvPr id="52" name="ホームベース 32">
              <a:extLst>
                <a:ext uri="{FF2B5EF4-FFF2-40B4-BE49-F238E27FC236}">
                  <a16:creationId xmlns:a16="http://schemas.microsoft.com/office/drawing/2014/main" id="{7495B570-C9FA-AA49-AB8F-0339575EC786}"/>
                </a:ext>
              </a:extLst>
            </p:cNvPr>
            <p:cNvSpPr/>
            <p:nvPr/>
          </p:nvSpPr>
          <p:spPr>
            <a:xfrm>
              <a:off x="7419336" y="5635429"/>
              <a:ext cx="1810272" cy="288000"/>
            </a:xfrm>
            <a:prstGeom prst="homePlate">
              <a:avLst>
                <a:gd name="adj" fmla="val 12531"/>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#4</a:t>
              </a:r>
              <a:r>
                <a:rPr lang="ja-JP" altLang="en-US" sz="900" dirty="0">
                  <a:solidFill>
                    <a:schemeClr val="tx1"/>
                  </a:solidFill>
                  <a:latin typeface="Meiryo UI" panose="020B0604030504040204" pitchFamily="34" charset="-128"/>
                  <a:ea typeface="Meiryo UI" panose="020B0604030504040204" pitchFamily="34" charset="-128"/>
                </a:rPr>
                <a:t>試行</a:t>
              </a:r>
              <a:r>
                <a:rPr lang="en-US" altLang="ja-JP" sz="900" dirty="0">
                  <a:solidFill>
                    <a:schemeClr val="tx1"/>
                  </a:solidFill>
                  <a:latin typeface="Meiryo UI" panose="020B0604030504040204" pitchFamily="34" charset="-128"/>
                  <a:ea typeface="Meiryo UI" panose="020B0604030504040204" pitchFamily="34" charset="-128"/>
                </a:rPr>
                <a:t>(TBD)</a:t>
              </a:r>
            </a:p>
            <a:p>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53" name="ホームベース 32">
              <a:extLst>
                <a:ext uri="{FF2B5EF4-FFF2-40B4-BE49-F238E27FC236}">
                  <a16:creationId xmlns:a16="http://schemas.microsoft.com/office/drawing/2014/main" id="{59812096-5723-6B45-806E-4293D466A5B3}"/>
                </a:ext>
              </a:extLst>
            </p:cNvPr>
            <p:cNvSpPr/>
            <p:nvPr/>
          </p:nvSpPr>
          <p:spPr>
            <a:xfrm>
              <a:off x="7457261"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TBD</a:t>
              </a:r>
            </a:p>
          </p:txBody>
        </p:sp>
        <p:sp>
          <p:nvSpPr>
            <p:cNvPr id="54" name="ホームベース 32">
              <a:extLst>
                <a:ext uri="{FF2B5EF4-FFF2-40B4-BE49-F238E27FC236}">
                  <a16:creationId xmlns:a16="http://schemas.microsoft.com/office/drawing/2014/main" id="{4B6C1390-F557-4848-940C-AB4D0640F177}"/>
                </a:ext>
              </a:extLst>
            </p:cNvPr>
            <p:cNvSpPr/>
            <p:nvPr/>
          </p:nvSpPr>
          <p:spPr>
            <a:xfrm>
              <a:off x="8075529"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TBD</a:t>
              </a:r>
            </a:p>
          </p:txBody>
        </p:sp>
        <p:sp>
          <p:nvSpPr>
            <p:cNvPr id="55" name="ホームベース 32">
              <a:extLst>
                <a:ext uri="{FF2B5EF4-FFF2-40B4-BE49-F238E27FC236}">
                  <a16:creationId xmlns:a16="http://schemas.microsoft.com/office/drawing/2014/main" id="{1B76E31B-B959-2843-84B1-6D07ABDE28B1}"/>
                </a:ext>
              </a:extLst>
            </p:cNvPr>
            <p:cNvSpPr/>
            <p:nvPr/>
          </p:nvSpPr>
          <p:spPr>
            <a:xfrm>
              <a:off x="8693797"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TBD</a:t>
              </a:r>
            </a:p>
          </p:txBody>
        </p:sp>
      </p:grpSp>
      <p:sp>
        <p:nvSpPr>
          <p:cNvPr id="56" name="正方形/長方形 55">
            <a:extLst>
              <a:ext uri="{FF2B5EF4-FFF2-40B4-BE49-F238E27FC236}">
                <a16:creationId xmlns:a16="http://schemas.microsoft.com/office/drawing/2014/main" id="{F97EE2E3-1353-964F-8DF2-CDC841D5E284}"/>
              </a:ext>
            </a:extLst>
          </p:cNvPr>
          <p:cNvSpPr/>
          <p:nvPr/>
        </p:nvSpPr>
        <p:spPr>
          <a:xfrm>
            <a:off x="656616" y="5874081"/>
            <a:ext cx="1094501" cy="230832"/>
          </a:xfrm>
          <a:prstGeom prst="rect">
            <a:avLst/>
          </a:prstGeom>
        </p:spPr>
        <p:txBody>
          <a:bodyPr>
            <a:spAutoFit/>
          </a:bodyPr>
          <a:lstStyle/>
          <a:p>
            <a:pPr algn="ctr"/>
            <a:r>
              <a:rPr lang="ja-JP" altLang="en-US" sz="900" dirty="0">
                <a:latin typeface="Meiryo UI" panose="020B0604030504040204" pitchFamily="50" charset="-128"/>
                <a:ea typeface="Meiryo UI" panose="020B0604030504040204" pitchFamily="50" charset="-128"/>
              </a:rPr>
              <a:t>試行検証</a:t>
            </a:r>
          </a:p>
        </p:txBody>
      </p:sp>
      <p:sp>
        <p:nvSpPr>
          <p:cNvPr id="57" name="右矢印 56">
            <a:extLst>
              <a:ext uri="{FF2B5EF4-FFF2-40B4-BE49-F238E27FC236}">
                <a16:creationId xmlns:a16="http://schemas.microsoft.com/office/drawing/2014/main" id="{FA3CEB82-ADD5-5448-8AF1-3054C0232F6F}"/>
              </a:ext>
            </a:extLst>
          </p:cNvPr>
          <p:cNvSpPr/>
          <p:nvPr/>
        </p:nvSpPr>
        <p:spPr>
          <a:xfrm rot="3600000">
            <a:off x="4618374" y="5320443"/>
            <a:ext cx="839872" cy="386042"/>
          </a:xfrm>
          <a:prstGeom prst="rightArrow">
            <a:avLst/>
          </a:prstGeom>
          <a:solidFill>
            <a:schemeClr val="accent4">
              <a:lumMod val="75000"/>
              <a:alpha val="2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r"/>
            <a:r>
              <a:rPr lang="en-US" altLang="ja-JP" sz="1000" dirty="0">
                <a:solidFill>
                  <a:schemeClr val="tx1"/>
                </a:solidFill>
                <a:latin typeface="Meiryo UI" panose="020B0604030504040204" pitchFamily="34" charset="-128"/>
                <a:ea typeface="Meiryo UI" panose="020B0604030504040204" pitchFamily="34" charset="-128"/>
              </a:rPr>
              <a:t>#2</a:t>
            </a:r>
            <a:endParaRPr lang="ja-JP" altLang="en-US" sz="1000" dirty="0">
              <a:solidFill>
                <a:schemeClr val="tx1"/>
              </a:solidFill>
              <a:latin typeface="Meiryo UI" panose="020B0604030504040204" pitchFamily="34" charset="-128"/>
              <a:ea typeface="Meiryo UI" panose="020B0604030504040204" pitchFamily="34" charset="-128"/>
            </a:endParaRPr>
          </a:p>
        </p:txBody>
      </p:sp>
      <p:sp>
        <p:nvSpPr>
          <p:cNvPr id="58" name="右矢印 57">
            <a:extLst>
              <a:ext uri="{FF2B5EF4-FFF2-40B4-BE49-F238E27FC236}">
                <a16:creationId xmlns:a16="http://schemas.microsoft.com/office/drawing/2014/main" id="{862AA95C-D72E-984F-B536-506A348CAB98}"/>
              </a:ext>
            </a:extLst>
          </p:cNvPr>
          <p:cNvSpPr/>
          <p:nvPr/>
        </p:nvSpPr>
        <p:spPr>
          <a:xfrm rot="3600000">
            <a:off x="6886794" y="5294738"/>
            <a:ext cx="898069" cy="386042"/>
          </a:xfrm>
          <a:prstGeom prst="rightArrow">
            <a:avLst/>
          </a:prstGeom>
          <a:solidFill>
            <a:schemeClr val="accent4">
              <a:lumMod val="75000"/>
              <a:alpha val="2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r"/>
            <a:r>
              <a:rPr lang="en-US" altLang="ja-JP" sz="1000" dirty="0">
                <a:solidFill>
                  <a:schemeClr val="tx1"/>
                </a:solidFill>
                <a:latin typeface="Meiryo UI" panose="020B0604030504040204" pitchFamily="34" charset="-128"/>
                <a:ea typeface="Meiryo UI" panose="020B0604030504040204" pitchFamily="34" charset="-128"/>
              </a:rPr>
              <a:t>#4</a:t>
            </a:r>
            <a:endParaRPr lang="ja-JP" altLang="en-US" sz="1000" dirty="0">
              <a:solidFill>
                <a:schemeClr val="tx1"/>
              </a:solidFill>
              <a:latin typeface="Meiryo UI" panose="020B0604030504040204" pitchFamily="34" charset="-128"/>
              <a:ea typeface="Meiryo UI" panose="020B0604030504040204" pitchFamily="34" charset="-128"/>
            </a:endParaRPr>
          </a:p>
        </p:txBody>
      </p:sp>
      <p:sp>
        <p:nvSpPr>
          <p:cNvPr id="59" name="二等辺三角形 330">
            <a:extLst>
              <a:ext uri="{FF2B5EF4-FFF2-40B4-BE49-F238E27FC236}">
                <a16:creationId xmlns:a16="http://schemas.microsoft.com/office/drawing/2014/main" id="{956501C2-4EE5-2E49-ACF2-B77276BBA673}"/>
              </a:ext>
            </a:extLst>
          </p:cNvPr>
          <p:cNvSpPr/>
          <p:nvPr/>
        </p:nvSpPr>
        <p:spPr>
          <a:xfrm flipV="1">
            <a:off x="3471462" y="2113711"/>
            <a:ext cx="180000" cy="108000"/>
          </a:xfrm>
          <a:prstGeom prst="triangle">
            <a:avLst/>
          </a:prstGeom>
          <a:solidFill>
            <a:srgbClr val="FF0000"/>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none" lIns="36000" tIns="72000" rIns="36000" bIns="0" anchor="ctr"/>
          <a:lstStyle/>
          <a:p>
            <a:pPr algn="ctr" defTabSz="457133">
              <a:lnSpc>
                <a:spcPct val="85000"/>
              </a:lnSpc>
            </a:pP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60" name="テキスト ボックス 59">
            <a:extLst>
              <a:ext uri="{FF2B5EF4-FFF2-40B4-BE49-F238E27FC236}">
                <a16:creationId xmlns:a16="http://schemas.microsoft.com/office/drawing/2014/main" id="{43B54A01-57B5-A741-A142-6C4F65558479}"/>
              </a:ext>
            </a:extLst>
          </p:cNvPr>
          <p:cNvSpPr txBox="1"/>
          <p:nvPr/>
        </p:nvSpPr>
        <p:spPr>
          <a:xfrm>
            <a:off x="4760453" y="2054757"/>
            <a:ext cx="2633078" cy="230832"/>
          </a:xfrm>
          <a:prstGeom prst="rect">
            <a:avLst/>
          </a:prstGeom>
          <a:noFill/>
        </p:spPr>
        <p:txBody>
          <a:bodyPr wrap="square" rtlCol="0">
            <a:spAutoFit/>
          </a:bodyPr>
          <a:lstStyle>
            <a:defPPr>
              <a:defRPr lang="ja-JP"/>
            </a:defPPr>
            <a:lvl1pPr algn="ctr">
              <a:defRPr sz="900"/>
            </a:lvl1pPr>
          </a:lstStyle>
          <a:p>
            <a:pPr algn="r"/>
            <a:r>
              <a:rPr lang="ja-JP" altLang="en-US" dirty="0">
                <a:latin typeface="Meiryo UI" panose="020B0604030504040204" pitchFamily="34" charset="-128"/>
                <a:ea typeface="Meiryo UI" panose="020B0604030504040204" pitchFamily="34" charset="-128"/>
              </a:rPr>
              <a:t>試行完了</a:t>
            </a:r>
            <a:r>
              <a:rPr lang="en-US" altLang="ja-JP" dirty="0">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財務・調達</a:t>
            </a:r>
            <a:r>
              <a:rPr lang="en-US" altLang="ja-JP" dirty="0">
                <a:latin typeface="Meiryo UI" panose="020B0604030504040204" pitchFamily="34" charset="-128"/>
                <a:ea typeface="Meiryo UI" panose="020B0604030504040204" pitchFamily="34" charset="-128"/>
              </a:rPr>
              <a:t>)</a:t>
            </a:r>
            <a:r>
              <a:rPr lang="ja-JP" altLang="en-US" dirty="0" err="1">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試行開始</a:t>
            </a:r>
            <a:r>
              <a:rPr lang="en-US" altLang="ja-JP" dirty="0">
                <a:latin typeface="Meiryo UI" panose="020B0604030504040204" pitchFamily="34" charset="-128"/>
                <a:ea typeface="Meiryo UI" panose="020B0604030504040204" pitchFamily="34" charset="-128"/>
              </a:rPr>
              <a:t>(#3.4)</a:t>
            </a:r>
          </a:p>
        </p:txBody>
      </p:sp>
      <p:sp>
        <p:nvSpPr>
          <p:cNvPr id="61" name="二等辺三角形 334">
            <a:extLst>
              <a:ext uri="{FF2B5EF4-FFF2-40B4-BE49-F238E27FC236}">
                <a16:creationId xmlns:a16="http://schemas.microsoft.com/office/drawing/2014/main" id="{97CDD7CA-0A94-C840-828D-7CA6FB835FF7}"/>
              </a:ext>
            </a:extLst>
          </p:cNvPr>
          <p:cNvSpPr/>
          <p:nvPr/>
        </p:nvSpPr>
        <p:spPr>
          <a:xfrm flipV="1">
            <a:off x="7274584" y="2113711"/>
            <a:ext cx="180000" cy="108000"/>
          </a:xfrm>
          <a:prstGeom prst="triangle">
            <a:avLst/>
          </a:prstGeom>
          <a:solidFill>
            <a:srgbClr val="FF0000"/>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none" lIns="36000" tIns="72000" rIns="36000" bIns="0" anchor="ctr"/>
          <a:lstStyle/>
          <a:p>
            <a:pPr algn="ctr" defTabSz="457133">
              <a:lnSpc>
                <a:spcPct val="85000"/>
              </a:lnSpc>
            </a:pP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62" name="右矢印 61">
            <a:extLst>
              <a:ext uri="{FF2B5EF4-FFF2-40B4-BE49-F238E27FC236}">
                <a16:creationId xmlns:a16="http://schemas.microsoft.com/office/drawing/2014/main" id="{D9B82063-F2A1-0448-A0E4-FB166ABCBD3F}"/>
              </a:ext>
            </a:extLst>
          </p:cNvPr>
          <p:cNvSpPr/>
          <p:nvPr/>
        </p:nvSpPr>
        <p:spPr>
          <a:xfrm rot="19800000">
            <a:off x="3526318" y="2584238"/>
            <a:ext cx="1449817" cy="386042"/>
          </a:xfrm>
          <a:prstGeom prst="rightArrow">
            <a:avLst/>
          </a:prstGeom>
          <a:solidFill>
            <a:srgbClr val="0000FF">
              <a:alpha val="2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endParaRPr lang="ja-JP" altLang="en-US" sz="1000" dirty="0">
              <a:solidFill>
                <a:schemeClr val="tx1"/>
              </a:solidFill>
              <a:latin typeface="Meiryo UI" panose="020B0604030504040204" pitchFamily="34" charset="-128"/>
              <a:ea typeface="Meiryo UI" panose="020B0604030504040204" pitchFamily="34" charset="-128"/>
            </a:endParaRPr>
          </a:p>
        </p:txBody>
      </p:sp>
      <p:sp>
        <p:nvSpPr>
          <p:cNvPr id="63" name="ホームベース 32">
            <a:extLst>
              <a:ext uri="{FF2B5EF4-FFF2-40B4-BE49-F238E27FC236}">
                <a16:creationId xmlns:a16="http://schemas.microsoft.com/office/drawing/2014/main" id="{E70C820E-5813-E849-94D5-9E69743AAF2D}"/>
              </a:ext>
            </a:extLst>
          </p:cNvPr>
          <p:cNvSpPr/>
          <p:nvPr/>
        </p:nvSpPr>
        <p:spPr>
          <a:xfrm>
            <a:off x="4192453" y="3597144"/>
            <a:ext cx="3802197" cy="162568"/>
          </a:xfrm>
          <a:prstGeom prst="homePlate">
            <a:avLst>
              <a:gd name="adj" fmla="val 14621"/>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en-US" altLang="ja-JP" sz="900" dirty="0">
                <a:solidFill>
                  <a:schemeClr val="tx1"/>
                </a:solidFill>
                <a:latin typeface="Meiryo UI" panose="020B0604030504040204" pitchFamily="34" charset="-128"/>
                <a:ea typeface="Meiryo UI" panose="020B0604030504040204" pitchFamily="34" charset="-128"/>
              </a:rPr>
              <a:t>STEP2</a:t>
            </a:r>
            <a:r>
              <a:rPr lang="ja-JP" altLang="en-US" sz="900" dirty="0">
                <a:solidFill>
                  <a:schemeClr val="tx1"/>
                </a:solidFill>
                <a:latin typeface="Meiryo UI" panose="020B0604030504040204" pitchFamily="34" charset="-128"/>
                <a:ea typeface="Meiryo UI" panose="020B0604030504040204" pitchFamily="34" charset="-128"/>
              </a:rPr>
              <a:t>：ｺｰﾄﾞ体系の調査・新ｺｰﾄﾞ体系定義</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ｵｰﾀﾞ</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ｱｲﾃﾑ、品目等</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64" name="ホームベース 32">
            <a:extLst>
              <a:ext uri="{FF2B5EF4-FFF2-40B4-BE49-F238E27FC236}">
                <a16:creationId xmlns:a16="http://schemas.microsoft.com/office/drawing/2014/main" id="{06F301F9-AE72-F343-9C16-AEBD7A147A37}"/>
              </a:ext>
            </a:extLst>
          </p:cNvPr>
          <p:cNvSpPr/>
          <p:nvPr/>
        </p:nvSpPr>
        <p:spPr>
          <a:xfrm>
            <a:off x="2904764" y="3616196"/>
            <a:ext cx="1287689" cy="288000"/>
          </a:xfrm>
          <a:prstGeom prst="homePlate">
            <a:avLst>
              <a:gd name="adj" fmla="val 14621"/>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ja-JP" altLang="en-US" sz="900" dirty="0">
                <a:solidFill>
                  <a:schemeClr val="tx1"/>
                </a:solidFill>
                <a:latin typeface="Meiryo UI" panose="020B0604030504040204" pitchFamily="34" charset="-128"/>
                <a:ea typeface="Meiryo UI" panose="020B0604030504040204" pitchFamily="34" charset="-128"/>
              </a:rPr>
              <a:t>見直し対象のｺｰﾄﾞ</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ｽｺｰﾌﾟ定義</a:t>
            </a:r>
            <a:endParaRPr lang="en-US" altLang="ja-JP" sz="900" dirty="0">
              <a:solidFill>
                <a:schemeClr val="tx1"/>
              </a:solidFill>
              <a:latin typeface="Meiryo UI" panose="020B0604030504040204" pitchFamily="34" charset="-128"/>
              <a:ea typeface="Meiryo UI" panose="020B0604030504040204" pitchFamily="34" charset="-128"/>
            </a:endParaRPr>
          </a:p>
        </p:txBody>
      </p:sp>
      <p:cxnSp>
        <p:nvCxnSpPr>
          <p:cNvPr id="65" name="直線矢印コネクタ 314">
            <a:extLst>
              <a:ext uri="{FF2B5EF4-FFF2-40B4-BE49-F238E27FC236}">
                <a16:creationId xmlns:a16="http://schemas.microsoft.com/office/drawing/2014/main" id="{A20EBCB4-FA48-014B-AC5F-1B2B4B7FCAC1}"/>
              </a:ext>
            </a:extLst>
          </p:cNvPr>
          <p:cNvCxnSpPr>
            <a:cxnSpLocks/>
            <a:stCxn id="12" idx="3"/>
            <a:endCxn id="16" idx="1"/>
          </p:cNvCxnSpPr>
          <p:nvPr/>
        </p:nvCxnSpPr>
        <p:spPr>
          <a:xfrm flipV="1">
            <a:off x="3440703" y="3100512"/>
            <a:ext cx="121419" cy="328135"/>
          </a:xfrm>
          <a:prstGeom prst="bentConnector3">
            <a:avLst>
              <a:gd name="adj1" fmla="val 2385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右矢印 65">
            <a:extLst>
              <a:ext uri="{FF2B5EF4-FFF2-40B4-BE49-F238E27FC236}">
                <a16:creationId xmlns:a16="http://schemas.microsoft.com/office/drawing/2014/main" id="{15367281-8DB4-A345-84D3-5F5943C151B7}"/>
              </a:ext>
            </a:extLst>
          </p:cNvPr>
          <p:cNvSpPr/>
          <p:nvPr/>
        </p:nvSpPr>
        <p:spPr>
          <a:xfrm rot="5400000">
            <a:off x="5928363" y="5282692"/>
            <a:ext cx="739574" cy="386042"/>
          </a:xfrm>
          <a:prstGeom prst="rightArrow">
            <a:avLst/>
          </a:prstGeom>
          <a:solidFill>
            <a:schemeClr val="accent4">
              <a:lumMod val="75000"/>
              <a:alpha val="2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r"/>
            <a:r>
              <a:rPr lang="en-US" altLang="ja-JP" sz="1000" dirty="0">
                <a:solidFill>
                  <a:schemeClr val="tx1"/>
                </a:solidFill>
                <a:latin typeface="Meiryo UI" panose="020B0604030504040204" pitchFamily="34" charset="-128"/>
                <a:ea typeface="Meiryo UI" panose="020B0604030504040204" pitchFamily="34" charset="-128"/>
              </a:rPr>
              <a:t>#3</a:t>
            </a:r>
            <a:endParaRPr lang="ja-JP" altLang="en-US" sz="1000" dirty="0">
              <a:solidFill>
                <a:schemeClr val="tx1"/>
              </a:solidFill>
              <a:latin typeface="Meiryo UI" panose="020B0604030504040204" pitchFamily="34" charset="-128"/>
              <a:ea typeface="Meiryo UI" panose="020B0604030504040204" pitchFamily="34" charset="-128"/>
            </a:endParaRPr>
          </a:p>
        </p:txBody>
      </p:sp>
      <p:sp>
        <p:nvSpPr>
          <p:cNvPr id="67" name="ホームベース 126">
            <a:extLst>
              <a:ext uri="{FF2B5EF4-FFF2-40B4-BE49-F238E27FC236}">
                <a16:creationId xmlns:a16="http://schemas.microsoft.com/office/drawing/2014/main" id="{88B26D11-C863-F147-A27F-D9A0C52EB900}"/>
              </a:ext>
            </a:extLst>
          </p:cNvPr>
          <p:cNvSpPr/>
          <p:nvPr/>
        </p:nvSpPr>
        <p:spPr>
          <a:xfrm>
            <a:off x="3548751" y="2334875"/>
            <a:ext cx="643702" cy="288000"/>
          </a:xfrm>
          <a:prstGeom prst="homePlate">
            <a:avLst>
              <a:gd name="adj" fmla="val 2397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en-US" altLang="ja-JP" sz="900" dirty="0">
                <a:solidFill>
                  <a:schemeClr val="tx1"/>
                </a:solidFill>
                <a:latin typeface="Meiryo UI" panose="020B0604030504040204" pitchFamily="34" charset="-128"/>
                <a:ea typeface="Meiryo UI" panose="020B0604030504040204" pitchFamily="34" charset="-128"/>
              </a:rPr>
              <a:t>TOBE</a:t>
            </a:r>
            <a:r>
              <a:rPr lang="ja-JP" altLang="en-US" sz="900" dirty="0">
                <a:solidFill>
                  <a:schemeClr val="tx1"/>
                </a:solidFill>
                <a:latin typeface="Meiryo UI" panose="020B0604030504040204" pitchFamily="34" charset="-128"/>
                <a:ea typeface="Meiryo UI" panose="020B0604030504040204" pitchFamily="34" charset="-128"/>
              </a:rPr>
              <a:t>ﾌﾛ</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記述ｽｺｰﾌﾟ定義</a:t>
            </a:r>
          </a:p>
        </p:txBody>
      </p:sp>
      <p:sp>
        <p:nvSpPr>
          <p:cNvPr id="68" name="ホームベース 32">
            <a:extLst>
              <a:ext uri="{FF2B5EF4-FFF2-40B4-BE49-F238E27FC236}">
                <a16:creationId xmlns:a16="http://schemas.microsoft.com/office/drawing/2014/main" id="{5FF6D629-555F-8047-ACC2-CFBF94110198}"/>
              </a:ext>
            </a:extLst>
          </p:cNvPr>
          <p:cNvSpPr/>
          <p:nvPr/>
        </p:nvSpPr>
        <p:spPr>
          <a:xfrm>
            <a:off x="5725312" y="3768596"/>
            <a:ext cx="3692185" cy="162568"/>
          </a:xfrm>
          <a:prstGeom prst="homePlate">
            <a:avLst>
              <a:gd name="adj" fmla="val 14621"/>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0" rtlCol="0" anchor="ctr"/>
          <a:lstStyle/>
          <a:p>
            <a:r>
              <a:rPr lang="en-US" altLang="ja-JP" sz="900" dirty="0">
                <a:solidFill>
                  <a:schemeClr val="tx1"/>
                </a:solidFill>
                <a:latin typeface="Meiryo UI" panose="020B0604030504040204" pitchFamily="34" charset="-128"/>
                <a:ea typeface="Meiryo UI" panose="020B0604030504040204" pitchFamily="34" charset="-128"/>
              </a:rPr>
              <a:t>STEP3</a:t>
            </a:r>
            <a:r>
              <a:rPr lang="ja-JP" altLang="en-US" sz="900" dirty="0">
                <a:solidFill>
                  <a:schemeClr val="tx1"/>
                </a:solidFill>
                <a:latin typeface="Meiryo UI" panose="020B0604030504040204" pitchFamily="34" charset="-128"/>
                <a:ea typeface="Meiryo UI" panose="020B0604030504040204" pitchFamily="34" charset="-128"/>
              </a:rPr>
              <a:t>：ｺｰﾄﾞ体系の調査・新ｺｰﾄﾞ体系定義</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ｵｰﾀﾞ</a:t>
            </a:r>
            <a:r>
              <a:rPr lang="en-US" altLang="ja-JP" sz="900" dirty="0">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ｱｲﾃﾑ、品目等</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69" name="正方形/長方形 68">
            <a:extLst>
              <a:ext uri="{FF2B5EF4-FFF2-40B4-BE49-F238E27FC236}">
                <a16:creationId xmlns:a16="http://schemas.microsoft.com/office/drawing/2014/main" id="{DDA2D5C7-A71F-6641-A244-215825B7C3B8}"/>
              </a:ext>
            </a:extLst>
          </p:cNvPr>
          <p:cNvSpPr/>
          <p:nvPr/>
        </p:nvSpPr>
        <p:spPr>
          <a:xfrm>
            <a:off x="656616" y="3306881"/>
            <a:ext cx="1094501" cy="230832"/>
          </a:xfrm>
          <a:prstGeom prst="rect">
            <a:avLst/>
          </a:prstGeom>
        </p:spPr>
        <p:txBody>
          <a:bodyPr>
            <a:spAutoFit/>
          </a:bodyPr>
          <a:lstStyle/>
          <a:p>
            <a:pPr algn="ctr"/>
            <a:r>
              <a:rPr lang="en-US" altLang="ja-JP" sz="900" dirty="0">
                <a:latin typeface="Meiryo UI" panose="020B0604030504040204" pitchFamily="50" charset="-128"/>
                <a:ea typeface="Meiryo UI" panose="020B0604030504040204" pitchFamily="50" charset="-128"/>
              </a:rPr>
              <a:t>Reference</a:t>
            </a:r>
            <a:r>
              <a:rPr lang="ja-JP" altLang="en-US" sz="900" dirty="0">
                <a:latin typeface="Meiryo UI" panose="020B0604030504040204" pitchFamily="50" charset="-128"/>
                <a:ea typeface="Meiryo UI" panose="020B0604030504040204" pitchFamily="50" charset="-128"/>
              </a:rPr>
              <a:t>教育</a:t>
            </a:r>
            <a:endParaRPr lang="zh-TW" altLang="en-US" sz="900" dirty="0">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1FBE3088-1897-7944-A268-978D46C4F033}"/>
              </a:ext>
            </a:extLst>
          </p:cNvPr>
          <p:cNvSpPr/>
          <p:nvPr/>
        </p:nvSpPr>
        <p:spPr>
          <a:xfrm>
            <a:off x="656616" y="3629525"/>
            <a:ext cx="1094501" cy="230832"/>
          </a:xfrm>
          <a:prstGeom prst="rect">
            <a:avLst/>
          </a:prstGeom>
        </p:spPr>
        <p:txBody>
          <a:bodyPr>
            <a:spAutoFit/>
          </a:bodyPr>
          <a:lstStyle/>
          <a:p>
            <a:pPr algn="ctr"/>
            <a:r>
              <a:rPr lang="ja-JP" altLang="en-US" sz="900" dirty="0">
                <a:latin typeface="Meiryo UI" panose="020B0604030504040204" pitchFamily="50" charset="-128"/>
                <a:ea typeface="Meiryo UI" panose="020B0604030504040204" pitchFamily="50" charset="-128"/>
              </a:rPr>
              <a:t>ｺｰﾄﾞ見直し</a:t>
            </a:r>
            <a:endParaRPr lang="zh-TW" altLang="en-US" sz="900" dirty="0">
              <a:latin typeface="Meiryo UI" panose="020B0604030504040204" pitchFamily="50" charset="-128"/>
              <a:ea typeface="Meiryo UI" panose="020B0604030504040204" pitchFamily="50" charset="-128"/>
            </a:endParaRPr>
          </a:p>
        </p:txBody>
      </p:sp>
      <p:sp>
        <p:nvSpPr>
          <p:cNvPr id="71" name="ホームベース 126">
            <a:extLst>
              <a:ext uri="{FF2B5EF4-FFF2-40B4-BE49-F238E27FC236}">
                <a16:creationId xmlns:a16="http://schemas.microsoft.com/office/drawing/2014/main" id="{5BDD063C-AB4D-C847-9006-93BD1F803A00}"/>
              </a:ext>
            </a:extLst>
          </p:cNvPr>
          <p:cNvSpPr/>
          <p:nvPr/>
        </p:nvSpPr>
        <p:spPr>
          <a:xfrm>
            <a:off x="2940800" y="5845497"/>
            <a:ext cx="576000" cy="288000"/>
          </a:xfrm>
          <a:prstGeom prst="homePlate">
            <a:avLst>
              <a:gd name="adj" fmla="val 23973"/>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試行計画立案</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72" name="ホームベース 32">
            <a:extLst>
              <a:ext uri="{FF2B5EF4-FFF2-40B4-BE49-F238E27FC236}">
                <a16:creationId xmlns:a16="http://schemas.microsoft.com/office/drawing/2014/main" id="{D8E0B836-7840-2442-A6C7-91E1C4C53F6B}"/>
              </a:ext>
            </a:extLst>
          </p:cNvPr>
          <p:cNvSpPr/>
          <p:nvPr/>
        </p:nvSpPr>
        <p:spPr>
          <a:xfrm>
            <a:off x="2915759" y="5508247"/>
            <a:ext cx="632992"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環境構築</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en-US" altLang="ja-JP" sz="900" dirty="0">
                <a:solidFill>
                  <a:schemeClr val="tx1"/>
                </a:solidFill>
                <a:latin typeface="Meiryo UI" panose="020B0604030504040204" pitchFamily="34" charset="-128"/>
                <a:ea typeface="Meiryo UI" panose="020B0604030504040204" pitchFamily="34" charset="-128"/>
              </a:rPr>
              <a:t>(Basis/</a:t>
            </a:r>
            <a:r>
              <a:rPr lang="ja-JP" altLang="en-US" sz="900" dirty="0">
                <a:solidFill>
                  <a:schemeClr val="tx1"/>
                </a:solidFill>
                <a:latin typeface="Meiryo UI" panose="020B0604030504040204" pitchFamily="34" charset="-128"/>
                <a:ea typeface="Meiryo UI" panose="020B0604030504040204" pitchFamily="34" charset="-128"/>
              </a:rPr>
              <a:t>組織</a:t>
            </a:r>
            <a:r>
              <a:rPr lang="en-US" altLang="ja-JP" sz="900" dirty="0">
                <a:solidFill>
                  <a:schemeClr val="tx1"/>
                </a:solidFill>
                <a:latin typeface="Meiryo UI" panose="020B0604030504040204" pitchFamily="34" charset="-128"/>
                <a:ea typeface="Meiryo UI" panose="020B0604030504040204" pitchFamily="34" charset="-128"/>
              </a:rPr>
              <a:t>)</a:t>
            </a:r>
          </a:p>
        </p:txBody>
      </p:sp>
      <p:sp>
        <p:nvSpPr>
          <p:cNvPr id="73" name="ホームベース 32">
            <a:extLst>
              <a:ext uri="{FF2B5EF4-FFF2-40B4-BE49-F238E27FC236}">
                <a16:creationId xmlns:a16="http://schemas.microsoft.com/office/drawing/2014/main" id="{6C78B9FF-140C-1F44-938D-9C8C9252DBB0}"/>
              </a:ext>
            </a:extLst>
          </p:cNvPr>
          <p:cNvSpPr/>
          <p:nvPr/>
        </p:nvSpPr>
        <p:spPr>
          <a:xfrm>
            <a:off x="2915759" y="5199242"/>
            <a:ext cx="1258030" cy="288000"/>
          </a:xfrm>
          <a:prstGeom prst="homePlate">
            <a:avLst>
              <a:gd name="adj" fmla="val 14621"/>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ベース環境</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dirty="0">
                <a:solidFill>
                  <a:schemeClr val="tx1"/>
                </a:solidFill>
                <a:latin typeface="Meiryo UI" panose="020B0604030504040204" pitchFamily="34" charset="-128"/>
                <a:ea typeface="Meiryo UI" panose="020B0604030504040204" pitchFamily="34" charset="-128"/>
              </a:rPr>
              <a:t>構築＆テスト</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74" name="正方形/長方形 73">
            <a:extLst>
              <a:ext uri="{FF2B5EF4-FFF2-40B4-BE49-F238E27FC236}">
                <a16:creationId xmlns:a16="http://schemas.microsoft.com/office/drawing/2014/main" id="{A13651AA-7C47-2441-9480-7E21CA897256}"/>
              </a:ext>
            </a:extLst>
          </p:cNvPr>
          <p:cNvSpPr/>
          <p:nvPr/>
        </p:nvSpPr>
        <p:spPr>
          <a:xfrm>
            <a:off x="656616" y="2446874"/>
            <a:ext cx="1094501" cy="369332"/>
          </a:xfrm>
          <a:prstGeom prst="rect">
            <a:avLst/>
          </a:prstGeom>
        </p:spPr>
        <p:txBody>
          <a:bodyPr>
            <a:spAutoFit/>
          </a:bodyPr>
          <a:lstStyle/>
          <a:p>
            <a:pPr algn="ctr"/>
            <a:r>
              <a:rPr lang="ja-JP" altLang="en-US" sz="900" dirty="0">
                <a:latin typeface="Meiryo UI" panose="020B0604030504040204" pitchFamily="50" charset="-128"/>
                <a:ea typeface="Meiryo UI" panose="020B0604030504040204" pitchFamily="50" charset="-128"/>
              </a:rPr>
              <a:t>業務ﾌﾟﾛｾｽ</a:t>
            </a:r>
            <a:endParaRPr lang="en-US" altLang="ja-JP" sz="900" dirty="0">
              <a:latin typeface="Meiryo UI" panose="020B0604030504040204" pitchFamily="50" charset="-128"/>
              <a:ea typeface="Meiryo UI" panose="020B0604030504040204" pitchFamily="50" charset="-128"/>
            </a:endParaRPr>
          </a:p>
          <a:p>
            <a:pPr algn="ctr"/>
            <a:r>
              <a:rPr lang="ja-JP" altLang="en-US" sz="900" dirty="0">
                <a:latin typeface="Meiryo UI" panose="020B0604030504040204" pitchFamily="50" charset="-128"/>
                <a:ea typeface="Meiryo UI" panose="020B0604030504040204" pitchFamily="50" charset="-128"/>
              </a:rPr>
              <a:t>改革</a:t>
            </a:r>
            <a:r>
              <a:rPr lang="en-US" altLang="ja-JP" sz="900" dirty="0">
                <a:latin typeface="Meiryo UI" panose="020B0604030504040204" pitchFamily="50" charset="-128"/>
                <a:ea typeface="Meiryo UI" panose="020B0604030504040204" pitchFamily="50" charset="-128"/>
              </a:rPr>
              <a:t>GEMS</a:t>
            </a:r>
            <a:r>
              <a:rPr lang="ja-JP" altLang="en-US" sz="900" dirty="0">
                <a:latin typeface="Meiryo UI" panose="020B0604030504040204" pitchFamily="50" charset="-128"/>
                <a:ea typeface="Meiryo UI" panose="020B0604030504040204" pitchFamily="50" charset="-128"/>
              </a:rPr>
              <a:t>対応</a:t>
            </a:r>
            <a:endParaRPr lang="en-US" altLang="ja-JP" sz="900" dirty="0">
              <a:latin typeface="Meiryo UI" panose="020B0604030504040204" pitchFamily="50" charset="-128"/>
              <a:ea typeface="Meiryo UI" panose="020B0604030504040204" pitchFamily="50" charset="-128"/>
            </a:endParaRPr>
          </a:p>
        </p:txBody>
      </p:sp>
      <p:sp>
        <p:nvSpPr>
          <p:cNvPr id="75" name="ホームベース 32">
            <a:extLst>
              <a:ext uri="{FF2B5EF4-FFF2-40B4-BE49-F238E27FC236}">
                <a16:creationId xmlns:a16="http://schemas.microsoft.com/office/drawing/2014/main" id="{879F4061-FA59-AF4F-ADE4-0DB3FA80CE33}"/>
              </a:ext>
            </a:extLst>
          </p:cNvPr>
          <p:cNvSpPr/>
          <p:nvPr/>
        </p:nvSpPr>
        <p:spPr>
          <a:xfrm>
            <a:off x="3574268" y="5845497"/>
            <a:ext cx="568442" cy="288000"/>
          </a:xfrm>
          <a:prstGeom prst="homePlate">
            <a:avLst>
              <a:gd name="adj" fmla="val 14621"/>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#1</a:t>
            </a:r>
            <a:r>
              <a:rPr lang="ja-JP" altLang="en-US" sz="900" dirty="0">
                <a:solidFill>
                  <a:schemeClr val="tx1"/>
                </a:solidFill>
                <a:latin typeface="Meiryo UI" panose="020B0604030504040204" pitchFamily="34" charset="-128"/>
                <a:ea typeface="Meiryo UI" panose="020B0604030504040204" pitchFamily="34" charset="-128"/>
              </a:rPr>
              <a:t>試行</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環境ﾃｽﾄ</a:t>
            </a:r>
            <a:endParaRPr lang="en-US" altLang="ja-JP" sz="900" dirty="0">
              <a:solidFill>
                <a:schemeClr val="tx1"/>
              </a:solidFill>
              <a:latin typeface="Meiryo UI" panose="020B0604030504040204" pitchFamily="34" charset="-128"/>
              <a:ea typeface="Meiryo UI" panose="020B0604030504040204" pitchFamily="34" charset="-128"/>
            </a:endParaRPr>
          </a:p>
        </p:txBody>
      </p:sp>
      <p:grpSp>
        <p:nvGrpSpPr>
          <p:cNvPr id="76" name="Group 74">
            <a:extLst>
              <a:ext uri="{FF2B5EF4-FFF2-40B4-BE49-F238E27FC236}">
                <a16:creationId xmlns:a16="http://schemas.microsoft.com/office/drawing/2014/main" id="{3CB98DBA-E514-8347-96D7-8B3392501790}"/>
              </a:ext>
            </a:extLst>
          </p:cNvPr>
          <p:cNvGrpSpPr/>
          <p:nvPr/>
        </p:nvGrpSpPr>
        <p:grpSpPr>
          <a:xfrm>
            <a:off x="4260753" y="5845497"/>
            <a:ext cx="3068511" cy="288000"/>
            <a:chOff x="4260753" y="5635429"/>
            <a:chExt cx="3068511" cy="288000"/>
          </a:xfrm>
        </p:grpSpPr>
        <p:sp>
          <p:nvSpPr>
            <p:cNvPr id="77" name="ホームベース 32">
              <a:extLst>
                <a:ext uri="{FF2B5EF4-FFF2-40B4-BE49-F238E27FC236}">
                  <a16:creationId xmlns:a16="http://schemas.microsoft.com/office/drawing/2014/main" id="{818E21B5-FDB3-E849-AF31-C19C9111B1F8}"/>
                </a:ext>
              </a:extLst>
            </p:cNvPr>
            <p:cNvSpPr/>
            <p:nvPr/>
          </p:nvSpPr>
          <p:spPr>
            <a:xfrm>
              <a:off x="4260753" y="5635429"/>
              <a:ext cx="3068511" cy="288000"/>
            </a:xfrm>
            <a:prstGeom prst="homePlate">
              <a:avLst>
                <a:gd name="adj" fmla="val 14621"/>
              </a:avLst>
            </a:prstGeom>
            <a:gradFill>
              <a:gsLst>
                <a:gs pos="0">
                  <a:schemeClr val="accent2">
                    <a:lumMod val="20000"/>
                    <a:lumOff val="80000"/>
                  </a:schemeClr>
                </a:gs>
                <a:gs pos="100000">
                  <a:schemeClr val="accent4">
                    <a:lumMod val="60000"/>
                    <a:lumOff val="40000"/>
                  </a:schemeClr>
                </a:gs>
              </a:gsLst>
              <a:lin ang="5400000" scaled="1"/>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#2~3</a:t>
              </a:r>
              <a:r>
                <a:rPr lang="ja-JP" altLang="en-US" sz="900" dirty="0">
                  <a:solidFill>
                    <a:schemeClr val="tx1"/>
                  </a:solidFill>
                  <a:latin typeface="Meiryo UI" panose="020B0604030504040204" pitchFamily="34" charset="-128"/>
                  <a:ea typeface="Meiryo UI" panose="020B0604030504040204" pitchFamily="34" charset="-128"/>
                </a:rPr>
                <a:t>試行（</a:t>
              </a:r>
              <a:r>
                <a:rPr lang="en-US" altLang="ja-JP" sz="900" dirty="0">
                  <a:solidFill>
                    <a:schemeClr val="tx1"/>
                  </a:solidFill>
                  <a:latin typeface="Meiryo UI" panose="020B0604030504040204" pitchFamily="34" charset="-128"/>
                  <a:ea typeface="Meiryo UI" panose="020B0604030504040204" pitchFamily="34" charset="-128"/>
                </a:rPr>
                <a:t>DI</a:t>
              </a:r>
              <a:r>
                <a:rPr lang="ja-JP" altLang="en-US" sz="900" dirty="0" err="1">
                  <a:solidFill>
                    <a:schemeClr val="tx1"/>
                  </a:solidFill>
                  <a:latin typeface="Meiryo UI" panose="020B0604030504040204" pitchFamily="34" charset="-128"/>
                  <a:ea typeface="Meiryo UI" panose="020B0604030504040204" pitchFamily="34" charset="-128"/>
                </a:rPr>
                <a:t>、</a:t>
              </a:r>
              <a:r>
                <a:rPr lang="ja-JP" altLang="en-US" sz="900" dirty="0">
                  <a:solidFill>
                    <a:schemeClr val="tx1"/>
                  </a:solidFill>
                  <a:latin typeface="Meiryo UI" panose="020B0604030504040204" pitchFamily="34" charset="-128"/>
                  <a:ea typeface="Meiryo UI" panose="020B0604030504040204" pitchFamily="34" charset="-128"/>
                </a:rPr>
                <a:t>調達、財務）</a:t>
              </a:r>
              <a:endParaRPr lang="en-US" altLang="ja-JP" sz="900" dirty="0">
                <a:solidFill>
                  <a:schemeClr val="tx1"/>
                </a:solidFill>
                <a:latin typeface="Meiryo UI" panose="020B0604030504040204" pitchFamily="34" charset="-128"/>
                <a:ea typeface="Meiryo UI" panose="020B0604030504040204" pitchFamily="34" charset="-128"/>
              </a:endParaRPr>
            </a:p>
            <a:p>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78" name="ホームベース 32">
              <a:extLst>
                <a:ext uri="{FF2B5EF4-FFF2-40B4-BE49-F238E27FC236}">
                  <a16:creationId xmlns:a16="http://schemas.microsoft.com/office/drawing/2014/main" id="{C6825E91-9D2E-5847-9F0B-CA95B297D42E}"/>
                </a:ext>
              </a:extLst>
            </p:cNvPr>
            <p:cNvSpPr/>
            <p:nvPr/>
          </p:nvSpPr>
          <p:spPr>
            <a:xfrm>
              <a:off x="4922237"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調達</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79" name="ホームベース 32">
              <a:extLst>
                <a:ext uri="{FF2B5EF4-FFF2-40B4-BE49-F238E27FC236}">
                  <a16:creationId xmlns:a16="http://schemas.microsoft.com/office/drawing/2014/main" id="{53F235C2-9C7F-F840-A6B9-B5DC64C744E3}"/>
                </a:ext>
              </a:extLst>
            </p:cNvPr>
            <p:cNvSpPr/>
            <p:nvPr/>
          </p:nvSpPr>
          <p:spPr>
            <a:xfrm>
              <a:off x="5544789"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調達</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80" name="ホームベース 32">
              <a:extLst>
                <a:ext uri="{FF2B5EF4-FFF2-40B4-BE49-F238E27FC236}">
                  <a16:creationId xmlns:a16="http://schemas.microsoft.com/office/drawing/2014/main" id="{02B773D4-5B05-1447-B469-B801BB4CE21B}"/>
                </a:ext>
              </a:extLst>
            </p:cNvPr>
            <p:cNvSpPr/>
            <p:nvPr/>
          </p:nvSpPr>
          <p:spPr>
            <a:xfrm>
              <a:off x="6167341"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財務</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81" name="ホームベース 32">
              <a:extLst>
                <a:ext uri="{FF2B5EF4-FFF2-40B4-BE49-F238E27FC236}">
                  <a16:creationId xmlns:a16="http://schemas.microsoft.com/office/drawing/2014/main" id="{8EB85921-A983-D74D-AAC8-F94FAC233699}"/>
                </a:ext>
              </a:extLst>
            </p:cNvPr>
            <p:cNvSpPr/>
            <p:nvPr/>
          </p:nvSpPr>
          <p:spPr>
            <a:xfrm>
              <a:off x="6789894" y="5769941"/>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a:solidFill>
                    <a:schemeClr val="tx1"/>
                  </a:solidFill>
                  <a:latin typeface="Meiryo UI" panose="020B0604030504040204" pitchFamily="34" charset="-128"/>
                  <a:ea typeface="Meiryo UI" panose="020B0604030504040204" pitchFamily="34" charset="-128"/>
                </a:rPr>
                <a:t>財務</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82" name="ホームベース 32">
              <a:extLst>
                <a:ext uri="{FF2B5EF4-FFF2-40B4-BE49-F238E27FC236}">
                  <a16:creationId xmlns:a16="http://schemas.microsoft.com/office/drawing/2014/main" id="{44034A55-9F08-EF4A-9C52-31F233E1BF9A}"/>
                </a:ext>
              </a:extLst>
            </p:cNvPr>
            <p:cNvSpPr/>
            <p:nvPr/>
          </p:nvSpPr>
          <p:spPr>
            <a:xfrm>
              <a:off x="4299685" y="5765425"/>
              <a:ext cx="488848" cy="111036"/>
            </a:xfrm>
            <a:prstGeom prst="homePlate">
              <a:avLst>
                <a:gd name="adj" fmla="val 14621"/>
              </a:avLst>
            </a:prstGeom>
            <a:solidFill>
              <a:schemeClr val="bg1"/>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ja-JP" altLang="en-US" sz="900" dirty="0">
                  <a:solidFill>
                    <a:schemeClr val="tx1"/>
                  </a:solidFill>
                  <a:latin typeface="Meiryo UI" panose="020B0604030504040204" pitchFamily="34" charset="-128"/>
                  <a:ea typeface="Meiryo UI" panose="020B0604030504040204" pitchFamily="34" charset="-128"/>
                </a:rPr>
                <a:t>調達</a:t>
              </a:r>
              <a:endParaRPr lang="en-US" altLang="ja-JP" sz="900" dirty="0">
                <a:solidFill>
                  <a:schemeClr val="tx1"/>
                </a:solidFill>
                <a:latin typeface="Meiryo UI" panose="020B0604030504040204" pitchFamily="34" charset="-128"/>
                <a:ea typeface="Meiryo UI" panose="020B0604030504040204" pitchFamily="34" charset="-128"/>
              </a:endParaRPr>
            </a:p>
          </p:txBody>
        </p:sp>
      </p:grpSp>
      <p:sp>
        <p:nvSpPr>
          <p:cNvPr id="83" name="ホームベース 126">
            <a:extLst>
              <a:ext uri="{FF2B5EF4-FFF2-40B4-BE49-F238E27FC236}">
                <a16:creationId xmlns:a16="http://schemas.microsoft.com/office/drawing/2014/main" id="{DC6C9647-0783-C946-89BB-C15BBD4384A9}"/>
              </a:ext>
            </a:extLst>
          </p:cNvPr>
          <p:cNvSpPr/>
          <p:nvPr/>
        </p:nvSpPr>
        <p:spPr>
          <a:xfrm>
            <a:off x="3548751" y="6192973"/>
            <a:ext cx="5724097" cy="288000"/>
          </a:xfrm>
          <a:prstGeom prst="homePlate">
            <a:avLst>
              <a:gd name="adj" fmla="val 23973"/>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TBD</a:t>
            </a:r>
          </a:p>
        </p:txBody>
      </p:sp>
      <p:cxnSp>
        <p:nvCxnSpPr>
          <p:cNvPr id="84" name="Straight Connector 9">
            <a:extLst>
              <a:ext uri="{FF2B5EF4-FFF2-40B4-BE49-F238E27FC236}">
                <a16:creationId xmlns:a16="http://schemas.microsoft.com/office/drawing/2014/main" id="{E8E2A4C7-7A5C-5346-8214-C442BC031771}"/>
              </a:ext>
            </a:extLst>
          </p:cNvPr>
          <p:cNvCxnSpPr>
            <a:cxnSpLocks/>
          </p:cNvCxnSpPr>
          <p:nvPr/>
        </p:nvCxnSpPr>
        <p:spPr>
          <a:xfrm>
            <a:off x="1637689" y="2941962"/>
            <a:ext cx="7635159" cy="0"/>
          </a:xfrm>
          <a:prstGeom prst="line">
            <a:avLst/>
          </a:prstGeom>
          <a:noFill/>
          <a:ln w="9525" cap="flat" cmpd="sng" algn="ctr">
            <a:solidFill>
              <a:schemeClr val="tx1"/>
            </a:solidFill>
            <a:prstDash val="solid"/>
            <a:tailEnd type="none"/>
          </a:ln>
          <a:effectLst/>
        </p:spPr>
      </p:cxnSp>
      <p:cxnSp>
        <p:nvCxnSpPr>
          <p:cNvPr id="85" name="Straight Connector 100">
            <a:extLst>
              <a:ext uri="{FF2B5EF4-FFF2-40B4-BE49-F238E27FC236}">
                <a16:creationId xmlns:a16="http://schemas.microsoft.com/office/drawing/2014/main" id="{5FE3734E-FA42-0D4D-B515-DA205FF2AE32}"/>
              </a:ext>
            </a:extLst>
          </p:cNvPr>
          <p:cNvCxnSpPr/>
          <p:nvPr/>
        </p:nvCxnSpPr>
        <p:spPr>
          <a:xfrm>
            <a:off x="1637689" y="3263564"/>
            <a:ext cx="7635159" cy="0"/>
          </a:xfrm>
          <a:prstGeom prst="line">
            <a:avLst/>
          </a:prstGeom>
          <a:noFill/>
          <a:ln w="9525" cap="flat" cmpd="sng" algn="ctr">
            <a:solidFill>
              <a:schemeClr val="tx1"/>
            </a:solidFill>
            <a:prstDash val="solid"/>
            <a:tailEnd type="none"/>
          </a:ln>
          <a:effectLst/>
        </p:spPr>
      </p:cxnSp>
      <p:cxnSp>
        <p:nvCxnSpPr>
          <p:cNvPr id="86" name="Straight Connector 101">
            <a:extLst>
              <a:ext uri="{FF2B5EF4-FFF2-40B4-BE49-F238E27FC236}">
                <a16:creationId xmlns:a16="http://schemas.microsoft.com/office/drawing/2014/main" id="{5E4EB4D6-57E8-B44F-B19C-21F7F2CA5BCF}"/>
              </a:ext>
            </a:extLst>
          </p:cNvPr>
          <p:cNvCxnSpPr/>
          <p:nvPr/>
        </p:nvCxnSpPr>
        <p:spPr>
          <a:xfrm>
            <a:off x="1637689" y="3594875"/>
            <a:ext cx="7635159" cy="0"/>
          </a:xfrm>
          <a:prstGeom prst="line">
            <a:avLst/>
          </a:prstGeom>
          <a:noFill/>
          <a:ln w="9525" cap="flat" cmpd="sng" algn="ctr">
            <a:solidFill>
              <a:schemeClr val="tx1"/>
            </a:solidFill>
            <a:prstDash val="solid"/>
            <a:tailEnd type="none"/>
          </a:ln>
          <a:effectLst/>
        </p:spPr>
      </p:cxnSp>
      <p:cxnSp>
        <p:nvCxnSpPr>
          <p:cNvPr id="87" name="Straight Connector 107">
            <a:extLst>
              <a:ext uri="{FF2B5EF4-FFF2-40B4-BE49-F238E27FC236}">
                <a16:creationId xmlns:a16="http://schemas.microsoft.com/office/drawing/2014/main" id="{B5B5EBD7-8416-3342-9C72-BDD234A274C3}"/>
              </a:ext>
            </a:extLst>
          </p:cNvPr>
          <p:cNvCxnSpPr/>
          <p:nvPr/>
        </p:nvCxnSpPr>
        <p:spPr>
          <a:xfrm>
            <a:off x="1637689" y="4266697"/>
            <a:ext cx="7635159" cy="0"/>
          </a:xfrm>
          <a:prstGeom prst="line">
            <a:avLst/>
          </a:prstGeom>
          <a:noFill/>
          <a:ln w="9525" cap="flat" cmpd="sng" algn="ctr">
            <a:solidFill>
              <a:schemeClr val="tx1"/>
            </a:solidFill>
            <a:prstDash val="solid"/>
            <a:tailEnd type="none"/>
          </a:ln>
          <a:effectLst/>
        </p:spPr>
      </p:cxnSp>
      <p:cxnSp>
        <p:nvCxnSpPr>
          <p:cNvPr id="88" name="Straight Connector 116">
            <a:extLst>
              <a:ext uri="{FF2B5EF4-FFF2-40B4-BE49-F238E27FC236}">
                <a16:creationId xmlns:a16="http://schemas.microsoft.com/office/drawing/2014/main" id="{2E59C116-C224-9D49-962A-4D23F23F3C3C}"/>
              </a:ext>
            </a:extLst>
          </p:cNvPr>
          <p:cNvCxnSpPr/>
          <p:nvPr/>
        </p:nvCxnSpPr>
        <p:spPr>
          <a:xfrm>
            <a:off x="1637689" y="5174016"/>
            <a:ext cx="7635159" cy="0"/>
          </a:xfrm>
          <a:prstGeom prst="line">
            <a:avLst/>
          </a:prstGeom>
          <a:noFill/>
          <a:ln w="9525" cap="flat" cmpd="sng" algn="ctr">
            <a:solidFill>
              <a:schemeClr val="tx1"/>
            </a:solidFill>
            <a:prstDash val="solid"/>
            <a:tailEnd type="none"/>
          </a:ln>
          <a:effectLst/>
        </p:spPr>
      </p:cxnSp>
      <p:sp>
        <p:nvSpPr>
          <p:cNvPr id="89" name="正方形/長方形 173">
            <a:extLst>
              <a:ext uri="{FF2B5EF4-FFF2-40B4-BE49-F238E27FC236}">
                <a16:creationId xmlns:a16="http://schemas.microsoft.com/office/drawing/2014/main" id="{2EE5E45B-6975-0440-8A04-4CF37BFB2463}"/>
              </a:ext>
            </a:extLst>
          </p:cNvPr>
          <p:cNvSpPr/>
          <p:nvPr/>
        </p:nvSpPr>
        <p:spPr>
          <a:xfrm>
            <a:off x="656616" y="4360070"/>
            <a:ext cx="1094501" cy="369332"/>
          </a:xfrm>
          <a:prstGeom prst="rect">
            <a:avLst/>
          </a:prstGeom>
        </p:spPr>
        <p:txBody>
          <a:bodyPr>
            <a:spAutoFit/>
          </a:bodyPr>
          <a:lstStyle/>
          <a:p>
            <a:pPr algn="ctr"/>
            <a:r>
              <a:rPr lang="ja-JP" altLang="en-US" sz="900" b="1" dirty="0">
                <a:solidFill>
                  <a:srgbClr val="FF0000"/>
                </a:solidFill>
                <a:latin typeface="Meiryo UI" panose="020B0604030504040204" pitchFamily="50" charset="-128"/>
                <a:ea typeface="Meiryo UI" panose="020B0604030504040204" pitchFamily="50" charset="-128"/>
              </a:rPr>
              <a:t>データ</a:t>
            </a:r>
            <a:endParaRPr lang="en-US" altLang="ja-JP" sz="900" b="1" dirty="0">
              <a:solidFill>
                <a:srgbClr val="FF0000"/>
              </a:solidFill>
              <a:latin typeface="Meiryo UI" panose="020B0604030504040204" pitchFamily="50" charset="-128"/>
              <a:ea typeface="Meiryo UI" panose="020B0604030504040204" pitchFamily="50" charset="-128"/>
            </a:endParaRPr>
          </a:p>
          <a:p>
            <a:pPr algn="ctr"/>
            <a:r>
              <a:rPr lang="ja-JP" altLang="en-US" sz="900" b="1" dirty="0">
                <a:solidFill>
                  <a:srgbClr val="FF0000"/>
                </a:solidFill>
                <a:latin typeface="Meiryo UI" panose="020B0604030504040204" pitchFamily="50" charset="-128"/>
                <a:ea typeface="Meiryo UI" panose="020B0604030504040204" pitchFamily="50" charset="-128"/>
              </a:rPr>
              <a:t>マネジメント</a:t>
            </a:r>
          </a:p>
        </p:txBody>
      </p:sp>
      <p:sp>
        <p:nvSpPr>
          <p:cNvPr id="90" name="ホームベース 32">
            <a:extLst>
              <a:ext uri="{FF2B5EF4-FFF2-40B4-BE49-F238E27FC236}">
                <a16:creationId xmlns:a16="http://schemas.microsoft.com/office/drawing/2014/main" id="{951EF624-B46D-5C41-928E-36C28CE155FF}"/>
              </a:ext>
            </a:extLst>
          </p:cNvPr>
          <p:cNvSpPr/>
          <p:nvPr/>
        </p:nvSpPr>
        <p:spPr>
          <a:xfrm>
            <a:off x="2587625" y="4284109"/>
            <a:ext cx="317139" cy="333799"/>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r"/>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目的・</a:t>
            </a:r>
            <a:endParaRPr lang="en-US" altLang="ja-JP" sz="900" dirty="0">
              <a:solidFill>
                <a:schemeClr val="tx1"/>
              </a:solidFill>
              <a:latin typeface="Meiryo UI" panose="020B0604030504040204" pitchFamily="34" charset="-128"/>
              <a:ea typeface="Meiryo UI" panose="020B0604030504040204" pitchFamily="34" charset="-128"/>
            </a:endParaRPr>
          </a:p>
          <a:p>
            <a:pPr algn="r"/>
            <a:r>
              <a:rPr lang="en-US" altLang="ja-JP" sz="900" dirty="0">
                <a:solidFill>
                  <a:schemeClr val="tx1"/>
                </a:solidFill>
                <a:latin typeface="Meiryo UI" panose="020B0604030504040204" pitchFamily="34" charset="-128"/>
                <a:ea typeface="Meiryo UI" panose="020B0604030504040204" pitchFamily="34" charset="-128"/>
              </a:rPr>
              <a:t>CSF</a:t>
            </a:r>
            <a:r>
              <a:rPr lang="ja-JP" altLang="en-US" sz="900" dirty="0">
                <a:solidFill>
                  <a:schemeClr val="tx1"/>
                </a:solidFill>
                <a:latin typeface="Meiryo UI" panose="020B0604030504040204" pitchFamily="34" charset="-128"/>
                <a:ea typeface="Meiryo UI" panose="020B0604030504040204" pitchFamily="34" charset="-128"/>
              </a:rPr>
              <a:t>仮説立案</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91" name="ホームベース 32">
            <a:extLst>
              <a:ext uri="{FF2B5EF4-FFF2-40B4-BE49-F238E27FC236}">
                <a16:creationId xmlns:a16="http://schemas.microsoft.com/office/drawing/2014/main" id="{F75835AA-CF90-C64F-8E66-CE964FE30F1A}"/>
              </a:ext>
            </a:extLst>
          </p:cNvPr>
          <p:cNvSpPr/>
          <p:nvPr/>
        </p:nvSpPr>
        <p:spPr>
          <a:xfrm>
            <a:off x="2919794" y="4284110"/>
            <a:ext cx="628957" cy="154800"/>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現状調査</a:t>
            </a:r>
            <a:endParaRPr lang="en-US" altLang="ja-JP" sz="900" dirty="0">
              <a:solidFill>
                <a:schemeClr val="tx1"/>
              </a:solidFill>
              <a:latin typeface="Meiryo UI" panose="020B0604030504040204" pitchFamily="34" charset="-128"/>
              <a:ea typeface="Meiryo UI" panose="020B0604030504040204" pitchFamily="34" charset="-128"/>
            </a:endParaRPr>
          </a:p>
        </p:txBody>
      </p:sp>
      <p:cxnSp>
        <p:nvCxnSpPr>
          <p:cNvPr id="92" name="Connector: Elbow 33">
            <a:extLst>
              <a:ext uri="{FF2B5EF4-FFF2-40B4-BE49-F238E27FC236}">
                <a16:creationId xmlns:a16="http://schemas.microsoft.com/office/drawing/2014/main" id="{F6D97CE6-9FBF-5B44-AE83-7E2ECE9E9780}"/>
              </a:ext>
            </a:extLst>
          </p:cNvPr>
          <p:cNvCxnSpPr>
            <a:cxnSpLocks/>
            <a:stCxn id="91" idx="0"/>
            <a:endCxn id="18" idx="2"/>
          </p:cNvCxnSpPr>
          <p:nvPr/>
        </p:nvCxnSpPr>
        <p:spPr>
          <a:xfrm rot="16200000" flipV="1">
            <a:off x="2485025" y="3546178"/>
            <a:ext cx="1355906" cy="119957"/>
          </a:xfrm>
          <a:prstGeom prst="bentConnector3">
            <a:avLst>
              <a:gd name="adj1" fmla="val 50000"/>
            </a:avLst>
          </a:prstGeom>
          <a:noFill/>
          <a:ln w="19050" cap="flat" cmpd="sng" algn="ctr">
            <a:solidFill>
              <a:schemeClr val="accent3"/>
            </a:solidFill>
            <a:prstDash val="solid"/>
            <a:headEnd type="triangle" w="med" len="med"/>
            <a:tailEnd type="triangle" w="med" len="med"/>
          </a:ln>
          <a:effectLst/>
        </p:spPr>
      </p:cxnSp>
      <p:sp>
        <p:nvSpPr>
          <p:cNvPr id="93" name="ホームベース 32">
            <a:extLst>
              <a:ext uri="{FF2B5EF4-FFF2-40B4-BE49-F238E27FC236}">
                <a16:creationId xmlns:a16="http://schemas.microsoft.com/office/drawing/2014/main" id="{6FF6D266-8D29-C645-B554-741F576DB3C3}"/>
              </a:ext>
            </a:extLst>
          </p:cNvPr>
          <p:cNvSpPr/>
          <p:nvPr/>
        </p:nvSpPr>
        <p:spPr>
          <a:xfrm>
            <a:off x="2919794" y="4469456"/>
            <a:ext cx="628957" cy="152830"/>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r"/>
            <a:r>
              <a:rPr lang="en-US" altLang="ja-JP" sz="500" dirty="0">
                <a:solidFill>
                  <a:schemeClr val="tx1"/>
                </a:solidFill>
                <a:latin typeface="Meiryo UI" panose="020B0604030504040204" pitchFamily="34" charset="-128"/>
                <a:ea typeface="Meiryo UI" panose="020B0604030504040204" pitchFamily="34" charset="-128"/>
              </a:rPr>
              <a:t>DM</a:t>
            </a:r>
            <a:r>
              <a:rPr lang="ja-JP" altLang="en-US" sz="500" dirty="0">
                <a:solidFill>
                  <a:schemeClr val="tx1"/>
                </a:solidFill>
                <a:latin typeface="Meiryo UI" panose="020B0604030504040204" pitchFamily="34" charset="-128"/>
                <a:ea typeface="Meiryo UI" panose="020B0604030504040204" pitchFamily="34" charset="-128"/>
              </a:rPr>
              <a:t>スコープ仮説立案</a:t>
            </a:r>
            <a:endParaRPr lang="en-US" altLang="ja-JP" sz="500" dirty="0">
              <a:solidFill>
                <a:schemeClr val="tx1"/>
              </a:solidFill>
              <a:latin typeface="Meiryo UI" panose="020B0604030504040204" pitchFamily="34" charset="-128"/>
              <a:ea typeface="Meiryo UI" panose="020B0604030504040204" pitchFamily="34" charset="-128"/>
            </a:endParaRPr>
          </a:p>
        </p:txBody>
      </p:sp>
      <p:sp>
        <p:nvSpPr>
          <p:cNvPr id="94" name="ホームベース 32">
            <a:extLst>
              <a:ext uri="{FF2B5EF4-FFF2-40B4-BE49-F238E27FC236}">
                <a16:creationId xmlns:a16="http://schemas.microsoft.com/office/drawing/2014/main" id="{0E43EDC7-E76D-B44A-9732-5C3596ACCBA3}"/>
              </a:ext>
            </a:extLst>
          </p:cNvPr>
          <p:cNvSpPr/>
          <p:nvPr/>
        </p:nvSpPr>
        <p:spPr>
          <a:xfrm>
            <a:off x="4188059" y="4284109"/>
            <a:ext cx="628957"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効果仮説</a:t>
            </a:r>
            <a:endParaRPr lang="en-US" altLang="ja-JP" sz="900" dirty="0">
              <a:solidFill>
                <a:schemeClr val="tx1"/>
              </a:solidFill>
              <a:latin typeface="Meiryo UI" panose="020B0604030504040204" pitchFamily="34" charset="-128"/>
              <a:ea typeface="Meiryo UI" panose="020B0604030504040204" pitchFamily="34" charset="-128"/>
            </a:endParaRPr>
          </a:p>
        </p:txBody>
      </p:sp>
      <p:cxnSp>
        <p:nvCxnSpPr>
          <p:cNvPr id="95" name="Connector: Elbow 135">
            <a:extLst>
              <a:ext uri="{FF2B5EF4-FFF2-40B4-BE49-F238E27FC236}">
                <a16:creationId xmlns:a16="http://schemas.microsoft.com/office/drawing/2014/main" id="{762B6BD2-B68B-7040-BF63-645A9896C0A9}"/>
              </a:ext>
            </a:extLst>
          </p:cNvPr>
          <p:cNvCxnSpPr>
            <a:cxnSpLocks/>
            <a:stCxn id="64" idx="3"/>
            <a:endCxn id="94" idx="1"/>
          </p:cNvCxnSpPr>
          <p:nvPr/>
        </p:nvCxnSpPr>
        <p:spPr>
          <a:xfrm flipH="1">
            <a:off x="4188059" y="3760196"/>
            <a:ext cx="4394" cy="601637"/>
          </a:xfrm>
          <a:prstGeom prst="bentConnector5">
            <a:avLst>
              <a:gd name="adj1" fmla="val -5202549"/>
              <a:gd name="adj2" fmla="val 55508"/>
              <a:gd name="adj3" fmla="val 5302549"/>
            </a:avLst>
          </a:prstGeom>
          <a:noFill/>
          <a:ln w="19050" cap="flat" cmpd="sng" algn="ctr">
            <a:solidFill>
              <a:schemeClr val="accent3"/>
            </a:solidFill>
            <a:prstDash val="solid"/>
            <a:headEnd type="none" w="med" len="med"/>
            <a:tailEnd type="triangle" w="med" len="med"/>
          </a:ln>
          <a:effectLst/>
        </p:spPr>
      </p:cxnSp>
      <p:sp>
        <p:nvSpPr>
          <p:cNvPr id="96" name="ホームベース 32">
            <a:extLst>
              <a:ext uri="{FF2B5EF4-FFF2-40B4-BE49-F238E27FC236}">
                <a16:creationId xmlns:a16="http://schemas.microsoft.com/office/drawing/2014/main" id="{3C2BDD34-512A-5246-87A3-C088590F77FD}"/>
              </a:ext>
            </a:extLst>
          </p:cNvPr>
          <p:cNvSpPr/>
          <p:nvPr/>
        </p:nvSpPr>
        <p:spPr>
          <a:xfrm>
            <a:off x="3548751" y="3959011"/>
            <a:ext cx="1908097" cy="288000"/>
          </a:xfrm>
          <a:prstGeom prst="homePlate">
            <a:avLst>
              <a:gd name="adj" fmla="val 15043"/>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ctr"/>
            <a:r>
              <a:rPr lang="en-US" altLang="ja-JP" sz="900" dirty="0">
                <a:solidFill>
                  <a:schemeClr val="tx1"/>
                </a:solidFill>
                <a:latin typeface="Meiryo UI" panose="020B0604030504040204" pitchFamily="34" charset="-128"/>
                <a:ea typeface="Meiryo UI" panose="020B0604030504040204" pitchFamily="34" charset="-128"/>
              </a:rPr>
              <a:t>#2(</a:t>
            </a:r>
            <a:r>
              <a:rPr lang="ja-JP" altLang="en-US" sz="900" dirty="0">
                <a:solidFill>
                  <a:schemeClr val="tx1"/>
                </a:solidFill>
                <a:latin typeface="Meiryo UI" panose="020B0604030504040204" pitchFamily="34" charset="-128"/>
                <a:ea typeface="Meiryo UI" panose="020B0604030504040204" pitchFamily="34" charset="-128"/>
              </a:rPr>
              <a:t>調達</a:t>
            </a:r>
            <a:r>
              <a:rPr lang="en-US" altLang="ja-JP" sz="900" dirty="0">
                <a:solidFill>
                  <a:schemeClr val="tx1"/>
                </a:solidFill>
                <a:latin typeface="Meiryo UI" panose="020B0604030504040204" pitchFamily="34" charset="-128"/>
                <a:ea typeface="Meiryo UI" panose="020B0604030504040204" pitchFamily="34" charset="-128"/>
              </a:rPr>
              <a:t>)</a:t>
            </a:r>
          </a:p>
          <a:p>
            <a:pPr algn="ctr"/>
            <a:r>
              <a:rPr lang="ja-JP" altLang="en-US" sz="900" dirty="0">
                <a:solidFill>
                  <a:schemeClr val="tx1"/>
                </a:solidFill>
                <a:latin typeface="Meiryo UI" panose="020B0604030504040204" pitchFamily="34" charset="-128"/>
                <a:ea typeface="Meiryo UI" panose="020B0604030504040204" pitchFamily="34" charset="-128"/>
              </a:rPr>
              <a:t>ｼﾅﾘｵ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ﾃｽﾄｹｰｽ </a:t>
            </a:r>
            <a:r>
              <a:rPr lang="en-US" altLang="ja-JP" sz="900" dirty="0">
                <a:solidFill>
                  <a:schemeClr val="tx1"/>
                </a:solidFill>
                <a:latin typeface="Meiryo UI" panose="020B0604030504040204" pitchFamily="34" charset="-128"/>
                <a:ea typeface="Meiryo UI" panose="020B0604030504040204" pitchFamily="34" charset="-128"/>
              </a:rPr>
              <a:t>&amp;</a:t>
            </a:r>
            <a:r>
              <a:rPr lang="ja-JP" altLang="en-US" sz="900" dirty="0">
                <a:solidFill>
                  <a:schemeClr val="tx1"/>
                </a:solidFill>
                <a:latin typeface="Meiryo UI" panose="020B0604030504040204" pitchFamily="34" charset="-128"/>
                <a:ea typeface="Meiryo UI" panose="020B0604030504040204" pitchFamily="34" charset="-128"/>
              </a:rPr>
              <a:t> ﾃﾞｰﾀﾓﾃﾞﾙ</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97" name="ホームベース 32">
            <a:extLst>
              <a:ext uri="{FF2B5EF4-FFF2-40B4-BE49-F238E27FC236}">
                <a16:creationId xmlns:a16="http://schemas.microsoft.com/office/drawing/2014/main" id="{291A76D5-7DCF-1345-BF17-04E395F58FA5}"/>
              </a:ext>
            </a:extLst>
          </p:cNvPr>
          <p:cNvSpPr/>
          <p:nvPr/>
        </p:nvSpPr>
        <p:spPr>
          <a:xfrm>
            <a:off x="3556123" y="4469456"/>
            <a:ext cx="1266000"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ユースケースの整理</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98" name="ホームベース 32">
            <a:extLst>
              <a:ext uri="{FF2B5EF4-FFF2-40B4-BE49-F238E27FC236}">
                <a16:creationId xmlns:a16="http://schemas.microsoft.com/office/drawing/2014/main" id="{390D52BF-3F7A-DF44-8580-1332D6FF2474}"/>
              </a:ext>
            </a:extLst>
          </p:cNvPr>
          <p:cNvSpPr/>
          <p:nvPr/>
        </p:nvSpPr>
        <p:spPr>
          <a:xfrm>
            <a:off x="3556123" y="4284109"/>
            <a:ext cx="617666"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目的確定</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99" name="ホームベース 32">
            <a:extLst>
              <a:ext uri="{FF2B5EF4-FFF2-40B4-BE49-F238E27FC236}">
                <a16:creationId xmlns:a16="http://schemas.microsoft.com/office/drawing/2014/main" id="{7B17B9A9-4047-3141-91BD-4DE64B0820C2}"/>
              </a:ext>
            </a:extLst>
          </p:cNvPr>
          <p:cNvSpPr/>
          <p:nvPr/>
        </p:nvSpPr>
        <p:spPr>
          <a:xfrm>
            <a:off x="4825139" y="4284109"/>
            <a:ext cx="1245210"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To</a:t>
            </a:r>
            <a:r>
              <a:rPr lang="ja-JP" altLang="en-US" sz="900" dirty="0">
                <a:solidFill>
                  <a:schemeClr val="tx1"/>
                </a:solidFill>
                <a:latin typeface="Meiryo UI" panose="020B0604030504040204" pitchFamily="34" charset="-128"/>
                <a:ea typeface="Meiryo UI" panose="020B0604030504040204" pitchFamily="34" charset="-128"/>
              </a:rPr>
              <a:t> </a:t>
            </a:r>
            <a:r>
              <a:rPr lang="en-US" altLang="ja-JP" sz="900" dirty="0">
                <a:solidFill>
                  <a:schemeClr val="tx1"/>
                </a:solidFill>
                <a:latin typeface="Meiryo UI" panose="020B0604030504040204" pitchFamily="34" charset="-128"/>
                <a:ea typeface="Meiryo UI" panose="020B0604030504040204" pitchFamily="34" charset="-128"/>
              </a:rPr>
              <a:t>Be</a:t>
            </a:r>
            <a:r>
              <a:rPr lang="ja-JP" altLang="en-US" sz="900" dirty="0">
                <a:solidFill>
                  <a:schemeClr val="tx1"/>
                </a:solidFill>
                <a:latin typeface="Meiryo UI" panose="020B0604030504040204" pitchFamily="34" charset="-128"/>
                <a:ea typeface="Meiryo UI" panose="020B0604030504040204" pitchFamily="34" charset="-128"/>
              </a:rPr>
              <a:t>モデル策定</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00" name="ホームベース 32">
            <a:extLst>
              <a:ext uri="{FF2B5EF4-FFF2-40B4-BE49-F238E27FC236}">
                <a16:creationId xmlns:a16="http://schemas.microsoft.com/office/drawing/2014/main" id="{0B620F39-622D-9C41-BE52-52C4B650E96E}"/>
              </a:ext>
            </a:extLst>
          </p:cNvPr>
          <p:cNvSpPr/>
          <p:nvPr/>
        </p:nvSpPr>
        <p:spPr>
          <a:xfrm>
            <a:off x="5453974" y="4649914"/>
            <a:ext cx="1272269"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ロードマップ策定</a:t>
            </a:r>
            <a:endParaRPr lang="en-US" altLang="ja-JP" sz="900" dirty="0">
              <a:solidFill>
                <a:schemeClr val="tx1"/>
              </a:solidFill>
              <a:latin typeface="Meiryo UI" panose="020B0604030504040204" pitchFamily="34" charset="-128"/>
              <a:ea typeface="Meiryo UI" panose="020B0604030504040204" pitchFamily="34" charset="-128"/>
            </a:endParaRPr>
          </a:p>
        </p:txBody>
      </p:sp>
      <p:cxnSp>
        <p:nvCxnSpPr>
          <p:cNvPr id="101" name="Connector: Elbow 149">
            <a:extLst>
              <a:ext uri="{FF2B5EF4-FFF2-40B4-BE49-F238E27FC236}">
                <a16:creationId xmlns:a16="http://schemas.microsoft.com/office/drawing/2014/main" id="{E5D3EDC5-E9CC-854C-BCF7-E7FBDFE04AF9}"/>
              </a:ext>
            </a:extLst>
          </p:cNvPr>
          <p:cNvCxnSpPr>
            <a:cxnSpLocks/>
            <a:stCxn id="16" idx="2"/>
            <a:endCxn id="99" idx="0"/>
          </p:cNvCxnSpPr>
          <p:nvPr/>
        </p:nvCxnSpPr>
        <p:spPr>
          <a:xfrm rot="16200000" flipH="1">
            <a:off x="4246378" y="3094106"/>
            <a:ext cx="1039597" cy="1340408"/>
          </a:xfrm>
          <a:prstGeom prst="bentConnector3">
            <a:avLst>
              <a:gd name="adj1" fmla="val 50000"/>
            </a:avLst>
          </a:prstGeom>
          <a:noFill/>
          <a:ln w="19050" cap="flat" cmpd="sng" algn="ctr">
            <a:solidFill>
              <a:schemeClr val="accent3"/>
            </a:solidFill>
            <a:prstDash val="solid"/>
            <a:headEnd type="none" w="med" len="med"/>
            <a:tailEnd type="triangle" w="med" len="med"/>
          </a:ln>
          <a:effectLst/>
        </p:spPr>
      </p:cxnSp>
      <p:cxnSp>
        <p:nvCxnSpPr>
          <p:cNvPr id="102" name="直線矢印コネクタ 314">
            <a:extLst>
              <a:ext uri="{FF2B5EF4-FFF2-40B4-BE49-F238E27FC236}">
                <a16:creationId xmlns:a16="http://schemas.microsoft.com/office/drawing/2014/main" id="{8996DE5B-1D52-C043-A183-5115E65185B6}"/>
              </a:ext>
            </a:extLst>
          </p:cNvPr>
          <p:cNvCxnSpPr>
            <a:cxnSpLocks/>
            <a:stCxn id="17" idx="3"/>
            <a:endCxn id="40" idx="1"/>
          </p:cNvCxnSpPr>
          <p:nvPr/>
        </p:nvCxnSpPr>
        <p:spPr>
          <a:xfrm flipH="1">
            <a:off x="5465611" y="3100512"/>
            <a:ext cx="611381" cy="1002499"/>
          </a:xfrm>
          <a:prstGeom prst="bentConnector5">
            <a:avLst>
              <a:gd name="adj1" fmla="val -37391"/>
              <a:gd name="adj2" fmla="val 84680"/>
              <a:gd name="adj3" fmla="val 13739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ホームベース 32">
            <a:extLst>
              <a:ext uri="{FF2B5EF4-FFF2-40B4-BE49-F238E27FC236}">
                <a16:creationId xmlns:a16="http://schemas.microsoft.com/office/drawing/2014/main" id="{6B670D0D-817B-724D-96B9-F72DD53A03B8}"/>
              </a:ext>
            </a:extLst>
          </p:cNvPr>
          <p:cNvSpPr/>
          <p:nvPr/>
        </p:nvSpPr>
        <p:spPr>
          <a:xfrm>
            <a:off x="6097286" y="4284110"/>
            <a:ext cx="628957" cy="340794"/>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業務</a:t>
            </a:r>
            <a:endParaRPr lang="en-US" altLang="ja-JP" sz="900" dirty="0">
              <a:solidFill>
                <a:schemeClr val="tx1"/>
              </a:solidFill>
              <a:latin typeface="Meiryo UI" panose="020B0604030504040204" pitchFamily="34" charset="-128"/>
              <a:ea typeface="Meiryo UI" panose="020B0604030504040204" pitchFamily="34" charset="-128"/>
            </a:endParaRPr>
          </a:p>
          <a:p>
            <a:r>
              <a:rPr lang="ja-JP" altLang="en-US" sz="900" dirty="0">
                <a:solidFill>
                  <a:schemeClr val="tx1"/>
                </a:solidFill>
                <a:latin typeface="Meiryo UI" panose="020B0604030504040204" pitchFamily="34" charset="-128"/>
                <a:ea typeface="Meiryo UI" panose="020B0604030504040204" pitchFamily="34" charset="-128"/>
              </a:rPr>
              <a:t>フロー策定</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04" name="ホームベース 32">
            <a:extLst>
              <a:ext uri="{FF2B5EF4-FFF2-40B4-BE49-F238E27FC236}">
                <a16:creationId xmlns:a16="http://schemas.microsoft.com/office/drawing/2014/main" id="{B546A8D8-217B-EB4B-BC8A-B310320B6CAC}"/>
              </a:ext>
            </a:extLst>
          </p:cNvPr>
          <p:cNvSpPr/>
          <p:nvPr/>
        </p:nvSpPr>
        <p:spPr>
          <a:xfrm>
            <a:off x="4825139" y="4469456"/>
            <a:ext cx="1245210"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各方針策定</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05" name="ホームベース 32">
            <a:extLst>
              <a:ext uri="{FF2B5EF4-FFF2-40B4-BE49-F238E27FC236}">
                <a16:creationId xmlns:a16="http://schemas.microsoft.com/office/drawing/2014/main" id="{81C6B673-C325-5D4B-8688-102F3C0D1940}"/>
              </a:ext>
            </a:extLst>
          </p:cNvPr>
          <p:cNvSpPr/>
          <p:nvPr/>
        </p:nvSpPr>
        <p:spPr>
          <a:xfrm>
            <a:off x="6733889" y="4284110"/>
            <a:ext cx="2683608" cy="152085"/>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Ref</a:t>
            </a:r>
            <a:r>
              <a:rPr lang="ja-JP" altLang="en-US" sz="900" dirty="0">
                <a:solidFill>
                  <a:schemeClr val="tx1"/>
                </a:solidFill>
                <a:latin typeface="Meiryo UI" panose="020B0604030504040204" pitchFamily="34" charset="-128"/>
                <a:ea typeface="Meiryo UI" panose="020B0604030504040204" pitchFamily="34" charset="-128"/>
              </a:rPr>
              <a:t>モデルと</a:t>
            </a:r>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方針の整合性確認</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06" name="ホームベース 32">
            <a:extLst>
              <a:ext uri="{FF2B5EF4-FFF2-40B4-BE49-F238E27FC236}">
                <a16:creationId xmlns:a16="http://schemas.microsoft.com/office/drawing/2014/main" id="{52702D14-5CBF-F241-838E-939D8FA5F0BA}"/>
              </a:ext>
            </a:extLst>
          </p:cNvPr>
          <p:cNvSpPr/>
          <p:nvPr/>
        </p:nvSpPr>
        <p:spPr>
          <a:xfrm>
            <a:off x="6733889" y="4469456"/>
            <a:ext cx="2683608"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en-US" altLang="ja-JP" sz="900" dirty="0">
                <a:solidFill>
                  <a:schemeClr val="tx1"/>
                </a:solidFill>
                <a:latin typeface="Meiryo UI" panose="020B0604030504040204" pitchFamily="34" charset="-128"/>
                <a:ea typeface="Meiryo UI" panose="020B0604030504040204" pitchFamily="34" charset="-128"/>
              </a:rPr>
              <a:t>DM</a:t>
            </a:r>
            <a:r>
              <a:rPr lang="ja-JP" altLang="en-US" sz="900" dirty="0">
                <a:solidFill>
                  <a:schemeClr val="tx1"/>
                </a:solidFill>
                <a:latin typeface="Meiryo UI" panose="020B0604030504040204" pitchFamily="34" charset="-128"/>
                <a:ea typeface="Meiryo UI" panose="020B0604030504040204" pitchFamily="34" charset="-128"/>
              </a:rPr>
              <a:t>効果検証</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07" name="ホームベース 32">
            <a:extLst>
              <a:ext uri="{FF2B5EF4-FFF2-40B4-BE49-F238E27FC236}">
                <a16:creationId xmlns:a16="http://schemas.microsoft.com/office/drawing/2014/main" id="{C98B929C-AB96-0E46-81F5-859F7835C2DF}"/>
              </a:ext>
            </a:extLst>
          </p:cNvPr>
          <p:cNvSpPr/>
          <p:nvPr/>
        </p:nvSpPr>
        <p:spPr>
          <a:xfrm>
            <a:off x="6733889" y="4649914"/>
            <a:ext cx="2683608"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r>
              <a:rPr lang="ja-JP" altLang="en-US" sz="900" dirty="0">
                <a:solidFill>
                  <a:schemeClr val="tx1"/>
                </a:solidFill>
                <a:latin typeface="Meiryo UI" panose="020B0604030504040204" pitchFamily="34" charset="-128"/>
                <a:ea typeface="Meiryo UI" panose="020B0604030504040204" pitchFamily="34" charset="-128"/>
              </a:rPr>
              <a:t>改善提案・改善実施計画の整理</a:t>
            </a:r>
            <a:endParaRPr lang="en-US" altLang="ja-JP" sz="900" dirty="0">
              <a:solidFill>
                <a:schemeClr val="tx1"/>
              </a:solidFill>
              <a:latin typeface="Meiryo UI" panose="020B0604030504040204" pitchFamily="34" charset="-128"/>
              <a:ea typeface="Meiryo UI" panose="020B0604030504040204" pitchFamily="34" charset="-128"/>
            </a:endParaRPr>
          </a:p>
        </p:txBody>
      </p:sp>
      <p:cxnSp>
        <p:nvCxnSpPr>
          <p:cNvPr id="108" name="Straight Connector 162">
            <a:extLst>
              <a:ext uri="{FF2B5EF4-FFF2-40B4-BE49-F238E27FC236}">
                <a16:creationId xmlns:a16="http://schemas.microsoft.com/office/drawing/2014/main" id="{A353D558-AD27-A14E-971E-DA4CE31CB382}"/>
              </a:ext>
            </a:extLst>
          </p:cNvPr>
          <p:cNvCxnSpPr/>
          <p:nvPr/>
        </p:nvCxnSpPr>
        <p:spPr>
          <a:xfrm>
            <a:off x="1637689" y="4830526"/>
            <a:ext cx="7635159" cy="0"/>
          </a:xfrm>
          <a:prstGeom prst="line">
            <a:avLst/>
          </a:prstGeom>
          <a:noFill/>
          <a:ln w="9525" cap="flat" cmpd="sng" algn="ctr">
            <a:solidFill>
              <a:schemeClr val="tx1"/>
            </a:solidFill>
            <a:prstDash val="solid"/>
            <a:tailEnd type="none"/>
          </a:ln>
          <a:effectLst/>
        </p:spPr>
      </p:cxnSp>
      <p:sp>
        <p:nvSpPr>
          <p:cNvPr id="109" name="右矢印 108">
            <a:extLst>
              <a:ext uri="{FF2B5EF4-FFF2-40B4-BE49-F238E27FC236}">
                <a16:creationId xmlns:a16="http://schemas.microsoft.com/office/drawing/2014/main" id="{D1A4BB33-C811-7F4F-A249-E3D10241FDF5}"/>
              </a:ext>
            </a:extLst>
          </p:cNvPr>
          <p:cNvSpPr/>
          <p:nvPr/>
        </p:nvSpPr>
        <p:spPr>
          <a:xfrm rot="3600000">
            <a:off x="3058518" y="3823136"/>
            <a:ext cx="2258337" cy="386042"/>
          </a:xfrm>
          <a:prstGeom prst="rightArrow">
            <a:avLst/>
          </a:prstGeom>
          <a:solidFill>
            <a:srgbClr val="0000FF">
              <a:alpha val="2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endParaRPr lang="ja-JP" altLang="en-US" sz="1000" dirty="0">
              <a:solidFill>
                <a:schemeClr val="tx1"/>
              </a:solidFill>
              <a:latin typeface="Meiryo UI" panose="020B0604030504040204" pitchFamily="34" charset="-128"/>
              <a:ea typeface="Meiryo UI" panose="020B0604030504040204" pitchFamily="34" charset="-128"/>
            </a:endParaRPr>
          </a:p>
        </p:txBody>
      </p:sp>
      <p:cxnSp>
        <p:nvCxnSpPr>
          <p:cNvPr id="110" name="Connector: Elbow 164">
            <a:extLst>
              <a:ext uri="{FF2B5EF4-FFF2-40B4-BE49-F238E27FC236}">
                <a16:creationId xmlns:a16="http://schemas.microsoft.com/office/drawing/2014/main" id="{D7CFC60A-B179-C04C-A781-3652086E08A4}"/>
              </a:ext>
            </a:extLst>
          </p:cNvPr>
          <p:cNvCxnSpPr>
            <a:cxnSpLocks/>
            <a:stCxn id="45" idx="0"/>
            <a:endCxn id="104" idx="2"/>
          </p:cNvCxnSpPr>
          <p:nvPr/>
        </p:nvCxnSpPr>
        <p:spPr>
          <a:xfrm rot="5400000" flipH="1" flipV="1">
            <a:off x="5013664" y="4431617"/>
            <a:ext cx="229429" cy="616004"/>
          </a:xfrm>
          <a:prstGeom prst="bentConnector3">
            <a:avLst>
              <a:gd name="adj1" fmla="val 50000"/>
            </a:avLst>
          </a:prstGeom>
          <a:noFill/>
          <a:ln w="19050" cap="flat" cmpd="sng" algn="ctr">
            <a:solidFill>
              <a:schemeClr val="accent3"/>
            </a:solidFill>
            <a:prstDash val="solid"/>
            <a:headEnd type="none" w="med" len="med"/>
            <a:tailEnd type="triangle" w="med" len="med"/>
          </a:ln>
          <a:effectLst/>
        </p:spPr>
      </p:cxnSp>
      <p:cxnSp>
        <p:nvCxnSpPr>
          <p:cNvPr id="111" name="Connector: Elbow 171">
            <a:extLst>
              <a:ext uri="{FF2B5EF4-FFF2-40B4-BE49-F238E27FC236}">
                <a16:creationId xmlns:a16="http://schemas.microsoft.com/office/drawing/2014/main" id="{785FEBC9-68C7-5145-8798-8B67FBB988B5}"/>
              </a:ext>
            </a:extLst>
          </p:cNvPr>
          <p:cNvCxnSpPr>
            <a:cxnSpLocks/>
            <a:stCxn id="44" idx="0"/>
            <a:endCxn id="99" idx="2"/>
          </p:cNvCxnSpPr>
          <p:nvPr/>
        </p:nvCxnSpPr>
        <p:spPr>
          <a:xfrm rot="5400000" flipH="1" flipV="1">
            <a:off x="4441136" y="3859090"/>
            <a:ext cx="414776" cy="1575711"/>
          </a:xfrm>
          <a:prstGeom prst="bentConnector3">
            <a:avLst>
              <a:gd name="adj1" fmla="val 83298"/>
            </a:avLst>
          </a:prstGeom>
          <a:noFill/>
          <a:ln w="19050" cap="flat" cmpd="sng" algn="ctr">
            <a:solidFill>
              <a:schemeClr val="accent3"/>
            </a:solidFill>
            <a:prstDash val="solid"/>
            <a:headEnd type="none" w="med" len="med"/>
            <a:tailEnd type="triangle" w="med" len="med"/>
          </a:ln>
          <a:effectLst/>
        </p:spPr>
      </p:cxnSp>
      <p:cxnSp>
        <p:nvCxnSpPr>
          <p:cNvPr id="112" name="Connector: Elbow 176">
            <a:extLst>
              <a:ext uri="{FF2B5EF4-FFF2-40B4-BE49-F238E27FC236}">
                <a16:creationId xmlns:a16="http://schemas.microsoft.com/office/drawing/2014/main" id="{C5BBAAA4-F188-D647-9D64-511642117044}"/>
              </a:ext>
            </a:extLst>
          </p:cNvPr>
          <p:cNvCxnSpPr>
            <a:cxnSpLocks/>
            <a:stCxn id="43" idx="3"/>
            <a:endCxn id="107" idx="2"/>
          </p:cNvCxnSpPr>
          <p:nvPr/>
        </p:nvCxnSpPr>
        <p:spPr>
          <a:xfrm flipV="1">
            <a:off x="7351008" y="4805362"/>
            <a:ext cx="713321" cy="192971"/>
          </a:xfrm>
          <a:prstGeom prst="bentConnector2">
            <a:avLst/>
          </a:prstGeom>
          <a:noFill/>
          <a:ln w="19050" cap="flat" cmpd="sng" algn="ctr">
            <a:solidFill>
              <a:schemeClr val="accent3"/>
            </a:solidFill>
            <a:prstDash val="solid"/>
            <a:headEnd type="none" w="med" len="med"/>
            <a:tailEnd type="triangle" w="med" len="med"/>
          </a:ln>
          <a:effectLst/>
        </p:spPr>
      </p:cxnSp>
      <p:cxnSp>
        <p:nvCxnSpPr>
          <p:cNvPr id="113" name="Connector: Elbow 177">
            <a:extLst>
              <a:ext uri="{FF2B5EF4-FFF2-40B4-BE49-F238E27FC236}">
                <a16:creationId xmlns:a16="http://schemas.microsoft.com/office/drawing/2014/main" id="{A4DFB305-D03F-EA42-900B-6667CE3AB62D}"/>
              </a:ext>
            </a:extLst>
          </p:cNvPr>
          <p:cNvCxnSpPr>
            <a:cxnSpLocks/>
            <a:stCxn id="50" idx="3"/>
            <a:endCxn id="107" idx="2"/>
          </p:cNvCxnSpPr>
          <p:nvPr/>
        </p:nvCxnSpPr>
        <p:spPr>
          <a:xfrm flipV="1">
            <a:off x="7357573" y="4805362"/>
            <a:ext cx="706756" cy="537880"/>
          </a:xfrm>
          <a:prstGeom prst="bentConnector2">
            <a:avLst/>
          </a:prstGeom>
          <a:noFill/>
          <a:ln w="19050" cap="flat" cmpd="sng" algn="ctr">
            <a:solidFill>
              <a:schemeClr val="accent3"/>
            </a:solidFill>
            <a:prstDash val="solid"/>
            <a:headEnd type="none" w="med" len="med"/>
            <a:tailEnd type="triangle" w="med" len="med"/>
          </a:ln>
          <a:effectLst/>
        </p:spPr>
      </p:cxnSp>
      <p:cxnSp>
        <p:nvCxnSpPr>
          <p:cNvPr id="114" name="Straight Connector 181">
            <a:extLst>
              <a:ext uri="{FF2B5EF4-FFF2-40B4-BE49-F238E27FC236}">
                <a16:creationId xmlns:a16="http://schemas.microsoft.com/office/drawing/2014/main" id="{2D110CB9-7AB9-4E41-975A-FF77E15FD24C}"/>
              </a:ext>
            </a:extLst>
          </p:cNvPr>
          <p:cNvCxnSpPr/>
          <p:nvPr/>
        </p:nvCxnSpPr>
        <p:spPr>
          <a:xfrm>
            <a:off x="1637689" y="5821713"/>
            <a:ext cx="7635159" cy="0"/>
          </a:xfrm>
          <a:prstGeom prst="line">
            <a:avLst/>
          </a:prstGeom>
          <a:noFill/>
          <a:ln w="9525" cap="flat" cmpd="sng" algn="ctr">
            <a:solidFill>
              <a:schemeClr val="tx1"/>
            </a:solidFill>
            <a:prstDash val="solid"/>
            <a:tailEnd type="none"/>
          </a:ln>
          <a:effectLst/>
        </p:spPr>
      </p:cxnSp>
      <p:sp>
        <p:nvSpPr>
          <p:cNvPr id="115" name="右矢印 114">
            <a:extLst>
              <a:ext uri="{FF2B5EF4-FFF2-40B4-BE49-F238E27FC236}">
                <a16:creationId xmlns:a16="http://schemas.microsoft.com/office/drawing/2014/main" id="{3890A4E8-93F5-8842-A176-7FD6572CEA31}"/>
              </a:ext>
            </a:extLst>
          </p:cNvPr>
          <p:cNvSpPr/>
          <p:nvPr/>
        </p:nvSpPr>
        <p:spPr>
          <a:xfrm rot="3600000">
            <a:off x="4899694" y="3937869"/>
            <a:ext cx="1881908" cy="386042"/>
          </a:xfrm>
          <a:prstGeom prst="rightArrow">
            <a:avLst/>
          </a:prstGeom>
          <a:solidFill>
            <a:srgbClr val="0000FF">
              <a:alpha val="2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endParaRPr lang="ja-JP" altLang="en-US" sz="1000" dirty="0">
              <a:solidFill>
                <a:schemeClr val="tx1"/>
              </a:solidFill>
              <a:latin typeface="Meiryo UI" panose="020B0604030504040204" pitchFamily="34" charset="-128"/>
              <a:ea typeface="Meiryo UI" panose="020B0604030504040204" pitchFamily="34" charset="-128"/>
            </a:endParaRPr>
          </a:p>
        </p:txBody>
      </p:sp>
      <p:sp>
        <p:nvSpPr>
          <p:cNvPr id="116" name="Rectangle: Rounded Corners 75">
            <a:extLst>
              <a:ext uri="{FF2B5EF4-FFF2-40B4-BE49-F238E27FC236}">
                <a16:creationId xmlns:a16="http://schemas.microsoft.com/office/drawing/2014/main" id="{C7E107BF-5921-654A-88E1-31F4640527AD}"/>
              </a:ext>
            </a:extLst>
          </p:cNvPr>
          <p:cNvSpPr/>
          <p:nvPr/>
        </p:nvSpPr>
        <p:spPr>
          <a:xfrm>
            <a:off x="774136" y="4266697"/>
            <a:ext cx="8712763" cy="55595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34" charset="-128"/>
              <a:ea typeface="Meiryo UI" panose="020B0604030504040204" pitchFamily="34" charset="-128"/>
            </a:endParaRPr>
          </a:p>
        </p:txBody>
      </p:sp>
      <p:cxnSp>
        <p:nvCxnSpPr>
          <p:cNvPr id="117" name="Connector: Elbow 184">
            <a:extLst>
              <a:ext uri="{FF2B5EF4-FFF2-40B4-BE49-F238E27FC236}">
                <a16:creationId xmlns:a16="http://schemas.microsoft.com/office/drawing/2014/main" id="{74608991-C8FA-7D4B-8501-37425DABB20C}"/>
              </a:ext>
            </a:extLst>
          </p:cNvPr>
          <p:cNvCxnSpPr>
            <a:cxnSpLocks/>
            <a:stCxn id="13" idx="3"/>
            <a:endCxn id="100" idx="2"/>
          </p:cNvCxnSpPr>
          <p:nvPr/>
        </p:nvCxnSpPr>
        <p:spPr>
          <a:xfrm flipV="1">
            <a:off x="3534584" y="4805362"/>
            <a:ext cx="2544160" cy="1531611"/>
          </a:xfrm>
          <a:prstGeom prst="bentConnector2">
            <a:avLst/>
          </a:prstGeom>
          <a:noFill/>
          <a:ln w="19050" cap="flat" cmpd="sng" algn="ctr">
            <a:solidFill>
              <a:schemeClr val="accent3"/>
            </a:solidFill>
            <a:prstDash val="solid"/>
            <a:headEnd type="none" w="med" len="med"/>
            <a:tailEnd type="triangle" w="med" len="med"/>
          </a:ln>
          <a:effectLst/>
        </p:spPr>
      </p:cxnSp>
      <p:cxnSp>
        <p:nvCxnSpPr>
          <p:cNvPr id="118" name="Connector: Elbow 33">
            <a:extLst>
              <a:ext uri="{FF2B5EF4-FFF2-40B4-BE49-F238E27FC236}">
                <a16:creationId xmlns:a16="http://schemas.microsoft.com/office/drawing/2014/main" id="{AFC67366-D345-4F45-9034-F0A7F5E18DF0}"/>
              </a:ext>
            </a:extLst>
          </p:cNvPr>
          <p:cNvCxnSpPr>
            <a:cxnSpLocks/>
            <a:stCxn id="91" idx="0"/>
            <a:endCxn id="38" idx="3"/>
          </p:cNvCxnSpPr>
          <p:nvPr/>
        </p:nvCxnSpPr>
        <p:spPr>
          <a:xfrm rot="5400000" flipH="1" flipV="1">
            <a:off x="3295304" y="4030664"/>
            <a:ext cx="181099" cy="325795"/>
          </a:xfrm>
          <a:prstGeom prst="bentConnector4">
            <a:avLst>
              <a:gd name="adj1" fmla="val 10242"/>
              <a:gd name="adj2" fmla="val 170167"/>
            </a:avLst>
          </a:prstGeom>
          <a:noFill/>
          <a:ln w="19050" cap="flat" cmpd="sng" algn="ctr">
            <a:solidFill>
              <a:schemeClr val="accent3"/>
            </a:solidFill>
            <a:prstDash val="solid"/>
            <a:headEnd type="triangle" w="med" len="med"/>
            <a:tailEnd type="triangle" w="med" len="med"/>
          </a:ln>
          <a:effectLst/>
        </p:spPr>
      </p:cxnSp>
      <p:sp>
        <p:nvSpPr>
          <p:cNvPr id="119" name="ホームベース 32">
            <a:extLst>
              <a:ext uri="{FF2B5EF4-FFF2-40B4-BE49-F238E27FC236}">
                <a16:creationId xmlns:a16="http://schemas.microsoft.com/office/drawing/2014/main" id="{1BDA7082-65DF-4B49-B9EC-5AF5F164338D}"/>
              </a:ext>
            </a:extLst>
          </p:cNvPr>
          <p:cNvSpPr/>
          <p:nvPr/>
        </p:nvSpPr>
        <p:spPr>
          <a:xfrm>
            <a:off x="2919795" y="4649914"/>
            <a:ext cx="627182" cy="155448"/>
          </a:xfrm>
          <a:prstGeom prst="homePlate">
            <a:avLst>
              <a:gd name="adj" fmla="val 14621"/>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r"/>
            <a:r>
              <a:rPr lang="ja-JP" altLang="en-US" sz="900" dirty="0">
                <a:solidFill>
                  <a:schemeClr val="tx1"/>
                </a:solidFill>
                <a:latin typeface="Meiryo UI" panose="020B0604030504040204" pitchFamily="34" charset="-128"/>
                <a:ea typeface="Meiryo UI" panose="020B0604030504040204" pitchFamily="34" charset="-128"/>
              </a:rPr>
              <a:t>ロードマップドラフト作成</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20" name="ホームベース 32">
            <a:extLst>
              <a:ext uri="{FF2B5EF4-FFF2-40B4-BE49-F238E27FC236}">
                <a16:creationId xmlns:a16="http://schemas.microsoft.com/office/drawing/2014/main" id="{9DA7ACBF-4D96-E146-8AE5-6378CE19D06D}"/>
              </a:ext>
            </a:extLst>
          </p:cNvPr>
          <p:cNvSpPr/>
          <p:nvPr/>
        </p:nvSpPr>
        <p:spPr>
          <a:xfrm>
            <a:off x="3551364" y="4649914"/>
            <a:ext cx="1892507" cy="155448"/>
          </a:xfrm>
          <a:prstGeom prst="homePlate">
            <a:avLst>
              <a:gd name="adj" fmla="val 14621"/>
            </a:avLst>
          </a:prstGeom>
          <a:no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0" rtlCol="0" anchor="ctr"/>
          <a:lstStyle/>
          <a:p>
            <a:pPr algn="r"/>
            <a:r>
              <a:rPr lang="ja-JP" altLang="en-US" sz="900" dirty="0">
                <a:solidFill>
                  <a:schemeClr val="tx1"/>
                </a:solidFill>
                <a:latin typeface="Meiryo UI" panose="020B0604030504040204" pitchFamily="34" charset="-128"/>
                <a:ea typeface="Meiryo UI" panose="020B0604030504040204" pitchFamily="34" charset="-128"/>
              </a:rPr>
              <a:t>ロードマップ素案更新（適宜）</a:t>
            </a:r>
            <a:endParaRPr lang="en-US" altLang="ja-JP" sz="900" dirty="0">
              <a:solidFill>
                <a:schemeClr val="tx1"/>
              </a:solidFill>
              <a:latin typeface="Meiryo UI" panose="020B0604030504040204" pitchFamily="34" charset="-128"/>
              <a:ea typeface="Meiryo UI" panose="020B0604030504040204" pitchFamily="34" charset="-128"/>
            </a:endParaRPr>
          </a:p>
        </p:txBody>
      </p:sp>
      <p:sp>
        <p:nvSpPr>
          <p:cNvPr id="121" name="正方形/長方形 120">
            <a:extLst>
              <a:ext uri="{FF2B5EF4-FFF2-40B4-BE49-F238E27FC236}">
                <a16:creationId xmlns:a16="http://schemas.microsoft.com/office/drawing/2014/main" id="{75A805B3-E03A-E346-B88D-5454158294E5}"/>
              </a:ext>
            </a:extLst>
          </p:cNvPr>
          <p:cNvSpPr/>
          <p:nvPr/>
        </p:nvSpPr>
        <p:spPr>
          <a:xfrm>
            <a:off x="5465611" y="4284109"/>
            <a:ext cx="3951886" cy="521253"/>
          </a:xfrm>
          <a:prstGeom prst="rect">
            <a:avLst/>
          </a:prstGeom>
          <a:solidFill>
            <a:srgbClr val="223F4B">
              <a:alpha val="69804"/>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34" charset="-128"/>
                <a:ea typeface="Meiryo UI" panose="020B0604030504040204" pitchFamily="34" charset="-128"/>
              </a:rPr>
              <a:t>10</a:t>
            </a:r>
            <a:r>
              <a:rPr kumimoji="1" lang="ja-JP" altLang="en-US" sz="1400" dirty="0">
                <a:latin typeface="Meiryo UI" panose="020B0604030504040204" pitchFamily="34" charset="-128"/>
                <a:ea typeface="Meiryo UI" panose="020B0604030504040204" pitchFamily="34" charset="-128"/>
              </a:rPr>
              <a:t>月</a:t>
            </a:r>
            <a:r>
              <a:rPr kumimoji="1" lang="en-US" altLang="ja-JP" sz="1400" dirty="0">
                <a:latin typeface="Meiryo UI" panose="020B0604030504040204" pitchFamily="34" charset="-128"/>
                <a:ea typeface="Meiryo UI" panose="020B0604030504040204" pitchFamily="34" charset="-128"/>
              </a:rPr>
              <a:t>1</a:t>
            </a:r>
            <a:r>
              <a:rPr kumimoji="1" lang="ja-JP" altLang="en-US" sz="1400" dirty="0">
                <a:latin typeface="Meiryo UI" panose="020B0604030504040204" pitchFamily="34" charset="-128"/>
                <a:ea typeface="Meiryo UI" panose="020B0604030504040204" pitchFamily="34" charset="-128"/>
              </a:rPr>
              <a:t>日の統合状況を踏まえ</a:t>
            </a:r>
            <a:r>
              <a:rPr kumimoji="1" lang="en-US" altLang="ja-JP" sz="1400" dirty="0">
                <a:latin typeface="Meiryo UI" panose="020B0604030504040204" pitchFamily="34" charset="-128"/>
                <a:ea typeface="Meiryo UI" panose="020B0604030504040204" pitchFamily="34" charset="-128"/>
              </a:rPr>
              <a:t>9</a:t>
            </a:r>
            <a:r>
              <a:rPr kumimoji="1" lang="ja-JP" altLang="en-US" sz="1400" dirty="0">
                <a:latin typeface="Meiryo UI" panose="020B0604030504040204" pitchFamily="34" charset="-128"/>
                <a:ea typeface="Meiryo UI" panose="020B0604030504040204" pitchFamily="34" charset="-128"/>
              </a:rPr>
              <a:t>月頃に再検討</a:t>
            </a:r>
          </a:p>
        </p:txBody>
      </p:sp>
      <p:sp>
        <p:nvSpPr>
          <p:cNvPr id="122" name="テキスト プレースホルダー 2">
            <a:extLst>
              <a:ext uri="{FF2B5EF4-FFF2-40B4-BE49-F238E27FC236}">
                <a16:creationId xmlns:a16="http://schemas.microsoft.com/office/drawing/2014/main" id="{CDCCE46D-785C-A84F-A78E-030D6BD736D1}"/>
              </a:ext>
            </a:extLst>
          </p:cNvPr>
          <p:cNvSpPr txBox="1">
            <a:spLocks/>
          </p:cNvSpPr>
          <p:nvPr/>
        </p:nvSpPr>
        <p:spPr>
          <a:xfrm>
            <a:off x="236538" y="574775"/>
            <a:ext cx="9432925" cy="811367"/>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hangingPunct="0">
              <a:lnSpc>
                <a:spcPct val="100000"/>
              </a:lnSpc>
              <a:spcBef>
                <a:spcPts val="0"/>
              </a:spcBef>
            </a:pPr>
            <a:r>
              <a:rPr lang="ja-JP" altLang="en-US" b="1">
                <a:latin typeface="Meiryo UI" panose="020B0604030504040204" pitchFamily="34" charset="-128"/>
                <a:ea typeface="Meiryo UI" panose="020B0604030504040204" pitchFamily="34" charset="-128"/>
                <a:cs typeface="+mn-cs"/>
              </a:rPr>
              <a:t>業務</a:t>
            </a:r>
            <a:r>
              <a:rPr lang="en" altLang="ja-JP" b="1" dirty="0">
                <a:latin typeface="Meiryo UI" panose="020B0604030504040204" pitchFamily="34" charset="-128"/>
                <a:ea typeface="Meiryo UI" panose="020B0604030504040204" pitchFamily="34" charset="-128"/>
                <a:cs typeface="+mn-cs"/>
              </a:rPr>
              <a:t>WG</a:t>
            </a:r>
            <a:r>
              <a:rPr lang="ja-JP" altLang="en-US" b="1">
                <a:latin typeface="Meiryo UI" panose="020B0604030504040204" pitchFamily="34" charset="-128"/>
                <a:ea typeface="Meiryo UI" panose="020B0604030504040204" pitchFamily="34" charset="-128"/>
                <a:cs typeface="+mn-cs"/>
              </a:rPr>
              <a:t>の</a:t>
            </a:r>
            <a:r>
              <a:rPr lang="en" altLang="ja-JP" b="1" dirty="0">
                <a:latin typeface="Meiryo UI" panose="020B0604030504040204" pitchFamily="34" charset="-128"/>
                <a:ea typeface="Meiryo UI" panose="020B0604030504040204" pitchFamily="34" charset="-128"/>
                <a:cs typeface="+mn-cs"/>
              </a:rPr>
              <a:t>Ref</a:t>
            </a:r>
            <a:r>
              <a:rPr lang="ja-JP" altLang="en-US" b="1">
                <a:latin typeface="Meiryo UI" panose="020B0604030504040204" pitchFamily="34" charset="-128"/>
                <a:ea typeface="Meiryo UI" panose="020B0604030504040204" pitchFamily="34" charset="-128"/>
                <a:cs typeface="+mn-cs"/>
              </a:rPr>
              <a:t>モデル試行や</a:t>
            </a:r>
            <a:r>
              <a:rPr lang="en" altLang="ja-JP" b="1" dirty="0">
                <a:latin typeface="Meiryo UI" panose="020B0604030504040204" pitchFamily="34" charset="-128"/>
                <a:ea typeface="Meiryo UI" panose="020B0604030504040204" pitchFamily="34" charset="-128"/>
                <a:cs typeface="+mn-cs"/>
              </a:rPr>
              <a:t>IT</a:t>
            </a:r>
            <a:r>
              <a:rPr lang="ja-JP" altLang="en-US" b="1">
                <a:latin typeface="Meiryo UI" panose="020B0604030504040204" pitchFamily="34" charset="-128"/>
                <a:ea typeface="Meiryo UI" panose="020B0604030504040204" pitchFamily="34" charset="-128"/>
                <a:cs typeface="+mn-cs"/>
              </a:rPr>
              <a:t>アーキテクチャーの設計状況を踏まえつつ、上期中にデータマネジメント目的とユースケース、</a:t>
            </a:r>
            <a:r>
              <a:rPr lang="en" altLang="ja-JP" b="1" dirty="0">
                <a:latin typeface="Meiryo UI" panose="020B0604030504040204" pitchFamily="34" charset="-128"/>
                <a:ea typeface="Meiryo UI" panose="020B0604030504040204" pitchFamily="34" charset="-128"/>
                <a:cs typeface="+mn-cs"/>
              </a:rPr>
              <a:t>To Be</a:t>
            </a:r>
            <a:r>
              <a:rPr lang="ja-JP" altLang="en-US" b="1">
                <a:latin typeface="Meiryo UI" panose="020B0604030504040204" pitchFamily="34" charset="-128"/>
                <a:ea typeface="Meiryo UI" panose="020B0604030504040204" pitchFamily="34" charset="-128"/>
                <a:cs typeface="+mn-cs"/>
              </a:rPr>
              <a:t>モデルを整理し、下期中に今後の実行計画を整備したうえで他のチーム・</a:t>
            </a:r>
            <a:r>
              <a:rPr lang="en" altLang="ja-JP" b="1" dirty="0">
                <a:latin typeface="Meiryo UI" panose="020B0604030504040204" pitchFamily="34" charset="-128"/>
                <a:ea typeface="Meiryo UI" panose="020B0604030504040204" pitchFamily="34" charset="-128"/>
                <a:cs typeface="+mn-cs"/>
              </a:rPr>
              <a:t>WG</a:t>
            </a:r>
            <a:r>
              <a:rPr lang="ja-JP" altLang="en-US" b="1">
                <a:latin typeface="Meiryo UI" panose="020B0604030504040204" pitchFamily="34" charset="-128"/>
                <a:ea typeface="Meiryo UI" panose="020B0604030504040204" pitchFamily="34" charset="-128"/>
                <a:cs typeface="+mn-cs"/>
              </a:rPr>
              <a:t>の実施状況を精査し</a:t>
            </a:r>
            <a:r>
              <a:rPr lang="en" altLang="ja-JP" b="1" dirty="0">
                <a:latin typeface="Meiryo UI" panose="020B0604030504040204" pitchFamily="34" charset="-128"/>
                <a:ea typeface="Meiryo UI" panose="020B0604030504040204" pitchFamily="34" charset="-128"/>
                <a:cs typeface="+mn-cs"/>
              </a:rPr>
              <a:t>DM</a:t>
            </a:r>
            <a:r>
              <a:rPr lang="ja-JP" altLang="en-US" b="1">
                <a:latin typeface="Meiryo UI" panose="020B0604030504040204" pitchFamily="34" charset="-128"/>
                <a:ea typeface="Meiryo UI" panose="020B0604030504040204" pitchFamily="34" charset="-128"/>
                <a:cs typeface="+mn-cs"/>
              </a:rPr>
              <a:t>観点での改善活動を行う。</a:t>
            </a:r>
          </a:p>
        </p:txBody>
      </p:sp>
    </p:spTree>
    <p:extLst>
      <p:ext uri="{BB962C8B-B14F-4D97-AF65-F5344CB8AC3E}">
        <p14:creationId xmlns:p14="http://schemas.microsoft.com/office/powerpoint/2010/main" val="2474405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7287807" cy="349961"/>
          </a:xfrm>
        </p:spPr>
        <p:txBody>
          <a:bodyPr/>
          <a:lstStyle/>
          <a:p>
            <a:r>
              <a:rPr lang="ja-JP" altLang="en-US" b="1"/>
              <a:t>データマネジメント強化</a:t>
            </a:r>
            <a:r>
              <a:rPr lang="ja-JP" altLang="en-US" b="1" dirty="0"/>
              <a:t>アプローチの見直</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4775"/>
            <a:ext cx="9440862"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経営統合で</a:t>
            </a:r>
            <a:r>
              <a:rPr lang="ja-JP" altLang="en-US" b="1" dirty="0">
                <a:latin typeface="Meiryo UI" panose="020B0604030504040204" pitchFamily="34" charset="-128"/>
                <a:ea typeface="Meiryo UI" panose="020B0604030504040204" pitchFamily="34" charset="-128"/>
              </a:rPr>
              <a:t>業務プロセスやデータ定義が変化し</a:t>
            </a:r>
            <a:r>
              <a:rPr lang="ja-JP" altLang="en-US" b="1" dirty="0">
                <a:latin typeface="Meiryo UI" panose="020B0604030504040204" pitchFamily="34" charset="-128"/>
                <a:ea typeface="Meiryo UI" panose="020B0604030504040204" pitchFamily="34" charset="-128"/>
                <a:cs typeface="+mn-cs"/>
              </a:rPr>
              <a:t>業務側のリソースも不足する中、</a:t>
            </a:r>
            <a:r>
              <a:rPr lang="en-US" altLang="ja-JP" b="1" dirty="0">
                <a:latin typeface="Meiryo UI" panose="020B0604030504040204" pitchFamily="34" charset="-128"/>
                <a:ea typeface="Meiryo UI" panose="020B0604030504040204" pitchFamily="34" charset="-128"/>
                <a:cs typeface="+mn-cs"/>
              </a:rPr>
              <a:t>BU</a:t>
            </a:r>
            <a:r>
              <a:rPr lang="ja-JP" altLang="en-US" b="1" dirty="0">
                <a:latin typeface="Meiryo UI" panose="020B0604030504040204" pitchFamily="34" charset="-128"/>
                <a:ea typeface="Meiryo UI" panose="020B0604030504040204" pitchFamily="34" charset="-128"/>
                <a:cs typeface="+mn-cs"/>
              </a:rPr>
              <a:t>別経営に適したデータの在り方の検討を促し、その早期定着を実現ためにはビジネスシナリオに基づくリファレンス型アプローチがより適切である。</a:t>
            </a:r>
            <a:endParaRPr lang="en-US" b="1" dirty="0">
              <a:latin typeface="Meiryo UI" panose="020B0604030504040204" pitchFamily="34" charset="-128"/>
              <a:ea typeface="Meiryo UI" panose="020B0604030504040204" pitchFamily="34" charset="-128"/>
              <a:cs typeface="+mn-cs"/>
            </a:endParaRPr>
          </a:p>
        </p:txBody>
      </p:sp>
      <p:sp>
        <p:nvSpPr>
          <p:cNvPr id="14" name="正方形/長方形 13">
            <a:extLst>
              <a:ext uri="{FF2B5EF4-FFF2-40B4-BE49-F238E27FC236}">
                <a16:creationId xmlns:a16="http://schemas.microsoft.com/office/drawing/2014/main" id="{896B668A-F41F-47ED-AA96-2F5B3BD67403}"/>
              </a:ext>
            </a:extLst>
          </p:cNvPr>
          <p:cNvSpPr/>
          <p:nvPr/>
        </p:nvSpPr>
        <p:spPr>
          <a:xfrm>
            <a:off x="236538" y="1235936"/>
            <a:ext cx="355600" cy="2412516"/>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dirty="0">
                <a:ln>
                  <a:solidFill>
                    <a:schemeClr val="bg1">
                      <a:lumMod val="50000"/>
                    </a:schemeClr>
                  </a:solidFill>
                </a:ln>
                <a:solidFill>
                  <a:schemeClr val="bg1">
                    <a:lumMod val="85000"/>
                  </a:schemeClr>
                </a:solidFill>
                <a:latin typeface="Meiryo UI" panose="020B0604030504040204" pitchFamily="34" charset="-128"/>
                <a:ea typeface="Meiryo UI" panose="020B0604030504040204" pitchFamily="34" charset="-128"/>
              </a:rPr>
              <a:t>トップダウンアプローチ</a:t>
            </a:r>
            <a:endParaRPr kumimoji="1" lang="en-US" sz="1200" dirty="0">
              <a:ln>
                <a:solidFill>
                  <a:schemeClr val="bg1">
                    <a:lumMod val="50000"/>
                  </a:schemeClr>
                </a:solidFill>
              </a:ln>
              <a:solidFill>
                <a:schemeClr val="bg1">
                  <a:lumMod val="85000"/>
                </a:schemeClr>
              </a:solidFill>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71BFCCB2-130E-4275-9F6A-3876E840FF75}"/>
              </a:ext>
            </a:extLst>
          </p:cNvPr>
          <p:cNvSpPr/>
          <p:nvPr/>
        </p:nvSpPr>
        <p:spPr>
          <a:xfrm>
            <a:off x="236538" y="3786561"/>
            <a:ext cx="355600" cy="2412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dirty="0">
                <a:latin typeface="Meiryo UI" panose="020B0604030504040204" pitchFamily="34" charset="-128"/>
                <a:ea typeface="Meiryo UI" panose="020B0604030504040204" pitchFamily="34" charset="-128"/>
              </a:rPr>
              <a:t>リファレンス型アプローチ</a:t>
            </a:r>
            <a:endParaRPr kumimoji="1" lang="en-US" sz="1200" dirty="0">
              <a:latin typeface="Meiryo UI" panose="020B0604030504040204" pitchFamily="34" charset="-128"/>
              <a:ea typeface="Meiryo UI" panose="020B0604030504040204" pitchFamily="34" charset="-128"/>
            </a:endParaRPr>
          </a:p>
        </p:txBody>
      </p:sp>
      <p:sp>
        <p:nvSpPr>
          <p:cNvPr id="28" name="正方形/長方形 27">
            <a:extLst>
              <a:ext uri="{FF2B5EF4-FFF2-40B4-BE49-F238E27FC236}">
                <a16:creationId xmlns:a16="http://schemas.microsoft.com/office/drawing/2014/main" id="{F2D10C93-2561-4623-968E-67721CCCED03}"/>
              </a:ext>
            </a:extLst>
          </p:cNvPr>
          <p:cNvSpPr/>
          <p:nvPr/>
        </p:nvSpPr>
        <p:spPr>
          <a:xfrm>
            <a:off x="592138" y="1235937"/>
            <a:ext cx="9077323" cy="416153"/>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200" dirty="0">
                <a:solidFill>
                  <a:schemeClr val="tx1"/>
                </a:solidFill>
                <a:latin typeface="Meiryo UI" panose="020B0604030504040204" pitchFamily="34" charset="-128"/>
                <a:ea typeface="Meiryo UI" panose="020B0604030504040204" pitchFamily="34" charset="-128"/>
              </a:rPr>
              <a:t>データ管理の目的や意義、目指すべきゴールをプログラム全体で合意・共有したうえで、業務・</a:t>
            </a:r>
            <a:r>
              <a:rPr kumimoji="1" lang="en-US" altLang="ja-JP" sz="1200" dirty="0">
                <a:solidFill>
                  <a:schemeClr val="tx1"/>
                </a:solidFill>
                <a:latin typeface="Meiryo UI" panose="020B0604030504040204" pitchFamily="34" charset="-128"/>
                <a:ea typeface="Meiryo UI" panose="020B0604030504040204" pitchFamily="34" charset="-128"/>
              </a:rPr>
              <a:t>IT</a:t>
            </a:r>
            <a:r>
              <a:rPr kumimoji="1" lang="ja-JP" altLang="en-US" sz="1200" dirty="0">
                <a:solidFill>
                  <a:schemeClr val="tx1"/>
                </a:solidFill>
                <a:latin typeface="Meiryo UI" panose="020B0604030504040204" pitchFamily="34" charset="-128"/>
                <a:ea typeface="Meiryo UI" panose="020B0604030504040204" pitchFamily="34" charset="-128"/>
              </a:rPr>
              <a:t>の各チームと</a:t>
            </a:r>
            <a:r>
              <a:rPr kumimoji="1" lang="en-US" altLang="ja-JP" sz="1200" dirty="0">
                <a:solidFill>
                  <a:schemeClr val="tx1"/>
                </a:solidFill>
                <a:latin typeface="Meiryo UI" panose="020B0604030504040204" pitchFamily="34" charset="-128"/>
                <a:ea typeface="Meiryo UI" panose="020B0604030504040204" pitchFamily="34" charset="-128"/>
              </a:rPr>
              <a:t>DM</a:t>
            </a:r>
            <a:r>
              <a:rPr kumimoji="1" lang="ja-JP" altLang="en-US" sz="1200" dirty="0">
                <a:solidFill>
                  <a:schemeClr val="tx1"/>
                </a:solidFill>
                <a:latin typeface="Meiryo UI" panose="020B0604030504040204" pitchFamily="34" charset="-128"/>
                <a:ea typeface="Meiryo UI" panose="020B0604030504040204" pitchFamily="34" charset="-128"/>
              </a:rPr>
              <a:t>の各構成要素のあるべき姿を協議し実装する。</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16B1001E-74F2-4981-91A9-B80F9E14AF2C}"/>
              </a:ext>
            </a:extLst>
          </p:cNvPr>
          <p:cNvSpPr/>
          <p:nvPr/>
        </p:nvSpPr>
        <p:spPr>
          <a:xfrm>
            <a:off x="592138" y="3786562"/>
            <a:ext cx="9077323" cy="4161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200" dirty="0">
                <a:solidFill>
                  <a:schemeClr val="tx1"/>
                </a:solidFill>
                <a:latin typeface="Meiryo UI" panose="020B0604030504040204" pitchFamily="34" charset="-128"/>
                <a:ea typeface="Meiryo UI" panose="020B0604030504040204" pitchFamily="34" charset="-128"/>
              </a:rPr>
              <a:t>経営上の重点課題を抱えているビジネスシナリオ</a:t>
            </a:r>
            <a:r>
              <a:rPr kumimoji="1" lang="en-US" altLang="ja-JP" sz="1200" dirty="0">
                <a:solidFill>
                  <a:schemeClr val="tx1"/>
                </a:solidFill>
                <a:latin typeface="Meiryo UI" panose="020B0604030504040204" pitchFamily="34" charset="-128"/>
                <a:ea typeface="Meiryo UI" panose="020B0604030504040204" pitchFamily="34" charset="-128"/>
              </a:rPr>
              <a:t>※</a:t>
            </a:r>
            <a:r>
              <a:rPr kumimoji="1" lang="ja-JP" altLang="en-US" sz="1200" dirty="0">
                <a:solidFill>
                  <a:schemeClr val="tx1"/>
                </a:solidFill>
                <a:latin typeface="Meiryo UI" panose="020B0604030504040204" pitchFamily="34" charset="-128"/>
                <a:ea typeface="Meiryo UI" panose="020B0604030504040204" pitchFamily="34" charset="-128"/>
              </a:rPr>
              <a:t>を選定し</a:t>
            </a:r>
            <a:r>
              <a:rPr kumimoji="1" lang="en-US" altLang="ja-JP" sz="1200" dirty="0">
                <a:solidFill>
                  <a:schemeClr val="tx1"/>
                </a:solidFill>
                <a:latin typeface="Meiryo UI" panose="020B0604030504040204" pitchFamily="34" charset="-128"/>
                <a:ea typeface="Meiryo UI" panose="020B0604030504040204" pitchFamily="34" charset="-128"/>
              </a:rPr>
              <a:t>DM</a:t>
            </a:r>
            <a:r>
              <a:rPr kumimoji="1" lang="ja-JP" altLang="en-US" sz="1200" dirty="0">
                <a:solidFill>
                  <a:schemeClr val="tx1"/>
                </a:solidFill>
                <a:latin typeface="Meiryo UI" panose="020B0604030504040204" pitchFamily="34" charset="-128"/>
                <a:ea typeface="Meiryo UI" panose="020B0604030504040204" pitchFamily="34" charset="-128"/>
              </a:rPr>
              <a:t>の観点でデータフローやデータ定義上の課題を精査したうえで、業務と対策を協議・実装しその結果を事実上の標準として横展開する。</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526FC6A0-2B4E-4209-8CB0-4A278D4BB1FF}"/>
              </a:ext>
            </a:extLst>
          </p:cNvPr>
          <p:cNvSpPr/>
          <p:nvPr/>
        </p:nvSpPr>
        <p:spPr>
          <a:xfrm>
            <a:off x="709126" y="228644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34" charset="-128"/>
                <a:ea typeface="Meiryo UI" panose="020B0604030504040204" pitchFamily="34" charset="-128"/>
              </a:rPr>
              <a:t>DM</a:t>
            </a:r>
            <a:r>
              <a:rPr kumimoji="1" lang="ja-JP" altLang="en-US" sz="1200" dirty="0">
                <a:solidFill>
                  <a:schemeClr val="tx1"/>
                </a:solidFill>
                <a:latin typeface="Meiryo UI" panose="020B0604030504040204" pitchFamily="34" charset="-128"/>
                <a:ea typeface="Meiryo UI" panose="020B0604030504040204" pitchFamily="34" charset="-128"/>
              </a:rPr>
              <a:t>目的の</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dirty="0">
                <a:solidFill>
                  <a:schemeClr val="tx1"/>
                </a:solidFill>
                <a:latin typeface="Meiryo UI" panose="020B0604030504040204" pitchFamily="34" charset="-128"/>
                <a:ea typeface="Meiryo UI" panose="020B0604030504040204" pitchFamily="34" charset="-128"/>
              </a:rPr>
              <a:t>仮説定義</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B9639501-643B-4974-8310-7325B9214A4B}"/>
              </a:ext>
            </a:extLst>
          </p:cNvPr>
          <p:cNvSpPr/>
          <p:nvPr/>
        </p:nvSpPr>
        <p:spPr>
          <a:xfrm>
            <a:off x="1815016" y="228644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目的仮説の合意</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E70B5A1A-2AE2-4070-998B-2280B75D10D6}"/>
              </a:ext>
            </a:extLst>
          </p:cNvPr>
          <p:cNvSpPr/>
          <p:nvPr/>
        </p:nvSpPr>
        <p:spPr>
          <a:xfrm>
            <a:off x="2920906" y="2285364"/>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34" charset="-128"/>
                <a:ea typeface="Meiryo UI" panose="020B0604030504040204" pitchFamily="34" charset="-128"/>
              </a:rPr>
              <a:t>DM</a:t>
            </a:r>
            <a:r>
              <a:rPr kumimoji="1" lang="ja-JP" altLang="en-US" sz="1200" dirty="0">
                <a:solidFill>
                  <a:schemeClr val="tx1"/>
                </a:solidFill>
                <a:latin typeface="Meiryo UI" panose="020B0604030504040204" pitchFamily="34" charset="-128"/>
                <a:ea typeface="Meiryo UI" panose="020B0604030504040204" pitchFamily="34" charset="-128"/>
              </a:rPr>
              <a:t>実施</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dirty="0">
                <a:solidFill>
                  <a:schemeClr val="tx1"/>
                </a:solidFill>
                <a:latin typeface="Meiryo UI" panose="020B0604030504040204" pitchFamily="34" charset="-128"/>
                <a:ea typeface="Meiryo UI" panose="020B0604030504040204" pitchFamily="34" charset="-128"/>
              </a:rPr>
              <a:t>スコープ</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dirty="0">
                <a:solidFill>
                  <a:schemeClr val="tx1"/>
                </a:solidFill>
                <a:latin typeface="Meiryo UI" panose="020B0604030504040204" pitchFamily="34" charset="-128"/>
                <a:ea typeface="Meiryo UI" panose="020B0604030504040204" pitchFamily="34" charset="-128"/>
              </a:rPr>
              <a:t>仮説定義</a:t>
            </a:r>
            <a:endParaRPr kumimoji="1" lang="en-US" sz="1200" dirty="0">
              <a:solidFill>
                <a:schemeClr val="tx1"/>
              </a:solidFill>
              <a:latin typeface="Meiryo UI" panose="020B0604030504040204" pitchFamily="34" charset="-128"/>
              <a:ea typeface="Meiryo UI" panose="020B0604030504040204" pitchFamily="34" charset="-128"/>
            </a:endParaRPr>
          </a:p>
        </p:txBody>
      </p:sp>
      <p:cxnSp>
        <p:nvCxnSpPr>
          <p:cNvPr id="18" name="直線矢印コネクタ 17">
            <a:extLst>
              <a:ext uri="{FF2B5EF4-FFF2-40B4-BE49-F238E27FC236}">
                <a16:creationId xmlns:a16="http://schemas.microsoft.com/office/drawing/2014/main" id="{A143C32F-C3F1-4AA8-B45A-F9FCB73E6C53}"/>
              </a:ext>
            </a:extLst>
          </p:cNvPr>
          <p:cNvCxnSpPr>
            <a:cxnSpLocks/>
            <a:stCxn id="16" idx="3"/>
            <a:endCxn id="31" idx="1"/>
          </p:cNvCxnSpPr>
          <p:nvPr/>
        </p:nvCxnSpPr>
        <p:spPr>
          <a:xfrm>
            <a:off x="1642510" y="2599025"/>
            <a:ext cx="172506" cy="0"/>
          </a:xfrm>
          <a:prstGeom prst="straightConnector1">
            <a:avLst/>
          </a:prstGeom>
          <a:noFill/>
          <a:ln w="9525" cap="flat" cmpd="sng" algn="ctr">
            <a:solidFill>
              <a:srgbClr val="0076A8"/>
            </a:solidFill>
            <a:prstDash val="solid"/>
            <a:tailEnd type="triangle"/>
          </a:ln>
          <a:effectLst/>
        </p:spPr>
      </p:cxnSp>
      <p:cxnSp>
        <p:nvCxnSpPr>
          <p:cNvPr id="36" name="直線矢印コネクタ 35">
            <a:extLst>
              <a:ext uri="{FF2B5EF4-FFF2-40B4-BE49-F238E27FC236}">
                <a16:creationId xmlns:a16="http://schemas.microsoft.com/office/drawing/2014/main" id="{EF49BD69-61B3-49AB-B5E2-A3EF92452377}"/>
              </a:ext>
            </a:extLst>
          </p:cNvPr>
          <p:cNvCxnSpPr>
            <a:cxnSpLocks/>
            <a:stCxn id="31" idx="3"/>
            <a:endCxn id="32" idx="1"/>
          </p:cNvCxnSpPr>
          <p:nvPr/>
        </p:nvCxnSpPr>
        <p:spPr>
          <a:xfrm flipV="1">
            <a:off x="2748400" y="2597940"/>
            <a:ext cx="172506" cy="1085"/>
          </a:xfrm>
          <a:prstGeom prst="straightConnector1">
            <a:avLst/>
          </a:prstGeom>
          <a:noFill/>
          <a:ln w="9525" cap="flat" cmpd="sng" algn="ctr">
            <a:solidFill>
              <a:srgbClr val="0076A8"/>
            </a:solidFill>
            <a:prstDash val="solid"/>
            <a:tailEnd type="triangle"/>
          </a:ln>
          <a:effectLst/>
        </p:spPr>
      </p:cxnSp>
      <p:sp>
        <p:nvSpPr>
          <p:cNvPr id="40" name="正方形/長方形 39">
            <a:extLst>
              <a:ext uri="{FF2B5EF4-FFF2-40B4-BE49-F238E27FC236}">
                <a16:creationId xmlns:a16="http://schemas.microsoft.com/office/drawing/2014/main" id="{B5365741-7AA4-4C19-BB1A-C5F5F98854CF}"/>
              </a:ext>
            </a:extLst>
          </p:cNvPr>
          <p:cNvSpPr/>
          <p:nvPr/>
        </p:nvSpPr>
        <p:spPr>
          <a:xfrm>
            <a:off x="4026796" y="1787582"/>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1200" dirty="0">
                <a:solidFill>
                  <a:schemeClr val="tx1"/>
                </a:solidFill>
                <a:latin typeface="Meiryo UI" panose="020B0604030504040204" pitchFamily="34" charset="-128"/>
                <a:ea typeface="Meiryo UI" panose="020B0604030504040204" pitchFamily="34" charset="-128"/>
              </a:rPr>
              <a:t>As</a:t>
            </a:r>
            <a:r>
              <a:rPr kumimoji="1" lang="ja-JP" altLang="en-US" sz="1200" dirty="0">
                <a:solidFill>
                  <a:schemeClr val="tx1"/>
                </a:solidFill>
                <a:latin typeface="Meiryo UI" panose="020B0604030504040204" pitchFamily="34" charset="-128"/>
                <a:ea typeface="Meiryo UI" panose="020B0604030504040204" pitchFamily="34" charset="-128"/>
              </a:rPr>
              <a:t> </a:t>
            </a:r>
            <a:r>
              <a:rPr kumimoji="1" lang="en-US" altLang="ja-JP" sz="1200" dirty="0">
                <a:solidFill>
                  <a:schemeClr val="tx1"/>
                </a:solidFill>
                <a:latin typeface="Meiryo UI" panose="020B0604030504040204" pitchFamily="34" charset="-128"/>
                <a:ea typeface="Meiryo UI" panose="020B0604030504040204" pitchFamily="34" charset="-128"/>
              </a:rPr>
              <a:t>Is</a:t>
            </a:r>
            <a:br>
              <a:rPr kumimoji="1" lang="en-US" altLang="ja-JP" sz="1200" dirty="0">
                <a:solidFill>
                  <a:schemeClr val="tx1"/>
                </a:solidFill>
                <a:latin typeface="Meiryo UI" panose="020B0604030504040204" pitchFamily="34" charset="-128"/>
                <a:ea typeface="Meiryo UI" panose="020B0604030504040204" pitchFamily="34" charset="-128"/>
              </a:rPr>
            </a:br>
            <a:r>
              <a:rPr kumimoji="1" lang="ja-JP" altLang="en-US" sz="1200" dirty="0">
                <a:solidFill>
                  <a:schemeClr val="tx1"/>
                </a:solidFill>
                <a:latin typeface="Meiryo UI" panose="020B0604030504040204" pitchFamily="34" charset="-128"/>
                <a:ea typeface="Meiryo UI" panose="020B0604030504040204" pitchFamily="34" charset="-128"/>
              </a:rPr>
              <a:t>業務</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dirty="0">
                <a:solidFill>
                  <a:schemeClr val="tx1"/>
                </a:solidFill>
                <a:latin typeface="Meiryo UI" panose="020B0604030504040204" pitchFamily="34" charset="-128"/>
                <a:ea typeface="Meiryo UI" panose="020B0604030504040204" pitchFamily="34" charset="-128"/>
              </a:rPr>
              <a:t>ヒアリング</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02D92855-D9AB-4A98-A964-5E872F79D148}"/>
              </a:ext>
            </a:extLst>
          </p:cNvPr>
          <p:cNvSpPr/>
          <p:nvPr/>
        </p:nvSpPr>
        <p:spPr>
          <a:xfrm>
            <a:off x="4026796" y="2783147"/>
            <a:ext cx="1930190"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DM</a:t>
            </a:r>
            <a:r>
              <a:rPr lang="ja-JP" altLang="en-US" sz="1200" dirty="0">
                <a:solidFill>
                  <a:schemeClr val="tx1"/>
                </a:solidFill>
                <a:latin typeface="Meiryo UI" panose="020B0604030504040204" pitchFamily="34" charset="-128"/>
                <a:ea typeface="Meiryo UI" panose="020B0604030504040204" pitchFamily="34" charset="-128"/>
              </a:rPr>
              <a:t>の各実施スコープの確定</a:t>
            </a:r>
            <a:endParaRPr lang="en-US" altLang="ja-JP" sz="1200" dirty="0">
              <a:solidFill>
                <a:schemeClr val="tx1"/>
              </a:solidFill>
              <a:latin typeface="Meiryo UI" panose="020B0604030504040204" pitchFamily="34" charset="-128"/>
              <a:ea typeface="Meiryo UI" panose="020B0604030504040204" pitchFamily="34" charset="-128"/>
            </a:endParaRPr>
          </a:p>
        </p:txBody>
      </p:sp>
      <p:cxnSp>
        <p:nvCxnSpPr>
          <p:cNvPr id="44" name="直線矢印コネクタ 43">
            <a:extLst>
              <a:ext uri="{FF2B5EF4-FFF2-40B4-BE49-F238E27FC236}">
                <a16:creationId xmlns:a16="http://schemas.microsoft.com/office/drawing/2014/main" id="{7C0AD3DC-684C-4858-9A67-AE0B089597F1}"/>
              </a:ext>
            </a:extLst>
          </p:cNvPr>
          <p:cNvCxnSpPr>
            <a:cxnSpLocks/>
            <a:stCxn id="32" idx="3"/>
            <a:endCxn id="40" idx="1"/>
          </p:cNvCxnSpPr>
          <p:nvPr/>
        </p:nvCxnSpPr>
        <p:spPr>
          <a:xfrm flipV="1">
            <a:off x="3854290" y="2100158"/>
            <a:ext cx="172506" cy="497782"/>
          </a:xfrm>
          <a:prstGeom prst="straightConnector1">
            <a:avLst/>
          </a:prstGeom>
          <a:noFill/>
          <a:ln w="9525" cap="flat" cmpd="sng" algn="ctr">
            <a:solidFill>
              <a:srgbClr val="0076A8"/>
            </a:solidFill>
            <a:prstDash val="solid"/>
            <a:tailEnd type="triangle"/>
          </a:ln>
          <a:effectLst/>
        </p:spPr>
      </p:cxnSp>
      <p:cxnSp>
        <p:nvCxnSpPr>
          <p:cNvPr id="45" name="直線矢印コネクタ 44">
            <a:extLst>
              <a:ext uri="{FF2B5EF4-FFF2-40B4-BE49-F238E27FC236}">
                <a16:creationId xmlns:a16="http://schemas.microsoft.com/office/drawing/2014/main" id="{AE966B3B-41C3-4E54-947D-4BD966FD9270}"/>
              </a:ext>
            </a:extLst>
          </p:cNvPr>
          <p:cNvCxnSpPr>
            <a:cxnSpLocks/>
            <a:stCxn id="32" idx="3"/>
            <a:endCxn id="41" idx="1"/>
          </p:cNvCxnSpPr>
          <p:nvPr/>
        </p:nvCxnSpPr>
        <p:spPr>
          <a:xfrm>
            <a:off x="3854290" y="2597940"/>
            <a:ext cx="172506" cy="497783"/>
          </a:xfrm>
          <a:prstGeom prst="straightConnector1">
            <a:avLst/>
          </a:prstGeom>
          <a:noFill/>
          <a:ln w="9525" cap="flat" cmpd="sng" algn="ctr">
            <a:solidFill>
              <a:srgbClr val="0076A8"/>
            </a:solidFill>
            <a:prstDash val="solid"/>
            <a:tailEnd type="triangle"/>
          </a:ln>
          <a:effectLst/>
        </p:spPr>
      </p:cxnSp>
      <p:sp>
        <p:nvSpPr>
          <p:cNvPr id="50" name="正方形/長方形 49">
            <a:extLst>
              <a:ext uri="{FF2B5EF4-FFF2-40B4-BE49-F238E27FC236}">
                <a16:creationId xmlns:a16="http://schemas.microsoft.com/office/drawing/2014/main" id="{C043EC6E-23D7-417B-B42B-53F594B275A7}"/>
              </a:ext>
            </a:extLst>
          </p:cNvPr>
          <p:cNvSpPr/>
          <p:nvPr/>
        </p:nvSpPr>
        <p:spPr>
          <a:xfrm>
            <a:off x="6238576" y="228644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DM</a:t>
            </a:r>
            <a:r>
              <a:rPr lang="ja-JP" altLang="en-US" sz="1200" dirty="0">
                <a:solidFill>
                  <a:schemeClr val="tx1"/>
                </a:solidFill>
                <a:latin typeface="Meiryo UI" panose="020B0604030504040204" pitchFamily="34" charset="-128"/>
                <a:ea typeface="Meiryo UI" panose="020B0604030504040204" pitchFamily="34" charset="-128"/>
              </a:rPr>
              <a:t>ロードマップ</a:t>
            </a:r>
            <a:br>
              <a:rPr lang="en-US" altLang="ja-JP" sz="1200" dirty="0">
                <a:solidFill>
                  <a:schemeClr val="tx1"/>
                </a:solidFill>
                <a:latin typeface="Meiryo UI" panose="020B0604030504040204" pitchFamily="34" charset="-128"/>
                <a:ea typeface="Meiryo UI" panose="020B0604030504040204" pitchFamily="34" charset="-128"/>
              </a:rPr>
            </a:br>
            <a:r>
              <a:rPr lang="ja-JP" altLang="en-US" sz="1200" dirty="0">
                <a:solidFill>
                  <a:schemeClr val="tx1"/>
                </a:solidFill>
                <a:latin typeface="Meiryo UI" panose="020B0604030504040204" pitchFamily="34" charset="-128"/>
                <a:ea typeface="Meiryo UI" panose="020B0604030504040204" pitchFamily="34" charset="-128"/>
              </a:rPr>
              <a:t>策定</a:t>
            </a:r>
            <a:endParaRPr lang="en-US" altLang="ja-JP" sz="1200" dirty="0">
              <a:solidFill>
                <a:schemeClr val="tx1"/>
              </a:solidFill>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0616C470-4747-4295-A9DD-A2050A7D8424}"/>
              </a:ext>
            </a:extLst>
          </p:cNvPr>
          <p:cNvSpPr/>
          <p:nvPr/>
        </p:nvSpPr>
        <p:spPr>
          <a:xfrm>
            <a:off x="5132686" y="1787582"/>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200" dirty="0">
                <a:solidFill>
                  <a:schemeClr val="tx1"/>
                </a:solidFill>
                <a:latin typeface="Meiryo UI" panose="020B0604030504040204" pitchFamily="34" charset="-128"/>
                <a:ea typeface="Meiryo UI" panose="020B0604030504040204" pitchFamily="34" charset="-128"/>
              </a:rPr>
              <a:t>スコープ</a:t>
            </a:r>
            <a:br>
              <a:rPr lang="en-US" altLang="ja-JP" sz="1200" dirty="0">
                <a:solidFill>
                  <a:schemeClr val="tx1"/>
                </a:solidFill>
                <a:latin typeface="Meiryo UI" panose="020B0604030504040204" pitchFamily="34" charset="-128"/>
                <a:ea typeface="Meiryo UI" panose="020B0604030504040204" pitchFamily="34" charset="-128"/>
              </a:rPr>
            </a:br>
            <a:r>
              <a:rPr lang="ja-JP" altLang="en-US" sz="1200" dirty="0">
                <a:solidFill>
                  <a:schemeClr val="tx1"/>
                </a:solidFill>
                <a:latin typeface="Meiryo UI" panose="020B0604030504040204" pitchFamily="34" charset="-128"/>
                <a:ea typeface="Meiryo UI" panose="020B0604030504040204" pitchFamily="34" charset="-128"/>
              </a:rPr>
              <a:t>仮説の検証</a:t>
            </a:r>
            <a:endParaRPr lang="en-US" sz="1200" dirty="0">
              <a:solidFill>
                <a:schemeClr val="tx1"/>
              </a:solidFill>
              <a:latin typeface="Meiryo UI" panose="020B0604030504040204" pitchFamily="34" charset="-128"/>
              <a:ea typeface="Meiryo UI" panose="020B0604030504040204" pitchFamily="34" charset="-128"/>
            </a:endParaRPr>
          </a:p>
        </p:txBody>
      </p:sp>
      <p:cxnSp>
        <p:nvCxnSpPr>
          <p:cNvPr id="60" name="直線矢印コネクタ 59">
            <a:extLst>
              <a:ext uri="{FF2B5EF4-FFF2-40B4-BE49-F238E27FC236}">
                <a16:creationId xmlns:a16="http://schemas.microsoft.com/office/drawing/2014/main" id="{984BB939-67F9-4F80-9C86-DFAE282FE108}"/>
              </a:ext>
            </a:extLst>
          </p:cNvPr>
          <p:cNvCxnSpPr>
            <a:cxnSpLocks/>
            <a:stCxn id="40" idx="3"/>
            <a:endCxn id="54" idx="1"/>
          </p:cNvCxnSpPr>
          <p:nvPr/>
        </p:nvCxnSpPr>
        <p:spPr>
          <a:xfrm>
            <a:off x="4960180" y="2100158"/>
            <a:ext cx="172506" cy="0"/>
          </a:xfrm>
          <a:prstGeom prst="straightConnector1">
            <a:avLst/>
          </a:prstGeom>
          <a:noFill/>
          <a:ln w="9525" cap="flat" cmpd="sng" algn="ctr">
            <a:solidFill>
              <a:srgbClr val="0076A8"/>
            </a:solidFill>
            <a:prstDash val="solid"/>
            <a:tailEnd type="triangle"/>
          </a:ln>
          <a:effectLst/>
        </p:spPr>
      </p:cxnSp>
      <p:cxnSp>
        <p:nvCxnSpPr>
          <p:cNvPr id="61" name="直線矢印コネクタ 60">
            <a:extLst>
              <a:ext uri="{FF2B5EF4-FFF2-40B4-BE49-F238E27FC236}">
                <a16:creationId xmlns:a16="http://schemas.microsoft.com/office/drawing/2014/main" id="{64BCE034-2B0E-45AD-BDAF-856D83DD1C8D}"/>
              </a:ext>
            </a:extLst>
          </p:cNvPr>
          <p:cNvCxnSpPr>
            <a:cxnSpLocks/>
            <a:stCxn id="54" idx="3"/>
            <a:endCxn id="50" idx="1"/>
          </p:cNvCxnSpPr>
          <p:nvPr/>
        </p:nvCxnSpPr>
        <p:spPr>
          <a:xfrm>
            <a:off x="6066070" y="2100158"/>
            <a:ext cx="172506" cy="498867"/>
          </a:xfrm>
          <a:prstGeom prst="straightConnector1">
            <a:avLst/>
          </a:prstGeom>
          <a:noFill/>
          <a:ln w="9525" cap="flat" cmpd="sng" algn="ctr">
            <a:solidFill>
              <a:srgbClr val="0076A8"/>
            </a:solidFill>
            <a:prstDash val="solid"/>
            <a:tailEnd type="triangle"/>
          </a:ln>
          <a:effectLst/>
        </p:spPr>
      </p:cxnSp>
      <p:cxnSp>
        <p:nvCxnSpPr>
          <p:cNvPr id="62" name="直線矢印コネクタ 61">
            <a:extLst>
              <a:ext uri="{FF2B5EF4-FFF2-40B4-BE49-F238E27FC236}">
                <a16:creationId xmlns:a16="http://schemas.microsoft.com/office/drawing/2014/main" id="{128B17B7-DEB5-4237-A079-19FCD8A02DEF}"/>
              </a:ext>
            </a:extLst>
          </p:cNvPr>
          <p:cNvCxnSpPr>
            <a:cxnSpLocks/>
            <a:stCxn id="41" idx="3"/>
            <a:endCxn id="50" idx="1"/>
          </p:cNvCxnSpPr>
          <p:nvPr/>
        </p:nvCxnSpPr>
        <p:spPr>
          <a:xfrm flipV="1">
            <a:off x="5956986" y="2599025"/>
            <a:ext cx="281590" cy="496698"/>
          </a:xfrm>
          <a:prstGeom prst="straightConnector1">
            <a:avLst/>
          </a:prstGeom>
          <a:noFill/>
          <a:ln w="9525" cap="flat" cmpd="sng" algn="ctr">
            <a:solidFill>
              <a:srgbClr val="0076A8"/>
            </a:solidFill>
            <a:prstDash val="solid"/>
            <a:tailEnd type="triangle"/>
          </a:ln>
          <a:effectLst/>
        </p:spPr>
      </p:cxnSp>
      <p:cxnSp>
        <p:nvCxnSpPr>
          <p:cNvPr id="71" name="直線コネクタ 70">
            <a:extLst>
              <a:ext uri="{FF2B5EF4-FFF2-40B4-BE49-F238E27FC236}">
                <a16:creationId xmlns:a16="http://schemas.microsoft.com/office/drawing/2014/main" id="{8C8C049A-8703-4054-BE9C-D34455D4238A}"/>
              </a:ext>
            </a:extLst>
          </p:cNvPr>
          <p:cNvCxnSpPr>
            <a:cxnSpLocks/>
            <a:endCxn id="72" idx="0"/>
          </p:cNvCxnSpPr>
          <p:nvPr/>
        </p:nvCxnSpPr>
        <p:spPr>
          <a:xfrm>
            <a:off x="2807344" y="1713772"/>
            <a:ext cx="36869" cy="1673070"/>
          </a:xfrm>
          <a:prstGeom prst="line">
            <a:avLst/>
          </a:prstGeom>
          <a:noFill/>
          <a:ln w="19050" cap="flat" cmpd="sng" algn="ctr">
            <a:solidFill>
              <a:srgbClr val="FF0000"/>
            </a:solidFill>
            <a:prstDash val="dash"/>
            <a:tailEnd type="none"/>
          </a:ln>
          <a:effectLst/>
        </p:spPr>
      </p:cxnSp>
      <p:sp>
        <p:nvSpPr>
          <p:cNvPr id="72" name="テキスト ボックス 71">
            <a:extLst>
              <a:ext uri="{FF2B5EF4-FFF2-40B4-BE49-F238E27FC236}">
                <a16:creationId xmlns:a16="http://schemas.microsoft.com/office/drawing/2014/main" id="{1FED8902-FB59-48AE-8EA8-F46DC3F2A158}"/>
              </a:ext>
            </a:extLst>
          </p:cNvPr>
          <p:cNvSpPr txBox="1"/>
          <p:nvPr/>
        </p:nvSpPr>
        <p:spPr>
          <a:xfrm>
            <a:off x="2327885" y="3386842"/>
            <a:ext cx="1032655" cy="261610"/>
          </a:xfrm>
          <a:prstGeom prst="rect">
            <a:avLst/>
          </a:prstGeom>
          <a:noFill/>
        </p:spPr>
        <p:txBody>
          <a:bodyPr wrap="none" rtlCol="0">
            <a:spAutoFit/>
          </a:bodyPr>
          <a:lstStyle/>
          <a:p>
            <a:r>
              <a:rPr kumimoji="1" lang="en-US" altLang="ja-JP" sz="1100" dirty="0">
                <a:latin typeface="Meiryo UI" panose="020B0604030504040204" pitchFamily="34" charset="-128"/>
              </a:rPr>
              <a:t>We</a:t>
            </a:r>
            <a:r>
              <a:rPr kumimoji="1" lang="ja-JP" altLang="en-US" sz="1100" dirty="0">
                <a:latin typeface="Meiryo UI" panose="020B0604030504040204" pitchFamily="34" charset="-128"/>
              </a:rPr>
              <a:t> </a:t>
            </a:r>
            <a:r>
              <a:rPr kumimoji="1" lang="en-US" altLang="ja-JP" sz="1100" dirty="0">
                <a:latin typeface="Meiryo UI" panose="020B0604030504040204" pitchFamily="34" charset="-128"/>
              </a:rPr>
              <a:t>are</a:t>
            </a:r>
            <a:r>
              <a:rPr kumimoji="1" lang="ja-JP" altLang="en-US" sz="1100" dirty="0">
                <a:latin typeface="Meiryo UI" panose="020B0604030504040204" pitchFamily="34" charset="-128"/>
              </a:rPr>
              <a:t> </a:t>
            </a:r>
            <a:r>
              <a:rPr kumimoji="1" lang="en-US" altLang="ja-JP" sz="1100" dirty="0">
                <a:latin typeface="Meiryo UI" panose="020B0604030504040204" pitchFamily="34" charset="-128"/>
              </a:rPr>
              <a:t>here</a:t>
            </a:r>
            <a:endParaRPr kumimoji="1" lang="en-US" sz="1100" dirty="0">
              <a:latin typeface="Meiryo UI" panose="020B0604030504040204" pitchFamily="34" charset="-128"/>
            </a:endParaRPr>
          </a:p>
        </p:txBody>
      </p:sp>
      <p:sp>
        <p:nvSpPr>
          <p:cNvPr id="83" name="テキスト ボックス 82">
            <a:extLst>
              <a:ext uri="{FF2B5EF4-FFF2-40B4-BE49-F238E27FC236}">
                <a16:creationId xmlns:a16="http://schemas.microsoft.com/office/drawing/2014/main" id="{6359CA02-C041-4B6C-87BE-A862B414ADF4}"/>
              </a:ext>
            </a:extLst>
          </p:cNvPr>
          <p:cNvSpPr txBox="1"/>
          <p:nvPr/>
        </p:nvSpPr>
        <p:spPr>
          <a:xfrm>
            <a:off x="592138" y="6162285"/>
            <a:ext cx="4902304" cy="246221"/>
          </a:xfrm>
          <a:prstGeom prst="rect">
            <a:avLst/>
          </a:prstGeom>
          <a:noFill/>
        </p:spPr>
        <p:txBody>
          <a:bodyPr wrap="none" rtlCol="0">
            <a:spAutoFit/>
          </a:bodyPr>
          <a:lstStyle/>
          <a:p>
            <a:r>
              <a:rPr kumimoji="1" lang="en-US" altLang="ja-JP" sz="1000" dirty="0">
                <a:latin typeface="Meiryo UI" panose="020B0604030504040204" pitchFamily="34" charset="-128"/>
                <a:ea typeface="Meiryo UI" panose="020B0604030504040204" pitchFamily="34" charset="-128"/>
              </a:rPr>
              <a:t>※</a:t>
            </a:r>
            <a:r>
              <a:rPr kumimoji="1" lang="ja-JP" altLang="en-US" sz="1000" dirty="0">
                <a:latin typeface="Meiryo UI" panose="020B0604030504040204" pitchFamily="34" charset="-128"/>
                <a:ea typeface="Meiryo UI" panose="020B0604030504040204" pitchFamily="34" charset="-128"/>
              </a:rPr>
              <a:t>例：</a:t>
            </a:r>
            <a:r>
              <a:rPr kumimoji="1" lang="en-US" altLang="ja-JP" sz="1000" dirty="0">
                <a:latin typeface="Meiryo UI" panose="020B0604030504040204" pitchFamily="34" charset="-128"/>
                <a:ea typeface="Meiryo UI" panose="020B0604030504040204" pitchFamily="34" charset="-128"/>
              </a:rPr>
              <a:t>PJ</a:t>
            </a:r>
            <a:r>
              <a:rPr kumimoji="1" lang="ja-JP" altLang="en-US" sz="1000" dirty="0">
                <a:latin typeface="Meiryo UI" panose="020B0604030504040204" pitchFamily="34" charset="-128"/>
                <a:ea typeface="Meiryo UI" panose="020B0604030504040204" pitchFamily="34" charset="-128"/>
              </a:rPr>
              <a:t>コスト把握期間の短縮（現行</a:t>
            </a:r>
            <a:r>
              <a:rPr kumimoji="1" lang="en-US" altLang="ja-JP" sz="1000" dirty="0">
                <a:latin typeface="Meiryo UI" panose="020B0604030504040204" pitchFamily="34" charset="-128"/>
                <a:ea typeface="Meiryo UI" panose="020B0604030504040204" pitchFamily="34" charset="-128"/>
              </a:rPr>
              <a:t>2</a:t>
            </a:r>
            <a:r>
              <a:rPr kumimoji="1" lang="ja-JP" altLang="en-US" sz="1000" dirty="0">
                <a:latin typeface="Meiryo UI" panose="020B0604030504040204" pitchFamily="34" charset="-128"/>
                <a:ea typeface="Meiryo UI" panose="020B0604030504040204" pitchFamily="34" charset="-128"/>
              </a:rPr>
              <a:t>か月）、過去案件の見える化による見積精度向上</a:t>
            </a:r>
            <a:endParaRPr kumimoji="1" lang="en-US" sz="1000" dirty="0">
              <a:latin typeface="Meiryo UI" panose="020B0604030504040204" pitchFamily="34" charset="-128"/>
              <a:ea typeface="Meiryo UI" panose="020B0604030504040204" pitchFamily="34" charset="-128"/>
            </a:endParaRPr>
          </a:p>
        </p:txBody>
      </p:sp>
      <p:cxnSp>
        <p:nvCxnSpPr>
          <p:cNvPr id="84" name="直線コネクタ 83">
            <a:extLst>
              <a:ext uri="{FF2B5EF4-FFF2-40B4-BE49-F238E27FC236}">
                <a16:creationId xmlns:a16="http://schemas.microsoft.com/office/drawing/2014/main" id="{765A673B-401E-4A6A-B2C2-9C63CD5D9D0A}"/>
              </a:ext>
            </a:extLst>
          </p:cNvPr>
          <p:cNvCxnSpPr>
            <a:cxnSpLocks/>
            <a:endCxn id="85" idx="0"/>
          </p:cNvCxnSpPr>
          <p:nvPr/>
        </p:nvCxnSpPr>
        <p:spPr>
          <a:xfrm>
            <a:off x="2807344" y="4233556"/>
            <a:ext cx="36869" cy="1673070"/>
          </a:xfrm>
          <a:prstGeom prst="line">
            <a:avLst/>
          </a:prstGeom>
          <a:noFill/>
          <a:ln w="19050" cap="flat" cmpd="sng" algn="ctr">
            <a:solidFill>
              <a:srgbClr val="FF0000"/>
            </a:solidFill>
            <a:prstDash val="dash"/>
            <a:tailEnd type="none"/>
          </a:ln>
          <a:effectLst/>
        </p:spPr>
      </p:cxnSp>
      <p:sp>
        <p:nvSpPr>
          <p:cNvPr id="85" name="テキスト ボックス 84">
            <a:extLst>
              <a:ext uri="{FF2B5EF4-FFF2-40B4-BE49-F238E27FC236}">
                <a16:creationId xmlns:a16="http://schemas.microsoft.com/office/drawing/2014/main" id="{F065DB1A-D1F0-4CA8-B1EE-F489415393FC}"/>
              </a:ext>
            </a:extLst>
          </p:cNvPr>
          <p:cNvSpPr txBox="1"/>
          <p:nvPr/>
        </p:nvSpPr>
        <p:spPr>
          <a:xfrm>
            <a:off x="2327885" y="5906626"/>
            <a:ext cx="1032655" cy="261610"/>
          </a:xfrm>
          <a:prstGeom prst="rect">
            <a:avLst/>
          </a:prstGeom>
          <a:noFill/>
        </p:spPr>
        <p:txBody>
          <a:bodyPr wrap="none" rtlCol="0">
            <a:spAutoFit/>
          </a:bodyPr>
          <a:lstStyle/>
          <a:p>
            <a:r>
              <a:rPr kumimoji="1" lang="en-US" altLang="ja-JP" sz="1100" dirty="0">
                <a:latin typeface="Meiryo UI" panose="020B0604030504040204" pitchFamily="34" charset="-128"/>
              </a:rPr>
              <a:t>We</a:t>
            </a:r>
            <a:r>
              <a:rPr kumimoji="1" lang="ja-JP" altLang="en-US" sz="1100" dirty="0">
                <a:latin typeface="Meiryo UI" panose="020B0604030504040204" pitchFamily="34" charset="-128"/>
              </a:rPr>
              <a:t> </a:t>
            </a:r>
            <a:r>
              <a:rPr kumimoji="1" lang="en-US" altLang="ja-JP" sz="1100" dirty="0">
                <a:latin typeface="Meiryo UI" panose="020B0604030504040204" pitchFamily="34" charset="-128"/>
              </a:rPr>
              <a:t>are</a:t>
            </a:r>
            <a:r>
              <a:rPr kumimoji="1" lang="ja-JP" altLang="en-US" sz="1100" dirty="0">
                <a:latin typeface="Meiryo UI" panose="020B0604030504040204" pitchFamily="34" charset="-128"/>
              </a:rPr>
              <a:t> </a:t>
            </a:r>
            <a:r>
              <a:rPr kumimoji="1" lang="en-US" altLang="ja-JP" sz="1100" dirty="0">
                <a:latin typeface="Meiryo UI" panose="020B0604030504040204" pitchFamily="34" charset="-128"/>
              </a:rPr>
              <a:t>here</a:t>
            </a:r>
            <a:endParaRPr kumimoji="1" lang="en-US" sz="1100" dirty="0">
              <a:latin typeface="Meiryo UI" panose="020B0604030504040204" pitchFamily="34" charset="-128"/>
            </a:endParaRPr>
          </a:p>
        </p:txBody>
      </p:sp>
      <p:sp>
        <p:nvSpPr>
          <p:cNvPr id="75" name="正方形/長方形 74">
            <a:extLst>
              <a:ext uri="{FF2B5EF4-FFF2-40B4-BE49-F238E27FC236}">
                <a16:creationId xmlns:a16="http://schemas.microsoft.com/office/drawing/2014/main" id="{25DB9C03-6D3D-4581-9422-FE2A1D0D4F65}"/>
              </a:ext>
            </a:extLst>
          </p:cNvPr>
          <p:cNvSpPr/>
          <p:nvPr/>
        </p:nvSpPr>
        <p:spPr>
          <a:xfrm>
            <a:off x="709126" y="4724030"/>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DM</a:t>
            </a:r>
            <a:r>
              <a:rPr lang="ja-JP" altLang="en-US" sz="1200" dirty="0">
                <a:solidFill>
                  <a:schemeClr val="tx1"/>
                </a:solidFill>
                <a:latin typeface="Meiryo UI" panose="020B0604030504040204" pitchFamily="34" charset="-128"/>
                <a:ea typeface="Meiryo UI" panose="020B0604030504040204" pitchFamily="34" charset="-128"/>
              </a:rPr>
              <a:t>目的の</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dirty="0">
                <a:solidFill>
                  <a:schemeClr val="tx1"/>
                </a:solidFill>
                <a:latin typeface="Meiryo UI" panose="020B0604030504040204" pitchFamily="34" charset="-128"/>
                <a:ea typeface="Meiryo UI" panose="020B0604030504040204" pitchFamily="34" charset="-128"/>
              </a:rPr>
              <a:t>仮説定義</a:t>
            </a:r>
            <a:endParaRPr lang="en-US" altLang="ja-JP" sz="1200" dirty="0">
              <a:solidFill>
                <a:schemeClr val="tx1"/>
              </a:solidFill>
              <a:latin typeface="Meiryo UI" panose="020B0604030504040204" pitchFamily="34" charset="-128"/>
              <a:ea typeface="Meiryo UI" panose="020B0604030504040204" pitchFamily="34" charset="-128"/>
            </a:endParaRPr>
          </a:p>
        </p:txBody>
      </p:sp>
      <p:sp>
        <p:nvSpPr>
          <p:cNvPr id="78" name="正方形/長方形 77">
            <a:extLst>
              <a:ext uri="{FF2B5EF4-FFF2-40B4-BE49-F238E27FC236}">
                <a16:creationId xmlns:a16="http://schemas.microsoft.com/office/drawing/2014/main" id="{681DA3A7-9365-409B-953B-3728F6FC45F8}"/>
              </a:ext>
            </a:extLst>
          </p:cNvPr>
          <p:cNvSpPr/>
          <p:nvPr/>
        </p:nvSpPr>
        <p:spPr>
          <a:xfrm>
            <a:off x="1815016" y="472402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34" charset="-128"/>
                <a:ea typeface="Meiryo UI" panose="020B0604030504040204" pitchFamily="34" charset="-128"/>
              </a:rPr>
              <a:t>目的仮説の合意</a:t>
            </a:r>
            <a:endParaRPr lang="en-US" altLang="ja-JP" sz="1200" dirty="0">
              <a:solidFill>
                <a:schemeClr val="tx1"/>
              </a:solidFill>
              <a:latin typeface="Meiryo UI" panose="020B0604030504040204" pitchFamily="34" charset="-128"/>
              <a:ea typeface="Meiryo UI" panose="020B0604030504040204" pitchFamily="34" charset="-128"/>
            </a:endParaRPr>
          </a:p>
        </p:txBody>
      </p:sp>
      <p:sp>
        <p:nvSpPr>
          <p:cNvPr id="79" name="正方形/長方形 78">
            <a:extLst>
              <a:ext uri="{FF2B5EF4-FFF2-40B4-BE49-F238E27FC236}">
                <a16:creationId xmlns:a16="http://schemas.microsoft.com/office/drawing/2014/main" id="{B2D78B8C-A93D-4DC1-BFFF-DCB265AA79E8}"/>
              </a:ext>
            </a:extLst>
          </p:cNvPr>
          <p:cNvSpPr/>
          <p:nvPr/>
        </p:nvSpPr>
        <p:spPr>
          <a:xfrm>
            <a:off x="2920906" y="472402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重点シナリオ選定</a:t>
            </a:r>
            <a:br>
              <a:rPr kumimoji="1" lang="en-US" altLang="ja-JP" sz="1200" dirty="0">
                <a:solidFill>
                  <a:schemeClr val="tx1"/>
                </a:solidFill>
                <a:latin typeface="Meiryo UI" panose="020B0604030504040204" pitchFamily="34" charset="-128"/>
                <a:ea typeface="Meiryo UI" panose="020B0604030504040204" pitchFamily="34" charset="-128"/>
              </a:rPr>
            </a:br>
            <a:r>
              <a:rPr kumimoji="1" lang="ja-JP" altLang="en-US" sz="1000" dirty="0">
                <a:solidFill>
                  <a:schemeClr val="tx1"/>
                </a:solidFill>
                <a:latin typeface="Meiryo UI" panose="020B0604030504040204" pitchFamily="34" charset="-128"/>
                <a:ea typeface="Meiryo UI" panose="020B0604030504040204" pitchFamily="34" charset="-128"/>
              </a:rPr>
              <a:t>（</a:t>
            </a:r>
            <a:r>
              <a:rPr kumimoji="1" lang="en-US" altLang="ja-JP" sz="1000" dirty="0">
                <a:solidFill>
                  <a:schemeClr val="tx1"/>
                </a:solidFill>
                <a:latin typeface="Meiryo UI" panose="020B0604030504040204" pitchFamily="34" charset="-128"/>
                <a:ea typeface="Meiryo UI" panose="020B0604030504040204" pitchFamily="34" charset="-128"/>
              </a:rPr>
              <a:t>2</a:t>
            </a:r>
            <a:r>
              <a:rPr kumimoji="1" lang="ja-JP" altLang="en-US" sz="1000" dirty="0">
                <a:solidFill>
                  <a:schemeClr val="tx1"/>
                </a:solidFill>
                <a:latin typeface="Meiryo UI" panose="020B0604030504040204" pitchFamily="34" charset="-128"/>
                <a:ea typeface="Meiryo UI" panose="020B0604030504040204" pitchFamily="34" charset="-128"/>
              </a:rPr>
              <a:t>～</a:t>
            </a:r>
            <a:r>
              <a:rPr kumimoji="1" lang="en-US" altLang="ja-JP" sz="1000" dirty="0">
                <a:solidFill>
                  <a:schemeClr val="tx1"/>
                </a:solidFill>
                <a:latin typeface="Meiryo UI" panose="020B0604030504040204" pitchFamily="34" charset="-128"/>
                <a:ea typeface="Meiryo UI" panose="020B0604030504040204" pitchFamily="34" charset="-128"/>
              </a:rPr>
              <a:t>3</a:t>
            </a:r>
            <a:r>
              <a:rPr kumimoji="1" lang="ja-JP" altLang="en-US" sz="1000" dirty="0">
                <a:solidFill>
                  <a:schemeClr val="tx1"/>
                </a:solidFill>
                <a:latin typeface="Meiryo UI" panose="020B0604030504040204" pitchFamily="34" charset="-128"/>
                <a:ea typeface="Meiryo UI" panose="020B0604030504040204" pitchFamily="34" charset="-128"/>
              </a:rPr>
              <a:t>個）</a:t>
            </a:r>
            <a:endParaRPr kumimoji="1" lang="en-US" sz="1000" dirty="0">
              <a:solidFill>
                <a:schemeClr val="tx1"/>
              </a:solidFill>
              <a:latin typeface="Meiryo UI" panose="020B0604030504040204" pitchFamily="34" charset="-128"/>
              <a:ea typeface="Meiryo UI" panose="020B0604030504040204" pitchFamily="34" charset="-128"/>
            </a:endParaRPr>
          </a:p>
        </p:txBody>
      </p:sp>
      <p:sp>
        <p:nvSpPr>
          <p:cNvPr id="80" name="正方形/長方形 79">
            <a:extLst>
              <a:ext uri="{FF2B5EF4-FFF2-40B4-BE49-F238E27FC236}">
                <a16:creationId xmlns:a16="http://schemas.microsoft.com/office/drawing/2014/main" id="{F064E3E4-54B3-4EB8-A016-31EC2FE5CCEF}"/>
              </a:ext>
            </a:extLst>
          </p:cNvPr>
          <p:cNvSpPr/>
          <p:nvPr/>
        </p:nvSpPr>
        <p:spPr>
          <a:xfrm>
            <a:off x="4026796" y="431955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過去の</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dirty="0">
                <a:solidFill>
                  <a:schemeClr val="tx1"/>
                </a:solidFill>
                <a:latin typeface="Meiryo UI" panose="020B0604030504040204" pitchFamily="34" charset="-128"/>
                <a:ea typeface="Meiryo UI" panose="020B0604030504040204" pitchFamily="34" charset="-128"/>
              </a:rPr>
              <a:t>検討</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dirty="0">
                <a:solidFill>
                  <a:schemeClr val="tx1"/>
                </a:solidFill>
                <a:latin typeface="Meiryo UI" panose="020B0604030504040204" pitchFamily="34" charset="-128"/>
                <a:ea typeface="Meiryo UI" panose="020B0604030504040204" pitchFamily="34" charset="-128"/>
              </a:rPr>
              <a:t>結果精査</a:t>
            </a:r>
            <a:endParaRPr kumimoji="1" lang="en-US" sz="1000" dirty="0">
              <a:solidFill>
                <a:schemeClr val="tx1"/>
              </a:solidFill>
              <a:latin typeface="Meiryo UI" panose="020B0604030504040204" pitchFamily="34" charset="-128"/>
              <a:ea typeface="Meiryo UI" panose="020B0604030504040204" pitchFamily="34" charset="-128"/>
            </a:endParaRPr>
          </a:p>
        </p:txBody>
      </p:sp>
      <p:sp>
        <p:nvSpPr>
          <p:cNvPr id="81" name="正方形/長方形 80">
            <a:extLst>
              <a:ext uri="{FF2B5EF4-FFF2-40B4-BE49-F238E27FC236}">
                <a16:creationId xmlns:a16="http://schemas.microsoft.com/office/drawing/2014/main" id="{9D167C88-7A19-4C2D-8AF5-461DD3FAC722}"/>
              </a:ext>
            </a:extLst>
          </p:cNvPr>
          <p:cNvSpPr/>
          <p:nvPr/>
        </p:nvSpPr>
        <p:spPr>
          <a:xfrm>
            <a:off x="4026796" y="515344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現行の仕様書・定義書精査</a:t>
            </a:r>
            <a:endParaRPr kumimoji="1" lang="en-US" sz="1200" dirty="0">
              <a:solidFill>
                <a:schemeClr val="tx1"/>
              </a:solidFill>
              <a:latin typeface="Meiryo UI" panose="020B0604030504040204" pitchFamily="34" charset="-128"/>
              <a:ea typeface="Meiryo UI" panose="020B0604030504040204" pitchFamily="34" charset="-128"/>
            </a:endParaRPr>
          </a:p>
        </p:txBody>
      </p:sp>
      <p:sp>
        <p:nvSpPr>
          <p:cNvPr id="82" name="正方形/長方形 81">
            <a:extLst>
              <a:ext uri="{FF2B5EF4-FFF2-40B4-BE49-F238E27FC236}">
                <a16:creationId xmlns:a16="http://schemas.microsoft.com/office/drawing/2014/main" id="{55FDACF2-B6CB-4E43-9D1A-E52CA228D69D}"/>
              </a:ext>
            </a:extLst>
          </p:cNvPr>
          <p:cNvSpPr/>
          <p:nvPr/>
        </p:nvSpPr>
        <p:spPr>
          <a:xfrm>
            <a:off x="5132686" y="472402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34" charset="-128"/>
                <a:ea typeface="Meiryo UI" panose="020B0604030504040204" pitchFamily="34" charset="-128"/>
              </a:rPr>
              <a:t>重点課題</a:t>
            </a:r>
            <a:r>
              <a:rPr lang="ja-JP" altLang="en-US" sz="1200" dirty="0">
                <a:solidFill>
                  <a:schemeClr val="tx1"/>
                </a:solidFill>
                <a:latin typeface="Meiryo UI" panose="020B0604030504040204" pitchFamily="34" charset="-128"/>
                <a:ea typeface="Meiryo UI" panose="020B0604030504040204" pitchFamily="34" charset="-128"/>
              </a:rPr>
              <a:t>の導出</a:t>
            </a:r>
            <a:endParaRPr kumimoji="1" lang="en-US" sz="1000" dirty="0">
              <a:solidFill>
                <a:schemeClr val="tx1"/>
              </a:solidFill>
              <a:latin typeface="Meiryo UI" panose="020B0604030504040204" pitchFamily="34" charset="-128"/>
              <a:ea typeface="Meiryo UI" panose="020B0604030504040204" pitchFamily="34" charset="-128"/>
            </a:endParaRPr>
          </a:p>
        </p:txBody>
      </p:sp>
      <p:cxnSp>
        <p:nvCxnSpPr>
          <p:cNvPr id="86" name="直線矢印コネクタ 85">
            <a:extLst>
              <a:ext uri="{FF2B5EF4-FFF2-40B4-BE49-F238E27FC236}">
                <a16:creationId xmlns:a16="http://schemas.microsoft.com/office/drawing/2014/main" id="{D44FFD2A-57DE-4604-B0D2-5B8323B5EC05}"/>
              </a:ext>
            </a:extLst>
          </p:cNvPr>
          <p:cNvCxnSpPr>
            <a:cxnSpLocks/>
            <a:stCxn id="75" idx="3"/>
            <a:endCxn id="78" idx="1"/>
          </p:cNvCxnSpPr>
          <p:nvPr/>
        </p:nvCxnSpPr>
        <p:spPr>
          <a:xfrm flipV="1">
            <a:off x="1642510" y="5036605"/>
            <a:ext cx="172506" cy="1"/>
          </a:xfrm>
          <a:prstGeom prst="straightConnector1">
            <a:avLst/>
          </a:prstGeom>
          <a:noFill/>
          <a:ln w="9525" cap="flat" cmpd="sng" algn="ctr">
            <a:solidFill>
              <a:srgbClr val="0076A8"/>
            </a:solidFill>
            <a:prstDash val="solid"/>
            <a:tailEnd type="triangle"/>
          </a:ln>
          <a:effectLst/>
        </p:spPr>
      </p:cxnSp>
      <p:cxnSp>
        <p:nvCxnSpPr>
          <p:cNvPr id="89" name="直線矢印コネクタ 88">
            <a:extLst>
              <a:ext uri="{FF2B5EF4-FFF2-40B4-BE49-F238E27FC236}">
                <a16:creationId xmlns:a16="http://schemas.microsoft.com/office/drawing/2014/main" id="{1446A5DB-2B79-4779-9640-80697C814EBF}"/>
              </a:ext>
            </a:extLst>
          </p:cNvPr>
          <p:cNvCxnSpPr>
            <a:cxnSpLocks/>
            <a:stCxn id="78" idx="3"/>
            <a:endCxn id="79" idx="1"/>
          </p:cNvCxnSpPr>
          <p:nvPr/>
        </p:nvCxnSpPr>
        <p:spPr>
          <a:xfrm>
            <a:off x="2748400" y="5036605"/>
            <a:ext cx="172506" cy="0"/>
          </a:xfrm>
          <a:prstGeom prst="straightConnector1">
            <a:avLst/>
          </a:prstGeom>
          <a:noFill/>
          <a:ln w="9525" cap="flat" cmpd="sng" algn="ctr">
            <a:solidFill>
              <a:srgbClr val="0076A8"/>
            </a:solidFill>
            <a:prstDash val="solid"/>
            <a:tailEnd type="triangle"/>
          </a:ln>
          <a:effectLst/>
        </p:spPr>
      </p:cxnSp>
      <p:cxnSp>
        <p:nvCxnSpPr>
          <p:cNvPr id="92" name="直線矢印コネクタ 91">
            <a:extLst>
              <a:ext uri="{FF2B5EF4-FFF2-40B4-BE49-F238E27FC236}">
                <a16:creationId xmlns:a16="http://schemas.microsoft.com/office/drawing/2014/main" id="{12DBBA51-6803-4926-9887-9BDF5FACD563}"/>
              </a:ext>
            </a:extLst>
          </p:cNvPr>
          <p:cNvCxnSpPr>
            <a:cxnSpLocks/>
            <a:stCxn id="79" idx="3"/>
            <a:endCxn id="80" idx="1"/>
          </p:cNvCxnSpPr>
          <p:nvPr/>
        </p:nvCxnSpPr>
        <p:spPr>
          <a:xfrm flipV="1">
            <a:off x="3854290" y="4632135"/>
            <a:ext cx="172506" cy="404470"/>
          </a:xfrm>
          <a:prstGeom prst="straightConnector1">
            <a:avLst/>
          </a:prstGeom>
          <a:noFill/>
          <a:ln w="9525" cap="flat" cmpd="sng" algn="ctr">
            <a:solidFill>
              <a:srgbClr val="0076A8"/>
            </a:solidFill>
            <a:prstDash val="solid"/>
            <a:tailEnd type="triangle"/>
          </a:ln>
          <a:effectLst/>
        </p:spPr>
      </p:cxnSp>
      <p:cxnSp>
        <p:nvCxnSpPr>
          <p:cNvPr id="95" name="直線矢印コネクタ 94">
            <a:extLst>
              <a:ext uri="{FF2B5EF4-FFF2-40B4-BE49-F238E27FC236}">
                <a16:creationId xmlns:a16="http://schemas.microsoft.com/office/drawing/2014/main" id="{E6BB7210-084A-44ED-90D6-7E86DC4EEFFC}"/>
              </a:ext>
            </a:extLst>
          </p:cNvPr>
          <p:cNvCxnSpPr>
            <a:cxnSpLocks/>
            <a:stCxn id="79" idx="3"/>
            <a:endCxn id="81" idx="1"/>
          </p:cNvCxnSpPr>
          <p:nvPr/>
        </p:nvCxnSpPr>
        <p:spPr>
          <a:xfrm>
            <a:off x="3854290" y="5036605"/>
            <a:ext cx="172506" cy="429420"/>
          </a:xfrm>
          <a:prstGeom prst="straightConnector1">
            <a:avLst/>
          </a:prstGeom>
          <a:noFill/>
          <a:ln w="9525" cap="flat" cmpd="sng" algn="ctr">
            <a:solidFill>
              <a:srgbClr val="0076A8"/>
            </a:solidFill>
            <a:prstDash val="solid"/>
            <a:tailEnd type="triangle"/>
          </a:ln>
          <a:effectLst/>
        </p:spPr>
      </p:cxnSp>
      <p:cxnSp>
        <p:nvCxnSpPr>
          <p:cNvPr id="98" name="直線矢印コネクタ 97">
            <a:extLst>
              <a:ext uri="{FF2B5EF4-FFF2-40B4-BE49-F238E27FC236}">
                <a16:creationId xmlns:a16="http://schemas.microsoft.com/office/drawing/2014/main" id="{0BD930C3-818A-4FDB-8CE8-C4362D220275}"/>
              </a:ext>
            </a:extLst>
          </p:cNvPr>
          <p:cNvCxnSpPr>
            <a:cxnSpLocks/>
            <a:stCxn id="81" idx="3"/>
            <a:endCxn id="82" idx="1"/>
          </p:cNvCxnSpPr>
          <p:nvPr/>
        </p:nvCxnSpPr>
        <p:spPr>
          <a:xfrm flipV="1">
            <a:off x="4960180" y="5036605"/>
            <a:ext cx="172506" cy="429420"/>
          </a:xfrm>
          <a:prstGeom prst="straightConnector1">
            <a:avLst/>
          </a:prstGeom>
          <a:noFill/>
          <a:ln w="9525" cap="flat" cmpd="sng" algn="ctr">
            <a:solidFill>
              <a:srgbClr val="0076A8"/>
            </a:solidFill>
            <a:prstDash val="solid"/>
            <a:tailEnd type="triangle"/>
          </a:ln>
          <a:effectLst/>
        </p:spPr>
      </p:cxnSp>
      <p:cxnSp>
        <p:nvCxnSpPr>
          <p:cNvPr id="101" name="直線矢印コネクタ 100">
            <a:extLst>
              <a:ext uri="{FF2B5EF4-FFF2-40B4-BE49-F238E27FC236}">
                <a16:creationId xmlns:a16="http://schemas.microsoft.com/office/drawing/2014/main" id="{5627FA63-6050-4061-9DD8-340F81C0D334}"/>
              </a:ext>
            </a:extLst>
          </p:cNvPr>
          <p:cNvCxnSpPr>
            <a:cxnSpLocks/>
            <a:stCxn id="80" idx="3"/>
            <a:endCxn id="82" idx="1"/>
          </p:cNvCxnSpPr>
          <p:nvPr/>
        </p:nvCxnSpPr>
        <p:spPr>
          <a:xfrm>
            <a:off x="4960180" y="4632135"/>
            <a:ext cx="172506" cy="404470"/>
          </a:xfrm>
          <a:prstGeom prst="straightConnector1">
            <a:avLst/>
          </a:prstGeom>
          <a:noFill/>
          <a:ln w="9525" cap="flat" cmpd="sng" algn="ctr">
            <a:solidFill>
              <a:srgbClr val="0076A8"/>
            </a:solidFill>
            <a:prstDash val="solid"/>
            <a:tailEnd type="triangle"/>
          </a:ln>
          <a:effectLst/>
        </p:spPr>
      </p:cxnSp>
      <p:sp>
        <p:nvSpPr>
          <p:cNvPr id="107" name="正方形/長方形 106">
            <a:extLst>
              <a:ext uri="{FF2B5EF4-FFF2-40B4-BE49-F238E27FC236}">
                <a16:creationId xmlns:a16="http://schemas.microsoft.com/office/drawing/2014/main" id="{B0A03F42-CC35-4E8C-AE09-964CEE5ADEDB}"/>
              </a:ext>
            </a:extLst>
          </p:cNvPr>
          <p:cNvSpPr/>
          <p:nvPr/>
        </p:nvSpPr>
        <p:spPr>
          <a:xfrm>
            <a:off x="6238576" y="431955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34" charset="-128"/>
                <a:ea typeface="Meiryo UI" panose="020B0604030504040204" pitchFamily="34" charset="-128"/>
              </a:rPr>
              <a:t>対策</a:t>
            </a:r>
            <a:r>
              <a:rPr kumimoji="1" lang="ja-JP" altLang="en-US" sz="1200" dirty="0">
                <a:solidFill>
                  <a:schemeClr val="tx1"/>
                </a:solidFill>
                <a:latin typeface="Meiryo UI" panose="020B0604030504040204" pitchFamily="34" charset="-128"/>
                <a:ea typeface="Meiryo UI" panose="020B0604030504040204" pitchFamily="34" charset="-128"/>
              </a:rPr>
              <a:t>検討と</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dirty="0">
                <a:solidFill>
                  <a:schemeClr val="tx1"/>
                </a:solidFill>
                <a:latin typeface="Meiryo UI" panose="020B0604030504040204" pitchFamily="34" charset="-128"/>
                <a:ea typeface="Meiryo UI" panose="020B0604030504040204" pitchFamily="34" charset="-128"/>
              </a:rPr>
              <a:t>モデル化</a:t>
            </a:r>
            <a:endParaRPr kumimoji="1" lang="en-US" sz="1000" dirty="0">
              <a:solidFill>
                <a:schemeClr val="tx1"/>
              </a:solidFill>
              <a:latin typeface="Meiryo UI" panose="020B0604030504040204" pitchFamily="34" charset="-128"/>
              <a:ea typeface="Meiryo UI" panose="020B0604030504040204" pitchFamily="34" charset="-128"/>
            </a:endParaRPr>
          </a:p>
        </p:txBody>
      </p:sp>
      <p:cxnSp>
        <p:nvCxnSpPr>
          <p:cNvPr id="108" name="直線矢印コネクタ 107">
            <a:extLst>
              <a:ext uri="{FF2B5EF4-FFF2-40B4-BE49-F238E27FC236}">
                <a16:creationId xmlns:a16="http://schemas.microsoft.com/office/drawing/2014/main" id="{98CB322E-22B7-4767-9829-01BA1B5C7BF3}"/>
              </a:ext>
            </a:extLst>
          </p:cNvPr>
          <p:cNvCxnSpPr>
            <a:cxnSpLocks/>
            <a:stCxn id="82" idx="3"/>
            <a:endCxn id="107" idx="1"/>
          </p:cNvCxnSpPr>
          <p:nvPr/>
        </p:nvCxnSpPr>
        <p:spPr>
          <a:xfrm flipV="1">
            <a:off x="6066070" y="4632135"/>
            <a:ext cx="172506" cy="404470"/>
          </a:xfrm>
          <a:prstGeom prst="straightConnector1">
            <a:avLst/>
          </a:prstGeom>
          <a:noFill/>
          <a:ln w="9525" cap="flat" cmpd="sng" algn="ctr">
            <a:solidFill>
              <a:srgbClr val="0076A8"/>
            </a:solidFill>
            <a:prstDash val="solid"/>
            <a:tailEnd type="triangle"/>
          </a:ln>
          <a:effectLst/>
        </p:spPr>
      </p:cxnSp>
      <p:sp>
        <p:nvSpPr>
          <p:cNvPr id="111" name="円/楕円 135">
            <a:extLst>
              <a:ext uri="{FF2B5EF4-FFF2-40B4-BE49-F238E27FC236}">
                <a16:creationId xmlns:a16="http://schemas.microsoft.com/office/drawing/2014/main" id="{2B08E039-C8F4-4C19-8B6C-12D3B8167F6A}"/>
              </a:ext>
            </a:extLst>
          </p:cNvPr>
          <p:cNvSpPr>
            <a:spLocks/>
          </p:cNvSpPr>
          <p:nvPr/>
        </p:nvSpPr>
        <p:spPr bwMode="gray">
          <a:xfrm>
            <a:off x="4771420" y="1662934"/>
            <a:ext cx="360000" cy="360000"/>
          </a:xfrm>
          <a:prstGeom prst="ellipse">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業務</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12" name="円/楕円 135">
            <a:extLst>
              <a:ext uri="{FF2B5EF4-FFF2-40B4-BE49-F238E27FC236}">
                <a16:creationId xmlns:a16="http://schemas.microsoft.com/office/drawing/2014/main" id="{99C99607-295B-4D60-B3EE-9B946152D13A}"/>
              </a:ext>
            </a:extLst>
          </p:cNvPr>
          <p:cNvSpPr>
            <a:spLocks/>
          </p:cNvSpPr>
          <p:nvPr/>
        </p:nvSpPr>
        <p:spPr bwMode="gray">
          <a:xfrm>
            <a:off x="5876044" y="1662934"/>
            <a:ext cx="360000" cy="360000"/>
          </a:xfrm>
          <a:prstGeom prst="ellipse">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業務</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113" name="円/楕円 135">
            <a:extLst>
              <a:ext uri="{FF2B5EF4-FFF2-40B4-BE49-F238E27FC236}">
                <a16:creationId xmlns:a16="http://schemas.microsoft.com/office/drawing/2014/main" id="{DDDB930B-5F95-45E6-ADE2-88F5A0D87D19}"/>
              </a:ext>
            </a:extLst>
          </p:cNvPr>
          <p:cNvSpPr>
            <a:spLocks/>
          </p:cNvSpPr>
          <p:nvPr/>
        </p:nvSpPr>
        <p:spPr bwMode="gray">
          <a:xfrm>
            <a:off x="6984466" y="4160825"/>
            <a:ext cx="360000" cy="360000"/>
          </a:xfrm>
          <a:prstGeom prst="ellipse">
            <a:avLst/>
          </a:prstGeom>
          <a:gradFill flip="none" rotWithShape="1">
            <a:gsLst>
              <a:gs pos="0">
                <a:srgbClr val="0041C4">
                  <a:shade val="30000"/>
                  <a:satMod val="115000"/>
                </a:srgbClr>
              </a:gs>
              <a:gs pos="50000">
                <a:srgbClr val="0041C4">
                  <a:shade val="67500"/>
                  <a:satMod val="115000"/>
                </a:srgbClr>
              </a:gs>
              <a:gs pos="100000">
                <a:srgbClr val="0041C4">
                  <a:shade val="100000"/>
                  <a:satMod val="115000"/>
                </a:srgbClr>
              </a:gs>
            </a:gsLst>
            <a:lin ang="8100000" scaled="1"/>
            <a:tileRect/>
          </a:gra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wrap="none" lIns="36000" tIns="72000" rIns="36000" bIns="0" anchor="ctr"/>
          <a:lstStyle>
            <a:defPPr>
              <a:defRPr lang="en-US"/>
            </a:defPPr>
            <a:lvl1pPr marL="0" algn="l" defTabSz="457133" rtl="0" eaLnBrk="1" latinLnBrk="0" hangingPunct="1">
              <a:defRPr sz="1800" kern="1200">
                <a:solidFill>
                  <a:schemeClr val="lt1"/>
                </a:solidFill>
                <a:latin typeface="+mn-lt"/>
                <a:ea typeface="+mn-ea"/>
                <a:cs typeface="+mn-cs"/>
              </a:defRPr>
            </a:lvl1pPr>
            <a:lvl2pPr marL="457133" algn="l" defTabSz="457133" rtl="0" eaLnBrk="1" latinLnBrk="0" hangingPunct="1">
              <a:defRPr sz="1800" kern="1200">
                <a:solidFill>
                  <a:schemeClr val="lt1"/>
                </a:solidFill>
                <a:latin typeface="+mn-lt"/>
                <a:ea typeface="+mn-ea"/>
                <a:cs typeface="+mn-cs"/>
              </a:defRPr>
            </a:lvl2pPr>
            <a:lvl3pPr marL="914268" algn="l" defTabSz="457133" rtl="0" eaLnBrk="1" latinLnBrk="0" hangingPunct="1">
              <a:defRPr sz="1800" kern="1200">
                <a:solidFill>
                  <a:schemeClr val="lt1"/>
                </a:solidFill>
                <a:latin typeface="+mn-lt"/>
                <a:ea typeface="+mn-ea"/>
                <a:cs typeface="+mn-cs"/>
              </a:defRPr>
            </a:lvl3pPr>
            <a:lvl4pPr marL="1371401" algn="l" defTabSz="457133" rtl="0" eaLnBrk="1" latinLnBrk="0" hangingPunct="1">
              <a:defRPr sz="1800" kern="1200">
                <a:solidFill>
                  <a:schemeClr val="lt1"/>
                </a:solidFill>
                <a:latin typeface="+mn-lt"/>
                <a:ea typeface="+mn-ea"/>
                <a:cs typeface="+mn-cs"/>
              </a:defRPr>
            </a:lvl4pPr>
            <a:lvl5pPr marL="1828535" algn="l" defTabSz="457133" rtl="0" eaLnBrk="1" latinLnBrk="0" hangingPunct="1">
              <a:defRPr sz="1800" kern="1200">
                <a:solidFill>
                  <a:schemeClr val="lt1"/>
                </a:solidFill>
                <a:latin typeface="+mn-lt"/>
                <a:ea typeface="+mn-ea"/>
                <a:cs typeface="+mn-cs"/>
              </a:defRPr>
            </a:lvl5pPr>
            <a:lvl6pPr marL="2285669" algn="l" defTabSz="457133" rtl="0" eaLnBrk="1" latinLnBrk="0" hangingPunct="1">
              <a:defRPr sz="1800" kern="1200">
                <a:solidFill>
                  <a:schemeClr val="lt1"/>
                </a:solidFill>
                <a:latin typeface="+mn-lt"/>
                <a:ea typeface="+mn-ea"/>
                <a:cs typeface="+mn-cs"/>
              </a:defRPr>
            </a:lvl6pPr>
            <a:lvl7pPr marL="2742803" algn="l" defTabSz="457133" rtl="0" eaLnBrk="1" latinLnBrk="0" hangingPunct="1">
              <a:defRPr sz="1800" kern="1200">
                <a:solidFill>
                  <a:schemeClr val="lt1"/>
                </a:solidFill>
                <a:latin typeface="+mn-lt"/>
                <a:ea typeface="+mn-ea"/>
                <a:cs typeface="+mn-cs"/>
              </a:defRPr>
            </a:lvl7pPr>
            <a:lvl8pPr marL="3199936" algn="l" defTabSz="457133" rtl="0" eaLnBrk="1" latinLnBrk="0" hangingPunct="1">
              <a:defRPr sz="1800" kern="1200">
                <a:solidFill>
                  <a:schemeClr val="lt1"/>
                </a:solidFill>
                <a:latin typeface="+mn-lt"/>
                <a:ea typeface="+mn-ea"/>
                <a:cs typeface="+mn-cs"/>
              </a:defRPr>
            </a:lvl8pPr>
            <a:lvl9pPr marL="3657070" algn="l" defTabSz="457133" rtl="0" eaLnBrk="1" latinLnBrk="0" hangingPunct="1">
              <a:defRPr sz="1800" kern="1200">
                <a:solidFill>
                  <a:schemeClr val="lt1"/>
                </a:solidFill>
                <a:latin typeface="+mn-lt"/>
                <a:ea typeface="+mn-ea"/>
                <a:cs typeface="+mn-cs"/>
              </a:defRPr>
            </a:lvl9pPr>
          </a:lstStyle>
          <a:p>
            <a:pPr algn="ctr">
              <a:lnSpc>
                <a:spcPct val="85000"/>
              </a:lnSpc>
              <a:defRPr/>
            </a:pPr>
            <a:r>
              <a:rPr lang="ja-JP" altLang="en-US" sz="800" dirty="0">
                <a:solidFill>
                  <a:srgbClr val="FFFFFF"/>
                </a:solidFill>
                <a:latin typeface="Meiryo UI" panose="020B0604030504040204" pitchFamily="34" charset="-128"/>
                <a:ea typeface="Meiryo UI" panose="020B0604030504040204" pitchFamily="34" charset="-128"/>
              </a:rPr>
              <a:t>業務</a:t>
            </a:r>
            <a:endParaRPr lang="en-US" altLang="ja-JP" sz="800" dirty="0">
              <a:solidFill>
                <a:srgbClr val="FFFFFF"/>
              </a:solidFill>
              <a:latin typeface="Meiryo UI" panose="020B0604030504040204" pitchFamily="34" charset="-128"/>
              <a:ea typeface="Meiryo UI" panose="020B0604030504040204" pitchFamily="34" charset="-128"/>
            </a:endParaRPr>
          </a:p>
          <a:p>
            <a:pPr algn="ctr">
              <a:lnSpc>
                <a:spcPct val="85000"/>
              </a:lnSpc>
              <a:defRPr/>
            </a:pPr>
            <a:r>
              <a:rPr lang="en-US" altLang="ja-JP" sz="800" dirty="0">
                <a:solidFill>
                  <a:srgbClr val="FFFFFF"/>
                </a:solidFill>
                <a:latin typeface="Meiryo UI" panose="020B0604030504040204" pitchFamily="34" charset="-128"/>
                <a:ea typeface="Meiryo UI" panose="020B0604030504040204" pitchFamily="34" charset="-128"/>
              </a:rPr>
              <a:t>WG</a:t>
            </a:r>
            <a:endParaRPr lang="ja-JP" altLang="en-US" sz="800" dirty="0">
              <a:solidFill>
                <a:srgbClr val="FFFFFF"/>
              </a:solidFill>
              <a:latin typeface="Meiryo UI" panose="020B0604030504040204" pitchFamily="34" charset="-128"/>
              <a:ea typeface="Meiryo UI" panose="020B0604030504040204" pitchFamily="34" charset="-128"/>
            </a:endParaRPr>
          </a:p>
        </p:txBody>
      </p:sp>
      <p:sp>
        <p:nvSpPr>
          <p:cNvPr id="48" name="矢印: 環状 137">
            <a:extLst>
              <a:ext uri="{FF2B5EF4-FFF2-40B4-BE49-F238E27FC236}">
                <a16:creationId xmlns:a16="http://schemas.microsoft.com/office/drawing/2014/main" id="{AA28018D-2084-40DA-A8AB-E1E291C67874}"/>
              </a:ext>
            </a:extLst>
          </p:cNvPr>
          <p:cNvSpPr/>
          <p:nvPr/>
        </p:nvSpPr>
        <p:spPr>
          <a:xfrm>
            <a:off x="4501339" y="2366148"/>
            <a:ext cx="270081" cy="566485"/>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59" name="矢印: 環状 137">
            <a:extLst>
              <a:ext uri="{FF2B5EF4-FFF2-40B4-BE49-F238E27FC236}">
                <a16:creationId xmlns:a16="http://schemas.microsoft.com/office/drawing/2014/main" id="{8CEE5197-3835-4848-BC58-C027670CD89D}"/>
              </a:ext>
            </a:extLst>
          </p:cNvPr>
          <p:cNvSpPr/>
          <p:nvPr/>
        </p:nvSpPr>
        <p:spPr>
          <a:xfrm>
            <a:off x="5492017" y="2366148"/>
            <a:ext cx="270081" cy="566485"/>
          </a:xfrm>
          <a:prstGeom prst="circularArrow">
            <a:avLst>
              <a:gd name="adj1" fmla="val 12500"/>
              <a:gd name="adj2" fmla="val 1142319"/>
              <a:gd name="adj3" fmla="val 20457681"/>
              <a:gd name="adj4" fmla="val 1527801"/>
              <a:gd name="adj5" fmla="val 12500"/>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grpSp>
        <p:nvGrpSpPr>
          <p:cNvPr id="157" name="グループ化 156">
            <a:extLst>
              <a:ext uri="{FF2B5EF4-FFF2-40B4-BE49-F238E27FC236}">
                <a16:creationId xmlns:a16="http://schemas.microsoft.com/office/drawing/2014/main" id="{3471EF63-4DDA-4AC6-880E-1563014A14C0}"/>
              </a:ext>
            </a:extLst>
          </p:cNvPr>
          <p:cNvGrpSpPr/>
          <p:nvPr/>
        </p:nvGrpSpPr>
        <p:grpSpPr>
          <a:xfrm>
            <a:off x="7344467" y="1696569"/>
            <a:ext cx="2324994" cy="952308"/>
            <a:chOff x="7344467" y="1933998"/>
            <a:chExt cx="2324994" cy="952308"/>
          </a:xfrm>
        </p:grpSpPr>
        <p:sp>
          <p:nvSpPr>
            <p:cNvPr id="153" name="正方形/長方形 152">
              <a:extLst>
                <a:ext uri="{FF2B5EF4-FFF2-40B4-BE49-F238E27FC236}">
                  <a16:creationId xmlns:a16="http://schemas.microsoft.com/office/drawing/2014/main" id="{7A7D002D-E9AA-4627-9737-084B4684C74A}"/>
                </a:ext>
              </a:extLst>
            </p:cNvPr>
            <p:cNvSpPr/>
            <p:nvPr/>
          </p:nvSpPr>
          <p:spPr>
            <a:xfrm>
              <a:off x="7344467" y="1933998"/>
              <a:ext cx="2324994" cy="300657"/>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200" dirty="0">
                  <a:solidFill>
                    <a:schemeClr val="bg1"/>
                  </a:solidFill>
                  <a:latin typeface="Meiryo UI" panose="020B0604030504040204" pitchFamily="34" charset="-128"/>
                  <a:ea typeface="Meiryo UI" panose="020B0604030504040204" pitchFamily="34" charset="-128"/>
                </a:rPr>
                <a:t>メリット</a:t>
              </a:r>
              <a:endParaRPr kumimoji="1" lang="en-US" sz="1200" dirty="0">
                <a:solidFill>
                  <a:schemeClr val="bg1"/>
                </a:solidFill>
                <a:latin typeface="Meiryo UI" panose="020B0604030504040204" pitchFamily="34" charset="-128"/>
                <a:ea typeface="Meiryo UI" panose="020B0604030504040204" pitchFamily="34" charset="-128"/>
              </a:endParaRPr>
            </a:p>
          </p:txBody>
        </p:sp>
        <p:sp>
          <p:nvSpPr>
            <p:cNvPr id="155" name="正方形/長方形 154">
              <a:extLst>
                <a:ext uri="{FF2B5EF4-FFF2-40B4-BE49-F238E27FC236}">
                  <a16:creationId xmlns:a16="http://schemas.microsoft.com/office/drawing/2014/main" id="{3A9837CD-FC8A-4BCF-B3EB-F3C973538FBE}"/>
                </a:ext>
              </a:extLst>
            </p:cNvPr>
            <p:cNvSpPr/>
            <p:nvPr/>
          </p:nvSpPr>
          <p:spPr>
            <a:xfrm>
              <a:off x="7344467" y="2221819"/>
              <a:ext cx="2324994" cy="664487"/>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en-US" altLang="ja-JP" sz="1050" dirty="0">
                  <a:solidFill>
                    <a:schemeClr val="tx1"/>
                  </a:solidFill>
                  <a:latin typeface="Meiryo UI" panose="020B0604030504040204" pitchFamily="34" charset="-128"/>
                  <a:ea typeface="Meiryo UI" panose="020B0604030504040204" pitchFamily="34" charset="-128"/>
                </a:rPr>
                <a:t>PJ</a:t>
              </a:r>
              <a:r>
                <a:rPr kumimoji="1" lang="ja-JP" altLang="en-US" sz="1050" dirty="0">
                  <a:solidFill>
                    <a:schemeClr val="tx1"/>
                  </a:solidFill>
                  <a:latin typeface="Meiryo UI" panose="020B0604030504040204" pitchFamily="34" charset="-128"/>
                  <a:ea typeface="Meiryo UI" panose="020B0604030504040204" pitchFamily="34" charset="-128"/>
                </a:rPr>
                <a:t>上位層と合意した目的に沿って</a:t>
              </a:r>
              <a:r>
                <a:rPr kumimoji="1" lang="en-US" altLang="ja-JP" sz="1050" dirty="0">
                  <a:solidFill>
                    <a:schemeClr val="tx1"/>
                  </a:solidFill>
                  <a:latin typeface="Meiryo UI" panose="020B0604030504040204" pitchFamily="34" charset="-128"/>
                  <a:ea typeface="Meiryo UI" panose="020B0604030504040204" pitchFamily="34" charset="-128"/>
                </a:rPr>
                <a:t>DM</a:t>
              </a:r>
              <a:r>
                <a:rPr kumimoji="1" lang="ja-JP" altLang="en-US" sz="1050" dirty="0">
                  <a:solidFill>
                    <a:schemeClr val="tx1"/>
                  </a:solidFill>
                  <a:latin typeface="Meiryo UI" panose="020B0604030504040204" pitchFamily="34" charset="-128"/>
                  <a:ea typeface="Meiryo UI" panose="020B0604030504040204" pitchFamily="34" charset="-128"/>
                </a:rPr>
                <a:t>の全要素をヒアリングし対策の検討を進めるため、細部に至るまで経営の意図が反映されやすい。</a:t>
              </a:r>
              <a:endParaRPr kumimoji="1" lang="en-US" sz="1050" dirty="0">
                <a:solidFill>
                  <a:schemeClr val="tx1"/>
                </a:solidFill>
                <a:latin typeface="Meiryo UI" panose="020B0604030504040204" pitchFamily="34" charset="-128"/>
                <a:ea typeface="Meiryo UI" panose="020B0604030504040204" pitchFamily="34" charset="-128"/>
              </a:endParaRPr>
            </a:p>
          </p:txBody>
        </p:sp>
      </p:grpSp>
      <p:grpSp>
        <p:nvGrpSpPr>
          <p:cNvPr id="158" name="グループ化 157">
            <a:extLst>
              <a:ext uri="{FF2B5EF4-FFF2-40B4-BE49-F238E27FC236}">
                <a16:creationId xmlns:a16="http://schemas.microsoft.com/office/drawing/2014/main" id="{6E61D96C-72FD-47E6-9884-874FA4B0CE3F}"/>
              </a:ext>
            </a:extLst>
          </p:cNvPr>
          <p:cNvGrpSpPr/>
          <p:nvPr/>
        </p:nvGrpSpPr>
        <p:grpSpPr>
          <a:xfrm>
            <a:off x="7344467" y="2693356"/>
            <a:ext cx="2324994" cy="952308"/>
            <a:chOff x="7344467" y="2922684"/>
            <a:chExt cx="2324994" cy="952308"/>
          </a:xfrm>
        </p:grpSpPr>
        <p:sp>
          <p:nvSpPr>
            <p:cNvPr id="154" name="正方形/長方形 153">
              <a:extLst>
                <a:ext uri="{FF2B5EF4-FFF2-40B4-BE49-F238E27FC236}">
                  <a16:creationId xmlns:a16="http://schemas.microsoft.com/office/drawing/2014/main" id="{71061171-778A-4046-B2E7-6C7142D41774}"/>
                </a:ext>
              </a:extLst>
            </p:cNvPr>
            <p:cNvSpPr/>
            <p:nvPr/>
          </p:nvSpPr>
          <p:spPr>
            <a:xfrm>
              <a:off x="7344467" y="2922684"/>
              <a:ext cx="2324994" cy="300657"/>
            </a:xfrm>
            <a:prstGeom prst="rect">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200" dirty="0">
                  <a:solidFill>
                    <a:schemeClr val="bg1"/>
                  </a:solidFill>
                  <a:latin typeface="Meiryo UI" panose="020B0604030504040204" pitchFamily="34" charset="-128"/>
                  <a:ea typeface="Meiryo UI" panose="020B0604030504040204" pitchFamily="34" charset="-128"/>
                </a:rPr>
                <a:t>デメリット</a:t>
              </a:r>
              <a:endParaRPr kumimoji="1" lang="en-US" sz="1200" dirty="0">
                <a:solidFill>
                  <a:schemeClr val="bg1"/>
                </a:solidFill>
                <a:latin typeface="Meiryo UI" panose="020B0604030504040204" pitchFamily="34" charset="-128"/>
                <a:ea typeface="Meiryo UI" panose="020B0604030504040204" pitchFamily="34" charset="-128"/>
              </a:endParaRPr>
            </a:p>
          </p:txBody>
        </p:sp>
        <p:sp>
          <p:nvSpPr>
            <p:cNvPr id="156" name="正方形/長方形 155">
              <a:extLst>
                <a:ext uri="{FF2B5EF4-FFF2-40B4-BE49-F238E27FC236}">
                  <a16:creationId xmlns:a16="http://schemas.microsoft.com/office/drawing/2014/main" id="{7F24C1E7-ABCE-419D-8F2B-502B58B2219C}"/>
                </a:ext>
              </a:extLst>
            </p:cNvPr>
            <p:cNvSpPr/>
            <p:nvPr/>
          </p:nvSpPr>
          <p:spPr>
            <a:xfrm>
              <a:off x="7344467" y="3210505"/>
              <a:ext cx="2324994" cy="66448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050" dirty="0">
                  <a:solidFill>
                    <a:schemeClr val="tx1"/>
                  </a:solidFill>
                  <a:latin typeface="Meiryo UI" panose="020B0604030504040204" pitchFamily="34" charset="-128"/>
                  <a:ea typeface="Meiryo UI" panose="020B0604030504040204" pitchFamily="34" charset="-128"/>
                </a:rPr>
                <a:t>早期から業務を巻き込んだヒアリングや仮説検証を行うため経営統合等業務リソースが多く割かれるイベント下では検討が間延びしやすい。</a:t>
              </a:r>
              <a:endParaRPr kumimoji="1" lang="en-US" sz="1050" dirty="0">
                <a:solidFill>
                  <a:schemeClr val="tx1"/>
                </a:solidFill>
                <a:latin typeface="Meiryo UI" panose="020B0604030504040204" pitchFamily="34" charset="-128"/>
                <a:ea typeface="Meiryo UI" panose="020B0604030504040204" pitchFamily="34" charset="-128"/>
              </a:endParaRPr>
            </a:p>
          </p:txBody>
        </p:sp>
      </p:grpSp>
      <p:grpSp>
        <p:nvGrpSpPr>
          <p:cNvPr id="169" name="グループ化 168">
            <a:extLst>
              <a:ext uri="{FF2B5EF4-FFF2-40B4-BE49-F238E27FC236}">
                <a16:creationId xmlns:a16="http://schemas.microsoft.com/office/drawing/2014/main" id="{D332C2B7-5FA4-4746-9C4A-D5F6BD91CB11}"/>
              </a:ext>
            </a:extLst>
          </p:cNvPr>
          <p:cNvGrpSpPr/>
          <p:nvPr/>
        </p:nvGrpSpPr>
        <p:grpSpPr>
          <a:xfrm>
            <a:off x="7344467" y="4248588"/>
            <a:ext cx="2324994" cy="952308"/>
            <a:chOff x="7344467" y="1933998"/>
            <a:chExt cx="2324994" cy="952308"/>
          </a:xfrm>
        </p:grpSpPr>
        <p:sp>
          <p:nvSpPr>
            <p:cNvPr id="170" name="正方形/長方形 169">
              <a:extLst>
                <a:ext uri="{FF2B5EF4-FFF2-40B4-BE49-F238E27FC236}">
                  <a16:creationId xmlns:a16="http://schemas.microsoft.com/office/drawing/2014/main" id="{E4B1C20C-4006-4CA7-934E-C4CD5D7A9EB8}"/>
                </a:ext>
              </a:extLst>
            </p:cNvPr>
            <p:cNvSpPr/>
            <p:nvPr/>
          </p:nvSpPr>
          <p:spPr>
            <a:xfrm>
              <a:off x="7344467" y="1933998"/>
              <a:ext cx="2324994" cy="300657"/>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200" dirty="0">
                  <a:solidFill>
                    <a:schemeClr val="bg1"/>
                  </a:solidFill>
                  <a:latin typeface="Meiryo UI" panose="020B0604030504040204" pitchFamily="34" charset="-128"/>
                  <a:ea typeface="Meiryo UI" panose="020B0604030504040204" pitchFamily="34" charset="-128"/>
                </a:rPr>
                <a:t>メリット</a:t>
              </a:r>
              <a:endParaRPr kumimoji="1" lang="en-US" sz="1200" dirty="0">
                <a:solidFill>
                  <a:schemeClr val="bg1"/>
                </a:solidFill>
                <a:latin typeface="Meiryo UI" panose="020B0604030504040204" pitchFamily="34" charset="-128"/>
                <a:ea typeface="Meiryo UI" panose="020B0604030504040204" pitchFamily="34" charset="-128"/>
              </a:endParaRPr>
            </a:p>
          </p:txBody>
        </p:sp>
        <p:sp>
          <p:nvSpPr>
            <p:cNvPr id="171" name="正方形/長方形 170">
              <a:extLst>
                <a:ext uri="{FF2B5EF4-FFF2-40B4-BE49-F238E27FC236}">
                  <a16:creationId xmlns:a16="http://schemas.microsoft.com/office/drawing/2014/main" id="{4774E3EE-BB14-4AF5-BEAA-3AFF1B634A50}"/>
                </a:ext>
              </a:extLst>
            </p:cNvPr>
            <p:cNvSpPr/>
            <p:nvPr/>
          </p:nvSpPr>
          <p:spPr>
            <a:xfrm>
              <a:off x="7344467" y="2221819"/>
              <a:ext cx="2324994" cy="664487"/>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dirty="0">
                  <a:solidFill>
                    <a:schemeClr val="tx1"/>
                  </a:solidFill>
                  <a:latin typeface="Meiryo UI" panose="020B0604030504040204" pitchFamily="34" charset="-128"/>
                  <a:ea typeface="Meiryo UI" panose="020B0604030504040204" pitchFamily="34" charset="-128"/>
                </a:rPr>
                <a:t>机上で</a:t>
              </a:r>
              <a:r>
                <a:rPr lang="en-US" altLang="ja-JP" sz="1050" dirty="0">
                  <a:solidFill>
                    <a:schemeClr val="tx1"/>
                  </a:solidFill>
                  <a:latin typeface="Meiryo UI" panose="020B0604030504040204" pitchFamily="34" charset="-128"/>
                  <a:ea typeface="Meiryo UI" panose="020B0604030504040204" pitchFamily="34" charset="-128"/>
                </a:rPr>
                <a:t>DM</a:t>
              </a:r>
              <a:r>
                <a:rPr lang="ja-JP" altLang="en-US" sz="1050" dirty="0">
                  <a:solidFill>
                    <a:schemeClr val="tx1"/>
                  </a:solidFill>
                  <a:latin typeface="Meiryo UI" panose="020B0604030504040204" pitchFamily="34" charset="-128"/>
                  <a:ea typeface="Meiryo UI" panose="020B0604030504040204" pitchFamily="34" charset="-128"/>
                </a:rPr>
                <a:t>チームが既存プロセス・データを精査することで重点課題の対策に絞って検討でき、</a:t>
              </a:r>
              <a:r>
                <a:rPr lang="en-US" altLang="ja-JP" sz="1050" dirty="0">
                  <a:solidFill>
                    <a:schemeClr val="tx1"/>
                  </a:solidFill>
                  <a:latin typeface="Meiryo UI" panose="020B0604030504040204" pitchFamily="34" charset="-128"/>
                  <a:ea typeface="Meiryo UI" panose="020B0604030504040204" pitchFamily="34" charset="-128"/>
                </a:rPr>
                <a:t>Quick</a:t>
              </a:r>
              <a:r>
                <a:rPr lang="ja-JP" altLang="en-US" sz="1050" dirty="0">
                  <a:solidFill>
                    <a:schemeClr val="tx1"/>
                  </a:solidFill>
                  <a:latin typeface="Meiryo UI" panose="020B0604030504040204" pitchFamily="34" charset="-128"/>
                  <a:ea typeface="Meiryo UI" panose="020B0604030504040204" pitchFamily="34" charset="-128"/>
                </a:rPr>
                <a:t> </a:t>
              </a:r>
              <a:r>
                <a:rPr lang="en-US" altLang="ja-JP" sz="1050" dirty="0">
                  <a:solidFill>
                    <a:schemeClr val="tx1"/>
                  </a:solidFill>
                  <a:latin typeface="Meiryo UI" panose="020B0604030504040204" pitchFamily="34" charset="-128"/>
                  <a:ea typeface="Meiryo UI" panose="020B0604030504040204" pitchFamily="34" charset="-128"/>
                </a:rPr>
                <a:t>Win</a:t>
              </a:r>
              <a:r>
                <a:rPr lang="ja-JP" altLang="en-US" sz="1050" dirty="0">
                  <a:solidFill>
                    <a:schemeClr val="tx1"/>
                  </a:solidFill>
                  <a:latin typeface="Meiryo UI" panose="020B0604030504040204" pitchFamily="34" charset="-128"/>
                  <a:ea typeface="Meiryo UI" panose="020B0604030504040204" pitchFamily="34" charset="-128"/>
                </a:rPr>
                <a:t>を狙いやすい。</a:t>
              </a:r>
              <a:endParaRPr kumimoji="1" lang="en-US" sz="1050" dirty="0">
                <a:solidFill>
                  <a:schemeClr val="tx1"/>
                </a:solidFill>
                <a:latin typeface="Meiryo UI" panose="020B0604030504040204" pitchFamily="34" charset="-128"/>
                <a:ea typeface="Meiryo UI" panose="020B0604030504040204" pitchFamily="34" charset="-128"/>
              </a:endParaRPr>
            </a:p>
          </p:txBody>
        </p:sp>
      </p:grpSp>
      <p:grpSp>
        <p:nvGrpSpPr>
          <p:cNvPr id="172" name="グループ化 171">
            <a:extLst>
              <a:ext uri="{FF2B5EF4-FFF2-40B4-BE49-F238E27FC236}">
                <a16:creationId xmlns:a16="http://schemas.microsoft.com/office/drawing/2014/main" id="{F3398076-BCE3-478B-99CF-3386C0220FC9}"/>
              </a:ext>
            </a:extLst>
          </p:cNvPr>
          <p:cNvGrpSpPr/>
          <p:nvPr/>
        </p:nvGrpSpPr>
        <p:grpSpPr>
          <a:xfrm>
            <a:off x="7344467" y="5246769"/>
            <a:ext cx="2324994" cy="952308"/>
            <a:chOff x="7344467" y="2922684"/>
            <a:chExt cx="2324994" cy="952308"/>
          </a:xfrm>
        </p:grpSpPr>
        <p:sp>
          <p:nvSpPr>
            <p:cNvPr id="173" name="正方形/長方形 172">
              <a:extLst>
                <a:ext uri="{FF2B5EF4-FFF2-40B4-BE49-F238E27FC236}">
                  <a16:creationId xmlns:a16="http://schemas.microsoft.com/office/drawing/2014/main" id="{AFD68579-DFF1-485F-876F-1C472EE96D1D}"/>
                </a:ext>
              </a:extLst>
            </p:cNvPr>
            <p:cNvSpPr/>
            <p:nvPr/>
          </p:nvSpPr>
          <p:spPr>
            <a:xfrm>
              <a:off x="7344467" y="2922684"/>
              <a:ext cx="2324994" cy="300657"/>
            </a:xfrm>
            <a:prstGeom prst="rect">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200" dirty="0">
                  <a:solidFill>
                    <a:schemeClr val="bg1"/>
                  </a:solidFill>
                  <a:latin typeface="Meiryo UI" panose="020B0604030504040204" pitchFamily="34" charset="-128"/>
                  <a:ea typeface="Meiryo UI" panose="020B0604030504040204" pitchFamily="34" charset="-128"/>
                </a:rPr>
                <a:t>デメリット</a:t>
              </a:r>
              <a:endParaRPr kumimoji="1" lang="en-US" sz="1200" dirty="0">
                <a:solidFill>
                  <a:schemeClr val="bg1"/>
                </a:solidFill>
                <a:latin typeface="Meiryo UI" panose="020B0604030504040204" pitchFamily="34" charset="-128"/>
                <a:ea typeface="Meiryo UI" panose="020B0604030504040204" pitchFamily="34" charset="-128"/>
              </a:endParaRPr>
            </a:p>
          </p:txBody>
        </p:sp>
        <p:sp>
          <p:nvSpPr>
            <p:cNvPr id="174" name="正方形/長方形 173">
              <a:extLst>
                <a:ext uri="{FF2B5EF4-FFF2-40B4-BE49-F238E27FC236}">
                  <a16:creationId xmlns:a16="http://schemas.microsoft.com/office/drawing/2014/main" id="{9CAD56C8-94D0-4CDC-8B93-88F2FE6B4026}"/>
                </a:ext>
              </a:extLst>
            </p:cNvPr>
            <p:cNvSpPr/>
            <p:nvPr/>
          </p:nvSpPr>
          <p:spPr>
            <a:xfrm>
              <a:off x="7344467" y="3210505"/>
              <a:ext cx="2324994" cy="66448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050" dirty="0">
                  <a:solidFill>
                    <a:schemeClr val="tx1"/>
                  </a:solidFill>
                  <a:latin typeface="Meiryo UI" panose="020B0604030504040204" pitchFamily="34" charset="-128"/>
                  <a:ea typeface="Meiryo UI" panose="020B0604030504040204" pitchFamily="34" charset="-128"/>
                </a:rPr>
                <a:t>検討単位が個々の課題となるため、経営統合がある程度進んだ段階で振り返り全体としての網羅性や完全性を再検討する必要がある。</a:t>
              </a:r>
              <a:endParaRPr kumimoji="1" lang="en-US" sz="1050" dirty="0">
                <a:solidFill>
                  <a:schemeClr val="tx1"/>
                </a:solidFill>
                <a:latin typeface="Meiryo UI" panose="020B0604030504040204" pitchFamily="34" charset="-128"/>
                <a:ea typeface="Meiryo UI" panose="020B0604030504040204" pitchFamily="34" charset="-128"/>
              </a:endParaRPr>
            </a:p>
          </p:txBody>
        </p:sp>
      </p:grpSp>
      <p:sp>
        <p:nvSpPr>
          <p:cNvPr id="177" name="正方形/長方形 176">
            <a:extLst>
              <a:ext uri="{FF2B5EF4-FFF2-40B4-BE49-F238E27FC236}">
                <a16:creationId xmlns:a16="http://schemas.microsoft.com/office/drawing/2014/main" id="{A1695694-41BD-4A1C-ACD5-A377B7DE558F}"/>
              </a:ext>
            </a:extLst>
          </p:cNvPr>
          <p:cNvSpPr/>
          <p:nvPr/>
        </p:nvSpPr>
        <p:spPr>
          <a:xfrm>
            <a:off x="6238576" y="5153449"/>
            <a:ext cx="933384" cy="625151"/>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DM</a:t>
            </a:r>
            <a:r>
              <a:rPr lang="ja-JP" altLang="en-US" sz="1200" dirty="0">
                <a:solidFill>
                  <a:schemeClr val="tx1"/>
                </a:solidFill>
                <a:latin typeface="Meiryo UI" panose="020B0604030504040204" pitchFamily="34" charset="-128"/>
                <a:ea typeface="Meiryo UI" panose="020B0604030504040204" pitchFamily="34" charset="-128"/>
              </a:rPr>
              <a:t>ロードマップ</a:t>
            </a:r>
            <a:br>
              <a:rPr lang="en-US" altLang="ja-JP" sz="1200" dirty="0">
                <a:solidFill>
                  <a:schemeClr val="tx1"/>
                </a:solidFill>
                <a:latin typeface="Meiryo UI" panose="020B0604030504040204" pitchFamily="34" charset="-128"/>
                <a:ea typeface="Meiryo UI" panose="020B0604030504040204" pitchFamily="34" charset="-128"/>
              </a:rPr>
            </a:br>
            <a:r>
              <a:rPr lang="ja-JP" altLang="en-US" sz="1200" dirty="0">
                <a:solidFill>
                  <a:schemeClr val="tx1"/>
                </a:solidFill>
                <a:latin typeface="Meiryo UI" panose="020B0604030504040204" pitchFamily="34" charset="-128"/>
                <a:ea typeface="Meiryo UI" panose="020B0604030504040204" pitchFamily="34" charset="-128"/>
              </a:rPr>
              <a:t>策定</a:t>
            </a:r>
            <a:endParaRPr lang="en-US" sz="1200" dirty="0">
              <a:solidFill>
                <a:schemeClr val="tx1"/>
              </a:solidFill>
              <a:latin typeface="Meiryo UI" panose="020B0604030504040204" pitchFamily="34" charset="-128"/>
              <a:ea typeface="Meiryo UI" panose="020B0604030504040204" pitchFamily="34" charset="-128"/>
            </a:endParaRPr>
          </a:p>
        </p:txBody>
      </p:sp>
      <p:cxnSp>
        <p:nvCxnSpPr>
          <p:cNvPr id="178" name="直線矢印コネクタ 177">
            <a:extLst>
              <a:ext uri="{FF2B5EF4-FFF2-40B4-BE49-F238E27FC236}">
                <a16:creationId xmlns:a16="http://schemas.microsoft.com/office/drawing/2014/main" id="{B6F4E46C-A16D-470B-A59A-B849360B812F}"/>
              </a:ext>
            </a:extLst>
          </p:cNvPr>
          <p:cNvCxnSpPr>
            <a:cxnSpLocks/>
            <a:stCxn id="82" idx="3"/>
            <a:endCxn id="177" idx="1"/>
          </p:cNvCxnSpPr>
          <p:nvPr/>
        </p:nvCxnSpPr>
        <p:spPr>
          <a:xfrm>
            <a:off x="6066070" y="5036605"/>
            <a:ext cx="172506" cy="429420"/>
          </a:xfrm>
          <a:prstGeom prst="straightConnector1">
            <a:avLst/>
          </a:prstGeom>
          <a:noFill/>
          <a:ln w="9525" cap="flat" cmpd="sng" algn="ctr">
            <a:solidFill>
              <a:srgbClr val="0076A8"/>
            </a:solidFill>
            <a:prstDash val="solid"/>
            <a:tailEnd type="triangle"/>
          </a:ln>
          <a:effectLst/>
        </p:spPr>
      </p:cxnSp>
    </p:spTree>
    <p:extLst>
      <p:ext uri="{BB962C8B-B14F-4D97-AF65-F5344CB8AC3E}">
        <p14:creationId xmlns:p14="http://schemas.microsoft.com/office/powerpoint/2010/main" val="2644520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C954B3-F19C-4512-9262-A3FF5179C443}"/>
              </a:ext>
            </a:extLst>
          </p:cNvPr>
          <p:cNvSpPr>
            <a:spLocks noGrp="1"/>
          </p:cNvSpPr>
          <p:nvPr>
            <p:ph type="title"/>
          </p:nvPr>
        </p:nvSpPr>
        <p:spPr>
          <a:xfrm>
            <a:off x="236538" y="128799"/>
            <a:ext cx="7287807" cy="349961"/>
          </a:xfrm>
        </p:spPr>
        <p:txBody>
          <a:bodyPr/>
          <a:lstStyle/>
          <a:p>
            <a:r>
              <a:rPr lang="ja-JP" altLang="en-US" b="1" dirty="0"/>
              <a:t>リファレンス型アプローチでの活動計画</a:t>
            </a:r>
            <a:endParaRPr kumimoji="1" lang="en-US" b="1" dirty="0"/>
          </a:p>
        </p:txBody>
      </p:sp>
      <p:sp>
        <p:nvSpPr>
          <p:cNvPr id="3" name="テキスト プレースホルダー 2">
            <a:extLst>
              <a:ext uri="{FF2B5EF4-FFF2-40B4-BE49-F238E27FC236}">
                <a16:creationId xmlns:a16="http://schemas.microsoft.com/office/drawing/2014/main" id="{4ABBC739-FF14-47EC-A08E-F8AAC8F14381}"/>
              </a:ext>
            </a:extLst>
          </p:cNvPr>
          <p:cNvSpPr>
            <a:spLocks noGrp="1"/>
          </p:cNvSpPr>
          <p:nvPr>
            <p:ph type="body" sz="quarter" idx="10"/>
          </p:nvPr>
        </p:nvSpPr>
        <p:spPr>
          <a:xfrm>
            <a:off x="236538" y="574775"/>
            <a:ext cx="9440862" cy="811367"/>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altLang="ja-JP" b="1" dirty="0">
                <a:latin typeface="Meiryo UI" panose="020B0604030504040204" pitchFamily="34" charset="-128"/>
                <a:ea typeface="Meiryo UI" panose="020B0604030504040204" pitchFamily="34" charset="-128"/>
                <a:cs typeface="+mn-cs"/>
              </a:rPr>
              <a:t>7</a:t>
            </a:r>
            <a:r>
              <a:rPr lang="ja-JP" altLang="en-US" b="1" dirty="0">
                <a:latin typeface="Meiryo UI" panose="020B0604030504040204" pitchFamily="34" charset="-128"/>
                <a:ea typeface="Meiryo UI" panose="020B0604030504040204" pitchFamily="34" charset="-128"/>
                <a:cs typeface="+mn-cs"/>
              </a:rPr>
              <a:t>月上旬にシナリオを選定し過去の検討資料や各システムの仕様書・定義書等を解析した</a:t>
            </a:r>
            <a:r>
              <a:rPr lang="ja-JP" altLang="en-US" b="1">
                <a:latin typeface="Meiryo UI" panose="020B0604030504040204" pitchFamily="34" charset="-128"/>
                <a:ea typeface="Meiryo UI" panose="020B0604030504040204" pitchFamily="34" charset="-128"/>
                <a:cs typeface="+mn-cs"/>
              </a:rPr>
              <a:t>うえ、</a:t>
            </a:r>
            <a:r>
              <a:rPr lang="en-US" altLang="ja-JP" b="1" dirty="0">
                <a:latin typeface="Meiryo UI" panose="020B0604030504040204" pitchFamily="34" charset="-128"/>
                <a:ea typeface="Meiryo UI" panose="020B0604030504040204" pitchFamily="34" charset="-128"/>
                <a:cs typeface="+mn-cs"/>
              </a:rPr>
              <a:t>9</a:t>
            </a:r>
            <a:r>
              <a:rPr lang="ja-JP" altLang="en-US" b="1" dirty="0">
                <a:latin typeface="Meiryo UI" panose="020B0604030504040204" pitchFamily="34" charset="-128"/>
                <a:ea typeface="Meiryo UI" panose="020B0604030504040204" pitchFamily="34" charset="-128"/>
                <a:cs typeface="+mn-cs"/>
              </a:rPr>
              <a:t>月上旬を目標に机上でデータフロー・データ定義上の論点や課題を取りまとめる。</a:t>
            </a:r>
            <a:endParaRPr lang="en-US" altLang="ja-JP" b="1" dirty="0">
              <a:latin typeface="Meiryo UI" panose="020B0604030504040204" pitchFamily="34" charset="-128"/>
              <a:ea typeface="Meiryo UI" panose="020B0604030504040204" pitchFamily="34" charset="-128"/>
              <a:cs typeface="+mn-cs"/>
            </a:endParaRPr>
          </a:p>
          <a:p>
            <a:pPr defTabSz="633062" eaLnBrk="0" fontAlgn="base" hangingPunct="0">
              <a:lnSpc>
                <a:spcPct val="100000"/>
              </a:lnSpc>
              <a:spcBef>
                <a:spcPts val="0"/>
              </a:spcBef>
              <a:spcAft>
                <a:spcPct val="0"/>
              </a:spcAft>
            </a:pPr>
            <a:r>
              <a:rPr lang="ja-JP" altLang="en-US" b="1" dirty="0">
                <a:latin typeface="Meiryo UI" panose="020B0604030504040204" pitchFamily="34" charset="-128"/>
                <a:ea typeface="Meiryo UI" panose="020B0604030504040204" pitchFamily="34" charset="-128"/>
                <a:cs typeface="+mn-cs"/>
              </a:rPr>
              <a:t>その後、</a:t>
            </a:r>
            <a:r>
              <a:rPr lang="en-US" altLang="ja-JP" b="1" dirty="0">
                <a:latin typeface="Meiryo UI" panose="020B0604030504040204" pitchFamily="34" charset="-128"/>
                <a:ea typeface="Meiryo UI" panose="020B0604030504040204" pitchFamily="34" charset="-128"/>
                <a:cs typeface="+mn-cs"/>
              </a:rPr>
              <a:t>10</a:t>
            </a:r>
            <a:r>
              <a:rPr lang="ja-JP" altLang="en-US" b="1" dirty="0">
                <a:latin typeface="Meiryo UI" panose="020B0604030504040204" pitchFamily="34" charset="-128"/>
                <a:ea typeface="Meiryo UI" panose="020B0604030504040204" pitchFamily="34" charset="-128"/>
                <a:cs typeface="+mn-cs"/>
              </a:rPr>
              <a:t>月以降業務</a:t>
            </a:r>
            <a:r>
              <a:rPr lang="en-US" altLang="ja-JP" b="1" dirty="0">
                <a:latin typeface="Meiryo UI" panose="020B0604030504040204" pitchFamily="34" charset="-128"/>
                <a:ea typeface="Meiryo UI" panose="020B0604030504040204" pitchFamily="34" charset="-128"/>
                <a:cs typeface="+mn-cs"/>
              </a:rPr>
              <a:t>WG</a:t>
            </a:r>
            <a:r>
              <a:rPr lang="ja-JP" altLang="en-US" b="1" dirty="0">
                <a:latin typeface="Meiryo UI" panose="020B0604030504040204" pitchFamily="34" charset="-128"/>
                <a:ea typeface="Meiryo UI" panose="020B0604030504040204" pitchFamily="34" charset="-128"/>
                <a:cs typeface="+mn-cs"/>
              </a:rPr>
              <a:t>が</a:t>
            </a:r>
            <a:r>
              <a:rPr lang="en-US" altLang="ja-JP" b="1" dirty="0">
                <a:latin typeface="Meiryo UI" panose="020B0604030504040204" pitchFamily="34" charset="-128"/>
                <a:ea typeface="Meiryo UI" panose="020B0604030504040204" pitchFamily="34" charset="-128"/>
                <a:cs typeface="+mn-cs"/>
              </a:rPr>
              <a:t>BU</a:t>
            </a:r>
            <a:r>
              <a:rPr lang="ja-JP" altLang="en-US" b="1" dirty="0">
                <a:latin typeface="Meiryo UI" panose="020B0604030504040204" pitchFamily="34" charset="-128"/>
                <a:ea typeface="Meiryo UI" panose="020B0604030504040204" pitchFamily="34" charset="-128"/>
                <a:cs typeface="+mn-cs"/>
              </a:rPr>
              <a:t>単位で再編されたのち、各論点・課題に対する対策を順次検討しモデル化する。</a:t>
            </a:r>
            <a:endParaRPr lang="en-US" b="1" dirty="0">
              <a:latin typeface="Meiryo UI" panose="020B0604030504040204" pitchFamily="34" charset="-128"/>
              <a:ea typeface="Meiryo UI" panose="020B0604030504040204" pitchFamily="34" charset="-128"/>
              <a:cs typeface="+mn-cs"/>
            </a:endParaRPr>
          </a:p>
        </p:txBody>
      </p:sp>
      <p:sp>
        <p:nvSpPr>
          <p:cNvPr id="213" name="AutoShape 244">
            <a:extLst>
              <a:ext uri="{FF2B5EF4-FFF2-40B4-BE49-F238E27FC236}">
                <a16:creationId xmlns:a16="http://schemas.microsoft.com/office/drawing/2014/main" id="{7A40A081-3A97-4247-86A8-309F64DB58EA}"/>
              </a:ext>
            </a:extLst>
          </p:cNvPr>
          <p:cNvSpPr>
            <a:spLocks noChangeArrowheads="1"/>
          </p:cNvSpPr>
          <p:nvPr/>
        </p:nvSpPr>
        <p:spPr bwMode="auto">
          <a:xfrm>
            <a:off x="601747" y="1761702"/>
            <a:ext cx="3872092" cy="298466"/>
          </a:xfrm>
          <a:prstGeom prst="homePlate">
            <a:avLst>
              <a:gd name="adj" fmla="val 35202"/>
            </a:avLst>
          </a:prstGeom>
          <a:solidFill>
            <a:schemeClr val="bg2">
              <a:lumMod val="20000"/>
              <a:lumOff val="80000"/>
            </a:schemeClr>
          </a:solidFill>
          <a:ln w="9525" algn="ctr">
            <a:solidFill>
              <a:srgbClr val="969696"/>
            </a:solidFill>
            <a:miter lim="800000"/>
            <a:headEnd/>
            <a:tailEnd/>
          </a:ln>
          <a:effectLst/>
        </p:spPr>
        <p:txBody>
          <a:bodyPr wrap="none" lIns="90000" tIns="46800" rIns="90000" bIns="468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fontAlgn="base">
              <a:spcBef>
                <a:spcPct val="0"/>
              </a:spcBef>
              <a:spcAft>
                <a:spcPct val="0"/>
              </a:spcAft>
            </a:pPr>
            <a:r>
              <a:rPr lang="ja-JP" altLang="en-US" sz="1000" u="none">
                <a:solidFill>
                  <a:srgbClr val="000000"/>
                </a:solidFill>
                <a:latin typeface="Meiryo UI" panose="020B0604030504040204" pitchFamily="50" charset="-128"/>
                <a:ea typeface="Meiryo UI" panose="020B0604030504040204" pitchFamily="50" charset="-128"/>
              </a:rPr>
              <a:t>リファレンス用</a:t>
            </a:r>
            <a:r>
              <a:rPr lang="ja-JP" altLang="en-US" sz="1000" u="none" dirty="0">
                <a:solidFill>
                  <a:srgbClr val="000000"/>
                </a:solidFill>
                <a:latin typeface="Meiryo UI" panose="020B0604030504040204" pitchFamily="50" charset="-128"/>
                <a:ea typeface="Meiryo UI" panose="020B0604030504040204" pitchFamily="50" charset="-128"/>
              </a:rPr>
              <a:t>シナリオ選定（～</a:t>
            </a:r>
            <a:r>
              <a:rPr lang="en-US" altLang="ja-JP" sz="1000" u="none" dirty="0">
                <a:solidFill>
                  <a:srgbClr val="000000"/>
                </a:solidFill>
                <a:latin typeface="Meiryo UI" panose="020B0604030504040204" pitchFamily="50" charset="-128"/>
                <a:ea typeface="Meiryo UI" panose="020B0604030504040204" pitchFamily="50" charset="-128"/>
              </a:rPr>
              <a:t>7</a:t>
            </a:r>
            <a:r>
              <a:rPr lang="ja-JP" altLang="en-US" sz="1000" u="none" dirty="0">
                <a:solidFill>
                  <a:srgbClr val="000000"/>
                </a:solidFill>
                <a:latin typeface="Meiryo UI" panose="020B0604030504040204" pitchFamily="50" charset="-128"/>
                <a:ea typeface="Meiryo UI" panose="020B0604030504040204" pitchFamily="50" charset="-128"/>
              </a:rPr>
              <a:t>月上旬）</a:t>
            </a:r>
          </a:p>
        </p:txBody>
      </p:sp>
      <p:sp>
        <p:nvSpPr>
          <p:cNvPr id="214" name="AutoShape 243">
            <a:extLst>
              <a:ext uri="{FF2B5EF4-FFF2-40B4-BE49-F238E27FC236}">
                <a16:creationId xmlns:a16="http://schemas.microsoft.com/office/drawing/2014/main" id="{C5E36163-9BE3-4906-B633-BD977AA62753}"/>
              </a:ext>
            </a:extLst>
          </p:cNvPr>
          <p:cNvSpPr>
            <a:spLocks noChangeArrowheads="1"/>
          </p:cNvSpPr>
          <p:nvPr/>
        </p:nvSpPr>
        <p:spPr bwMode="auto">
          <a:xfrm>
            <a:off x="2299783" y="2285793"/>
            <a:ext cx="7018842" cy="298466"/>
          </a:xfrm>
          <a:prstGeom prst="homePlate">
            <a:avLst>
              <a:gd name="adj" fmla="val 23029"/>
            </a:avLst>
          </a:prstGeom>
          <a:solidFill>
            <a:schemeClr val="bg2">
              <a:lumMod val="20000"/>
              <a:lumOff val="80000"/>
            </a:schemeClr>
          </a:solidFill>
          <a:ln w="9525" algn="ctr">
            <a:solidFill>
              <a:srgbClr val="969696"/>
            </a:solidFill>
            <a:miter lim="800000"/>
            <a:headEnd/>
            <a:tailEnd/>
          </a:ln>
          <a:effectLst/>
        </p:spPr>
        <p:txBody>
          <a:bodyPr wrap="none" lIns="90000" tIns="46800" rIns="90000" bIns="468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fontAlgn="base">
              <a:spcBef>
                <a:spcPct val="0"/>
              </a:spcBef>
              <a:spcAft>
                <a:spcPct val="0"/>
              </a:spcAft>
            </a:pPr>
            <a:r>
              <a:rPr lang="ja-JP" altLang="en-US" sz="1000" u="none">
                <a:solidFill>
                  <a:srgbClr val="000000"/>
                </a:solidFill>
                <a:latin typeface="Meiryo UI" panose="020B0604030504040204" pitchFamily="50" charset="-128"/>
                <a:ea typeface="Meiryo UI" panose="020B0604030504040204" pitchFamily="50" charset="-128"/>
              </a:rPr>
              <a:t>机上</a:t>
            </a:r>
            <a:r>
              <a:rPr lang="ja-JP" altLang="en-US" sz="1000" u="none" dirty="0">
                <a:solidFill>
                  <a:srgbClr val="000000"/>
                </a:solidFill>
                <a:latin typeface="Meiryo UI" panose="020B0604030504040204" pitchFamily="50" charset="-128"/>
                <a:ea typeface="Meiryo UI" panose="020B0604030504040204" pitchFamily="50" charset="-128"/>
              </a:rPr>
              <a:t>での論点・課題整理（～</a:t>
            </a:r>
            <a:r>
              <a:rPr lang="en-US" altLang="ja-JP" sz="1000" u="none" dirty="0">
                <a:solidFill>
                  <a:srgbClr val="000000"/>
                </a:solidFill>
                <a:latin typeface="Meiryo UI" panose="020B0604030504040204" pitchFamily="50" charset="-128"/>
                <a:ea typeface="Meiryo UI" panose="020B0604030504040204" pitchFamily="50" charset="-128"/>
              </a:rPr>
              <a:t>9</a:t>
            </a:r>
            <a:r>
              <a:rPr lang="ja-JP" altLang="en-US" sz="1000" u="none" dirty="0">
                <a:solidFill>
                  <a:srgbClr val="000000"/>
                </a:solidFill>
                <a:latin typeface="Meiryo UI" panose="020B0604030504040204" pitchFamily="50" charset="-128"/>
                <a:ea typeface="Meiryo UI" panose="020B0604030504040204" pitchFamily="50" charset="-128"/>
              </a:rPr>
              <a:t>月上旬）</a:t>
            </a:r>
          </a:p>
        </p:txBody>
      </p:sp>
      <p:sp>
        <p:nvSpPr>
          <p:cNvPr id="215" name="AutoShape 242">
            <a:extLst>
              <a:ext uri="{FF2B5EF4-FFF2-40B4-BE49-F238E27FC236}">
                <a16:creationId xmlns:a16="http://schemas.microsoft.com/office/drawing/2014/main" id="{13517F84-DEDC-4689-9AF4-3D113DD2E428}"/>
              </a:ext>
            </a:extLst>
          </p:cNvPr>
          <p:cNvSpPr>
            <a:spLocks noChangeArrowheads="1"/>
          </p:cNvSpPr>
          <p:nvPr/>
        </p:nvSpPr>
        <p:spPr bwMode="auto">
          <a:xfrm>
            <a:off x="4681971" y="4715360"/>
            <a:ext cx="4636654" cy="300800"/>
          </a:xfrm>
          <a:prstGeom prst="homePlate">
            <a:avLst>
              <a:gd name="adj" fmla="val 25509"/>
            </a:avLst>
          </a:prstGeom>
          <a:solidFill>
            <a:schemeClr val="bg2">
              <a:lumMod val="20000"/>
              <a:lumOff val="80000"/>
            </a:schemeClr>
          </a:solidFill>
          <a:ln w="9525" algn="ctr">
            <a:solidFill>
              <a:srgbClr val="969696"/>
            </a:solidFill>
            <a:miter lim="800000"/>
            <a:headEnd/>
            <a:tailEnd/>
          </a:ln>
          <a:effectLst/>
        </p:spPr>
        <p:txBody>
          <a:bodyPr wrap="none" lIns="90000" tIns="46800" rIns="90000" bIns="468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fontAlgn="base">
              <a:spcBef>
                <a:spcPct val="0"/>
              </a:spcBef>
              <a:spcAft>
                <a:spcPct val="0"/>
              </a:spcAft>
            </a:pPr>
            <a:r>
              <a:rPr lang="ja-JP" altLang="en-US" sz="1000" u="none">
                <a:solidFill>
                  <a:srgbClr val="000000"/>
                </a:solidFill>
                <a:latin typeface="Meiryo UI" panose="020B0604030504040204" pitchFamily="50" charset="-128"/>
                <a:ea typeface="Meiryo UI" panose="020B0604030504040204" pitchFamily="50" charset="-128"/>
              </a:rPr>
              <a:t>リファレンスモデル</a:t>
            </a:r>
            <a:r>
              <a:rPr lang="ja-JP" altLang="en-US" sz="1000" u="none" dirty="0">
                <a:solidFill>
                  <a:srgbClr val="000000"/>
                </a:solidFill>
                <a:latin typeface="Meiryo UI" panose="020B0604030504040204" pitchFamily="50" charset="-128"/>
                <a:ea typeface="Meiryo UI" panose="020B0604030504040204" pitchFamily="50" charset="-128"/>
              </a:rPr>
              <a:t>の確立・横展開（</a:t>
            </a:r>
            <a:r>
              <a:rPr lang="en-US" altLang="ja-JP" sz="1000" u="none" dirty="0">
                <a:solidFill>
                  <a:srgbClr val="000000"/>
                </a:solidFill>
                <a:latin typeface="Meiryo UI" panose="020B0604030504040204" pitchFamily="50" charset="-128"/>
                <a:ea typeface="Meiryo UI" panose="020B0604030504040204" pitchFamily="50" charset="-128"/>
              </a:rPr>
              <a:t>10</a:t>
            </a:r>
            <a:r>
              <a:rPr lang="ja-JP" altLang="en-US" sz="1000" u="none" dirty="0">
                <a:solidFill>
                  <a:srgbClr val="000000"/>
                </a:solidFill>
                <a:latin typeface="Meiryo UI" panose="020B0604030504040204" pitchFamily="50" charset="-128"/>
                <a:ea typeface="Meiryo UI" panose="020B0604030504040204" pitchFamily="50" charset="-128"/>
              </a:rPr>
              <a:t>月～）</a:t>
            </a:r>
          </a:p>
        </p:txBody>
      </p:sp>
      <p:sp>
        <p:nvSpPr>
          <p:cNvPr id="216" name="Rectangle 14">
            <a:extLst>
              <a:ext uri="{FF2B5EF4-FFF2-40B4-BE49-F238E27FC236}">
                <a16:creationId xmlns:a16="http://schemas.microsoft.com/office/drawing/2014/main" id="{D4DCABB1-BBFF-4CCE-981B-35E6784338AE}"/>
              </a:ext>
            </a:extLst>
          </p:cNvPr>
          <p:cNvSpPr>
            <a:spLocks noChangeArrowheads="1"/>
          </p:cNvSpPr>
          <p:nvPr/>
        </p:nvSpPr>
        <p:spPr bwMode="auto">
          <a:xfrm>
            <a:off x="582637" y="2285793"/>
            <a:ext cx="1440000" cy="241980"/>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lvl1pPr marL="95250" indent="-95250">
              <a:lnSpc>
                <a:spcPct val="120000"/>
              </a:lnSpc>
              <a:spcBef>
                <a:spcPct val="20000"/>
              </a:spcBef>
              <a:spcAft>
                <a:spcPct val="20000"/>
              </a:spcAft>
              <a:buClr>
                <a:schemeClr val="accent2"/>
              </a:buClr>
              <a:buFont typeface="Wingdings" panose="05000000000000000000" pitchFamily="2" charset="2"/>
              <a:buChar char="l"/>
              <a:defRPr sz="1400">
                <a:solidFill>
                  <a:schemeClr val="tx1"/>
                </a:solidFill>
                <a:latin typeface="Times New Roman" panose="02020603050405020304" pitchFamily="18" charset="0"/>
                <a:ea typeface="ＭＳ Ｐゴシック" panose="020B0600070205080204" pitchFamily="50" charset="-128"/>
              </a:defRPr>
            </a:lvl1pPr>
            <a:lvl2pPr marL="573088" indent="-284163">
              <a:lnSpc>
                <a:spcPct val="120000"/>
              </a:lnSpc>
              <a:spcBef>
                <a:spcPct val="20000"/>
              </a:spcBef>
              <a:spcAft>
                <a:spcPct val="20000"/>
              </a:spcAft>
              <a:buClr>
                <a:srgbClr val="B2B2B2"/>
              </a:buClr>
              <a:buFont typeface="Wingdings" panose="05000000000000000000" pitchFamily="2" charset="2"/>
              <a:buChar char="u"/>
              <a:defRPr sz="1200">
                <a:solidFill>
                  <a:schemeClr val="tx1"/>
                </a:solidFill>
                <a:latin typeface="Times New Roman" panose="02020603050405020304" pitchFamily="18" charset="0"/>
                <a:ea typeface="ＭＳ Ｐゴシック" panose="020B0600070205080204" pitchFamily="50" charset="-128"/>
              </a:defRPr>
            </a:lvl2pPr>
            <a:lvl3pPr marL="857250" indent="-282575">
              <a:lnSpc>
                <a:spcPct val="120000"/>
              </a:lnSpc>
              <a:spcBef>
                <a:spcPct val="20000"/>
              </a:spcBef>
              <a:spcAft>
                <a:spcPct val="20000"/>
              </a:spcAft>
              <a:buFont typeface="Times New Roman" panose="02020603050405020304" pitchFamily="18" charset="0"/>
              <a:buChar char="○"/>
              <a:defRPr sz="1200">
                <a:solidFill>
                  <a:schemeClr val="tx1"/>
                </a:solidFill>
                <a:latin typeface="Times New Roman" panose="02020603050405020304" pitchFamily="18" charset="0"/>
                <a:ea typeface="ＭＳ Ｐゴシック" panose="020B0600070205080204" pitchFamily="50" charset="-128"/>
              </a:defRPr>
            </a:lvl3pPr>
            <a:lvl4pPr marL="1138238" indent="-27940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4pPr>
            <a:lvl5pPr marL="1425575" indent="-284163">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5pPr>
            <a:lvl6pPr marL="18827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6pPr>
            <a:lvl7pPr marL="23399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7pPr>
            <a:lvl8pPr marL="27971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8pPr>
            <a:lvl9pPr marL="32543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9pPr>
          </a:lstStyle>
          <a:p>
            <a:pPr marL="95250" marR="0" lvl="0" indent="-95250" defTabSz="914400" eaLnBrk="1" fontAlgn="base" latinLnBrk="0" hangingPunct="1">
              <a:lnSpc>
                <a:spcPct val="110000"/>
              </a:lnSpc>
              <a:spcBef>
                <a:spcPct val="15000"/>
              </a:spcBef>
              <a:spcAft>
                <a:spcPct val="15000"/>
              </a:spcAft>
              <a:buClrTx/>
              <a:buSzTx/>
              <a:buFontTx/>
              <a:buNone/>
              <a:tabLst/>
              <a:defRPr/>
            </a:pPr>
            <a:r>
              <a:rPr kumimoji="0" lang="ja-JP" altLang="en-US" sz="1000" kern="0" dirty="0">
                <a:solidFill>
                  <a:srgbClr val="FFFFFF"/>
                </a:solidFill>
                <a:latin typeface="Meiryo UI" panose="020B0604030504040204" pitchFamily="50" charset="-128"/>
                <a:ea typeface="Meiryo UI" panose="020B0604030504040204" pitchFamily="50" charset="-128"/>
              </a:rPr>
              <a:t>リファレンス選定</a:t>
            </a:r>
            <a:endParaRPr kumimoji="0" lang="ja-JP" altLang="en-US"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222" name="Rectangle 14">
            <a:extLst>
              <a:ext uri="{FF2B5EF4-FFF2-40B4-BE49-F238E27FC236}">
                <a16:creationId xmlns:a16="http://schemas.microsoft.com/office/drawing/2014/main" id="{84DB0E06-CDC0-426D-B638-97F5040944D1}"/>
              </a:ext>
            </a:extLst>
          </p:cNvPr>
          <p:cNvSpPr>
            <a:spLocks noChangeArrowheads="1"/>
          </p:cNvSpPr>
          <p:nvPr/>
        </p:nvSpPr>
        <p:spPr bwMode="auto">
          <a:xfrm>
            <a:off x="2299783" y="2623248"/>
            <a:ext cx="1440000" cy="241980"/>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lvl1pPr marL="95250" indent="-95250">
              <a:lnSpc>
                <a:spcPct val="120000"/>
              </a:lnSpc>
              <a:spcBef>
                <a:spcPct val="20000"/>
              </a:spcBef>
              <a:spcAft>
                <a:spcPct val="20000"/>
              </a:spcAft>
              <a:buClr>
                <a:schemeClr val="accent2"/>
              </a:buClr>
              <a:buFont typeface="Wingdings" panose="05000000000000000000" pitchFamily="2" charset="2"/>
              <a:buChar char="l"/>
              <a:defRPr sz="1400">
                <a:solidFill>
                  <a:schemeClr val="tx1"/>
                </a:solidFill>
                <a:latin typeface="Times New Roman" panose="02020603050405020304" pitchFamily="18" charset="0"/>
                <a:ea typeface="ＭＳ Ｐゴシック" panose="020B0600070205080204" pitchFamily="50" charset="-128"/>
              </a:defRPr>
            </a:lvl1pPr>
            <a:lvl2pPr marL="573088" indent="-284163">
              <a:lnSpc>
                <a:spcPct val="120000"/>
              </a:lnSpc>
              <a:spcBef>
                <a:spcPct val="20000"/>
              </a:spcBef>
              <a:spcAft>
                <a:spcPct val="20000"/>
              </a:spcAft>
              <a:buClr>
                <a:srgbClr val="B2B2B2"/>
              </a:buClr>
              <a:buFont typeface="Wingdings" panose="05000000000000000000" pitchFamily="2" charset="2"/>
              <a:buChar char="u"/>
              <a:defRPr sz="1200">
                <a:solidFill>
                  <a:schemeClr val="tx1"/>
                </a:solidFill>
                <a:latin typeface="Times New Roman" panose="02020603050405020304" pitchFamily="18" charset="0"/>
                <a:ea typeface="ＭＳ Ｐゴシック" panose="020B0600070205080204" pitchFamily="50" charset="-128"/>
              </a:defRPr>
            </a:lvl2pPr>
            <a:lvl3pPr marL="857250" indent="-282575">
              <a:lnSpc>
                <a:spcPct val="120000"/>
              </a:lnSpc>
              <a:spcBef>
                <a:spcPct val="20000"/>
              </a:spcBef>
              <a:spcAft>
                <a:spcPct val="20000"/>
              </a:spcAft>
              <a:buFont typeface="Times New Roman" panose="02020603050405020304" pitchFamily="18" charset="0"/>
              <a:buChar char="○"/>
              <a:defRPr sz="1200">
                <a:solidFill>
                  <a:schemeClr val="tx1"/>
                </a:solidFill>
                <a:latin typeface="Times New Roman" panose="02020603050405020304" pitchFamily="18" charset="0"/>
                <a:ea typeface="ＭＳ Ｐゴシック" panose="020B0600070205080204" pitchFamily="50" charset="-128"/>
              </a:defRPr>
            </a:lvl3pPr>
            <a:lvl4pPr marL="1138238" indent="-27940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4pPr>
            <a:lvl5pPr marL="1425575" indent="-284163">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5pPr>
            <a:lvl6pPr marL="18827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6pPr>
            <a:lvl7pPr marL="23399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7pPr>
            <a:lvl8pPr marL="27971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8pPr>
            <a:lvl9pPr marL="32543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9pPr>
          </a:lstStyle>
          <a:p>
            <a:pPr lvl="0" eaLnBrk="1" hangingPunct="1">
              <a:lnSpc>
                <a:spcPct val="110000"/>
              </a:lnSpc>
              <a:spcBef>
                <a:spcPct val="15000"/>
              </a:spcBef>
              <a:spcAft>
                <a:spcPct val="15000"/>
              </a:spcAft>
              <a:buClrTx/>
              <a:buNone/>
              <a:defRPr/>
            </a:pPr>
            <a:r>
              <a:rPr kumimoji="0" lang="ja-JP" altLang="en-US" sz="1000" kern="0" dirty="0">
                <a:solidFill>
                  <a:srgbClr val="FFFFFF"/>
                </a:solidFill>
                <a:latin typeface="Meiryo UI" panose="020B0604030504040204" pitchFamily="50" charset="-128"/>
                <a:ea typeface="Meiryo UI" panose="020B0604030504040204" pitchFamily="50" charset="-128"/>
              </a:rPr>
              <a:t>関連情報の収集・解析</a:t>
            </a:r>
            <a:endParaRPr kumimoji="0" lang="ja-JP" altLang="en-US"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grpSp>
        <p:nvGrpSpPr>
          <p:cNvPr id="223" name="グループ化 222">
            <a:extLst>
              <a:ext uri="{FF2B5EF4-FFF2-40B4-BE49-F238E27FC236}">
                <a16:creationId xmlns:a16="http://schemas.microsoft.com/office/drawing/2014/main" id="{8CE485AD-8DAE-4917-8CD4-F1E50248B7D7}"/>
              </a:ext>
            </a:extLst>
          </p:cNvPr>
          <p:cNvGrpSpPr/>
          <p:nvPr/>
        </p:nvGrpSpPr>
        <p:grpSpPr>
          <a:xfrm>
            <a:off x="2299783" y="2880476"/>
            <a:ext cx="2151865" cy="478345"/>
            <a:chOff x="2299783" y="3037019"/>
            <a:chExt cx="2151865" cy="478345"/>
          </a:xfrm>
        </p:grpSpPr>
        <p:sp>
          <p:nvSpPr>
            <p:cNvPr id="224" name="Rectangle 70">
              <a:extLst>
                <a:ext uri="{FF2B5EF4-FFF2-40B4-BE49-F238E27FC236}">
                  <a16:creationId xmlns:a16="http://schemas.microsoft.com/office/drawing/2014/main" id="{80C4D5BD-0502-41A9-A930-47671D4AE76D}"/>
                </a:ext>
              </a:extLst>
            </p:cNvPr>
            <p:cNvSpPr>
              <a:spLocks noChangeArrowheads="1"/>
            </p:cNvSpPr>
            <p:nvPr/>
          </p:nvSpPr>
          <p:spPr bwMode="auto">
            <a:xfrm>
              <a:off x="2299783"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過去検討の詳細情報</a:t>
              </a:r>
            </a:p>
          </p:txBody>
        </p:sp>
        <p:sp>
          <p:nvSpPr>
            <p:cNvPr id="225" name="Rectangle 70">
              <a:extLst>
                <a:ext uri="{FF2B5EF4-FFF2-40B4-BE49-F238E27FC236}">
                  <a16:creationId xmlns:a16="http://schemas.microsoft.com/office/drawing/2014/main" id="{5D2E29C9-D19D-4BDB-894A-00BE5CFCDA55}"/>
                </a:ext>
              </a:extLst>
            </p:cNvPr>
            <p:cNvSpPr>
              <a:spLocks noChangeArrowheads="1"/>
            </p:cNvSpPr>
            <p:nvPr/>
          </p:nvSpPr>
          <p:spPr bwMode="auto">
            <a:xfrm>
              <a:off x="2299783"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lvl="0" eaLnBrk="1" hangingPunct="1">
                <a:defRPr/>
              </a:pPr>
              <a:r>
                <a:rPr lang="ja-JP" altLang="en-US" sz="900" u="none" kern="0" dirty="0">
                  <a:solidFill>
                    <a:srgbClr val="000000"/>
                  </a:solidFill>
                  <a:latin typeface="Meiryo UI" panose="020B0604030504040204" pitchFamily="50" charset="-128"/>
                  <a:ea typeface="Meiryo UI" panose="020B0604030504040204" pitchFamily="50" charset="-128"/>
                </a:rPr>
                <a:t>「基幹業務システムの刷新構想検討」で行った検討の詳細情報を入手し解析する。</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cxnSp>
        <p:nvCxnSpPr>
          <p:cNvPr id="226" name="直線矢印コネクタ 280">
            <a:extLst>
              <a:ext uri="{FF2B5EF4-FFF2-40B4-BE49-F238E27FC236}">
                <a16:creationId xmlns:a16="http://schemas.microsoft.com/office/drawing/2014/main" id="{84EE1850-EE42-4A1A-97BD-F66382BF18C4}"/>
              </a:ext>
            </a:extLst>
          </p:cNvPr>
          <p:cNvCxnSpPr>
            <a:cxnSpLocks/>
            <a:stCxn id="216" idx="3"/>
            <a:endCxn id="222" idx="1"/>
          </p:cNvCxnSpPr>
          <p:nvPr/>
        </p:nvCxnSpPr>
        <p:spPr>
          <a:xfrm>
            <a:off x="2022637" y="2406783"/>
            <a:ext cx="277146" cy="337455"/>
          </a:xfrm>
          <a:prstGeom prst="bentConnector3">
            <a:avLst>
              <a:gd name="adj1" fmla="val 50000"/>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227" name="グループ化 226">
            <a:extLst>
              <a:ext uri="{FF2B5EF4-FFF2-40B4-BE49-F238E27FC236}">
                <a16:creationId xmlns:a16="http://schemas.microsoft.com/office/drawing/2014/main" id="{E546ACE5-1DF2-42D4-B06A-6C181C8E1EF7}"/>
              </a:ext>
            </a:extLst>
          </p:cNvPr>
          <p:cNvGrpSpPr/>
          <p:nvPr/>
        </p:nvGrpSpPr>
        <p:grpSpPr>
          <a:xfrm>
            <a:off x="4530072" y="3491139"/>
            <a:ext cx="876300" cy="749300"/>
            <a:chOff x="1988432" y="7114130"/>
            <a:chExt cx="876300" cy="749300"/>
          </a:xfrm>
        </p:grpSpPr>
        <p:sp>
          <p:nvSpPr>
            <p:cNvPr id="228" name="正方形/長方形 227">
              <a:extLst>
                <a:ext uri="{FF2B5EF4-FFF2-40B4-BE49-F238E27FC236}">
                  <a16:creationId xmlns:a16="http://schemas.microsoft.com/office/drawing/2014/main" id="{3D465BD6-484B-48CF-9496-FF5B57FB8494}"/>
                </a:ext>
              </a:extLst>
            </p:cNvPr>
            <p:cNvSpPr/>
            <p:nvPr/>
          </p:nvSpPr>
          <p:spPr>
            <a:xfrm>
              <a:off x="1988432" y="7114130"/>
              <a:ext cx="876300" cy="7493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grpSp>
          <p:nvGrpSpPr>
            <p:cNvPr id="229" name="グループ化 228">
              <a:extLst>
                <a:ext uri="{FF2B5EF4-FFF2-40B4-BE49-F238E27FC236}">
                  <a16:creationId xmlns:a16="http://schemas.microsoft.com/office/drawing/2014/main" id="{AA3EA9E0-AEE9-49EE-AE54-1193E234047A}"/>
                </a:ext>
              </a:extLst>
            </p:cNvPr>
            <p:cNvGrpSpPr/>
            <p:nvPr/>
          </p:nvGrpSpPr>
          <p:grpSpPr>
            <a:xfrm>
              <a:off x="2074559" y="7179158"/>
              <a:ext cx="704046" cy="619244"/>
              <a:chOff x="1876425" y="5055098"/>
              <a:chExt cx="704046" cy="619244"/>
            </a:xfrm>
          </p:grpSpPr>
          <p:sp>
            <p:nvSpPr>
              <p:cNvPr id="230" name="正方形/長方形 229">
                <a:extLst>
                  <a:ext uri="{FF2B5EF4-FFF2-40B4-BE49-F238E27FC236}">
                    <a16:creationId xmlns:a16="http://schemas.microsoft.com/office/drawing/2014/main" id="{70DE4019-9A81-408B-B44F-F4871F11CBE6}"/>
                  </a:ext>
                </a:extLst>
              </p:cNvPr>
              <p:cNvSpPr/>
              <p:nvPr/>
            </p:nvSpPr>
            <p:spPr>
              <a:xfrm>
                <a:off x="2033250" y="5133014"/>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indent="0" algn="ctr" defTabSz="913190" rtl="0" eaLnBrk="1" fontAlgn="auto" latinLnBrk="0" hangingPunct="1">
                  <a:lnSpc>
                    <a:spcPct val="100000"/>
                  </a:lnSpc>
                  <a:spcBef>
                    <a:spcPts val="0"/>
                  </a:spcBef>
                  <a:spcAft>
                    <a:spcPts val="0"/>
                  </a:spcAft>
                  <a:buClrTx/>
                  <a:buSzTx/>
                  <a:buFontTx/>
                  <a:buNone/>
                  <a:tabLst/>
                </a:pPr>
                <a:endParaRPr kumimoji="1" lang="ja-JP" altLang="en-US" sz="900" u="none" strike="noStrike" kern="1200" cap="none" spc="0" normalizeH="0" baseline="0" noProof="0" dirty="0">
                  <a:ln>
                    <a:noFill/>
                  </a:ln>
                  <a:solidFill>
                    <a:srgbClr val="006487">
                      <a:lumMod val="50000"/>
                    </a:srgbClr>
                  </a:solidFill>
                  <a:effectLst/>
                  <a:uLnTx/>
                  <a:uFillTx/>
                  <a:latin typeface="Meiryo UI" panose="020B0604030504040204" pitchFamily="34" charset="-128"/>
                  <a:ea typeface="Meiryo UI" panose="020B0604030504040204" pitchFamily="34" charset="-128"/>
                  <a:cs typeface="+mn-cs"/>
                </a:endParaRPr>
              </a:p>
            </p:txBody>
          </p:sp>
          <p:sp>
            <p:nvSpPr>
              <p:cNvPr id="231" name="正方形/長方形 230">
                <a:extLst>
                  <a:ext uri="{FF2B5EF4-FFF2-40B4-BE49-F238E27FC236}">
                    <a16:creationId xmlns:a16="http://schemas.microsoft.com/office/drawing/2014/main" id="{7C70143F-6A1A-474D-B22C-553D5F4D6354}"/>
                  </a:ext>
                </a:extLst>
              </p:cNvPr>
              <p:cNvSpPr/>
              <p:nvPr/>
            </p:nvSpPr>
            <p:spPr>
              <a:xfrm>
                <a:off x="1876425" y="5367895"/>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232" name="正方形/長方形 231">
                <a:extLst>
                  <a:ext uri="{FF2B5EF4-FFF2-40B4-BE49-F238E27FC236}">
                    <a16:creationId xmlns:a16="http://schemas.microsoft.com/office/drawing/2014/main" id="{0AEFFAB2-874F-4D9B-8338-7E981CBD010C}"/>
                  </a:ext>
                </a:extLst>
              </p:cNvPr>
              <p:cNvSpPr/>
              <p:nvPr/>
            </p:nvSpPr>
            <p:spPr>
              <a:xfrm>
                <a:off x="1876425" y="5561149"/>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233" name="正方形/長方形 232">
                <a:extLst>
                  <a:ext uri="{FF2B5EF4-FFF2-40B4-BE49-F238E27FC236}">
                    <a16:creationId xmlns:a16="http://schemas.microsoft.com/office/drawing/2014/main" id="{720ED7D1-247E-4B81-9F58-01D9738728E0}"/>
                  </a:ext>
                </a:extLst>
              </p:cNvPr>
              <p:cNvSpPr/>
              <p:nvPr/>
            </p:nvSpPr>
            <p:spPr>
              <a:xfrm>
                <a:off x="2181599" y="5367895"/>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234" name="正方形/長方形 233">
                <a:extLst>
                  <a:ext uri="{FF2B5EF4-FFF2-40B4-BE49-F238E27FC236}">
                    <a16:creationId xmlns:a16="http://schemas.microsoft.com/office/drawing/2014/main" id="{BB59CF17-D6D5-41C2-9A8B-8E16FC91F9EC}"/>
                  </a:ext>
                </a:extLst>
              </p:cNvPr>
              <p:cNvSpPr/>
              <p:nvPr/>
            </p:nvSpPr>
            <p:spPr>
              <a:xfrm>
                <a:off x="2373535" y="5055098"/>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sp>
            <p:nvSpPr>
              <p:cNvPr id="235" name="正方形/長方形 234">
                <a:extLst>
                  <a:ext uri="{FF2B5EF4-FFF2-40B4-BE49-F238E27FC236}">
                    <a16:creationId xmlns:a16="http://schemas.microsoft.com/office/drawing/2014/main" id="{3EC63AD7-470C-4191-913D-C8487CE40713}"/>
                  </a:ext>
                </a:extLst>
              </p:cNvPr>
              <p:cNvSpPr/>
              <p:nvPr/>
            </p:nvSpPr>
            <p:spPr>
              <a:xfrm>
                <a:off x="2184441" y="5561149"/>
                <a:ext cx="206936" cy="11319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190"/>
                <a:endParaRPr lang="ja-JP" altLang="en-US" sz="900" dirty="0">
                  <a:solidFill>
                    <a:srgbClr val="006487">
                      <a:lumMod val="50000"/>
                    </a:srgbClr>
                  </a:solidFill>
                  <a:latin typeface="Meiryo UI" panose="020B0604030504040204" pitchFamily="34" charset="-128"/>
                  <a:ea typeface="Meiryo UI" panose="020B0604030504040204" pitchFamily="34" charset="-128"/>
                </a:endParaRPr>
              </a:p>
            </p:txBody>
          </p:sp>
          <p:cxnSp>
            <p:nvCxnSpPr>
              <p:cNvPr id="236" name="直線コネクタ 28">
                <a:extLst>
                  <a:ext uri="{FF2B5EF4-FFF2-40B4-BE49-F238E27FC236}">
                    <a16:creationId xmlns:a16="http://schemas.microsoft.com/office/drawing/2014/main" id="{589DC4B8-A4E0-428B-9AE7-54824628D449}"/>
                  </a:ext>
                </a:extLst>
              </p:cNvPr>
              <p:cNvCxnSpPr>
                <a:stCxn id="230" idx="2"/>
                <a:endCxn id="231" idx="0"/>
              </p:cNvCxnSpPr>
              <p:nvPr/>
            </p:nvCxnSpPr>
            <p:spPr>
              <a:xfrm rot="5400000">
                <a:off x="1997462" y="5228639"/>
                <a:ext cx="121688" cy="156825"/>
              </a:xfrm>
              <a:prstGeom prst="bentConnector3">
                <a:avLst>
                  <a:gd name="adj1" fmla="val 50000"/>
                </a:avLst>
              </a:prstGeom>
              <a:solidFill>
                <a:schemeClr val="bg1"/>
              </a:solidFill>
              <a:ln w="63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237" name="直線コネクタ 28">
                <a:extLst>
                  <a:ext uri="{FF2B5EF4-FFF2-40B4-BE49-F238E27FC236}">
                    <a16:creationId xmlns:a16="http://schemas.microsoft.com/office/drawing/2014/main" id="{099F7750-073E-455D-A4FF-834BE5EEE50F}"/>
                  </a:ext>
                </a:extLst>
              </p:cNvPr>
              <p:cNvCxnSpPr>
                <a:stCxn id="230" idx="2"/>
                <a:endCxn id="233" idx="0"/>
              </p:cNvCxnSpPr>
              <p:nvPr/>
            </p:nvCxnSpPr>
            <p:spPr>
              <a:xfrm rot="16200000" flipH="1">
                <a:off x="2150048" y="5232876"/>
                <a:ext cx="121688" cy="148349"/>
              </a:xfrm>
              <a:prstGeom prst="bentConnector3">
                <a:avLst>
                  <a:gd name="adj1" fmla="val 50000"/>
                </a:avLst>
              </a:prstGeom>
              <a:solidFill>
                <a:schemeClr val="bg1"/>
              </a:solidFill>
              <a:ln w="635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238" name="直線コネクタ 28">
                <a:extLst>
                  <a:ext uri="{FF2B5EF4-FFF2-40B4-BE49-F238E27FC236}">
                    <a16:creationId xmlns:a16="http://schemas.microsoft.com/office/drawing/2014/main" id="{36DCDBA3-552B-4301-A968-63BD1D9D23BF}"/>
                  </a:ext>
                </a:extLst>
              </p:cNvPr>
              <p:cNvCxnSpPr>
                <a:stCxn id="234" idx="2"/>
                <a:endCxn id="233" idx="3"/>
              </p:cNvCxnSpPr>
              <p:nvPr/>
            </p:nvCxnSpPr>
            <p:spPr>
              <a:xfrm rot="5400000">
                <a:off x="2304669" y="5252157"/>
                <a:ext cx="256201" cy="88468"/>
              </a:xfrm>
              <a:prstGeom prst="bentConnector2">
                <a:avLst/>
              </a:prstGeom>
              <a:solidFill>
                <a:schemeClr val="bg1"/>
              </a:solidFill>
              <a:ln w="63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239" name="直線コネクタ 28">
                <a:extLst>
                  <a:ext uri="{FF2B5EF4-FFF2-40B4-BE49-F238E27FC236}">
                    <a16:creationId xmlns:a16="http://schemas.microsoft.com/office/drawing/2014/main" id="{6209569B-91E6-4C47-9640-781A9F8BAD45}"/>
                  </a:ext>
                </a:extLst>
              </p:cNvPr>
              <p:cNvCxnSpPr>
                <a:stCxn id="233" idx="2"/>
                <a:endCxn id="235" idx="0"/>
              </p:cNvCxnSpPr>
              <p:nvPr/>
            </p:nvCxnSpPr>
            <p:spPr>
              <a:xfrm>
                <a:off x="2285067" y="5481088"/>
                <a:ext cx="2842" cy="80061"/>
              </a:xfrm>
              <a:prstGeom prst="straightConnector1">
                <a:avLst/>
              </a:prstGeom>
              <a:solidFill>
                <a:schemeClr val="bg1"/>
              </a:solidFill>
              <a:ln w="635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240" name="直線コネクタ 28">
                <a:extLst>
                  <a:ext uri="{FF2B5EF4-FFF2-40B4-BE49-F238E27FC236}">
                    <a16:creationId xmlns:a16="http://schemas.microsoft.com/office/drawing/2014/main" id="{FA8633FE-0150-4AFC-96FF-11F27786EFC2}"/>
                  </a:ext>
                </a:extLst>
              </p:cNvPr>
              <p:cNvCxnSpPr>
                <a:stCxn id="231" idx="2"/>
                <a:endCxn id="232" idx="0"/>
              </p:cNvCxnSpPr>
              <p:nvPr/>
            </p:nvCxnSpPr>
            <p:spPr>
              <a:xfrm>
                <a:off x="1979893" y="5481088"/>
                <a:ext cx="0" cy="80061"/>
              </a:xfrm>
              <a:prstGeom prst="straightConnector1">
                <a:avLst/>
              </a:prstGeom>
              <a:solidFill>
                <a:schemeClr val="bg1"/>
              </a:solidFill>
              <a:ln w="635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245" name="グループ化 244">
            <a:extLst>
              <a:ext uri="{FF2B5EF4-FFF2-40B4-BE49-F238E27FC236}">
                <a16:creationId xmlns:a16="http://schemas.microsoft.com/office/drawing/2014/main" id="{AD6B7001-BD2F-4F0E-B97D-9DB0E314D14E}"/>
              </a:ext>
            </a:extLst>
          </p:cNvPr>
          <p:cNvGrpSpPr/>
          <p:nvPr/>
        </p:nvGrpSpPr>
        <p:grpSpPr>
          <a:xfrm>
            <a:off x="6676392" y="2880476"/>
            <a:ext cx="2642231" cy="478345"/>
            <a:chOff x="6980182" y="3037019"/>
            <a:chExt cx="2642231" cy="478345"/>
          </a:xfrm>
        </p:grpSpPr>
        <p:sp>
          <p:nvSpPr>
            <p:cNvPr id="246" name="Rectangle 70">
              <a:extLst>
                <a:ext uri="{FF2B5EF4-FFF2-40B4-BE49-F238E27FC236}">
                  <a16:creationId xmlns:a16="http://schemas.microsoft.com/office/drawing/2014/main" id="{E9B56D8C-463F-45AB-930D-38BD071905F2}"/>
                </a:ext>
              </a:extLst>
            </p:cNvPr>
            <p:cNvSpPr>
              <a:spLocks noChangeArrowheads="1"/>
            </p:cNvSpPr>
            <p:nvPr/>
          </p:nvSpPr>
          <p:spPr bwMode="auto">
            <a:xfrm>
              <a:off x="6980182" y="3037019"/>
              <a:ext cx="2642231"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1000" b="1" kern="0" dirty="0">
                  <a:solidFill>
                    <a:srgbClr val="000000"/>
                  </a:solidFill>
                  <a:latin typeface="Meiryo UI" panose="020B0604030504040204" pitchFamily="50" charset="-128"/>
                  <a:ea typeface="Meiryo UI" panose="020B0604030504040204" pitchFamily="50" charset="-128"/>
                </a:rPr>
                <a:t>3</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.To</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Be</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ユースケースとの論点・課題の導出</a:t>
              </a:r>
            </a:p>
          </p:txBody>
        </p:sp>
        <p:sp>
          <p:nvSpPr>
            <p:cNvPr id="247" name="Rectangle 70">
              <a:extLst>
                <a:ext uri="{FF2B5EF4-FFF2-40B4-BE49-F238E27FC236}">
                  <a16:creationId xmlns:a16="http://schemas.microsoft.com/office/drawing/2014/main" id="{2351792D-C683-4D9A-AB91-4A8E0A37D168}"/>
                </a:ext>
              </a:extLst>
            </p:cNvPr>
            <p:cNvSpPr>
              <a:spLocks noChangeArrowheads="1"/>
            </p:cNvSpPr>
            <p:nvPr/>
          </p:nvSpPr>
          <p:spPr bwMode="auto">
            <a:xfrm>
              <a:off x="6980183" y="3226439"/>
              <a:ext cx="2496000"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900" u="none" kern="0" dirty="0">
                  <a:solidFill>
                    <a:srgbClr val="000000"/>
                  </a:solidFill>
                  <a:latin typeface="Meiryo UI" panose="020B0604030504040204" pitchFamily="50" charset="-128"/>
                  <a:ea typeface="Meiryo UI" panose="020B0604030504040204" pitchFamily="50" charset="-128"/>
                </a:rPr>
                <a:t>1</a:t>
              </a:r>
              <a:r>
                <a:rPr lang="ja-JP" altLang="en-US" sz="900" u="none" kern="0" dirty="0">
                  <a:solidFill>
                    <a:srgbClr val="000000"/>
                  </a:solidFill>
                  <a:latin typeface="Meiryo UI" panose="020B0604030504040204" pitchFamily="50" charset="-128"/>
                  <a:ea typeface="Meiryo UI" panose="020B0604030504040204" pitchFamily="50" charset="-128"/>
                </a:rPr>
                <a:t>で得られた情報から</a:t>
              </a:r>
              <a:r>
                <a:rPr lang="en-US" altLang="ja-JP" sz="900" u="none" kern="0" dirty="0">
                  <a:solidFill>
                    <a:srgbClr val="000000"/>
                  </a:solidFill>
                  <a:latin typeface="Meiryo UI" panose="020B0604030504040204" pitchFamily="50" charset="-128"/>
                  <a:ea typeface="Meiryo UI" panose="020B0604030504040204" pitchFamily="50" charset="-128"/>
                </a:rPr>
                <a:t>To</a:t>
              </a:r>
              <a:r>
                <a:rPr lang="ja-JP" altLang="en-US" sz="900" u="none" kern="0" dirty="0">
                  <a:solidFill>
                    <a:srgbClr val="000000"/>
                  </a:solidFill>
                  <a:latin typeface="Meiryo UI" panose="020B0604030504040204" pitchFamily="50" charset="-128"/>
                  <a:ea typeface="Meiryo UI" panose="020B0604030504040204" pitchFamily="50" charset="-128"/>
                </a:rPr>
                <a:t> </a:t>
              </a:r>
              <a:r>
                <a:rPr lang="en-US" altLang="ja-JP" sz="900" u="none" kern="0" dirty="0">
                  <a:solidFill>
                    <a:srgbClr val="000000"/>
                  </a:solidFill>
                  <a:latin typeface="Meiryo UI" panose="020B0604030504040204" pitchFamily="50" charset="-128"/>
                  <a:ea typeface="Meiryo UI" panose="020B0604030504040204" pitchFamily="50" charset="-128"/>
                </a:rPr>
                <a:t>Be</a:t>
              </a:r>
              <a:r>
                <a:rPr lang="ja-JP" altLang="en-US" sz="900" u="none" kern="0" dirty="0">
                  <a:solidFill>
                    <a:srgbClr val="000000"/>
                  </a:solidFill>
                  <a:latin typeface="Meiryo UI" panose="020B0604030504040204" pitchFamily="50" charset="-128"/>
                  <a:ea typeface="Meiryo UI" panose="020B0604030504040204" pitchFamily="50" charset="-128"/>
                </a:rPr>
                <a:t>のユースケースを整理し、</a:t>
              </a:r>
              <a:r>
                <a:rPr lang="en-US" altLang="ja-JP" sz="900" u="none" kern="0" dirty="0">
                  <a:solidFill>
                    <a:srgbClr val="000000"/>
                  </a:solidFill>
                  <a:latin typeface="Meiryo UI" panose="020B0604030504040204" pitchFamily="50" charset="-128"/>
                  <a:ea typeface="Meiryo UI" panose="020B0604030504040204" pitchFamily="50" charset="-128"/>
                </a:rPr>
                <a:t>2</a:t>
              </a:r>
              <a:r>
                <a:rPr lang="ja-JP" altLang="en-US" sz="900" u="none" kern="0" dirty="0">
                  <a:solidFill>
                    <a:srgbClr val="000000"/>
                  </a:solidFill>
                  <a:latin typeface="Meiryo UI" panose="020B0604030504040204" pitchFamily="50" charset="-128"/>
                  <a:ea typeface="Meiryo UI" panose="020B0604030504040204" pitchFamily="50" charset="-128"/>
                </a:rPr>
                <a:t>で得られた現状とのギャップや不明点を整理する。</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248" name="グループ化 247">
            <a:extLst>
              <a:ext uri="{FF2B5EF4-FFF2-40B4-BE49-F238E27FC236}">
                <a16:creationId xmlns:a16="http://schemas.microsoft.com/office/drawing/2014/main" id="{5ADB24D6-8B9A-4151-94DA-2ED41034EA24}"/>
              </a:ext>
            </a:extLst>
          </p:cNvPr>
          <p:cNvGrpSpPr/>
          <p:nvPr/>
        </p:nvGrpSpPr>
        <p:grpSpPr>
          <a:xfrm>
            <a:off x="4372927" y="2889903"/>
            <a:ext cx="2151865" cy="468918"/>
            <a:chOff x="4533010" y="3046446"/>
            <a:chExt cx="2151865" cy="468918"/>
          </a:xfrm>
        </p:grpSpPr>
        <p:sp>
          <p:nvSpPr>
            <p:cNvPr id="249" name="Rectangle 70">
              <a:extLst>
                <a:ext uri="{FF2B5EF4-FFF2-40B4-BE49-F238E27FC236}">
                  <a16:creationId xmlns:a16="http://schemas.microsoft.com/office/drawing/2014/main" id="{6A8B850E-3FD5-475D-8AB4-CEE776D0C2A8}"/>
                </a:ext>
              </a:extLst>
            </p:cNvPr>
            <p:cNvSpPr>
              <a:spLocks noChangeArrowheads="1"/>
            </p:cNvSpPr>
            <p:nvPr/>
          </p:nvSpPr>
          <p:spPr bwMode="auto">
            <a:xfrm>
              <a:off x="4533010" y="3046446"/>
              <a:ext cx="2073010"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2.</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関連システム仕様・定義書の解析</a:t>
              </a:r>
            </a:p>
          </p:txBody>
        </p:sp>
        <p:sp>
          <p:nvSpPr>
            <p:cNvPr id="250" name="Rectangle 70">
              <a:extLst>
                <a:ext uri="{FF2B5EF4-FFF2-40B4-BE49-F238E27FC236}">
                  <a16:creationId xmlns:a16="http://schemas.microsoft.com/office/drawing/2014/main" id="{02D90DA6-C927-4A49-88C9-544FF25D0A27}"/>
                </a:ext>
              </a:extLst>
            </p:cNvPr>
            <p:cNvSpPr>
              <a:spLocks noChangeArrowheads="1"/>
            </p:cNvSpPr>
            <p:nvPr/>
          </p:nvSpPr>
          <p:spPr bwMode="auto">
            <a:xfrm>
              <a:off x="4533010"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ja-JP" altLang="en-US" sz="900" u="none" kern="0" dirty="0">
                  <a:solidFill>
                    <a:srgbClr val="000000"/>
                  </a:solidFill>
                  <a:latin typeface="Meiryo UI" panose="020B0604030504040204" pitchFamily="50" charset="-128"/>
                  <a:ea typeface="Meiryo UI" panose="020B0604030504040204" pitchFamily="50" charset="-128"/>
                </a:rPr>
                <a:t>拠点や</a:t>
              </a:r>
              <a:r>
                <a:rPr lang="en-US" altLang="ja-JP" sz="900" u="none" kern="0" dirty="0">
                  <a:solidFill>
                    <a:srgbClr val="000000"/>
                  </a:solidFill>
                  <a:latin typeface="Meiryo UI" panose="020B0604030504040204" pitchFamily="50" charset="-128"/>
                  <a:ea typeface="Meiryo UI" panose="020B0604030504040204" pitchFamily="50" charset="-128"/>
                </a:rPr>
                <a:t>IT</a:t>
              </a:r>
              <a:r>
                <a:rPr lang="ja-JP" altLang="en-US" sz="900" u="none" kern="0" dirty="0">
                  <a:solidFill>
                    <a:srgbClr val="000000"/>
                  </a:solidFill>
                  <a:latin typeface="Meiryo UI" panose="020B0604030504040204" pitchFamily="50" charset="-128"/>
                  <a:ea typeface="Meiryo UI" panose="020B0604030504040204" pitchFamily="50" charset="-128"/>
                </a:rPr>
                <a:t>側が保有する現行（最新でなくてもよい）仕様書・定義書を解析する。</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sp>
        <p:nvSpPr>
          <p:cNvPr id="274" name="Rectangle 14">
            <a:extLst>
              <a:ext uri="{FF2B5EF4-FFF2-40B4-BE49-F238E27FC236}">
                <a16:creationId xmlns:a16="http://schemas.microsoft.com/office/drawing/2014/main" id="{E0694384-1308-4B38-AB13-E077E16B78F6}"/>
              </a:ext>
            </a:extLst>
          </p:cNvPr>
          <p:cNvSpPr>
            <a:spLocks noChangeArrowheads="1"/>
          </p:cNvSpPr>
          <p:nvPr/>
        </p:nvSpPr>
        <p:spPr bwMode="auto">
          <a:xfrm>
            <a:off x="4683286" y="5049098"/>
            <a:ext cx="1803873" cy="241980"/>
          </a:xfrm>
          <a:prstGeom prst="rect">
            <a:avLst/>
          </a:prstGeom>
          <a:solidFill>
            <a:srgbClr val="9999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oAutofit/>
          </a:bodyPr>
          <a:lstStyle>
            <a:lvl1pPr marL="95250" indent="-95250">
              <a:lnSpc>
                <a:spcPct val="120000"/>
              </a:lnSpc>
              <a:spcBef>
                <a:spcPct val="20000"/>
              </a:spcBef>
              <a:spcAft>
                <a:spcPct val="20000"/>
              </a:spcAft>
              <a:buClr>
                <a:schemeClr val="accent2"/>
              </a:buClr>
              <a:buFont typeface="Wingdings" panose="05000000000000000000" pitchFamily="2" charset="2"/>
              <a:buChar char="l"/>
              <a:defRPr sz="1400">
                <a:solidFill>
                  <a:schemeClr val="tx1"/>
                </a:solidFill>
                <a:latin typeface="Times New Roman" panose="02020603050405020304" pitchFamily="18" charset="0"/>
                <a:ea typeface="ＭＳ Ｐゴシック" panose="020B0600070205080204" pitchFamily="50" charset="-128"/>
              </a:defRPr>
            </a:lvl1pPr>
            <a:lvl2pPr marL="573088" indent="-284163">
              <a:lnSpc>
                <a:spcPct val="120000"/>
              </a:lnSpc>
              <a:spcBef>
                <a:spcPct val="20000"/>
              </a:spcBef>
              <a:spcAft>
                <a:spcPct val="20000"/>
              </a:spcAft>
              <a:buClr>
                <a:srgbClr val="B2B2B2"/>
              </a:buClr>
              <a:buFont typeface="Wingdings" panose="05000000000000000000" pitchFamily="2" charset="2"/>
              <a:buChar char="u"/>
              <a:defRPr sz="1200">
                <a:solidFill>
                  <a:schemeClr val="tx1"/>
                </a:solidFill>
                <a:latin typeface="Times New Roman" panose="02020603050405020304" pitchFamily="18" charset="0"/>
                <a:ea typeface="ＭＳ Ｐゴシック" panose="020B0600070205080204" pitchFamily="50" charset="-128"/>
              </a:defRPr>
            </a:lvl2pPr>
            <a:lvl3pPr marL="857250" indent="-282575">
              <a:lnSpc>
                <a:spcPct val="120000"/>
              </a:lnSpc>
              <a:spcBef>
                <a:spcPct val="20000"/>
              </a:spcBef>
              <a:spcAft>
                <a:spcPct val="20000"/>
              </a:spcAft>
              <a:buFont typeface="Times New Roman" panose="02020603050405020304" pitchFamily="18" charset="0"/>
              <a:buChar char="○"/>
              <a:defRPr sz="1200">
                <a:solidFill>
                  <a:schemeClr val="tx1"/>
                </a:solidFill>
                <a:latin typeface="Times New Roman" panose="02020603050405020304" pitchFamily="18" charset="0"/>
                <a:ea typeface="ＭＳ Ｐゴシック" panose="020B0600070205080204" pitchFamily="50" charset="-128"/>
              </a:defRPr>
            </a:lvl3pPr>
            <a:lvl4pPr marL="1138238" indent="-27940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4pPr>
            <a:lvl5pPr marL="1425575" indent="-284163">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5pPr>
            <a:lvl6pPr marL="18827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6pPr>
            <a:lvl7pPr marL="23399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7pPr>
            <a:lvl8pPr marL="27971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8pPr>
            <a:lvl9pPr marL="3254375" indent="-284163" eaLnBrk="0" fontAlgn="base" hangingPunct="0">
              <a:lnSpc>
                <a:spcPct val="120000"/>
              </a:lnSpc>
              <a:spcBef>
                <a:spcPct val="20000"/>
              </a:spcBef>
              <a:spcAft>
                <a:spcPct val="20000"/>
              </a:spcAft>
              <a:buChar char="•"/>
              <a:defRPr sz="1200">
                <a:solidFill>
                  <a:schemeClr val="tx1"/>
                </a:solidFill>
                <a:latin typeface="Times New Roman" panose="02020603050405020304" pitchFamily="18" charset="0"/>
                <a:ea typeface="ＭＳ Ｐゴシック" panose="020B0600070205080204" pitchFamily="50" charset="-128"/>
              </a:defRPr>
            </a:lvl9pPr>
          </a:lstStyle>
          <a:p>
            <a:pPr lvl="0" eaLnBrk="1" hangingPunct="1">
              <a:lnSpc>
                <a:spcPct val="110000"/>
              </a:lnSpc>
              <a:spcBef>
                <a:spcPct val="15000"/>
              </a:spcBef>
              <a:spcAft>
                <a:spcPct val="15000"/>
              </a:spcAft>
              <a:buClrTx/>
              <a:buNone/>
              <a:defRPr/>
            </a:pPr>
            <a:r>
              <a:rPr kumimoji="0" lang="ja-JP" altLang="en-US" sz="1000" kern="0" dirty="0">
                <a:solidFill>
                  <a:srgbClr val="FFFFFF"/>
                </a:solidFill>
                <a:latin typeface="Meiryo UI" panose="020B0604030504040204" pitchFamily="50" charset="-128"/>
                <a:ea typeface="Meiryo UI" panose="020B0604030504040204" pitchFamily="50" charset="-128"/>
              </a:rPr>
              <a:t>リファレンスモデルと確立</a:t>
            </a:r>
            <a:endParaRPr kumimoji="0" lang="ja-JP" altLang="en-US"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grpSp>
        <p:nvGrpSpPr>
          <p:cNvPr id="275" name="グループ化 274">
            <a:extLst>
              <a:ext uri="{FF2B5EF4-FFF2-40B4-BE49-F238E27FC236}">
                <a16:creationId xmlns:a16="http://schemas.microsoft.com/office/drawing/2014/main" id="{49801376-D35B-4019-8552-C43DC82A542E}"/>
              </a:ext>
            </a:extLst>
          </p:cNvPr>
          <p:cNvGrpSpPr/>
          <p:nvPr/>
        </p:nvGrpSpPr>
        <p:grpSpPr>
          <a:xfrm>
            <a:off x="4681971" y="5274758"/>
            <a:ext cx="2151865" cy="478345"/>
            <a:chOff x="4533010" y="3037019"/>
            <a:chExt cx="2151865" cy="478345"/>
          </a:xfrm>
        </p:grpSpPr>
        <p:sp>
          <p:nvSpPr>
            <p:cNvPr id="276" name="Rectangle 70">
              <a:extLst>
                <a:ext uri="{FF2B5EF4-FFF2-40B4-BE49-F238E27FC236}">
                  <a16:creationId xmlns:a16="http://schemas.microsoft.com/office/drawing/2014/main" id="{8D64465B-99D5-4C9D-ABDA-2C648EBA1C13}"/>
                </a:ext>
              </a:extLst>
            </p:cNvPr>
            <p:cNvSpPr>
              <a:spLocks noChangeArrowheads="1"/>
            </p:cNvSpPr>
            <p:nvPr/>
          </p:nvSpPr>
          <p:spPr bwMode="auto">
            <a:xfrm>
              <a:off x="4533010"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論点・課題の対策検討</a:t>
              </a:r>
            </a:p>
          </p:txBody>
        </p:sp>
        <p:sp>
          <p:nvSpPr>
            <p:cNvPr id="277" name="Rectangle 70">
              <a:extLst>
                <a:ext uri="{FF2B5EF4-FFF2-40B4-BE49-F238E27FC236}">
                  <a16:creationId xmlns:a16="http://schemas.microsoft.com/office/drawing/2014/main" id="{89D32F1E-84D9-4C90-BDC6-1EF17546DE36}"/>
                </a:ext>
              </a:extLst>
            </p:cNvPr>
            <p:cNvSpPr>
              <a:spLocks noChangeArrowheads="1"/>
            </p:cNvSpPr>
            <p:nvPr/>
          </p:nvSpPr>
          <p:spPr bwMode="auto">
            <a:xfrm>
              <a:off x="4533010"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ja-JP" altLang="en-US" sz="900" u="none" kern="0" dirty="0">
                  <a:solidFill>
                    <a:srgbClr val="000000"/>
                  </a:solidFill>
                  <a:latin typeface="Meiryo UI" panose="020B0604030504040204" pitchFamily="50" charset="-128"/>
                  <a:ea typeface="Meiryo UI" panose="020B0604030504040204" pitchFamily="50" charset="-128"/>
                </a:rPr>
                <a:t>再編された業務</a:t>
              </a:r>
              <a:r>
                <a:rPr lang="en-US" altLang="ja-JP" sz="900" u="none" kern="0" dirty="0">
                  <a:solidFill>
                    <a:srgbClr val="000000"/>
                  </a:solidFill>
                  <a:latin typeface="Meiryo UI" panose="020B0604030504040204" pitchFamily="50" charset="-128"/>
                  <a:ea typeface="Meiryo UI" panose="020B0604030504040204" pitchFamily="50" charset="-128"/>
                </a:rPr>
                <a:t>WG</a:t>
              </a:r>
              <a:r>
                <a:rPr lang="ja-JP" altLang="en-US" sz="900" u="none" kern="0" dirty="0">
                  <a:solidFill>
                    <a:srgbClr val="000000"/>
                  </a:solidFill>
                  <a:latin typeface="Meiryo UI" panose="020B0604030504040204" pitchFamily="50" charset="-128"/>
                  <a:ea typeface="Meiryo UI" panose="020B0604030504040204" pitchFamily="50" charset="-128"/>
                </a:rPr>
                <a:t>と協業のうえ、</a:t>
              </a:r>
              <a:r>
                <a:rPr lang="en-US" altLang="ja-JP" sz="900" u="none" kern="0" dirty="0">
                  <a:solidFill>
                    <a:srgbClr val="000000"/>
                  </a:solidFill>
                  <a:latin typeface="Meiryo UI" panose="020B0604030504040204" pitchFamily="50" charset="-128"/>
                  <a:ea typeface="Meiryo UI" panose="020B0604030504040204" pitchFamily="50" charset="-128"/>
                </a:rPr>
                <a:t>DM</a:t>
              </a:r>
              <a:r>
                <a:rPr lang="ja-JP" altLang="en-US" sz="900" u="none" kern="0" dirty="0">
                  <a:solidFill>
                    <a:srgbClr val="000000"/>
                  </a:solidFill>
                  <a:latin typeface="Meiryo UI" panose="020B0604030504040204" pitchFamily="50" charset="-128"/>
                  <a:ea typeface="Meiryo UI" panose="020B0604030504040204" pitchFamily="50" charset="-128"/>
                </a:rPr>
                <a:t>の</a:t>
              </a:r>
              <a:br>
                <a:rPr lang="en-US" altLang="ja-JP" sz="900" u="none" kern="0" dirty="0">
                  <a:solidFill>
                    <a:srgbClr val="000000"/>
                  </a:solidFill>
                  <a:latin typeface="Meiryo UI" panose="020B0604030504040204" pitchFamily="50" charset="-128"/>
                  <a:ea typeface="Meiryo UI" panose="020B0604030504040204" pitchFamily="50" charset="-128"/>
                </a:rPr>
              </a:br>
              <a:r>
                <a:rPr lang="ja-JP" altLang="en-US" sz="900" u="none" kern="0" dirty="0">
                  <a:solidFill>
                    <a:srgbClr val="000000"/>
                  </a:solidFill>
                  <a:latin typeface="Meiryo UI" panose="020B0604030504040204" pitchFamily="50" charset="-128"/>
                  <a:ea typeface="Meiryo UI" panose="020B0604030504040204" pitchFamily="50" charset="-128"/>
                </a:rPr>
                <a:t>観点で導出された論点・課題にフォーカスし深堀したうえで、その対策を取りまとめる。</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283" name="グループ化 282">
            <a:extLst>
              <a:ext uri="{FF2B5EF4-FFF2-40B4-BE49-F238E27FC236}">
                <a16:creationId xmlns:a16="http://schemas.microsoft.com/office/drawing/2014/main" id="{521CDBCE-D5BD-46DF-AFEB-E3CC9C724DF9}"/>
              </a:ext>
            </a:extLst>
          </p:cNvPr>
          <p:cNvGrpSpPr/>
          <p:nvPr/>
        </p:nvGrpSpPr>
        <p:grpSpPr>
          <a:xfrm>
            <a:off x="7020528" y="5274758"/>
            <a:ext cx="2151865" cy="478345"/>
            <a:chOff x="4533010" y="3037019"/>
            <a:chExt cx="2151865" cy="478345"/>
          </a:xfrm>
        </p:grpSpPr>
        <p:sp>
          <p:nvSpPr>
            <p:cNvPr id="284" name="Rectangle 70">
              <a:extLst>
                <a:ext uri="{FF2B5EF4-FFF2-40B4-BE49-F238E27FC236}">
                  <a16:creationId xmlns:a16="http://schemas.microsoft.com/office/drawing/2014/main" id="{9CEA0570-566A-4472-AD05-2DF511C26BE8}"/>
                </a:ext>
              </a:extLst>
            </p:cNvPr>
            <p:cNvSpPr>
              <a:spLocks noChangeArrowheads="1"/>
            </p:cNvSpPr>
            <p:nvPr/>
          </p:nvSpPr>
          <p:spPr bwMode="auto">
            <a:xfrm>
              <a:off x="4533010"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en-US" altLang="ja-JP" sz="1000" b="1" kern="0" dirty="0">
                  <a:solidFill>
                    <a:srgbClr val="000000"/>
                  </a:solidFill>
                  <a:latin typeface="Meiryo UI" panose="020B0604030504040204" pitchFamily="50" charset="-128"/>
                  <a:ea typeface="Meiryo UI" panose="020B0604030504040204" pitchFamily="50" charset="-128"/>
                </a:rPr>
                <a:t>2</a:t>
              </a: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リファレンスモデルの確立</a:t>
              </a:r>
            </a:p>
          </p:txBody>
        </p:sp>
        <p:sp>
          <p:nvSpPr>
            <p:cNvPr id="285" name="Rectangle 70">
              <a:extLst>
                <a:ext uri="{FF2B5EF4-FFF2-40B4-BE49-F238E27FC236}">
                  <a16:creationId xmlns:a16="http://schemas.microsoft.com/office/drawing/2014/main" id="{F753424E-944C-4BFA-97D3-CFA55FA0DDA0}"/>
                </a:ext>
              </a:extLst>
            </p:cNvPr>
            <p:cNvSpPr>
              <a:spLocks noChangeArrowheads="1"/>
            </p:cNvSpPr>
            <p:nvPr/>
          </p:nvSpPr>
          <p:spPr bwMode="auto">
            <a:xfrm>
              <a:off x="4533010"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lang="ja-JP" altLang="en-US" sz="900" u="none" kern="0" dirty="0">
                  <a:solidFill>
                    <a:srgbClr val="000000"/>
                  </a:solidFill>
                  <a:latin typeface="Meiryo UI" panose="020B0604030504040204" pitchFamily="50" charset="-128"/>
                  <a:ea typeface="Meiryo UI" panose="020B0604030504040204" pitchFamily="50" charset="-128"/>
                </a:rPr>
                <a:t>検証の結果で得られたデータフロー・データ定義や、メタデータ管理・マスタデータ管理、データスチュワードシップ（マインドセット）等の在り方をモデル化し、さらに別のプロセスや課題に横展開する。</a:t>
              </a:r>
              <a:endParaRPr lang="en-US" altLang="ja-JP" sz="900" u="none" kern="0" dirty="0">
                <a:solidFill>
                  <a:srgbClr val="000000"/>
                </a:solidFill>
                <a:latin typeface="Meiryo UI" panose="020B0604030504040204" pitchFamily="50" charset="-128"/>
                <a:ea typeface="Meiryo UI" panose="020B0604030504040204" pitchFamily="50" charset="-128"/>
              </a:endParaRPr>
            </a:p>
          </p:txBody>
        </p:sp>
      </p:grpSp>
      <p:grpSp>
        <p:nvGrpSpPr>
          <p:cNvPr id="300" name="グループ化 299">
            <a:extLst>
              <a:ext uri="{FF2B5EF4-FFF2-40B4-BE49-F238E27FC236}">
                <a16:creationId xmlns:a16="http://schemas.microsoft.com/office/drawing/2014/main" id="{8E2328BB-C752-40B0-8B6B-D86315310414}"/>
              </a:ext>
            </a:extLst>
          </p:cNvPr>
          <p:cNvGrpSpPr/>
          <p:nvPr/>
        </p:nvGrpSpPr>
        <p:grpSpPr>
          <a:xfrm>
            <a:off x="582637" y="2599933"/>
            <a:ext cx="1437949" cy="478345"/>
            <a:chOff x="2299783" y="3037019"/>
            <a:chExt cx="2151865" cy="478345"/>
          </a:xfrm>
        </p:grpSpPr>
        <p:sp>
          <p:nvSpPr>
            <p:cNvPr id="301" name="Rectangle 70">
              <a:extLst>
                <a:ext uri="{FF2B5EF4-FFF2-40B4-BE49-F238E27FC236}">
                  <a16:creationId xmlns:a16="http://schemas.microsoft.com/office/drawing/2014/main" id="{662A7A43-3D5A-41F7-9704-861FA42505FD}"/>
                </a:ext>
              </a:extLst>
            </p:cNvPr>
            <p:cNvSpPr>
              <a:spLocks noChangeArrowheads="1"/>
            </p:cNvSpPr>
            <p:nvPr/>
          </p:nvSpPr>
          <p:spPr bwMode="auto">
            <a:xfrm>
              <a:off x="2299783" y="3037019"/>
              <a:ext cx="1842688" cy="288925"/>
            </a:xfrm>
            <a:prstGeom prst="rect">
              <a:avLst/>
            </a:prstGeom>
            <a:solidFill>
              <a:srgbClr val="FFFFFF"/>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ja-JP"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a:t>
              </a:r>
              <a:r>
                <a:rPr kumimoji="1" lang="ja-JP" altLang="en-US" sz="1000" b="1" i="0" u="sng"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リファレンス選定</a:t>
              </a:r>
            </a:p>
          </p:txBody>
        </p:sp>
        <p:sp>
          <p:nvSpPr>
            <p:cNvPr id="302" name="Rectangle 70">
              <a:extLst>
                <a:ext uri="{FF2B5EF4-FFF2-40B4-BE49-F238E27FC236}">
                  <a16:creationId xmlns:a16="http://schemas.microsoft.com/office/drawing/2014/main" id="{FB33391C-520D-4CC6-95C3-BBD93CCB9121}"/>
                </a:ext>
              </a:extLst>
            </p:cNvPr>
            <p:cNvSpPr>
              <a:spLocks noChangeArrowheads="1"/>
            </p:cNvSpPr>
            <p:nvPr/>
          </p:nvSpPr>
          <p:spPr bwMode="auto">
            <a:xfrm>
              <a:off x="2299783" y="3226439"/>
              <a:ext cx="2151865" cy="288925"/>
            </a:xfrm>
            <a:prstGeom prst="rect">
              <a:avLst/>
            </a:prstGeom>
            <a:noFill/>
            <a:ln>
              <a:noFill/>
            </a:ln>
            <a:effectLst/>
          </p:spPr>
          <p:txBody>
            <a:bodyPr lIns="91423" tIns="45712" rIns="91423" bIns="45712"/>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lvl="0" eaLnBrk="1" hangingPunct="1">
                <a:defRPr/>
              </a:pPr>
              <a:r>
                <a:rPr lang="ja-JP" altLang="en-US" sz="900" u="none" kern="0" dirty="0">
                  <a:solidFill>
                    <a:srgbClr val="000000"/>
                  </a:solidFill>
                  <a:latin typeface="Meiryo UI" panose="020B0604030504040204" pitchFamily="50" charset="-128"/>
                  <a:ea typeface="Meiryo UI" panose="020B0604030504040204" pitchFamily="50" charset="-128"/>
                </a:rPr>
                <a:t>「基幹業務システムの</a:t>
              </a:r>
              <a:br>
                <a:rPr lang="ja-JP" altLang="en-US" sz="900" u="none" kern="0" dirty="0">
                  <a:solidFill>
                    <a:srgbClr val="000000"/>
                  </a:solidFill>
                  <a:latin typeface="Meiryo UI" panose="020B0604030504040204" pitchFamily="50" charset="-128"/>
                  <a:ea typeface="Meiryo UI" panose="020B0604030504040204" pitchFamily="50" charset="-128"/>
                </a:rPr>
              </a:br>
              <a:r>
                <a:rPr lang="ja-JP" altLang="en-US" sz="900" u="none" kern="0" dirty="0">
                  <a:solidFill>
                    <a:srgbClr val="000000"/>
                  </a:solidFill>
                  <a:latin typeface="Meiryo UI" panose="020B0604030504040204" pitchFamily="50" charset="-128"/>
                  <a:ea typeface="Meiryo UI" panose="020B0604030504040204" pitchFamily="50" charset="-128"/>
                </a:rPr>
                <a:t>刷新構想検討」で</a:t>
              </a:r>
              <a:br>
                <a:rPr lang="en-US" altLang="ja-JP" sz="900" u="none" kern="0" dirty="0">
                  <a:solidFill>
                    <a:srgbClr val="000000"/>
                  </a:solidFill>
                  <a:latin typeface="Meiryo UI" panose="020B0604030504040204" pitchFamily="50" charset="-128"/>
                  <a:ea typeface="Meiryo UI" panose="020B0604030504040204" pitchFamily="50" charset="-128"/>
                </a:rPr>
              </a:br>
              <a:r>
                <a:rPr lang="ja-JP" altLang="en-US" sz="900" u="none" kern="0" dirty="0">
                  <a:solidFill>
                    <a:srgbClr val="000000"/>
                  </a:solidFill>
                  <a:latin typeface="Meiryo UI" panose="020B0604030504040204" pitchFamily="50" charset="-128"/>
                  <a:ea typeface="Meiryo UI" panose="020B0604030504040204" pitchFamily="50" charset="-128"/>
                </a:rPr>
                <a:t>挙げられた経営課題のうち、</a:t>
              </a:r>
              <a:br>
                <a:rPr lang="en-US" altLang="ja-JP" sz="900" u="none" kern="0" dirty="0">
                  <a:solidFill>
                    <a:srgbClr val="000000"/>
                  </a:solidFill>
                  <a:latin typeface="Meiryo UI" panose="020B0604030504040204" pitchFamily="50" charset="-128"/>
                  <a:ea typeface="Meiryo UI" panose="020B0604030504040204" pitchFamily="50" charset="-128"/>
                </a:rPr>
              </a:br>
              <a:r>
                <a:rPr lang="ja-JP" altLang="en-US" sz="900" u="none" kern="0" dirty="0">
                  <a:solidFill>
                    <a:srgbClr val="000000"/>
                  </a:solidFill>
                  <a:latin typeface="Meiryo UI" panose="020B0604030504040204" pitchFamily="50" charset="-128"/>
                  <a:ea typeface="Meiryo UI" panose="020B0604030504040204" pitchFamily="50" charset="-128"/>
                </a:rPr>
                <a:t>全拠点をカバーできるよう</a:t>
              </a:r>
              <a:br>
                <a:rPr lang="en-US" altLang="ja-JP" sz="900" u="none" kern="0" dirty="0">
                  <a:solidFill>
                    <a:srgbClr val="000000"/>
                  </a:solidFill>
                  <a:latin typeface="Meiryo UI" panose="020B0604030504040204" pitchFamily="50" charset="-128"/>
                  <a:ea typeface="Meiryo UI" panose="020B0604030504040204" pitchFamily="50" charset="-128"/>
                </a:rPr>
              </a:br>
              <a:r>
                <a:rPr lang="en-US" altLang="ja-JP" sz="900" u="none" kern="0" dirty="0">
                  <a:solidFill>
                    <a:srgbClr val="000000"/>
                  </a:solidFill>
                  <a:latin typeface="Meiryo UI" panose="020B0604030504040204" pitchFamily="50" charset="-128"/>
                  <a:ea typeface="Meiryo UI" panose="020B0604030504040204" pitchFamily="50" charset="-128"/>
                </a:rPr>
                <a:t>2</a:t>
              </a:r>
              <a:r>
                <a:rPr lang="ja-JP" altLang="en-US" sz="900" u="none" kern="0" dirty="0">
                  <a:solidFill>
                    <a:srgbClr val="000000"/>
                  </a:solidFill>
                  <a:latin typeface="Meiryo UI" panose="020B0604030504040204" pitchFamily="50" charset="-128"/>
                  <a:ea typeface="Meiryo UI" panose="020B0604030504040204" pitchFamily="50" charset="-128"/>
                </a:rPr>
                <a:t>～</a:t>
              </a:r>
              <a:r>
                <a:rPr lang="en-US" altLang="ja-JP" sz="900" u="none" kern="0" dirty="0">
                  <a:solidFill>
                    <a:srgbClr val="000000"/>
                  </a:solidFill>
                  <a:latin typeface="Meiryo UI" panose="020B0604030504040204" pitchFamily="50" charset="-128"/>
                  <a:ea typeface="Meiryo UI" panose="020B0604030504040204" pitchFamily="50" charset="-128"/>
                </a:rPr>
                <a:t>3</a:t>
              </a:r>
              <a:r>
                <a:rPr lang="ja-JP" altLang="en-US" sz="900" u="none" kern="0" dirty="0">
                  <a:solidFill>
                    <a:srgbClr val="000000"/>
                  </a:solidFill>
                  <a:latin typeface="Meiryo UI" panose="020B0604030504040204" pitchFamily="50" charset="-128"/>
                  <a:ea typeface="Meiryo UI" panose="020B0604030504040204" pitchFamily="50" charset="-128"/>
                </a:rPr>
                <a:t>個、リファレンスとなるビジネスシナリオを選定する。</a:t>
              </a:r>
              <a:endParaRPr kumimoji="1" lang="ja-JP" altLang="en-US" sz="90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pic>
        <p:nvPicPr>
          <p:cNvPr id="390" name="図 389">
            <a:extLst>
              <a:ext uri="{FF2B5EF4-FFF2-40B4-BE49-F238E27FC236}">
                <a16:creationId xmlns:a16="http://schemas.microsoft.com/office/drawing/2014/main" id="{4E53D281-A2E5-42D7-8AA5-D73A7F41E4A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13510" y="3818338"/>
            <a:ext cx="969600" cy="727200"/>
          </a:xfrm>
          <a:prstGeom prst="rect">
            <a:avLst/>
          </a:prstGeom>
        </p:spPr>
      </p:pic>
      <p:pic>
        <p:nvPicPr>
          <p:cNvPr id="4" name="図 3">
            <a:extLst>
              <a:ext uri="{FF2B5EF4-FFF2-40B4-BE49-F238E27FC236}">
                <a16:creationId xmlns:a16="http://schemas.microsoft.com/office/drawing/2014/main" id="{6A006B87-B0F8-4C49-9F2A-AF47CECC357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27333" y="3444176"/>
            <a:ext cx="969600" cy="727200"/>
          </a:xfrm>
          <a:prstGeom prst="rect">
            <a:avLst/>
          </a:prstGeom>
        </p:spPr>
      </p:pic>
      <p:pic>
        <p:nvPicPr>
          <p:cNvPr id="5" name="図 4">
            <a:extLst>
              <a:ext uri="{FF2B5EF4-FFF2-40B4-BE49-F238E27FC236}">
                <a16:creationId xmlns:a16="http://schemas.microsoft.com/office/drawing/2014/main" id="{1ECB99AE-C17C-40E0-812D-A945A9182B5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270080" y="3444176"/>
            <a:ext cx="969600" cy="727200"/>
          </a:xfrm>
          <a:prstGeom prst="rect">
            <a:avLst/>
          </a:prstGeom>
        </p:spPr>
      </p:pic>
      <p:grpSp>
        <p:nvGrpSpPr>
          <p:cNvPr id="391" name="Group 74">
            <a:extLst>
              <a:ext uri="{FF2B5EF4-FFF2-40B4-BE49-F238E27FC236}">
                <a16:creationId xmlns:a16="http://schemas.microsoft.com/office/drawing/2014/main" id="{286678A0-2CE8-40B3-93F0-856B7A8FDCBB}"/>
              </a:ext>
            </a:extLst>
          </p:cNvPr>
          <p:cNvGrpSpPr>
            <a:grpSpLocks/>
          </p:cNvGrpSpPr>
          <p:nvPr/>
        </p:nvGrpSpPr>
        <p:grpSpPr bwMode="auto">
          <a:xfrm>
            <a:off x="5501358" y="3562300"/>
            <a:ext cx="968463" cy="562785"/>
            <a:chOff x="4296" y="2217"/>
            <a:chExt cx="862" cy="622"/>
          </a:xfrm>
        </p:grpSpPr>
        <p:sp>
          <p:nvSpPr>
            <p:cNvPr id="403" name="AutoShape 76">
              <a:extLst>
                <a:ext uri="{FF2B5EF4-FFF2-40B4-BE49-F238E27FC236}">
                  <a16:creationId xmlns:a16="http://schemas.microsoft.com/office/drawing/2014/main" id="{E34D1622-A6B4-43D2-B74E-6FD098F73219}"/>
                </a:ext>
              </a:extLst>
            </p:cNvPr>
            <p:cNvSpPr>
              <a:spLocks noChangeArrowheads="1"/>
            </p:cNvSpPr>
            <p:nvPr/>
          </p:nvSpPr>
          <p:spPr bwMode="auto">
            <a:xfrm>
              <a:off x="4296" y="2217"/>
              <a:ext cx="374" cy="136"/>
            </a:xfrm>
            <a:prstGeom prst="rect">
              <a:avLst/>
            </a:prstGeom>
            <a:solidFill>
              <a:schemeClr val="bg1"/>
            </a:solidFill>
            <a:ln w="9525" algn="ctr">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rIns="54000" anchor="ctr"/>
            <a:lstStyle/>
            <a:p>
              <a:pPr eaLnBrk="1" hangingPunct="1"/>
              <a:r>
                <a:rPr lang="en-US" altLang="ja-JP" sz="500" dirty="0">
                  <a:latin typeface="Meiryo UI" panose="020B0604030504040204" pitchFamily="34" charset="-128"/>
                  <a:ea typeface="Meiryo UI" panose="020B0604030504040204" pitchFamily="34" charset="-128"/>
                </a:rPr>
                <a:t>Table</a:t>
              </a:r>
              <a:r>
                <a:rPr lang="ja-JP" altLang="en-US" sz="500" dirty="0">
                  <a:latin typeface="Meiryo UI" panose="020B0604030504040204" pitchFamily="34" charset="-128"/>
                  <a:ea typeface="Meiryo UI" panose="020B0604030504040204" pitchFamily="34" charset="-128"/>
                </a:rPr>
                <a:t> </a:t>
              </a:r>
              <a:r>
                <a:rPr lang="en-US" altLang="ja-JP" sz="500" dirty="0">
                  <a:latin typeface="Meiryo UI" panose="020B0604030504040204" pitchFamily="34" charset="-128"/>
                  <a:ea typeface="Meiryo UI" panose="020B0604030504040204" pitchFamily="34" charset="-128"/>
                </a:rPr>
                <a:t>A</a:t>
              </a:r>
              <a:endParaRPr lang="ja-JP" altLang="en-US" sz="500" dirty="0">
                <a:latin typeface="Meiryo UI" panose="020B0604030504040204" pitchFamily="34" charset="-128"/>
                <a:ea typeface="Meiryo UI" panose="020B0604030504040204" pitchFamily="34" charset="-128"/>
              </a:endParaRPr>
            </a:p>
          </p:txBody>
        </p:sp>
        <p:sp>
          <p:nvSpPr>
            <p:cNvPr id="393" name="Rectangle 79">
              <a:extLst>
                <a:ext uri="{FF2B5EF4-FFF2-40B4-BE49-F238E27FC236}">
                  <a16:creationId xmlns:a16="http://schemas.microsoft.com/office/drawing/2014/main" id="{D3EA9DAF-0022-4598-A656-6F6EFF48430B}"/>
                </a:ext>
              </a:extLst>
            </p:cNvPr>
            <p:cNvSpPr>
              <a:spLocks noChangeArrowheads="1"/>
            </p:cNvSpPr>
            <p:nvPr/>
          </p:nvSpPr>
          <p:spPr bwMode="auto">
            <a:xfrm>
              <a:off x="4296" y="2356"/>
              <a:ext cx="862" cy="483"/>
            </a:xfrm>
            <a:prstGeom prst="rect">
              <a:avLst/>
            </a:prstGeom>
            <a:solidFill>
              <a:schemeClr val="bg1"/>
            </a:solidFill>
            <a:ln w="9525" algn="ctr">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rIns="54000" anchor="ctr"/>
            <a:lstStyle>
              <a:lvl1pPr>
                <a:defRPr kumimoji="1" sz="1200" u="sng">
                  <a:solidFill>
                    <a:srgbClr val="B2B2B2"/>
                  </a:solidFill>
                  <a:latin typeface="Times New Roman" panose="02020603050405020304" pitchFamily="18" charset="0"/>
                  <a:ea typeface="ＭＳ Ｐゴシック" panose="020B0600070205080204" pitchFamily="50" charset="-128"/>
                </a:defRPr>
              </a:lvl1pPr>
              <a:lvl2pPr marL="742950" indent="-285750">
                <a:defRPr kumimoji="1" sz="1200" u="sng">
                  <a:solidFill>
                    <a:srgbClr val="B2B2B2"/>
                  </a:solidFill>
                  <a:latin typeface="Times New Roman" panose="02020603050405020304" pitchFamily="18" charset="0"/>
                  <a:ea typeface="ＭＳ Ｐゴシック" panose="020B0600070205080204" pitchFamily="50" charset="-128"/>
                </a:defRPr>
              </a:lvl2pPr>
              <a:lvl3pPr marL="1143000" indent="-228600">
                <a:defRPr kumimoji="1" sz="1200" u="sng">
                  <a:solidFill>
                    <a:srgbClr val="B2B2B2"/>
                  </a:solidFill>
                  <a:latin typeface="Times New Roman" panose="02020603050405020304" pitchFamily="18" charset="0"/>
                  <a:ea typeface="ＭＳ Ｐゴシック" panose="020B0600070205080204" pitchFamily="50" charset="-128"/>
                </a:defRPr>
              </a:lvl3pPr>
              <a:lvl4pPr marL="1600200" indent="-228600">
                <a:defRPr kumimoji="1" sz="1200" u="sng">
                  <a:solidFill>
                    <a:srgbClr val="B2B2B2"/>
                  </a:solidFill>
                  <a:latin typeface="Times New Roman" panose="02020603050405020304" pitchFamily="18" charset="0"/>
                  <a:ea typeface="ＭＳ Ｐゴシック" panose="020B0600070205080204" pitchFamily="50" charset="-128"/>
                </a:defRPr>
              </a:lvl4pPr>
              <a:lvl5pPr marL="2057400" indent="-228600">
                <a:defRPr kumimoji="1" sz="1200" u="sng">
                  <a:solidFill>
                    <a:srgbClr val="B2B2B2"/>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200" u="sng">
                  <a:solidFill>
                    <a:srgbClr val="B2B2B2"/>
                  </a:solidFill>
                  <a:latin typeface="Times New Roman" panose="02020603050405020304" pitchFamily="18" charset="0"/>
                  <a:ea typeface="ＭＳ Ｐゴシック" panose="020B0600070205080204"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394" name="Line 80">
              <a:extLst>
                <a:ext uri="{FF2B5EF4-FFF2-40B4-BE49-F238E27FC236}">
                  <a16:creationId xmlns:a16="http://schemas.microsoft.com/office/drawing/2014/main" id="{8DDA7D2E-21E9-499F-A8E3-805493982B91}"/>
                </a:ext>
              </a:extLst>
            </p:cNvPr>
            <p:cNvSpPr>
              <a:spLocks noChangeShapeType="1"/>
            </p:cNvSpPr>
            <p:nvPr/>
          </p:nvSpPr>
          <p:spPr bwMode="auto">
            <a:xfrm>
              <a:off x="4323" y="2482"/>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r>
                <a:rPr lang="ja-JP" altLang="en-US" sz="200" dirty="0">
                  <a:latin typeface="Meiryo UI" panose="020B0604030504040204" pitchFamily="50" charset="-128"/>
                  <a:ea typeface="Meiryo UI" panose="020B0604030504040204" pitchFamily="50" charset="-128"/>
                </a:rPr>
                <a:t>物理名</a:t>
              </a:r>
            </a:p>
          </p:txBody>
        </p:sp>
        <p:sp>
          <p:nvSpPr>
            <p:cNvPr id="395" name="Line 81">
              <a:extLst>
                <a:ext uri="{FF2B5EF4-FFF2-40B4-BE49-F238E27FC236}">
                  <a16:creationId xmlns:a16="http://schemas.microsoft.com/office/drawing/2014/main" id="{98F4575A-759C-43FB-BA4D-BA9CD4378589}"/>
                </a:ext>
              </a:extLst>
            </p:cNvPr>
            <p:cNvSpPr>
              <a:spLocks noChangeShapeType="1"/>
            </p:cNvSpPr>
            <p:nvPr/>
          </p:nvSpPr>
          <p:spPr bwMode="auto">
            <a:xfrm>
              <a:off x="4323" y="2593"/>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396" name="Line 82">
              <a:extLst>
                <a:ext uri="{FF2B5EF4-FFF2-40B4-BE49-F238E27FC236}">
                  <a16:creationId xmlns:a16="http://schemas.microsoft.com/office/drawing/2014/main" id="{5975A0DA-CF8F-4225-8403-36338A2DE0BB}"/>
                </a:ext>
              </a:extLst>
            </p:cNvPr>
            <p:cNvSpPr>
              <a:spLocks noChangeShapeType="1"/>
            </p:cNvSpPr>
            <p:nvPr/>
          </p:nvSpPr>
          <p:spPr bwMode="auto">
            <a:xfrm>
              <a:off x="4323" y="2701"/>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397" name="Line 83">
              <a:extLst>
                <a:ext uri="{FF2B5EF4-FFF2-40B4-BE49-F238E27FC236}">
                  <a16:creationId xmlns:a16="http://schemas.microsoft.com/office/drawing/2014/main" id="{EAFC0EC5-749E-439A-BE8D-8A36506AF322}"/>
                </a:ext>
              </a:extLst>
            </p:cNvPr>
            <p:cNvSpPr>
              <a:spLocks noChangeShapeType="1"/>
            </p:cNvSpPr>
            <p:nvPr/>
          </p:nvSpPr>
          <p:spPr bwMode="auto">
            <a:xfrm>
              <a:off x="4609" y="2482"/>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r>
                <a:rPr lang="ja-JP" altLang="en-US" sz="200" dirty="0">
                  <a:latin typeface="Meiryo UI" panose="020B0604030504040204" pitchFamily="50" charset="-128"/>
                  <a:ea typeface="Meiryo UI" panose="020B0604030504040204" pitchFamily="50" charset="-128"/>
                </a:rPr>
                <a:t>論理名</a:t>
              </a:r>
            </a:p>
          </p:txBody>
        </p:sp>
        <p:sp>
          <p:nvSpPr>
            <p:cNvPr id="398" name="Line 84">
              <a:extLst>
                <a:ext uri="{FF2B5EF4-FFF2-40B4-BE49-F238E27FC236}">
                  <a16:creationId xmlns:a16="http://schemas.microsoft.com/office/drawing/2014/main" id="{3C044A9C-6D3C-4C82-B39D-357814D0B876}"/>
                </a:ext>
              </a:extLst>
            </p:cNvPr>
            <p:cNvSpPr>
              <a:spLocks noChangeShapeType="1"/>
            </p:cNvSpPr>
            <p:nvPr/>
          </p:nvSpPr>
          <p:spPr bwMode="auto">
            <a:xfrm>
              <a:off x="4609" y="2593"/>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399" name="Line 85">
              <a:extLst>
                <a:ext uri="{FF2B5EF4-FFF2-40B4-BE49-F238E27FC236}">
                  <a16:creationId xmlns:a16="http://schemas.microsoft.com/office/drawing/2014/main" id="{245DAB99-424B-423F-B5DA-4CFF32C839AB}"/>
                </a:ext>
              </a:extLst>
            </p:cNvPr>
            <p:cNvSpPr>
              <a:spLocks noChangeShapeType="1"/>
            </p:cNvSpPr>
            <p:nvPr/>
          </p:nvSpPr>
          <p:spPr bwMode="auto">
            <a:xfrm>
              <a:off x="4609" y="2701"/>
              <a:ext cx="221"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400" name="Line 86">
              <a:extLst>
                <a:ext uri="{FF2B5EF4-FFF2-40B4-BE49-F238E27FC236}">
                  <a16:creationId xmlns:a16="http://schemas.microsoft.com/office/drawing/2014/main" id="{F2683A67-BE2D-48A9-9EF6-4919EDD97105}"/>
                </a:ext>
              </a:extLst>
            </p:cNvPr>
            <p:cNvSpPr>
              <a:spLocks noChangeShapeType="1"/>
            </p:cNvSpPr>
            <p:nvPr/>
          </p:nvSpPr>
          <p:spPr bwMode="auto">
            <a:xfrm>
              <a:off x="4897" y="2482"/>
              <a:ext cx="222"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r>
                <a:rPr lang="ja-JP" altLang="en-US" sz="200" dirty="0">
                  <a:latin typeface="Meiryo UI" panose="020B0604030504040204" pitchFamily="50" charset="-128"/>
                  <a:ea typeface="Meiryo UI" panose="020B0604030504040204" pitchFamily="50" charset="-128"/>
                </a:rPr>
                <a:t>型・桁</a:t>
              </a:r>
            </a:p>
          </p:txBody>
        </p:sp>
        <p:sp>
          <p:nvSpPr>
            <p:cNvPr id="401" name="Line 87">
              <a:extLst>
                <a:ext uri="{FF2B5EF4-FFF2-40B4-BE49-F238E27FC236}">
                  <a16:creationId xmlns:a16="http://schemas.microsoft.com/office/drawing/2014/main" id="{1FC5AE22-E9DC-4056-A555-4BBD48EE0E63}"/>
                </a:ext>
              </a:extLst>
            </p:cNvPr>
            <p:cNvSpPr>
              <a:spLocks noChangeShapeType="1"/>
            </p:cNvSpPr>
            <p:nvPr/>
          </p:nvSpPr>
          <p:spPr bwMode="auto">
            <a:xfrm>
              <a:off x="4897" y="2593"/>
              <a:ext cx="222"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sp>
          <p:nvSpPr>
            <p:cNvPr id="402" name="Line 88">
              <a:extLst>
                <a:ext uri="{FF2B5EF4-FFF2-40B4-BE49-F238E27FC236}">
                  <a16:creationId xmlns:a16="http://schemas.microsoft.com/office/drawing/2014/main" id="{1612181B-AD2F-4F80-98E7-8C9208794688}"/>
                </a:ext>
              </a:extLst>
            </p:cNvPr>
            <p:cNvSpPr>
              <a:spLocks noChangeShapeType="1"/>
            </p:cNvSpPr>
            <p:nvPr/>
          </p:nvSpPr>
          <p:spPr bwMode="auto">
            <a:xfrm>
              <a:off x="4897" y="2701"/>
              <a:ext cx="222" cy="0"/>
            </a:xfrm>
            <a:prstGeom prst="line">
              <a:avLst/>
            </a:prstGeom>
            <a:noFill/>
            <a:ln w="3810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endParaRPr lang="ja-JP" altLang="en-US">
                <a:latin typeface="Meiryo UI" panose="020B0604030504040204" pitchFamily="50" charset="-128"/>
                <a:ea typeface="Meiryo UI" panose="020B0604030504040204" pitchFamily="50" charset="-128"/>
              </a:endParaRPr>
            </a:p>
          </p:txBody>
        </p:sp>
      </p:grpSp>
      <p:pic>
        <p:nvPicPr>
          <p:cNvPr id="406" name="図 405">
            <a:extLst>
              <a:ext uri="{FF2B5EF4-FFF2-40B4-BE49-F238E27FC236}">
                <a16:creationId xmlns:a16="http://schemas.microsoft.com/office/drawing/2014/main" id="{D79CFA99-EF16-4408-9F62-F2EA14D3DE6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740391" y="3446809"/>
            <a:ext cx="969600" cy="727200"/>
          </a:xfrm>
          <a:prstGeom prst="rect">
            <a:avLst/>
          </a:prstGeom>
        </p:spPr>
      </p:pic>
      <p:pic>
        <p:nvPicPr>
          <p:cNvPr id="6" name="図 5">
            <a:extLst>
              <a:ext uri="{FF2B5EF4-FFF2-40B4-BE49-F238E27FC236}">
                <a16:creationId xmlns:a16="http://schemas.microsoft.com/office/drawing/2014/main" id="{E2D3800A-DE69-46DC-A361-32D21C5C8EB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866293" y="3436362"/>
            <a:ext cx="969600" cy="727200"/>
          </a:xfrm>
          <a:prstGeom prst="rect">
            <a:avLst/>
          </a:prstGeom>
        </p:spPr>
      </p:pic>
      <p:sp>
        <p:nvSpPr>
          <p:cNvPr id="60" name="円/楕円 59">
            <a:extLst>
              <a:ext uri="{FF2B5EF4-FFF2-40B4-BE49-F238E27FC236}">
                <a16:creationId xmlns:a16="http://schemas.microsoft.com/office/drawing/2014/main" id="{7B7DECBE-5966-2A42-B855-9F46B7EAC508}"/>
              </a:ext>
            </a:extLst>
          </p:cNvPr>
          <p:cNvSpPr/>
          <p:nvPr/>
        </p:nvSpPr>
        <p:spPr bwMode="gray">
          <a:xfrm>
            <a:off x="493747" y="1669037"/>
            <a:ext cx="216000" cy="216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1</a:t>
            </a:r>
          </a:p>
        </p:txBody>
      </p:sp>
      <p:sp>
        <p:nvSpPr>
          <p:cNvPr id="61" name="円/楕円 60">
            <a:extLst>
              <a:ext uri="{FF2B5EF4-FFF2-40B4-BE49-F238E27FC236}">
                <a16:creationId xmlns:a16="http://schemas.microsoft.com/office/drawing/2014/main" id="{6CD22B2F-CCB1-3348-9E8B-88B05B99CFDD}"/>
              </a:ext>
            </a:extLst>
          </p:cNvPr>
          <p:cNvSpPr/>
          <p:nvPr/>
        </p:nvSpPr>
        <p:spPr bwMode="gray">
          <a:xfrm>
            <a:off x="2191783" y="2170169"/>
            <a:ext cx="216000" cy="216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2</a:t>
            </a:r>
          </a:p>
        </p:txBody>
      </p:sp>
      <p:sp>
        <p:nvSpPr>
          <p:cNvPr id="62" name="円/楕円 61">
            <a:extLst>
              <a:ext uri="{FF2B5EF4-FFF2-40B4-BE49-F238E27FC236}">
                <a16:creationId xmlns:a16="http://schemas.microsoft.com/office/drawing/2014/main" id="{EA0D1714-45F6-1A46-A114-FDE13A5A7BDC}"/>
              </a:ext>
            </a:extLst>
          </p:cNvPr>
          <p:cNvSpPr/>
          <p:nvPr/>
        </p:nvSpPr>
        <p:spPr bwMode="gray">
          <a:xfrm>
            <a:off x="4592414" y="4603569"/>
            <a:ext cx="216000" cy="216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3</a:t>
            </a:r>
          </a:p>
        </p:txBody>
      </p:sp>
    </p:spTree>
    <p:extLst>
      <p:ext uri="{BB962C8B-B14F-4D97-AF65-F5344CB8AC3E}">
        <p14:creationId xmlns:p14="http://schemas.microsoft.com/office/powerpoint/2010/main" val="2105933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メモ 17">
            <a:extLst>
              <a:ext uri="{FF2B5EF4-FFF2-40B4-BE49-F238E27FC236}">
                <a16:creationId xmlns:a16="http://schemas.microsoft.com/office/drawing/2014/main" id="{8F9DE0AF-B179-774E-9F19-A4F35D7FDDCB}"/>
              </a:ext>
            </a:extLst>
          </p:cNvPr>
          <p:cNvSpPr/>
          <p:nvPr/>
        </p:nvSpPr>
        <p:spPr>
          <a:xfrm>
            <a:off x="546868" y="4874245"/>
            <a:ext cx="512064" cy="603504"/>
          </a:xfrm>
          <a:prstGeom prst="foldedCorner">
            <a:avLst/>
          </a:prstGeom>
          <a:solidFill>
            <a:schemeClr val="bg2">
              <a:lumMod val="60000"/>
              <a:lumOff val="4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700">
              <a:solidFill>
                <a:schemeClr val="bg2">
                  <a:lumMod val="50000"/>
                </a:schemeClr>
              </a:solidFill>
              <a:latin typeface="Meiryo UI" panose="020B0604030504040204" pitchFamily="34" charset="-128"/>
              <a:ea typeface="Meiryo UI" panose="020B0604030504040204" pitchFamily="34" charset="-128"/>
            </a:endParaRPr>
          </a:p>
        </p:txBody>
      </p:sp>
      <p:sp>
        <p:nvSpPr>
          <p:cNvPr id="17" name="メモ 16">
            <a:extLst>
              <a:ext uri="{FF2B5EF4-FFF2-40B4-BE49-F238E27FC236}">
                <a16:creationId xmlns:a16="http://schemas.microsoft.com/office/drawing/2014/main" id="{29EA20D7-85E0-DE4B-B25B-FA2AA2A5C664}"/>
              </a:ext>
            </a:extLst>
          </p:cNvPr>
          <p:cNvSpPr/>
          <p:nvPr/>
        </p:nvSpPr>
        <p:spPr>
          <a:xfrm>
            <a:off x="487068" y="4802869"/>
            <a:ext cx="512064" cy="603504"/>
          </a:xfrm>
          <a:prstGeom prst="foldedCorner">
            <a:avLst/>
          </a:prstGeom>
          <a:solidFill>
            <a:schemeClr val="bg2">
              <a:lumMod val="60000"/>
              <a:lumOff val="4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700">
              <a:solidFill>
                <a:schemeClr val="bg2">
                  <a:lumMod val="50000"/>
                </a:schemeClr>
              </a:solidFill>
              <a:latin typeface="Meiryo UI" panose="020B0604030504040204" pitchFamily="34" charset="-128"/>
              <a:ea typeface="Meiryo UI" panose="020B0604030504040204" pitchFamily="34" charset="-128"/>
            </a:endParaRPr>
          </a:p>
        </p:txBody>
      </p:sp>
      <p:pic>
        <p:nvPicPr>
          <p:cNvPr id="13" name="図 12" descr="グラフ&#10;&#10;中程度の精度で自動的に生成された説明">
            <a:extLst>
              <a:ext uri="{FF2B5EF4-FFF2-40B4-BE49-F238E27FC236}">
                <a16:creationId xmlns:a16="http://schemas.microsoft.com/office/drawing/2014/main" id="{B4BCC05F-E210-7544-A015-C6078BF60CAF}"/>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6676575" y="2498684"/>
            <a:ext cx="3035623" cy="1940591"/>
          </a:xfrm>
          <a:prstGeom prst="rect">
            <a:avLst/>
          </a:prstGeom>
        </p:spPr>
      </p:pic>
      <p:sp>
        <p:nvSpPr>
          <p:cNvPr id="2" name="タイトル 1">
            <a:extLst>
              <a:ext uri="{FF2B5EF4-FFF2-40B4-BE49-F238E27FC236}">
                <a16:creationId xmlns:a16="http://schemas.microsoft.com/office/drawing/2014/main" id="{448FF304-0E96-AF40-9C1D-7F7E7B7E092B}"/>
              </a:ext>
            </a:extLst>
          </p:cNvPr>
          <p:cNvSpPr>
            <a:spLocks noGrp="1"/>
          </p:cNvSpPr>
          <p:nvPr>
            <p:ph type="title"/>
          </p:nvPr>
        </p:nvSpPr>
        <p:spPr>
          <a:xfrm>
            <a:off x="236538" y="128799"/>
            <a:ext cx="7287807" cy="349961"/>
          </a:xfrm>
        </p:spPr>
        <p:txBody>
          <a:bodyPr/>
          <a:lstStyle/>
          <a:p>
            <a:r>
              <a:rPr lang="ja-JP" altLang="en-US" b="1" dirty="0"/>
              <a:t>実際の作業イメージ</a:t>
            </a:r>
            <a:endParaRPr kumimoji="1" lang="ja-JP" altLang="en-US" b="1" dirty="0"/>
          </a:p>
        </p:txBody>
      </p:sp>
      <p:sp>
        <p:nvSpPr>
          <p:cNvPr id="5" name="テキスト プレースホルダー 2">
            <a:extLst>
              <a:ext uri="{FF2B5EF4-FFF2-40B4-BE49-F238E27FC236}">
                <a16:creationId xmlns:a16="http://schemas.microsoft.com/office/drawing/2014/main" id="{60551A9C-AA4C-6249-A3E5-B7D583FCD5B7}"/>
              </a:ext>
            </a:extLst>
          </p:cNvPr>
          <p:cNvSpPr>
            <a:spLocks noGrp="1"/>
          </p:cNvSpPr>
          <p:nvPr>
            <p:ph type="body" sz="quarter" idx="10"/>
          </p:nvPr>
        </p:nvSpPr>
        <p:spPr>
          <a:xfrm>
            <a:off x="236538" y="574775"/>
            <a:ext cx="9440862"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b="1" dirty="0">
                <a:latin typeface="Meiryo UI" panose="020B0604030504040204" pitchFamily="34" charset="-128"/>
                <a:ea typeface="Meiryo UI" panose="020B0604030504040204" pitchFamily="34" charset="-128"/>
                <a:cs typeface="+mn-cs"/>
              </a:rPr>
              <a:t>引合・見積領域におけるシステム仕様書・定義書と見積書を本活動の作業のインプットにして、見積作成に必要となるデータ項目とその流れをデータフローとして可視したものを成果物とする。</a:t>
            </a:r>
          </a:p>
        </p:txBody>
      </p:sp>
      <p:pic>
        <p:nvPicPr>
          <p:cNvPr id="6" name="図 5">
            <a:extLst>
              <a:ext uri="{FF2B5EF4-FFF2-40B4-BE49-F238E27FC236}">
                <a16:creationId xmlns:a16="http://schemas.microsoft.com/office/drawing/2014/main" id="{30615864-E699-4348-9D47-1E9C72F39EB7}"/>
              </a:ext>
            </a:extLst>
          </p:cNvPr>
          <p:cNvPicPr>
            <a:picLocks noChangeAspect="1"/>
          </p:cNvPicPr>
          <p:nvPr/>
        </p:nvPicPr>
        <p:blipFill rotWithShape="1">
          <a:blip r:embed="rId3" cstate="print">
            <a:duotone>
              <a:schemeClr val="bg2">
                <a:shade val="45000"/>
                <a:satMod val="135000"/>
              </a:schemeClr>
              <a:prstClr val="white"/>
            </a:duotone>
            <a:extLst>
              <a:ext uri="{28A0092B-C50C-407E-A947-70E740481C1C}">
                <a14:useLocalDpi xmlns:a14="http://schemas.microsoft.com/office/drawing/2010/main"/>
              </a:ext>
            </a:extLst>
          </a:blip>
          <a:srcRect b="10328"/>
          <a:stretch/>
        </p:blipFill>
        <p:spPr>
          <a:xfrm>
            <a:off x="235374" y="2269589"/>
            <a:ext cx="2618507" cy="1761048"/>
          </a:xfrm>
          <a:prstGeom prst="rect">
            <a:avLst/>
          </a:prstGeom>
        </p:spPr>
      </p:pic>
      <p:sp>
        <p:nvSpPr>
          <p:cNvPr id="7" name="メモ 6">
            <a:extLst>
              <a:ext uri="{FF2B5EF4-FFF2-40B4-BE49-F238E27FC236}">
                <a16:creationId xmlns:a16="http://schemas.microsoft.com/office/drawing/2014/main" id="{01C8BB0E-032C-EA42-AD9D-ECB6AFCFBFAB}"/>
              </a:ext>
            </a:extLst>
          </p:cNvPr>
          <p:cNvSpPr/>
          <p:nvPr/>
        </p:nvSpPr>
        <p:spPr>
          <a:xfrm>
            <a:off x="427268" y="4731494"/>
            <a:ext cx="512064" cy="603504"/>
          </a:xfrm>
          <a:prstGeom prst="foldedCorner">
            <a:avLst/>
          </a:prstGeom>
          <a:solidFill>
            <a:schemeClr val="bg2">
              <a:lumMod val="60000"/>
              <a:lumOff val="4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800">
                <a:solidFill>
                  <a:schemeClr val="bg2">
                    <a:lumMod val="50000"/>
                  </a:schemeClr>
                </a:solidFill>
                <a:latin typeface="Meiryo UI" panose="020B0604030504040204" pitchFamily="34" charset="-128"/>
                <a:ea typeface="Meiryo UI" panose="020B0604030504040204" pitchFamily="34" charset="-128"/>
              </a:rPr>
              <a:t>システム</a:t>
            </a:r>
            <a:endParaRPr kumimoji="1" lang="en-US" altLang="ja-JP" sz="800" dirty="0">
              <a:solidFill>
                <a:schemeClr val="bg2">
                  <a:lumMod val="50000"/>
                </a:schemeClr>
              </a:solidFill>
              <a:latin typeface="Meiryo UI" panose="020B0604030504040204" pitchFamily="34" charset="-128"/>
              <a:ea typeface="Meiryo UI" panose="020B0604030504040204" pitchFamily="34" charset="-128"/>
            </a:endParaRPr>
          </a:p>
          <a:p>
            <a:pPr algn="ctr"/>
            <a:r>
              <a:rPr kumimoji="1" lang="ja-JP" altLang="en-US" sz="800">
                <a:solidFill>
                  <a:schemeClr val="bg2">
                    <a:lumMod val="50000"/>
                  </a:schemeClr>
                </a:solidFill>
                <a:latin typeface="Meiryo UI" panose="020B0604030504040204" pitchFamily="34" charset="-128"/>
                <a:ea typeface="Meiryo UI" panose="020B0604030504040204" pitchFamily="34" charset="-128"/>
              </a:rPr>
              <a:t>仕様書</a:t>
            </a:r>
            <a:endParaRPr kumimoji="1" lang="en-US" altLang="ja-JP" sz="800" dirty="0">
              <a:solidFill>
                <a:schemeClr val="bg2">
                  <a:lumMod val="50000"/>
                </a:schemeClr>
              </a:solidFill>
              <a:latin typeface="Meiryo UI" panose="020B0604030504040204" pitchFamily="34" charset="-128"/>
              <a:ea typeface="Meiryo UI" panose="020B0604030504040204" pitchFamily="34" charset="-128"/>
            </a:endParaRPr>
          </a:p>
          <a:p>
            <a:pPr algn="ctr"/>
            <a:r>
              <a:rPr kumimoji="1" lang="ja-JP" altLang="en-US" sz="800">
                <a:solidFill>
                  <a:schemeClr val="bg2">
                    <a:lumMod val="50000"/>
                  </a:schemeClr>
                </a:solidFill>
                <a:latin typeface="Meiryo UI" panose="020B0604030504040204" pitchFamily="34" charset="-128"/>
                <a:ea typeface="Meiryo UI" panose="020B0604030504040204" pitchFamily="34" charset="-128"/>
              </a:rPr>
              <a:t>定義書</a:t>
            </a:r>
          </a:p>
        </p:txBody>
      </p:sp>
      <p:sp>
        <p:nvSpPr>
          <p:cNvPr id="9" name="テキスト ボックス 8">
            <a:extLst>
              <a:ext uri="{FF2B5EF4-FFF2-40B4-BE49-F238E27FC236}">
                <a16:creationId xmlns:a16="http://schemas.microsoft.com/office/drawing/2014/main" id="{C2652874-6BA1-1F40-B251-CB94D171716D}"/>
              </a:ext>
            </a:extLst>
          </p:cNvPr>
          <p:cNvSpPr txBox="1"/>
          <p:nvPr/>
        </p:nvSpPr>
        <p:spPr>
          <a:xfrm>
            <a:off x="7196357" y="4450779"/>
            <a:ext cx="1996059" cy="253916"/>
          </a:xfrm>
          <a:prstGeom prst="rect">
            <a:avLst/>
          </a:prstGeom>
          <a:noFill/>
          <a:ln>
            <a:noFill/>
          </a:ln>
        </p:spPr>
        <p:txBody>
          <a:bodyPr wrap="none" rtlCol="0">
            <a:spAutoFit/>
          </a:bodyPr>
          <a:lstStyle/>
          <a:p>
            <a:r>
              <a:rPr kumimoji="1" lang="ja-JP" altLang="en-US" sz="1050">
                <a:solidFill>
                  <a:schemeClr val="tx1">
                    <a:lumMod val="50000"/>
                    <a:lumOff val="50000"/>
                  </a:schemeClr>
                </a:solidFill>
                <a:latin typeface="Meiryo UI" panose="020B0604030504040204" pitchFamily="50" charset="-128"/>
                <a:ea typeface="Meiryo UI" panose="020B0604030504040204" pitchFamily="50" charset="-128"/>
              </a:rPr>
              <a:t>＜マトリックス表現のデータフロー＞</a:t>
            </a:r>
            <a:endParaRPr kumimoji="1" lang="ja-JP" altLang="en-US" sz="105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D9E115F8-131A-4042-B377-0297A9790FFD}"/>
              </a:ext>
            </a:extLst>
          </p:cNvPr>
          <p:cNvSpPr txBox="1"/>
          <p:nvPr/>
        </p:nvSpPr>
        <p:spPr>
          <a:xfrm>
            <a:off x="7349338" y="2234215"/>
            <a:ext cx="2363147" cy="253916"/>
          </a:xfrm>
          <a:prstGeom prst="rect">
            <a:avLst/>
          </a:prstGeom>
          <a:noFill/>
          <a:ln>
            <a:noFill/>
          </a:ln>
        </p:spPr>
        <p:txBody>
          <a:bodyPr wrap="none" rtlCol="0">
            <a:spAutoFit/>
          </a:bodyPr>
          <a:lstStyle/>
          <a:p>
            <a:r>
              <a:rPr kumimoji="1" lang="ja-JP" altLang="en-US" sz="1050">
                <a:solidFill>
                  <a:schemeClr val="tx1">
                    <a:lumMod val="50000"/>
                    <a:lumOff val="50000"/>
                  </a:schemeClr>
                </a:solidFill>
                <a:latin typeface="Meiryo UI" panose="020B0604030504040204" pitchFamily="50" charset="-128"/>
                <a:ea typeface="Meiryo UI" panose="020B0604030504040204" pitchFamily="50" charset="-128"/>
              </a:rPr>
              <a:t>業務プロセス（●作成、○読込</a:t>
            </a:r>
            <a:r>
              <a:rPr kumimoji="1" lang="en-US" altLang="ja-JP" sz="1050" dirty="0">
                <a:solidFill>
                  <a:schemeClr val="tx1">
                    <a:lumMod val="50000"/>
                    <a:lumOff val="50000"/>
                  </a:schemeClr>
                </a:solidFill>
                <a:latin typeface="Meiryo UI" panose="020B0604030504040204" pitchFamily="50" charset="-128"/>
                <a:ea typeface="Meiryo UI" panose="020B0604030504040204" pitchFamily="50" charset="-128"/>
              </a:rPr>
              <a:t>/</a:t>
            </a:r>
            <a:r>
              <a:rPr kumimoji="1" lang="ja-JP" altLang="en-US" sz="1050">
                <a:solidFill>
                  <a:schemeClr val="tx1">
                    <a:lumMod val="50000"/>
                    <a:lumOff val="50000"/>
                  </a:schemeClr>
                </a:solidFill>
                <a:latin typeface="Meiryo UI" panose="020B0604030504040204" pitchFamily="50" charset="-128"/>
                <a:ea typeface="Meiryo UI" panose="020B0604030504040204" pitchFamily="50" charset="-128"/>
              </a:rPr>
              <a:t>利用）</a:t>
            </a:r>
            <a:endParaRPr kumimoji="1" lang="ja-JP" altLang="en-US" sz="105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CAFB9443-D780-B743-B6EF-04C443495F76}"/>
              </a:ext>
            </a:extLst>
          </p:cNvPr>
          <p:cNvSpPr txBox="1"/>
          <p:nvPr/>
        </p:nvSpPr>
        <p:spPr>
          <a:xfrm>
            <a:off x="6354243" y="3025525"/>
            <a:ext cx="346249" cy="1169551"/>
          </a:xfrm>
          <a:prstGeom prst="rect">
            <a:avLst/>
          </a:prstGeom>
          <a:noFill/>
          <a:ln>
            <a:noFill/>
          </a:ln>
        </p:spPr>
        <p:txBody>
          <a:bodyPr vert="eaVert" wrap="none" rtlCol="0">
            <a:spAutoFit/>
          </a:bodyPr>
          <a:lstStyle/>
          <a:p>
            <a:r>
              <a:rPr kumimoji="1" lang="ja-JP" altLang="en-US" sz="1050">
                <a:solidFill>
                  <a:schemeClr val="tx1">
                    <a:lumMod val="50000"/>
                    <a:lumOff val="50000"/>
                  </a:schemeClr>
                </a:solidFill>
                <a:latin typeface="Meiryo UI" panose="020B0604030504040204" pitchFamily="50" charset="-128"/>
                <a:ea typeface="Meiryo UI" panose="020B0604030504040204" pitchFamily="50" charset="-128"/>
              </a:rPr>
              <a:t>主要エンティティ</a:t>
            </a:r>
            <a:endParaRPr kumimoji="1" lang="ja-JP" altLang="en-US" sz="1050" dirty="0">
              <a:solidFill>
                <a:schemeClr val="tx1">
                  <a:lumMod val="50000"/>
                  <a:lumOff val="50000"/>
                </a:schemeClr>
              </a:solidFill>
              <a:latin typeface="Meiryo UI" panose="020B0604030504040204" pitchFamily="50" charset="-128"/>
              <a:ea typeface="Meiryo UI" panose="020B0604030504040204" pitchFamily="50" charset="-128"/>
            </a:endParaRPr>
          </a:p>
        </p:txBody>
      </p:sp>
      <p:pic>
        <p:nvPicPr>
          <p:cNvPr id="16" name="図 15" descr="ダイアグラム&#10;&#10;自動的に生成された説明">
            <a:extLst>
              <a:ext uri="{FF2B5EF4-FFF2-40B4-BE49-F238E27FC236}">
                <a16:creationId xmlns:a16="http://schemas.microsoft.com/office/drawing/2014/main" id="{187618A1-7484-2548-B271-2AAEEB2551A6}"/>
              </a:ext>
            </a:extLst>
          </p:cNvPr>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3779424" y="2234215"/>
            <a:ext cx="2647757" cy="2627886"/>
          </a:xfrm>
          <a:prstGeom prst="rect">
            <a:avLst/>
          </a:prstGeom>
        </p:spPr>
      </p:pic>
      <p:sp>
        <p:nvSpPr>
          <p:cNvPr id="12" name="テキスト ボックス 11">
            <a:extLst>
              <a:ext uri="{FF2B5EF4-FFF2-40B4-BE49-F238E27FC236}">
                <a16:creationId xmlns:a16="http://schemas.microsoft.com/office/drawing/2014/main" id="{C8E65110-ECBC-CA4D-ADA2-ECC3A7C26DD6}"/>
              </a:ext>
            </a:extLst>
          </p:cNvPr>
          <p:cNvSpPr txBox="1"/>
          <p:nvPr/>
        </p:nvSpPr>
        <p:spPr>
          <a:xfrm>
            <a:off x="4502016" y="4785924"/>
            <a:ext cx="1202573" cy="253916"/>
          </a:xfrm>
          <a:prstGeom prst="rect">
            <a:avLst/>
          </a:prstGeom>
          <a:noFill/>
          <a:ln>
            <a:noFill/>
          </a:ln>
        </p:spPr>
        <p:txBody>
          <a:bodyPr wrap="none" rtlCol="0">
            <a:spAutoFit/>
          </a:bodyPr>
          <a:lstStyle/>
          <a:p>
            <a:r>
              <a:rPr kumimoji="1" lang="ja-JP" altLang="en-US" sz="1050">
                <a:solidFill>
                  <a:schemeClr val="tx1">
                    <a:lumMod val="50000"/>
                    <a:lumOff val="50000"/>
                  </a:schemeClr>
                </a:solidFill>
                <a:latin typeface="Meiryo UI" panose="020B0604030504040204" pitchFamily="50" charset="-128"/>
                <a:ea typeface="Meiryo UI" panose="020B0604030504040204" pitchFamily="50" charset="-128"/>
              </a:rPr>
              <a:t>＜データフロー図＞</a:t>
            </a:r>
            <a:endParaRPr kumimoji="1" lang="ja-JP" altLang="en-US" sz="105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5FD46F4E-0403-2D4C-A6E7-B9CA83778A5E}"/>
              </a:ext>
            </a:extLst>
          </p:cNvPr>
          <p:cNvSpPr/>
          <p:nvPr/>
        </p:nvSpPr>
        <p:spPr>
          <a:xfrm>
            <a:off x="550308" y="2577475"/>
            <a:ext cx="315606" cy="1543199"/>
          </a:xfrm>
          <a:prstGeom prst="rect">
            <a:avLst/>
          </a:prstGeom>
          <a:noFill/>
          <a:ln w="381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700">
              <a:solidFill>
                <a:schemeClr val="bg2">
                  <a:lumMod val="50000"/>
                </a:schemeClr>
              </a:solidFill>
              <a:latin typeface="Meiryo UI" panose="020B0604030504040204" pitchFamily="34" charset="-128"/>
              <a:ea typeface="Meiryo UI" panose="020B0604030504040204" pitchFamily="34" charset="-128"/>
            </a:endParaRPr>
          </a:p>
        </p:txBody>
      </p:sp>
      <p:sp>
        <p:nvSpPr>
          <p:cNvPr id="20" name="メモ 19">
            <a:extLst>
              <a:ext uri="{FF2B5EF4-FFF2-40B4-BE49-F238E27FC236}">
                <a16:creationId xmlns:a16="http://schemas.microsoft.com/office/drawing/2014/main" id="{5DCB8907-3A5D-7A41-8DB8-E2A273F36D4A}"/>
              </a:ext>
            </a:extLst>
          </p:cNvPr>
          <p:cNvSpPr/>
          <p:nvPr/>
        </p:nvSpPr>
        <p:spPr>
          <a:xfrm>
            <a:off x="1794405" y="4777051"/>
            <a:ext cx="512064" cy="603504"/>
          </a:xfrm>
          <a:prstGeom prst="foldedCorner">
            <a:avLst/>
          </a:prstGeom>
          <a:solidFill>
            <a:schemeClr val="bg2">
              <a:lumMod val="60000"/>
              <a:lumOff val="4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en-US" altLang="ja-JP" sz="800" dirty="0">
                <a:solidFill>
                  <a:schemeClr val="bg2">
                    <a:lumMod val="50000"/>
                  </a:schemeClr>
                </a:solidFill>
                <a:latin typeface="Meiryo UI" panose="020B0604030504040204" pitchFamily="34" charset="-128"/>
                <a:ea typeface="Meiryo UI" panose="020B0604030504040204" pitchFamily="34" charset="-128"/>
              </a:rPr>
              <a:t>××</a:t>
            </a:r>
            <a:r>
              <a:rPr lang="ja-JP" altLang="en-US" sz="800">
                <a:solidFill>
                  <a:schemeClr val="bg2">
                    <a:lumMod val="50000"/>
                  </a:schemeClr>
                </a:solidFill>
                <a:latin typeface="Meiryo UI" panose="020B0604030504040204" pitchFamily="34" charset="-128"/>
                <a:ea typeface="Meiryo UI" panose="020B0604030504040204" pitchFamily="34" charset="-128"/>
              </a:rPr>
              <a:t>向け</a:t>
            </a:r>
            <a:endParaRPr lang="en-US" altLang="ja-JP" sz="800" dirty="0">
              <a:solidFill>
                <a:schemeClr val="bg2">
                  <a:lumMod val="50000"/>
                </a:schemeClr>
              </a:solidFill>
              <a:latin typeface="Meiryo UI" panose="020B0604030504040204" pitchFamily="34" charset="-128"/>
              <a:ea typeface="Meiryo UI" panose="020B0604030504040204" pitchFamily="34" charset="-128"/>
            </a:endParaRPr>
          </a:p>
          <a:p>
            <a:pPr algn="ctr"/>
            <a:r>
              <a:rPr kumimoji="1" lang="en-US" altLang="ja-JP" sz="800" dirty="0">
                <a:solidFill>
                  <a:schemeClr val="bg2">
                    <a:lumMod val="50000"/>
                  </a:schemeClr>
                </a:solidFill>
                <a:latin typeface="Meiryo UI" panose="020B0604030504040204" pitchFamily="34" charset="-128"/>
                <a:ea typeface="Meiryo UI" panose="020B0604030504040204" pitchFamily="34" charset="-128"/>
              </a:rPr>
              <a:t>GTCC</a:t>
            </a:r>
          </a:p>
          <a:p>
            <a:pPr algn="ctr"/>
            <a:r>
              <a:rPr kumimoji="1" lang="ja-JP" altLang="en-US" sz="800">
                <a:solidFill>
                  <a:schemeClr val="bg2">
                    <a:lumMod val="50000"/>
                  </a:schemeClr>
                </a:solidFill>
                <a:latin typeface="Meiryo UI" panose="020B0604030504040204" pitchFamily="34" charset="-128"/>
                <a:ea typeface="Meiryo UI" panose="020B0604030504040204" pitchFamily="34" charset="-128"/>
              </a:rPr>
              <a:t>見積書</a:t>
            </a:r>
          </a:p>
        </p:txBody>
      </p:sp>
      <p:cxnSp>
        <p:nvCxnSpPr>
          <p:cNvPr id="22" name="直線矢印コネクタ 21">
            <a:extLst>
              <a:ext uri="{FF2B5EF4-FFF2-40B4-BE49-F238E27FC236}">
                <a16:creationId xmlns:a16="http://schemas.microsoft.com/office/drawing/2014/main" id="{33EB9200-6315-344C-B2A7-8CE722437432}"/>
              </a:ext>
            </a:extLst>
          </p:cNvPr>
          <p:cNvCxnSpPr/>
          <p:nvPr/>
        </p:nvCxnSpPr>
        <p:spPr>
          <a:xfrm>
            <a:off x="725985" y="4215679"/>
            <a:ext cx="0" cy="360000"/>
          </a:xfrm>
          <a:prstGeom prst="straightConnector1">
            <a:avLst/>
          </a:prstGeom>
          <a:noFill/>
          <a:ln w="57150" cap="flat" cmpd="sng" algn="ctr">
            <a:solidFill>
              <a:schemeClr val="bg2">
                <a:lumMod val="50000"/>
              </a:schemeClr>
            </a:solidFill>
            <a:prstDash val="solid"/>
            <a:tailEnd type="triangle"/>
          </a:ln>
          <a:effectLst/>
        </p:spPr>
      </p:cxnSp>
      <p:sp>
        <p:nvSpPr>
          <p:cNvPr id="23" name="テキスト ボックス 22">
            <a:extLst>
              <a:ext uri="{FF2B5EF4-FFF2-40B4-BE49-F238E27FC236}">
                <a16:creationId xmlns:a16="http://schemas.microsoft.com/office/drawing/2014/main" id="{55E60319-F468-9C4F-A62E-D3EA2E42D633}"/>
              </a:ext>
            </a:extLst>
          </p:cNvPr>
          <p:cNvSpPr txBox="1"/>
          <p:nvPr/>
        </p:nvSpPr>
        <p:spPr>
          <a:xfrm>
            <a:off x="1180447" y="4878944"/>
            <a:ext cx="492443" cy="461665"/>
          </a:xfrm>
          <a:prstGeom prst="rect">
            <a:avLst/>
          </a:prstGeom>
          <a:noFill/>
        </p:spPr>
        <p:txBody>
          <a:bodyPr wrap="none" rtlCol="0">
            <a:spAutoFit/>
          </a:bodyPr>
          <a:lstStyle/>
          <a:p>
            <a:r>
              <a:rPr kumimoji="1" lang="ja-JP" altLang="en-US">
                <a:latin typeface="Meiryo UI" panose="020B0604030504040204" pitchFamily="34" charset="-128"/>
              </a:rPr>
              <a:t>＋</a:t>
            </a:r>
          </a:p>
        </p:txBody>
      </p:sp>
      <p:grpSp>
        <p:nvGrpSpPr>
          <p:cNvPr id="30" name="グループ化 29">
            <a:extLst>
              <a:ext uri="{FF2B5EF4-FFF2-40B4-BE49-F238E27FC236}">
                <a16:creationId xmlns:a16="http://schemas.microsoft.com/office/drawing/2014/main" id="{23C34800-45E6-2A40-96E6-96555E06AC3C}"/>
              </a:ext>
            </a:extLst>
          </p:cNvPr>
          <p:cNvGrpSpPr/>
          <p:nvPr/>
        </p:nvGrpSpPr>
        <p:grpSpPr>
          <a:xfrm>
            <a:off x="235374" y="1676047"/>
            <a:ext cx="2618507" cy="338554"/>
            <a:chOff x="235374" y="1567190"/>
            <a:chExt cx="2618507" cy="338554"/>
          </a:xfrm>
        </p:grpSpPr>
        <p:cxnSp>
          <p:nvCxnSpPr>
            <p:cNvPr id="25" name="直線コネクタ 24">
              <a:extLst>
                <a:ext uri="{FF2B5EF4-FFF2-40B4-BE49-F238E27FC236}">
                  <a16:creationId xmlns:a16="http://schemas.microsoft.com/office/drawing/2014/main" id="{EFC4E5EF-FAAE-0B41-A9A5-CE64E9E9DD58}"/>
                </a:ext>
              </a:extLst>
            </p:cNvPr>
            <p:cNvCxnSpPr>
              <a:cxnSpLocks/>
            </p:cNvCxnSpPr>
            <p:nvPr/>
          </p:nvCxnSpPr>
          <p:spPr>
            <a:xfrm>
              <a:off x="235374" y="1869757"/>
              <a:ext cx="2618507"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A30DA69A-877A-284B-B1CD-785F6CFAA71E}"/>
                </a:ext>
              </a:extLst>
            </p:cNvPr>
            <p:cNvSpPr txBox="1"/>
            <p:nvPr/>
          </p:nvSpPr>
          <p:spPr>
            <a:xfrm>
              <a:off x="235374" y="1567190"/>
              <a:ext cx="2618507" cy="338554"/>
            </a:xfrm>
            <a:prstGeom prst="rect">
              <a:avLst/>
            </a:prstGeom>
            <a:noFill/>
          </p:spPr>
          <p:txBody>
            <a:bodyPr wrap="square" rtlCol="0">
              <a:spAutoFit/>
            </a:bodyPr>
            <a:lstStyle/>
            <a:p>
              <a:pPr algn="ctr"/>
              <a:r>
                <a:rPr lang="ja-JP" altLang="en-US" sz="1600">
                  <a:latin typeface="Meiryo UI" panose="020B0604030504040204" pitchFamily="34" charset="-128"/>
                  <a:ea typeface="Meiryo UI" panose="020B0604030504040204" pitchFamily="34" charset="-128"/>
                </a:rPr>
                <a:t>作業のインプット</a:t>
              </a:r>
              <a:endParaRPr lang="ja-JP" altLang="en-US" sz="1600" dirty="0">
                <a:latin typeface="Meiryo UI" panose="020B0604030504040204" pitchFamily="34" charset="-128"/>
                <a:ea typeface="Meiryo UI" panose="020B0604030504040204" pitchFamily="34" charset="-128"/>
              </a:endParaRPr>
            </a:p>
          </p:txBody>
        </p:sp>
      </p:grpSp>
      <p:grpSp>
        <p:nvGrpSpPr>
          <p:cNvPr id="31" name="グループ化 30">
            <a:extLst>
              <a:ext uri="{FF2B5EF4-FFF2-40B4-BE49-F238E27FC236}">
                <a16:creationId xmlns:a16="http://schemas.microsoft.com/office/drawing/2014/main" id="{BAF4AE42-4690-BF4E-B575-F74E113D4760}"/>
              </a:ext>
            </a:extLst>
          </p:cNvPr>
          <p:cNvGrpSpPr/>
          <p:nvPr/>
        </p:nvGrpSpPr>
        <p:grpSpPr>
          <a:xfrm>
            <a:off x="3812082" y="1693697"/>
            <a:ext cx="5865318" cy="338554"/>
            <a:chOff x="3812082" y="1584840"/>
            <a:chExt cx="5865318" cy="338554"/>
          </a:xfrm>
        </p:grpSpPr>
        <p:cxnSp>
          <p:nvCxnSpPr>
            <p:cNvPr id="28" name="直線コネクタ 27">
              <a:extLst>
                <a:ext uri="{FF2B5EF4-FFF2-40B4-BE49-F238E27FC236}">
                  <a16:creationId xmlns:a16="http://schemas.microsoft.com/office/drawing/2014/main" id="{4EA8C519-4115-A749-93FD-AF4ED6C4C655}"/>
                </a:ext>
              </a:extLst>
            </p:cNvPr>
            <p:cNvCxnSpPr>
              <a:cxnSpLocks/>
            </p:cNvCxnSpPr>
            <p:nvPr/>
          </p:nvCxnSpPr>
          <p:spPr>
            <a:xfrm>
              <a:off x="3812082" y="1887407"/>
              <a:ext cx="5865318"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4A89BD58-3861-CD48-99BB-53E3D01BE2B6}"/>
                </a:ext>
              </a:extLst>
            </p:cNvPr>
            <p:cNvSpPr txBox="1"/>
            <p:nvPr/>
          </p:nvSpPr>
          <p:spPr>
            <a:xfrm>
              <a:off x="3812082" y="1584840"/>
              <a:ext cx="5865318" cy="338554"/>
            </a:xfrm>
            <a:prstGeom prst="rect">
              <a:avLst/>
            </a:prstGeom>
            <a:noFill/>
          </p:spPr>
          <p:txBody>
            <a:bodyPr wrap="square" rtlCol="0">
              <a:spAutoFit/>
            </a:bodyPr>
            <a:lstStyle/>
            <a:p>
              <a:pPr algn="ctr"/>
              <a:r>
                <a:rPr lang="ja-JP" altLang="en-US" sz="1600">
                  <a:latin typeface="Meiryo UI" panose="020B0604030504040204" pitchFamily="34" charset="-128"/>
                  <a:ea typeface="Meiryo UI" panose="020B0604030504040204" pitchFamily="34" charset="-128"/>
                </a:rPr>
                <a:t>想定成果物</a:t>
              </a:r>
              <a:endParaRPr lang="ja-JP" altLang="en-US" sz="1600" dirty="0">
                <a:latin typeface="Meiryo UI" panose="020B0604030504040204" pitchFamily="34" charset="-128"/>
                <a:ea typeface="Meiryo UI" panose="020B0604030504040204" pitchFamily="34" charset="-128"/>
              </a:endParaRPr>
            </a:p>
          </p:txBody>
        </p:sp>
      </p:grpSp>
      <p:sp>
        <p:nvSpPr>
          <p:cNvPr id="32" name="三角形 31">
            <a:extLst>
              <a:ext uri="{FF2B5EF4-FFF2-40B4-BE49-F238E27FC236}">
                <a16:creationId xmlns:a16="http://schemas.microsoft.com/office/drawing/2014/main" id="{F69D00D6-7CA1-3049-B21E-9BA76622B0F4}"/>
              </a:ext>
            </a:extLst>
          </p:cNvPr>
          <p:cNvSpPr/>
          <p:nvPr/>
        </p:nvSpPr>
        <p:spPr>
          <a:xfrm rot="5400000">
            <a:off x="1719498" y="3664450"/>
            <a:ext cx="3424393" cy="202205"/>
          </a:xfrm>
          <a:prstGeom prs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748555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CADBFB-B613-EC40-8046-0986AC97234C}"/>
              </a:ext>
            </a:extLst>
          </p:cNvPr>
          <p:cNvSpPr>
            <a:spLocks noGrp="1"/>
          </p:cNvSpPr>
          <p:nvPr>
            <p:ph type="title"/>
          </p:nvPr>
        </p:nvSpPr>
        <p:spPr>
          <a:xfrm>
            <a:off x="236538" y="128799"/>
            <a:ext cx="7287807" cy="349961"/>
          </a:xfrm>
        </p:spPr>
        <p:txBody>
          <a:bodyPr/>
          <a:lstStyle/>
          <a:p>
            <a:r>
              <a:rPr lang="en-US" altLang="ja-JP" b="1" dirty="0"/>
              <a:t>2Q</a:t>
            </a:r>
            <a:r>
              <a:rPr lang="ja-JP" altLang="en-US" b="1" dirty="0"/>
              <a:t>活動計画（詳細）</a:t>
            </a:r>
            <a:endParaRPr kumimoji="1" lang="ja-JP" altLang="en-US" b="1" dirty="0"/>
          </a:p>
        </p:txBody>
      </p:sp>
      <p:graphicFrame>
        <p:nvGraphicFramePr>
          <p:cNvPr id="5" name="表 4">
            <a:extLst>
              <a:ext uri="{FF2B5EF4-FFF2-40B4-BE49-F238E27FC236}">
                <a16:creationId xmlns:a16="http://schemas.microsoft.com/office/drawing/2014/main" id="{8BA9EDDC-A3BB-FC42-A8F3-52FA38CE384F}"/>
              </a:ext>
            </a:extLst>
          </p:cNvPr>
          <p:cNvGraphicFramePr>
            <a:graphicFrameLocks noGrp="1"/>
          </p:cNvGraphicFramePr>
          <p:nvPr>
            <p:extLst>
              <p:ext uri="{D42A27DB-BD31-4B8C-83A1-F6EECF244321}">
                <p14:modId xmlns:p14="http://schemas.microsoft.com/office/powerpoint/2010/main" val="1112680428"/>
              </p:ext>
            </p:extLst>
          </p:nvPr>
        </p:nvGraphicFramePr>
        <p:xfrm>
          <a:off x="619794" y="1716211"/>
          <a:ext cx="8698834" cy="4409784"/>
        </p:xfrm>
        <a:graphic>
          <a:graphicData uri="http://schemas.openxmlformats.org/drawingml/2006/table">
            <a:tbl>
              <a:tblPr firstRow="1" bandRow="1">
                <a:tableStyleId>{5940675A-B579-460E-94D1-54222C63F5DA}</a:tableStyleId>
              </a:tblPr>
              <a:tblGrid>
                <a:gridCol w="1039129">
                  <a:extLst>
                    <a:ext uri="{9D8B030D-6E8A-4147-A177-3AD203B41FA5}">
                      <a16:colId xmlns:a16="http://schemas.microsoft.com/office/drawing/2014/main" val="966304046"/>
                    </a:ext>
                  </a:extLst>
                </a:gridCol>
                <a:gridCol w="1039129">
                  <a:extLst>
                    <a:ext uri="{9D8B030D-6E8A-4147-A177-3AD203B41FA5}">
                      <a16:colId xmlns:a16="http://schemas.microsoft.com/office/drawing/2014/main" val="403628060"/>
                    </a:ext>
                  </a:extLst>
                </a:gridCol>
                <a:gridCol w="1039129">
                  <a:extLst>
                    <a:ext uri="{9D8B030D-6E8A-4147-A177-3AD203B41FA5}">
                      <a16:colId xmlns:a16="http://schemas.microsoft.com/office/drawing/2014/main" val="3288796451"/>
                    </a:ext>
                  </a:extLst>
                </a:gridCol>
                <a:gridCol w="1039129">
                  <a:extLst>
                    <a:ext uri="{9D8B030D-6E8A-4147-A177-3AD203B41FA5}">
                      <a16:colId xmlns:a16="http://schemas.microsoft.com/office/drawing/2014/main" val="3241947092"/>
                    </a:ext>
                  </a:extLst>
                </a:gridCol>
                <a:gridCol w="757053">
                  <a:extLst>
                    <a:ext uri="{9D8B030D-6E8A-4147-A177-3AD203B41FA5}">
                      <a16:colId xmlns:a16="http://schemas.microsoft.com/office/drawing/2014/main" val="2871979522"/>
                    </a:ext>
                  </a:extLst>
                </a:gridCol>
                <a:gridCol w="757053">
                  <a:extLst>
                    <a:ext uri="{9D8B030D-6E8A-4147-A177-3AD203B41FA5}">
                      <a16:colId xmlns:a16="http://schemas.microsoft.com/office/drawing/2014/main" val="1625943638"/>
                    </a:ext>
                  </a:extLst>
                </a:gridCol>
                <a:gridCol w="757053">
                  <a:extLst>
                    <a:ext uri="{9D8B030D-6E8A-4147-A177-3AD203B41FA5}">
                      <a16:colId xmlns:a16="http://schemas.microsoft.com/office/drawing/2014/main" val="3723096015"/>
                    </a:ext>
                  </a:extLst>
                </a:gridCol>
                <a:gridCol w="757053">
                  <a:extLst>
                    <a:ext uri="{9D8B030D-6E8A-4147-A177-3AD203B41FA5}">
                      <a16:colId xmlns:a16="http://schemas.microsoft.com/office/drawing/2014/main" val="3099649167"/>
                    </a:ext>
                  </a:extLst>
                </a:gridCol>
                <a:gridCol w="757053">
                  <a:extLst>
                    <a:ext uri="{9D8B030D-6E8A-4147-A177-3AD203B41FA5}">
                      <a16:colId xmlns:a16="http://schemas.microsoft.com/office/drawing/2014/main" val="4247469904"/>
                    </a:ext>
                  </a:extLst>
                </a:gridCol>
                <a:gridCol w="757053">
                  <a:extLst>
                    <a:ext uri="{9D8B030D-6E8A-4147-A177-3AD203B41FA5}">
                      <a16:colId xmlns:a16="http://schemas.microsoft.com/office/drawing/2014/main" val="749753892"/>
                    </a:ext>
                  </a:extLst>
                </a:gridCol>
              </a:tblGrid>
              <a:tr h="179927">
                <a:tc rowSpan="2">
                  <a:txBody>
                    <a:bodyPr/>
                    <a:lstStyle/>
                    <a:p>
                      <a:pPr algn="ct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作業計画項目</a:t>
                      </a:r>
                      <a:endParaRPr kumimoji="1" lang="ja-JP" altLang="en-US" sz="1000" b="1" dirty="0">
                        <a:solidFill>
                          <a:schemeClr val="bg2">
                            <a:lumMod val="50000"/>
                          </a:schemeClr>
                        </a:solidFill>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作業計画項目</a:t>
                      </a:r>
                      <a:endParaRPr kumimoji="1" lang="en-US" altLang="ja-JP" sz="1000" b="1" dirty="0">
                        <a:solidFill>
                          <a:schemeClr val="bg2">
                            <a:lumMod val="50000"/>
                          </a:schemeClr>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a:solidFill>
                            <a:schemeClr val="bg2">
                              <a:lumMod val="50000"/>
                            </a:schemeClr>
                          </a:solidFill>
                        </a:rPr>
                        <a:t>（詳細）</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rowSpan="2">
                  <a:txBody>
                    <a:bodyPr/>
                    <a:lstStyle/>
                    <a:p>
                      <a:pPr algn="ct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インプット</a:t>
                      </a:r>
                      <a:endParaRPr kumimoji="1" lang="ja-JP" altLang="en-US" sz="10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rowSpan="2">
                  <a:txBody>
                    <a:bodyPr/>
                    <a:lstStyle/>
                    <a:p>
                      <a:pPr algn="ct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想定成果物</a:t>
                      </a:r>
                      <a:endParaRPr kumimoji="1" lang="ja-JP" altLang="en-US" sz="10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gridSpan="3">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FY2021</a:t>
                      </a: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 </a:t>
                      </a: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2Q</a:t>
                      </a:r>
                      <a:endParaRPr kumimoji="1" lang="ja-JP" altLang="en-US" sz="10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lnL w="9525" cap="flat" cmpd="sng" algn="ctr">
                      <a:solidFill>
                        <a:schemeClr val="tx1">
                          <a:lumMod val="50000"/>
                          <a:lumOff val="50000"/>
                        </a:schemeClr>
                      </a:solidFill>
                      <a:prstDash val="solid"/>
                      <a:round/>
                      <a:headEnd type="none" w="med" len="med"/>
                      <a:tailEnd type="none" w="med" len="med"/>
                    </a:lnL>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gridSpan="3">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FY2021</a:t>
                      </a: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 </a:t>
                      </a: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3Q</a:t>
                      </a:r>
                      <a:endParaRPr kumimoji="1" lang="ja-JP" altLang="en-US" sz="10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tc hMerge="1">
                  <a:txBody>
                    <a:bodyPr/>
                    <a:lstStyle/>
                    <a:p>
                      <a:pPr algn="ctr"/>
                      <a:endParaRPr kumimoji="1" lang="ja-JP" altLang="en-US" sz="1000" b="1" dirty="0">
                        <a:solidFill>
                          <a:schemeClr val="bg1"/>
                        </a:solidFill>
                        <a:latin typeface="+mn-ea"/>
                        <a:ea typeface="+mn-ea"/>
                      </a:endParaRPr>
                    </a:p>
                  </a:txBody>
                  <a:tcPr marL="36000" marR="36000" marT="36000" marB="0" anchor="ctr">
                    <a:solidFill>
                      <a:schemeClr val="accent1">
                        <a:lumMod val="60000"/>
                        <a:lumOff val="40000"/>
                      </a:schemeClr>
                    </a:solidFill>
                  </a:tcPr>
                </a:tc>
                <a:extLst>
                  <a:ext uri="{0D108BD9-81ED-4DB2-BD59-A6C34878D82A}">
                    <a16:rowId xmlns:a16="http://schemas.microsoft.com/office/drawing/2014/main" val="2226292608"/>
                  </a:ext>
                </a:extLst>
              </a:tr>
              <a:tr h="179927">
                <a:tc vMerge="1">
                  <a:txBody>
                    <a:bodyPr/>
                    <a:lstStyle/>
                    <a:p>
                      <a:endParaRPr kumimoji="1" lang="ja-JP" altLang="en-US"/>
                    </a:p>
                  </a:txBody>
                  <a:tcPr/>
                </a:tc>
                <a:tc vMerge="1">
                  <a:txBody>
                    <a:bodyPr/>
                    <a:lstStyle/>
                    <a:p>
                      <a:pPr algn="ctr"/>
                      <a:endParaRPr kumimoji="1" lang="ja-JP" altLang="en-US" sz="1000" b="0" dirty="0">
                        <a:solidFill>
                          <a:schemeClr val="tx1">
                            <a:lumMod val="50000"/>
                            <a:lumOff val="50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vMerge="1">
                  <a:txBody>
                    <a:bodyPr/>
                    <a:lstStyle/>
                    <a:p>
                      <a:pPr algn="ctr"/>
                      <a:r>
                        <a:rPr kumimoji="1" lang="en-US" altLang="ja-JP" sz="1000" b="0" dirty="0">
                          <a:solidFill>
                            <a:schemeClr val="tx1">
                              <a:lumMod val="50000"/>
                              <a:lumOff val="50000"/>
                            </a:schemeClr>
                          </a:solidFill>
                          <a:latin typeface="+mn-ea"/>
                          <a:ea typeface="+mn-ea"/>
                        </a:rPr>
                        <a:t>input</a:t>
                      </a:r>
                      <a:endParaRPr kumimoji="1" lang="ja-JP" altLang="en-US" sz="1000" b="0" dirty="0">
                        <a:solidFill>
                          <a:schemeClr val="tx1">
                            <a:lumMod val="50000"/>
                            <a:lumOff val="50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vMerge="1">
                  <a:txBody>
                    <a:bodyPr/>
                    <a:lstStyle/>
                    <a:p>
                      <a:pPr algn="ctr"/>
                      <a:r>
                        <a:rPr kumimoji="1" lang="en-US" altLang="ja-JP" sz="1000" b="0" dirty="0">
                          <a:solidFill>
                            <a:schemeClr val="tx1">
                              <a:lumMod val="50000"/>
                              <a:lumOff val="50000"/>
                            </a:schemeClr>
                          </a:solidFill>
                          <a:latin typeface="+mn-ea"/>
                          <a:ea typeface="+mn-ea"/>
                        </a:rPr>
                        <a:t>output</a:t>
                      </a:r>
                      <a:endParaRPr kumimoji="1" lang="ja-JP" altLang="en-US" sz="1000" b="0" dirty="0">
                        <a:solidFill>
                          <a:schemeClr val="tx1">
                            <a:lumMod val="50000"/>
                            <a:lumOff val="50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7</a:t>
                      </a:r>
                      <a:r>
                        <a:rPr kumimoji="1" lang="ja-JP" altLang="en-US" sz="1000" b="0" i="0">
                          <a:solidFill>
                            <a:schemeClr val="bg2">
                              <a:lumMod val="50000"/>
                            </a:schemeClr>
                          </a:solidFill>
                          <a:latin typeface="Meiryo UI" panose="020B0604030504040204" pitchFamily="34" charset="-128"/>
                          <a:ea typeface="Meiryo UI" panose="020B0604030504040204" pitchFamily="34" charset="-128"/>
                        </a:rPr>
                        <a:t>月</a:t>
                      </a:r>
                      <a:endParaRPr kumimoji="1" lang="ja-JP" altLang="en-US" sz="10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8</a:t>
                      </a:r>
                      <a:r>
                        <a:rPr kumimoji="1" lang="ja-JP" altLang="en-US" sz="1000" b="0" i="0" dirty="0">
                          <a:solidFill>
                            <a:schemeClr val="bg2">
                              <a:lumMod val="50000"/>
                            </a:schemeClr>
                          </a:solidFill>
                          <a:latin typeface="Meiryo UI" panose="020B0604030504040204" pitchFamily="34" charset="-128"/>
                          <a:ea typeface="Meiryo UI" panose="020B0604030504040204" pitchFamily="34" charset="-128"/>
                        </a:rPr>
                        <a:t>月</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9</a:t>
                      </a:r>
                      <a:r>
                        <a:rPr kumimoji="1" lang="ja-JP" altLang="en-US" sz="1000" b="0" i="0" dirty="0">
                          <a:solidFill>
                            <a:schemeClr val="bg2">
                              <a:lumMod val="50000"/>
                            </a:schemeClr>
                          </a:solidFill>
                          <a:latin typeface="Meiryo UI" panose="020B0604030504040204" pitchFamily="34" charset="-128"/>
                          <a:ea typeface="Meiryo UI" panose="020B0604030504040204" pitchFamily="34" charset="-128"/>
                        </a:rPr>
                        <a:t>月</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10</a:t>
                      </a:r>
                      <a:r>
                        <a:rPr kumimoji="1" lang="ja-JP" altLang="en-US" sz="1000" b="0" i="0" dirty="0">
                          <a:solidFill>
                            <a:schemeClr val="bg2">
                              <a:lumMod val="50000"/>
                            </a:schemeClr>
                          </a:solidFill>
                          <a:latin typeface="Meiryo UI" panose="020B0604030504040204" pitchFamily="34" charset="-128"/>
                          <a:ea typeface="Meiryo UI" panose="020B0604030504040204" pitchFamily="34" charset="-128"/>
                        </a:rPr>
                        <a:t>月</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11</a:t>
                      </a:r>
                      <a:r>
                        <a:rPr kumimoji="1" lang="ja-JP" altLang="en-US" sz="1000" b="0" i="0" dirty="0">
                          <a:solidFill>
                            <a:schemeClr val="bg2">
                              <a:lumMod val="50000"/>
                            </a:schemeClr>
                          </a:solidFill>
                          <a:latin typeface="Meiryo UI" panose="020B0604030504040204" pitchFamily="34" charset="-128"/>
                          <a:ea typeface="Meiryo UI" panose="020B0604030504040204" pitchFamily="34" charset="-128"/>
                        </a:rPr>
                        <a:t>月</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en-US" altLang="ja-JP" sz="1000" b="0" i="0" dirty="0">
                          <a:solidFill>
                            <a:schemeClr val="bg2">
                              <a:lumMod val="50000"/>
                            </a:schemeClr>
                          </a:solidFill>
                          <a:latin typeface="Meiryo UI" panose="020B0604030504040204" pitchFamily="34" charset="-128"/>
                          <a:ea typeface="Meiryo UI" panose="020B0604030504040204" pitchFamily="34" charset="-128"/>
                        </a:rPr>
                        <a:t>12</a:t>
                      </a:r>
                      <a:r>
                        <a:rPr kumimoji="1" lang="ja-JP" altLang="en-US" sz="1000" b="0" i="0" dirty="0">
                          <a:solidFill>
                            <a:schemeClr val="bg2">
                              <a:lumMod val="50000"/>
                            </a:schemeClr>
                          </a:solidFill>
                          <a:latin typeface="Meiryo UI" panose="020B0604030504040204" pitchFamily="34" charset="-128"/>
                          <a:ea typeface="Meiryo UI" panose="020B0604030504040204" pitchFamily="34" charset="-128"/>
                        </a:rPr>
                        <a:t>月</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101368573"/>
                  </a:ext>
                </a:extLst>
              </a:tr>
              <a:tr h="473816">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リファレンス用シナリオ選定</a:t>
                      </a:r>
                      <a:endParaRPr kumimoji="1" lang="ja-JP" altLang="en-US" sz="1000" dirty="0">
                        <a:solidFill>
                          <a:schemeClr val="tx1">
                            <a:lumMod val="65000"/>
                            <a:lumOff val="35000"/>
                          </a:schemeClr>
                        </a:solidFill>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ディスカッション</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ー</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rowSpan="2">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✓ビジネス</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シナリオ一覧</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a:t>
                      </a:r>
                      <a:r>
                        <a:rPr kumimoji="1" lang="en-US" altLang="ja-JP" sz="1000" b="0" i="0" dirty="0" err="1">
                          <a:solidFill>
                            <a:schemeClr val="tx1">
                              <a:lumMod val="65000"/>
                              <a:lumOff val="35000"/>
                            </a:schemeClr>
                          </a:solidFill>
                          <a:latin typeface="Meiryo UI" panose="020B0604030504040204" pitchFamily="34" charset="-128"/>
                          <a:ea typeface="Meiryo UI" panose="020B0604030504040204" pitchFamily="34" charset="-128"/>
                        </a:rPr>
                        <a:t>ToBe</a:t>
                      </a: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ユースケース</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60784155"/>
                  </a:ext>
                </a:extLst>
              </a:tr>
              <a:tr h="473816">
                <a:tc rowSpan="4">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机上での論点・課題整理</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過去検討の詳細情報</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rPr>
                        <a:t>PJ</a:t>
                      </a: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資料</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a:endParaRPr kumimoji="1" lang="ja-JP" altLang="en-US" sz="1000">
                        <a:solidFill>
                          <a:schemeClr val="tx1">
                            <a:lumMod val="65000"/>
                            <a:lumOff val="35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8787720"/>
                  </a:ext>
                </a:extLst>
              </a:tr>
              <a:tr h="473816">
                <a:tc vMerge="1">
                  <a:txBody>
                    <a:bodyPr/>
                    <a:lstStyle/>
                    <a:p>
                      <a:pPr algn="l"/>
                      <a:endParaRPr kumimoji="1" lang="en-US" altLang="ja-JP" sz="1200" dirty="0">
                        <a:solidFill>
                          <a:schemeClr val="tx1">
                            <a:lumMod val="50000"/>
                            <a:lumOff val="50000"/>
                          </a:schemeClr>
                        </a:solidFill>
                        <a:latin typeface="+mn-ea"/>
                        <a:ea typeface="+mn-ea"/>
                      </a:endParaRPr>
                    </a:p>
                  </a:txBody>
                  <a:tcPr marL="36000" marR="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rowSpan="2">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関連システム仕様・定義書の解析</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rowSpan="2">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✓システム仕様書</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a:t>
                      </a:r>
                      <a:r>
                        <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rPr>
                        <a:t>DB</a:t>
                      </a: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定義書</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✓帳票</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✓業務文書</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rowSpan="2">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論点・課題一覧</a:t>
                      </a:r>
                      <a:endParaRPr kumimoji="1" lang="ja-JP" altLang="en-US" sz="1000" b="0" i="0" dirty="0">
                        <a:solidFill>
                          <a:schemeClr val="tx1">
                            <a:lumMod val="50000"/>
                            <a:lumOff val="50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7274703"/>
                  </a:ext>
                </a:extLst>
              </a:tr>
              <a:tr h="473816">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200" dirty="0">
                        <a:solidFill>
                          <a:schemeClr val="tx1">
                            <a:lumMod val="50000"/>
                            <a:lumOff val="50000"/>
                          </a:schemeClr>
                        </a:solidFill>
                        <a:latin typeface="+mn-ea"/>
                        <a:ea typeface="+mn-ea"/>
                      </a:endParaRPr>
                    </a:p>
                  </a:txBody>
                  <a:tcPr marL="36000" marR="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a:r>
                        <a:rPr kumimoji="1" lang="ja-JP" altLang="en-US" sz="1000">
                          <a:solidFill>
                            <a:schemeClr val="tx1">
                              <a:lumMod val="50000"/>
                              <a:lumOff val="50000"/>
                            </a:schemeClr>
                          </a:solidFill>
                          <a:latin typeface="+mn-ea"/>
                          <a:ea typeface="+mn-ea"/>
                        </a:rPr>
                        <a:t>帳票調査</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a:endParaRPr kumimoji="1" lang="ja-JP" altLang="en-US" sz="1000" dirty="0">
                        <a:solidFill>
                          <a:schemeClr val="tx1">
                            <a:lumMod val="65000"/>
                            <a:lumOff val="35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a:endParaRPr kumimoji="1" lang="ja-JP" altLang="en-US" sz="1000" dirty="0">
                        <a:solidFill>
                          <a:schemeClr val="tx1">
                            <a:lumMod val="50000"/>
                            <a:lumOff val="50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6732856"/>
                  </a:ext>
                </a:extLst>
              </a:tr>
              <a:tr h="473816">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200" dirty="0">
                        <a:solidFill>
                          <a:schemeClr val="tx1">
                            <a:lumMod val="50000"/>
                            <a:lumOff val="50000"/>
                          </a:schemeClr>
                        </a:solidFill>
                        <a:latin typeface="+mn-ea"/>
                        <a:ea typeface="+mn-ea"/>
                      </a:endParaRPr>
                    </a:p>
                  </a:txBody>
                  <a:tcPr marL="36000" marR="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データフロー調査</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ー</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rPr>
                        <a:t>AsIs</a:t>
                      </a: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データ</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フロー図</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79355"/>
                  </a:ext>
                </a:extLst>
              </a:tr>
              <a:tr h="644272">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 altLang="ja-JP" sz="1000" b="0" i="0" dirty="0">
                          <a:solidFill>
                            <a:schemeClr val="tx1">
                              <a:lumMod val="65000"/>
                              <a:lumOff val="35000"/>
                            </a:schemeClr>
                          </a:solidFill>
                          <a:latin typeface="Meiryo UI" panose="020B0604030504040204" pitchFamily="34" charset="-128"/>
                          <a:ea typeface="Meiryo UI" panose="020B0604030504040204" pitchFamily="34" charset="-128"/>
                        </a:rPr>
                        <a:t>To Be</a:t>
                      </a: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ユースケースとの論点・課題の導出</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データフロー検討</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ー</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リファレンス版のデータフロー図</a:t>
                      </a:r>
                      <a:endParaRPr kumimoji="1" lang="en-US" altLang="ja-JP"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3267245"/>
                  </a:ext>
                </a:extLst>
              </a:tr>
              <a:tr h="473816">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200" dirty="0">
                        <a:solidFill>
                          <a:schemeClr val="tx1">
                            <a:lumMod val="50000"/>
                            <a:lumOff val="50000"/>
                          </a:schemeClr>
                        </a:solidFill>
                        <a:latin typeface="+mn-ea"/>
                        <a:ea typeface="+mn-ea"/>
                      </a:endParaRPr>
                    </a:p>
                  </a:txBody>
                  <a:tcPr marL="36000" marR="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ビジネスメタデータ検討</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業務プロセスマップのリファレンスモデル</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リファレンス版のビジネスメタデータ定義</a:t>
                      </a: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872327"/>
                  </a:ext>
                </a:extLst>
              </a:tr>
              <a:tr h="47381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000" b="0" i="0">
                          <a:solidFill>
                            <a:schemeClr val="tx1">
                              <a:lumMod val="65000"/>
                              <a:lumOff val="35000"/>
                            </a:schemeClr>
                          </a:solidFill>
                          <a:latin typeface="Meiryo UI" panose="020B0604030504040204" pitchFamily="34" charset="-128"/>
                          <a:ea typeface="Meiryo UI" panose="020B0604030504040204" pitchFamily="34" charset="-128"/>
                        </a:rPr>
                        <a:t>リファレンスモデルの確立・横展開</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endParaRPr kumimoji="1" lang="ja-JP" altLang="en-US" sz="1000" b="0" i="0" dirty="0">
                        <a:solidFill>
                          <a:schemeClr val="tx1">
                            <a:lumMod val="65000"/>
                            <a:lumOff val="3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1608802"/>
                  </a:ext>
                </a:extLst>
              </a:tr>
            </a:tbl>
          </a:graphicData>
        </a:graphic>
      </p:graphicFrame>
      <p:sp>
        <p:nvSpPr>
          <p:cNvPr id="12" name="テキスト プレースホルダー 2">
            <a:extLst>
              <a:ext uri="{FF2B5EF4-FFF2-40B4-BE49-F238E27FC236}">
                <a16:creationId xmlns:a16="http://schemas.microsoft.com/office/drawing/2014/main" id="{0B8BDB70-8F82-0347-9150-155EECE98545}"/>
              </a:ext>
            </a:extLst>
          </p:cNvPr>
          <p:cNvSpPr>
            <a:spLocks noGrp="1"/>
          </p:cNvSpPr>
          <p:nvPr>
            <p:ph type="body" sz="quarter" idx="10"/>
          </p:nvPr>
        </p:nvSpPr>
        <p:spPr>
          <a:xfrm>
            <a:off x="236538" y="574775"/>
            <a:ext cx="9440862" cy="565146"/>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b="1" dirty="0" err="1">
                <a:latin typeface="Meiryo UI" panose="020B0604030504040204" pitchFamily="34" charset="-128"/>
                <a:ea typeface="Meiryo UI" panose="020B0604030504040204" pitchFamily="34" charset="-128"/>
                <a:cs typeface="+mn-cs"/>
              </a:rPr>
              <a:t>本活動は、</a:t>
            </a:r>
            <a:r>
              <a:rPr lang="en-US" altLang="ja-JP" b="1" dirty="0" err="1">
                <a:latin typeface="Meiryo UI" panose="020B0604030504040204" pitchFamily="34" charset="-128"/>
                <a:ea typeface="Meiryo UI" panose="020B0604030504040204" pitchFamily="34" charset="-128"/>
              </a:rPr>
              <a:t>業務WG等の参画を前提としない</a:t>
            </a:r>
            <a:r>
              <a:rPr lang="ja-JP" altLang="en-US" b="1">
                <a:latin typeface="Meiryo UI" panose="020B0604030504040204" pitchFamily="34" charset="-128"/>
                <a:ea typeface="Meiryo UI" panose="020B0604030504040204" pitchFamily="34" charset="-128"/>
              </a:rPr>
              <a:t>代わりに、</a:t>
            </a:r>
            <a:r>
              <a:rPr lang="en-US" b="1" dirty="0" err="1">
                <a:latin typeface="Meiryo UI" panose="020B0604030504040204" pitchFamily="34" charset="-128"/>
                <a:ea typeface="Meiryo UI" panose="020B0604030504040204" pitchFamily="34" charset="-128"/>
                <a:cs typeface="+mn-cs"/>
              </a:rPr>
              <a:t>以下のインプットで想定した情報を受領することで作業を進める</a:t>
            </a:r>
            <a:r>
              <a:rPr lang="en-US" b="1" dirty="0">
                <a:latin typeface="Meiryo UI" panose="020B0604030504040204" pitchFamily="34" charset="-128"/>
                <a:ea typeface="Meiryo UI" panose="020B0604030504040204" pitchFamily="34" charset="-128"/>
                <a:cs typeface="+mn-cs"/>
              </a:rPr>
              <a:t>。</a:t>
            </a:r>
          </a:p>
        </p:txBody>
      </p:sp>
      <p:sp>
        <p:nvSpPr>
          <p:cNvPr id="17" name="円/楕円 16">
            <a:extLst>
              <a:ext uri="{FF2B5EF4-FFF2-40B4-BE49-F238E27FC236}">
                <a16:creationId xmlns:a16="http://schemas.microsoft.com/office/drawing/2014/main" id="{ECC7EFEB-5C75-2946-929A-B3B4D5B8BD6B}"/>
              </a:ext>
            </a:extLst>
          </p:cNvPr>
          <p:cNvSpPr/>
          <p:nvPr/>
        </p:nvSpPr>
        <p:spPr bwMode="gray">
          <a:xfrm>
            <a:off x="474086" y="2083816"/>
            <a:ext cx="216000" cy="216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1</a:t>
            </a:r>
          </a:p>
        </p:txBody>
      </p:sp>
      <p:sp>
        <p:nvSpPr>
          <p:cNvPr id="18" name="円/楕円 17">
            <a:extLst>
              <a:ext uri="{FF2B5EF4-FFF2-40B4-BE49-F238E27FC236}">
                <a16:creationId xmlns:a16="http://schemas.microsoft.com/office/drawing/2014/main" id="{50AE945F-1C78-C44E-8599-9ED1F9A10F9E}"/>
              </a:ext>
            </a:extLst>
          </p:cNvPr>
          <p:cNvSpPr/>
          <p:nvPr/>
        </p:nvSpPr>
        <p:spPr bwMode="gray">
          <a:xfrm>
            <a:off x="474086" y="2558349"/>
            <a:ext cx="216000" cy="216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2</a:t>
            </a:r>
          </a:p>
        </p:txBody>
      </p:sp>
      <p:sp>
        <p:nvSpPr>
          <p:cNvPr id="19" name="円/楕円 18">
            <a:extLst>
              <a:ext uri="{FF2B5EF4-FFF2-40B4-BE49-F238E27FC236}">
                <a16:creationId xmlns:a16="http://schemas.microsoft.com/office/drawing/2014/main" id="{BBF602C1-B955-7940-8784-2E29C03C412C}"/>
              </a:ext>
            </a:extLst>
          </p:cNvPr>
          <p:cNvSpPr/>
          <p:nvPr/>
        </p:nvSpPr>
        <p:spPr bwMode="gray">
          <a:xfrm>
            <a:off x="474086" y="5607102"/>
            <a:ext cx="216000" cy="216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1200" dirty="0">
                <a:solidFill>
                  <a:schemeClr val="bg1"/>
                </a:solidFill>
                <a:latin typeface="Meiryo UI" panose="020B0604030504040204" pitchFamily="34" charset="-128"/>
                <a:ea typeface="Meiryo UI" panose="020B0604030504040204" pitchFamily="34" charset="-128"/>
              </a:rPr>
              <a:t>3</a:t>
            </a:r>
          </a:p>
        </p:txBody>
      </p:sp>
      <p:sp>
        <p:nvSpPr>
          <p:cNvPr id="7" name="ホームベース 6">
            <a:extLst>
              <a:ext uri="{FF2B5EF4-FFF2-40B4-BE49-F238E27FC236}">
                <a16:creationId xmlns:a16="http://schemas.microsoft.com/office/drawing/2014/main" id="{91F49084-8156-2049-AABB-DCC9D56359F0}"/>
              </a:ext>
            </a:extLst>
          </p:cNvPr>
          <p:cNvSpPr/>
          <p:nvPr/>
        </p:nvSpPr>
        <p:spPr>
          <a:xfrm>
            <a:off x="4773887" y="2284629"/>
            <a:ext cx="381523" cy="21600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9" name="ホームベース 8">
            <a:extLst>
              <a:ext uri="{FF2B5EF4-FFF2-40B4-BE49-F238E27FC236}">
                <a16:creationId xmlns:a16="http://schemas.microsoft.com/office/drawing/2014/main" id="{22CA735A-407A-C047-AC2F-F49151229E00}"/>
              </a:ext>
            </a:extLst>
          </p:cNvPr>
          <p:cNvSpPr/>
          <p:nvPr/>
        </p:nvSpPr>
        <p:spPr>
          <a:xfrm>
            <a:off x="5137245" y="2749349"/>
            <a:ext cx="381523" cy="21600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10" name="ホームベース 9">
            <a:extLst>
              <a:ext uri="{FF2B5EF4-FFF2-40B4-BE49-F238E27FC236}">
                <a16:creationId xmlns:a16="http://schemas.microsoft.com/office/drawing/2014/main" id="{38345FCA-D19F-0145-835A-D8F90C781237}"/>
              </a:ext>
            </a:extLst>
          </p:cNvPr>
          <p:cNvSpPr/>
          <p:nvPr/>
        </p:nvSpPr>
        <p:spPr>
          <a:xfrm>
            <a:off x="5536933" y="3232922"/>
            <a:ext cx="381523" cy="21597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13" name="ホームベース 12">
            <a:extLst>
              <a:ext uri="{FF2B5EF4-FFF2-40B4-BE49-F238E27FC236}">
                <a16:creationId xmlns:a16="http://schemas.microsoft.com/office/drawing/2014/main" id="{BAE4B389-424D-7C4E-9BA5-1583150BDA32}"/>
              </a:ext>
            </a:extLst>
          </p:cNvPr>
          <p:cNvSpPr/>
          <p:nvPr/>
        </p:nvSpPr>
        <p:spPr>
          <a:xfrm>
            <a:off x="5536933" y="3716496"/>
            <a:ext cx="381523" cy="21597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14" name="ホームベース 13">
            <a:extLst>
              <a:ext uri="{FF2B5EF4-FFF2-40B4-BE49-F238E27FC236}">
                <a16:creationId xmlns:a16="http://schemas.microsoft.com/office/drawing/2014/main" id="{B7231B05-8D33-554E-B891-6E045CF22628}"/>
              </a:ext>
            </a:extLst>
          </p:cNvPr>
          <p:cNvSpPr/>
          <p:nvPr/>
        </p:nvSpPr>
        <p:spPr>
          <a:xfrm>
            <a:off x="5891208" y="4200071"/>
            <a:ext cx="381523" cy="21600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15" name="ホームベース 14">
            <a:extLst>
              <a:ext uri="{FF2B5EF4-FFF2-40B4-BE49-F238E27FC236}">
                <a16:creationId xmlns:a16="http://schemas.microsoft.com/office/drawing/2014/main" id="{542323FF-B936-A841-9AEC-8DB096576298}"/>
              </a:ext>
            </a:extLst>
          </p:cNvPr>
          <p:cNvSpPr/>
          <p:nvPr/>
        </p:nvSpPr>
        <p:spPr>
          <a:xfrm>
            <a:off x="6290895" y="4767250"/>
            <a:ext cx="740668" cy="21600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16" name="ホームベース 15">
            <a:extLst>
              <a:ext uri="{FF2B5EF4-FFF2-40B4-BE49-F238E27FC236}">
                <a16:creationId xmlns:a16="http://schemas.microsoft.com/office/drawing/2014/main" id="{5725A0C9-2E6F-8C44-B062-0CBA9768F41B}"/>
              </a:ext>
            </a:extLst>
          </p:cNvPr>
          <p:cNvSpPr/>
          <p:nvPr/>
        </p:nvSpPr>
        <p:spPr>
          <a:xfrm>
            <a:off x="6290895" y="5355920"/>
            <a:ext cx="740668" cy="216000"/>
          </a:xfrm>
          <a:prstGeom prst="homePlate">
            <a:avLst>
              <a:gd name="adj" fmla="val 22473"/>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20" name="ホームベース 19">
            <a:extLst>
              <a:ext uri="{FF2B5EF4-FFF2-40B4-BE49-F238E27FC236}">
                <a16:creationId xmlns:a16="http://schemas.microsoft.com/office/drawing/2014/main" id="{3F202027-5E22-7F47-B871-5BE529196CA7}"/>
              </a:ext>
            </a:extLst>
          </p:cNvPr>
          <p:cNvSpPr/>
          <p:nvPr/>
        </p:nvSpPr>
        <p:spPr>
          <a:xfrm>
            <a:off x="7040645" y="5889091"/>
            <a:ext cx="2277983" cy="270037"/>
          </a:xfrm>
          <a:prstGeom prst="homePlate">
            <a:avLst>
              <a:gd name="adj" fmla="val 22473"/>
            </a:avLst>
          </a:prstGeom>
          <a:solidFill>
            <a:schemeClr val="bg1">
              <a:lumMod val="95000"/>
            </a:schemeClr>
          </a:solidFill>
          <a:ln w="9525">
            <a:solidFill>
              <a:schemeClr val="bg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grpSp>
        <p:nvGrpSpPr>
          <p:cNvPr id="3" name="グループ化 2">
            <a:extLst>
              <a:ext uri="{FF2B5EF4-FFF2-40B4-BE49-F238E27FC236}">
                <a16:creationId xmlns:a16="http://schemas.microsoft.com/office/drawing/2014/main" id="{DE0FC5BD-9757-184A-8614-64C1898D752D}"/>
              </a:ext>
            </a:extLst>
          </p:cNvPr>
          <p:cNvGrpSpPr/>
          <p:nvPr/>
        </p:nvGrpSpPr>
        <p:grpSpPr>
          <a:xfrm>
            <a:off x="582085" y="1253636"/>
            <a:ext cx="8736539" cy="307777"/>
            <a:chOff x="582085" y="1253636"/>
            <a:chExt cx="8736539" cy="307777"/>
          </a:xfrm>
        </p:grpSpPr>
        <p:cxnSp>
          <p:nvCxnSpPr>
            <p:cNvPr id="33" name="直線コネクタ 32">
              <a:extLst>
                <a:ext uri="{FF2B5EF4-FFF2-40B4-BE49-F238E27FC236}">
                  <a16:creationId xmlns:a16="http://schemas.microsoft.com/office/drawing/2014/main" id="{D52AD584-8FD1-B54B-A73F-B59510B2A9B2}"/>
                </a:ext>
              </a:extLst>
            </p:cNvPr>
            <p:cNvCxnSpPr>
              <a:cxnSpLocks/>
            </p:cNvCxnSpPr>
            <p:nvPr/>
          </p:nvCxnSpPr>
          <p:spPr>
            <a:xfrm>
              <a:off x="582085" y="1556203"/>
              <a:ext cx="8736539"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4F55F2E5-BC44-CB4E-9683-7CA53739D2D0}"/>
                </a:ext>
              </a:extLst>
            </p:cNvPr>
            <p:cNvSpPr txBox="1"/>
            <p:nvPr/>
          </p:nvSpPr>
          <p:spPr>
            <a:xfrm>
              <a:off x="582085" y="1253636"/>
              <a:ext cx="8736539" cy="307777"/>
            </a:xfrm>
            <a:prstGeom prst="rect">
              <a:avLst/>
            </a:prstGeom>
            <a:noFill/>
          </p:spPr>
          <p:txBody>
            <a:bodyPr wrap="square" rtlCol="0">
              <a:spAutoFit/>
            </a:bodyPr>
            <a:lstStyle/>
            <a:p>
              <a:pPr algn="ctr"/>
              <a:r>
                <a:rPr lang="en" altLang="ja-JP" sz="1400" dirty="0">
                  <a:latin typeface="Meiryo UI" panose="020B0604030504040204" pitchFamily="34" charset="-128"/>
                  <a:ea typeface="Meiryo UI" panose="020B0604030504040204" pitchFamily="34" charset="-128"/>
                </a:rPr>
                <a:t>2Q</a:t>
              </a:r>
              <a:r>
                <a:rPr lang="ja-JP" altLang="en-US" sz="1400">
                  <a:latin typeface="Meiryo UI" panose="020B0604030504040204" pitchFamily="34" charset="-128"/>
                  <a:ea typeface="Meiryo UI" panose="020B0604030504040204" pitchFamily="34" charset="-128"/>
                </a:rPr>
                <a:t>活動計画（詳細版）</a:t>
              </a:r>
              <a:endParaRPr lang="ja-JP" altLang="en-US" sz="1400" dirty="0">
                <a:latin typeface="Meiryo UI" panose="020B0604030504040204" pitchFamily="34" charset="-128"/>
                <a:ea typeface="Meiryo UI" panose="020B0604030504040204" pitchFamily="34" charset="-128"/>
              </a:endParaRPr>
            </a:p>
          </p:txBody>
        </p:sp>
      </p:grpSp>
    </p:spTree>
    <p:extLst>
      <p:ext uri="{BB962C8B-B14F-4D97-AF65-F5344CB8AC3E}">
        <p14:creationId xmlns:p14="http://schemas.microsoft.com/office/powerpoint/2010/main" val="1506731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6DBDFF-D041-E247-A137-790C7EB7BE1C}"/>
              </a:ext>
            </a:extLst>
          </p:cNvPr>
          <p:cNvSpPr>
            <a:spLocks noGrp="1"/>
          </p:cNvSpPr>
          <p:nvPr>
            <p:ph type="title"/>
          </p:nvPr>
        </p:nvSpPr>
        <p:spPr>
          <a:xfrm>
            <a:off x="236538" y="128799"/>
            <a:ext cx="7287807" cy="349961"/>
          </a:xfrm>
        </p:spPr>
        <p:txBody>
          <a:bodyPr/>
          <a:lstStyle/>
          <a:p>
            <a:r>
              <a:rPr lang="ja-JP" altLang="en-US" sz="2400" b="1" dirty="0">
                <a:solidFill>
                  <a:srgbClr val="4B4B4B"/>
                </a:solidFill>
              </a:rPr>
              <a:t>ご依頼事項</a:t>
            </a:r>
            <a:endParaRPr kumimoji="1" lang="ja-JP" altLang="en-US" b="1" dirty="0"/>
          </a:p>
        </p:txBody>
      </p:sp>
      <p:sp>
        <p:nvSpPr>
          <p:cNvPr id="5" name="テキスト プレースホルダー 2">
            <a:extLst>
              <a:ext uri="{FF2B5EF4-FFF2-40B4-BE49-F238E27FC236}">
                <a16:creationId xmlns:a16="http://schemas.microsoft.com/office/drawing/2014/main" id="{8AB6BD55-47E4-B549-B6E6-64CCC927B192}"/>
              </a:ext>
            </a:extLst>
          </p:cNvPr>
          <p:cNvSpPr txBox="1">
            <a:spLocks/>
          </p:cNvSpPr>
          <p:nvPr/>
        </p:nvSpPr>
        <p:spPr>
          <a:xfrm>
            <a:off x="236538" y="574775"/>
            <a:ext cx="9440862" cy="318924"/>
          </a:xfrm>
          <a:prstGeom prst="rect">
            <a:avLst/>
          </a:prstGeom>
        </p:spPr>
        <p:txBody>
          <a:bodyPr wrap="square" lIns="36000" tIns="36000" rIns="36000" bIns="36000">
            <a:spAutoFit/>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defTabSz="633062" eaLnBrk="0" fontAlgn="base" hangingPunct="0">
              <a:lnSpc>
                <a:spcPct val="100000"/>
              </a:lnSpc>
              <a:spcBef>
                <a:spcPts val="0"/>
              </a:spcBef>
              <a:spcAft>
                <a:spcPct val="0"/>
              </a:spcAft>
            </a:pPr>
            <a:r>
              <a:rPr lang="en-US" b="1" dirty="0" err="1">
                <a:latin typeface="Meiryo UI" panose="020B0604030504040204" pitchFamily="34" charset="-128"/>
                <a:ea typeface="Meiryo UI" panose="020B0604030504040204" pitchFamily="34" charset="-128"/>
                <a:cs typeface="+mn-cs"/>
              </a:rPr>
              <a:t>作業を進める上でのインプットとなる以下の情報のご提供をお願いしたい</a:t>
            </a:r>
            <a:r>
              <a:rPr lang="en-US" b="1" dirty="0">
                <a:latin typeface="Meiryo UI" panose="020B0604030504040204" pitchFamily="34" charset="-128"/>
                <a:ea typeface="Meiryo UI" panose="020B0604030504040204" pitchFamily="34" charset="-128"/>
                <a:cs typeface="+mn-cs"/>
              </a:rPr>
              <a:t>。</a:t>
            </a:r>
          </a:p>
        </p:txBody>
      </p:sp>
      <p:graphicFrame>
        <p:nvGraphicFramePr>
          <p:cNvPr id="6" name="表 5">
            <a:extLst>
              <a:ext uri="{FF2B5EF4-FFF2-40B4-BE49-F238E27FC236}">
                <a16:creationId xmlns:a16="http://schemas.microsoft.com/office/drawing/2014/main" id="{D60BCA20-661B-F247-8072-BF383E4FDF61}"/>
              </a:ext>
            </a:extLst>
          </p:cNvPr>
          <p:cNvGraphicFramePr>
            <a:graphicFrameLocks noGrp="1"/>
          </p:cNvGraphicFramePr>
          <p:nvPr>
            <p:extLst>
              <p:ext uri="{D42A27DB-BD31-4B8C-83A1-F6EECF244321}">
                <p14:modId xmlns:p14="http://schemas.microsoft.com/office/powerpoint/2010/main" val="302434558"/>
              </p:ext>
            </p:extLst>
          </p:nvPr>
        </p:nvGraphicFramePr>
        <p:xfrm>
          <a:off x="1067969" y="1810479"/>
          <a:ext cx="7770062" cy="2987765"/>
        </p:xfrm>
        <a:graphic>
          <a:graphicData uri="http://schemas.openxmlformats.org/drawingml/2006/table">
            <a:tbl>
              <a:tblPr firstRow="1" bandRow="1">
                <a:tableStyleId>{5940675A-B579-460E-94D1-54222C63F5DA}</a:tableStyleId>
              </a:tblPr>
              <a:tblGrid>
                <a:gridCol w="3885031">
                  <a:extLst>
                    <a:ext uri="{9D8B030D-6E8A-4147-A177-3AD203B41FA5}">
                      <a16:colId xmlns:a16="http://schemas.microsoft.com/office/drawing/2014/main" val="1105804429"/>
                    </a:ext>
                  </a:extLst>
                </a:gridCol>
                <a:gridCol w="3885031">
                  <a:extLst>
                    <a:ext uri="{9D8B030D-6E8A-4147-A177-3AD203B41FA5}">
                      <a16:colId xmlns:a16="http://schemas.microsoft.com/office/drawing/2014/main" val="3288796451"/>
                    </a:ext>
                  </a:extLst>
                </a:gridCol>
              </a:tblGrid>
              <a:tr h="438023">
                <a:tc>
                  <a:txBody>
                    <a:bodyPr/>
                    <a:lstStyle/>
                    <a:p>
                      <a:pPr algn="ctr"/>
                      <a:r>
                        <a:rPr kumimoji="1" lang="ja-JP" altLang="en-US" sz="1600" b="0" i="0">
                          <a:solidFill>
                            <a:schemeClr val="bg2">
                              <a:lumMod val="50000"/>
                            </a:schemeClr>
                          </a:solidFill>
                          <a:latin typeface="Meiryo UI" panose="020B0604030504040204" pitchFamily="34" charset="-128"/>
                          <a:ea typeface="Meiryo UI" panose="020B0604030504040204" pitchFamily="34" charset="-128"/>
                        </a:rPr>
                        <a:t>提供依頼事項一覧</a:t>
                      </a:r>
                      <a:endParaRPr kumimoji="1" lang="ja-JP" altLang="en-US" sz="16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tc>
                  <a:txBody>
                    <a:bodyPr/>
                    <a:lstStyle/>
                    <a:p>
                      <a:pPr algn="ctr"/>
                      <a:r>
                        <a:rPr kumimoji="1" lang="ja-JP" altLang="en-US" sz="1600" b="0" i="0">
                          <a:solidFill>
                            <a:schemeClr val="bg2">
                              <a:lumMod val="50000"/>
                            </a:schemeClr>
                          </a:solidFill>
                          <a:latin typeface="Meiryo UI" panose="020B0604030504040204" pitchFamily="34" charset="-128"/>
                          <a:ea typeface="Meiryo UI" panose="020B0604030504040204" pitchFamily="34" charset="-128"/>
                        </a:rPr>
                        <a:t>例</a:t>
                      </a:r>
                      <a:endParaRPr kumimoji="1" lang="ja-JP" altLang="en-US" sz="1600" b="0" i="0" dirty="0">
                        <a:solidFill>
                          <a:schemeClr val="bg2">
                            <a:lumMod val="50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26292608"/>
                  </a:ext>
                </a:extLst>
              </a:tr>
              <a:tr h="127487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過去検討の詳細情報</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en-US" altLang="ja-JP" sz="1600" b="0" i="0" dirty="0">
                          <a:solidFill>
                            <a:schemeClr val="tx1">
                              <a:lumMod val="65000"/>
                              <a:lumOff val="35000"/>
                            </a:schemeClr>
                          </a:solidFill>
                          <a:latin typeface="Meiryo UI" panose="020B0604030504040204" pitchFamily="34" charset="-128"/>
                          <a:ea typeface="Meiryo UI" panose="020B0604030504040204" pitchFamily="34" charset="-128"/>
                        </a:rPr>
                        <a:t>PJ</a:t>
                      </a:r>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資料</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8787720"/>
                  </a:ext>
                </a:extLst>
              </a:tr>
              <a:tr h="127487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関連システム仕様・定義書</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✓システム仕様書</a:t>
                      </a:r>
                      <a:endParaRPr kumimoji="1" lang="en-US" altLang="ja-JP" sz="16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a:t>
                      </a:r>
                      <a:r>
                        <a:rPr kumimoji="1" lang="en-US" altLang="ja-JP" sz="1600" b="0" i="0" dirty="0">
                          <a:solidFill>
                            <a:schemeClr val="tx1">
                              <a:lumMod val="65000"/>
                              <a:lumOff val="35000"/>
                            </a:schemeClr>
                          </a:solidFill>
                          <a:latin typeface="Meiryo UI" panose="020B0604030504040204" pitchFamily="34" charset="-128"/>
                          <a:ea typeface="Meiryo UI" panose="020B0604030504040204" pitchFamily="34" charset="-128"/>
                        </a:rPr>
                        <a:t>DB</a:t>
                      </a:r>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定義書</a:t>
                      </a:r>
                      <a:endParaRPr kumimoji="1" lang="en-US" altLang="ja-JP" sz="16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✓帳票</a:t>
                      </a:r>
                      <a:endParaRPr kumimoji="1" lang="en-US" altLang="ja-JP" sz="1600" b="0" i="0" dirty="0">
                        <a:solidFill>
                          <a:schemeClr val="tx1">
                            <a:lumMod val="65000"/>
                            <a:lumOff val="35000"/>
                          </a:schemeClr>
                        </a:solidFill>
                        <a:latin typeface="Meiryo UI" panose="020B0604030504040204" pitchFamily="34" charset="-128"/>
                        <a:ea typeface="Meiryo UI" panose="020B0604030504040204" pitchFamily="34" charset="-128"/>
                      </a:endParaRPr>
                    </a:p>
                    <a:p>
                      <a:pPr algn="l"/>
                      <a:r>
                        <a:rPr kumimoji="1" lang="ja-JP" altLang="en-US" sz="1600" b="0" i="0">
                          <a:solidFill>
                            <a:schemeClr val="tx1">
                              <a:lumMod val="65000"/>
                              <a:lumOff val="35000"/>
                            </a:schemeClr>
                          </a:solidFill>
                          <a:latin typeface="Meiryo UI" panose="020B0604030504040204" pitchFamily="34" charset="-128"/>
                          <a:ea typeface="Meiryo UI" panose="020B0604030504040204" pitchFamily="34" charset="-128"/>
                        </a:rPr>
                        <a:t>✓その他業務文書</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7274703"/>
                  </a:ext>
                </a:extLst>
              </a:tr>
            </a:tbl>
          </a:graphicData>
        </a:graphic>
      </p:graphicFrame>
    </p:spTree>
    <p:extLst>
      <p:ext uri="{BB962C8B-B14F-4D97-AF65-F5344CB8AC3E}">
        <p14:creationId xmlns:p14="http://schemas.microsoft.com/office/powerpoint/2010/main" val="1902945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C278B2A7-20E8-1F4E-BE7E-4B9338E94BF7}"/>
              </a:ext>
            </a:extLst>
          </p:cNvPr>
          <p:cNvSpPr/>
          <p:nvPr/>
        </p:nvSpPr>
        <p:spPr bwMode="gray">
          <a:xfrm>
            <a:off x="2450303" y="5089621"/>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98AEE66A-18FA-8140-B896-660C67AFABC2}"/>
              </a:ext>
            </a:extLst>
          </p:cNvPr>
          <p:cNvSpPr/>
          <p:nvPr/>
        </p:nvSpPr>
        <p:spPr bwMode="gray">
          <a:xfrm>
            <a:off x="2450303" y="5356387"/>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0D37EB7F-6BE1-EA4B-9B90-053270CC8C4D}"/>
              </a:ext>
            </a:extLst>
          </p:cNvPr>
          <p:cNvSpPr/>
          <p:nvPr/>
        </p:nvSpPr>
        <p:spPr bwMode="gray">
          <a:xfrm>
            <a:off x="2450303" y="4557611"/>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4FC1B760-4753-754D-B9A3-4BDBF71D3A06}"/>
              </a:ext>
            </a:extLst>
          </p:cNvPr>
          <p:cNvSpPr/>
          <p:nvPr/>
        </p:nvSpPr>
        <p:spPr bwMode="gray">
          <a:xfrm>
            <a:off x="2450303" y="2694053"/>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OUT</a:t>
            </a:r>
          </a:p>
        </p:txBody>
      </p:sp>
      <p:sp>
        <p:nvSpPr>
          <p:cNvPr id="23" name="正方形/長方形 22">
            <a:extLst>
              <a:ext uri="{FF2B5EF4-FFF2-40B4-BE49-F238E27FC236}">
                <a16:creationId xmlns:a16="http://schemas.microsoft.com/office/drawing/2014/main" id="{64130314-B064-5E4E-8FA6-66386318D76F}"/>
              </a:ext>
            </a:extLst>
          </p:cNvPr>
          <p:cNvSpPr/>
          <p:nvPr/>
        </p:nvSpPr>
        <p:spPr bwMode="gray">
          <a:xfrm>
            <a:off x="2450303" y="5623154"/>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964637D0-2B8C-F145-B82D-DE3F2B5CD176}"/>
              </a:ext>
            </a:extLst>
          </p:cNvPr>
          <p:cNvSpPr/>
          <p:nvPr/>
        </p:nvSpPr>
        <p:spPr bwMode="gray">
          <a:xfrm>
            <a:off x="2450303" y="3493592"/>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5" name="正方形/長方形 24">
            <a:extLst>
              <a:ext uri="{FF2B5EF4-FFF2-40B4-BE49-F238E27FC236}">
                <a16:creationId xmlns:a16="http://schemas.microsoft.com/office/drawing/2014/main" id="{1623EC5B-0525-2F4D-B552-E429FBB22722}"/>
              </a:ext>
            </a:extLst>
          </p:cNvPr>
          <p:cNvSpPr/>
          <p:nvPr/>
        </p:nvSpPr>
        <p:spPr bwMode="gray">
          <a:xfrm>
            <a:off x="2450303" y="3759596"/>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26" name="正方形/長方形 25">
            <a:extLst>
              <a:ext uri="{FF2B5EF4-FFF2-40B4-BE49-F238E27FC236}">
                <a16:creationId xmlns:a16="http://schemas.microsoft.com/office/drawing/2014/main" id="{6CCA09CA-7471-154D-AFBA-0503982A5D14}"/>
              </a:ext>
            </a:extLst>
          </p:cNvPr>
          <p:cNvSpPr/>
          <p:nvPr/>
        </p:nvSpPr>
        <p:spPr bwMode="gray">
          <a:xfrm>
            <a:off x="2450303" y="5889158"/>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3D18ECEC-070A-6945-BD3B-CC88DF0C85A7}"/>
              </a:ext>
            </a:extLst>
          </p:cNvPr>
          <p:cNvSpPr/>
          <p:nvPr/>
        </p:nvSpPr>
        <p:spPr bwMode="gray">
          <a:xfrm>
            <a:off x="2450303" y="3227587"/>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29" name="正方形/長方形 28">
            <a:extLst>
              <a:ext uri="{FF2B5EF4-FFF2-40B4-BE49-F238E27FC236}">
                <a16:creationId xmlns:a16="http://schemas.microsoft.com/office/drawing/2014/main" id="{4E7F7B01-C7F0-A340-8E6C-6DABD4342B8C}"/>
              </a:ext>
            </a:extLst>
          </p:cNvPr>
          <p:cNvSpPr/>
          <p:nvPr/>
        </p:nvSpPr>
        <p:spPr bwMode="gray">
          <a:xfrm>
            <a:off x="2450303" y="4291606"/>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F7854A92-B78D-5C44-9484-92142F057FE2}"/>
              </a:ext>
            </a:extLst>
          </p:cNvPr>
          <p:cNvSpPr/>
          <p:nvPr/>
        </p:nvSpPr>
        <p:spPr bwMode="gray">
          <a:xfrm>
            <a:off x="4442605" y="5089239"/>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p>
        </p:txBody>
      </p:sp>
      <p:sp>
        <p:nvSpPr>
          <p:cNvPr id="32" name="正方形/長方形 31">
            <a:extLst>
              <a:ext uri="{FF2B5EF4-FFF2-40B4-BE49-F238E27FC236}">
                <a16:creationId xmlns:a16="http://schemas.microsoft.com/office/drawing/2014/main" id="{319A94D6-72F3-164E-84FC-FA5E21ADA71A}"/>
              </a:ext>
            </a:extLst>
          </p:cNvPr>
          <p:cNvSpPr/>
          <p:nvPr/>
        </p:nvSpPr>
        <p:spPr bwMode="gray">
          <a:xfrm>
            <a:off x="4442605" y="5356006"/>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p>
        </p:txBody>
      </p:sp>
      <p:sp>
        <p:nvSpPr>
          <p:cNvPr id="33" name="正方形/長方形 32">
            <a:extLst>
              <a:ext uri="{FF2B5EF4-FFF2-40B4-BE49-F238E27FC236}">
                <a16:creationId xmlns:a16="http://schemas.microsoft.com/office/drawing/2014/main" id="{F22A09B2-607E-5940-93D7-5A99FE275020}"/>
              </a:ext>
            </a:extLst>
          </p:cNvPr>
          <p:cNvSpPr/>
          <p:nvPr/>
        </p:nvSpPr>
        <p:spPr bwMode="gray">
          <a:xfrm>
            <a:off x="4442605" y="4557229"/>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EEEDE2BD-B5CF-9C43-A6A4-5E2B8CA1587E}"/>
              </a:ext>
            </a:extLst>
          </p:cNvPr>
          <p:cNvSpPr/>
          <p:nvPr/>
        </p:nvSpPr>
        <p:spPr bwMode="gray">
          <a:xfrm>
            <a:off x="4442605" y="2693672"/>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08D24F1E-EDC6-0C4A-8414-DBD85371CACF}"/>
              </a:ext>
            </a:extLst>
          </p:cNvPr>
          <p:cNvSpPr/>
          <p:nvPr/>
        </p:nvSpPr>
        <p:spPr bwMode="gray">
          <a:xfrm>
            <a:off x="4442605" y="5622772"/>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p>
        </p:txBody>
      </p:sp>
      <p:sp>
        <p:nvSpPr>
          <p:cNvPr id="36" name="正方形/長方形 35">
            <a:extLst>
              <a:ext uri="{FF2B5EF4-FFF2-40B4-BE49-F238E27FC236}">
                <a16:creationId xmlns:a16="http://schemas.microsoft.com/office/drawing/2014/main" id="{07022AD7-38E2-EC4A-95CB-944BEB97CE2B}"/>
              </a:ext>
            </a:extLst>
          </p:cNvPr>
          <p:cNvSpPr/>
          <p:nvPr/>
        </p:nvSpPr>
        <p:spPr bwMode="gray">
          <a:xfrm>
            <a:off x="4442605" y="3493210"/>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37" name="正方形/長方形 36">
            <a:extLst>
              <a:ext uri="{FF2B5EF4-FFF2-40B4-BE49-F238E27FC236}">
                <a16:creationId xmlns:a16="http://schemas.microsoft.com/office/drawing/2014/main" id="{4CFF77AD-A2EF-B34C-84CC-22A622D2A62E}"/>
              </a:ext>
            </a:extLst>
          </p:cNvPr>
          <p:cNvSpPr/>
          <p:nvPr/>
        </p:nvSpPr>
        <p:spPr bwMode="gray">
          <a:xfrm>
            <a:off x="4442605" y="3759215"/>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38" name="正方形/長方形 37">
            <a:extLst>
              <a:ext uri="{FF2B5EF4-FFF2-40B4-BE49-F238E27FC236}">
                <a16:creationId xmlns:a16="http://schemas.microsoft.com/office/drawing/2014/main" id="{81CABE8D-2B4D-1642-9724-7118CF88ED9F}"/>
              </a:ext>
            </a:extLst>
          </p:cNvPr>
          <p:cNvSpPr/>
          <p:nvPr/>
        </p:nvSpPr>
        <p:spPr bwMode="gray">
          <a:xfrm>
            <a:off x="4442605" y="5888777"/>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p>
        </p:txBody>
      </p:sp>
      <p:sp>
        <p:nvSpPr>
          <p:cNvPr id="39" name="正方形/長方形 38">
            <a:extLst>
              <a:ext uri="{FF2B5EF4-FFF2-40B4-BE49-F238E27FC236}">
                <a16:creationId xmlns:a16="http://schemas.microsoft.com/office/drawing/2014/main" id="{886F8AFA-584A-0343-8873-2773698ABF39}"/>
              </a:ext>
            </a:extLst>
          </p:cNvPr>
          <p:cNvSpPr/>
          <p:nvPr/>
        </p:nvSpPr>
        <p:spPr bwMode="gray">
          <a:xfrm>
            <a:off x="4442605" y="3227205"/>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B5646130-0149-F349-AE06-A565BC37DA17}"/>
              </a:ext>
            </a:extLst>
          </p:cNvPr>
          <p:cNvSpPr/>
          <p:nvPr/>
        </p:nvSpPr>
        <p:spPr bwMode="gray">
          <a:xfrm>
            <a:off x="4442605" y="4291225"/>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A840401D-5619-1D44-94A9-855EB610F4AE}"/>
              </a:ext>
            </a:extLst>
          </p:cNvPr>
          <p:cNvSpPr/>
          <p:nvPr/>
        </p:nvSpPr>
        <p:spPr bwMode="gray">
          <a:xfrm>
            <a:off x="6452307" y="5089864"/>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OUT</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E5E205CC-19EF-314C-AE5C-E6DF992BA7C5}"/>
              </a:ext>
            </a:extLst>
          </p:cNvPr>
          <p:cNvSpPr/>
          <p:nvPr/>
        </p:nvSpPr>
        <p:spPr bwMode="gray">
          <a:xfrm>
            <a:off x="6452307" y="5356631"/>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OUT</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5C0F6A48-6B6F-5E44-9344-D137CB52EAB3}"/>
              </a:ext>
            </a:extLst>
          </p:cNvPr>
          <p:cNvSpPr/>
          <p:nvPr/>
        </p:nvSpPr>
        <p:spPr bwMode="gray">
          <a:xfrm>
            <a:off x="6452307" y="4557855"/>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CCE8F81E-15D6-6E4C-91DF-163EC26B66E9}"/>
              </a:ext>
            </a:extLst>
          </p:cNvPr>
          <p:cNvSpPr/>
          <p:nvPr/>
        </p:nvSpPr>
        <p:spPr bwMode="gray">
          <a:xfrm>
            <a:off x="6452307" y="2694298"/>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47" name="正方形/長方形 46">
            <a:extLst>
              <a:ext uri="{FF2B5EF4-FFF2-40B4-BE49-F238E27FC236}">
                <a16:creationId xmlns:a16="http://schemas.microsoft.com/office/drawing/2014/main" id="{DB2B3576-4892-1A4A-B904-A1953D4F8CD1}"/>
              </a:ext>
            </a:extLst>
          </p:cNvPr>
          <p:cNvSpPr/>
          <p:nvPr/>
        </p:nvSpPr>
        <p:spPr bwMode="gray">
          <a:xfrm>
            <a:off x="6452307" y="5623398"/>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48" name="正方形/長方形 47">
            <a:extLst>
              <a:ext uri="{FF2B5EF4-FFF2-40B4-BE49-F238E27FC236}">
                <a16:creationId xmlns:a16="http://schemas.microsoft.com/office/drawing/2014/main" id="{3A84EBC6-E107-C447-8077-627A31239DE9}"/>
              </a:ext>
            </a:extLst>
          </p:cNvPr>
          <p:cNvSpPr/>
          <p:nvPr/>
        </p:nvSpPr>
        <p:spPr bwMode="gray">
          <a:xfrm>
            <a:off x="6452307" y="3493836"/>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49" name="正方形/長方形 48">
            <a:extLst>
              <a:ext uri="{FF2B5EF4-FFF2-40B4-BE49-F238E27FC236}">
                <a16:creationId xmlns:a16="http://schemas.microsoft.com/office/drawing/2014/main" id="{0754937F-5090-3447-AA1C-07134A186672}"/>
              </a:ext>
            </a:extLst>
          </p:cNvPr>
          <p:cNvSpPr/>
          <p:nvPr/>
        </p:nvSpPr>
        <p:spPr bwMode="gray">
          <a:xfrm>
            <a:off x="6452307" y="3759841"/>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50" name="正方形/長方形 49">
            <a:extLst>
              <a:ext uri="{FF2B5EF4-FFF2-40B4-BE49-F238E27FC236}">
                <a16:creationId xmlns:a16="http://schemas.microsoft.com/office/drawing/2014/main" id="{730E06BA-4268-0E48-A3D9-29D4FA23BA37}"/>
              </a:ext>
            </a:extLst>
          </p:cNvPr>
          <p:cNvSpPr/>
          <p:nvPr/>
        </p:nvSpPr>
        <p:spPr bwMode="gray">
          <a:xfrm>
            <a:off x="6452307" y="5889403"/>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OUT</a:t>
            </a:r>
          </a:p>
        </p:txBody>
      </p:sp>
      <p:sp>
        <p:nvSpPr>
          <p:cNvPr id="51" name="正方形/長方形 50">
            <a:extLst>
              <a:ext uri="{FF2B5EF4-FFF2-40B4-BE49-F238E27FC236}">
                <a16:creationId xmlns:a16="http://schemas.microsoft.com/office/drawing/2014/main" id="{90718339-1E03-1142-9161-5888DB531A15}"/>
              </a:ext>
            </a:extLst>
          </p:cNvPr>
          <p:cNvSpPr/>
          <p:nvPr/>
        </p:nvSpPr>
        <p:spPr bwMode="gray">
          <a:xfrm>
            <a:off x="6452307" y="3227831"/>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72AF960F-05D9-5840-A906-5A0050BE0543}"/>
              </a:ext>
            </a:extLst>
          </p:cNvPr>
          <p:cNvSpPr/>
          <p:nvPr/>
        </p:nvSpPr>
        <p:spPr bwMode="gray">
          <a:xfrm>
            <a:off x="6452307" y="4291850"/>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74" name="正方形/長方形 73">
            <a:extLst>
              <a:ext uri="{FF2B5EF4-FFF2-40B4-BE49-F238E27FC236}">
                <a16:creationId xmlns:a16="http://schemas.microsoft.com/office/drawing/2014/main" id="{4429E2AF-10D2-AF4D-A555-CF69523A10AB}"/>
              </a:ext>
            </a:extLst>
          </p:cNvPr>
          <p:cNvSpPr/>
          <p:nvPr/>
        </p:nvSpPr>
        <p:spPr bwMode="gray">
          <a:xfrm>
            <a:off x="2450303" y="2960821"/>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75" name="正方形/長方形 74">
            <a:extLst>
              <a:ext uri="{FF2B5EF4-FFF2-40B4-BE49-F238E27FC236}">
                <a16:creationId xmlns:a16="http://schemas.microsoft.com/office/drawing/2014/main" id="{039817A7-7B2F-F84C-B9CD-379A73CB079C}"/>
              </a:ext>
            </a:extLst>
          </p:cNvPr>
          <p:cNvSpPr/>
          <p:nvPr/>
        </p:nvSpPr>
        <p:spPr bwMode="gray">
          <a:xfrm>
            <a:off x="4442605" y="2960439"/>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76" name="正方形/長方形 75">
            <a:extLst>
              <a:ext uri="{FF2B5EF4-FFF2-40B4-BE49-F238E27FC236}">
                <a16:creationId xmlns:a16="http://schemas.microsoft.com/office/drawing/2014/main" id="{636DF52F-6D73-8E49-B22F-3E21AC63E212}"/>
              </a:ext>
            </a:extLst>
          </p:cNvPr>
          <p:cNvSpPr/>
          <p:nvPr/>
        </p:nvSpPr>
        <p:spPr bwMode="gray">
          <a:xfrm>
            <a:off x="6452307" y="2961064"/>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99" name="正方形/長方形 98">
            <a:extLst>
              <a:ext uri="{FF2B5EF4-FFF2-40B4-BE49-F238E27FC236}">
                <a16:creationId xmlns:a16="http://schemas.microsoft.com/office/drawing/2014/main" id="{C915E2D9-9A47-284A-9E8D-715FA22A8E7D}"/>
              </a:ext>
            </a:extLst>
          </p:cNvPr>
          <p:cNvSpPr/>
          <p:nvPr/>
        </p:nvSpPr>
        <p:spPr bwMode="gray">
          <a:xfrm>
            <a:off x="2450303" y="6155925"/>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100" name="正方形/長方形 99">
            <a:extLst>
              <a:ext uri="{FF2B5EF4-FFF2-40B4-BE49-F238E27FC236}">
                <a16:creationId xmlns:a16="http://schemas.microsoft.com/office/drawing/2014/main" id="{642CBB61-46B4-8F48-90E3-640D0427ABD5}"/>
              </a:ext>
            </a:extLst>
          </p:cNvPr>
          <p:cNvSpPr/>
          <p:nvPr/>
        </p:nvSpPr>
        <p:spPr bwMode="gray">
          <a:xfrm>
            <a:off x="4442605" y="6155543"/>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p>
        </p:txBody>
      </p:sp>
      <p:sp>
        <p:nvSpPr>
          <p:cNvPr id="101" name="正方形/長方形 100">
            <a:extLst>
              <a:ext uri="{FF2B5EF4-FFF2-40B4-BE49-F238E27FC236}">
                <a16:creationId xmlns:a16="http://schemas.microsoft.com/office/drawing/2014/main" id="{CDFD77AC-1D23-D740-8562-C04922F1541D}"/>
              </a:ext>
            </a:extLst>
          </p:cNvPr>
          <p:cNvSpPr/>
          <p:nvPr/>
        </p:nvSpPr>
        <p:spPr bwMode="gray">
          <a:xfrm>
            <a:off x="6452307" y="6156168"/>
            <a:ext cx="1808821"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OUT</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107" name="正方形/長方形 106">
            <a:extLst>
              <a:ext uri="{FF2B5EF4-FFF2-40B4-BE49-F238E27FC236}">
                <a16:creationId xmlns:a16="http://schemas.microsoft.com/office/drawing/2014/main" id="{C373E876-74B7-5C49-B586-2362D7E28B25}"/>
              </a:ext>
            </a:extLst>
          </p:cNvPr>
          <p:cNvSpPr/>
          <p:nvPr/>
        </p:nvSpPr>
        <p:spPr bwMode="gray">
          <a:xfrm>
            <a:off x="2448673" y="4025602"/>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p>
        </p:txBody>
      </p:sp>
      <p:sp>
        <p:nvSpPr>
          <p:cNvPr id="108" name="正方形/長方形 107">
            <a:extLst>
              <a:ext uri="{FF2B5EF4-FFF2-40B4-BE49-F238E27FC236}">
                <a16:creationId xmlns:a16="http://schemas.microsoft.com/office/drawing/2014/main" id="{FE261FF2-1922-FE44-AC17-4AA9BD9F3286}"/>
              </a:ext>
            </a:extLst>
          </p:cNvPr>
          <p:cNvSpPr/>
          <p:nvPr/>
        </p:nvSpPr>
        <p:spPr bwMode="gray">
          <a:xfrm>
            <a:off x="4440976" y="4025220"/>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OUT</a:t>
            </a:r>
          </a:p>
        </p:txBody>
      </p:sp>
      <p:sp>
        <p:nvSpPr>
          <p:cNvPr id="109" name="正方形/長方形 108">
            <a:extLst>
              <a:ext uri="{FF2B5EF4-FFF2-40B4-BE49-F238E27FC236}">
                <a16:creationId xmlns:a16="http://schemas.microsoft.com/office/drawing/2014/main" id="{57F977A0-ABBF-7A44-A304-E0562D04B127}"/>
              </a:ext>
            </a:extLst>
          </p:cNvPr>
          <p:cNvSpPr/>
          <p:nvPr/>
        </p:nvSpPr>
        <p:spPr bwMode="gray">
          <a:xfrm>
            <a:off x="6450679" y="4025845"/>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112" name="正方形/長方形 111">
            <a:extLst>
              <a:ext uri="{FF2B5EF4-FFF2-40B4-BE49-F238E27FC236}">
                <a16:creationId xmlns:a16="http://schemas.microsoft.com/office/drawing/2014/main" id="{9ABC30CA-AF7E-2345-B236-6A2D648333A3}"/>
              </a:ext>
            </a:extLst>
          </p:cNvPr>
          <p:cNvSpPr/>
          <p:nvPr/>
        </p:nvSpPr>
        <p:spPr bwMode="gray">
          <a:xfrm>
            <a:off x="2448673" y="4823616"/>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113" name="正方形/長方形 112">
            <a:extLst>
              <a:ext uri="{FF2B5EF4-FFF2-40B4-BE49-F238E27FC236}">
                <a16:creationId xmlns:a16="http://schemas.microsoft.com/office/drawing/2014/main" id="{F8E13A43-EA55-1A48-A9FD-2229055595F8}"/>
              </a:ext>
            </a:extLst>
          </p:cNvPr>
          <p:cNvSpPr/>
          <p:nvPr/>
        </p:nvSpPr>
        <p:spPr bwMode="gray">
          <a:xfrm>
            <a:off x="4440976" y="4823235"/>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000" b="1">
                <a:solidFill>
                  <a:schemeClr val="tx1">
                    <a:lumMod val="65000"/>
                    <a:lumOff val="35000"/>
                  </a:schemeClr>
                </a:solidFill>
                <a:latin typeface="Meiryo UI" panose="020B0604030504040204" pitchFamily="34" charset="-128"/>
                <a:ea typeface="Meiryo UI" panose="020B0604030504040204" pitchFamily="34" charset="-128"/>
              </a:rPr>
              <a:t>ー</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sp>
        <p:nvSpPr>
          <p:cNvPr id="114" name="正方形/長方形 113">
            <a:extLst>
              <a:ext uri="{FF2B5EF4-FFF2-40B4-BE49-F238E27FC236}">
                <a16:creationId xmlns:a16="http://schemas.microsoft.com/office/drawing/2014/main" id="{76012D4D-279C-5946-8619-7AC2F58BBA66}"/>
              </a:ext>
            </a:extLst>
          </p:cNvPr>
          <p:cNvSpPr/>
          <p:nvPr/>
        </p:nvSpPr>
        <p:spPr bwMode="gray">
          <a:xfrm>
            <a:off x="6450679" y="4823860"/>
            <a:ext cx="1808821"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000" b="1" dirty="0">
                <a:solidFill>
                  <a:schemeClr val="tx1">
                    <a:lumMod val="65000"/>
                    <a:lumOff val="35000"/>
                  </a:schemeClr>
                </a:solidFill>
                <a:latin typeface="Meiryo UI" panose="020B0604030504040204" pitchFamily="34" charset="-128"/>
                <a:ea typeface="Meiryo UI" panose="020B0604030504040204" pitchFamily="34" charset="-128"/>
              </a:rPr>
              <a:t>IN</a:t>
            </a: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cxnSp>
        <p:nvCxnSpPr>
          <p:cNvPr id="121" name="直線矢印コネクタ 120">
            <a:extLst>
              <a:ext uri="{FF2B5EF4-FFF2-40B4-BE49-F238E27FC236}">
                <a16:creationId xmlns:a16="http://schemas.microsoft.com/office/drawing/2014/main" id="{0874849B-640B-7B42-900C-B993BA5FACAD}"/>
              </a:ext>
            </a:extLst>
          </p:cNvPr>
          <p:cNvCxnSpPr>
            <a:cxnSpLocks/>
            <a:stCxn id="116" idx="3"/>
            <a:endCxn id="120" idx="1"/>
          </p:cNvCxnSpPr>
          <p:nvPr/>
        </p:nvCxnSpPr>
        <p:spPr>
          <a:xfrm>
            <a:off x="7545219" y="3611186"/>
            <a:ext cx="343502" cy="34385"/>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122" name="直線矢印コネクタ 121">
            <a:extLst>
              <a:ext uri="{FF2B5EF4-FFF2-40B4-BE49-F238E27FC236}">
                <a16:creationId xmlns:a16="http://schemas.microsoft.com/office/drawing/2014/main" id="{EBA495D7-AD2F-1C4B-8B6D-41EEB7CADFCC}"/>
              </a:ext>
            </a:extLst>
          </p:cNvPr>
          <p:cNvCxnSpPr>
            <a:cxnSpLocks/>
            <a:stCxn id="117" idx="3"/>
            <a:endCxn id="120" idx="1"/>
          </p:cNvCxnSpPr>
          <p:nvPr/>
        </p:nvCxnSpPr>
        <p:spPr>
          <a:xfrm flipV="1">
            <a:off x="7545219" y="3645571"/>
            <a:ext cx="343502" cy="232608"/>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sp>
        <p:nvSpPr>
          <p:cNvPr id="137" name="角丸四角形 136">
            <a:extLst>
              <a:ext uri="{FF2B5EF4-FFF2-40B4-BE49-F238E27FC236}">
                <a16:creationId xmlns:a16="http://schemas.microsoft.com/office/drawing/2014/main" id="{6CC535D8-CDEA-9F48-BF5D-14128AEBD984}"/>
              </a:ext>
            </a:extLst>
          </p:cNvPr>
          <p:cNvSpPr/>
          <p:nvPr/>
        </p:nvSpPr>
        <p:spPr bwMode="gray">
          <a:xfrm>
            <a:off x="3169817" y="3779857"/>
            <a:ext cx="395827"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000" b="1" dirty="0">
              <a:solidFill>
                <a:schemeClr val="tx1">
                  <a:lumMod val="65000"/>
                  <a:lumOff val="35000"/>
                </a:schemeClr>
              </a:solidFill>
              <a:latin typeface="Meiryo UI" panose="020B0604030504040204" pitchFamily="34" charset="-128"/>
              <a:ea typeface="Meiryo UI" panose="020B0604030504040204" pitchFamily="34" charset="-128"/>
            </a:endParaRPr>
          </a:p>
        </p:txBody>
      </p:sp>
      <p:cxnSp>
        <p:nvCxnSpPr>
          <p:cNvPr id="124" name="直線矢印コネクタ 123">
            <a:extLst>
              <a:ext uri="{FF2B5EF4-FFF2-40B4-BE49-F238E27FC236}">
                <a16:creationId xmlns:a16="http://schemas.microsoft.com/office/drawing/2014/main" id="{706D8488-58B7-9442-AEA4-341F3CABC513}"/>
              </a:ext>
            </a:extLst>
          </p:cNvPr>
          <p:cNvCxnSpPr>
            <a:cxnSpLocks/>
            <a:stCxn id="119" idx="3"/>
            <a:endCxn id="120" idx="1"/>
          </p:cNvCxnSpPr>
          <p:nvPr/>
        </p:nvCxnSpPr>
        <p:spPr>
          <a:xfrm flipV="1">
            <a:off x="7559654" y="3645571"/>
            <a:ext cx="329067" cy="1297253"/>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262" name="直線矢印コネクタ 261">
            <a:extLst>
              <a:ext uri="{FF2B5EF4-FFF2-40B4-BE49-F238E27FC236}">
                <a16:creationId xmlns:a16="http://schemas.microsoft.com/office/drawing/2014/main" id="{ACED4DC4-4F86-E64C-9C66-4B6791EA0FE4}"/>
              </a:ext>
            </a:extLst>
          </p:cNvPr>
          <p:cNvCxnSpPr>
            <a:cxnSpLocks/>
            <a:stCxn id="137" idx="3"/>
            <a:endCxn id="260" idx="1"/>
          </p:cNvCxnSpPr>
          <p:nvPr/>
        </p:nvCxnSpPr>
        <p:spPr>
          <a:xfrm flipV="1">
            <a:off x="3565644" y="3645571"/>
            <a:ext cx="123217" cy="223624"/>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270" name="直線矢印コネクタ 269">
            <a:extLst>
              <a:ext uri="{FF2B5EF4-FFF2-40B4-BE49-F238E27FC236}">
                <a16:creationId xmlns:a16="http://schemas.microsoft.com/office/drawing/2014/main" id="{880FC790-716E-394E-B511-2CE559B957DA}"/>
              </a:ext>
            </a:extLst>
          </p:cNvPr>
          <p:cNvCxnSpPr>
            <a:cxnSpLocks/>
            <a:stCxn id="269" idx="2"/>
            <a:endCxn id="263" idx="1"/>
          </p:cNvCxnSpPr>
          <p:nvPr/>
        </p:nvCxnSpPr>
        <p:spPr>
          <a:xfrm>
            <a:off x="3326938" y="2622297"/>
            <a:ext cx="351864" cy="378739"/>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276" name="直線矢印コネクタ 275">
            <a:extLst>
              <a:ext uri="{FF2B5EF4-FFF2-40B4-BE49-F238E27FC236}">
                <a16:creationId xmlns:a16="http://schemas.microsoft.com/office/drawing/2014/main" id="{9357A3BE-574B-4649-8B7B-A0301F8E6FBA}"/>
              </a:ext>
            </a:extLst>
          </p:cNvPr>
          <p:cNvCxnSpPr>
            <a:cxnSpLocks/>
            <a:stCxn id="139" idx="3"/>
            <a:endCxn id="260" idx="1"/>
          </p:cNvCxnSpPr>
          <p:nvPr/>
        </p:nvCxnSpPr>
        <p:spPr>
          <a:xfrm flipV="1">
            <a:off x="3565644" y="3645571"/>
            <a:ext cx="123217" cy="2362551"/>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303" name="直線矢印コネクタ 302">
            <a:extLst>
              <a:ext uri="{FF2B5EF4-FFF2-40B4-BE49-F238E27FC236}">
                <a16:creationId xmlns:a16="http://schemas.microsoft.com/office/drawing/2014/main" id="{88DE023A-A870-0E4D-AD42-5DB456B54C8D}"/>
              </a:ext>
            </a:extLst>
          </p:cNvPr>
          <p:cNvCxnSpPr>
            <a:cxnSpLocks/>
            <a:stCxn id="302" idx="3"/>
            <a:endCxn id="304" idx="1"/>
          </p:cNvCxnSpPr>
          <p:nvPr/>
        </p:nvCxnSpPr>
        <p:spPr>
          <a:xfrm>
            <a:off x="7579150" y="4676193"/>
            <a:ext cx="278278" cy="1291100"/>
          </a:xfrm>
          <a:prstGeom prst="straightConnector1">
            <a:avLst/>
          </a:prstGeom>
          <a:noFill/>
          <a:ln w="19050" cap="flat" cmpd="sng" algn="ctr">
            <a:solidFill>
              <a:schemeClr val="accent5">
                <a:lumMod val="40000"/>
                <a:lumOff val="60000"/>
              </a:schemeClr>
            </a:solidFill>
            <a:prstDash val="solid"/>
            <a:headEnd type="oval" w="sm" len="sm"/>
            <a:tailEnd type="oval" w="sm" len="sm"/>
          </a:ln>
          <a:effectLst/>
        </p:spPr>
      </p:cxnSp>
      <p:cxnSp>
        <p:nvCxnSpPr>
          <p:cNvPr id="307" name="直線矢印コネクタ 306">
            <a:extLst>
              <a:ext uri="{FF2B5EF4-FFF2-40B4-BE49-F238E27FC236}">
                <a16:creationId xmlns:a16="http://schemas.microsoft.com/office/drawing/2014/main" id="{C2F5046F-EA07-9F4F-92C4-8ED9CAA38098}"/>
              </a:ext>
            </a:extLst>
          </p:cNvPr>
          <p:cNvCxnSpPr>
            <a:cxnSpLocks/>
            <a:stCxn id="302" idx="0"/>
            <a:endCxn id="120" idx="1"/>
          </p:cNvCxnSpPr>
          <p:nvPr/>
        </p:nvCxnSpPr>
        <p:spPr>
          <a:xfrm flipV="1">
            <a:off x="7381237" y="3645571"/>
            <a:ext cx="507484" cy="941284"/>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sp>
        <p:nvSpPr>
          <p:cNvPr id="68" name="ホームベース 67">
            <a:extLst>
              <a:ext uri="{FF2B5EF4-FFF2-40B4-BE49-F238E27FC236}">
                <a16:creationId xmlns:a16="http://schemas.microsoft.com/office/drawing/2014/main" id="{64284177-301E-7942-93AC-A9815DA8FD72}"/>
              </a:ext>
            </a:extLst>
          </p:cNvPr>
          <p:cNvSpPr/>
          <p:nvPr/>
        </p:nvSpPr>
        <p:spPr bwMode="gray">
          <a:xfrm>
            <a:off x="2450303" y="2420925"/>
            <a:ext cx="1808821" cy="238691"/>
          </a:xfrm>
          <a:prstGeom prst="homePlate">
            <a:avLst>
              <a:gd name="adj" fmla="val 15174"/>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100" dirty="0">
                <a:latin typeface="Meiryo UI" panose="020B0604030504040204" pitchFamily="34" charset="-128"/>
                <a:ea typeface="Meiryo UI" panose="020B0604030504040204" pitchFamily="34" charset="-128"/>
              </a:rPr>
              <a:t>PJ</a:t>
            </a:r>
            <a:r>
              <a:rPr lang="ja-JP" altLang="en-US" sz="1100">
                <a:latin typeface="Meiryo UI" panose="020B0604030504040204" pitchFamily="34" charset="-128"/>
                <a:ea typeface="Meiryo UI" panose="020B0604030504040204" pitchFamily="34" charset="-128"/>
              </a:rPr>
              <a:t>管理プロセス</a:t>
            </a:r>
            <a:endParaRPr lang="en-US" altLang="ja-JP" sz="1100" dirty="0">
              <a:latin typeface="Meiryo UI" panose="020B0604030504040204" pitchFamily="34" charset="-128"/>
              <a:ea typeface="Meiryo UI" panose="020B0604030504040204" pitchFamily="34" charset="-128"/>
            </a:endParaRPr>
          </a:p>
        </p:txBody>
      </p:sp>
      <p:sp>
        <p:nvSpPr>
          <p:cNvPr id="69" name="ホームベース 68">
            <a:extLst>
              <a:ext uri="{FF2B5EF4-FFF2-40B4-BE49-F238E27FC236}">
                <a16:creationId xmlns:a16="http://schemas.microsoft.com/office/drawing/2014/main" id="{9857F947-87B4-C542-BC5A-5DDEAE39C018}"/>
              </a:ext>
            </a:extLst>
          </p:cNvPr>
          <p:cNvSpPr/>
          <p:nvPr/>
        </p:nvSpPr>
        <p:spPr bwMode="gray">
          <a:xfrm>
            <a:off x="4442605" y="2420543"/>
            <a:ext cx="1808821" cy="238691"/>
          </a:xfrm>
          <a:prstGeom prst="homePlate">
            <a:avLst>
              <a:gd name="adj" fmla="val 17661"/>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100">
                <a:latin typeface="Meiryo UI" panose="020B0604030504040204" pitchFamily="34" charset="-128"/>
                <a:ea typeface="Meiryo UI" panose="020B0604030504040204" pitchFamily="34" charset="-128"/>
              </a:rPr>
              <a:t>見積プロセス</a:t>
            </a:r>
            <a:endParaRPr lang="en-US" altLang="ja-JP" sz="1100" dirty="0">
              <a:latin typeface="Meiryo UI" panose="020B0604030504040204" pitchFamily="34" charset="-128"/>
              <a:ea typeface="Meiryo UI" panose="020B0604030504040204" pitchFamily="34" charset="-128"/>
            </a:endParaRPr>
          </a:p>
        </p:txBody>
      </p:sp>
      <p:sp>
        <p:nvSpPr>
          <p:cNvPr id="70" name="ホームベース 69">
            <a:extLst>
              <a:ext uri="{FF2B5EF4-FFF2-40B4-BE49-F238E27FC236}">
                <a16:creationId xmlns:a16="http://schemas.microsoft.com/office/drawing/2014/main" id="{E405B8D5-9459-5B4C-829A-D47B76EE3E08}"/>
              </a:ext>
            </a:extLst>
          </p:cNvPr>
          <p:cNvSpPr/>
          <p:nvPr/>
        </p:nvSpPr>
        <p:spPr bwMode="gray">
          <a:xfrm>
            <a:off x="6452307" y="2421168"/>
            <a:ext cx="1808821" cy="238691"/>
          </a:xfrm>
          <a:prstGeom prst="homePlate">
            <a:avLst>
              <a:gd name="adj" fmla="val 25124"/>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100">
                <a:latin typeface="Meiryo UI" panose="020B0604030504040204" pitchFamily="34" charset="-128"/>
                <a:ea typeface="Meiryo UI" panose="020B0604030504040204" pitchFamily="34" charset="-128"/>
              </a:rPr>
              <a:t>調達プロセス</a:t>
            </a:r>
            <a:endParaRPr lang="en-US" altLang="ja-JP" sz="1100" dirty="0">
              <a:latin typeface="Meiryo UI" panose="020B0604030504040204" pitchFamily="34" charset="-128"/>
              <a:ea typeface="Meiryo UI" panose="020B0604030504040204" pitchFamily="34" charset="-128"/>
            </a:endParaRPr>
          </a:p>
        </p:txBody>
      </p:sp>
      <p:sp>
        <p:nvSpPr>
          <p:cNvPr id="143" name="角丸四角形 142">
            <a:extLst>
              <a:ext uri="{FF2B5EF4-FFF2-40B4-BE49-F238E27FC236}">
                <a16:creationId xmlns:a16="http://schemas.microsoft.com/office/drawing/2014/main" id="{26B8933C-8534-EA45-8808-0EE481282C10}"/>
              </a:ext>
            </a:extLst>
          </p:cNvPr>
          <p:cNvSpPr/>
          <p:nvPr/>
        </p:nvSpPr>
        <p:spPr bwMode="gray">
          <a:xfrm>
            <a:off x="6902133" y="2443622"/>
            <a:ext cx="850355"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89" name="角丸四角形 188">
            <a:extLst>
              <a:ext uri="{FF2B5EF4-FFF2-40B4-BE49-F238E27FC236}">
                <a16:creationId xmlns:a16="http://schemas.microsoft.com/office/drawing/2014/main" id="{26FB8CCB-D10A-6E44-90C2-6716B16F2DEF}"/>
              </a:ext>
            </a:extLst>
          </p:cNvPr>
          <p:cNvSpPr/>
          <p:nvPr/>
        </p:nvSpPr>
        <p:spPr bwMode="gray">
          <a:xfrm>
            <a:off x="4882400" y="2450615"/>
            <a:ext cx="850355"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2" name="タイトル 1">
            <a:extLst>
              <a:ext uri="{FF2B5EF4-FFF2-40B4-BE49-F238E27FC236}">
                <a16:creationId xmlns:a16="http://schemas.microsoft.com/office/drawing/2014/main" id="{917D2012-2CB5-0649-997E-61813887837E}"/>
              </a:ext>
            </a:extLst>
          </p:cNvPr>
          <p:cNvSpPr>
            <a:spLocks noGrp="1"/>
          </p:cNvSpPr>
          <p:nvPr>
            <p:ph type="title"/>
          </p:nvPr>
        </p:nvSpPr>
        <p:spPr>
          <a:xfrm>
            <a:off x="236538" y="128799"/>
            <a:ext cx="7594051" cy="349961"/>
          </a:xfrm>
        </p:spPr>
        <p:txBody>
          <a:bodyPr/>
          <a:lstStyle/>
          <a:p>
            <a:r>
              <a:rPr kumimoji="1" lang="ja-JP" altLang="en-US" b="1" dirty="0"/>
              <a:t>重点シナリオの選定の進め方（</a:t>
            </a:r>
            <a:r>
              <a:rPr lang="ja-JP" altLang="en-US" b="1" dirty="0"/>
              <a:t>ディスカッション資料</a:t>
            </a:r>
            <a:r>
              <a:rPr kumimoji="1" lang="ja-JP" altLang="en-US" b="1" dirty="0"/>
              <a:t>）</a:t>
            </a:r>
          </a:p>
        </p:txBody>
      </p:sp>
      <p:sp>
        <p:nvSpPr>
          <p:cNvPr id="5" name="テキスト プレースホルダー 2">
            <a:extLst>
              <a:ext uri="{FF2B5EF4-FFF2-40B4-BE49-F238E27FC236}">
                <a16:creationId xmlns:a16="http://schemas.microsoft.com/office/drawing/2014/main" id="{6B7221CF-F360-B146-92E4-7D4BE9FAF093}"/>
              </a:ext>
            </a:extLst>
          </p:cNvPr>
          <p:cNvSpPr>
            <a:spLocks noGrp="1"/>
          </p:cNvSpPr>
          <p:nvPr>
            <p:ph type="body" sz="quarter" idx="10"/>
          </p:nvPr>
        </p:nvSpPr>
        <p:spPr>
          <a:xfrm>
            <a:off x="236538" y="574775"/>
            <a:ext cx="9440862" cy="1580808"/>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altLang="ja-JP" sz="1400" b="1" dirty="0">
                <a:latin typeface="Meiryo UI" panose="020B0604030504040204" pitchFamily="34" charset="-128"/>
                <a:ea typeface="Meiryo UI" panose="020B0604030504040204" pitchFamily="34" charset="-128"/>
              </a:rPr>
              <a:t>【</a:t>
            </a:r>
            <a:r>
              <a:rPr lang="en-US" sz="1400" b="1" dirty="0">
                <a:latin typeface="Meiryo UI" panose="020B0604030504040204" pitchFamily="34" charset="-128"/>
                <a:ea typeface="Meiryo UI" panose="020B0604030504040204" pitchFamily="34" charset="-128"/>
                <a:cs typeface="+mn-cs"/>
              </a:rPr>
              <a:t>Step1】先日の7/7MTGを踏まえて、経営系と事業系の業務領域から重点ビジネスシナリオ</a:t>
            </a:r>
            <a:r>
              <a:rPr lang="en-US" sz="1400" b="1" baseline="30000" dirty="0">
                <a:latin typeface="Meiryo UI" panose="020B0604030504040204" pitchFamily="34" charset="-128"/>
                <a:ea typeface="Meiryo UI" panose="020B0604030504040204" pitchFamily="34" charset="-128"/>
                <a:cs typeface="+mn-cs"/>
              </a:rPr>
              <a:t>*1</a:t>
            </a:r>
            <a:r>
              <a:rPr lang="en-US" sz="1400" b="1" dirty="0">
                <a:latin typeface="Meiryo UI" panose="020B0604030504040204" pitchFamily="34" charset="-128"/>
                <a:ea typeface="Meiryo UI" panose="020B0604030504040204" pitchFamily="34" charset="-128"/>
                <a:cs typeface="+mn-cs"/>
              </a:rPr>
              <a:t>を選定し、</a:t>
            </a:r>
          </a:p>
          <a:p>
            <a:pPr marL="714375" defTabSz="633062" eaLnBrk="0" fontAlgn="base" hangingPunct="0">
              <a:lnSpc>
                <a:spcPct val="100000"/>
              </a:lnSpc>
              <a:spcBef>
                <a:spcPts val="0"/>
              </a:spcBef>
              <a:spcAft>
                <a:spcPct val="0"/>
              </a:spcAft>
            </a:pPr>
            <a:r>
              <a:rPr lang="en-US" sz="1400" b="1" dirty="0" err="1">
                <a:latin typeface="Meiryo UI" panose="020B0604030504040204" pitchFamily="34" charset="-128"/>
                <a:ea typeface="Meiryo UI" panose="020B0604030504040204" pitchFamily="34" charset="-128"/>
                <a:cs typeface="+mn-cs"/>
              </a:rPr>
              <a:t>AsIsデータフロ</a:t>
            </a:r>
            <a:r>
              <a:rPr lang="en-US" sz="1400" b="1" dirty="0">
                <a:latin typeface="Meiryo UI" panose="020B0604030504040204" pitchFamily="34" charset="-128"/>
                <a:ea typeface="Meiryo UI" panose="020B0604030504040204" pitchFamily="34" charset="-128"/>
                <a:cs typeface="+mn-cs"/>
              </a:rPr>
              <a:t>ー</a:t>
            </a:r>
            <a:r>
              <a:rPr lang="en-US" altLang="ja-JP" sz="1400" b="1" baseline="30000" dirty="0">
                <a:latin typeface="Meiryo UI" panose="020B0604030504040204" pitchFamily="34" charset="-128"/>
                <a:ea typeface="Meiryo UI" panose="020B0604030504040204" pitchFamily="34" charset="-128"/>
              </a:rPr>
              <a:t>*2</a:t>
            </a:r>
            <a:r>
              <a:rPr lang="en-US" sz="1400" b="1" dirty="0">
                <a:latin typeface="Meiryo UI" panose="020B0604030504040204" pitchFamily="34" charset="-128"/>
                <a:ea typeface="Meiryo UI" panose="020B0604030504040204" pitchFamily="34" charset="-128"/>
                <a:cs typeface="+mn-cs"/>
              </a:rPr>
              <a:t>を調査</a:t>
            </a:r>
          </a:p>
          <a:p>
            <a:pPr defTabSz="633062" eaLnBrk="0" fontAlgn="base" hangingPunct="0">
              <a:lnSpc>
                <a:spcPct val="100000"/>
              </a:lnSpc>
              <a:spcBef>
                <a:spcPts val="0"/>
              </a:spcBef>
              <a:spcAft>
                <a:spcPct val="0"/>
              </a:spcAft>
            </a:pPr>
            <a:r>
              <a:rPr lang="en-US" altLang="ja-JP" sz="1400" b="1" dirty="0">
                <a:latin typeface="Meiryo UI" panose="020B0604030504040204" pitchFamily="34" charset="-128"/>
                <a:ea typeface="Meiryo UI" panose="020B0604030504040204" pitchFamily="34" charset="-128"/>
              </a:rPr>
              <a:t>【Step2】</a:t>
            </a:r>
            <a:r>
              <a:rPr lang="en-US" sz="1400" b="1" dirty="0">
                <a:latin typeface="Meiryo UI" panose="020B0604030504040204" pitchFamily="34" charset="-128"/>
                <a:ea typeface="Meiryo UI" panose="020B0604030504040204" pitchFamily="34" charset="-128"/>
                <a:cs typeface="+mn-cs"/>
              </a:rPr>
              <a:t>AsIsデータフロー上でi</a:t>
            </a:r>
            <a:r>
              <a:rPr lang="en-US" altLang="ja-JP" sz="1400" b="1" dirty="0">
                <a:latin typeface="Meiryo UI" panose="020B0604030504040204" pitchFamily="34" charset="-128"/>
                <a:ea typeface="Meiryo UI" panose="020B0604030504040204" pitchFamily="34" charset="-128"/>
              </a:rPr>
              <a:t>nputとなるデータ・ドキュメント</a:t>
            </a:r>
            <a:r>
              <a:rPr lang="ja-JP" altLang="en-US" sz="1400" b="1">
                <a:latin typeface="Meiryo UI" panose="020B0604030504040204" pitchFamily="34" charset="-128"/>
                <a:ea typeface="Meiryo UI" panose="020B0604030504040204" pitchFamily="34" charset="-128"/>
                <a:cs typeface="+mn-cs"/>
              </a:rPr>
              <a:t>の</a:t>
            </a:r>
            <a:r>
              <a:rPr lang="en-US" sz="1400" b="1" dirty="0" err="1">
                <a:latin typeface="Meiryo UI" panose="020B0604030504040204" pitchFamily="34" charset="-128"/>
                <a:ea typeface="Meiryo UI" panose="020B0604030504040204" pitchFamily="34" charset="-128"/>
                <a:cs typeface="+mn-cs"/>
              </a:rPr>
              <a:t>洗い出し</a:t>
            </a:r>
            <a:endParaRPr lang="en-US" sz="1400" b="1" dirty="0">
              <a:latin typeface="Meiryo UI" panose="020B0604030504040204" pitchFamily="34" charset="-128"/>
              <a:ea typeface="Meiryo UI" panose="020B0604030504040204" pitchFamily="34" charset="-128"/>
              <a:cs typeface="+mn-cs"/>
            </a:endParaRPr>
          </a:p>
          <a:p>
            <a:pPr defTabSz="633062" eaLnBrk="0" fontAlgn="base" hangingPunct="0">
              <a:lnSpc>
                <a:spcPct val="100000"/>
              </a:lnSpc>
              <a:spcBef>
                <a:spcPts val="0"/>
              </a:spcBef>
              <a:spcAft>
                <a:spcPct val="0"/>
              </a:spcAft>
            </a:pPr>
            <a:r>
              <a:rPr lang="en-US" altLang="ja-JP" sz="1400" b="1" dirty="0">
                <a:latin typeface="Meiryo UI" panose="020B0604030504040204" pitchFamily="34" charset="-128"/>
                <a:ea typeface="Meiryo UI" panose="020B0604030504040204" pitchFamily="34" charset="-128"/>
              </a:rPr>
              <a:t>【Step3】</a:t>
            </a:r>
            <a:r>
              <a:rPr lang="en-US" sz="1400" b="1" dirty="0">
                <a:latin typeface="Meiryo UI" panose="020B0604030504040204" pitchFamily="34" charset="-128"/>
                <a:ea typeface="Meiryo UI" panose="020B0604030504040204" pitchFamily="34" charset="-128"/>
                <a:cs typeface="+mn-cs"/>
              </a:rPr>
              <a:t>ToBeユースケース</a:t>
            </a:r>
            <a:r>
              <a:rPr lang="en-US" sz="1400" b="1" baseline="30000" dirty="0">
                <a:latin typeface="Meiryo UI" panose="020B0604030504040204" pitchFamily="34" charset="-128"/>
                <a:ea typeface="Meiryo UI" panose="020B0604030504040204" pitchFamily="34" charset="-128"/>
                <a:cs typeface="+mn-cs"/>
              </a:rPr>
              <a:t>*3</a:t>
            </a:r>
            <a:r>
              <a:rPr lang="en-US" sz="1400" b="1" dirty="0">
                <a:latin typeface="Meiryo UI" panose="020B0604030504040204" pitchFamily="34" charset="-128"/>
                <a:ea typeface="Meiryo UI" panose="020B0604030504040204" pitchFamily="34" charset="-128"/>
                <a:cs typeface="+mn-cs"/>
              </a:rPr>
              <a:t>を作成しデータフロー図、ビジネスメタデータを作成</a:t>
            </a:r>
          </a:p>
          <a:p>
            <a:pPr defTabSz="633062" eaLnBrk="0" fontAlgn="base" hangingPunct="0">
              <a:lnSpc>
                <a:spcPct val="100000"/>
              </a:lnSpc>
              <a:spcBef>
                <a:spcPts val="0"/>
              </a:spcBef>
              <a:spcAft>
                <a:spcPct val="0"/>
              </a:spcAft>
            </a:pPr>
            <a:r>
              <a:rPr lang="en-US" altLang="ja-JP" sz="1400" b="1" dirty="0">
                <a:latin typeface="Meiryo UI" panose="020B0604030504040204" pitchFamily="34" charset="-128"/>
                <a:ea typeface="Meiryo UI" panose="020B0604030504040204" pitchFamily="34" charset="-128"/>
              </a:rPr>
              <a:t>【</a:t>
            </a:r>
            <a:r>
              <a:rPr lang="en-US" sz="1400" b="1" dirty="0">
                <a:latin typeface="Meiryo UI" panose="020B0604030504040204" pitchFamily="34" charset="-128"/>
                <a:ea typeface="Meiryo UI" panose="020B0604030504040204" pitchFamily="34" charset="-128"/>
                <a:cs typeface="+mn-cs"/>
              </a:rPr>
              <a:t>Step4】ToBeユースケースでのRef.</a:t>
            </a:r>
            <a:r>
              <a:rPr lang="ja-JP" altLang="en-US" sz="1400" b="1">
                <a:latin typeface="Meiryo UI" panose="020B0604030504040204" pitchFamily="34" charset="-128"/>
                <a:ea typeface="Meiryo UI" panose="020B0604030504040204" pitchFamily="34" charset="-128"/>
                <a:cs typeface="+mn-cs"/>
              </a:rPr>
              <a:t>データフロー図</a:t>
            </a:r>
            <a:r>
              <a:rPr lang="en-US" altLang="ja-JP" sz="1400" b="1" dirty="0">
                <a:latin typeface="Meiryo UI" panose="020B0604030504040204" pitchFamily="34" charset="-128"/>
                <a:ea typeface="Meiryo UI" panose="020B0604030504040204" pitchFamily="34" charset="-128"/>
                <a:cs typeface="+mn-cs"/>
              </a:rPr>
              <a:t>/</a:t>
            </a:r>
            <a:r>
              <a:rPr lang="en-US" sz="1400" b="1" dirty="0">
                <a:latin typeface="Meiryo UI" panose="020B0604030504040204" pitchFamily="34" charset="-128"/>
                <a:ea typeface="Meiryo UI" panose="020B0604030504040204" pitchFamily="34" charset="-128"/>
                <a:cs typeface="+mn-cs"/>
              </a:rPr>
              <a:t>Ref.</a:t>
            </a:r>
            <a:r>
              <a:rPr lang="ja-JP" altLang="en-US" sz="1400" b="1">
                <a:latin typeface="Meiryo UI" panose="020B0604030504040204" pitchFamily="34" charset="-128"/>
                <a:ea typeface="Meiryo UI" panose="020B0604030504040204" pitchFamily="34" charset="-128"/>
                <a:cs typeface="+mn-cs"/>
              </a:rPr>
              <a:t>ビジネスメタデータを作成</a:t>
            </a:r>
          </a:p>
          <a:p>
            <a:pPr defTabSz="633062" eaLnBrk="0" fontAlgn="base" hangingPunct="0">
              <a:lnSpc>
                <a:spcPct val="100000"/>
              </a:lnSpc>
              <a:spcBef>
                <a:spcPts val="0"/>
              </a:spcBef>
              <a:spcAft>
                <a:spcPct val="0"/>
              </a:spcAft>
            </a:pPr>
            <a:endParaRPr lang="ja-JP" altLang="en-US" sz="1400" b="1">
              <a:latin typeface="Meiryo UI" panose="020B0604030504040204" pitchFamily="34" charset="-128"/>
              <a:ea typeface="Meiryo UI" panose="020B0604030504040204" pitchFamily="34" charset="-128"/>
              <a:cs typeface="+mn-cs"/>
            </a:endParaRPr>
          </a:p>
          <a:p>
            <a:pPr defTabSz="633062" eaLnBrk="0" fontAlgn="base" hangingPunct="0">
              <a:lnSpc>
                <a:spcPct val="100000"/>
              </a:lnSpc>
              <a:spcBef>
                <a:spcPts val="0"/>
              </a:spcBef>
              <a:spcAft>
                <a:spcPct val="0"/>
              </a:spcAft>
            </a:pPr>
            <a:endParaRPr lang="en-US" sz="1400" b="1" dirty="0">
              <a:latin typeface="Meiryo UI" panose="020B0604030504040204" pitchFamily="34" charset="-128"/>
              <a:ea typeface="Meiryo UI" panose="020B0604030504040204" pitchFamily="34" charset="-128"/>
              <a:cs typeface="+mn-cs"/>
            </a:endParaRPr>
          </a:p>
        </p:txBody>
      </p:sp>
      <p:grpSp>
        <p:nvGrpSpPr>
          <p:cNvPr id="85" name="グループ化 84">
            <a:extLst>
              <a:ext uri="{FF2B5EF4-FFF2-40B4-BE49-F238E27FC236}">
                <a16:creationId xmlns:a16="http://schemas.microsoft.com/office/drawing/2014/main" id="{27890EBC-1285-7846-92A6-40BCD499E700}"/>
              </a:ext>
            </a:extLst>
          </p:cNvPr>
          <p:cNvGrpSpPr/>
          <p:nvPr/>
        </p:nvGrpSpPr>
        <p:grpSpPr>
          <a:xfrm>
            <a:off x="601748" y="1770542"/>
            <a:ext cx="8731880" cy="276999"/>
            <a:chOff x="582085" y="1195267"/>
            <a:chExt cx="8736539" cy="376741"/>
          </a:xfrm>
        </p:grpSpPr>
        <p:cxnSp>
          <p:nvCxnSpPr>
            <p:cNvPr id="86" name="直線コネクタ 85">
              <a:extLst>
                <a:ext uri="{FF2B5EF4-FFF2-40B4-BE49-F238E27FC236}">
                  <a16:creationId xmlns:a16="http://schemas.microsoft.com/office/drawing/2014/main" id="{8A57D660-4193-F941-9EC0-1BCEE6EC70D5}"/>
                </a:ext>
              </a:extLst>
            </p:cNvPr>
            <p:cNvCxnSpPr>
              <a:cxnSpLocks/>
            </p:cNvCxnSpPr>
            <p:nvPr/>
          </p:nvCxnSpPr>
          <p:spPr>
            <a:xfrm>
              <a:off x="582085" y="1556203"/>
              <a:ext cx="8736539"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A4E8167A-88B4-E54A-8B43-21C3E7B941A7}"/>
                </a:ext>
              </a:extLst>
            </p:cNvPr>
            <p:cNvSpPr txBox="1"/>
            <p:nvPr/>
          </p:nvSpPr>
          <p:spPr>
            <a:xfrm>
              <a:off x="582085" y="1195267"/>
              <a:ext cx="8736539" cy="376741"/>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重点ビジネスシナリオの例</a:t>
              </a:r>
              <a:endParaRPr lang="ja-JP" altLang="en-US" sz="1200" dirty="0">
                <a:latin typeface="Meiryo UI" panose="020B0604030504040204" pitchFamily="34" charset="-128"/>
                <a:ea typeface="Meiryo UI" panose="020B0604030504040204" pitchFamily="34" charset="-128"/>
              </a:endParaRPr>
            </a:p>
          </p:txBody>
        </p:sp>
      </p:grpSp>
      <p:sp>
        <p:nvSpPr>
          <p:cNvPr id="136" name="正方形/長方形 135">
            <a:extLst>
              <a:ext uri="{FF2B5EF4-FFF2-40B4-BE49-F238E27FC236}">
                <a16:creationId xmlns:a16="http://schemas.microsoft.com/office/drawing/2014/main" id="{C860E907-D6B3-1348-A7E6-D4C520653ACE}"/>
              </a:ext>
            </a:extLst>
          </p:cNvPr>
          <p:cNvSpPr/>
          <p:nvPr/>
        </p:nvSpPr>
        <p:spPr>
          <a:xfrm>
            <a:off x="4126902" y="6432079"/>
            <a:ext cx="4589718" cy="475771"/>
          </a:xfrm>
          <a:prstGeom prst="rect">
            <a:avLst/>
          </a:prstGeom>
          <a:noFill/>
        </p:spPr>
        <p:txBody>
          <a:bodyPr wrap="none">
            <a:spAutoFit/>
          </a:bodyPr>
          <a:lstStyle/>
          <a:p>
            <a:pPr eaLnBrk="1" fontAlgn="auto" hangingPunct="1">
              <a:lnSpc>
                <a:spcPts val="960"/>
              </a:lnSpc>
              <a:spcBef>
                <a:spcPts val="0"/>
              </a:spcBef>
              <a:spcAft>
                <a:spcPts val="0"/>
              </a:spcAft>
              <a:defRPr/>
            </a:pPr>
            <a:r>
              <a:rPr kumimoji="0" lang="en" altLang="ja-JP" sz="800" kern="0" dirty="0">
                <a:solidFill>
                  <a:schemeClr val="tx1">
                    <a:lumMod val="75000"/>
                    <a:lumOff val="25000"/>
                  </a:schemeClr>
                </a:solidFill>
                <a:latin typeface="Meiryo UI" panose="020B0604030504040204" pitchFamily="34" charset="-128"/>
                <a:ea typeface="Meiryo UI" panose="020B0604030504040204" pitchFamily="34" charset="-128"/>
              </a:rPr>
              <a:t>*1:</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例 </a:t>
            </a:r>
            <a:r>
              <a:rPr kumimoji="0" lang="en" altLang="ja-JP" sz="800" kern="0" dirty="0">
                <a:solidFill>
                  <a:schemeClr val="tx1">
                    <a:lumMod val="75000"/>
                    <a:lumOff val="25000"/>
                  </a:schemeClr>
                </a:solidFill>
                <a:latin typeface="Meiryo UI" panose="020B0604030504040204" pitchFamily="34" charset="-128"/>
                <a:ea typeface="Meiryo UI" panose="020B0604030504040204" pitchFamily="34" charset="-128"/>
              </a:rPr>
              <a:t>PJ</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コスト把握期間の短縮（現行</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2</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か月）、過去案件の見える化による見積精度向上</a:t>
            </a:r>
            <a:endPar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endParaRPr>
          </a:p>
          <a:p>
            <a:pPr eaLnBrk="1" fontAlgn="auto" hangingPunct="1">
              <a:lnSpc>
                <a:spcPts val="960"/>
              </a:lnSpc>
              <a:spcBef>
                <a:spcPts val="0"/>
              </a:spcBef>
              <a:spcAft>
                <a:spcPts val="0"/>
              </a:spcAft>
              <a:defRPr/>
            </a:pP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*2:</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例 </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input</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系のデータ</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ドキュメントを洗い出してそこに含まれるデータ項目やビジネスメタデータの</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AsIs</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の整理</a:t>
            </a:r>
            <a:endPar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endParaRPr>
          </a:p>
          <a:p>
            <a:pPr eaLnBrk="1" fontAlgn="auto" hangingPunct="1">
              <a:lnSpc>
                <a:spcPts val="960"/>
              </a:lnSpc>
              <a:spcBef>
                <a:spcPts val="0"/>
              </a:spcBef>
              <a:spcAft>
                <a:spcPts val="0"/>
              </a:spcAft>
              <a:defRPr/>
            </a:pP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*3:</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例 各プロセスの</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Input</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に必要なデータ・ドキュメントを拠点・</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BU</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横断での検索のあり方</a:t>
            </a:r>
          </a:p>
        </p:txBody>
      </p:sp>
      <p:sp>
        <p:nvSpPr>
          <p:cNvPr id="6" name="正方形/長方形 5">
            <a:extLst>
              <a:ext uri="{FF2B5EF4-FFF2-40B4-BE49-F238E27FC236}">
                <a16:creationId xmlns:a16="http://schemas.microsoft.com/office/drawing/2014/main" id="{196A2136-2B15-F449-9C12-56CF410F86B9}"/>
              </a:ext>
            </a:extLst>
          </p:cNvPr>
          <p:cNvSpPr/>
          <p:nvPr/>
        </p:nvSpPr>
        <p:spPr bwMode="gray">
          <a:xfrm>
            <a:off x="688320" y="5089500"/>
            <a:ext cx="1614264" cy="23869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購買要求上申書</a:t>
            </a:r>
            <a:endParaRPr lang="ja-JP" altLang="en-US" sz="1100" dirty="0">
              <a:latin typeface="Meiryo UI" panose="020B0604030504040204" pitchFamily="34" charset="-128"/>
              <a:ea typeface="Meiryo UI" panose="020B0604030504040204" pitchFamily="34" charset="-128"/>
            </a:endParaRPr>
          </a:p>
        </p:txBody>
      </p:sp>
      <p:sp>
        <p:nvSpPr>
          <p:cNvPr id="7" name="正方形/長方形 6">
            <a:extLst>
              <a:ext uri="{FF2B5EF4-FFF2-40B4-BE49-F238E27FC236}">
                <a16:creationId xmlns:a16="http://schemas.microsoft.com/office/drawing/2014/main" id="{AF247C45-595D-FD4A-86B5-29C5B68C2C7B}"/>
              </a:ext>
            </a:extLst>
          </p:cNvPr>
          <p:cNvSpPr/>
          <p:nvPr/>
        </p:nvSpPr>
        <p:spPr bwMode="gray">
          <a:xfrm>
            <a:off x="688320" y="5356295"/>
            <a:ext cx="1614264" cy="23869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見積依頼書</a:t>
            </a:r>
            <a:endParaRPr lang="ja-JP" altLang="en-US" sz="1100" dirty="0">
              <a:latin typeface="Meiryo UI" panose="020B0604030504040204" pitchFamily="34" charset="-128"/>
              <a:ea typeface="Meiryo UI" panose="020B0604030504040204" pitchFamily="34" charset="-128"/>
            </a:endParaRPr>
          </a:p>
        </p:txBody>
      </p:sp>
      <p:sp>
        <p:nvSpPr>
          <p:cNvPr id="8" name="正方形/長方形 7">
            <a:extLst>
              <a:ext uri="{FF2B5EF4-FFF2-40B4-BE49-F238E27FC236}">
                <a16:creationId xmlns:a16="http://schemas.microsoft.com/office/drawing/2014/main" id="{0DA4F51E-3F61-1D4A-816A-CE5A869F2712}"/>
              </a:ext>
            </a:extLst>
          </p:cNvPr>
          <p:cNvSpPr/>
          <p:nvPr/>
        </p:nvSpPr>
        <p:spPr bwMode="gray">
          <a:xfrm>
            <a:off x="688320" y="4557432"/>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品目・部品（</a:t>
            </a:r>
            <a:r>
              <a:rPr lang="en-US" altLang="ja-JP" sz="1100" dirty="0">
                <a:latin typeface="Meiryo UI" panose="020B0604030504040204" pitchFamily="34" charset="-128"/>
                <a:ea typeface="Meiryo UI" panose="020B0604030504040204" pitchFamily="34" charset="-128"/>
              </a:rPr>
              <a:t>M-BOM</a:t>
            </a:r>
            <a:r>
              <a:rPr lang="ja-JP" altLang="en-US" sz="1100">
                <a:latin typeface="Meiryo UI" panose="020B0604030504040204" pitchFamily="34" charset="-128"/>
                <a:ea typeface="Meiryo UI" panose="020B0604030504040204" pitchFamily="34" charset="-128"/>
              </a:rPr>
              <a:t>）</a:t>
            </a:r>
            <a:endParaRPr lang="ja-JP" altLang="en-US" sz="11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B307AD58-9071-A74F-A53A-DADE6F316A9E}"/>
              </a:ext>
            </a:extLst>
          </p:cNvPr>
          <p:cNvSpPr/>
          <p:nvPr/>
        </p:nvSpPr>
        <p:spPr bwMode="gray">
          <a:xfrm>
            <a:off x="688320" y="5623091"/>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取引先</a:t>
            </a:r>
            <a:endParaRPr lang="en-US" altLang="ja-JP" sz="110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F1270956-4F1A-B04E-B2FF-60CCCC841611}"/>
              </a:ext>
            </a:extLst>
          </p:cNvPr>
          <p:cNvSpPr/>
          <p:nvPr/>
        </p:nvSpPr>
        <p:spPr bwMode="gray">
          <a:xfrm>
            <a:off x="688320" y="3493297"/>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品目・部品（見積用</a:t>
            </a:r>
            <a:r>
              <a:rPr lang="en-US" altLang="ja-JP" sz="1100" dirty="0">
                <a:latin typeface="Meiryo UI" panose="020B0604030504040204" pitchFamily="34" charset="-128"/>
                <a:ea typeface="Meiryo UI" panose="020B0604030504040204" pitchFamily="34" charset="-128"/>
              </a:rPr>
              <a:t>BOM</a:t>
            </a:r>
            <a:r>
              <a:rPr lang="ja-JP" altLang="en-US" sz="1100">
                <a:latin typeface="Meiryo UI" panose="020B0604030504040204" pitchFamily="34" charset="-128"/>
                <a:ea typeface="Meiryo UI" panose="020B0604030504040204" pitchFamily="34" charset="-128"/>
              </a:rPr>
              <a:t>）</a:t>
            </a:r>
            <a:endParaRPr lang="en-US" altLang="ja-JP" sz="110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5FA014ED-34D6-3B4F-889A-97733E49C444}"/>
              </a:ext>
            </a:extLst>
          </p:cNvPr>
          <p:cNvSpPr/>
          <p:nvPr/>
        </p:nvSpPr>
        <p:spPr bwMode="gray">
          <a:xfrm>
            <a:off x="688320" y="3759331"/>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100" dirty="0">
                <a:latin typeface="Meiryo UI" panose="020B0604030504040204" pitchFamily="34" charset="-128"/>
                <a:ea typeface="Meiryo UI" panose="020B0604030504040204" pitchFamily="34" charset="-128"/>
              </a:rPr>
              <a:t>PJ</a:t>
            </a:r>
            <a:r>
              <a:rPr lang="ja-JP" altLang="en-US" sz="1100">
                <a:latin typeface="Meiryo UI" panose="020B0604030504040204" pitchFamily="34" charset="-128"/>
                <a:ea typeface="Meiryo UI" panose="020B0604030504040204" pitchFamily="34" charset="-128"/>
              </a:rPr>
              <a:t>見積原価</a:t>
            </a:r>
            <a:endParaRPr lang="en-US" altLang="ja-JP" sz="1100" dirty="0">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82758DFF-81D2-5E46-BB63-18BB4A5B4917}"/>
              </a:ext>
            </a:extLst>
          </p:cNvPr>
          <p:cNvSpPr/>
          <p:nvPr/>
        </p:nvSpPr>
        <p:spPr bwMode="gray">
          <a:xfrm>
            <a:off x="688320" y="5889125"/>
            <a:ext cx="1614264" cy="23869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発注書</a:t>
            </a:r>
            <a:endParaRPr lang="ja-JP" altLang="en-US" sz="1100" dirty="0">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AA795896-F788-124C-9D7A-6B7F50F84BE2}"/>
              </a:ext>
            </a:extLst>
          </p:cNvPr>
          <p:cNvSpPr/>
          <p:nvPr/>
        </p:nvSpPr>
        <p:spPr bwMode="gray">
          <a:xfrm>
            <a:off x="688320" y="3227262"/>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顧客要求仕様書</a:t>
            </a:r>
            <a:endParaRPr lang="en-US" altLang="ja-JP" sz="1100" dirty="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3AA76717-0FDF-944A-AC1A-6B2EBB7F8534}"/>
              </a:ext>
            </a:extLst>
          </p:cNvPr>
          <p:cNvSpPr/>
          <p:nvPr/>
        </p:nvSpPr>
        <p:spPr bwMode="gray">
          <a:xfrm>
            <a:off x="688320" y="4291398"/>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100">
                <a:latin typeface="Meiryo UI" panose="020B0604030504040204" pitchFamily="34" charset="-128"/>
                <a:ea typeface="Meiryo UI" panose="020B0604030504040204" pitchFamily="34" charset="-128"/>
              </a:rPr>
              <a:t>品目・部品（</a:t>
            </a:r>
            <a:r>
              <a:rPr lang="en-US" altLang="ja-JP" sz="1100" dirty="0">
                <a:latin typeface="Meiryo UI" panose="020B0604030504040204" pitchFamily="34" charset="-128"/>
                <a:ea typeface="Meiryo UI" panose="020B0604030504040204" pitchFamily="34" charset="-128"/>
              </a:rPr>
              <a:t>E-BOM</a:t>
            </a:r>
            <a:r>
              <a:rPr lang="ja-JP" altLang="en-US" sz="1100">
                <a:latin typeface="Meiryo UI" panose="020B0604030504040204" pitchFamily="34" charset="-128"/>
                <a:ea typeface="Meiryo UI" panose="020B0604030504040204" pitchFamily="34" charset="-128"/>
              </a:rPr>
              <a:t>）</a:t>
            </a:r>
            <a:endParaRPr lang="en-US" altLang="ja-JP" sz="1100" dirty="0">
              <a:latin typeface="Meiryo UI" panose="020B0604030504040204" pitchFamily="34" charset="-128"/>
              <a:ea typeface="Meiryo UI" panose="020B0604030504040204" pitchFamily="34" charset="-128"/>
            </a:endParaRPr>
          </a:p>
        </p:txBody>
      </p:sp>
      <p:sp>
        <p:nvSpPr>
          <p:cNvPr id="73" name="正方形/長方形 72">
            <a:extLst>
              <a:ext uri="{FF2B5EF4-FFF2-40B4-BE49-F238E27FC236}">
                <a16:creationId xmlns:a16="http://schemas.microsoft.com/office/drawing/2014/main" id="{3BA34F68-8CC1-6E4A-AADA-D145CCDA8099}"/>
              </a:ext>
            </a:extLst>
          </p:cNvPr>
          <p:cNvSpPr/>
          <p:nvPr/>
        </p:nvSpPr>
        <p:spPr bwMode="gray">
          <a:xfrm>
            <a:off x="688320" y="2960467"/>
            <a:ext cx="1614264" cy="23869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100">
                <a:latin typeface="Meiryo UI" panose="020B0604030504040204" pitchFamily="34" charset="-128"/>
                <a:ea typeface="Meiryo UI" panose="020B0604030504040204" pitchFamily="34" charset="-128"/>
              </a:rPr>
              <a:t>顧客リスト</a:t>
            </a:r>
            <a:endParaRPr lang="en-US" altLang="ja-JP" sz="1100" dirty="0">
              <a:latin typeface="Meiryo UI" panose="020B0604030504040204" pitchFamily="34" charset="-128"/>
              <a:ea typeface="Meiryo UI" panose="020B0604030504040204" pitchFamily="34" charset="-128"/>
            </a:endParaRPr>
          </a:p>
        </p:txBody>
      </p:sp>
      <p:grpSp>
        <p:nvGrpSpPr>
          <p:cNvPr id="63" name="グループ化 62">
            <a:extLst>
              <a:ext uri="{FF2B5EF4-FFF2-40B4-BE49-F238E27FC236}">
                <a16:creationId xmlns:a16="http://schemas.microsoft.com/office/drawing/2014/main" id="{7EF741EF-5ED6-124A-A9FE-CB93CFB835F9}"/>
              </a:ext>
            </a:extLst>
          </p:cNvPr>
          <p:cNvGrpSpPr/>
          <p:nvPr/>
        </p:nvGrpSpPr>
        <p:grpSpPr>
          <a:xfrm rot="16200000">
            <a:off x="-1414420" y="4387055"/>
            <a:ext cx="3700566" cy="313794"/>
            <a:chOff x="582082" y="1185570"/>
            <a:chExt cx="8736542" cy="370633"/>
          </a:xfrm>
        </p:grpSpPr>
        <p:cxnSp>
          <p:nvCxnSpPr>
            <p:cNvPr id="64" name="直線コネクタ 63">
              <a:extLst>
                <a:ext uri="{FF2B5EF4-FFF2-40B4-BE49-F238E27FC236}">
                  <a16:creationId xmlns:a16="http://schemas.microsoft.com/office/drawing/2014/main" id="{E31BE42B-BDE7-7D4A-B4A2-8949061BD82B}"/>
                </a:ext>
              </a:extLst>
            </p:cNvPr>
            <p:cNvCxnSpPr>
              <a:cxnSpLocks/>
            </p:cNvCxnSpPr>
            <p:nvPr/>
          </p:nvCxnSpPr>
          <p:spPr>
            <a:xfrm>
              <a:off x="582085" y="1556203"/>
              <a:ext cx="8736539"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1F87EAA1-6DBB-574A-9E6D-B8AD0131C7F4}"/>
                </a:ext>
              </a:extLst>
            </p:cNvPr>
            <p:cNvSpPr txBox="1"/>
            <p:nvPr/>
          </p:nvSpPr>
          <p:spPr>
            <a:xfrm>
              <a:off x="582082" y="1185570"/>
              <a:ext cx="8736541" cy="327173"/>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データ・ドキュメント</a:t>
              </a:r>
              <a:endParaRPr lang="ja-JP" altLang="en-US" sz="1200" dirty="0">
                <a:latin typeface="Meiryo UI" panose="020B0604030504040204" pitchFamily="34" charset="-128"/>
                <a:ea typeface="Meiryo UI" panose="020B0604030504040204" pitchFamily="34" charset="-128"/>
              </a:endParaRPr>
            </a:p>
          </p:txBody>
        </p:sp>
      </p:grpSp>
      <p:sp>
        <p:nvSpPr>
          <p:cNvPr id="66" name="角丸四角形 65">
            <a:extLst>
              <a:ext uri="{FF2B5EF4-FFF2-40B4-BE49-F238E27FC236}">
                <a16:creationId xmlns:a16="http://schemas.microsoft.com/office/drawing/2014/main" id="{8F2174D0-60A9-9346-B675-D82233337085}"/>
              </a:ext>
            </a:extLst>
          </p:cNvPr>
          <p:cNvSpPr/>
          <p:nvPr/>
        </p:nvSpPr>
        <p:spPr bwMode="gray">
          <a:xfrm>
            <a:off x="5154549" y="3489083"/>
            <a:ext cx="395827" cy="443924"/>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71" name="正方形/長方形 70">
            <a:extLst>
              <a:ext uri="{FF2B5EF4-FFF2-40B4-BE49-F238E27FC236}">
                <a16:creationId xmlns:a16="http://schemas.microsoft.com/office/drawing/2014/main" id="{B7278F49-1FCB-4F45-AF57-4152FAA15A9F}"/>
              </a:ext>
            </a:extLst>
          </p:cNvPr>
          <p:cNvSpPr/>
          <p:nvPr/>
        </p:nvSpPr>
        <p:spPr bwMode="gray">
          <a:xfrm>
            <a:off x="8462009" y="5090802"/>
            <a:ext cx="871618"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ja-JP" altLang="en-US" sz="1100" dirty="0">
              <a:latin typeface="Meiryo UI" panose="020B0604030504040204" pitchFamily="34" charset="-128"/>
              <a:ea typeface="Meiryo UI" panose="020B0604030504040204" pitchFamily="34" charset="-128"/>
            </a:endParaRPr>
          </a:p>
        </p:txBody>
      </p:sp>
      <p:sp>
        <p:nvSpPr>
          <p:cNvPr id="72" name="正方形/長方形 71">
            <a:extLst>
              <a:ext uri="{FF2B5EF4-FFF2-40B4-BE49-F238E27FC236}">
                <a16:creationId xmlns:a16="http://schemas.microsoft.com/office/drawing/2014/main" id="{9F0AD866-DE8E-9D48-98E6-55176E2EA640}"/>
              </a:ext>
            </a:extLst>
          </p:cNvPr>
          <p:cNvSpPr/>
          <p:nvPr/>
        </p:nvSpPr>
        <p:spPr bwMode="gray">
          <a:xfrm>
            <a:off x="8462009" y="5357568"/>
            <a:ext cx="871618"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ja-JP" altLang="en-US" sz="1100" dirty="0">
              <a:latin typeface="Meiryo UI" panose="020B0604030504040204" pitchFamily="34" charset="-128"/>
              <a:ea typeface="Meiryo UI" panose="020B0604030504040204" pitchFamily="34" charset="-128"/>
            </a:endParaRPr>
          </a:p>
        </p:txBody>
      </p:sp>
      <p:sp>
        <p:nvSpPr>
          <p:cNvPr id="78" name="正方形/長方形 77">
            <a:extLst>
              <a:ext uri="{FF2B5EF4-FFF2-40B4-BE49-F238E27FC236}">
                <a16:creationId xmlns:a16="http://schemas.microsoft.com/office/drawing/2014/main" id="{41CE8BEE-AE2E-9A48-81CE-55BE36A6DBDC}"/>
              </a:ext>
            </a:extLst>
          </p:cNvPr>
          <p:cNvSpPr/>
          <p:nvPr/>
        </p:nvSpPr>
        <p:spPr bwMode="gray">
          <a:xfrm>
            <a:off x="8462009" y="4558792"/>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ja-JP" altLang="en-US" sz="1100" dirty="0">
              <a:latin typeface="Meiryo UI" panose="020B0604030504040204" pitchFamily="34" charset="-128"/>
              <a:ea typeface="Meiryo UI" panose="020B0604030504040204" pitchFamily="34" charset="-128"/>
            </a:endParaRPr>
          </a:p>
        </p:txBody>
      </p:sp>
      <p:sp>
        <p:nvSpPr>
          <p:cNvPr id="80" name="正方形/長方形 79">
            <a:extLst>
              <a:ext uri="{FF2B5EF4-FFF2-40B4-BE49-F238E27FC236}">
                <a16:creationId xmlns:a16="http://schemas.microsoft.com/office/drawing/2014/main" id="{9CDE20ED-E410-D64F-BD28-F148E3E74447}"/>
              </a:ext>
            </a:extLst>
          </p:cNvPr>
          <p:cNvSpPr/>
          <p:nvPr/>
        </p:nvSpPr>
        <p:spPr bwMode="gray">
          <a:xfrm>
            <a:off x="8462009" y="2695235"/>
            <a:ext cx="871618"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en-US" altLang="ja-JP" sz="1100" dirty="0">
              <a:latin typeface="Meiryo UI" panose="020B0604030504040204" pitchFamily="34" charset="-128"/>
              <a:ea typeface="Meiryo UI" panose="020B0604030504040204" pitchFamily="34" charset="-128"/>
            </a:endParaRPr>
          </a:p>
        </p:txBody>
      </p:sp>
      <p:sp>
        <p:nvSpPr>
          <p:cNvPr id="82" name="正方形/長方形 81">
            <a:extLst>
              <a:ext uri="{FF2B5EF4-FFF2-40B4-BE49-F238E27FC236}">
                <a16:creationId xmlns:a16="http://schemas.microsoft.com/office/drawing/2014/main" id="{2B0FE14A-6D4E-1945-8EE7-31E59FCF91DE}"/>
              </a:ext>
            </a:extLst>
          </p:cNvPr>
          <p:cNvSpPr/>
          <p:nvPr/>
        </p:nvSpPr>
        <p:spPr bwMode="gray">
          <a:xfrm>
            <a:off x="8462009" y="5624334"/>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en-US" altLang="ja-JP" sz="1100" dirty="0">
              <a:latin typeface="Meiryo UI" panose="020B0604030504040204" pitchFamily="34" charset="-128"/>
              <a:ea typeface="Meiryo UI" panose="020B0604030504040204" pitchFamily="34" charset="-128"/>
            </a:endParaRPr>
          </a:p>
        </p:txBody>
      </p:sp>
      <p:sp>
        <p:nvSpPr>
          <p:cNvPr id="84" name="正方形/長方形 83">
            <a:extLst>
              <a:ext uri="{FF2B5EF4-FFF2-40B4-BE49-F238E27FC236}">
                <a16:creationId xmlns:a16="http://schemas.microsoft.com/office/drawing/2014/main" id="{97D93255-A991-D84E-8604-B74C7F3AEFAD}"/>
              </a:ext>
            </a:extLst>
          </p:cNvPr>
          <p:cNvSpPr/>
          <p:nvPr/>
        </p:nvSpPr>
        <p:spPr bwMode="gray">
          <a:xfrm>
            <a:off x="8462009" y="3494772"/>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en-US" altLang="ja-JP" sz="1100" dirty="0">
              <a:latin typeface="Meiryo UI" panose="020B0604030504040204" pitchFamily="34" charset="-128"/>
              <a:ea typeface="Meiryo UI" panose="020B0604030504040204" pitchFamily="34" charset="-128"/>
            </a:endParaRPr>
          </a:p>
        </p:txBody>
      </p:sp>
      <p:sp>
        <p:nvSpPr>
          <p:cNvPr id="88" name="正方形/長方形 87">
            <a:extLst>
              <a:ext uri="{FF2B5EF4-FFF2-40B4-BE49-F238E27FC236}">
                <a16:creationId xmlns:a16="http://schemas.microsoft.com/office/drawing/2014/main" id="{EF85FCDA-8381-C24D-9F70-A1BCE62E1456}"/>
              </a:ext>
            </a:extLst>
          </p:cNvPr>
          <p:cNvSpPr/>
          <p:nvPr/>
        </p:nvSpPr>
        <p:spPr bwMode="gray">
          <a:xfrm>
            <a:off x="8462009" y="3760778"/>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en-US" altLang="ja-JP" sz="1100" dirty="0">
              <a:latin typeface="Meiryo UI" panose="020B0604030504040204" pitchFamily="34" charset="-128"/>
              <a:ea typeface="Meiryo UI" panose="020B0604030504040204" pitchFamily="34" charset="-128"/>
            </a:endParaRPr>
          </a:p>
        </p:txBody>
      </p:sp>
      <p:sp>
        <p:nvSpPr>
          <p:cNvPr id="93" name="正方形/長方形 92">
            <a:extLst>
              <a:ext uri="{FF2B5EF4-FFF2-40B4-BE49-F238E27FC236}">
                <a16:creationId xmlns:a16="http://schemas.microsoft.com/office/drawing/2014/main" id="{99476CCB-A0F4-914E-9569-E8E284473D1C}"/>
              </a:ext>
            </a:extLst>
          </p:cNvPr>
          <p:cNvSpPr/>
          <p:nvPr/>
        </p:nvSpPr>
        <p:spPr bwMode="gray">
          <a:xfrm>
            <a:off x="8462009" y="5890340"/>
            <a:ext cx="871618"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ja-JP" altLang="en-US" sz="1100" dirty="0">
              <a:latin typeface="Meiryo UI" panose="020B0604030504040204" pitchFamily="34" charset="-128"/>
              <a:ea typeface="Meiryo UI" panose="020B0604030504040204" pitchFamily="34" charset="-128"/>
            </a:endParaRPr>
          </a:p>
        </p:txBody>
      </p:sp>
      <p:sp>
        <p:nvSpPr>
          <p:cNvPr id="94" name="正方形/長方形 93">
            <a:extLst>
              <a:ext uri="{FF2B5EF4-FFF2-40B4-BE49-F238E27FC236}">
                <a16:creationId xmlns:a16="http://schemas.microsoft.com/office/drawing/2014/main" id="{0DD6976C-E92B-2747-9D63-AFB8D4E13E3A}"/>
              </a:ext>
            </a:extLst>
          </p:cNvPr>
          <p:cNvSpPr/>
          <p:nvPr/>
        </p:nvSpPr>
        <p:spPr bwMode="gray">
          <a:xfrm>
            <a:off x="8462009" y="3228768"/>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95" name="正方形/長方形 94">
            <a:extLst>
              <a:ext uri="{FF2B5EF4-FFF2-40B4-BE49-F238E27FC236}">
                <a16:creationId xmlns:a16="http://schemas.microsoft.com/office/drawing/2014/main" id="{1E676787-3ADF-9D49-A507-C2876449EDC0}"/>
              </a:ext>
            </a:extLst>
          </p:cNvPr>
          <p:cNvSpPr/>
          <p:nvPr/>
        </p:nvSpPr>
        <p:spPr bwMode="gray">
          <a:xfrm>
            <a:off x="8462009" y="4292787"/>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en-US" altLang="ja-JP" sz="1100" dirty="0">
              <a:latin typeface="Meiryo UI" panose="020B0604030504040204" pitchFamily="34" charset="-128"/>
              <a:ea typeface="Meiryo UI" panose="020B0604030504040204" pitchFamily="34" charset="-128"/>
            </a:endParaRPr>
          </a:p>
        </p:txBody>
      </p:sp>
      <p:sp>
        <p:nvSpPr>
          <p:cNvPr id="96" name="ホームベース 95">
            <a:extLst>
              <a:ext uri="{FF2B5EF4-FFF2-40B4-BE49-F238E27FC236}">
                <a16:creationId xmlns:a16="http://schemas.microsoft.com/office/drawing/2014/main" id="{D9B35A6B-0022-3F4B-9397-6EF786368487}"/>
              </a:ext>
            </a:extLst>
          </p:cNvPr>
          <p:cNvSpPr/>
          <p:nvPr/>
        </p:nvSpPr>
        <p:spPr bwMode="gray">
          <a:xfrm>
            <a:off x="8462009" y="2422105"/>
            <a:ext cx="871618" cy="238691"/>
          </a:xfrm>
          <a:prstGeom prst="homePlate">
            <a:avLst>
              <a:gd name="adj" fmla="val 22636"/>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1100">
                <a:latin typeface="Meiryo UI" panose="020B0604030504040204" pitchFamily="34" charset="-128"/>
                <a:ea typeface="Meiryo UI" panose="020B0604030504040204" pitchFamily="34" charset="-128"/>
              </a:rPr>
              <a:t>・・・</a:t>
            </a:r>
            <a:endParaRPr lang="en-US" altLang="ja-JP" sz="1100" dirty="0">
              <a:latin typeface="Meiryo UI" panose="020B0604030504040204" pitchFamily="34" charset="-128"/>
              <a:ea typeface="Meiryo UI" panose="020B0604030504040204" pitchFamily="34" charset="-128"/>
            </a:endParaRPr>
          </a:p>
        </p:txBody>
      </p:sp>
      <p:sp>
        <p:nvSpPr>
          <p:cNvPr id="97" name="正方形/長方形 96">
            <a:extLst>
              <a:ext uri="{FF2B5EF4-FFF2-40B4-BE49-F238E27FC236}">
                <a16:creationId xmlns:a16="http://schemas.microsoft.com/office/drawing/2014/main" id="{076F35E3-37D8-E449-9C0C-872B41402729}"/>
              </a:ext>
            </a:extLst>
          </p:cNvPr>
          <p:cNvSpPr/>
          <p:nvPr/>
        </p:nvSpPr>
        <p:spPr bwMode="gray">
          <a:xfrm>
            <a:off x="8462009" y="2962001"/>
            <a:ext cx="871618"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en-US" altLang="ja-JP" sz="1100" dirty="0">
              <a:latin typeface="Meiryo UI" panose="020B0604030504040204" pitchFamily="34" charset="-128"/>
              <a:ea typeface="Meiryo UI" panose="020B0604030504040204" pitchFamily="34" charset="-128"/>
            </a:endParaRPr>
          </a:p>
        </p:txBody>
      </p:sp>
      <p:sp>
        <p:nvSpPr>
          <p:cNvPr id="98" name="正方形/長方形 97">
            <a:extLst>
              <a:ext uri="{FF2B5EF4-FFF2-40B4-BE49-F238E27FC236}">
                <a16:creationId xmlns:a16="http://schemas.microsoft.com/office/drawing/2014/main" id="{F181BE64-6F5D-834B-8C1A-3A17517D9BFE}"/>
              </a:ext>
            </a:extLst>
          </p:cNvPr>
          <p:cNvSpPr/>
          <p:nvPr/>
        </p:nvSpPr>
        <p:spPr bwMode="gray">
          <a:xfrm>
            <a:off x="688320" y="6155925"/>
            <a:ext cx="1614264" cy="23869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検収書</a:t>
            </a:r>
            <a:endParaRPr lang="ja-JP" altLang="en-US" sz="1100" dirty="0">
              <a:latin typeface="Meiryo UI" panose="020B0604030504040204" pitchFamily="34" charset="-128"/>
              <a:ea typeface="Meiryo UI" panose="020B0604030504040204" pitchFamily="34" charset="-128"/>
            </a:endParaRPr>
          </a:p>
        </p:txBody>
      </p:sp>
      <p:sp>
        <p:nvSpPr>
          <p:cNvPr id="102" name="正方形/長方形 101">
            <a:extLst>
              <a:ext uri="{FF2B5EF4-FFF2-40B4-BE49-F238E27FC236}">
                <a16:creationId xmlns:a16="http://schemas.microsoft.com/office/drawing/2014/main" id="{FD91F8C2-A7E2-7049-A9AF-F54E8E879F72}"/>
              </a:ext>
            </a:extLst>
          </p:cNvPr>
          <p:cNvSpPr/>
          <p:nvPr/>
        </p:nvSpPr>
        <p:spPr bwMode="gray">
          <a:xfrm>
            <a:off x="8462009" y="6157105"/>
            <a:ext cx="871618" cy="238691"/>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ja-JP" altLang="en-US" sz="1100" dirty="0">
              <a:latin typeface="Meiryo UI" panose="020B0604030504040204" pitchFamily="34" charset="-128"/>
              <a:ea typeface="Meiryo UI" panose="020B0604030504040204" pitchFamily="34" charset="-128"/>
            </a:endParaRPr>
          </a:p>
        </p:txBody>
      </p:sp>
      <p:sp>
        <p:nvSpPr>
          <p:cNvPr id="105" name="正方形/長方形 104">
            <a:extLst>
              <a:ext uri="{FF2B5EF4-FFF2-40B4-BE49-F238E27FC236}">
                <a16:creationId xmlns:a16="http://schemas.microsoft.com/office/drawing/2014/main" id="{EA89E158-C716-1D4D-98B5-B6B015861A11}"/>
              </a:ext>
            </a:extLst>
          </p:cNvPr>
          <p:cNvSpPr/>
          <p:nvPr/>
        </p:nvSpPr>
        <p:spPr bwMode="gray">
          <a:xfrm>
            <a:off x="688320" y="2693672"/>
            <a:ext cx="1614264" cy="238691"/>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1100" dirty="0">
                <a:latin typeface="Meiryo UI" panose="020B0604030504040204" pitchFamily="34" charset="-128"/>
                <a:ea typeface="Meiryo UI" panose="020B0604030504040204" pitchFamily="34" charset="-128"/>
              </a:rPr>
              <a:t>PJ</a:t>
            </a:r>
            <a:r>
              <a:rPr lang="ja-JP" altLang="en-US" sz="1100">
                <a:latin typeface="Meiryo UI" panose="020B0604030504040204" pitchFamily="34" charset="-128"/>
                <a:ea typeface="Meiryo UI" panose="020B0604030504040204" pitchFamily="34" charset="-128"/>
              </a:rPr>
              <a:t>管理表</a:t>
            </a:r>
            <a:endParaRPr lang="en-US" altLang="ja-JP" sz="1100" dirty="0">
              <a:latin typeface="Meiryo UI" panose="020B0604030504040204" pitchFamily="34" charset="-128"/>
              <a:ea typeface="Meiryo UI" panose="020B0604030504040204" pitchFamily="34" charset="-128"/>
            </a:endParaRPr>
          </a:p>
        </p:txBody>
      </p:sp>
      <p:sp>
        <p:nvSpPr>
          <p:cNvPr id="106" name="正方形/長方形 105">
            <a:extLst>
              <a:ext uri="{FF2B5EF4-FFF2-40B4-BE49-F238E27FC236}">
                <a16:creationId xmlns:a16="http://schemas.microsoft.com/office/drawing/2014/main" id="{982368D4-B935-8843-B3A5-BCF596423D91}"/>
              </a:ext>
            </a:extLst>
          </p:cNvPr>
          <p:cNvSpPr/>
          <p:nvPr/>
        </p:nvSpPr>
        <p:spPr bwMode="gray">
          <a:xfrm>
            <a:off x="688320" y="4025365"/>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en-US" altLang="ja-JP" sz="1100" dirty="0">
                <a:latin typeface="Meiryo UI" panose="020B0604030504040204" pitchFamily="34" charset="-128"/>
                <a:ea typeface="Meiryo UI" panose="020B0604030504040204" pitchFamily="34" charset="-128"/>
              </a:rPr>
              <a:t>PJ</a:t>
            </a:r>
            <a:r>
              <a:rPr lang="ja-JP" altLang="en-US" sz="1100">
                <a:latin typeface="Meiryo UI" panose="020B0604030504040204" pitchFamily="34" charset="-128"/>
                <a:ea typeface="Meiryo UI" panose="020B0604030504040204" pitchFamily="34" charset="-128"/>
              </a:rPr>
              <a:t>見積書</a:t>
            </a:r>
            <a:endParaRPr lang="en-US" altLang="ja-JP" sz="1100" dirty="0">
              <a:latin typeface="Meiryo UI" panose="020B0604030504040204" pitchFamily="34" charset="-128"/>
              <a:ea typeface="Meiryo UI" panose="020B0604030504040204" pitchFamily="34" charset="-128"/>
            </a:endParaRPr>
          </a:p>
        </p:txBody>
      </p:sp>
      <p:sp>
        <p:nvSpPr>
          <p:cNvPr id="110" name="正方形/長方形 109">
            <a:extLst>
              <a:ext uri="{FF2B5EF4-FFF2-40B4-BE49-F238E27FC236}">
                <a16:creationId xmlns:a16="http://schemas.microsoft.com/office/drawing/2014/main" id="{4F199F5E-CF5E-A441-AC47-18D0A0E35739}"/>
              </a:ext>
            </a:extLst>
          </p:cNvPr>
          <p:cNvSpPr/>
          <p:nvPr/>
        </p:nvSpPr>
        <p:spPr bwMode="gray">
          <a:xfrm>
            <a:off x="8460555" y="4026782"/>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en-US" altLang="ja-JP" sz="1100" dirty="0">
              <a:latin typeface="Meiryo UI" panose="020B0604030504040204" pitchFamily="34" charset="-128"/>
              <a:ea typeface="Meiryo UI" panose="020B0604030504040204" pitchFamily="34" charset="-128"/>
            </a:endParaRPr>
          </a:p>
        </p:txBody>
      </p:sp>
      <p:sp>
        <p:nvSpPr>
          <p:cNvPr id="111" name="正方形/長方形 110">
            <a:extLst>
              <a:ext uri="{FF2B5EF4-FFF2-40B4-BE49-F238E27FC236}">
                <a16:creationId xmlns:a16="http://schemas.microsoft.com/office/drawing/2014/main" id="{D2A48157-09A8-3E4B-9707-A3C3A280F960}"/>
              </a:ext>
            </a:extLst>
          </p:cNvPr>
          <p:cNvSpPr/>
          <p:nvPr/>
        </p:nvSpPr>
        <p:spPr bwMode="gray">
          <a:xfrm>
            <a:off x="688320" y="4823466"/>
            <a:ext cx="1614264" cy="237929"/>
          </a:xfrm>
          <a:prstGeom prst="rect">
            <a:avLst/>
          </a:prstGeom>
          <a:solidFill>
            <a:schemeClr val="bg1"/>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r>
              <a:rPr lang="ja-JP" altLang="en-US" sz="1100">
                <a:latin typeface="Meiryo UI" panose="020B0604030504040204" pitchFamily="34" charset="-128"/>
                <a:ea typeface="Meiryo UI" panose="020B0604030504040204" pitchFamily="34" charset="-128"/>
              </a:rPr>
              <a:t>所要量計画書</a:t>
            </a:r>
            <a:endParaRPr lang="ja-JP" altLang="en-US" sz="1100" dirty="0">
              <a:latin typeface="Meiryo UI" panose="020B0604030504040204" pitchFamily="34" charset="-128"/>
              <a:ea typeface="Meiryo UI" panose="020B0604030504040204" pitchFamily="34" charset="-128"/>
            </a:endParaRPr>
          </a:p>
        </p:txBody>
      </p:sp>
      <p:sp>
        <p:nvSpPr>
          <p:cNvPr id="115" name="正方形/長方形 114">
            <a:extLst>
              <a:ext uri="{FF2B5EF4-FFF2-40B4-BE49-F238E27FC236}">
                <a16:creationId xmlns:a16="http://schemas.microsoft.com/office/drawing/2014/main" id="{D092B362-070B-4641-9792-01DEE429052B}"/>
              </a:ext>
            </a:extLst>
          </p:cNvPr>
          <p:cNvSpPr/>
          <p:nvPr/>
        </p:nvSpPr>
        <p:spPr bwMode="gray">
          <a:xfrm>
            <a:off x="8460555" y="4824797"/>
            <a:ext cx="871618" cy="237929"/>
          </a:xfrm>
          <a:prstGeom prst="rect">
            <a:avLst/>
          </a:prstGeom>
          <a:solidFill>
            <a:schemeClr val="bg1">
              <a:lumMod val="95000"/>
            </a:schemeClr>
          </a:solidFill>
          <a:ln w="9525" algn="ctr">
            <a:solidFill>
              <a:schemeClr val="tx1">
                <a:lumMod val="65000"/>
                <a:lumOff val="35000"/>
              </a:scheme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pPr>
            <a:endParaRPr lang="ja-JP" altLang="en-US" sz="1100" dirty="0">
              <a:latin typeface="Meiryo UI" panose="020B0604030504040204" pitchFamily="34" charset="-128"/>
              <a:ea typeface="Meiryo UI" panose="020B0604030504040204" pitchFamily="34" charset="-128"/>
            </a:endParaRPr>
          </a:p>
        </p:txBody>
      </p:sp>
      <p:sp>
        <p:nvSpPr>
          <p:cNvPr id="116" name="角丸四角形 115">
            <a:extLst>
              <a:ext uri="{FF2B5EF4-FFF2-40B4-BE49-F238E27FC236}">
                <a16:creationId xmlns:a16="http://schemas.microsoft.com/office/drawing/2014/main" id="{3B2F1BE8-A7C8-2948-A35A-1E14A4383BF6}"/>
              </a:ext>
            </a:extLst>
          </p:cNvPr>
          <p:cNvSpPr/>
          <p:nvPr/>
        </p:nvSpPr>
        <p:spPr bwMode="gray">
          <a:xfrm>
            <a:off x="7149392" y="3521848"/>
            <a:ext cx="395827"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17" name="角丸四角形 116">
            <a:extLst>
              <a:ext uri="{FF2B5EF4-FFF2-40B4-BE49-F238E27FC236}">
                <a16:creationId xmlns:a16="http://schemas.microsoft.com/office/drawing/2014/main" id="{B0390662-322E-C84E-85ED-08CD242AE027}"/>
              </a:ext>
            </a:extLst>
          </p:cNvPr>
          <p:cNvSpPr/>
          <p:nvPr/>
        </p:nvSpPr>
        <p:spPr bwMode="gray">
          <a:xfrm>
            <a:off x="7149392" y="3788841"/>
            <a:ext cx="395827"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20" name="角丸四角形 119">
            <a:extLst>
              <a:ext uri="{FF2B5EF4-FFF2-40B4-BE49-F238E27FC236}">
                <a16:creationId xmlns:a16="http://schemas.microsoft.com/office/drawing/2014/main" id="{C4838488-4140-A643-BF67-F38E58879338}"/>
              </a:ext>
            </a:extLst>
          </p:cNvPr>
          <p:cNvSpPr/>
          <p:nvPr/>
        </p:nvSpPr>
        <p:spPr bwMode="gray">
          <a:xfrm>
            <a:off x="7888721" y="3421663"/>
            <a:ext cx="1258522" cy="447816"/>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上記シナリオのデータフロー</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で必要な</a:t>
            </a:r>
            <a:r>
              <a:rPr lang="en-US" altLang="ja-JP" sz="900" dirty="0">
                <a:latin typeface="Meiryo UI" panose="020B0604030504040204" pitchFamily="34" charset="-128"/>
                <a:ea typeface="Meiryo UI" panose="020B0604030504040204" pitchFamily="34" charset="-128"/>
              </a:rPr>
              <a:t>input</a:t>
            </a:r>
            <a:r>
              <a:rPr lang="ja-JP" altLang="en-US" sz="900">
                <a:latin typeface="Meiryo UI" panose="020B0604030504040204" pitchFamily="34" charset="-128"/>
                <a:ea typeface="Meiryo UI" panose="020B0604030504040204" pitchFamily="34" charset="-128"/>
              </a:rPr>
              <a:t>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「左記</a:t>
            </a:r>
            <a:r>
              <a:rPr lang="en-US" altLang="ja-JP" sz="900" dirty="0">
                <a:latin typeface="Meiryo UI" panose="020B0604030504040204" pitchFamily="34" charset="-128"/>
                <a:ea typeface="Meiryo UI" panose="020B0604030504040204" pitchFamily="34" charset="-128"/>
              </a:rPr>
              <a:t>4</a:t>
            </a:r>
            <a:r>
              <a:rPr lang="ja-JP" altLang="en-US" sz="900">
                <a:latin typeface="Meiryo UI" panose="020B0604030504040204" pitchFamily="34" charset="-128"/>
                <a:ea typeface="Meiryo UI" panose="020B0604030504040204" pitchFamily="34" charset="-128"/>
              </a:rPr>
              <a:t>項目」</a:t>
            </a:r>
            <a:endParaRPr lang="ja-JP" altLang="en-US" sz="900" dirty="0">
              <a:latin typeface="Meiryo UI" panose="020B0604030504040204" pitchFamily="34" charset="-128"/>
              <a:ea typeface="Meiryo UI" panose="020B0604030504040204" pitchFamily="34" charset="-128"/>
            </a:endParaRPr>
          </a:p>
        </p:txBody>
      </p:sp>
      <p:grpSp>
        <p:nvGrpSpPr>
          <p:cNvPr id="130" name="グループ化 129">
            <a:extLst>
              <a:ext uri="{FF2B5EF4-FFF2-40B4-BE49-F238E27FC236}">
                <a16:creationId xmlns:a16="http://schemas.microsoft.com/office/drawing/2014/main" id="{D74A0175-62AE-124C-8450-7AF38582BDF6}"/>
              </a:ext>
            </a:extLst>
          </p:cNvPr>
          <p:cNvGrpSpPr/>
          <p:nvPr/>
        </p:nvGrpSpPr>
        <p:grpSpPr>
          <a:xfrm>
            <a:off x="2450128" y="2080061"/>
            <a:ext cx="1612810" cy="283873"/>
            <a:chOff x="582085" y="1195267"/>
            <a:chExt cx="8736539" cy="418602"/>
          </a:xfrm>
        </p:grpSpPr>
        <p:cxnSp>
          <p:nvCxnSpPr>
            <p:cNvPr id="131" name="直線コネクタ 130">
              <a:extLst>
                <a:ext uri="{FF2B5EF4-FFF2-40B4-BE49-F238E27FC236}">
                  <a16:creationId xmlns:a16="http://schemas.microsoft.com/office/drawing/2014/main" id="{F3633D57-D3E7-2549-B53A-784747E640E0}"/>
                </a:ext>
              </a:extLst>
            </p:cNvPr>
            <p:cNvCxnSpPr>
              <a:cxnSpLocks/>
            </p:cNvCxnSpPr>
            <p:nvPr/>
          </p:nvCxnSpPr>
          <p:spPr>
            <a:xfrm>
              <a:off x="582085" y="1556203"/>
              <a:ext cx="8736539"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2" name="テキスト ボックス 131">
              <a:extLst>
                <a:ext uri="{FF2B5EF4-FFF2-40B4-BE49-F238E27FC236}">
                  <a16:creationId xmlns:a16="http://schemas.microsoft.com/office/drawing/2014/main" id="{2BCFEF58-D0F4-5B4F-BCC7-D367ADBC3225}"/>
                </a:ext>
              </a:extLst>
            </p:cNvPr>
            <p:cNvSpPr txBox="1"/>
            <p:nvPr/>
          </p:nvSpPr>
          <p:spPr>
            <a:xfrm>
              <a:off x="582085" y="1195267"/>
              <a:ext cx="8736539" cy="418602"/>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経営系業務領域</a:t>
              </a:r>
              <a:endParaRPr lang="ja-JP" altLang="en-US" sz="1200" dirty="0">
                <a:latin typeface="Meiryo UI" panose="020B0604030504040204" pitchFamily="34" charset="-128"/>
                <a:ea typeface="Meiryo UI" panose="020B0604030504040204" pitchFamily="34" charset="-128"/>
              </a:endParaRPr>
            </a:p>
          </p:txBody>
        </p:sp>
      </p:grpSp>
      <p:grpSp>
        <p:nvGrpSpPr>
          <p:cNvPr id="133" name="グループ化 132">
            <a:extLst>
              <a:ext uri="{FF2B5EF4-FFF2-40B4-BE49-F238E27FC236}">
                <a16:creationId xmlns:a16="http://schemas.microsoft.com/office/drawing/2014/main" id="{A6C73229-D6C7-5746-9FC7-E0117BA18179}"/>
              </a:ext>
            </a:extLst>
          </p:cNvPr>
          <p:cNvGrpSpPr/>
          <p:nvPr/>
        </p:nvGrpSpPr>
        <p:grpSpPr>
          <a:xfrm>
            <a:off x="4375648" y="2072696"/>
            <a:ext cx="4934087" cy="283873"/>
            <a:chOff x="582085" y="1195267"/>
            <a:chExt cx="8736539" cy="418602"/>
          </a:xfrm>
        </p:grpSpPr>
        <p:cxnSp>
          <p:nvCxnSpPr>
            <p:cNvPr id="134" name="直線コネクタ 133">
              <a:extLst>
                <a:ext uri="{FF2B5EF4-FFF2-40B4-BE49-F238E27FC236}">
                  <a16:creationId xmlns:a16="http://schemas.microsoft.com/office/drawing/2014/main" id="{185C006F-1775-5C42-B6E4-F94ADC94C85D}"/>
                </a:ext>
              </a:extLst>
            </p:cNvPr>
            <p:cNvCxnSpPr>
              <a:cxnSpLocks/>
            </p:cNvCxnSpPr>
            <p:nvPr/>
          </p:nvCxnSpPr>
          <p:spPr>
            <a:xfrm>
              <a:off x="582085" y="1556203"/>
              <a:ext cx="8736539"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5" name="テキスト ボックス 134">
              <a:extLst>
                <a:ext uri="{FF2B5EF4-FFF2-40B4-BE49-F238E27FC236}">
                  <a16:creationId xmlns:a16="http://schemas.microsoft.com/office/drawing/2014/main" id="{93CD070A-F3C1-E341-8EAF-6D27C2AFBB38}"/>
                </a:ext>
              </a:extLst>
            </p:cNvPr>
            <p:cNvSpPr txBox="1"/>
            <p:nvPr/>
          </p:nvSpPr>
          <p:spPr>
            <a:xfrm>
              <a:off x="582085" y="1195267"/>
              <a:ext cx="8736539" cy="418602"/>
            </a:xfrm>
            <a:prstGeom prst="rect">
              <a:avLst/>
            </a:prstGeom>
            <a:noFill/>
          </p:spPr>
          <p:txBody>
            <a:bodyPr wrap="square" rtlCol="0">
              <a:spAutoFit/>
            </a:bodyPr>
            <a:lstStyle/>
            <a:p>
              <a:pPr algn="ctr"/>
              <a:r>
                <a:rPr lang="ja-JP" altLang="en-US" sz="1200">
                  <a:latin typeface="Meiryo UI" panose="020B0604030504040204" pitchFamily="34" charset="-128"/>
                  <a:ea typeface="Meiryo UI" panose="020B0604030504040204" pitchFamily="34" charset="-128"/>
                </a:rPr>
                <a:t>事業系業務領域</a:t>
              </a:r>
              <a:endParaRPr lang="ja-JP" altLang="en-US" sz="1200" dirty="0">
                <a:latin typeface="Meiryo UI" panose="020B0604030504040204" pitchFamily="34" charset="-128"/>
                <a:ea typeface="Meiryo UI" panose="020B0604030504040204" pitchFamily="34" charset="-128"/>
              </a:endParaRPr>
            </a:p>
          </p:txBody>
        </p:sp>
      </p:grpSp>
      <p:sp>
        <p:nvSpPr>
          <p:cNvPr id="138" name="角丸四角形 137">
            <a:extLst>
              <a:ext uri="{FF2B5EF4-FFF2-40B4-BE49-F238E27FC236}">
                <a16:creationId xmlns:a16="http://schemas.microsoft.com/office/drawing/2014/main" id="{9A6ECF5F-3F20-1A47-B204-C2BA29AA2EEC}"/>
              </a:ext>
            </a:extLst>
          </p:cNvPr>
          <p:cNvSpPr/>
          <p:nvPr/>
        </p:nvSpPr>
        <p:spPr bwMode="gray">
          <a:xfrm>
            <a:off x="3169817" y="6177031"/>
            <a:ext cx="395827"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39" name="角丸四角形 138">
            <a:extLst>
              <a:ext uri="{FF2B5EF4-FFF2-40B4-BE49-F238E27FC236}">
                <a16:creationId xmlns:a16="http://schemas.microsoft.com/office/drawing/2014/main" id="{8F5D7A90-05DB-B54A-BE96-3FB30B2FDAE9}"/>
              </a:ext>
            </a:extLst>
          </p:cNvPr>
          <p:cNvSpPr/>
          <p:nvPr/>
        </p:nvSpPr>
        <p:spPr bwMode="gray">
          <a:xfrm>
            <a:off x="3169817" y="5918784"/>
            <a:ext cx="395827" cy="178675"/>
          </a:xfrm>
          <a:prstGeom prst="roundRect">
            <a:avLst>
              <a:gd name="adj" fmla="val 22932"/>
            </a:avLst>
          </a:prstGeom>
          <a:solidFill>
            <a:schemeClr val="accent5">
              <a:lumMod val="40000"/>
              <a:lumOff val="60000"/>
              <a:alpha val="60000"/>
            </a:scheme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19" name="角丸四角形 118">
            <a:extLst>
              <a:ext uri="{FF2B5EF4-FFF2-40B4-BE49-F238E27FC236}">
                <a16:creationId xmlns:a16="http://schemas.microsoft.com/office/drawing/2014/main" id="{08C334EA-BD76-6740-B215-B9CA05E0BF33}"/>
              </a:ext>
            </a:extLst>
          </p:cNvPr>
          <p:cNvSpPr/>
          <p:nvPr/>
        </p:nvSpPr>
        <p:spPr bwMode="gray">
          <a:xfrm>
            <a:off x="7163827" y="4853486"/>
            <a:ext cx="395827"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25" name="角丸四角形 124">
            <a:extLst>
              <a:ext uri="{FF2B5EF4-FFF2-40B4-BE49-F238E27FC236}">
                <a16:creationId xmlns:a16="http://schemas.microsoft.com/office/drawing/2014/main" id="{C33DBBEA-B5B7-8D4D-B9F9-1577F6AB30D2}"/>
              </a:ext>
            </a:extLst>
          </p:cNvPr>
          <p:cNvSpPr/>
          <p:nvPr/>
        </p:nvSpPr>
        <p:spPr bwMode="gray">
          <a:xfrm>
            <a:off x="5161907" y="2966802"/>
            <a:ext cx="395827" cy="226781"/>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142" name="角丸四角形 141">
            <a:extLst>
              <a:ext uri="{FF2B5EF4-FFF2-40B4-BE49-F238E27FC236}">
                <a16:creationId xmlns:a16="http://schemas.microsoft.com/office/drawing/2014/main" id="{B71B20C8-9BAF-CB43-9B37-EB12909895BB}"/>
              </a:ext>
            </a:extLst>
          </p:cNvPr>
          <p:cNvSpPr/>
          <p:nvPr/>
        </p:nvSpPr>
        <p:spPr bwMode="gray">
          <a:xfrm>
            <a:off x="7878662" y="2729590"/>
            <a:ext cx="1258522" cy="424101"/>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重点 </a:t>
            </a:r>
            <a:r>
              <a:rPr lang="en-US" altLang="ja-JP" sz="900" dirty="0">
                <a:latin typeface="Meiryo UI" panose="020B0604030504040204" pitchFamily="34" charset="-128"/>
                <a:ea typeface="Meiryo UI" panose="020B0604030504040204" pitchFamily="34" charset="-128"/>
              </a:rPr>
              <a:t>Biz</a:t>
            </a:r>
            <a:r>
              <a:rPr lang="ja-JP" altLang="en-US" sz="900">
                <a:latin typeface="Meiryo UI" panose="020B0604030504040204" pitchFamily="34" charset="-128"/>
                <a:ea typeface="Meiryo UI" panose="020B0604030504040204" pitchFamily="34" charset="-128"/>
              </a:rPr>
              <a:t>シナリオの例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「購買要求上申書作成」</a:t>
            </a:r>
            <a:endParaRPr lang="en-US" altLang="ja-JP" sz="900" dirty="0">
              <a:latin typeface="Meiryo UI" panose="020B0604030504040204" pitchFamily="34" charset="-128"/>
              <a:ea typeface="Meiryo UI" panose="020B0604030504040204" pitchFamily="34" charset="-128"/>
            </a:endParaRPr>
          </a:p>
        </p:txBody>
      </p:sp>
      <p:cxnSp>
        <p:nvCxnSpPr>
          <p:cNvPr id="145" name="直線矢印コネクタ 144">
            <a:extLst>
              <a:ext uri="{FF2B5EF4-FFF2-40B4-BE49-F238E27FC236}">
                <a16:creationId xmlns:a16="http://schemas.microsoft.com/office/drawing/2014/main" id="{8AAA43E5-4C7E-854F-8372-44A8E928AB83}"/>
              </a:ext>
            </a:extLst>
          </p:cNvPr>
          <p:cNvCxnSpPr>
            <a:cxnSpLocks/>
            <a:stCxn id="143" idx="3"/>
            <a:endCxn id="142" idx="1"/>
          </p:cNvCxnSpPr>
          <p:nvPr/>
        </p:nvCxnSpPr>
        <p:spPr>
          <a:xfrm>
            <a:off x="7752488" y="2532960"/>
            <a:ext cx="126174" cy="408681"/>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sp>
        <p:nvSpPr>
          <p:cNvPr id="148" name="角丸四角形 147">
            <a:extLst>
              <a:ext uri="{FF2B5EF4-FFF2-40B4-BE49-F238E27FC236}">
                <a16:creationId xmlns:a16="http://schemas.microsoft.com/office/drawing/2014/main" id="{EB98CEEE-B5DC-BE4A-8E58-C9F888052AF2}"/>
              </a:ext>
            </a:extLst>
          </p:cNvPr>
          <p:cNvSpPr/>
          <p:nvPr/>
        </p:nvSpPr>
        <p:spPr bwMode="gray">
          <a:xfrm>
            <a:off x="7878662" y="4822323"/>
            <a:ext cx="1258522" cy="541532"/>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900" dirty="0" err="1">
                <a:latin typeface="Meiryo UI" panose="020B0604030504040204" pitchFamily="34" charset="-128"/>
                <a:ea typeface="Meiryo UI" panose="020B0604030504040204" pitchFamily="34" charset="-128"/>
              </a:rPr>
              <a:t>ToBe</a:t>
            </a:r>
            <a:r>
              <a:rPr lang="ja-JP" altLang="en-US" sz="900">
                <a:latin typeface="Meiryo UI" panose="020B0604030504040204" pitchFamily="34" charset="-128"/>
                <a:ea typeface="Meiryo UI" panose="020B0604030504040204" pitchFamily="34" charset="-128"/>
              </a:rPr>
              <a:t>ユースケースで</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以下を作成</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en-US" altLang="ja-JP" sz="900" dirty="0">
                <a:latin typeface="Meiryo UI" panose="020B0604030504040204" pitchFamily="34" charset="-128"/>
                <a:ea typeface="Meiryo UI" panose="020B0604030504040204" pitchFamily="34" charset="-128"/>
              </a:rPr>
              <a:t>Ref.</a:t>
            </a:r>
            <a:r>
              <a:rPr lang="ja-JP" altLang="en-US" sz="900">
                <a:latin typeface="Meiryo UI" panose="020B0604030504040204" pitchFamily="34" charset="-128"/>
                <a:ea typeface="Meiryo UI" panose="020B0604030504040204" pitchFamily="34" charset="-128"/>
              </a:rPr>
              <a:t>データフロー図</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en-US" altLang="ja-JP" sz="900" dirty="0">
                <a:latin typeface="Meiryo UI" panose="020B0604030504040204" pitchFamily="34" charset="-128"/>
                <a:ea typeface="Meiryo UI" panose="020B0604030504040204" pitchFamily="34" charset="-128"/>
              </a:rPr>
              <a:t>Ref.</a:t>
            </a:r>
            <a:r>
              <a:rPr lang="ja-JP" altLang="en-US" sz="900">
                <a:latin typeface="Meiryo UI" panose="020B0604030504040204" pitchFamily="34" charset="-128"/>
                <a:ea typeface="Meiryo UI" panose="020B0604030504040204" pitchFamily="34" charset="-128"/>
              </a:rPr>
              <a:t>ビジネスメタデータ</a:t>
            </a:r>
            <a:endParaRPr lang="en-US" altLang="ja-JP" sz="900" dirty="0">
              <a:latin typeface="Meiryo UI" panose="020B0604030504040204" pitchFamily="34" charset="-128"/>
              <a:ea typeface="Meiryo UI" panose="020B0604030504040204" pitchFamily="34" charset="-128"/>
            </a:endParaRPr>
          </a:p>
        </p:txBody>
      </p:sp>
      <p:sp>
        <p:nvSpPr>
          <p:cNvPr id="149" name="三角形 148">
            <a:extLst>
              <a:ext uri="{FF2B5EF4-FFF2-40B4-BE49-F238E27FC236}">
                <a16:creationId xmlns:a16="http://schemas.microsoft.com/office/drawing/2014/main" id="{FC1F9F06-1F95-904B-B3E1-571740F659AF}"/>
              </a:ext>
            </a:extLst>
          </p:cNvPr>
          <p:cNvSpPr/>
          <p:nvPr/>
        </p:nvSpPr>
        <p:spPr bwMode="gray">
          <a:xfrm rot="10800000">
            <a:off x="8274508" y="3302854"/>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151" name="三角形 150">
            <a:extLst>
              <a:ext uri="{FF2B5EF4-FFF2-40B4-BE49-F238E27FC236}">
                <a16:creationId xmlns:a16="http://schemas.microsoft.com/office/drawing/2014/main" id="{3516AED8-2560-5D45-8805-48A563663D4E}"/>
              </a:ext>
            </a:extLst>
          </p:cNvPr>
          <p:cNvSpPr/>
          <p:nvPr/>
        </p:nvSpPr>
        <p:spPr bwMode="gray">
          <a:xfrm rot="10800000">
            <a:off x="8274508" y="4670230"/>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192" name="角丸四角形 191">
            <a:extLst>
              <a:ext uri="{FF2B5EF4-FFF2-40B4-BE49-F238E27FC236}">
                <a16:creationId xmlns:a16="http://schemas.microsoft.com/office/drawing/2014/main" id="{D7246A47-70A1-C340-B081-3E626C7E53D8}"/>
              </a:ext>
            </a:extLst>
          </p:cNvPr>
          <p:cNvSpPr/>
          <p:nvPr/>
        </p:nvSpPr>
        <p:spPr bwMode="gray">
          <a:xfrm>
            <a:off x="7878662" y="4115187"/>
            <a:ext cx="1258522" cy="412293"/>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900" dirty="0" err="1">
                <a:latin typeface="Meiryo UI" panose="020B0604030504040204" pitchFamily="34" charset="-128"/>
                <a:ea typeface="Meiryo UI" panose="020B0604030504040204" pitchFamily="34" charset="-128"/>
              </a:rPr>
              <a:t>ToBe</a:t>
            </a:r>
            <a:r>
              <a:rPr lang="ja-JP" altLang="en-US" sz="900">
                <a:latin typeface="Meiryo UI" panose="020B0604030504040204" pitchFamily="34" charset="-128"/>
                <a:ea typeface="Meiryo UI" panose="020B0604030504040204" pitchFamily="34" charset="-128"/>
              </a:rPr>
              <a:t>ユースケース例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「上記</a:t>
            </a:r>
            <a:r>
              <a:rPr lang="en-US" altLang="ja-JP" sz="900" dirty="0">
                <a:latin typeface="Meiryo UI" panose="020B0604030504040204" pitchFamily="34" charset="-128"/>
                <a:ea typeface="Meiryo UI" panose="020B0604030504040204" pitchFamily="34" charset="-128"/>
              </a:rPr>
              <a:t>4</a:t>
            </a:r>
            <a:r>
              <a:rPr lang="ja-JP" altLang="en-US" sz="900">
                <a:latin typeface="Meiryo UI" panose="020B0604030504040204" pitchFamily="34" charset="-128"/>
                <a:ea typeface="Meiryo UI" panose="020B0604030504040204" pitchFamily="34" charset="-128"/>
              </a:rPr>
              <a:t>項目から調達する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品目・量・予算の検索」</a:t>
            </a:r>
            <a:endParaRPr lang="ja-JP" altLang="en-US" sz="900" dirty="0">
              <a:latin typeface="Meiryo UI" panose="020B0604030504040204" pitchFamily="34" charset="-128"/>
              <a:ea typeface="Meiryo UI" panose="020B0604030504040204" pitchFamily="34" charset="-128"/>
            </a:endParaRPr>
          </a:p>
        </p:txBody>
      </p:sp>
      <p:sp>
        <p:nvSpPr>
          <p:cNvPr id="193" name="三角形 192">
            <a:extLst>
              <a:ext uri="{FF2B5EF4-FFF2-40B4-BE49-F238E27FC236}">
                <a16:creationId xmlns:a16="http://schemas.microsoft.com/office/drawing/2014/main" id="{97737A33-42BD-F149-AAF6-F140BC20F2E7}"/>
              </a:ext>
            </a:extLst>
          </p:cNvPr>
          <p:cNvSpPr/>
          <p:nvPr/>
        </p:nvSpPr>
        <p:spPr bwMode="gray">
          <a:xfrm rot="10800000">
            <a:off x="8274508" y="3994952"/>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34" name="角丸四角形 233">
            <a:extLst>
              <a:ext uri="{FF2B5EF4-FFF2-40B4-BE49-F238E27FC236}">
                <a16:creationId xmlns:a16="http://schemas.microsoft.com/office/drawing/2014/main" id="{CFE13A70-C7D2-D941-9E60-9065837BDFFD}"/>
              </a:ext>
            </a:extLst>
          </p:cNvPr>
          <p:cNvSpPr/>
          <p:nvPr/>
        </p:nvSpPr>
        <p:spPr bwMode="gray">
          <a:xfrm>
            <a:off x="5714420" y="3421663"/>
            <a:ext cx="1258522" cy="447816"/>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上記シナリオのデータフロー</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で必要な</a:t>
            </a:r>
            <a:r>
              <a:rPr lang="en-US" altLang="ja-JP" sz="900" dirty="0">
                <a:latin typeface="Meiryo UI" panose="020B0604030504040204" pitchFamily="34" charset="-128"/>
                <a:ea typeface="Meiryo UI" panose="020B0604030504040204" pitchFamily="34" charset="-128"/>
              </a:rPr>
              <a:t>input</a:t>
            </a:r>
            <a:r>
              <a:rPr lang="ja-JP" altLang="en-US" sz="900">
                <a:latin typeface="Meiryo UI" panose="020B0604030504040204" pitchFamily="34" charset="-128"/>
                <a:ea typeface="Meiryo UI" panose="020B0604030504040204" pitchFamily="34" charset="-128"/>
              </a:rPr>
              <a:t>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「左記</a:t>
            </a:r>
            <a:r>
              <a:rPr lang="en-US" altLang="ja-JP" sz="900" dirty="0">
                <a:latin typeface="Meiryo UI" panose="020B0604030504040204" pitchFamily="34" charset="-128"/>
                <a:ea typeface="Meiryo UI" panose="020B0604030504040204" pitchFamily="34" charset="-128"/>
              </a:rPr>
              <a:t>4</a:t>
            </a:r>
            <a:r>
              <a:rPr lang="ja-JP" altLang="en-US" sz="900">
                <a:latin typeface="Meiryo UI" panose="020B0604030504040204" pitchFamily="34" charset="-128"/>
                <a:ea typeface="Meiryo UI" panose="020B0604030504040204" pitchFamily="34" charset="-128"/>
              </a:rPr>
              <a:t>項目」</a:t>
            </a:r>
            <a:endParaRPr lang="ja-JP" altLang="en-US" sz="900" dirty="0">
              <a:latin typeface="Meiryo UI" panose="020B0604030504040204" pitchFamily="34" charset="-128"/>
              <a:ea typeface="Meiryo UI" panose="020B0604030504040204" pitchFamily="34" charset="-128"/>
            </a:endParaRPr>
          </a:p>
        </p:txBody>
      </p:sp>
      <p:cxnSp>
        <p:nvCxnSpPr>
          <p:cNvPr id="235" name="直線矢印コネクタ 234">
            <a:extLst>
              <a:ext uri="{FF2B5EF4-FFF2-40B4-BE49-F238E27FC236}">
                <a16:creationId xmlns:a16="http://schemas.microsoft.com/office/drawing/2014/main" id="{40B6F853-D34B-874A-9540-0C41A1A659B0}"/>
              </a:ext>
            </a:extLst>
          </p:cNvPr>
          <p:cNvCxnSpPr>
            <a:cxnSpLocks/>
            <a:stCxn id="66" idx="3"/>
            <a:endCxn id="234" idx="1"/>
          </p:cNvCxnSpPr>
          <p:nvPr/>
        </p:nvCxnSpPr>
        <p:spPr>
          <a:xfrm flipV="1">
            <a:off x="5550376" y="3645571"/>
            <a:ext cx="164044" cy="65474"/>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236" name="直線矢印コネクタ 235">
            <a:extLst>
              <a:ext uri="{FF2B5EF4-FFF2-40B4-BE49-F238E27FC236}">
                <a16:creationId xmlns:a16="http://schemas.microsoft.com/office/drawing/2014/main" id="{89BC69CA-E65B-AC42-B454-97E7924E5877}"/>
              </a:ext>
            </a:extLst>
          </p:cNvPr>
          <p:cNvCxnSpPr>
            <a:cxnSpLocks/>
            <a:stCxn id="125" idx="3"/>
            <a:endCxn id="234" idx="1"/>
          </p:cNvCxnSpPr>
          <p:nvPr/>
        </p:nvCxnSpPr>
        <p:spPr>
          <a:xfrm>
            <a:off x="5557734" y="3080193"/>
            <a:ext cx="156686" cy="565378"/>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sp>
        <p:nvSpPr>
          <p:cNvPr id="239" name="角丸四角形 238">
            <a:extLst>
              <a:ext uri="{FF2B5EF4-FFF2-40B4-BE49-F238E27FC236}">
                <a16:creationId xmlns:a16="http://schemas.microsoft.com/office/drawing/2014/main" id="{E7D4BDD6-9040-BF45-BEF4-B961C5D62FE9}"/>
              </a:ext>
            </a:extLst>
          </p:cNvPr>
          <p:cNvSpPr/>
          <p:nvPr/>
        </p:nvSpPr>
        <p:spPr bwMode="gray">
          <a:xfrm>
            <a:off x="5704361" y="2732429"/>
            <a:ext cx="1258522" cy="424220"/>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重点 </a:t>
            </a:r>
            <a:r>
              <a:rPr lang="en-US" altLang="ja-JP" sz="900" dirty="0">
                <a:latin typeface="Meiryo UI" panose="020B0604030504040204" pitchFamily="34" charset="-128"/>
                <a:ea typeface="Meiryo UI" panose="020B0604030504040204" pitchFamily="34" charset="-128"/>
              </a:rPr>
              <a:t>Biz</a:t>
            </a:r>
            <a:r>
              <a:rPr lang="ja-JP" altLang="en-US" sz="900">
                <a:latin typeface="Meiryo UI" panose="020B0604030504040204" pitchFamily="34" charset="-128"/>
                <a:ea typeface="Meiryo UI" panose="020B0604030504040204" pitchFamily="34" charset="-128"/>
              </a:rPr>
              <a:t>シナリオの例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「類似</a:t>
            </a:r>
            <a:r>
              <a:rPr lang="en-US" altLang="ja-JP" sz="900" dirty="0">
                <a:latin typeface="Meiryo UI" panose="020B0604030504040204" pitchFamily="34" charset="-128"/>
                <a:ea typeface="Meiryo UI" panose="020B0604030504040204" pitchFamily="34" charset="-128"/>
              </a:rPr>
              <a:t>PJ</a:t>
            </a:r>
            <a:r>
              <a:rPr lang="ja-JP" altLang="en-US" sz="900">
                <a:latin typeface="Meiryo UI" panose="020B0604030504040204" pitchFamily="34" charset="-128"/>
                <a:ea typeface="Meiryo UI" panose="020B0604030504040204" pitchFamily="34" charset="-128"/>
              </a:rPr>
              <a:t>から見積書を作成」</a:t>
            </a:r>
            <a:endParaRPr lang="en-US" altLang="ja-JP" sz="900" dirty="0">
              <a:latin typeface="Meiryo UI" panose="020B0604030504040204" pitchFamily="34" charset="-128"/>
              <a:ea typeface="Meiryo UI" panose="020B0604030504040204" pitchFamily="34" charset="-128"/>
            </a:endParaRPr>
          </a:p>
        </p:txBody>
      </p:sp>
      <p:cxnSp>
        <p:nvCxnSpPr>
          <p:cNvPr id="240" name="直線矢印コネクタ 239">
            <a:extLst>
              <a:ext uri="{FF2B5EF4-FFF2-40B4-BE49-F238E27FC236}">
                <a16:creationId xmlns:a16="http://schemas.microsoft.com/office/drawing/2014/main" id="{68023D9B-2054-854A-994F-2B1969E3A03B}"/>
              </a:ext>
            </a:extLst>
          </p:cNvPr>
          <p:cNvCxnSpPr>
            <a:cxnSpLocks/>
            <a:stCxn id="189" idx="2"/>
            <a:endCxn id="239" idx="1"/>
          </p:cNvCxnSpPr>
          <p:nvPr/>
        </p:nvCxnSpPr>
        <p:spPr>
          <a:xfrm>
            <a:off x="5307578" y="2629290"/>
            <a:ext cx="396783" cy="315249"/>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sp>
        <p:nvSpPr>
          <p:cNvPr id="241" name="角丸四角形 240">
            <a:extLst>
              <a:ext uri="{FF2B5EF4-FFF2-40B4-BE49-F238E27FC236}">
                <a16:creationId xmlns:a16="http://schemas.microsoft.com/office/drawing/2014/main" id="{D62EB12C-3031-354B-82B1-2F7D877D9B3E}"/>
              </a:ext>
            </a:extLst>
          </p:cNvPr>
          <p:cNvSpPr/>
          <p:nvPr/>
        </p:nvSpPr>
        <p:spPr bwMode="gray">
          <a:xfrm>
            <a:off x="5704361" y="4822323"/>
            <a:ext cx="1258522" cy="541532"/>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900" dirty="0" err="1">
                <a:latin typeface="Meiryo UI" panose="020B0604030504040204" pitchFamily="34" charset="-128"/>
                <a:ea typeface="Meiryo UI" panose="020B0604030504040204" pitchFamily="34" charset="-128"/>
              </a:rPr>
              <a:t>ToBe</a:t>
            </a:r>
            <a:r>
              <a:rPr lang="ja-JP" altLang="en-US" sz="900">
                <a:latin typeface="Meiryo UI" panose="020B0604030504040204" pitchFamily="34" charset="-128"/>
                <a:ea typeface="Meiryo UI" panose="020B0604030504040204" pitchFamily="34" charset="-128"/>
              </a:rPr>
              <a:t>ユースケースで</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以下を作成</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en-US" altLang="ja-JP" sz="900" dirty="0">
                <a:latin typeface="Meiryo UI" panose="020B0604030504040204" pitchFamily="34" charset="-128"/>
                <a:ea typeface="Meiryo UI" panose="020B0604030504040204" pitchFamily="34" charset="-128"/>
              </a:rPr>
              <a:t>Ref.</a:t>
            </a:r>
            <a:r>
              <a:rPr lang="ja-JP" altLang="en-US" sz="900">
                <a:latin typeface="Meiryo UI" panose="020B0604030504040204" pitchFamily="34" charset="-128"/>
                <a:ea typeface="Meiryo UI" panose="020B0604030504040204" pitchFamily="34" charset="-128"/>
              </a:rPr>
              <a:t>データフロー図</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en-US" altLang="ja-JP" sz="900" dirty="0">
                <a:latin typeface="Meiryo UI" panose="020B0604030504040204" pitchFamily="34" charset="-128"/>
                <a:ea typeface="Meiryo UI" panose="020B0604030504040204" pitchFamily="34" charset="-128"/>
              </a:rPr>
              <a:t>Ref.</a:t>
            </a:r>
            <a:r>
              <a:rPr lang="ja-JP" altLang="en-US" sz="900">
                <a:latin typeface="Meiryo UI" panose="020B0604030504040204" pitchFamily="34" charset="-128"/>
                <a:ea typeface="Meiryo UI" panose="020B0604030504040204" pitchFamily="34" charset="-128"/>
              </a:rPr>
              <a:t>ビジネスメタデータ</a:t>
            </a:r>
            <a:endParaRPr lang="en-US" altLang="ja-JP" sz="900" dirty="0">
              <a:latin typeface="Meiryo UI" panose="020B0604030504040204" pitchFamily="34" charset="-128"/>
              <a:ea typeface="Meiryo UI" panose="020B0604030504040204" pitchFamily="34" charset="-128"/>
            </a:endParaRPr>
          </a:p>
        </p:txBody>
      </p:sp>
      <p:sp>
        <p:nvSpPr>
          <p:cNvPr id="242" name="角丸四角形 241">
            <a:extLst>
              <a:ext uri="{FF2B5EF4-FFF2-40B4-BE49-F238E27FC236}">
                <a16:creationId xmlns:a16="http://schemas.microsoft.com/office/drawing/2014/main" id="{2DAABF16-7456-9245-904F-C3A60E275616}"/>
              </a:ext>
            </a:extLst>
          </p:cNvPr>
          <p:cNvSpPr/>
          <p:nvPr/>
        </p:nvSpPr>
        <p:spPr bwMode="gray">
          <a:xfrm>
            <a:off x="5704361" y="4115187"/>
            <a:ext cx="1258522" cy="412293"/>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900" dirty="0" err="1">
                <a:latin typeface="Meiryo UI" panose="020B0604030504040204" pitchFamily="34" charset="-128"/>
                <a:ea typeface="Meiryo UI" panose="020B0604030504040204" pitchFamily="34" charset="-128"/>
              </a:rPr>
              <a:t>ToBe</a:t>
            </a:r>
            <a:r>
              <a:rPr lang="ja-JP" altLang="en-US" sz="900">
                <a:latin typeface="Meiryo UI" panose="020B0604030504040204" pitchFamily="34" charset="-128"/>
                <a:ea typeface="Meiryo UI" panose="020B0604030504040204" pitchFamily="34" charset="-128"/>
              </a:rPr>
              <a:t>ユースケース例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「上記</a:t>
            </a:r>
            <a:r>
              <a:rPr lang="en-US" altLang="ja-JP" sz="900" dirty="0">
                <a:latin typeface="Meiryo UI" panose="020B0604030504040204" pitchFamily="34" charset="-128"/>
                <a:ea typeface="Meiryo UI" panose="020B0604030504040204" pitchFamily="34" charset="-128"/>
              </a:rPr>
              <a:t>4</a:t>
            </a:r>
            <a:r>
              <a:rPr lang="ja-JP" altLang="en-US" sz="900">
                <a:latin typeface="Meiryo UI" panose="020B0604030504040204" pitchFamily="34" charset="-128"/>
                <a:ea typeface="Meiryo UI" panose="020B0604030504040204" pitchFamily="34" charset="-128"/>
              </a:rPr>
              <a:t>項目から類似</a:t>
            </a:r>
            <a:r>
              <a:rPr lang="en-US" altLang="ja-JP" sz="900" dirty="0">
                <a:latin typeface="Meiryo UI" panose="020B0604030504040204" pitchFamily="34" charset="-128"/>
                <a:ea typeface="Meiryo UI" panose="020B0604030504040204" pitchFamily="34" charset="-128"/>
              </a:rPr>
              <a:t>PJ</a:t>
            </a:r>
            <a:r>
              <a:rPr lang="ja-JP" altLang="en-US" sz="900">
                <a:latin typeface="Meiryo UI" panose="020B0604030504040204" pitchFamily="34" charset="-128"/>
                <a:ea typeface="Meiryo UI" panose="020B0604030504040204" pitchFamily="34" charset="-128"/>
              </a:rPr>
              <a:t>の</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見積金額の検索」</a:t>
            </a:r>
            <a:endParaRPr lang="ja-JP" altLang="en-US" sz="900" dirty="0">
              <a:latin typeface="Meiryo UI" panose="020B0604030504040204" pitchFamily="34" charset="-128"/>
              <a:ea typeface="Meiryo UI" panose="020B0604030504040204" pitchFamily="34" charset="-128"/>
            </a:endParaRPr>
          </a:p>
        </p:txBody>
      </p:sp>
      <p:sp>
        <p:nvSpPr>
          <p:cNvPr id="257" name="三角形 256">
            <a:extLst>
              <a:ext uri="{FF2B5EF4-FFF2-40B4-BE49-F238E27FC236}">
                <a16:creationId xmlns:a16="http://schemas.microsoft.com/office/drawing/2014/main" id="{2FDD48B9-6D0A-804C-BA67-E32C4179E0C7}"/>
              </a:ext>
            </a:extLst>
          </p:cNvPr>
          <p:cNvSpPr/>
          <p:nvPr/>
        </p:nvSpPr>
        <p:spPr bwMode="gray">
          <a:xfrm rot="10800000">
            <a:off x="6148026" y="3302854"/>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58" name="三角形 257">
            <a:extLst>
              <a:ext uri="{FF2B5EF4-FFF2-40B4-BE49-F238E27FC236}">
                <a16:creationId xmlns:a16="http://schemas.microsoft.com/office/drawing/2014/main" id="{1A04FF24-9933-854D-AFC8-BCE68641E96B}"/>
              </a:ext>
            </a:extLst>
          </p:cNvPr>
          <p:cNvSpPr/>
          <p:nvPr/>
        </p:nvSpPr>
        <p:spPr bwMode="gray">
          <a:xfrm rot="10800000">
            <a:off x="6148026" y="4670230"/>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59" name="三角形 258">
            <a:extLst>
              <a:ext uri="{FF2B5EF4-FFF2-40B4-BE49-F238E27FC236}">
                <a16:creationId xmlns:a16="http://schemas.microsoft.com/office/drawing/2014/main" id="{08F7812C-2B37-784F-BDE1-5DA322711630}"/>
              </a:ext>
            </a:extLst>
          </p:cNvPr>
          <p:cNvSpPr/>
          <p:nvPr/>
        </p:nvSpPr>
        <p:spPr bwMode="gray">
          <a:xfrm rot="10800000">
            <a:off x="6148026" y="3994952"/>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60" name="角丸四角形 259">
            <a:extLst>
              <a:ext uri="{FF2B5EF4-FFF2-40B4-BE49-F238E27FC236}">
                <a16:creationId xmlns:a16="http://schemas.microsoft.com/office/drawing/2014/main" id="{82EC78EA-807A-A748-990F-A2B46050CD55}"/>
              </a:ext>
            </a:extLst>
          </p:cNvPr>
          <p:cNvSpPr/>
          <p:nvPr/>
        </p:nvSpPr>
        <p:spPr bwMode="gray">
          <a:xfrm>
            <a:off x="3688861" y="3421663"/>
            <a:ext cx="1258522" cy="447816"/>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上記シナリオのデータフロー</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で必要な</a:t>
            </a:r>
            <a:r>
              <a:rPr lang="en-US" altLang="ja-JP" sz="900" dirty="0">
                <a:latin typeface="Meiryo UI" panose="020B0604030504040204" pitchFamily="34" charset="-128"/>
                <a:ea typeface="Meiryo UI" panose="020B0604030504040204" pitchFamily="34" charset="-128"/>
              </a:rPr>
              <a:t>input</a:t>
            </a:r>
            <a:r>
              <a:rPr lang="ja-JP" altLang="en-US" sz="900">
                <a:latin typeface="Meiryo UI" panose="020B0604030504040204" pitchFamily="34" charset="-128"/>
                <a:ea typeface="Meiryo UI" panose="020B0604030504040204" pitchFamily="34" charset="-128"/>
              </a:rPr>
              <a:t>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「左記</a:t>
            </a:r>
            <a:r>
              <a:rPr lang="en-US" altLang="ja-JP" sz="900" dirty="0">
                <a:latin typeface="Meiryo UI" panose="020B0604030504040204" pitchFamily="34" charset="-128"/>
                <a:ea typeface="Meiryo UI" panose="020B0604030504040204" pitchFamily="34" charset="-128"/>
              </a:rPr>
              <a:t>3</a:t>
            </a:r>
            <a:r>
              <a:rPr lang="ja-JP" altLang="en-US" sz="900">
                <a:latin typeface="Meiryo UI" panose="020B0604030504040204" pitchFamily="34" charset="-128"/>
                <a:ea typeface="Meiryo UI" panose="020B0604030504040204" pitchFamily="34" charset="-128"/>
              </a:rPr>
              <a:t>項目」</a:t>
            </a:r>
            <a:endParaRPr lang="ja-JP" altLang="en-US" sz="900" dirty="0">
              <a:latin typeface="Meiryo UI" panose="020B0604030504040204" pitchFamily="34" charset="-128"/>
              <a:ea typeface="Meiryo UI" panose="020B0604030504040204" pitchFamily="34" charset="-128"/>
            </a:endParaRPr>
          </a:p>
        </p:txBody>
      </p:sp>
      <p:sp>
        <p:nvSpPr>
          <p:cNvPr id="263" name="角丸四角形 262">
            <a:extLst>
              <a:ext uri="{FF2B5EF4-FFF2-40B4-BE49-F238E27FC236}">
                <a16:creationId xmlns:a16="http://schemas.microsoft.com/office/drawing/2014/main" id="{E4B1F9CE-D4A9-DE42-B1BA-F9A04B7FF8AD}"/>
              </a:ext>
            </a:extLst>
          </p:cNvPr>
          <p:cNvSpPr/>
          <p:nvPr/>
        </p:nvSpPr>
        <p:spPr bwMode="gray">
          <a:xfrm>
            <a:off x="3678802" y="2736554"/>
            <a:ext cx="1258522" cy="528963"/>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重点 </a:t>
            </a:r>
            <a:r>
              <a:rPr lang="en-US" altLang="ja-JP" sz="900" dirty="0">
                <a:latin typeface="Meiryo UI" panose="020B0604030504040204" pitchFamily="34" charset="-128"/>
                <a:ea typeface="Meiryo UI" panose="020B0604030504040204" pitchFamily="34" charset="-128"/>
              </a:rPr>
              <a:t>Biz</a:t>
            </a:r>
            <a:r>
              <a:rPr lang="ja-JP" altLang="en-US" sz="900">
                <a:latin typeface="Meiryo UI" panose="020B0604030504040204" pitchFamily="34" charset="-128"/>
                <a:ea typeface="Meiryo UI" panose="020B0604030504040204" pitchFamily="34" charset="-128"/>
              </a:rPr>
              <a:t>シナリオの例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a:t>
            </a:r>
            <a:r>
              <a:rPr lang="en-US" altLang="ja-JP" sz="900" dirty="0">
                <a:latin typeface="Meiryo UI" panose="020B0604030504040204" pitchFamily="34" charset="-128"/>
                <a:ea typeface="Meiryo UI" panose="020B0604030504040204" pitchFamily="34" charset="-128"/>
              </a:rPr>
              <a:t>PJ</a:t>
            </a:r>
            <a:r>
              <a:rPr lang="ja-JP" altLang="en-US" sz="900">
                <a:latin typeface="Meiryo UI" panose="020B0604030504040204" pitchFamily="34" charset="-128"/>
                <a:ea typeface="Meiryo UI" panose="020B0604030504040204" pitchFamily="34" charset="-128"/>
              </a:rPr>
              <a:t>管理表を作成し</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予算超過の差異分析を行う」</a:t>
            </a:r>
            <a:endParaRPr lang="en-US" altLang="ja-JP" sz="900" dirty="0">
              <a:latin typeface="Meiryo UI" panose="020B0604030504040204" pitchFamily="34" charset="-128"/>
              <a:ea typeface="Meiryo UI" panose="020B0604030504040204" pitchFamily="34" charset="-128"/>
            </a:endParaRPr>
          </a:p>
        </p:txBody>
      </p:sp>
      <p:sp>
        <p:nvSpPr>
          <p:cNvPr id="265" name="角丸四角形 264">
            <a:extLst>
              <a:ext uri="{FF2B5EF4-FFF2-40B4-BE49-F238E27FC236}">
                <a16:creationId xmlns:a16="http://schemas.microsoft.com/office/drawing/2014/main" id="{DF48B6A4-BB41-6C46-BB41-49215CFB5359}"/>
              </a:ext>
            </a:extLst>
          </p:cNvPr>
          <p:cNvSpPr/>
          <p:nvPr/>
        </p:nvSpPr>
        <p:spPr bwMode="gray">
          <a:xfrm>
            <a:off x="3678802" y="4115187"/>
            <a:ext cx="1258522" cy="412293"/>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900" dirty="0" err="1">
                <a:latin typeface="Meiryo UI" panose="020B0604030504040204" pitchFamily="34" charset="-128"/>
                <a:ea typeface="Meiryo UI" panose="020B0604030504040204" pitchFamily="34" charset="-128"/>
              </a:rPr>
              <a:t>ToBe</a:t>
            </a:r>
            <a:r>
              <a:rPr lang="ja-JP" altLang="en-US" sz="900">
                <a:latin typeface="Meiryo UI" panose="020B0604030504040204" pitchFamily="34" charset="-128"/>
                <a:ea typeface="Meiryo UI" panose="020B0604030504040204" pitchFamily="34" charset="-128"/>
              </a:rPr>
              <a:t>ユースケース例</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「上記</a:t>
            </a:r>
            <a:r>
              <a:rPr lang="en-US" altLang="ja-JP" sz="900" dirty="0">
                <a:latin typeface="Meiryo UI" panose="020B0604030504040204" pitchFamily="34" charset="-128"/>
                <a:ea typeface="Meiryo UI" panose="020B0604030504040204" pitchFamily="34" charset="-128"/>
              </a:rPr>
              <a:t>3</a:t>
            </a:r>
            <a:r>
              <a:rPr lang="ja-JP" altLang="en-US" sz="900">
                <a:latin typeface="Meiryo UI" panose="020B0604030504040204" pitchFamily="34" charset="-128"/>
                <a:ea typeface="Meiryo UI" panose="020B0604030504040204" pitchFamily="34" charset="-128"/>
              </a:rPr>
              <a:t>項目から予算超過</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品目の検索」</a:t>
            </a:r>
            <a:endParaRPr lang="ja-JP" altLang="en-US" sz="900" dirty="0">
              <a:latin typeface="Meiryo UI" panose="020B0604030504040204" pitchFamily="34" charset="-128"/>
              <a:ea typeface="Meiryo UI" panose="020B0604030504040204" pitchFamily="34" charset="-128"/>
            </a:endParaRPr>
          </a:p>
        </p:txBody>
      </p:sp>
      <p:sp>
        <p:nvSpPr>
          <p:cNvPr id="266" name="三角形 265">
            <a:extLst>
              <a:ext uri="{FF2B5EF4-FFF2-40B4-BE49-F238E27FC236}">
                <a16:creationId xmlns:a16="http://schemas.microsoft.com/office/drawing/2014/main" id="{D72376CC-4B78-F748-B87A-FFBE28139C18}"/>
              </a:ext>
            </a:extLst>
          </p:cNvPr>
          <p:cNvSpPr/>
          <p:nvPr/>
        </p:nvSpPr>
        <p:spPr bwMode="gray">
          <a:xfrm rot="10800000">
            <a:off x="4131611" y="3302854"/>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67" name="三角形 266">
            <a:extLst>
              <a:ext uri="{FF2B5EF4-FFF2-40B4-BE49-F238E27FC236}">
                <a16:creationId xmlns:a16="http://schemas.microsoft.com/office/drawing/2014/main" id="{28C2D542-D96F-7543-BB81-4E94277F7662}"/>
              </a:ext>
            </a:extLst>
          </p:cNvPr>
          <p:cNvSpPr/>
          <p:nvPr/>
        </p:nvSpPr>
        <p:spPr bwMode="gray">
          <a:xfrm rot="10800000">
            <a:off x="4131611" y="4670230"/>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68" name="三角形 267">
            <a:extLst>
              <a:ext uri="{FF2B5EF4-FFF2-40B4-BE49-F238E27FC236}">
                <a16:creationId xmlns:a16="http://schemas.microsoft.com/office/drawing/2014/main" id="{7D260733-7399-DE46-9E02-8EDE037A0876}"/>
              </a:ext>
            </a:extLst>
          </p:cNvPr>
          <p:cNvSpPr/>
          <p:nvPr/>
        </p:nvSpPr>
        <p:spPr bwMode="gray">
          <a:xfrm rot="10800000">
            <a:off x="4131611" y="3994952"/>
            <a:ext cx="392334" cy="105605"/>
          </a:xfrm>
          <a:prstGeom prst="triangle">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nSpc>
                <a:spcPts val="1140"/>
              </a:lnSpc>
              <a:buFont typeface="Wingdings 2" pitchFamily="18" charset="2"/>
              <a:buNone/>
            </a:pPr>
            <a:endParaRPr lang="en-US" altLang="ja-JP" sz="1000" dirty="0">
              <a:latin typeface="Meiryo UI" panose="020B0604030504040204" pitchFamily="34" charset="-128"/>
              <a:ea typeface="Meiryo UI" panose="020B0604030504040204" pitchFamily="34" charset="-128"/>
            </a:endParaRPr>
          </a:p>
        </p:txBody>
      </p:sp>
      <p:sp>
        <p:nvSpPr>
          <p:cNvPr id="269" name="角丸四角形 268">
            <a:extLst>
              <a:ext uri="{FF2B5EF4-FFF2-40B4-BE49-F238E27FC236}">
                <a16:creationId xmlns:a16="http://schemas.microsoft.com/office/drawing/2014/main" id="{51CDABD2-B761-8543-9C8B-6CADAABD7AAE}"/>
              </a:ext>
            </a:extLst>
          </p:cNvPr>
          <p:cNvSpPr/>
          <p:nvPr/>
        </p:nvSpPr>
        <p:spPr bwMode="gray">
          <a:xfrm>
            <a:off x="2839669" y="2443622"/>
            <a:ext cx="974537" cy="178675"/>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275" name="角丸四角形 274">
            <a:extLst>
              <a:ext uri="{FF2B5EF4-FFF2-40B4-BE49-F238E27FC236}">
                <a16:creationId xmlns:a16="http://schemas.microsoft.com/office/drawing/2014/main" id="{2F28FF27-3F6A-9045-95B0-4D93E93D5E7D}"/>
              </a:ext>
            </a:extLst>
          </p:cNvPr>
          <p:cNvSpPr/>
          <p:nvPr/>
        </p:nvSpPr>
        <p:spPr bwMode="gray">
          <a:xfrm>
            <a:off x="3678802" y="4822323"/>
            <a:ext cx="1258522" cy="541532"/>
          </a:xfrm>
          <a:prstGeom prst="roundRect">
            <a:avLst>
              <a:gd name="adj" fmla="val 22932"/>
            </a:avLst>
          </a:prstGeom>
          <a:solidFill>
            <a:srgbClr val="82A0AA">
              <a:alpha val="60000"/>
            </a:srgb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1140"/>
              </a:lnSpc>
              <a:buFont typeface="Wingdings 2" pitchFamily="18" charset="2"/>
              <a:buNone/>
            </a:pPr>
            <a:r>
              <a:rPr lang="en-US" altLang="ja-JP" sz="900" dirty="0" err="1">
                <a:latin typeface="Meiryo UI" panose="020B0604030504040204" pitchFamily="34" charset="-128"/>
                <a:ea typeface="Meiryo UI" panose="020B0604030504040204" pitchFamily="34" charset="-128"/>
              </a:rPr>
              <a:t>ToBe</a:t>
            </a:r>
            <a:r>
              <a:rPr lang="ja-JP" altLang="en-US" sz="900">
                <a:latin typeface="Meiryo UI" panose="020B0604030504040204" pitchFamily="34" charset="-128"/>
                <a:ea typeface="Meiryo UI" panose="020B0604030504040204" pitchFamily="34" charset="-128"/>
              </a:rPr>
              <a:t>ユースケースで</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以下を作成</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en-US" altLang="ja-JP" sz="900" dirty="0">
                <a:latin typeface="Meiryo UI" panose="020B0604030504040204" pitchFamily="34" charset="-128"/>
                <a:ea typeface="Meiryo UI" panose="020B0604030504040204" pitchFamily="34" charset="-128"/>
              </a:rPr>
              <a:t>Ref.</a:t>
            </a:r>
            <a:r>
              <a:rPr lang="ja-JP" altLang="en-US" sz="900">
                <a:latin typeface="Meiryo UI" panose="020B0604030504040204" pitchFamily="34" charset="-128"/>
                <a:ea typeface="Meiryo UI" panose="020B0604030504040204" pitchFamily="34" charset="-128"/>
              </a:rPr>
              <a:t>データフロー図</a:t>
            </a:r>
            <a:endParaRPr lang="en-US" altLang="ja-JP" sz="900" dirty="0">
              <a:latin typeface="Meiryo UI" panose="020B0604030504040204" pitchFamily="34" charset="-128"/>
              <a:ea typeface="Meiryo UI" panose="020B0604030504040204" pitchFamily="34" charset="-128"/>
            </a:endParaRPr>
          </a:p>
          <a:p>
            <a:pPr algn="ctr">
              <a:lnSpc>
                <a:spcPts val="1140"/>
              </a:lnSpc>
              <a:buFont typeface="Wingdings 2" pitchFamily="18" charset="2"/>
              <a:buNone/>
            </a:pPr>
            <a:r>
              <a:rPr lang="en-US" altLang="ja-JP" sz="900" dirty="0">
                <a:latin typeface="Meiryo UI" panose="020B0604030504040204" pitchFamily="34" charset="-128"/>
                <a:ea typeface="Meiryo UI" panose="020B0604030504040204" pitchFamily="34" charset="-128"/>
              </a:rPr>
              <a:t>Ref.</a:t>
            </a:r>
            <a:r>
              <a:rPr lang="ja-JP" altLang="en-US" sz="900">
                <a:latin typeface="Meiryo UI" panose="020B0604030504040204" pitchFamily="34" charset="-128"/>
                <a:ea typeface="Meiryo UI" panose="020B0604030504040204" pitchFamily="34" charset="-128"/>
              </a:rPr>
              <a:t>ビジネスメタデータ</a:t>
            </a:r>
            <a:endParaRPr lang="en-US" altLang="ja-JP" sz="900" dirty="0">
              <a:latin typeface="Meiryo UI" panose="020B0604030504040204" pitchFamily="34" charset="-128"/>
              <a:ea typeface="Meiryo UI" panose="020B0604030504040204" pitchFamily="34" charset="-128"/>
            </a:endParaRPr>
          </a:p>
        </p:txBody>
      </p:sp>
      <p:sp>
        <p:nvSpPr>
          <p:cNvPr id="283" name="角丸四角形 282">
            <a:extLst>
              <a:ext uri="{FF2B5EF4-FFF2-40B4-BE49-F238E27FC236}">
                <a16:creationId xmlns:a16="http://schemas.microsoft.com/office/drawing/2014/main" id="{49725D76-696C-5C41-B9F4-CB7A09AB1E5A}"/>
              </a:ext>
            </a:extLst>
          </p:cNvPr>
          <p:cNvSpPr/>
          <p:nvPr/>
        </p:nvSpPr>
        <p:spPr bwMode="gray">
          <a:xfrm>
            <a:off x="5163589" y="3253712"/>
            <a:ext cx="395827" cy="178675"/>
          </a:xfrm>
          <a:prstGeom prst="roundRect">
            <a:avLst>
              <a:gd name="adj" fmla="val 22932"/>
            </a:avLst>
          </a:prstGeom>
          <a:solidFill>
            <a:schemeClr val="accent5">
              <a:lumMod val="40000"/>
              <a:lumOff val="60000"/>
              <a:alpha val="60000"/>
            </a:scheme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cxnSp>
        <p:nvCxnSpPr>
          <p:cNvPr id="284" name="直線矢印コネクタ 283">
            <a:extLst>
              <a:ext uri="{FF2B5EF4-FFF2-40B4-BE49-F238E27FC236}">
                <a16:creationId xmlns:a16="http://schemas.microsoft.com/office/drawing/2014/main" id="{C5897936-8327-6A46-BC9B-27BA12376937}"/>
              </a:ext>
            </a:extLst>
          </p:cNvPr>
          <p:cNvCxnSpPr>
            <a:cxnSpLocks/>
            <a:stCxn id="283" idx="3"/>
            <a:endCxn id="234" idx="1"/>
          </p:cNvCxnSpPr>
          <p:nvPr/>
        </p:nvCxnSpPr>
        <p:spPr>
          <a:xfrm>
            <a:off x="5559416" y="3343050"/>
            <a:ext cx="155004" cy="302521"/>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cxnSp>
        <p:nvCxnSpPr>
          <p:cNvPr id="287" name="直線矢印コネクタ 286">
            <a:extLst>
              <a:ext uri="{FF2B5EF4-FFF2-40B4-BE49-F238E27FC236}">
                <a16:creationId xmlns:a16="http://schemas.microsoft.com/office/drawing/2014/main" id="{18020FE0-8847-9640-8968-77AB26431D25}"/>
              </a:ext>
            </a:extLst>
          </p:cNvPr>
          <p:cNvCxnSpPr>
            <a:cxnSpLocks/>
            <a:stCxn id="283" idx="2"/>
            <a:endCxn id="288" idx="1"/>
          </p:cNvCxnSpPr>
          <p:nvPr/>
        </p:nvCxnSpPr>
        <p:spPr>
          <a:xfrm>
            <a:off x="5361503" y="3432387"/>
            <a:ext cx="319087" cy="2584880"/>
          </a:xfrm>
          <a:prstGeom prst="straightConnector1">
            <a:avLst/>
          </a:prstGeom>
          <a:noFill/>
          <a:ln w="19050" cap="flat" cmpd="sng" algn="ctr">
            <a:solidFill>
              <a:schemeClr val="accent5">
                <a:lumMod val="40000"/>
                <a:lumOff val="60000"/>
              </a:schemeClr>
            </a:solidFill>
            <a:prstDash val="solid"/>
            <a:headEnd type="oval" w="sm" len="sm"/>
            <a:tailEnd type="oval" w="sm" len="sm"/>
          </a:ln>
          <a:effectLst/>
        </p:spPr>
      </p:cxnSp>
      <p:sp>
        <p:nvSpPr>
          <p:cNvPr id="288" name="角丸四角形 287">
            <a:extLst>
              <a:ext uri="{FF2B5EF4-FFF2-40B4-BE49-F238E27FC236}">
                <a16:creationId xmlns:a16="http://schemas.microsoft.com/office/drawing/2014/main" id="{018F2918-FC8A-3F45-A6E2-626F2BE8854B}"/>
              </a:ext>
            </a:extLst>
          </p:cNvPr>
          <p:cNvSpPr/>
          <p:nvPr/>
        </p:nvSpPr>
        <p:spPr bwMode="gray">
          <a:xfrm>
            <a:off x="5680590" y="5552835"/>
            <a:ext cx="1258522" cy="928863"/>
          </a:xfrm>
          <a:prstGeom prst="roundRect">
            <a:avLst>
              <a:gd name="adj" fmla="val 22932"/>
            </a:avLst>
          </a:prstGeom>
          <a:solidFill>
            <a:schemeClr val="accent5">
              <a:lumMod val="40000"/>
              <a:lumOff val="60000"/>
              <a:alpha val="60000"/>
            </a:scheme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✓要求仕様の類似性の</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検索</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（例</a:t>
            </a:r>
            <a:r>
              <a:rPr lang="en-US" altLang="ja-JP" sz="900" dirty="0">
                <a:latin typeface="Meiryo UI" panose="020B0604030504040204" pitchFamily="34" charset="-128"/>
                <a:ea typeface="Meiryo UI" panose="020B0604030504040204" pitchFamily="34" charset="-128"/>
              </a:rPr>
              <a:t>:</a:t>
            </a:r>
            <a:r>
              <a:rPr lang="ja-JP" altLang="en-US" sz="900">
                <a:latin typeface="Meiryo UI" panose="020B0604030504040204" pitchFamily="34" charset="-128"/>
                <a:ea typeface="Meiryo UI" panose="020B0604030504040204" pitchFamily="34" charset="-128"/>
              </a:rPr>
              <a:t>標準仕様再利用率）</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✓有効な類似性の定義</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（例</a:t>
            </a:r>
            <a:r>
              <a:rPr lang="en-US" altLang="ja-JP" sz="900" dirty="0">
                <a:latin typeface="Meiryo UI" panose="020B0604030504040204" pitchFamily="34" charset="-128"/>
                <a:ea typeface="Meiryo UI" panose="020B0604030504040204" pitchFamily="34" charset="-128"/>
              </a:rPr>
              <a:t>:</a:t>
            </a:r>
            <a:r>
              <a:rPr lang="ja-JP" altLang="en-US" sz="900">
                <a:latin typeface="Meiryo UI" panose="020B0604030504040204" pitchFamily="34" charset="-128"/>
                <a:ea typeface="Meiryo UI" panose="020B0604030504040204" pitchFamily="34" charset="-128"/>
              </a:rPr>
              <a:t>規模、工期、新規、</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改良）</a:t>
            </a:r>
            <a:endParaRPr lang="en-US" altLang="ja-JP" sz="900" dirty="0">
              <a:latin typeface="Meiryo UI" panose="020B0604030504040204" pitchFamily="34" charset="-128"/>
              <a:ea typeface="Meiryo UI" panose="020B0604030504040204" pitchFamily="34" charset="-128"/>
            </a:endParaRPr>
          </a:p>
        </p:txBody>
      </p:sp>
      <p:cxnSp>
        <p:nvCxnSpPr>
          <p:cNvPr id="297" name="直線矢印コネクタ 296">
            <a:extLst>
              <a:ext uri="{FF2B5EF4-FFF2-40B4-BE49-F238E27FC236}">
                <a16:creationId xmlns:a16="http://schemas.microsoft.com/office/drawing/2014/main" id="{600DB052-8497-914E-B201-213E1E8E4B0F}"/>
              </a:ext>
            </a:extLst>
          </p:cNvPr>
          <p:cNvCxnSpPr>
            <a:cxnSpLocks/>
            <a:stCxn id="139" idx="3"/>
            <a:endCxn id="298" idx="1"/>
          </p:cNvCxnSpPr>
          <p:nvPr/>
        </p:nvCxnSpPr>
        <p:spPr>
          <a:xfrm flipV="1">
            <a:off x="3565644" y="5775693"/>
            <a:ext cx="113158" cy="232429"/>
          </a:xfrm>
          <a:prstGeom prst="straightConnector1">
            <a:avLst/>
          </a:prstGeom>
          <a:noFill/>
          <a:ln w="19050" cap="flat" cmpd="sng" algn="ctr">
            <a:solidFill>
              <a:schemeClr val="accent5">
                <a:lumMod val="40000"/>
                <a:lumOff val="60000"/>
              </a:schemeClr>
            </a:solidFill>
            <a:prstDash val="solid"/>
            <a:headEnd type="oval" w="sm" len="sm"/>
            <a:tailEnd type="oval" w="sm" len="sm"/>
          </a:ln>
          <a:effectLst/>
        </p:spPr>
      </p:cxnSp>
      <p:sp>
        <p:nvSpPr>
          <p:cNvPr id="298" name="角丸四角形 297">
            <a:extLst>
              <a:ext uri="{FF2B5EF4-FFF2-40B4-BE49-F238E27FC236}">
                <a16:creationId xmlns:a16="http://schemas.microsoft.com/office/drawing/2014/main" id="{A712DBD9-02B7-8448-84CD-2CA1A4621242}"/>
              </a:ext>
            </a:extLst>
          </p:cNvPr>
          <p:cNvSpPr/>
          <p:nvPr/>
        </p:nvSpPr>
        <p:spPr bwMode="gray">
          <a:xfrm>
            <a:off x="3678802" y="5552835"/>
            <a:ext cx="1258522" cy="445716"/>
          </a:xfrm>
          <a:prstGeom prst="roundRect">
            <a:avLst>
              <a:gd name="adj" fmla="val 22932"/>
            </a:avLst>
          </a:prstGeom>
          <a:solidFill>
            <a:schemeClr val="accent5">
              <a:lumMod val="40000"/>
              <a:lumOff val="60000"/>
              <a:alpha val="60000"/>
            </a:schemeClr>
          </a:solidFill>
          <a:ln w="9525" algn="ctr">
            <a:noFill/>
            <a:miter lim="800000"/>
            <a:headEnd/>
            <a:tailEnd/>
          </a:ln>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✓確認のリアルタイム性</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✓実際原価の検索</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（例</a:t>
            </a:r>
            <a:r>
              <a:rPr lang="en-US" altLang="ja-JP" sz="900" dirty="0">
                <a:latin typeface="Meiryo UI" panose="020B0604030504040204" pitchFamily="34" charset="-128"/>
                <a:ea typeface="Meiryo UI" panose="020B0604030504040204" pitchFamily="34" charset="-128"/>
              </a:rPr>
              <a:t>:</a:t>
            </a:r>
            <a:r>
              <a:rPr lang="ja-JP" altLang="en-US" sz="900">
                <a:latin typeface="Meiryo UI" panose="020B0604030504040204" pitchFamily="34" charset="-128"/>
                <a:ea typeface="Meiryo UI" panose="020B0604030504040204" pitchFamily="34" charset="-128"/>
              </a:rPr>
              <a:t>使用量、為替レート）</a:t>
            </a:r>
            <a:endParaRPr lang="en-US" altLang="ja-JP" sz="900" dirty="0">
              <a:latin typeface="Meiryo UI" panose="020B0604030504040204" pitchFamily="34" charset="-128"/>
              <a:ea typeface="Meiryo UI" panose="020B0604030504040204" pitchFamily="34" charset="-128"/>
            </a:endParaRPr>
          </a:p>
        </p:txBody>
      </p:sp>
      <p:sp>
        <p:nvSpPr>
          <p:cNvPr id="302" name="角丸四角形 301">
            <a:extLst>
              <a:ext uri="{FF2B5EF4-FFF2-40B4-BE49-F238E27FC236}">
                <a16:creationId xmlns:a16="http://schemas.microsoft.com/office/drawing/2014/main" id="{4F90D74A-8F0D-C84C-99B1-FE5B27CB1949}"/>
              </a:ext>
            </a:extLst>
          </p:cNvPr>
          <p:cNvSpPr/>
          <p:nvPr/>
        </p:nvSpPr>
        <p:spPr bwMode="gray">
          <a:xfrm>
            <a:off x="7183323" y="4586855"/>
            <a:ext cx="395827" cy="178675"/>
          </a:xfrm>
          <a:prstGeom prst="roundRect">
            <a:avLst>
              <a:gd name="adj" fmla="val 22932"/>
            </a:avLst>
          </a:prstGeom>
          <a:solidFill>
            <a:schemeClr val="accent5">
              <a:lumMod val="40000"/>
              <a:lumOff val="60000"/>
              <a:alpha val="60000"/>
            </a:schemeClr>
          </a:solidFill>
          <a:ln w="9525" algn="ctr">
            <a:no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algn="ctr">
              <a:lnSpc>
                <a:spcPts val="1140"/>
              </a:lnSpc>
              <a:buFont typeface="Wingdings 2" pitchFamily="18" charset="2"/>
              <a:buNone/>
            </a:pPr>
            <a:endParaRPr lang="ja-JP" altLang="en-US" sz="1100" dirty="0">
              <a:latin typeface="Meiryo UI" panose="020B0604030504040204" pitchFamily="34" charset="-128"/>
              <a:ea typeface="Meiryo UI" panose="020B0604030504040204" pitchFamily="34" charset="-128"/>
            </a:endParaRPr>
          </a:p>
        </p:txBody>
      </p:sp>
      <p:sp>
        <p:nvSpPr>
          <p:cNvPr id="304" name="角丸四角形 303">
            <a:extLst>
              <a:ext uri="{FF2B5EF4-FFF2-40B4-BE49-F238E27FC236}">
                <a16:creationId xmlns:a16="http://schemas.microsoft.com/office/drawing/2014/main" id="{78949339-95D6-984D-99C4-D0E386A3863C}"/>
              </a:ext>
            </a:extLst>
          </p:cNvPr>
          <p:cNvSpPr/>
          <p:nvPr/>
        </p:nvSpPr>
        <p:spPr bwMode="gray">
          <a:xfrm>
            <a:off x="7857428" y="5552835"/>
            <a:ext cx="1258522" cy="828915"/>
          </a:xfrm>
          <a:prstGeom prst="roundRect">
            <a:avLst>
              <a:gd name="adj" fmla="val 22932"/>
            </a:avLst>
          </a:prstGeom>
          <a:solidFill>
            <a:schemeClr val="accent5">
              <a:lumMod val="40000"/>
              <a:lumOff val="60000"/>
              <a:alpha val="60000"/>
            </a:schemeClr>
          </a:solidFill>
          <a:ln w="9525"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✓購買要求時にサプライヤ</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に</a:t>
            </a:r>
            <a:r>
              <a:rPr lang="en-US" altLang="ja-JP" sz="900" dirty="0">
                <a:latin typeface="Meiryo UI" panose="020B0604030504040204" pitchFamily="34" charset="-128"/>
                <a:ea typeface="Meiryo UI" panose="020B0604030504040204" pitchFamily="34" charset="-128"/>
              </a:rPr>
              <a:t>CAD</a:t>
            </a:r>
            <a:r>
              <a:rPr lang="ja-JP" altLang="en-US" sz="900">
                <a:latin typeface="Meiryo UI" panose="020B0604030504040204" pitchFamily="34" charset="-128"/>
                <a:ea typeface="Meiryo UI" panose="020B0604030504040204" pitchFamily="34" charset="-128"/>
              </a:rPr>
              <a:t>を提供している場合</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の</a:t>
            </a:r>
            <a:r>
              <a:rPr lang="en-US" altLang="ja-JP" sz="900" dirty="0">
                <a:latin typeface="Meiryo UI" panose="020B0604030504040204" pitchFamily="34" charset="-128"/>
                <a:ea typeface="Meiryo UI" panose="020B0604030504040204" pitchFamily="34" charset="-128"/>
              </a:rPr>
              <a:t>CAD</a:t>
            </a:r>
            <a:r>
              <a:rPr lang="ja-JP" altLang="en-US" sz="900">
                <a:latin typeface="Meiryo UI" panose="020B0604030504040204" pitchFamily="34" charset="-128"/>
                <a:ea typeface="Meiryo UI" panose="020B0604030504040204" pitchFamily="34" charset="-128"/>
              </a:rPr>
              <a:t>上の品目の差異</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（モレ、寸法違い）の検索</a:t>
            </a:r>
            <a:endParaRPr lang="en-US" altLang="ja-JP" sz="900" dirty="0">
              <a:latin typeface="Meiryo UI" panose="020B0604030504040204" pitchFamily="34" charset="-128"/>
              <a:ea typeface="Meiryo UI" panose="020B0604030504040204" pitchFamily="34" charset="-128"/>
            </a:endParaRPr>
          </a:p>
          <a:p>
            <a:pPr>
              <a:lnSpc>
                <a:spcPts val="1140"/>
              </a:lnSpc>
              <a:buFont typeface="Wingdings 2" pitchFamily="18" charset="2"/>
              <a:buNone/>
            </a:pPr>
            <a:r>
              <a:rPr lang="ja-JP" altLang="en-US" sz="900">
                <a:latin typeface="Meiryo UI" panose="020B0604030504040204" pitchFamily="34" charset="-128"/>
                <a:ea typeface="Meiryo UI" panose="020B0604030504040204" pitchFamily="34" charset="-128"/>
              </a:rPr>
              <a:t>✓</a:t>
            </a:r>
            <a:r>
              <a:rPr lang="en-US" altLang="ja-JP" sz="900" dirty="0">
                <a:latin typeface="Meiryo UI" panose="020B0604030504040204" pitchFamily="34" charset="-128"/>
                <a:ea typeface="Meiryo UI" panose="020B0604030504040204" pitchFamily="34" charset="-128"/>
              </a:rPr>
              <a:t>CAD</a:t>
            </a:r>
            <a:r>
              <a:rPr lang="ja-JP" altLang="en-US" sz="900">
                <a:latin typeface="Meiryo UI" panose="020B0604030504040204" pitchFamily="34" charset="-128"/>
                <a:ea typeface="Meiryo UI" panose="020B0604030504040204" pitchFamily="34" charset="-128"/>
              </a:rPr>
              <a:t>図面の検索</a:t>
            </a:r>
            <a:endParaRPr lang="en-US" altLang="ja-JP" sz="900" dirty="0">
              <a:latin typeface="Meiryo UI" panose="020B0604030504040204" pitchFamily="34" charset="-128"/>
              <a:ea typeface="Meiryo UI" panose="020B0604030504040204" pitchFamily="34" charset="-128"/>
            </a:endParaRPr>
          </a:p>
        </p:txBody>
      </p:sp>
      <p:cxnSp>
        <p:nvCxnSpPr>
          <p:cNvPr id="331" name="直線矢印コネクタ 330">
            <a:extLst>
              <a:ext uri="{FF2B5EF4-FFF2-40B4-BE49-F238E27FC236}">
                <a16:creationId xmlns:a16="http://schemas.microsoft.com/office/drawing/2014/main" id="{174C727D-725C-0E4C-9A47-7B98CF0C6073}"/>
              </a:ext>
            </a:extLst>
          </p:cNvPr>
          <p:cNvCxnSpPr>
            <a:cxnSpLocks/>
            <a:stCxn id="138" idx="0"/>
            <a:endCxn id="260" idx="1"/>
          </p:cNvCxnSpPr>
          <p:nvPr/>
        </p:nvCxnSpPr>
        <p:spPr>
          <a:xfrm flipV="1">
            <a:off x="3367731" y="3645571"/>
            <a:ext cx="321130" cy="2531460"/>
          </a:xfrm>
          <a:prstGeom prst="straightConnector1">
            <a:avLst/>
          </a:prstGeom>
          <a:noFill/>
          <a:ln w="19050" cap="flat" cmpd="sng" algn="ctr">
            <a:solidFill>
              <a:schemeClr val="bg2">
                <a:lumMod val="60000"/>
                <a:lumOff val="40000"/>
              </a:schemeClr>
            </a:solidFill>
            <a:prstDash val="solid"/>
            <a:headEnd type="oval" w="sm" len="sm"/>
            <a:tailEnd type="oval" w="sm" len="sm"/>
          </a:ln>
          <a:effectLst/>
        </p:spPr>
      </p:cxnSp>
      <p:sp>
        <p:nvSpPr>
          <p:cNvPr id="338" name="円/楕円 337">
            <a:extLst>
              <a:ext uri="{FF2B5EF4-FFF2-40B4-BE49-F238E27FC236}">
                <a16:creationId xmlns:a16="http://schemas.microsoft.com/office/drawing/2014/main" id="{F645B60C-EFEA-C345-B338-2B7EA417618A}"/>
              </a:ext>
            </a:extLst>
          </p:cNvPr>
          <p:cNvSpPr/>
          <p:nvPr/>
        </p:nvSpPr>
        <p:spPr bwMode="gray">
          <a:xfrm>
            <a:off x="3587507" y="2635845"/>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St.1</a:t>
            </a:r>
          </a:p>
        </p:txBody>
      </p:sp>
      <p:sp>
        <p:nvSpPr>
          <p:cNvPr id="339" name="円/楕円 338">
            <a:extLst>
              <a:ext uri="{FF2B5EF4-FFF2-40B4-BE49-F238E27FC236}">
                <a16:creationId xmlns:a16="http://schemas.microsoft.com/office/drawing/2014/main" id="{D6849813-5854-344A-93C8-A02D82DEE080}"/>
              </a:ext>
            </a:extLst>
          </p:cNvPr>
          <p:cNvSpPr/>
          <p:nvPr/>
        </p:nvSpPr>
        <p:spPr bwMode="gray">
          <a:xfrm>
            <a:off x="3565644" y="3291608"/>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St.2</a:t>
            </a:r>
          </a:p>
        </p:txBody>
      </p:sp>
      <p:sp>
        <p:nvSpPr>
          <p:cNvPr id="340" name="円/楕円 339">
            <a:extLst>
              <a:ext uri="{FF2B5EF4-FFF2-40B4-BE49-F238E27FC236}">
                <a16:creationId xmlns:a16="http://schemas.microsoft.com/office/drawing/2014/main" id="{53F41E2A-9C6E-D547-9929-8DF72DC70A29}"/>
              </a:ext>
            </a:extLst>
          </p:cNvPr>
          <p:cNvSpPr/>
          <p:nvPr/>
        </p:nvSpPr>
        <p:spPr bwMode="gray">
          <a:xfrm>
            <a:off x="3565808" y="4005018"/>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St.3</a:t>
            </a:r>
          </a:p>
        </p:txBody>
      </p:sp>
      <p:sp>
        <p:nvSpPr>
          <p:cNvPr id="341" name="円/楕円 340">
            <a:extLst>
              <a:ext uri="{FF2B5EF4-FFF2-40B4-BE49-F238E27FC236}">
                <a16:creationId xmlns:a16="http://schemas.microsoft.com/office/drawing/2014/main" id="{B0C6826B-CDC5-0F40-9516-189FE01533A6}"/>
              </a:ext>
            </a:extLst>
          </p:cNvPr>
          <p:cNvSpPr/>
          <p:nvPr/>
        </p:nvSpPr>
        <p:spPr bwMode="gray">
          <a:xfrm>
            <a:off x="3567656" y="4672638"/>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St.4</a:t>
            </a:r>
          </a:p>
        </p:txBody>
      </p:sp>
      <p:sp>
        <p:nvSpPr>
          <p:cNvPr id="342" name="円/楕円 341">
            <a:extLst>
              <a:ext uri="{FF2B5EF4-FFF2-40B4-BE49-F238E27FC236}">
                <a16:creationId xmlns:a16="http://schemas.microsoft.com/office/drawing/2014/main" id="{A9DB7D8A-0467-C341-93D6-EB5651C72C16}"/>
              </a:ext>
            </a:extLst>
          </p:cNvPr>
          <p:cNvSpPr/>
          <p:nvPr/>
        </p:nvSpPr>
        <p:spPr bwMode="gray">
          <a:xfrm>
            <a:off x="3562861" y="5405541"/>
            <a:ext cx="252000" cy="252000"/>
          </a:xfrm>
          <a:prstGeom prst="ellipse">
            <a:avLst/>
          </a:prstGeom>
          <a:solidFill>
            <a:schemeClr val="accent5">
              <a:lumMod val="40000"/>
              <a:lumOff val="60000"/>
            </a:schemeClr>
          </a:solidFill>
          <a:ln w="9525" algn="ctr">
            <a:solidFill>
              <a:schemeClr val="bg1">
                <a:lumMod val="9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00">
                <a:latin typeface="Meiryo UI" panose="020B0604030504040204" pitchFamily="34" charset="-128"/>
                <a:ea typeface="Meiryo UI" panose="020B0604030504040204" pitchFamily="34" charset="-128"/>
              </a:rPr>
              <a:t>論点</a:t>
            </a:r>
            <a:endParaRPr lang="en-US" altLang="ja-JP" sz="800" dirty="0">
              <a:latin typeface="Meiryo UI" panose="020B0604030504040204" pitchFamily="34" charset="-128"/>
              <a:ea typeface="Meiryo UI" panose="020B0604030504040204" pitchFamily="34" charset="-128"/>
            </a:endParaRPr>
          </a:p>
        </p:txBody>
      </p:sp>
      <p:sp>
        <p:nvSpPr>
          <p:cNvPr id="343" name="円/楕円 342">
            <a:extLst>
              <a:ext uri="{FF2B5EF4-FFF2-40B4-BE49-F238E27FC236}">
                <a16:creationId xmlns:a16="http://schemas.microsoft.com/office/drawing/2014/main" id="{FF02A60B-DB2E-C54A-BB10-5084EC662C92}"/>
              </a:ext>
            </a:extLst>
          </p:cNvPr>
          <p:cNvSpPr/>
          <p:nvPr/>
        </p:nvSpPr>
        <p:spPr bwMode="gray">
          <a:xfrm>
            <a:off x="5662270" y="2644906"/>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St.1</a:t>
            </a:r>
          </a:p>
        </p:txBody>
      </p:sp>
      <p:sp>
        <p:nvSpPr>
          <p:cNvPr id="345" name="円/楕円 344">
            <a:extLst>
              <a:ext uri="{FF2B5EF4-FFF2-40B4-BE49-F238E27FC236}">
                <a16:creationId xmlns:a16="http://schemas.microsoft.com/office/drawing/2014/main" id="{18E2AEA3-D71D-1443-A01E-CC4C710738FE}"/>
              </a:ext>
            </a:extLst>
          </p:cNvPr>
          <p:cNvSpPr/>
          <p:nvPr/>
        </p:nvSpPr>
        <p:spPr bwMode="gray">
          <a:xfrm>
            <a:off x="5640571" y="4014079"/>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St.3</a:t>
            </a:r>
          </a:p>
        </p:txBody>
      </p:sp>
      <p:sp>
        <p:nvSpPr>
          <p:cNvPr id="346" name="円/楕円 345">
            <a:extLst>
              <a:ext uri="{FF2B5EF4-FFF2-40B4-BE49-F238E27FC236}">
                <a16:creationId xmlns:a16="http://schemas.microsoft.com/office/drawing/2014/main" id="{74952D8C-7853-7044-AE91-68F4C608730B}"/>
              </a:ext>
            </a:extLst>
          </p:cNvPr>
          <p:cNvSpPr/>
          <p:nvPr/>
        </p:nvSpPr>
        <p:spPr bwMode="gray">
          <a:xfrm>
            <a:off x="5642419" y="4681699"/>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St.4</a:t>
            </a:r>
          </a:p>
        </p:txBody>
      </p:sp>
      <p:sp>
        <p:nvSpPr>
          <p:cNvPr id="347" name="円/楕円 346">
            <a:extLst>
              <a:ext uri="{FF2B5EF4-FFF2-40B4-BE49-F238E27FC236}">
                <a16:creationId xmlns:a16="http://schemas.microsoft.com/office/drawing/2014/main" id="{EEA277C5-F11B-A34C-90D1-C3CC33ED426C}"/>
              </a:ext>
            </a:extLst>
          </p:cNvPr>
          <p:cNvSpPr/>
          <p:nvPr/>
        </p:nvSpPr>
        <p:spPr bwMode="gray">
          <a:xfrm>
            <a:off x="5555244" y="5414602"/>
            <a:ext cx="252000" cy="252000"/>
          </a:xfrm>
          <a:prstGeom prst="ellipse">
            <a:avLst/>
          </a:prstGeom>
          <a:solidFill>
            <a:schemeClr val="accent5">
              <a:lumMod val="40000"/>
              <a:lumOff val="60000"/>
            </a:schemeClr>
          </a:solidFill>
          <a:ln w="9525" algn="ctr">
            <a:solidFill>
              <a:schemeClr val="bg1">
                <a:lumMod val="9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00">
                <a:latin typeface="Meiryo UI" panose="020B0604030504040204" pitchFamily="34" charset="-128"/>
                <a:ea typeface="Meiryo UI" panose="020B0604030504040204" pitchFamily="34" charset="-128"/>
              </a:rPr>
              <a:t>論点</a:t>
            </a:r>
            <a:endParaRPr lang="en-US" altLang="ja-JP" sz="800" dirty="0">
              <a:latin typeface="Meiryo UI" panose="020B0604030504040204" pitchFamily="34" charset="-128"/>
              <a:ea typeface="Meiryo UI" panose="020B0604030504040204" pitchFamily="34" charset="-128"/>
            </a:endParaRPr>
          </a:p>
        </p:txBody>
      </p:sp>
      <p:sp>
        <p:nvSpPr>
          <p:cNvPr id="348" name="円/楕円 347">
            <a:extLst>
              <a:ext uri="{FF2B5EF4-FFF2-40B4-BE49-F238E27FC236}">
                <a16:creationId xmlns:a16="http://schemas.microsoft.com/office/drawing/2014/main" id="{64F38086-C955-F546-9253-9EBEAABC551F}"/>
              </a:ext>
            </a:extLst>
          </p:cNvPr>
          <p:cNvSpPr/>
          <p:nvPr/>
        </p:nvSpPr>
        <p:spPr bwMode="gray">
          <a:xfrm>
            <a:off x="7805006" y="2644906"/>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St.1</a:t>
            </a:r>
          </a:p>
        </p:txBody>
      </p:sp>
      <p:sp>
        <p:nvSpPr>
          <p:cNvPr id="349" name="円/楕円 348">
            <a:extLst>
              <a:ext uri="{FF2B5EF4-FFF2-40B4-BE49-F238E27FC236}">
                <a16:creationId xmlns:a16="http://schemas.microsoft.com/office/drawing/2014/main" id="{9A45DEC8-E6FC-9442-A6F5-A91215451E8B}"/>
              </a:ext>
            </a:extLst>
          </p:cNvPr>
          <p:cNvSpPr/>
          <p:nvPr/>
        </p:nvSpPr>
        <p:spPr bwMode="gray">
          <a:xfrm>
            <a:off x="7783143" y="3300669"/>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St.2</a:t>
            </a:r>
          </a:p>
        </p:txBody>
      </p:sp>
      <p:sp>
        <p:nvSpPr>
          <p:cNvPr id="350" name="円/楕円 349">
            <a:extLst>
              <a:ext uri="{FF2B5EF4-FFF2-40B4-BE49-F238E27FC236}">
                <a16:creationId xmlns:a16="http://schemas.microsoft.com/office/drawing/2014/main" id="{0E5E4376-0D9A-3448-B4A2-866F1CBE1B69}"/>
              </a:ext>
            </a:extLst>
          </p:cNvPr>
          <p:cNvSpPr/>
          <p:nvPr/>
        </p:nvSpPr>
        <p:spPr bwMode="gray">
          <a:xfrm>
            <a:off x="7783307" y="4014079"/>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St.3</a:t>
            </a:r>
          </a:p>
        </p:txBody>
      </p:sp>
      <p:sp>
        <p:nvSpPr>
          <p:cNvPr id="351" name="円/楕円 350">
            <a:extLst>
              <a:ext uri="{FF2B5EF4-FFF2-40B4-BE49-F238E27FC236}">
                <a16:creationId xmlns:a16="http://schemas.microsoft.com/office/drawing/2014/main" id="{29F264E1-71BA-F343-8498-774D25C9C91B}"/>
              </a:ext>
            </a:extLst>
          </p:cNvPr>
          <p:cNvSpPr/>
          <p:nvPr/>
        </p:nvSpPr>
        <p:spPr bwMode="gray">
          <a:xfrm>
            <a:off x="7785155" y="4681699"/>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St.4</a:t>
            </a:r>
          </a:p>
        </p:txBody>
      </p:sp>
      <p:sp>
        <p:nvSpPr>
          <p:cNvPr id="352" name="円/楕円 351">
            <a:extLst>
              <a:ext uri="{FF2B5EF4-FFF2-40B4-BE49-F238E27FC236}">
                <a16:creationId xmlns:a16="http://schemas.microsoft.com/office/drawing/2014/main" id="{D51F585B-7D66-5A44-B162-BF40A0AEAE1E}"/>
              </a:ext>
            </a:extLst>
          </p:cNvPr>
          <p:cNvSpPr/>
          <p:nvPr/>
        </p:nvSpPr>
        <p:spPr bwMode="gray">
          <a:xfrm>
            <a:off x="7780360" y="5414602"/>
            <a:ext cx="252000" cy="252000"/>
          </a:xfrm>
          <a:prstGeom prst="ellipse">
            <a:avLst/>
          </a:prstGeom>
          <a:solidFill>
            <a:schemeClr val="accent5">
              <a:lumMod val="40000"/>
              <a:lumOff val="60000"/>
            </a:schemeClr>
          </a:solidFill>
          <a:ln w="9525" algn="ctr">
            <a:solidFill>
              <a:schemeClr val="bg1">
                <a:lumMod val="9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ja-JP" altLang="en-US" sz="800">
                <a:latin typeface="Meiryo UI" panose="020B0604030504040204" pitchFamily="34" charset="-128"/>
                <a:ea typeface="Meiryo UI" panose="020B0604030504040204" pitchFamily="34" charset="-128"/>
              </a:rPr>
              <a:t>論点</a:t>
            </a:r>
            <a:endParaRPr lang="en-US" altLang="ja-JP" sz="800" dirty="0">
              <a:latin typeface="Meiryo UI" panose="020B0604030504040204" pitchFamily="34" charset="-128"/>
              <a:ea typeface="Meiryo UI" panose="020B0604030504040204" pitchFamily="34" charset="-128"/>
            </a:endParaRPr>
          </a:p>
        </p:txBody>
      </p:sp>
      <p:sp>
        <p:nvSpPr>
          <p:cNvPr id="372" name="円/楕円 371">
            <a:extLst>
              <a:ext uri="{FF2B5EF4-FFF2-40B4-BE49-F238E27FC236}">
                <a16:creationId xmlns:a16="http://schemas.microsoft.com/office/drawing/2014/main" id="{DD050819-37BC-5946-ADE5-AB912BD1ACD5}"/>
              </a:ext>
            </a:extLst>
          </p:cNvPr>
          <p:cNvSpPr/>
          <p:nvPr/>
        </p:nvSpPr>
        <p:spPr bwMode="gray">
          <a:xfrm>
            <a:off x="5640407" y="3300669"/>
            <a:ext cx="252000" cy="252000"/>
          </a:xfrm>
          <a:prstGeom prst="ellipse">
            <a:avLst/>
          </a:prstGeom>
          <a:solidFill>
            <a:schemeClr val="bg2">
              <a:lumMod val="50000"/>
            </a:schemeClr>
          </a:solidFill>
          <a:ln w="9525" algn="ctr">
            <a:solidFill>
              <a:schemeClr val="bg1">
                <a:lumMod val="75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algn="ctr">
              <a:buFont typeface="Wingdings 2" pitchFamily="18" charset="2"/>
              <a:buNone/>
            </a:pPr>
            <a:r>
              <a:rPr lang="en-US" altLang="ja-JP" sz="800" dirty="0">
                <a:solidFill>
                  <a:schemeClr val="bg1"/>
                </a:solidFill>
                <a:latin typeface="Meiryo UI" panose="020B0604030504040204" pitchFamily="34" charset="-128"/>
                <a:ea typeface="Meiryo UI" panose="020B0604030504040204" pitchFamily="34" charset="-128"/>
              </a:rPr>
              <a:t>St.2</a:t>
            </a:r>
          </a:p>
        </p:txBody>
      </p:sp>
      <p:sp>
        <p:nvSpPr>
          <p:cNvPr id="161" name="正方形/長方形 160">
            <a:extLst>
              <a:ext uri="{FF2B5EF4-FFF2-40B4-BE49-F238E27FC236}">
                <a16:creationId xmlns:a16="http://schemas.microsoft.com/office/drawing/2014/main" id="{D6435FAA-011E-0B4A-A3D6-198382D4FC24}"/>
              </a:ext>
            </a:extLst>
          </p:cNvPr>
          <p:cNvSpPr/>
          <p:nvPr/>
        </p:nvSpPr>
        <p:spPr>
          <a:xfrm>
            <a:off x="6954510" y="1728649"/>
            <a:ext cx="2024913" cy="312073"/>
          </a:xfrm>
          <a:prstGeom prst="rect">
            <a:avLst/>
          </a:prstGeom>
          <a:noFill/>
        </p:spPr>
        <p:txBody>
          <a:bodyPr wrap="none">
            <a:spAutoFit/>
          </a:bodyPr>
          <a:lstStyle/>
          <a:p>
            <a:pPr eaLnBrk="1" fontAlgn="auto" hangingPunct="1">
              <a:lnSpc>
                <a:spcPts val="860"/>
              </a:lnSpc>
              <a:spcBef>
                <a:spcPts val="0"/>
              </a:spcBef>
              <a:spcAft>
                <a:spcPts val="0"/>
              </a:spcAft>
              <a:defRPr/>
            </a:pPr>
            <a:r>
              <a:rPr kumimoji="0" lang="en-US" altLang="ja-JP" sz="700" kern="0" dirty="0">
                <a:solidFill>
                  <a:schemeClr val="tx1">
                    <a:lumMod val="75000"/>
                    <a:lumOff val="25000"/>
                  </a:schemeClr>
                </a:solidFill>
                <a:latin typeface="Meiryo UI" panose="020B0604030504040204" pitchFamily="34" charset="-128"/>
                <a:ea typeface="Meiryo UI" panose="020B0604030504040204" pitchFamily="34" charset="-128"/>
              </a:rPr>
              <a:t>IN</a:t>
            </a:r>
            <a:r>
              <a:rPr kumimoji="0" lang="ja-JP" altLang="en-US" sz="700" kern="0">
                <a:solidFill>
                  <a:schemeClr val="tx1">
                    <a:lumMod val="75000"/>
                    <a:lumOff val="25000"/>
                  </a:schemeClr>
                </a:solidFill>
                <a:latin typeface="Meiryo UI" panose="020B0604030504040204" pitchFamily="34" charset="-128"/>
                <a:ea typeface="Meiryo UI" panose="020B0604030504040204" pitchFamily="34" charset="-128"/>
              </a:rPr>
              <a:t>：プロセス内で</a:t>
            </a:r>
            <a:r>
              <a:rPr kumimoji="0" lang="en-US" altLang="ja-JP" sz="700" kern="0" dirty="0">
                <a:solidFill>
                  <a:schemeClr val="tx1">
                    <a:lumMod val="75000"/>
                    <a:lumOff val="25000"/>
                  </a:schemeClr>
                </a:solidFill>
                <a:latin typeface="Meiryo UI" panose="020B0604030504040204" pitchFamily="34" charset="-128"/>
                <a:ea typeface="Meiryo UI" panose="020B0604030504040204" pitchFamily="34" charset="-128"/>
              </a:rPr>
              <a:t>input</a:t>
            </a:r>
            <a:r>
              <a:rPr kumimoji="0" lang="ja-JP" altLang="en-US" sz="700" kern="0">
                <a:solidFill>
                  <a:schemeClr val="tx1">
                    <a:lumMod val="75000"/>
                    <a:lumOff val="25000"/>
                  </a:schemeClr>
                </a:solidFill>
                <a:latin typeface="Meiryo UI" panose="020B0604030504040204" pitchFamily="34" charset="-128"/>
                <a:ea typeface="Meiryo UI" panose="020B0604030504040204" pitchFamily="34" charset="-128"/>
              </a:rPr>
              <a:t>が必要なデータ・ドキュメント</a:t>
            </a:r>
            <a:endParaRPr kumimoji="0" lang="en-US" altLang="ja-JP" sz="700" kern="0" dirty="0">
              <a:solidFill>
                <a:schemeClr val="tx1">
                  <a:lumMod val="75000"/>
                  <a:lumOff val="25000"/>
                </a:schemeClr>
              </a:solidFill>
              <a:latin typeface="Meiryo UI" panose="020B0604030504040204" pitchFamily="34" charset="-128"/>
              <a:ea typeface="Meiryo UI" panose="020B0604030504040204" pitchFamily="34" charset="-128"/>
            </a:endParaRPr>
          </a:p>
          <a:p>
            <a:pPr eaLnBrk="1" fontAlgn="auto" hangingPunct="1">
              <a:lnSpc>
                <a:spcPts val="860"/>
              </a:lnSpc>
              <a:spcBef>
                <a:spcPts val="0"/>
              </a:spcBef>
              <a:spcAft>
                <a:spcPts val="0"/>
              </a:spcAft>
              <a:defRPr/>
            </a:pPr>
            <a:r>
              <a:rPr kumimoji="0" lang="en-US" altLang="ja-JP" sz="700" kern="0" dirty="0">
                <a:solidFill>
                  <a:schemeClr val="tx1">
                    <a:lumMod val="75000"/>
                    <a:lumOff val="25000"/>
                  </a:schemeClr>
                </a:solidFill>
                <a:latin typeface="Meiryo UI" panose="020B0604030504040204" pitchFamily="34" charset="-128"/>
                <a:ea typeface="Meiryo UI" panose="020B0604030504040204" pitchFamily="34" charset="-128"/>
              </a:rPr>
              <a:t>OUT:</a:t>
            </a:r>
            <a:r>
              <a:rPr kumimoji="0" lang="ja-JP" altLang="en-US" sz="700" kern="0">
                <a:solidFill>
                  <a:schemeClr val="tx1">
                    <a:lumMod val="75000"/>
                    <a:lumOff val="25000"/>
                  </a:schemeClr>
                </a:solidFill>
                <a:latin typeface="Meiryo UI" panose="020B0604030504040204" pitchFamily="34" charset="-128"/>
                <a:ea typeface="Meiryo UI" panose="020B0604030504040204" pitchFamily="34" charset="-128"/>
              </a:rPr>
              <a:t>プロセスを通じて</a:t>
            </a:r>
            <a:r>
              <a:rPr kumimoji="0" lang="en-US" altLang="ja-JP" sz="700" kern="0" dirty="0" err="1">
                <a:solidFill>
                  <a:schemeClr val="tx1">
                    <a:lumMod val="75000"/>
                    <a:lumOff val="25000"/>
                  </a:schemeClr>
                </a:solidFill>
                <a:latin typeface="Meiryo UI" panose="020B0604030504040204" pitchFamily="34" charset="-128"/>
                <a:ea typeface="Meiryo UI" panose="020B0604030504040204" pitchFamily="34" charset="-128"/>
              </a:rPr>
              <a:t>outpu</a:t>
            </a:r>
            <a:r>
              <a:rPr kumimoji="0" lang="ja-JP" altLang="en-US" sz="700" kern="0">
                <a:solidFill>
                  <a:schemeClr val="tx1">
                    <a:lumMod val="75000"/>
                    <a:lumOff val="25000"/>
                  </a:schemeClr>
                </a:solidFill>
                <a:latin typeface="Meiryo UI" panose="020B0604030504040204" pitchFamily="34" charset="-128"/>
                <a:ea typeface="Meiryo UI" panose="020B0604030504040204" pitchFamily="34" charset="-128"/>
              </a:rPr>
              <a:t>するデータ・ドキュメント</a:t>
            </a:r>
          </a:p>
        </p:txBody>
      </p:sp>
    </p:spTree>
    <p:extLst>
      <p:ext uri="{BB962C8B-B14F-4D97-AF65-F5344CB8AC3E}">
        <p14:creationId xmlns:p14="http://schemas.microsoft.com/office/powerpoint/2010/main" val="2102689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DB01AB-C14C-E84F-8116-F82878BEE260}"/>
              </a:ext>
            </a:extLst>
          </p:cNvPr>
          <p:cNvSpPr>
            <a:spLocks noGrp="1"/>
          </p:cNvSpPr>
          <p:nvPr>
            <p:ph type="title"/>
          </p:nvPr>
        </p:nvSpPr>
        <p:spPr>
          <a:xfrm>
            <a:off x="236538" y="128799"/>
            <a:ext cx="7287807" cy="349961"/>
          </a:xfrm>
        </p:spPr>
        <p:txBody>
          <a:bodyPr/>
          <a:lstStyle/>
          <a:p>
            <a:r>
              <a:rPr lang="en-US" altLang="ja-JP" b="1" dirty="0"/>
              <a:t>2Q</a:t>
            </a:r>
            <a:r>
              <a:rPr lang="ja-JP" altLang="en-US" b="1" dirty="0"/>
              <a:t>活動の</a:t>
            </a:r>
            <a:r>
              <a:rPr lang="en-US" altLang="ja-JP" b="1" dirty="0"/>
              <a:t>WBS</a:t>
            </a:r>
            <a:r>
              <a:rPr lang="ja-JP" altLang="en-US" b="1" dirty="0"/>
              <a:t>（簡易版）</a:t>
            </a:r>
            <a:endParaRPr kumimoji="1" lang="ja-JP" altLang="en-US" b="1" dirty="0"/>
          </a:p>
        </p:txBody>
      </p:sp>
      <p:graphicFrame>
        <p:nvGraphicFramePr>
          <p:cNvPr id="5" name="表 4">
            <a:extLst>
              <a:ext uri="{FF2B5EF4-FFF2-40B4-BE49-F238E27FC236}">
                <a16:creationId xmlns:a16="http://schemas.microsoft.com/office/drawing/2014/main" id="{762B93DE-C58A-D041-9EEC-E15F91049011}"/>
              </a:ext>
            </a:extLst>
          </p:cNvPr>
          <p:cNvGraphicFramePr>
            <a:graphicFrameLocks noGrp="1"/>
          </p:cNvGraphicFramePr>
          <p:nvPr>
            <p:extLst>
              <p:ext uri="{D42A27DB-BD31-4B8C-83A1-F6EECF244321}">
                <p14:modId xmlns:p14="http://schemas.microsoft.com/office/powerpoint/2010/main" val="33250769"/>
              </p:ext>
            </p:extLst>
          </p:nvPr>
        </p:nvGraphicFramePr>
        <p:xfrm>
          <a:off x="267491" y="890300"/>
          <a:ext cx="9365460" cy="5345950"/>
        </p:xfrm>
        <a:graphic>
          <a:graphicData uri="http://schemas.openxmlformats.org/drawingml/2006/table">
            <a:tbl>
              <a:tblPr firstRow="1" bandRow="1"/>
              <a:tblGrid>
                <a:gridCol w="936000">
                  <a:extLst>
                    <a:ext uri="{9D8B030D-6E8A-4147-A177-3AD203B41FA5}">
                      <a16:colId xmlns:a16="http://schemas.microsoft.com/office/drawing/2014/main" val="3842605448"/>
                    </a:ext>
                  </a:extLst>
                </a:gridCol>
                <a:gridCol w="936000">
                  <a:extLst>
                    <a:ext uri="{9D8B030D-6E8A-4147-A177-3AD203B41FA5}">
                      <a16:colId xmlns:a16="http://schemas.microsoft.com/office/drawing/2014/main" val="966304046"/>
                    </a:ext>
                  </a:extLst>
                </a:gridCol>
                <a:gridCol w="115284">
                  <a:extLst>
                    <a:ext uri="{9D8B030D-6E8A-4147-A177-3AD203B41FA5}">
                      <a16:colId xmlns:a16="http://schemas.microsoft.com/office/drawing/2014/main" val="2614436814"/>
                    </a:ext>
                  </a:extLst>
                </a:gridCol>
                <a:gridCol w="115284">
                  <a:extLst>
                    <a:ext uri="{9D8B030D-6E8A-4147-A177-3AD203B41FA5}">
                      <a16:colId xmlns:a16="http://schemas.microsoft.com/office/drawing/2014/main" val="951466786"/>
                    </a:ext>
                  </a:extLst>
                </a:gridCol>
                <a:gridCol w="115284">
                  <a:extLst>
                    <a:ext uri="{9D8B030D-6E8A-4147-A177-3AD203B41FA5}">
                      <a16:colId xmlns:a16="http://schemas.microsoft.com/office/drawing/2014/main" val="1912155727"/>
                    </a:ext>
                  </a:extLst>
                </a:gridCol>
                <a:gridCol w="115284">
                  <a:extLst>
                    <a:ext uri="{9D8B030D-6E8A-4147-A177-3AD203B41FA5}">
                      <a16:colId xmlns:a16="http://schemas.microsoft.com/office/drawing/2014/main" val="1291356829"/>
                    </a:ext>
                  </a:extLst>
                </a:gridCol>
                <a:gridCol w="115284">
                  <a:extLst>
                    <a:ext uri="{9D8B030D-6E8A-4147-A177-3AD203B41FA5}">
                      <a16:colId xmlns:a16="http://schemas.microsoft.com/office/drawing/2014/main" val="3410664850"/>
                    </a:ext>
                  </a:extLst>
                </a:gridCol>
                <a:gridCol w="115284">
                  <a:extLst>
                    <a:ext uri="{9D8B030D-6E8A-4147-A177-3AD203B41FA5}">
                      <a16:colId xmlns:a16="http://schemas.microsoft.com/office/drawing/2014/main" val="1661374570"/>
                    </a:ext>
                  </a:extLst>
                </a:gridCol>
                <a:gridCol w="115284">
                  <a:extLst>
                    <a:ext uri="{9D8B030D-6E8A-4147-A177-3AD203B41FA5}">
                      <a16:colId xmlns:a16="http://schemas.microsoft.com/office/drawing/2014/main" val="1641879332"/>
                    </a:ext>
                  </a:extLst>
                </a:gridCol>
                <a:gridCol w="115284">
                  <a:extLst>
                    <a:ext uri="{9D8B030D-6E8A-4147-A177-3AD203B41FA5}">
                      <a16:colId xmlns:a16="http://schemas.microsoft.com/office/drawing/2014/main" val="4241832149"/>
                    </a:ext>
                  </a:extLst>
                </a:gridCol>
                <a:gridCol w="115284">
                  <a:extLst>
                    <a:ext uri="{9D8B030D-6E8A-4147-A177-3AD203B41FA5}">
                      <a16:colId xmlns:a16="http://schemas.microsoft.com/office/drawing/2014/main" val="3099951417"/>
                    </a:ext>
                  </a:extLst>
                </a:gridCol>
                <a:gridCol w="115284">
                  <a:extLst>
                    <a:ext uri="{9D8B030D-6E8A-4147-A177-3AD203B41FA5}">
                      <a16:colId xmlns:a16="http://schemas.microsoft.com/office/drawing/2014/main" val="3736613652"/>
                    </a:ext>
                  </a:extLst>
                </a:gridCol>
                <a:gridCol w="115284">
                  <a:extLst>
                    <a:ext uri="{9D8B030D-6E8A-4147-A177-3AD203B41FA5}">
                      <a16:colId xmlns:a16="http://schemas.microsoft.com/office/drawing/2014/main" val="1360242744"/>
                    </a:ext>
                  </a:extLst>
                </a:gridCol>
                <a:gridCol w="115284">
                  <a:extLst>
                    <a:ext uri="{9D8B030D-6E8A-4147-A177-3AD203B41FA5}">
                      <a16:colId xmlns:a16="http://schemas.microsoft.com/office/drawing/2014/main" val="3234914003"/>
                    </a:ext>
                  </a:extLst>
                </a:gridCol>
                <a:gridCol w="115284">
                  <a:extLst>
                    <a:ext uri="{9D8B030D-6E8A-4147-A177-3AD203B41FA5}">
                      <a16:colId xmlns:a16="http://schemas.microsoft.com/office/drawing/2014/main" val="4227303041"/>
                    </a:ext>
                  </a:extLst>
                </a:gridCol>
                <a:gridCol w="115284">
                  <a:extLst>
                    <a:ext uri="{9D8B030D-6E8A-4147-A177-3AD203B41FA5}">
                      <a16:colId xmlns:a16="http://schemas.microsoft.com/office/drawing/2014/main" val="370599921"/>
                    </a:ext>
                  </a:extLst>
                </a:gridCol>
                <a:gridCol w="115284">
                  <a:extLst>
                    <a:ext uri="{9D8B030D-6E8A-4147-A177-3AD203B41FA5}">
                      <a16:colId xmlns:a16="http://schemas.microsoft.com/office/drawing/2014/main" val="1687760961"/>
                    </a:ext>
                  </a:extLst>
                </a:gridCol>
                <a:gridCol w="115284">
                  <a:extLst>
                    <a:ext uri="{9D8B030D-6E8A-4147-A177-3AD203B41FA5}">
                      <a16:colId xmlns:a16="http://schemas.microsoft.com/office/drawing/2014/main" val="5486749"/>
                    </a:ext>
                  </a:extLst>
                </a:gridCol>
                <a:gridCol w="115284">
                  <a:extLst>
                    <a:ext uri="{9D8B030D-6E8A-4147-A177-3AD203B41FA5}">
                      <a16:colId xmlns:a16="http://schemas.microsoft.com/office/drawing/2014/main" val="4074955508"/>
                    </a:ext>
                  </a:extLst>
                </a:gridCol>
                <a:gridCol w="115284">
                  <a:extLst>
                    <a:ext uri="{9D8B030D-6E8A-4147-A177-3AD203B41FA5}">
                      <a16:colId xmlns:a16="http://schemas.microsoft.com/office/drawing/2014/main" val="128060182"/>
                    </a:ext>
                  </a:extLst>
                </a:gridCol>
                <a:gridCol w="115284">
                  <a:extLst>
                    <a:ext uri="{9D8B030D-6E8A-4147-A177-3AD203B41FA5}">
                      <a16:colId xmlns:a16="http://schemas.microsoft.com/office/drawing/2014/main" val="147954594"/>
                    </a:ext>
                  </a:extLst>
                </a:gridCol>
                <a:gridCol w="115284">
                  <a:extLst>
                    <a:ext uri="{9D8B030D-6E8A-4147-A177-3AD203B41FA5}">
                      <a16:colId xmlns:a16="http://schemas.microsoft.com/office/drawing/2014/main" val="3731819144"/>
                    </a:ext>
                  </a:extLst>
                </a:gridCol>
                <a:gridCol w="115284">
                  <a:extLst>
                    <a:ext uri="{9D8B030D-6E8A-4147-A177-3AD203B41FA5}">
                      <a16:colId xmlns:a16="http://schemas.microsoft.com/office/drawing/2014/main" val="20406060"/>
                    </a:ext>
                  </a:extLst>
                </a:gridCol>
                <a:gridCol w="115284">
                  <a:extLst>
                    <a:ext uri="{9D8B030D-6E8A-4147-A177-3AD203B41FA5}">
                      <a16:colId xmlns:a16="http://schemas.microsoft.com/office/drawing/2014/main" val="3707599675"/>
                    </a:ext>
                  </a:extLst>
                </a:gridCol>
                <a:gridCol w="115284">
                  <a:extLst>
                    <a:ext uri="{9D8B030D-6E8A-4147-A177-3AD203B41FA5}">
                      <a16:colId xmlns:a16="http://schemas.microsoft.com/office/drawing/2014/main" val="1873127109"/>
                    </a:ext>
                  </a:extLst>
                </a:gridCol>
                <a:gridCol w="115284">
                  <a:extLst>
                    <a:ext uri="{9D8B030D-6E8A-4147-A177-3AD203B41FA5}">
                      <a16:colId xmlns:a16="http://schemas.microsoft.com/office/drawing/2014/main" val="689785777"/>
                    </a:ext>
                  </a:extLst>
                </a:gridCol>
                <a:gridCol w="115284">
                  <a:extLst>
                    <a:ext uri="{9D8B030D-6E8A-4147-A177-3AD203B41FA5}">
                      <a16:colId xmlns:a16="http://schemas.microsoft.com/office/drawing/2014/main" val="2688179332"/>
                    </a:ext>
                  </a:extLst>
                </a:gridCol>
                <a:gridCol w="115284">
                  <a:extLst>
                    <a:ext uri="{9D8B030D-6E8A-4147-A177-3AD203B41FA5}">
                      <a16:colId xmlns:a16="http://schemas.microsoft.com/office/drawing/2014/main" val="3979859759"/>
                    </a:ext>
                  </a:extLst>
                </a:gridCol>
                <a:gridCol w="115284">
                  <a:extLst>
                    <a:ext uri="{9D8B030D-6E8A-4147-A177-3AD203B41FA5}">
                      <a16:colId xmlns:a16="http://schemas.microsoft.com/office/drawing/2014/main" val="681522352"/>
                    </a:ext>
                  </a:extLst>
                </a:gridCol>
                <a:gridCol w="115284">
                  <a:extLst>
                    <a:ext uri="{9D8B030D-6E8A-4147-A177-3AD203B41FA5}">
                      <a16:colId xmlns:a16="http://schemas.microsoft.com/office/drawing/2014/main" val="787245765"/>
                    </a:ext>
                  </a:extLst>
                </a:gridCol>
                <a:gridCol w="115284">
                  <a:extLst>
                    <a:ext uri="{9D8B030D-6E8A-4147-A177-3AD203B41FA5}">
                      <a16:colId xmlns:a16="http://schemas.microsoft.com/office/drawing/2014/main" val="1837101182"/>
                    </a:ext>
                  </a:extLst>
                </a:gridCol>
                <a:gridCol w="115284">
                  <a:extLst>
                    <a:ext uri="{9D8B030D-6E8A-4147-A177-3AD203B41FA5}">
                      <a16:colId xmlns:a16="http://schemas.microsoft.com/office/drawing/2014/main" val="1079732307"/>
                    </a:ext>
                  </a:extLst>
                </a:gridCol>
                <a:gridCol w="115284">
                  <a:extLst>
                    <a:ext uri="{9D8B030D-6E8A-4147-A177-3AD203B41FA5}">
                      <a16:colId xmlns:a16="http://schemas.microsoft.com/office/drawing/2014/main" val="2509378312"/>
                    </a:ext>
                  </a:extLst>
                </a:gridCol>
                <a:gridCol w="115284">
                  <a:extLst>
                    <a:ext uri="{9D8B030D-6E8A-4147-A177-3AD203B41FA5}">
                      <a16:colId xmlns:a16="http://schemas.microsoft.com/office/drawing/2014/main" val="2783568425"/>
                    </a:ext>
                  </a:extLst>
                </a:gridCol>
                <a:gridCol w="115284">
                  <a:extLst>
                    <a:ext uri="{9D8B030D-6E8A-4147-A177-3AD203B41FA5}">
                      <a16:colId xmlns:a16="http://schemas.microsoft.com/office/drawing/2014/main" val="3643181602"/>
                    </a:ext>
                  </a:extLst>
                </a:gridCol>
                <a:gridCol w="115284">
                  <a:extLst>
                    <a:ext uri="{9D8B030D-6E8A-4147-A177-3AD203B41FA5}">
                      <a16:colId xmlns:a16="http://schemas.microsoft.com/office/drawing/2014/main" val="3946274652"/>
                    </a:ext>
                  </a:extLst>
                </a:gridCol>
                <a:gridCol w="115284">
                  <a:extLst>
                    <a:ext uri="{9D8B030D-6E8A-4147-A177-3AD203B41FA5}">
                      <a16:colId xmlns:a16="http://schemas.microsoft.com/office/drawing/2014/main" val="2282347233"/>
                    </a:ext>
                  </a:extLst>
                </a:gridCol>
                <a:gridCol w="115284">
                  <a:extLst>
                    <a:ext uri="{9D8B030D-6E8A-4147-A177-3AD203B41FA5}">
                      <a16:colId xmlns:a16="http://schemas.microsoft.com/office/drawing/2014/main" val="3427568665"/>
                    </a:ext>
                  </a:extLst>
                </a:gridCol>
                <a:gridCol w="115284">
                  <a:extLst>
                    <a:ext uri="{9D8B030D-6E8A-4147-A177-3AD203B41FA5}">
                      <a16:colId xmlns:a16="http://schemas.microsoft.com/office/drawing/2014/main" val="1482493613"/>
                    </a:ext>
                  </a:extLst>
                </a:gridCol>
                <a:gridCol w="115284">
                  <a:extLst>
                    <a:ext uri="{9D8B030D-6E8A-4147-A177-3AD203B41FA5}">
                      <a16:colId xmlns:a16="http://schemas.microsoft.com/office/drawing/2014/main" val="3260961637"/>
                    </a:ext>
                  </a:extLst>
                </a:gridCol>
                <a:gridCol w="115284">
                  <a:extLst>
                    <a:ext uri="{9D8B030D-6E8A-4147-A177-3AD203B41FA5}">
                      <a16:colId xmlns:a16="http://schemas.microsoft.com/office/drawing/2014/main" val="2303827104"/>
                    </a:ext>
                  </a:extLst>
                </a:gridCol>
                <a:gridCol w="115284">
                  <a:extLst>
                    <a:ext uri="{9D8B030D-6E8A-4147-A177-3AD203B41FA5}">
                      <a16:colId xmlns:a16="http://schemas.microsoft.com/office/drawing/2014/main" val="1065949183"/>
                    </a:ext>
                  </a:extLst>
                </a:gridCol>
                <a:gridCol w="115284">
                  <a:extLst>
                    <a:ext uri="{9D8B030D-6E8A-4147-A177-3AD203B41FA5}">
                      <a16:colId xmlns:a16="http://schemas.microsoft.com/office/drawing/2014/main" val="1816530688"/>
                    </a:ext>
                  </a:extLst>
                </a:gridCol>
                <a:gridCol w="115284">
                  <a:extLst>
                    <a:ext uri="{9D8B030D-6E8A-4147-A177-3AD203B41FA5}">
                      <a16:colId xmlns:a16="http://schemas.microsoft.com/office/drawing/2014/main" val="3215582355"/>
                    </a:ext>
                  </a:extLst>
                </a:gridCol>
                <a:gridCol w="115284">
                  <a:extLst>
                    <a:ext uri="{9D8B030D-6E8A-4147-A177-3AD203B41FA5}">
                      <a16:colId xmlns:a16="http://schemas.microsoft.com/office/drawing/2014/main" val="2364184830"/>
                    </a:ext>
                  </a:extLst>
                </a:gridCol>
                <a:gridCol w="115284">
                  <a:extLst>
                    <a:ext uri="{9D8B030D-6E8A-4147-A177-3AD203B41FA5}">
                      <a16:colId xmlns:a16="http://schemas.microsoft.com/office/drawing/2014/main" val="3969295761"/>
                    </a:ext>
                  </a:extLst>
                </a:gridCol>
                <a:gridCol w="115284">
                  <a:extLst>
                    <a:ext uri="{9D8B030D-6E8A-4147-A177-3AD203B41FA5}">
                      <a16:colId xmlns:a16="http://schemas.microsoft.com/office/drawing/2014/main" val="3182464383"/>
                    </a:ext>
                  </a:extLst>
                </a:gridCol>
                <a:gridCol w="115284">
                  <a:extLst>
                    <a:ext uri="{9D8B030D-6E8A-4147-A177-3AD203B41FA5}">
                      <a16:colId xmlns:a16="http://schemas.microsoft.com/office/drawing/2014/main" val="4234570506"/>
                    </a:ext>
                  </a:extLst>
                </a:gridCol>
                <a:gridCol w="115284">
                  <a:extLst>
                    <a:ext uri="{9D8B030D-6E8A-4147-A177-3AD203B41FA5}">
                      <a16:colId xmlns:a16="http://schemas.microsoft.com/office/drawing/2014/main" val="1188237343"/>
                    </a:ext>
                  </a:extLst>
                </a:gridCol>
                <a:gridCol w="115284">
                  <a:extLst>
                    <a:ext uri="{9D8B030D-6E8A-4147-A177-3AD203B41FA5}">
                      <a16:colId xmlns:a16="http://schemas.microsoft.com/office/drawing/2014/main" val="2273586609"/>
                    </a:ext>
                  </a:extLst>
                </a:gridCol>
                <a:gridCol w="115284">
                  <a:extLst>
                    <a:ext uri="{9D8B030D-6E8A-4147-A177-3AD203B41FA5}">
                      <a16:colId xmlns:a16="http://schemas.microsoft.com/office/drawing/2014/main" val="1730338203"/>
                    </a:ext>
                  </a:extLst>
                </a:gridCol>
                <a:gridCol w="115284">
                  <a:extLst>
                    <a:ext uri="{9D8B030D-6E8A-4147-A177-3AD203B41FA5}">
                      <a16:colId xmlns:a16="http://schemas.microsoft.com/office/drawing/2014/main" val="2424123539"/>
                    </a:ext>
                  </a:extLst>
                </a:gridCol>
                <a:gridCol w="115284">
                  <a:extLst>
                    <a:ext uri="{9D8B030D-6E8A-4147-A177-3AD203B41FA5}">
                      <a16:colId xmlns:a16="http://schemas.microsoft.com/office/drawing/2014/main" val="1195656362"/>
                    </a:ext>
                  </a:extLst>
                </a:gridCol>
                <a:gridCol w="115284">
                  <a:extLst>
                    <a:ext uri="{9D8B030D-6E8A-4147-A177-3AD203B41FA5}">
                      <a16:colId xmlns:a16="http://schemas.microsoft.com/office/drawing/2014/main" val="898666770"/>
                    </a:ext>
                  </a:extLst>
                </a:gridCol>
                <a:gridCol w="115284">
                  <a:extLst>
                    <a:ext uri="{9D8B030D-6E8A-4147-A177-3AD203B41FA5}">
                      <a16:colId xmlns:a16="http://schemas.microsoft.com/office/drawing/2014/main" val="2838754777"/>
                    </a:ext>
                  </a:extLst>
                </a:gridCol>
                <a:gridCol w="115284">
                  <a:extLst>
                    <a:ext uri="{9D8B030D-6E8A-4147-A177-3AD203B41FA5}">
                      <a16:colId xmlns:a16="http://schemas.microsoft.com/office/drawing/2014/main" val="1105941386"/>
                    </a:ext>
                  </a:extLst>
                </a:gridCol>
                <a:gridCol w="115284">
                  <a:extLst>
                    <a:ext uri="{9D8B030D-6E8A-4147-A177-3AD203B41FA5}">
                      <a16:colId xmlns:a16="http://schemas.microsoft.com/office/drawing/2014/main" val="1812759699"/>
                    </a:ext>
                  </a:extLst>
                </a:gridCol>
                <a:gridCol w="115284">
                  <a:extLst>
                    <a:ext uri="{9D8B030D-6E8A-4147-A177-3AD203B41FA5}">
                      <a16:colId xmlns:a16="http://schemas.microsoft.com/office/drawing/2014/main" val="2099228529"/>
                    </a:ext>
                  </a:extLst>
                </a:gridCol>
                <a:gridCol w="115284">
                  <a:extLst>
                    <a:ext uri="{9D8B030D-6E8A-4147-A177-3AD203B41FA5}">
                      <a16:colId xmlns:a16="http://schemas.microsoft.com/office/drawing/2014/main" val="1607583562"/>
                    </a:ext>
                  </a:extLst>
                </a:gridCol>
                <a:gridCol w="115284">
                  <a:extLst>
                    <a:ext uri="{9D8B030D-6E8A-4147-A177-3AD203B41FA5}">
                      <a16:colId xmlns:a16="http://schemas.microsoft.com/office/drawing/2014/main" val="2952913239"/>
                    </a:ext>
                  </a:extLst>
                </a:gridCol>
                <a:gridCol w="115284">
                  <a:extLst>
                    <a:ext uri="{9D8B030D-6E8A-4147-A177-3AD203B41FA5}">
                      <a16:colId xmlns:a16="http://schemas.microsoft.com/office/drawing/2014/main" val="2426881773"/>
                    </a:ext>
                  </a:extLst>
                </a:gridCol>
                <a:gridCol w="115284">
                  <a:extLst>
                    <a:ext uri="{9D8B030D-6E8A-4147-A177-3AD203B41FA5}">
                      <a16:colId xmlns:a16="http://schemas.microsoft.com/office/drawing/2014/main" val="1763574392"/>
                    </a:ext>
                  </a:extLst>
                </a:gridCol>
                <a:gridCol w="115284">
                  <a:extLst>
                    <a:ext uri="{9D8B030D-6E8A-4147-A177-3AD203B41FA5}">
                      <a16:colId xmlns:a16="http://schemas.microsoft.com/office/drawing/2014/main" val="2204571675"/>
                    </a:ext>
                  </a:extLst>
                </a:gridCol>
                <a:gridCol w="115284">
                  <a:extLst>
                    <a:ext uri="{9D8B030D-6E8A-4147-A177-3AD203B41FA5}">
                      <a16:colId xmlns:a16="http://schemas.microsoft.com/office/drawing/2014/main" val="2259451334"/>
                    </a:ext>
                  </a:extLst>
                </a:gridCol>
                <a:gridCol w="115284">
                  <a:extLst>
                    <a:ext uri="{9D8B030D-6E8A-4147-A177-3AD203B41FA5}">
                      <a16:colId xmlns:a16="http://schemas.microsoft.com/office/drawing/2014/main" val="4230671325"/>
                    </a:ext>
                  </a:extLst>
                </a:gridCol>
                <a:gridCol w="115284">
                  <a:extLst>
                    <a:ext uri="{9D8B030D-6E8A-4147-A177-3AD203B41FA5}">
                      <a16:colId xmlns:a16="http://schemas.microsoft.com/office/drawing/2014/main" val="3231562426"/>
                    </a:ext>
                  </a:extLst>
                </a:gridCol>
                <a:gridCol w="115284">
                  <a:extLst>
                    <a:ext uri="{9D8B030D-6E8A-4147-A177-3AD203B41FA5}">
                      <a16:colId xmlns:a16="http://schemas.microsoft.com/office/drawing/2014/main" val="1944415196"/>
                    </a:ext>
                  </a:extLst>
                </a:gridCol>
              </a:tblGrid>
              <a:tr h="223200">
                <a:tc rowSpan="2">
                  <a:txBody>
                    <a:bodyPr/>
                    <a:lstStyle/>
                    <a:p>
                      <a:endParaRPr kumimoji="1" lang="ja-JP" alt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rowSpan="2">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endParaRPr kumimoji="1" lang="ja-JP" alt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gridSpan="20">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7</a:t>
                      </a:r>
                      <a:r>
                        <a:rPr kumimoji="1" lang="ja-JP" altLang="en-US" sz="1000" b="0" i="0">
                          <a:solidFill>
                            <a:schemeClr val="bg1"/>
                          </a:solidFill>
                          <a:latin typeface="Meiryo UI" panose="020B0604030504040204" pitchFamily="34" charset="-128"/>
                          <a:ea typeface="Meiryo UI" panose="020B0604030504040204" pitchFamily="34" charset="-128"/>
                        </a:rPr>
                        <a:t>月</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20">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8</a:t>
                      </a:r>
                      <a:r>
                        <a:rPr kumimoji="1" lang="ja-JP" altLang="en-US" sz="1000" b="0">
                          <a:solidFill>
                            <a:schemeClr val="bg1"/>
                          </a:solidFill>
                        </a:rPr>
                        <a:t>月</a:t>
                      </a:r>
                      <a:endParaRPr kumimoji="1" lang="ja-JP" altLang="en-US" b="0" dirty="0">
                        <a:solidFill>
                          <a:schemeClr val="bg1"/>
                        </a:solidFill>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dirty="0">
                          <a:solidFill>
                            <a:schemeClr val="bg1"/>
                          </a:solidFill>
                        </a:rPr>
                        <a:t>8</a:t>
                      </a:r>
                      <a:r>
                        <a:rPr kumimoji="1" lang="ja-JP" altLang="en-US" sz="1000" b="0">
                          <a:solidFill>
                            <a:schemeClr val="bg1"/>
                          </a:solidFill>
                        </a:rPr>
                        <a:t>月</a:t>
                      </a:r>
                      <a:endParaRPr kumimoji="1" lang="ja-JP" altLang="en-US" b="0" dirty="0">
                        <a:solidFill>
                          <a:schemeClr val="bg1"/>
                        </a:solidFill>
                      </a:endParaRPr>
                    </a:p>
                  </a:txBody>
                  <a:tcPr marL="36000" marR="36000" marT="3600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a:solidFill>
                          <a:schemeClr val="tx1">
                            <a:lumMod val="85000"/>
                            <a:lumOff val="15000"/>
                          </a:schemeClr>
                        </a:solidFill>
                        <a:latin typeface="+mn-ea"/>
                        <a:ea typeface="+mn-ea"/>
                      </a:endParaRPr>
                    </a:p>
                  </a:txBody>
                  <a:tcPr marL="36000" marR="36000" marT="36000" marB="0" anchor="ctr">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2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9</a:t>
                      </a:r>
                      <a:r>
                        <a:rPr kumimoji="1" lang="ja-JP" altLang="en-US" sz="1000" b="0" i="0">
                          <a:solidFill>
                            <a:schemeClr val="bg1"/>
                          </a:solidFill>
                          <a:latin typeface="Meiryo UI" panose="020B0604030504040204" pitchFamily="34" charset="-128"/>
                          <a:ea typeface="Meiryo UI" panose="020B0604030504040204" pitchFamily="34" charset="-128"/>
                        </a:rPr>
                        <a:t>月</a:t>
                      </a:r>
                      <a:endParaRPr kumimoji="1" lang="ja-JP" altLang="en-US"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000" dirty="0">
                        <a:solidFill>
                          <a:schemeClr val="tx1">
                            <a:lumMod val="85000"/>
                            <a:lumOff val="15000"/>
                          </a:schemeClr>
                        </a:solidFill>
                        <a:latin typeface="+mn-ea"/>
                        <a:ea typeface="+mn-ea"/>
                      </a:endParaRPr>
                    </a:p>
                  </a:txBody>
                  <a:tcPr marL="36000" marR="36000" marT="3600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226292608"/>
                  </a:ext>
                </a:extLst>
              </a:tr>
              <a:tr h="223200">
                <a:tc vMerge="1">
                  <a:txBody>
                    <a:bodyPr/>
                    <a:lstStyle/>
                    <a:p>
                      <a:endParaRPr kumimoji="1" lang="ja-JP" altLang="en-US"/>
                    </a:p>
                  </a:txBody>
                  <a:tcPr/>
                </a:tc>
                <a:tc v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5~9</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12~16</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19~23</a:t>
                      </a:r>
                      <a:endParaRPr kumimoji="1" lang="ja-JP" altLang="en-US" sz="1000" b="0" i="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26~30</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2~6</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dirty="0">
                          <a:solidFill>
                            <a:schemeClr val="bg1"/>
                          </a:solidFill>
                        </a:rPr>
                        <a:t>2~7</a:t>
                      </a:r>
                      <a:endParaRPr kumimoji="1" lang="ja-JP" altLang="en-US" sz="1000" b="0" dirty="0">
                        <a:solidFill>
                          <a:schemeClr val="bg1"/>
                        </a:solidFill>
                        <a:latin typeface="+mn-ea"/>
                        <a:ea typeface="+mn-ea"/>
                      </a:endParaRPr>
                    </a:p>
                  </a:txBody>
                  <a:tcPr marL="36000" marR="36000" marT="3600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9~13</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16~20</a:t>
                      </a:r>
                      <a:endParaRPr kumimoji="1" lang="ja-JP" altLang="en-US" sz="1000" b="0" i="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23~27</a:t>
                      </a:r>
                      <a:endParaRPr kumimoji="1" lang="ja-JP" altLang="en-US" sz="1000" b="0" i="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30~3</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6~10</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13~17</a:t>
                      </a:r>
                      <a:endParaRPr kumimoji="1" lang="ja-JP" altLang="en-US" sz="1000" b="0" i="0" dirty="0">
                        <a:solidFill>
                          <a:schemeClr val="bg1"/>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marL="0" algn="ctr" defTabSz="633062" rtl="0" eaLnBrk="1" latinLnBrk="0" hangingPunct="1"/>
                      <a:r>
                        <a:rPr kumimoji="1" lang="en-US" altLang="ja-JP" sz="1000" b="0" i="0" kern="1200" dirty="0">
                          <a:solidFill>
                            <a:schemeClr val="bg1"/>
                          </a:solidFill>
                          <a:latin typeface="Meiryo UI" panose="020B0604030504040204" pitchFamily="34" charset="-128"/>
                          <a:ea typeface="Meiryo UI" panose="020B0604030504040204" pitchFamily="34" charset="-128"/>
                        </a:rPr>
                        <a:t>20~24</a:t>
                      </a:r>
                      <a:endParaRPr kumimoji="1" lang="ja-JP" altLang="en-US" sz="1000" b="0" i="0" kern="1200">
                        <a:solidFill>
                          <a:schemeClr val="bg1"/>
                        </a:solidFill>
                        <a:latin typeface="Meiryo UI" panose="020B0604030504040204" pitchFamily="34" charset="-128"/>
                        <a:ea typeface="Meiryo UI" panose="020B0604030504040204" pitchFamily="34" charset="-128"/>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1000" b="0" i="0" dirty="0">
                          <a:solidFill>
                            <a:schemeClr val="bg1"/>
                          </a:solidFill>
                          <a:latin typeface="Meiryo UI" panose="020B0604030504040204" pitchFamily="34" charset="-128"/>
                          <a:ea typeface="Meiryo UI" panose="020B0604030504040204" pitchFamily="34" charset="-128"/>
                        </a:rPr>
                        <a:t>27~1</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01368573"/>
                  </a:ext>
                </a:extLst>
              </a:tr>
              <a:tr h="345600">
                <a:tc>
                  <a:txBody>
                    <a:bodyPr/>
                    <a:lstStyle/>
                    <a:p>
                      <a:pPr algn="ctr"/>
                      <a:r>
                        <a:rPr kumimoji="1" lang="ja-JP" altLang="en-US" sz="900" b="0" i="0">
                          <a:solidFill>
                            <a:schemeClr val="bg1"/>
                          </a:solidFill>
                          <a:latin typeface="Meiryo UI" panose="020B0604030504040204" pitchFamily="34" charset="-128"/>
                          <a:ea typeface="Meiryo UI" panose="020B0604030504040204" pitchFamily="34" charset="-128"/>
                        </a:rPr>
                        <a:t>作業計画項目</a:t>
                      </a:r>
                      <a:endParaRPr kumimoji="1" lang="ja-JP" altLang="en-US" sz="900" b="0" dirty="0">
                        <a:solidFill>
                          <a:schemeClr val="bg1"/>
                        </a:solidFill>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ja-JP" altLang="en-US" sz="900" b="0" i="0">
                          <a:solidFill>
                            <a:schemeClr val="bg1"/>
                          </a:solidFill>
                          <a:latin typeface="Meiryo UI" panose="020B0604030504040204" pitchFamily="34" charset="-128"/>
                          <a:ea typeface="Meiryo UI" panose="020B0604030504040204" pitchFamily="34" charset="-128"/>
                        </a:rPr>
                        <a:t>作業計画項目</a:t>
                      </a:r>
                    </a:p>
                    <a:p>
                      <a:pPr algn="ctr"/>
                      <a:r>
                        <a:rPr kumimoji="1" lang="ja-JP" altLang="en-US" sz="900" b="0" i="0">
                          <a:solidFill>
                            <a:schemeClr val="bg1"/>
                          </a:solidFill>
                          <a:latin typeface="Meiryo UI" panose="020B0604030504040204" pitchFamily="34" charset="-128"/>
                          <a:ea typeface="Meiryo UI" panose="020B0604030504040204" pitchFamily="34" charset="-128"/>
                        </a:rPr>
                        <a:t>（詳細）</a:t>
                      </a:r>
                    </a:p>
                  </a:txBody>
                  <a:tcPr marL="0" marR="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5</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8</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12</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14</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15</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21</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22</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28</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30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4</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5</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11</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12</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18</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24</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25</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30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31</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8</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14</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15</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16</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21</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22</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23</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25</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27</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28</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29</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30</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r>
                        <a:rPr kumimoji="1" lang="en-US" altLang="ja-JP" sz="600" b="0" i="0" dirty="0">
                          <a:solidFill>
                            <a:schemeClr val="bg1"/>
                          </a:solidFill>
                          <a:latin typeface="Meiryo UI" panose="020B0604030504040204" pitchFamily="34" charset="-128"/>
                          <a:ea typeface="Meiryo UI" panose="020B0604030504040204" pitchFamily="34" charset="-128"/>
                        </a:rPr>
                        <a:t>1</a:t>
                      </a:r>
                      <a:endParaRPr kumimoji="1" lang="ja-JP" altLang="en-US" sz="600" b="0" i="0" dirty="0">
                        <a:solidFill>
                          <a:schemeClr val="bg1"/>
                        </a:solidFill>
                        <a:latin typeface="Meiryo UI" panose="020B0604030504040204" pitchFamily="34" charset="-128"/>
                        <a:ea typeface="Meiryo UI" panose="020B0604030504040204" pitchFamily="34" charset="-128"/>
                      </a:endParaRPr>
                    </a:p>
                  </a:txBody>
                  <a:tcPr marL="0" marR="0" marT="36000" marB="36000" anchor="ctr">
                    <a:lnL w="9525" cap="flat" cmpd="sng" algn="ctr">
                      <a:solidFill>
                        <a:schemeClr val="bg1"/>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23F4B">
                        <a:lumMod val="60000"/>
                        <a:lumOff val="40000"/>
                      </a:srgbClr>
                    </a:solidFill>
                  </a:tcPr>
                </a:tc>
                <a:extLst>
                  <a:ext uri="{0D108BD9-81ED-4DB2-BD59-A6C34878D82A}">
                    <a16:rowId xmlns:a16="http://schemas.microsoft.com/office/drawing/2014/main" val="3753474345"/>
                  </a:ext>
                </a:extLst>
              </a:tr>
              <a:tr h="250930">
                <a:tc>
                  <a:txBody>
                    <a:bodyPr/>
                    <a:lstStyle/>
                    <a:p>
                      <a:pPr algn="l"/>
                      <a:r>
                        <a:rPr kumimoji="1" lang="en-US" altLang="ja-JP" sz="900" b="0" i="0" dirty="0">
                          <a:latin typeface="Meiryo UI" panose="020B0604030504040204" pitchFamily="34" charset="-128"/>
                          <a:ea typeface="Meiryo UI" panose="020B0604030504040204" pitchFamily="34" charset="-128"/>
                        </a:rPr>
                        <a:t>DI</a:t>
                      </a:r>
                      <a:r>
                        <a:rPr kumimoji="1" lang="ja-JP" altLang="en-US" sz="900" b="0" dirty="0"/>
                        <a:t>総会議体</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kumimoji="1" lang="ja-JP" altLang="en-US" sz="900" b="0" i="0" dirty="0">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6354382"/>
                  </a:ext>
                </a:extLst>
              </a:tr>
              <a:tr h="461963">
                <a:tc>
                  <a:txBody>
                    <a:bodyPr/>
                    <a:lstStyle/>
                    <a:p>
                      <a:pPr algn="l"/>
                      <a:r>
                        <a:rPr kumimoji="1" lang="ja-JP" altLang="en-US" sz="900" b="0" i="0">
                          <a:latin typeface="Meiryo UI" panose="020B0604030504040204" pitchFamily="34" charset="-128"/>
                          <a:ea typeface="Meiryo UI" panose="020B0604030504040204" pitchFamily="34" charset="-128"/>
                        </a:rPr>
                        <a:t>リファレンス用シナリオ選定</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l"/>
                      <a:endParaRPr kumimoji="1" lang="ja-JP" altLang="en-US" sz="900" b="0" i="0" dirty="0">
                        <a:latin typeface="Meiryo UI" panose="020B0604030504040204" pitchFamily="34" charset="-128"/>
                        <a:ea typeface="Meiryo UI" panose="020B0604030504040204" pitchFamily="34" charset="-128"/>
                      </a:endParaRP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0784155"/>
                  </a:ext>
                </a:extLst>
              </a:tr>
              <a:tr h="482400">
                <a:tc rowSpan="4">
                  <a:txBody>
                    <a:bodyPr/>
                    <a:lstStyle/>
                    <a:p>
                      <a:pPr algn="l"/>
                      <a:r>
                        <a:rPr kumimoji="1" lang="ja-JP" altLang="en-US" sz="900" b="0" i="0" dirty="0">
                          <a:latin typeface="Meiryo UI" panose="020B0604030504040204" pitchFamily="34" charset="-128"/>
                          <a:ea typeface="Meiryo UI" panose="020B0604030504040204" pitchFamily="34" charset="-128"/>
                        </a:rPr>
                        <a:t>机上での論点・課題整理</a:t>
                      </a:r>
                    </a:p>
                  </a:txBody>
                  <a:tcPr marL="36000" marR="36000" marT="36000" marB="36000">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l"/>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過去検討の</a:t>
                      </a:r>
                      <a:endPar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endParaRPr>
                    </a:p>
                    <a:p>
                      <a:pPr algn="l"/>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詳細情報</a:t>
                      </a:r>
                      <a:endPar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859487"/>
                  </a:ext>
                </a:extLst>
              </a:tr>
              <a:tr h="482600">
                <a:tc vMerge="1">
                  <a:txBody>
                    <a:bodyPr/>
                    <a:lstStyle/>
                    <a:p>
                      <a:pPr algn="l"/>
                      <a:endParaRPr kumimoji="1" lang="en-US" altLang="ja-JP" sz="900" b="0" dirty="0">
                        <a:solidFill>
                          <a:schemeClr val="tx1">
                            <a:lumMod val="85000"/>
                            <a:lumOff val="15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00" b="0" i="0" kern="1200" dirty="0">
                          <a:solidFill>
                            <a:schemeClr val="tx1">
                              <a:lumMod val="65000"/>
                              <a:lumOff val="35000"/>
                            </a:schemeClr>
                          </a:solidFill>
                          <a:latin typeface="Meiryo UI" panose="020B0604030504040204" pitchFamily="34" charset="-128"/>
                          <a:ea typeface="Meiryo UI" panose="020B0604030504040204" pitchFamily="34" charset="-128"/>
                          <a:cs typeface="+mn-cs"/>
                        </a:rPr>
                        <a:t>関連システム</a:t>
                      </a:r>
                      <a:endParaRPr kumimoji="1" lang="en-US" altLang="ja-JP" sz="900" b="0" i="0" kern="1200" dirty="0">
                        <a:solidFill>
                          <a:schemeClr val="tx1">
                            <a:lumMod val="65000"/>
                            <a:lumOff val="35000"/>
                          </a:schemeClr>
                        </a:solidFill>
                        <a:latin typeface="Meiryo UI" panose="020B0604030504040204" pitchFamily="34" charset="-128"/>
                        <a:ea typeface="Meiryo UI" panose="020B0604030504040204" pitchFamily="34" charset="-128"/>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00" b="0" i="0" kern="1200" dirty="0">
                          <a:solidFill>
                            <a:schemeClr val="tx1">
                              <a:lumMod val="65000"/>
                              <a:lumOff val="35000"/>
                            </a:schemeClr>
                          </a:solidFill>
                          <a:latin typeface="Meiryo UI" panose="020B0604030504040204" pitchFamily="34" charset="-128"/>
                          <a:ea typeface="Meiryo UI" panose="020B0604030504040204" pitchFamily="34" charset="-128"/>
                          <a:cs typeface="+mn-cs"/>
                        </a:rPr>
                        <a:t>仕様・定義書の解析</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8787720"/>
                  </a:ext>
                </a:extLst>
              </a:tr>
              <a:tr h="391750">
                <a:tc vMerge="1">
                  <a:txBody>
                    <a:bodyPr/>
                    <a:lstStyle/>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00" b="0" i="0" kern="1200" dirty="0">
                          <a:solidFill>
                            <a:schemeClr val="tx1">
                              <a:lumMod val="65000"/>
                              <a:lumOff val="35000"/>
                            </a:schemeClr>
                          </a:solidFill>
                          <a:latin typeface="Meiryo UI" panose="020B0604030504040204" pitchFamily="34" charset="-128"/>
                          <a:ea typeface="Meiryo UI" panose="020B0604030504040204" pitchFamily="34" charset="-128"/>
                          <a:cs typeface="+mn-cs"/>
                        </a:rPr>
                        <a:t>追加情報の分析</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51305077"/>
                  </a:ext>
                </a:extLst>
              </a:tr>
              <a:tr h="428307">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900" kern="1200">
                        <a:solidFill>
                          <a:schemeClr val="tx1">
                            <a:lumMod val="65000"/>
                            <a:lumOff val="35000"/>
                          </a:schemeClr>
                        </a:solidFill>
                        <a:latin typeface="+mn-ea"/>
                        <a:ea typeface="メイリオ"/>
                        <a:cs typeface="+mn-cs"/>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As Is</a:t>
                      </a:r>
                      <a:r>
                        <a:rPr kumimoji="1" lang="ja-JP" altLang="en-US"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データ</a:t>
                      </a:r>
                      <a:br>
                        <a:rPr kumimoji="1" lang="en-US" altLang="ja-JP"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br>
                      <a:r>
                        <a:rPr kumimoji="1" lang="ja-JP" altLang="en-US"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フローの調査</a:t>
                      </a:r>
                      <a:endParaRPr kumimoji="1" lang="ja-JP" altLang="en-US" sz="900" b="0" i="0" kern="1200" dirty="0">
                        <a:solidFill>
                          <a:schemeClr val="tx1">
                            <a:lumMod val="65000"/>
                            <a:lumOff val="35000"/>
                          </a:schemeClr>
                        </a:solidFill>
                        <a:latin typeface="Meiryo UI" panose="020B0604030504040204" pitchFamily="34" charset="-128"/>
                        <a:ea typeface="Meiryo UI" panose="020B0604030504040204" pitchFamily="34" charset="-128"/>
                        <a:cs typeface="+mn-cs"/>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7274703"/>
                  </a:ext>
                </a:extLst>
              </a:tr>
              <a:tr h="684000">
                <a:tc rowSpan="2">
                  <a:txBody>
                    <a:bodyPr/>
                    <a:lstStyle/>
                    <a:p>
                      <a:pPr algn="l"/>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業務</a:t>
                      </a:r>
                      <a: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t>WG</a:t>
                      </a: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との</a:t>
                      </a:r>
                      <a:b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b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精査に向けた</a:t>
                      </a:r>
                      <a:b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br>
                      <a: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t>To</a:t>
                      </a: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 </a:t>
                      </a:r>
                      <a: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t>Be</a:t>
                      </a: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案策定</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l"/>
                      <a:r>
                        <a:rPr kumimoji="1" lang="en-US" altLang="ja-JP"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To</a:t>
                      </a:r>
                      <a:r>
                        <a:rPr kumimoji="1" lang="ja-JP" altLang="en-US"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 </a:t>
                      </a:r>
                      <a:r>
                        <a:rPr kumimoji="1" lang="en-US" altLang="ja-JP"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Be</a:t>
                      </a:r>
                      <a:r>
                        <a:rPr kumimoji="1" lang="ja-JP" altLang="en-US"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データ</a:t>
                      </a:r>
                      <a:br>
                        <a:rPr kumimoji="1" lang="en-US" altLang="ja-JP"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br>
                      <a:r>
                        <a:rPr kumimoji="1" lang="ja-JP" altLang="en-US"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フロー（案）</a:t>
                      </a:r>
                      <a:endParaRPr kumimoji="1" lang="en-US" altLang="ja-JP"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endParaRPr>
                    </a:p>
                    <a:p>
                      <a:pPr algn="l"/>
                      <a:r>
                        <a:rPr kumimoji="1" lang="ja-JP" altLang="en-US" sz="900" b="0" i="0" kern="1200" dirty="0">
                          <a:solidFill>
                            <a:schemeClr val="tx1">
                              <a:lumMod val="85000"/>
                              <a:lumOff val="15000"/>
                            </a:schemeClr>
                          </a:solidFill>
                          <a:latin typeface="Meiryo UI" panose="020B0604030504040204" pitchFamily="34" charset="-128"/>
                          <a:ea typeface="Meiryo UI" panose="020B0604030504040204" pitchFamily="34" charset="-128"/>
                          <a:cs typeface="+mn-cs"/>
                        </a:rPr>
                        <a:t>検討</a:t>
                      </a:r>
                      <a:endPar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85800" rtl="0" eaLnBrk="1" latinLnBrk="0" hangingPunct="1">
                        <a:defRPr kumimoji="1" sz="1350" kern="1200">
                          <a:solidFill>
                            <a:schemeClr val="tx1"/>
                          </a:solidFill>
                          <a:latin typeface="Arial"/>
                          <a:ea typeface="メイリオ"/>
                        </a:defRPr>
                      </a:lvl1pPr>
                      <a:lvl2pPr marL="342900" algn="l" defTabSz="685800" rtl="0" eaLnBrk="1" latinLnBrk="0" hangingPunct="1">
                        <a:defRPr kumimoji="1" sz="1350" kern="1200">
                          <a:solidFill>
                            <a:schemeClr val="tx1"/>
                          </a:solidFill>
                          <a:latin typeface="Arial"/>
                          <a:ea typeface="メイリオ"/>
                        </a:defRPr>
                      </a:lvl2pPr>
                      <a:lvl3pPr marL="685800" algn="l" defTabSz="685800" rtl="0" eaLnBrk="1" latinLnBrk="0" hangingPunct="1">
                        <a:defRPr kumimoji="1" sz="1350" kern="1200">
                          <a:solidFill>
                            <a:schemeClr val="tx1"/>
                          </a:solidFill>
                          <a:latin typeface="Arial"/>
                          <a:ea typeface="メイリオ"/>
                        </a:defRPr>
                      </a:lvl3pPr>
                      <a:lvl4pPr marL="1028700" algn="l" defTabSz="685800" rtl="0" eaLnBrk="1" latinLnBrk="0" hangingPunct="1">
                        <a:defRPr kumimoji="1" sz="1350" kern="1200">
                          <a:solidFill>
                            <a:schemeClr val="tx1"/>
                          </a:solidFill>
                          <a:latin typeface="Arial"/>
                          <a:ea typeface="メイリオ"/>
                        </a:defRPr>
                      </a:lvl4pPr>
                      <a:lvl5pPr marL="1371600" algn="l" defTabSz="685800" rtl="0" eaLnBrk="1" latinLnBrk="0" hangingPunct="1">
                        <a:defRPr kumimoji="1" sz="1350" kern="1200">
                          <a:solidFill>
                            <a:schemeClr val="tx1"/>
                          </a:solidFill>
                          <a:latin typeface="Arial"/>
                          <a:ea typeface="メイリオ"/>
                        </a:defRPr>
                      </a:lvl5pPr>
                      <a:lvl6pPr marL="1714500" algn="l" defTabSz="685800" rtl="0" eaLnBrk="1" latinLnBrk="0" hangingPunct="1">
                        <a:defRPr kumimoji="1" sz="1350" kern="1200">
                          <a:solidFill>
                            <a:schemeClr val="tx1"/>
                          </a:solidFill>
                          <a:latin typeface="Arial"/>
                          <a:ea typeface="メイリオ"/>
                        </a:defRPr>
                      </a:lvl6pPr>
                      <a:lvl7pPr marL="2057400" algn="l" defTabSz="685800" rtl="0" eaLnBrk="1" latinLnBrk="0" hangingPunct="1">
                        <a:defRPr kumimoji="1" sz="1350" kern="1200">
                          <a:solidFill>
                            <a:schemeClr val="tx1"/>
                          </a:solidFill>
                          <a:latin typeface="Arial"/>
                          <a:ea typeface="メイリオ"/>
                        </a:defRPr>
                      </a:lvl7pPr>
                      <a:lvl8pPr marL="2400300" algn="l" defTabSz="685800" rtl="0" eaLnBrk="1" latinLnBrk="0" hangingPunct="1">
                        <a:defRPr kumimoji="1" sz="1350" kern="1200">
                          <a:solidFill>
                            <a:schemeClr val="tx1"/>
                          </a:solidFill>
                          <a:latin typeface="Arial"/>
                          <a:ea typeface="メイリオ"/>
                        </a:defRPr>
                      </a:lvl8pPr>
                      <a:lvl9pPr marL="2743200" algn="l" defTabSz="685800" rtl="0" eaLnBrk="1" latinLnBrk="0" hangingPunct="1">
                        <a:defRPr kumimoji="1" sz="1350" kern="1200">
                          <a:solidFill>
                            <a:schemeClr val="tx1"/>
                          </a:solidFill>
                          <a:latin typeface="Arial"/>
                          <a:ea typeface="メイリオ"/>
                        </a:defRPr>
                      </a:lvl9p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73267245"/>
                  </a:ext>
                </a:extLst>
              </a:tr>
              <a:tr h="684000">
                <a:tc vMerge="1">
                  <a:txBody>
                    <a:bodyPr/>
                    <a:lstStyle/>
                    <a:p>
                      <a:pPr algn="l"/>
                      <a:endParaRPr kumimoji="1" lang="en-US" altLang="ja-JP" sz="900" b="0" dirty="0">
                        <a:solidFill>
                          <a:schemeClr val="tx1">
                            <a:lumMod val="85000"/>
                            <a:lumOff val="15000"/>
                          </a:schemeClr>
                        </a:solidFill>
                        <a:latin typeface="+mn-ea"/>
                        <a:ea typeface="+mn-ea"/>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ビジネス</a:t>
                      </a:r>
                      <a:endPar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メタデータ（案）検討</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168013"/>
                  </a:ext>
                </a:extLst>
              </a:tr>
              <a:tr h="684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業務</a:t>
                      </a:r>
                      <a: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t>WG</a:t>
                      </a:r>
                      <a:b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b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（調達）との</a:t>
                      </a:r>
                      <a:br>
                        <a:rPr kumimoji="1" lang="en-US" altLang="ja-JP" sz="900" b="0" i="0" dirty="0">
                          <a:solidFill>
                            <a:schemeClr val="tx1">
                              <a:lumMod val="85000"/>
                              <a:lumOff val="15000"/>
                            </a:schemeClr>
                          </a:solidFill>
                          <a:latin typeface="Meiryo UI" panose="020B0604030504040204" pitchFamily="34" charset="-128"/>
                          <a:ea typeface="Meiryo UI" panose="020B0604030504040204" pitchFamily="34" charset="-128"/>
                        </a:rPr>
                      </a:br>
                      <a:r>
                        <a:rPr kumimoji="1" lang="ja-JP" altLang="en-US" sz="900" b="0" i="0" dirty="0">
                          <a:solidFill>
                            <a:schemeClr val="tx1">
                              <a:lumMod val="85000"/>
                              <a:lumOff val="15000"/>
                            </a:schemeClr>
                          </a:solidFill>
                          <a:latin typeface="Meiryo UI" panose="020B0604030504040204" pitchFamily="34" charset="-128"/>
                          <a:ea typeface="Meiryo UI" panose="020B0604030504040204" pitchFamily="34" charset="-128"/>
                        </a:rPr>
                        <a:t>すり合わせ</a:t>
                      </a: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700" b="0" i="0">
                          <a:solidFill>
                            <a:schemeClr val="tx1">
                              <a:lumMod val="85000"/>
                              <a:lumOff val="15000"/>
                            </a:schemeClr>
                          </a:solidFill>
                          <a:latin typeface="Meiryo UI" panose="020B0604030504040204" pitchFamily="34" charset="-128"/>
                          <a:ea typeface="Meiryo UI" panose="020B0604030504040204" pitchFamily="34" charset="-128"/>
                        </a:rPr>
                        <a:t>レビュー（</a:t>
                      </a:r>
                      <a:r>
                        <a:rPr kumimoji="1" lang="en-US" altLang="ja-JP" sz="700" b="0" i="0" dirty="0">
                          <a:solidFill>
                            <a:schemeClr val="tx1">
                              <a:lumMod val="85000"/>
                              <a:lumOff val="15000"/>
                            </a:schemeClr>
                          </a:solidFill>
                          <a:latin typeface="Meiryo UI" panose="020B0604030504040204" pitchFamily="34" charset="-128"/>
                          <a:ea typeface="Meiryo UI" panose="020B0604030504040204" pitchFamily="34" charset="-128"/>
                        </a:rPr>
                        <a:t>RV</a:t>
                      </a:r>
                      <a:r>
                        <a:rPr kumimoji="1" lang="ja-JP" altLang="en-US" sz="700" b="0" i="0">
                          <a:solidFill>
                            <a:schemeClr val="tx1">
                              <a:lumMod val="85000"/>
                              <a:lumOff val="15000"/>
                            </a:schemeClr>
                          </a:solidFill>
                          <a:latin typeface="Meiryo UI" panose="020B0604030504040204" pitchFamily="34" charset="-128"/>
                          <a:ea typeface="Meiryo UI" panose="020B0604030504040204" pitchFamily="34" charset="-128"/>
                        </a:rPr>
                        <a:t>）</a:t>
                      </a:r>
                      <a:endParaRPr kumimoji="1" lang="en-US" altLang="ja-JP" sz="700" b="0" i="0" dirty="0">
                        <a:solidFill>
                          <a:schemeClr val="tx1">
                            <a:lumMod val="85000"/>
                            <a:lumOff val="15000"/>
                          </a:schemeClr>
                        </a:solidFill>
                        <a:latin typeface="Meiryo UI" panose="020B0604030504040204" pitchFamily="34" charset="-128"/>
                        <a:ea typeface="Meiryo UI" panose="020B0604030504040204" pitchFamily="34" charset="-128"/>
                      </a:endParaRPr>
                    </a:p>
                    <a:p>
                      <a:pPr algn="l"/>
                      <a:r>
                        <a:rPr kumimoji="1" lang="ja-JP" altLang="en-US" sz="700" b="0" i="0">
                          <a:solidFill>
                            <a:schemeClr val="tx1">
                              <a:lumMod val="85000"/>
                              <a:lumOff val="15000"/>
                            </a:schemeClr>
                          </a:solidFill>
                          <a:latin typeface="Meiryo UI" panose="020B0604030504040204" pitchFamily="34" charset="-128"/>
                          <a:ea typeface="Meiryo UI" panose="020B0604030504040204" pitchFamily="34" charset="-128"/>
                        </a:rPr>
                        <a:t>フィードバッ（</a:t>
                      </a:r>
                      <a:r>
                        <a:rPr kumimoji="1" lang="en-US" altLang="ja-JP" sz="700" b="0" i="0" dirty="0">
                          <a:solidFill>
                            <a:schemeClr val="tx1">
                              <a:lumMod val="85000"/>
                              <a:lumOff val="15000"/>
                            </a:schemeClr>
                          </a:solidFill>
                          <a:latin typeface="Meiryo UI" panose="020B0604030504040204" pitchFamily="34" charset="-128"/>
                          <a:ea typeface="Meiryo UI" panose="020B0604030504040204" pitchFamily="34" charset="-128"/>
                        </a:rPr>
                        <a:t>FB</a:t>
                      </a:r>
                      <a:r>
                        <a:rPr kumimoji="1" lang="ja-JP" altLang="en-US" sz="700" b="0" i="0">
                          <a:solidFill>
                            <a:schemeClr val="tx1">
                              <a:lumMod val="85000"/>
                              <a:lumOff val="15000"/>
                            </a:schemeClr>
                          </a:solidFill>
                          <a:latin typeface="Meiryo UI" panose="020B0604030504040204" pitchFamily="34" charset="-128"/>
                          <a:ea typeface="Meiryo UI" panose="020B0604030504040204" pitchFamily="34" charset="-128"/>
                        </a:rPr>
                        <a:t>）</a:t>
                      </a:r>
                      <a:endParaRPr kumimoji="1" lang="ja-JP" altLang="en-US" sz="7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000" b="0" i="0" dirty="0">
                        <a:solidFill>
                          <a:schemeClr val="tx1">
                            <a:lumMod val="85000"/>
                            <a:lumOff val="15000"/>
                          </a:schemeClr>
                        </a:solidFill>
                        <a:latin typeface="Meiryo UI" panose="020B0604030504040204" pitchFamily="34" charset="-128"/>
                        <a:ea typeface="Meiryo UI" panose="020B0604030504040204" pitchFamily="34" charset="-128"/>
                      </a:endParaRPr>
                    </a:p>
                  </a:txBody>
                  <a:tcPr marL="36000" marR="36000" marT="36000" marB="36000" anchor="ctr">
                    <a:lnL w="9525" cap="flat" cmpd="sng" algn="ctr">
                      <a:solidFill>
                        <a:schemeClr val="bg1">
                          <a:lumMod val="85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8052732"/>
                  </a:ext>
                </a:extLst>
              </a:tr>
            </a:tbl>
          </a:graphicData>
        </a:graphic>
      </p:graphicFrame>
      <p:sp>
        <p:nvSpPr>
          <p:cNvPr id="82" name="ホームベース 126">
            <a:extLst>
              <a:ext uri="{FF2B5EF4-FFF2-40B4-BE49-F238E27FC236}">
                <a16:creationId xmlns:a16="http://schemas.microsoft.com/office/drawing/2014/main" id="{E9657045-E5CD-C042-B2AC-D978F3AE5924}"/>
              </a:ext>
            </a:extLst>
          </p:cNvPr>
          <p:cNvSpPr/>
          <p:nvPr/>
        </p:nvSpPr>
        <p:spPr>
          <a:xfrm>
            <a:off x="2718014" y="2576072"/>
            <a:ext cx="1709480"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u="none" strike="noStrike" kern="0" cap="none" spc="0" normalizeH="0" baseline="0" noProof="0">
                <a:ln>
                  <a:noFill/>
                </a:ln>
                <a:solidFill>
                  <a:schemeClr val="tx2">
                    <a:lumMod val="75000"/>
                  </a:schemeClr>
                </a:solidFill>
                <a:effectLst/>
                <a:uLnTx/>
                <a:uFillTx/>
                <a:latin typeface="Meiryo UI" panose="020B0604030504040204" pitchFamily="34" charset="-128"/>
                <a:ea typeface="Meiryo UI" panose="020B0604030504040204" pitchFamily="34" charset="-128"/>
              </a:rPr>
              <a:t>資料精査</a:t>
            </a:r>
            <a:endPar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84" name="ホームベース 126">
            <a:extLst>
              <a:ext uri="{FF2B5EF4-FFF2-40B4-BE49-F238E27FC236}">
                <a16:creationId xmlns:a16="http://schemas.microsoft.com/office/drawing/2014/main" id="{DD08F7AD-B707-6B47-A5EE-DB71FF5BC6E2}"/>
              </a:ext>
            </a:extLst>
          </p:cNvPr>
          <p:cNvSpPr/>
          <p:nvPr/>
        </p:nvSpPr>
        <p:spPr>
          <a:xfrm>
            <a:off x="4438895" y="2576072"/>
            <a:ext cx="1157198"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論点・課題整理</a:t>
            </a:r>
            <a:endPar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85" name="ホームベース 126">
            <a:extLst>
              <a:ext uri="{FF2B5EF4-FFF2-40B4-BE49-F238E27FC236}">
                <a16:creationId xmlns:a16="http://schemas.microsoft.com/office/drawing/2014/main" id="{7891B294-7736-C64A-8E3F-8DADBE944B75}"/>
              </a:ext>
            </a:extLst>
          </p:cNvPr>
          <p:cNvSpPr/>
          <p:nvPr/>
        </p:nvSpPr>
        <p:spPr>
          <a:xfrm>
            <a:off x="2718014" y="1959336"/>
            <a:ext cx="1259198"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700" u="none" strike="noStrike" kern="0" cap="none" spc="0" normalizeH="0" baseline="0" noProof="0">
                <a:ln>
                  <a:noFill/>
                </a:ln>
                <a:solidFill>
                  <a:schemeClr val="tx2">
                    <a:lumMod val="75000"/>
                  </a:schemeClr>
                </a:solidFill>
                <a:effectLst/>
                <a:uLnTx/>
                <a:uFillTx/>
                <a:latin typeface="Meiryo UI" panose="020B0604030504040204" pitchFamily="34" charset="-128"/>
                <a:ea typeface="Meiryo UI" panose="020B0604030504040204" pitchFamily="34" charset="-128"/>
              </a:rPr>
              <a:t>ビジネスシナリオ選定</a:t>
            </a:r>
            <a:endParaRPr kumimoji="0" lang="en-US" altLang="ja-JP" sz="7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0" name="ホームベース 126">
            <a:extLst>
              <a:ext uri="{FF2B5EF4-FFF2-40B4-BE49-F238E27FC236}">
                <a16:creationId xmlns:a16="http://schemas.microsoft.com/office/drawing/2014/main" id="{4B1E238F-87BB-1F4F-9169-8A5AB4D705D9}"/>
              </a:ext>
            </a:extLst>
          </p:cNvPr>
          <p:cNvSpPr/>
          <p:nvPr/>
        </p:nvSpPr>
        <p:spPr>
          <a:xfrm>
            <a:off x="6753901" y="4246864"/>
            <a:ext cx="2754242"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Ref.</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データフロー図作成</a:t>
            </a:r>
            <a:endPar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1" name="ホームベース 126">
            <a:extLst>
              <a:ext uri="{FF2B5EF4-FFF2-40B4-BE49-F238E27FC236}">
                <a16:creationId xmlns:a16="http://schemas.microsoft.com/office/drawing/2014/main" id="{23CDCF06-5B50-1A4C-B5C8-AA51C6C9158A}"/>
              </a:ext>
            </a:extLst>
          </p:cNvPr>
          <p:cNvSpPr/>
          <p:nvPr/>
        </p:nvSpPr>
        <p:spPr>
          <a:xfrm>
            <a:off x="6747481" y="4904383"/>
            <a:ext cx="2760662"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Ref.</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ビジネスメタデータ定義書作成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18" name="ホームベース 126">
            <a:extLst>
              <a:ext uri="{FF2B5EF4-FFF2-40B4-BE49-F238E27FC236}">
                <a16:creationId xmlns:a16="http://schemas.microsoft.com/office/drawing/2014/main" id="{F3FC2A16-2370-D44D-9485-09B4C2DCA243}"/>
              </a:ext>
            </a:extLst>
          </p:cNvPr>
          <p:cNvSpPr/>
          <p:nvPr/>
        </p:nvSpPr>
        <p:spPr>
          <a:xfrm>
            <a:off x="5599887" y="3850247"/>
            <a:ext cx="1151181" cy="136800"/>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AsIs</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データフロー作成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39" name="テキスト プレースホルダー 2">
            <a:extLst>
              <a:ext uri="{FF2B5EF4-FFF2-40B4-BE49-F238E27FC236}">
                <a16:creationId xmlns:a16="http://schemas.microsoft.com/office/drawing/2014/main" id="{D05581F2-0BAC-D347-8D49-37671F956DC2}"/>
              </a:ext>
            </a:extLst>
          </p:cNvPr>
          <p:cNvSpPr>
            <a:spLocks noGrp="1"/>
          </p:cNvSpPr>
          <p:nvPr>
            <p:ph type="body" sz="quarter" idx="10"/>
          </p:nvPr>
        </p:nvSpPr>
        <p:spPr>
          <a:xfrm>
            <a:off x="236538" y="574775"/>
            <a:ext cx="9440862" cy="318924"/>
          </a:xfrm>
        </p:spPr>
        <p:txBody>
          <a:bodyPr wrap="square" lIns="36000" tIns="36000" rIns="36000" bIns="36000">
            <a:spAutoFit/>
          </a:bodyPr>
          <a:lstStyle/>
          <a:p>
            <a:pPr defTabSz="633062" eaLnBrk="0" fontAlgn="base" hangingPunct="0">
              <a:lnSpc>
                <a:spcPct val="100000"/>
              </a:lnSpc>
              <a:spcBef>
                <a:spcPts val="0"/>
              </a:spcBef>
              <a:spcAft>
                <a:spcPct val="0"/>
              </a:spcAft>
            </a:pPr>
            <a:r>
              <a:rPr lang="en-US" b="1" dirty="0">
                <a:latin typeface="Meiryo UI" panose="020B0604030504040204" pitchFamily="34" charset="-128"/>
                <a:ea typeface="Meiryo UI" panose="020B0604030504040204" pitchFamily="34" charset="-128"/>
                <a:cs typeface="+mn-cs"/>
              </a:rPr>
              <a:t>2Qの活動期間中のセッションについては、別途スケジュール調整の上追記する。</a:t>
            </a:r>
          </a:p>
        </p:txBody>
      </p:sp>
      <p:sp>
        <p:nvSpPr>
          <p:cNvPr id="32" name="ホームベース 126">
            <a:extLst>
              <a:ext uri="{FF2B5EF4-FFF2-40B4-BE49-F238E27FC236}">
                <a16:creationId xmlns:a16="http://schemas.microsoft.com/office/drawing/2014/main" id="{0D519BE5-BD48-E54F-B767-8F56BE13AB7C}"/>
              </a:ext>
            </a:extLst>
          </p:cNvPr>
          <p:cNvSpPr/>
          <p:nvPr/>
        </p:nvSpPr>
        <p:spPr>
          <a:xfrm>
            <a:off x="2718015" y="2416803"/>
            <a:ext cx="1710000"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社内への資料提供</a:t>
            </a: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依頼</a:t>
            </a:r>
            <a:r>
              <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*1</a:t>
            </a:r>
          </a:p>
        </p:txBody>
      </p:sp>
      <p:sp>
        <p:nvSpPr>
          <p:cNvPr id="33" name="ホームベース 126">
            <a:extLst>
              <a:ext uri="{FF2B5EF4-FFF2-40B4-BE49-F238E27FC236}">
                <a16:creationId xmlns:a16="http://schemas.microsoft.com/office/drawing/2014/main" id="{A682E912-31D1-6448-A3FE-D8373321FC3C}"/>
              </a:ext>
            </a:extLst>
          </p:cNvPr>
          <p:cNvSpPr/>
          <p:nvPr/>
        </p:nvSpPr>
        <p:spPr>
          <a:xfrm>
            <a:off x="3977212" y="1965609"/>
            <a:ext cx="1618881"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700" u="none" strike="noStrike" kern="0" cap="none" spc="0" normalizeH="0" baseline="0" noProof="0" dirty="0" err="1">
                <a:ln>
                  <a:noFill/>
                </a:ln>
                <a:solidFill>
                  <a:schemeClr val="tx2">
                    <a:lumMod val="75000"/>
                  </a:schemeClr>
                </a:solidFill>
                <a:effectLst/>
                <a:uLnTx/>
                <a:uFillTx/>
                <a:latin typeface="Meiryo UI" panose="020B0604030504040204" pitchFamily="34" charset="-128"/>
                <a:ea typeface="Meiryo UI" panose="020B0604030504040204" pitchFamily="34" charset="-128"/>
              </a:rPr>
              <a:t>ToBe</a:t>
            </a:r>
            <a:r>
              <a:rPr kumimoji="0" lang="ja-JP" altLang="en-US" sz="700" u="none" strike="noStrike" kern="0" cap="none" spc="0" normalizeH="0" baseline="0" noProof="0">
                <a:ln>
                  <a:noFill/>
                </a:ln>
                <a:solidFill>
                  <a:schemeClr val="tx2">
                    <a:lumMod val="75000"/>
                  </a:schemeClr>
                </a:solidFill>
                <a:effectLst/>
                <a:uLnTx/>
                <a:uFillTx/>
                <a:latin typeface="Meiryo UI" panose="020B0604030504040204" pitchFamily="34" charset="-128"/>
                <a:ea typeface="Meiryo UI" panose="020B0604030504040204" pitchFamily="34" charset="-128"/>
              </a:rPr>
              <a:t>ユースケース（仮説）の作成</a:t>
            </a:r>
            <a:endParaRPr kumimoji="0" lang="en-US" altLang="ja-JP" sz="7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34" name="ホームベース 126">
            <a:extLst>
              <a:ext uri="{FF2B5EF4-FFF2-40B4-BE49-F238E27FC236}">
                <a16:creationId xmlns:a16="http://schemas.microsoft.com/office/drawing/2014/main" id="{E41739E6-37BA-CA4D-B873-99A7AB434E80}"/>
              </a:ext>
            </a:extLst>
          </p:cNvPr>
          <p:cNvSpPr/>
          <p:nvPr/>
        </p:nvSpPr>
        <p:spPr>
          <a:xfrm>
            <a:off x="5596093" y="3558439"/>
            <a:ext cx="1157198"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論点・課題整理（追加分）</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41" name="ホームベース 126">
            <a:extLst>
              <a:ext uri="{FF2B5EF4-FFF2-40B4-BE49-F238E27FC236}">
                <a16:creationId xmlns:a16="http://schemas.microsoft.com/office/drawing/2014/main" id="{94E5DD5F-A379-7144-87B8-324A43AFA5A8}"/>
              </a:ext>
            </a:extLst>
          </p:cNvPr>
          <p:cNvSpPr/>
          <p:nvPr/>
        </p:nvSpPr>
        <p:spPr>
          <a:xfrm>
            <a:off x="2723262" y="2897928"/>
            <a:ext cx="1710000" cy="136800"/>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社内への資料提供依頼資料</a:t>
            </a: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依頼</a:t>
            </a:r>
            <a:r>
              <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*2</a:t>
            </a:r>
          </a:p>
        </p:txBody>
      </p:sp>
      <p:sp>
        <p:nvSpPr>
          <p:cNvPr id="44" name="ホームベース 126">
            <a:extLst>
              <a:ext uri="{FF2B5EF4-FFF2-40B4-BE49-F238E27FC236}">
                <a16:creationId xmlns:a16="http://schemas.microsoft.com/office/drawing/2014/main" id="{97B8D1DB-F367-0F40-98CC-AFF6984F5684}"/>
              </a:ext>
            </a:extLst>
          </p:cNvPr>
          <p:cNvSpPr/>
          <p:nvPr/>
        </p:nvSpPr>
        <p:spPr>
          <a:xfrm>
            <a:off x="4438895" y="3388759"/>
            <a:ext cx="1141200"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資料依頼</a:t>
            </a:r>
            <a:r>
              <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a:t>
            </a: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追加分</a:t>
            </a:r>
            <a:r>
              <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a:t>
            </a:r>
            <a:r>
              <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*2</a:t>
            </a:r>
          </a:p>
        </p:txBody>
      </p:sp>
      <p:sp>
        <p:nvSpPr>
          <p:cNvPr id="42" name="ホームベース 126">
            <a:extLst>
              <a:ext uri="{FF2B5EF4-FFF2-40B4-BE49-F238E27FC236}">
                <a16:creationId xmlns:a16="http://schemas.microsoft.com/office/drawing/2014/main" id="{1A19C5AD-2039-8C46-9109-A3378470B043}"/>
              </a:ext>
            </a:extLst>
          </p:cNvPr>
          <p:cNvSpPr/>
          <p:nvPr/>
        </p:nvSpPr>
        <p:spPr>
          <a:xfrm>
            <a:off x="2718014" y="3054422"/>
            <a:ext cx="1709480"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資料解析</a:t>
            </a:r>
            <a:endPar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45" name="ホームベース 126">
            <a:extLst>
              <a:ext uri="{FF2B5EF4-FFF2-40B4-BE49-F238E27FC236}">
                <a16:creationId xmlns:a16="http://schemas.microsoft.com/office/drawing/2014/main" id="{67726BD6-83AF-CA4A-8B59-AEE8BA956DE9}"/>
              </a:ext>
            </a:extLst>
          </p:cNvPr>
          <p:cNvSpPr/>
          <p:nvPr/>
        </p:nvSpPr>
        <p:spPr>
          <a:xfrm>
            <a:off x="4438895" y="3560176"/>
            <a:ext cx="1141200"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資料解析（追加分）</a:t>
            </a:r>
            <a:endPar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cxnSp>
        <p:nvCxnSpPr>
          <p:cNvPr id="49" name="直線矢印コネクタ 280">
            <a:extLst>
              <a:ext uri="{FF2B5EF4-FFF2-40B4-BE49-F238E27FC236}">
                <a16:creationId xmlns:a16="http://schemas.microsoft.com/office/drawing/2014/main" id="{4D7E9EA4-F723-2841-8A3A-96F861A04F40}"/>
              </a:ext>
            </a:extLst>
          </p:cNvPr>
          <p:cNvCxnSpPr>
            <a:cxnSpLocks/>
            <a:stCxn id="44" idx="3"/>
          </p:cNvCxnSpPr>
          <p:nvPr/>
        </p:nvCxnSpPr>
        <p:spPr>
          <a:xfrm>
            <a:off x="5580095" y="3456377"/>
            <a:ext cx="83976" cy="95961"/>
          </a:xfrm>
          <a:prstGeom prst="bentConnector2">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直線矢印コネクタ 280">
            <a:extLst>
              <a:ext uri="{FF2B5EF4-FFF2-40B4-BE49-F238E27FC236}">
                <a16:creationId xmlns:a16="http://schemas.microsoft.com/office/drawing/2014/main" id="{0C6B70FB-6768-3F4A-AB65-933829393893}"/>
              </a:ext>
            </a:extLst>
          </p:cNvPr>
          <p:cNvCxnSpPr>
            <a:cxnSpLocks/>
          </p:cNvCxnSpPr>
          <p:nvPr/>
        </p:nvCxnSpPr>
        <p:spPr>
          <a:xfrm rot="16200000" flipH="1">
            <a:off x="5484328" y="3701236"/>
            <a:ext cx="159121" cy="144000"/>
          </a:xfrm>
          <a:prstGeom prst="bentConnector3">
            <a:avLst>
              <a:gd name="adj1" fmla="val 50000"/>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sp>
        <p:nvSpPr>
          <p:cNvPr id="56" name="ホームベース 126">
            <a:extLst>
              <a:ext uri="{FF2B5EF4-FFF2-40B4-BE49-F238E27FC236}">
                <a16:creationId xmlns:a16="http://schemas.microsoft.com/office/drawing/2014/main" id="{241AB7BE-AD22-C94D-A543-B73E380D4A69}"/>
              </a:ext>
            </a:extLst>
          </p:cNvPr>
          <p:cNvSpPr/>
          <p:nvPr/>
        </p:nvSpPr>
        <p:spPr>
          <a:xfrm>
            <a:off x="6743253" y="3850247"/>
            <a:ext cx="1151181" cy="136800"/>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AsIs</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データフロー作成</a:t>
            </a:r>
            <a:b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b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（追加分）</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cxnSp>
        <p:nvCxnSpPr>
          <p:cNvPr id="57" name="直線矢印コネクタ 280">
            <a:extLst>
              <a:ext uri="{FF2B5EF4-FFF2-40B4-BE49-F238E27FC236}">
                <a16:creationId xmlns:a16="http://schemas.microsoft.com/office/drawing/2014/main" id="{FA62A73C-6A22-9748-A76B-A037F694B4D1}"/>
              </a:ext>
            </a:extLst>
          </p:cNvPr>
          <p:cNvCxnSpPr>
            <a:cxnSpLocks/>
            <a:stCxn id="34" idx="3"/>
            <a:endCxn id="56" idx="0"/>
          </p:cNvCxnSpPr>
          <p:nvPr/>
        </p:nvCxnSpPr>
        <p:spPr>
          <a:xfrm>
            <a:off x="6753291" y="3626057"/>
            <a:ext cx="549155" cy="224190"/>
          </a:xfrm>
          <a:prstGeom prst="bentConnector2">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5" name="直線矢印コネクタ 280">
            <a:extLst>
              <a:ext uri="{FF2B5EF4-FFF2-40B4-BE49-F238E27FC236}">
                <a16:creationId xmlns:a16="http://schemas.microsoft.com/office/drawing/2014/main" id="{0CB242D7-FB67-CA4F-9E90-F392D98C971E}"/>
              </a:ext>
            </a:extLst>
          </p:cNvPr>
          <p:cNvCxnSpPr>
            <a:cxnSpLocks/>
            <a:stCxn id="18" idx="2"/>
            <a:endCxn id="37" idx="1"/>
          </p:cNvCxnSpPr>
          <p:nvPr/>
        </p:nvCxnSpPr>
        <p:spPr>
          <a:xfrm rot="16200000" flipH="1">
            <a:off x="6126281" y="4019845"/>
            <a:ext cx="653998" cy="588401"/>
          </a:xfrm>
          <a:prstGeom prst="bentConnector2">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sp>
        <p:nvSpPr>
          <p:cNvPr id="37" name="ホームベース 126">
            <a:extLst>
              <a:ext uri="{FF2B5EF4-FFF2-40B4-BE49-F238E27FC236}">
                <a16:creationId xmlns:a16="http://schemas.microsoft.com/office/drawing/2014/main" id="{FEB65895-2905-B04E-AE56-FC4E47D5CEB7}"/>
              </a:ext>
            </a:extLst>
          </p:cNvPr>
          <p:cNvSpPr/>
          <p:nvPr/>
        </p:nvSpPr>
        <p:spPr>
          <a:xfrm>
            <a:off x="6747481" y="4457427"/>
            <a:ext cx="919998" cy="367236"/>
          </a:xfrm>
          <a:prstGeom prst="homePlate">
            <a:avLst>
              <a:gd name="adj" fmla="val 23973"/>
            </a:avLst>
          </a:prstGeom>
          <a:solidFill>
            <a:schemeClr val="bg1"/>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重点シナリオ</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①</a:t>
            </a: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のデータフロー図</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66" name="ホームベース 126">
            <a:extLst>
              <a:ext uri="{FF2B5EF4-FFF2-40B4-BE49-F238E27FC236}">
                <a16:creationId xmlns:a16="http://schemas.microsoft.com/office/drawing/2014/main" id="{80309797-3EEB-C74F-A118-2B95B40C3AF4}"/>
              </a:ext>
            </a:extLst>
          </p:cNvPr>
          <p:cNvSpPr/>
          <p:nvPr/>
        </p:nvSpPr>
        <p:spPr>
          <a:xfrm>
            <a:off x="7667813" y="4451181"/>
            <a:ext cx="919998" cy="367236"/>
          </a:xfrm>
          <a:prstGeom prst="homePlate">
            <a:avLst>
              <a:gd name="adj" fmla="val 23973"/>
            </a:avLst>
          </a:prstGeom>
          <a:solidFill>
            <a:schemeClr val="bg1"/>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eaLnBrk="1" fontAlgn="auto" hangingPunct="1">
              <a:lnSpc>
                <a:spcPts val="760"/>
              </a:lnSpc>
              <a:spcBef>
                <a:spcPts val="0"/>
              </a:spcBef>
              <a:spcAft>
                <a:spcPts val="0"/>
              </a:spcAf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重点シナリオ</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②</a:t>
            </a:r>
          </a:p>
          <a:p>
            <a:pPr eaLnBrk="1" fontAlgn="auto" hangingPunct="1">
              <a:lnSpc>
                <a:spcPts val="760"/>
              </a:lnSpc>
              <a:spcBef>
                <a:spcPts val="0"/>
              </a:spcBef>
              <a:spcAft>
                <a:spcPts val="0"/>
              </a:spcAf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のデータフロー図</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eaLnBrk="1" fontAlgn="auto" hangingPunct="1">
              <a:lnSpc>
                <a:spcPts val="760"/>
              </a:lnSpc>
              <a:spcBef>
                <a:spcPts val="0"/>
              </a:spcBef>
              <a:spcAft>
                <a:spcPts val="0"/>
              </a:spcAf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cxnSp>
        <p:nvCxnSpPr>
          <p:cNvPr id="69" name="直線矢印コネクタ 280">
            <a:extLst>
              <a:ext uri="{FF2B5EF4-FFF2-40B4-BE49-F238E27FC236}">
                <a16:creationId xmlns:a16="http://schemas.microsoft.com/office/drawing/2014/main" id="{94B4FA33-1C2B-3840-A7E5-EE37B6E22601}"/>
              </a:ext>
            </a:extLst>
          </p:cNvPr>
          <p:cNvCxnSpPr>
            <a:cxnSpLocks/>
            <a:stCxn id="56" idx="3"/>
            <a:endCxn id="67" idx="0"/>
          </p:cNvCxnSpPr>
          <p:nvPr/>
        </p:nvCxnSpPr>
        <p:spPr>
          <a:xfrm>
            <a:off x="7894434" y="3918647"/>
            <a:ext cx="1109691" cy="531057"/>
          </a:xfrm>
          <a:prstGeom prst="bentConnector2">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sp>
        <p:nvSpPr>
          <p:cNvPr id="70" name="ホームベース 126">
            <a:extLst>
              <a:ext uri="{FF2B5EF4-FFF2-40B4-BE49-F238E27FC236}">
                <a16:creationId xmlns:a16="http://schemas.microsoft.com/office/drawing/2014/main" id="{6BFEA97D-763C-1D4E-B2D0-CCBAC7EE5EDA}"/>
              </a:ext>
            </a:extLst>
          </p:cNvPr>
          <p:cNvSpPr/>
          <p:nvPr/>
        </p:nvSpPr>
        <p:spPr>
          <a:xfrm>
            <a:off x="6747481" y="5083358"/>
            <a:ext cx="919998" cy="367236"/>
          </a:xfrm>
          <a:prstGeom prst="homePlate">
            <a:avLst>
              <a:gd name="adj" fmla="val 23973"/>
            </a:avLst>
          </a:prstGeom>
          <a:solidFill>
            <a:schemeClr val="bg1"/>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重点シナリオ</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①</a:t>
            </a: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のビジネス</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メタデータ作成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71" name="ホームベース 126">
            <a:extLst>
              <a:ext uri="{FF2B5EF4-FFF2-40B4-BE49-F238E27FC236}">
                <a16:creationId xmlns:a16="http://schemas.microsoft.com/office/drawing/2014/main" id="{986546C8-F84E-084C-98DA-608A8A65054D}"/>
              </a:ext>
            </a:extLst>
          </p:cNvPr>
          <p:cNvSpPr/>
          <p:nvPr/>
        </p:nvSpPr>
        <p:spPr>
          <a:xfrm>
            <a:off x="7667813" y="5077112"/>
            <a:ext cx="919998" cy="367236"/>
          </a:xfrm>
          <a:prstGeom prst="homePlate">
            <a:avLst>
              <a:gd name="adj" fmla="val 23973"/>
            </a:avLst>
          </a:prstGeom>
          <a:solidFill>
            <a:schemeClr val="bg1"/>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eaLnBrk="1" fontAlgn="auto" hangingPunct="1">
              <a:lnSpc>
                <a:spcPts val="760"/>
              </a:lnSpc>
              <a:spcBef>
                <a:spcPts val="0"/>
              </a:spcBef>
              <a:spcAft>
                <a:spcPts val="0"/>
              </a:spcAf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重点シナリオ</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②</a:t>
            </a:r>
          </a:p>
          <a:p>
            <a:pPr eaLnBrk="1" fontAlgn="auto" hangingPunct="1">
              <a:lnSpc>
                <a:spcPts val="760"/>
              </a:lnSpc>
              <a:spcBef>
                <a:spcPts val="0"/>
              </a:spcBef>
              <a:spcAft>
                <a:spcPts val="0"/>
              </a:spcAf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のビジネス</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eaLnBrk="1" fontAlgn="auto" hangingPunct="1">
              <a:lnSpc>
                <a:spcPts val="760"/>
              </a:lnSpc>
              <a:spcBef>
                <a:spcPts val="0"/>
              </a:spcBef>
              <a:spcAft>
                <a:spcPts val="0"/>
              </a:spcAf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メタデータ作成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72" name="ホームベース 126">
            <a:extLst>
              <a:ext uri="{FF2B5EF4-FFF2-40B4-BE49-F238E27FC236}">
                <a16:creationId xmlns:a16="http://schemas.microsoft.com/office/drawing/2014/main" id="{4D536439-15F5-EB43-8E58-963D38BF5E58}"/>
              </a:ext>
            </a:extLst>
          </p:cNvPr>
          <p:cNvSpPr/>
          <p:nvPr/>
        </p:nvSpPr>
        <p:spPr>
          <a:xfrm>
            <a:off x="8588145" y="5075635"/>
            <a:ext cx="919998" cy="367236"/>
          </a:xfrm>
          <a:prstGeom prst="homePlate">
            <a:avLst>
              <a:gd name="adj" fmla="val 23973"/>
            </a:avLst>
          </a:prstGeom>
          <a:solidFill>
            <a:schemeClr val="bg1"/>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重点シナリオ</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③</a:t>
            </a: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のビジネス</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メタデータ作成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67" name="ホームベース 126">
            <a:extLst>
              <a:ext uri="{FF2B5EF4-FFF2-40B4-BE49-F238E27FC236}">
                <a16:creationId xmlns:a16="http://schemas.microsoft.com/office/drawing/2014/main" id="{E9F36A0F-2D5F-3E4D-94F6-F82D5FF72FEA}"/>
              </a:ext>
            </a:extLst>
          </p:cNvPr>
          <p:cNvSpPr/>
          <p:nvPr/>
        </p:nvSpPr>
        <p:spPr>
          <a:xfrm>
            <a:off x="8588145" y="4449704"/>
            <a:ext cx="919998" cy="367236"/>
          </a:xfrm>
          <a:prstGeom prst="homePlate">
            <a:avLst>
              <a:gd name="adj" fmla="val 23973"/>
            </a:avLst>
          </a:prstGeom>
          <a:solidFill>
            <a:schemeClr val="bg1"/>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重点シナリオ</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②</a:t>
            </a: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のデータフロー図</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eaLnBrk="1" fontAlgn="auto" hangingPunct="1">
              <a:lnSpc>
                <a:spcPts val="760"/>
              </a:lnSpc>
              <a:spcBef>
                <a:spcPts val="0"/>
              </a:spcBef>
              <a:spcAft>
                <a:spcPts val="0"/>
              </a:spcAf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作成</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40" name="ホームベース 126">
            <a:extLst>
              <a:ext uri="{FF2B5EF4-FFF2-40B4-BE49-F238E27FC236}">
                <a16:creationId xmlns:a16="http://schemas.microsoft.com/office/drawing/2014/main" id="{86470CD4-9F72-4BDF-BF44-31A769D6E1DD}"/>
              </a:ext>
            </a:extLst>
          </p:cNvPr>
          <p:cNvSpPr/>
          <p:nvPr/>
        </p:nvSpPr>
        <p:spPr>
          <a:xfrm>
            <a:off x="4438895" y="3054422"/>
            <a:ext cx="1157198"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論点・課題整理</a:t>
            </a:r>
            <a:endParaRPr kumimoji="0" lang="en-US" altLang="ja-JP"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43" name="ホームベース 126">
            <a:extLst>
              <a:ext uri="{FF2B5EF4-FFF2-40B4-BE49-F238E27FC236}">
                <a16:creationId xmlns:a16="http://schemas.microsoft.com/office/drawing/2014/main" id="{AF53AE39-D5AA-44C6-B437-3B70045C7B2C}"/>
              </a:ext>
            </a:extLst>
          </p:cNvPr>
          <p:cNvSpPr/>
          <p:nvPr/>
        </p:nvSpPr>
        <p:spPr>
          <a:xfrm>
            <a:off x="4907280" y="273534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46" name="ホームベース 126">
            <a:extLst>
              <a:ext uri="{FF2B5EF4-FFF2-40B4-BE49-F238E27FC236}">
                <a16:creationId xmlns:a16="http://schemas.microsoft.com/office/drawing/2014/main" id="{A5EAC317-DFD1-4CBC-8C70-BC0744B6B4EB}"/>
              </a:ext>
            </a:extLst>
          </p:cNvPr>
          <p:cNvSpPr/>
          <p:nvPr/>
        </p:nvSpPr>
        <p:spPr>
          <a:xfrm>
            <a:off x="4907280" y="3209353"/>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47" name="ホームベース 126">
            <a:extLst>
              <a:ext uri="{FF2B5EF4-FFF2-40B4-BE49-F238E27FC236}">
                <a16:creationId xmlns:a16="http://schemas.microsoft.com/office/drawing/2014/main" id="{687A7A92-F1EC-4E16-9D2D-ED842ABFF0D8}"/>
              </a:ext>
            </a:extLst>
          </p:cNvPr>
          <p:cNvSpPr/>
          <p:nvPr/>
        </p:nvSpPr>
        <p:spPr>
          <a:xfrm>
            <a:off x="5488078" y="273534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48" name="ホームベース 126">
            <a:extLst>
              <a:ext uri="{FF2B5EF4-FFF2-40B4-BE49-F238E27FC236}">
                <a16:creationId xmlns:a16="http://schemas.microsoft.com/office/drawing/2014/main" id="{C8B91117-AAD4-4FFF-B8D8-C7396594FA98}"/>
              </a:ext>
            </a:extLst>
          </p:cNvPr>
          <p:cNvSpPr/>
          <p:nvPr/>
        </p:nvSpPr>
        <p:spPr>
          <a:xfrm>
            <a:off x="5488078" y="3209353"/>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51" name="ホームベース 126">
            <a:extLst>
              <a:ext uri="{FF2B5EF4-FFF2-40B4-BE49-F238E27FC236}">
                <a16:creationId xmlns:a16="http://schemas.microsoft.com/office/drawing/2014/main" id="{40504414-A763-4101-BFD4-ADEE9335A624}"/>
              </a:ext>
            </a:extLst>
          </p:cNvPr>
          <p:cNvSpPr/>
          <p:nvPr/>
        </p:nvSpPr>
        <p:spPr>
          <a:xfrm>
            <a:off x="4328159" y="3388759"/>
            <a:ext cx="110735"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情報の充足度確認</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54" name="ホームベース 126">
            <a:extLst>
              <a:ext uri="{FF2B5EF4-FFF2-40B4-BE49-F238E27FC236}">
                <a16:creationId xmlns:a16="http://schemas.microsoft.com/office/drawing/2014/main" id="{4D351469-6CC6-42F0-9C3A-08D9D53DCF5C}"/>
              </a:ext>
            </a:extLst>
          </p:cNvPr>
          <p:cNvSpPr/>
          <p:nvPr/>
        </p:nvSpPr>
        <p:spPr>
          <a:xfrm>
            <a:off x="4328159" y="3560176"/>
            <a:ext cx="110735" cy="135236"/>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algn="r" eaLnBrk="1" fontAlgn="auto" hangingPunct="1">
              <a:lnSpc>
                <a:spcPts val="760"/>
              </a:lnSpc>
              <a:spcBef>
                <a:spcPts val="0"/>
              </a:spcBef>
              <a:spcAft>
                <a:spcPts val="0"/>
              </a:spcAft>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情報の充足度確認</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p:txBody>
      </p:sp>
      <p:sp>
        <p:nvSpPr>
          <p:cNvPr id="55" name="ホームベース 126">
            <a:extLst>
              <a:ext uri="{FF2B5EF4-FFF2-40B4-BE49-F238E27FC236}">
                <a16:creationId xmlns:a16="http://schemas.microsoft.com/office/drawing/2014/main" id="{7D0FDCAD-2F7F-4758-B0BD-07D97A289CFC}"/>
              </a:ext>
            </a:extLst>
          </p:cNvPr>
          <p:cNvSpPr/>
          <p:nvPr/>
        </p:nvSpPr>
        <p:spPr>
          <a:xfrm>
            <a:off x="6064351" y="4011220"/>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60" name="ホームベース 126">
            <a:extLst>
              <a:ext uri="{FF2B5EF4-FFF2-40B4-BE49-F238E27FC236}">
                <a16:creationId xmlns:a16="http://schemas.microsoft.com/office/drawing/2014/main" id="{74CE5859-23B8-4855-AE24-2C1B0682E66C}"/>
              </a:ext>
            </a:extLst>
          </p:cNvPr>
          <p:cNvSpPr/>
          <p:nvPr/>
        </p:nvSpPr>
        <p:spPr>
          <a:xfrm>
            <a:off x="6643687" y="4011220"/>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61" name="ホームベース 126">
            <a:extLst>
              <a:ext uri="{FF2B5EF4-FFF2-40B4-BE49-F238E27FC236}">
                <a16:creationId xmlns:a16="http://schemas.microsoft.com/office/drawing/2014/main" id="{BB623341-EDF1-4D12-93C2-950377D84DD4}"/>
              </a:ext>
            </a:extLst>
          </p:cNvPr>
          <p:cNvSpPr/>
          <p:nvPr/>
        </p:nvSpPr>
        <p:spPr>
          <a:xfrm>
            <a:off x="7318843" y="4011220"/>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6" name="星: 5 pt 5">
            <a:extLst>
              <a:ext uri="{FF2B5EF4-FFF2-40B4-BE49-F238E27FC236}">
                <a16:creationId xmlns:a16="http://schemas.microsoft.com/office/drawing/2014/main" id="{D2FD7670-AB9B-4D73-B2C0-4F4F0E4F4A20}"/>
              </a:ext>
            </a:extLst>
          </p:cNvPr>
          <p:cNvSpPr/>
          <p:nvPr/>
        </p:nvSpPr>
        <p:spPr>
          <a:xfrm>
            <a:off x="2718014"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62" name="星: 5 pt 61">
            <a:extLst>
              <a:ext uri="{FF2B5EF4-FFF2-40B4-BE49-F238E27FC236}">
                <a16:creationId xmlns:a16="http://schemas.microsoft.com/office/drawing/2014/main" id="{2893FDB3-F4EC-44AD-8311-43DE6D7C1D68}"/>
              </a:ext>
            </a:extLst>
          </p:cNvPr>
          <p:cNvSpPr/>
          <p:nvPr/>
        </p:nvSpPr>
        <p:spPr>
          <a:xfrm>
            <a:off x="3184739"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63" name="星: 5 pt 62">
            <a:extLst>
              <a:ext uri="{FF2B5EF4-FFF2-40B4-BE49-F238E27FC236}">
                <a16:creationId xmlns:a16="http://schemas.microsoft.com/office/drawing/2014/main" id="{3A2FCB7D-81B0-4542-BA33-AADC5E53DDBA}"/>
              </a:ext>
            </a:extLst>
          </p:cNvPr>
          <p:cNvSpPr/>
          <p:nvPr/>
        </p:nvSpPr>
        <p:spPr>
          <a:xfrm>
            <a:off x="4330870"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64" name="星: 5 pt 63">
            <a:extLst>
              <a:ext uri="{FF2B5EF4-FFF2-40B4-BE49-F238E27FC236}">
                <a16:creationId xmlns:a16="http://schemas.microsoft.com/office/drawing/2014/main" id="{16B39140-CD5B-41F2-9CAC-E5275701B2CB}"/>
              </a:ext>
            </a:extLst>
          </p:cNvPr>
          <p:cNvSpPr/>
          <p:nvPr/>
        </p:nvSpPr>
        <p:spPr>
          <a:xfrm>
            <a:off x="4901904"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68" name="星: 5 pt 67">
            <a:extLst>
              <a:ext uri="{FF2B5EF4-FFF2-40B4-BE49-F238E27FC236}">
                <a16:creationId xmlns:a16="http://schemas.microsoft.com/office/drawing/2014/main" id="{2D84C05E-9C5B-4E20-AB6D-3665CC0DF61A}"/>
              </a:ext>
            </a:extLst>
          </p:cNvPr>
          <p:cNvSpPr/>
          <p:nvPr/>
        </p:nvSpPr>
        <p:spPr>
          <a:xfrm>
            <a:off x="5488078"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73" name="星: 5 pt 72">
            <a:extLst>
              <a:ext uri="{FF2B5EF4-FFF2-40B4-BE49-F238E27FC236}">
                <a16:creationId xmlns:a16="http://schemas.microsoft.com/office/drawing/2014/main" id="{AB579E6B-18FF-44B0-B302-DACA3F1876E2}"/>
              </a:ext>
            </a:extLst>
          </p:cNvPr>
          <p:cNvSpPr/>
          <p:nvPr/>
        </p:nvSpPr>
        <p:spPr>
          <a:xfrm>
            <a:off x="6064351"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74" name="星: 5 pt 73">
            <a:extLst>
              <a:ext uri="{FF2B5EF4-FFF2-40B4-BE49-F238E27FC236}">
                <a16:creationId xmlns:a16="http://schemas.microsoft.com/office/drawing/2014/main" id="{D20736DC-CC5B-4010-BCE4-C2A06A8F8D6F}"/>
              </a:ext>
            </a:extLst>
          </p:cNvPr>
          <p:cNvSpPr/>
          <p:nvPr/>
        </p:nvSpPr>
        <p:spPr>
          <a:xfrm>
            <a:off x="6635340"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77" name="星: 5 pt 76">
            <a:extLst>
              <a:ext uri="{FF2B5EF4-FFF2-40B4-BE49-F238E27FC236}">
                <a16:creationId xmlns:a16="http://schemas.microsoft.com/office/drawing/2014/main" id="{F229BE68-4B15-42C0-A870-E68C95089B93}"/>
              </a:ext>
            </a:extLst>
          </p:cNvPr>
          <p:cNvSpPr/>
          <p:nvPr/>
        </p:nvSpPr>
        <p:spPr>
          <a:xfrm>
            <a:off x="7222219"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78" name="星: 5 pt 77">
            <a:extLst>
              <a:ext uri="{FF2B5EF4-FFF2-40B4-BE49-F238E27FC236}">
                <a16:creationId xmlns:a16="http://schemas.microsoft.com/office/drawing/2014/main" id="{D28159F9-BF77-4DB1-9E8B-96B31B6CC3C3}"/>
              </a:ext>
            </a:extLst>
          </p:cNvPr>
          <p:cNvSpPr/>
          <p:nvPr/>
        </p:nvSpPr>
        <p:spPr>
          <a:xfrm>
            <a:off x="7792389"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83" name="星: 5 pt 82">
            <a:extLst>
              <a:ext uri="{FF2B5EF4-FFF2-40B4-BE49-F238E27FC236}">
                <a16:creationId xmlns:a16="http://schemas.microsoft.com/office/drawing/2014/main" id="{3B1D4903-75AF-418E-BF12-41AF81E72318}"/>
              </a:ext>
            </a:extLst>
          </p:cNvPr>
          <p:cNvSpPr/>
          <p:nvPr/>
        </p:nvSpPr>
        <p:spPr>
          <a:xfrm>
            <a:off x="8362559"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86" name="星: 5 pt 85">
            <a:extLst>
              <a:ext uri="{FF2B5EF4-FFF2-40B4-BE49-F238E27FC236}">
                <a16:creationId xmlns:a16="http://schemas.microsoft.com/office/drawing/2014/main" id="{D5F7460C-9D13-442D-A8A2-11473F4A0738}"/>
              </a:ext>
            </a:extLst>
          </p:cNvPr>
          <p:cNvSpPr/>
          <p:nvPr/>
        </p:nvSpPr>
        <p:spPr>
          <a:xfrm>
            <a:off x="8949000"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87" name="星: 5 pt 86">
            <a:extLst>
              <a:ext uri="{FF2B5EF4-FFF2-40B4-BE49-F238E27FC236}">
                <a16:creationId xmlns:a16="http://schemas.microsoft.com/office/drawing/2014/main" id="{1C934C4B-DF9E-458D-9196-DF39634D4BAE}"/>
              </a:ext>
            </a:extLst>
          </p:cNvPr>
          <p:cNvSpPr/>
          <p:nvPr/>
        </p:nvSpPr>
        <p:spPr>
          <a:xfrm>
            <a:off x="9411519" y="1755378"/>
            <a:ext cx="96624" cy="96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Meiryo UI" panose="020B0604030504040204" pitchFamily="34" charset="-128"/>
              <a:ea typeface="Meiryo UI" panose="020B0604030504040204" pitchFamily="34" charset="-128"/>
            </a:endParaRPr>
          </a:p>
        </p:txBody>
      </p:sp>
      <p:sp>
        <p:nvSpPr>
          <p:cNvPr id="88" name="ホームベース 126">
            <a:extLst>
              <a:ext uri="{FF2B5EF4-FFF2-40B4-BE49-F238E27FC236}">
                <a16:creationId xmlns:a16="http://schemas.microsoft.com/office/drawing/2014/main" id="{29F29C24-156E-416F-A755-1D5A61BA25E0}"/>
              </a:ext>
            </a:extLst>
          </p:cNvPr>
          <p:cNvSpPr/>
          <p:nvPr/>
        </p:nvSpPr>
        <p:spPr>
          <a:xfrm>
            <a:off x="7779956" y="4011220"/>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cxnSp>
        <p:nvCxnSpPr>
          <p:cNvPr id="75" name="直線矢印コネクタ 280">
            <a:extLst>
              <a:ext uri="{FF2B5EF4-FFF2-40B4-BE49-F238E27FC236}">
                <a16:creationId xmlns:a16="http://schemas.microsoft.com/office/drawing/2014/main" id="{AE6CAEFB-FBC0-3943-817C-6EAD3982C968}"/>
              </a:ext>
            </a:extLst>
          </p:cNvPr>
          <p:cNvCxnSpPr>
            <a:cxnSpLocks/>
            <a:stCxn id="18" idx="2"/>
            <a:endCxn id="70" idx="1"/>
          </p:cNvCxnSpPr>
          <p:nvPr/>
        </p:nvCxnSpPr>
        <p:spPr>
          <a:xfrm rot="16200000" flipH="1">
            <a:off x="5813316" y="4332810"/>
            <a:ext cx="1279929" cy="588401"/>
          </a:xfrm>
          <a:prstGeom prst="bentConnector2">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6" name="直線矢印コネクタ 280">
            <a:extLst>
              <a:ext uri="{FF2B5EF4-FFF2-40B4-BE49-F238E27FC236}">
                <a16:creationId xmlns:a16="http://schemas.microsoft.com/office/drawing/2014/main" id="{0E29241B-2A15-C343-80C6-0727D822AF05}"/>
              </a:ext>
            </a:extLst>
          </p:cNvPr>
          <p:cNvCxnSpPr>
            <a:cxnSpLocks/>
            <a:stCxn id="56" idx="3"/>
            <a:endCxn id="72" idx="1"/>
          </p:cNvCxnSpPr>
          <p:nvPr/>
        </p:nvCxnSpPr>
        <p:spPr>
          <a:xfrm>
            <a:off x="7894434" y="3918647"/>
            <a:ext cx="693711" cy="1340606"/>
          </a:xfrm>
          <a:prstGeom prst="bentConnector3">
            <a:avLst>
              <a:gd name="adj1" fmla="val 99979"/>
            </a:avLst>
          </a:prstGeom>
          <a:ln w="9525">
            <a:solidFill>
              <a:schemeClr val="tx2"/>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sp>
        <p:nvSpPr>
          <p:cNvPr id="92" name="ホームベース 126">
            <a:extLst>
              <a:ext uri="{FF2B5EF4-FFF2-40B4-BE49-F238E27FC236}">
                <a16:creationId xmlns:a16="http://schemas.microsoft.com/office/drawing/2014/main" id="{85B0EDCD-D618-4044-8AD8-60DE0F4D19F4}"/>
              </a:ext>
            </a:extLst>
          </p:cNvPr>
          <p:cNvSpPr/>
          <p:nvPr/>
        </p:nvSpPr>
        <p:spPr>
          <a:xfrm>
            <a:off x="2733395" y="213159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スケジュール・</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進め方合意</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3" name="ホームベース 126">
            <a:extLst>
              <a:ext uri="{FF2B5EF4-FFF2-40B4-BE49-F238E27FC236}">
                <a16:creationId xmlns:a16="http://schemas.microsoft.com/office/drawing/2014/main" id="{6A5D3624-640A-47B5-9ED1-E0B282EE1AAD}"/>
              </a:ext>
            </a:extLst>
          </p:cNvPr>
          <p:cNvSpPr/>
          <p:nvPr/>
        </p:nvSpPr>
        <p:spPr>
          <a:xfrm>
            <a:off x="3177944" y="213159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シナリオ</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検討</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4" name="ホームベース 126">
            <a:extLst>
              <a:ext uri="{FF2B5EF4-FFF2-40B4-BE49-F238E27FC236}">
                <a16:creationId xmlns:a16="http://schemas.microsoft.com/office/drawing/2014/main" id="{BE7F8495-5C3D-4654-B298-9A286FDAC128}"/>
              </a:ext>
            </a:extLst>
          </p:cNvPr>
          <p:cNvSpPr/>
          <p:nvPr/>
        </p:nvSpPr>
        <p:spPr>
          <a:xfrm>
            <a:off x="3870341" y="213159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シナリオ</a:t>
            </a:r>
            <a:endParaRPr kumimoji="0" lang="en-US" altLang="ja-JP" sz="800" kern="0" dirty="0">
              <a:solidFill>
                <a:schemeClr val="tx2">
                  <a:lumMod val="75000"/>
                </a:schemeClr>
              </a:solidFill>
              <a:latin typeface="Meiryo UI" panose="020B0604030504040204" pitchFamily="34" charset="-128"/>
              <a:ea typeface="Meiryo UI" panose="020B0604030504040204" pitchFamily="34" charset="-128"/>
            </a:endParaRPr>
          </a:p>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選定</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5" name="ホームベース 126">
            <a:extLst>
              <a:ext uri="{FF2B5EF4-FFF2-40B4-BE49-F238E27FC236}">
                <a16:creationId xmlns:a16="http://schemas.microsoft.com/office/drawing/2014/main" id="{16067208-F8E5-4DD4-ADFE-7954372AE95E}"/>
              </a:ext>
            </a:extLst>
          </p:cNvPr>
          <p:cNvSpPr/>
          <p:nvPr/>
        </p:nvSpPr>
        <p:spPr>
          <a:xfrm>
            <a:off x="4324075" y="213159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6" name="ホームベース 126">
            <a:extLst>
              <a:ext uri="{FF2B5EF4-FFF2-40B4-BE49-F238E27FC236}">
                <a16:creationId xmlns:a16="http://schemas.microsoft.com/office/drawing/2014/main" id="{E38C8661-20F8-4E6C-96C5-19B4F42AB9A9}"/>
              </a:ext>
            </a:extLst>
          </p:cNvPr>
          <p:cNvSpPr/>
          <p:nvPr/>
        </p:nvSpPr>
        <p:spPr>
          <a:xfrm>
            <a:off x="4913754" y="213159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レビュー</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7" name="ホームベース 126">
            <a:extLst>
              <a:ext uri="{FF2B5EF4-FFF2-40B4-BE49-F238E27FC236}">
                <a16:creationId xmlns:a16="http://schemas.microsoft.com/office/drawing/2014/main" id="{B858FC0D-0DB0-40CA-9D56-80497413FD0E}"/>
              </a:ext>
            </a:extLst>
          </p:cNvPr>
          <p:cNvSpPr/>
          <p:nvPr/>
        </p:nvSpPr>
        <p:spPr>
          <a:xfrm>
            <a:off x="5488078" y="2131591"/>
            <a:ext cx="110214" cy="135236"/>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To</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 </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Be</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ケースの合意</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8" name="ホームベース 126">
            <a:extLst>
              <a:ext uri="{FF2B5EF4-FFF2-40B4-BE49-F238E27FC236}">
                <a16:creationId xmlns:a16="http://schemas.microsoft.com/office/drawing/2014/main" id="{A0D6FD7A-C634-40B9-91A1-6B7A806FF573}"/>
              </a:ext>
            </a:extLst>
          </p:cNvPr>
          <p:cNvSpPr/>
          <p:nvPr/>
        </p:nvSpPr>
        <p:spPr>
          <a:xfrm>
            <a:off x="3870341" y="5584036"/>
            <a:ext cx="564093" cy="232195"/>
          </a:xfrm>
          <a:prstGeom prst="homePlate">
            <a:avLst>
              <a:gd name="adj" fmla="val 23973"/>
            </a:avLst>
          </a:prstGeom>
          <a:solidFill>
            <a:schemeClr val="accent4">
              <a:lumMod val="20000"/>
              <a:lumOff val="80000"/>
            </a:schemeClr>
          </a:solidFill>
          <a:ln w="9525" cap="flat" cmpd="sng" algn="ctr">
            <a:solidFill>
              <a:schemeClr val="accent4">
                <a:lumMod val="5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ビジネスシナリオ確認</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FB</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検討</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99" name="ホームベース 126">
            <a:extLst>
              <a:ext uri="{FF2B5EF4-FFF2-40B4-BE49-F238E27FC236}">
                <a16:creationId xmlns:a16="http://schemas.microsoft.com/office/drawing/2014/main" id="{2C98EE6A-3647-46E8-9C2C-D6245D2C0AA6}"/>
              </a:ext>
            </a:extLst>
          </p:cNvPr>
          <p:cNvSpPr/>
          <p:nvPr/>
        </p:nvSpPr>
        <p:spPr>
          <a:xfrm>
            <a:off x="5599886" y="5584036"/>
            <a:ext cx="1152000" cy="232195"/>
          </a:xfrm>
          <a:prstGeom prst="homePlate">
            <a:avLst>
              <a:gd name="adj" fmla="val 23973"/>
            </a:avLst>
          </a:prstGeom>
          <a:solidFill>
            <a:schemeClr val="accent4">
              <a:lumMod val="20000"/>
              <a:lumOff val="80000"/>
            </a:schemeClr>
          </a:solidFill>
          <a:ln w="9525" cap="flat" cmpd="sng" algn="ctr">
            <a:solidFill>
              <a:schemeClr val="accent4">
                <a:lumMod val="5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To</a:t>
            </a: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 </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Be</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ユースケース確認</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FB</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cxnSp>
        <p:nvCxnSpPr>
          <p:cNvPr id="101" name="コネクタ: カギ線 100">
            <a:extLst>
              <a:ext uri="{FF2B5EF4-FFF2-40B4-BE49-F238E27FC236}">
                <a16:creationId xmlns:a16="http://schemas.microsoft.com/office/drawing/2014/main" id="{959F861D-D0C6-48CF-B6E1-4E3B2F7E8F19}"/>
              </a:ext>
            </a:extLst>
          </p:cNvPr>
          <p:cNvCxnSpPr>
            <a:cxnSpLocks/>
            <a:stCxn id="99" idx="0"/>
            <a:endCxn id="91" idx="1"/>
          </p:cNvCxnSpPr>
          <p:nvPr/>
        </p:nvCxnSpPr>
        <p:spPr>
          <a:xfrm rot="5400000" flipH="1" flipV="1">
            <a:off x="6141750" y="4978306"/>
            <a:ext cx="612035" cy="599427"/>
          </a:xfrm>
          <a:prstGeom prst="bentConnector2">
            <a:avLst/>
          </a:prstGeom>
          <a:ln w="9525">
            <a:solidFill>
              <a:srgbClr val="FF0000"/>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3FAF6C78-EAF3-4076-ABA4-49122C2F0601}"/>
              </a:ext>
            </a:extLst>
          </p:cNvPr>
          <p:cNvCxnSpPr>
            <a:cxnSpLocks/>
            <a:stCxn id="99" idx="0"/>
            <a:endCxn id="90" idx="1"/>
          </p:cNvCxnSpPr>
          <p:nvPr/>
        </p:nvCxnSpPr>
        <p:spPr>
          <a:xfrm rot="5400000" flipH="1" flipV="1">
            <a:off x="5816200" y="4646336"/>
            <a:ext cx="1269554" cy="605847"/>
          </a:xfrm>
          <a:prstGeom prst="bentConnector2">
            <a:avLst/>
          </a:prstGeom>
          <a:ln w="9525">
            <a:solidFill>
              <a:srgbClr val="FF0000"/>
            </a:solidFill>
            <a:prstDash val="sysDash"/>
            <a:headEnd type="oval" w="sm" len="sm"/>
            <a:tailEnd type="triangle" w="sm" len="sm"/>
          </a:ln>
        </p:spPr>
        <p:style>
          <a:lnRef idx="1">
            <a:schemeClr val="accent1"/>
          </a:lnRef>
          <a:fillRef idx="0">
            <a:schemeClr val="accent1"/>
          </a:fillRef>
          <a:effectRef idx="0">
            <a:schemeClr val="accent1"/>
          </a:effectRef>
          <a:fontRef idx="minor">
            <a:schemeClr val="tx1"/>
          </a:fontRef>
        </p:style>
      </p:cxnSp>
      <p:sp>
        <p:nvSpPr>
          <p:cNvPr id="120" name="ホームベース 126">
            <a:extLst>
              <a:ext uri="{FF2B5EF4-FFF2-40B4-BE49-F238E27FC236}">
                <a16:creationId xmlns:a16="http://schemas.microsoft.com/office/drawing/2014/main" id="{27AE7C30-9E57-491D-893F-BD2F4491E2BD}"/>
              </a:ext>
            </a:extLst>
          </p:cNvPr>
          <p:cNvSpPr/>
          <p:nvPr/>
        </p:nvSpPr>
        <p:spPr>
          <a:xfrm>
            <a:off x="7672909" y="5584036"/>
            <a:ext cx="914902" cy="232195"/>
          </a:xfrm>
          <a:prstGeom prst="homePlate">
            <a:avLst>
              <a:gd name="adj" fmla="val 23973"/>
            </a:avLst>
          </a:prstGeom>
          <a:solidFill>
            <a:schemeClr val="accent4">
              <a:lumMod val="20000"/>
              <a:lumOff val="80000"/>
            </a:schemeClr>
          </a:solidFill>
          <a:ln w="9525" cap="flat" cmpd="sng" algn="ctr">
            <a:solidFill>
              <a:schemeClr val="accent4">
                <a:lumMod val="5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シナリオ①</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RV</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FB</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121" name="ホームベース 126">
            <a:extLst>
              <a:ext uri="{FF2B5EF4-FFF2-40B4-BE49-F238E27FC236}">
                <a16:creationId xmlns:a16="http://schemas.microsoft.com/office/drawing/2014/main" id="{BE2D9DD5-4230-4CFA-ACF4-5E5F6CEF3CBB}"/>
              </a:ext>
            </a:extLst>
          </p:cNvPr>
          <p:cNvSpPr/>
          <p:nvPr/>
        </p:nvSpPr>
        <p:spPr>
          <a:xfrm>
            <a:off x="8591632" y="5770590"/>
            <a:ext cx="914902" cy="232195"/>
          </a:xfrm>
          <a:prstGeom prst="homePlate">
            <a:avLst>
              <a:gd name="adj" fmla="val 23973"/>
            </a:avLst>
          </a:prstGeom>
          <a:solidFill>
            <a:schemeClr val="accent4">
              <a:lumMod val="20000"/>
              <a:lumOff val="80000"/>
            </a:schemeClr>
          </a:solidFill>
          <a:ln w="9525" cap="flat" cmpd="sng" algn="ctr">
            <a:solidFill>
              <a:schemeClr val="accent4">
                <a:lumMod val="5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シナリオ②</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RV</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FB</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122" name="ホームベース 126">
            <a:extLst>
              <a:ext uri="{FF2B5EF4-FFF2-40B4-BE49-F238E27FC236}">
                <a16:creationId xmlns:a16="http://schemas.microsoft.com/office/drawing/2014/main" id="{F870F702-74E5-46AC-BDF8-B73567DB03C3}"/>
              </a:ext>
            </a:extLst>
          </p:cNvPr>
          <p:cNvSpPr/>
          <p:nvPr/>
        </p:nvSpPr>
        <p:spPr>
          <a:xfrm>
            <a:off x="9517964" y="5994230"/>
            <a:ext cx="304216" cy="232195"/>
          </a:xfrm>
          <a:prstGeom prst="homePlate">
            <a:avLst>
              <a:gd name="adj" fmla="val 23973"/>
            </a:avLst>
          </a:prstGeom>
          <a:solidFill>
            <a:schemeClr val="accent4">
              <a:lumMod val="20000"/>
              <a:lumOff val="80000"/>
            </a:schemeClr>
          </a:solidFill>
          <a:ln w="9525" cap="flat" cmpd="sng" algn="ctr">
            <a:solidFill>
              <a:schemeClr val="accent4">
                <a:lumMod val="50000"/>
              </a:schemeClr>
            </a:solidFill>
            <a:prstDash val="solid"/>
            <a:miter lim="800000"/>
          </a:ln>
          <a:effectLst/>
        </p:spPr>
        <p:txBody>
          <a:bodyPr wrap="none" lIns="36000" tIns="36000" rIns="36000" bIns="0" rtlCol="0" anchor="ctr"/>
          <a:lstStyle/>
          <a:p>
            <a:pPr marL="0" marR="0" lvl="0" indent="0" algn="r" defTabSz="914400" eaLnBrk="1" fontAlgn="auto" latinLnBrk="0" hangingPunct="1">
              <a:lnSpc>
                <a:spcPts val="760"/>
              </a:lnSpc>
              <a:spcBef>
                <a:spcPts val="0"/>
              </a:spcBef>
              <a:spcAft>
                <a:spcPts val="0"/>
              </a:spcAft>
              <a:buClrTx/>
              <a:buSzTx/>
              <a:buFontTx/>
              <a:buNone/>
              <a:tabLst/>
              <a:defRPr/>
            </a:pPr>
            <a:r>
              <a:rPr kumimoji="0" lang="ja-JP" altLang="en-US" sz="800" kern="0" dirty="0">
                <a:solidFill>
                  <a:schemeClr val="tx2">
                    <a:lumMod val="75000"/>
                  </a:schemeClr>
                </a:solidFill>
                <a:latin typeface="Meiryo UI" panose="020B0604030504040204" pitchFamily="34" charset="-128"/>
                <a:ea typeface="Meiryo UI" panose="020B0604030504040204" pitchFamily="34" charset="-128"/>
              </a:rPr>
              <a:t>重点</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シナリオ③</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RV</a:t>
            </a:r>
            <a:r>
              <a:rPr kumimoji="0" lang="ja-JP" altLang="en-US" sz="800" kern="0">
                <a:solidFill>
                  <a:schemeClr val="tx2">
                    <a:lumMod val="75000"/>
                  </a:schemeClr>
                </a:solidFill>
                <a:latin typeface="Meiryo UI" panose="020B0604030504040204" pitchFamily="34" charset="-128"/>
                <a:ea typeface="Meiryo UI" panose="020B0604030504040204" pitchFamily="34" charset="-128"/>
              </a:rPr>
              <a:t>・</a:t>
            </a:r>
            <a:r>
              <a:rPr kumimoji="0" lang="en-US" altLang="ja-JP" sz="800" kern="0" dirty="0">
                <a:solidFill>
                  <a:schemeClr val="tx2">
                    <a:lumMod val="75000"/>
                  </a:schemeClr>
                </a:solidFill>
                <a:latin typeface="Meiryo UI" panose="020B0604030504040204" pitchFamily="34" charset="-128"/>
                <a:ea typeface="Meiryo UI" panose="020B0604030504040204" pitchFamily="34" charset="-128"/>
              </a:rPr>
              <a:t>FB</a:t>
            </a:r>
            <a:endParaRPr kumimoji="0" lang="en-US" altLang="ja-JP" sz="8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123" name="正方形/長方形 122">
            <a:extLst>
              <a:ext uri="{FF2B5EF4-FFF2-40B4-BE49-F238E27FC236}">
                <a16:creationId xmlns:a16="http://schemas.microsoft.com/office/drawing/2014/main" id="{49ED50E2-EB95-4CCB-9A05-89A8D22F5563}"/>
              </a:ext>
            </a:extLst>
          </p:cNvPr>
          <p:cNvSpPr/>
          <p:nvPr/>
        </p:nvSpPr>
        <p:spPr>
          <a:xfrm>
            <a:off x="4800601" y="6231171"/>
            <a:ext cx="4832132" cy="228076"/>
          </a:xfrm>
          <a:prstGeom prst="rect">
            <a:avLst/>
          </a:prstGeom>
        </p:spPr>
        <p:txBody>
          <a:bodyPr wrap="square">
            <a:spAutoFit/>
          </a:bodyPr>
          <a:lstStyle/>
          <a:p>
            <a:pPr algn="r" eaLnBrk="1" fontAlgn="auto" hangingPunct="1">
              <a:lnSpc>
                <a:spcPts val="1160"/>
              </a:lnSpc>
              <a:spcBef>
                <a:spcPts val="0"/>
              </a:spcBef>
              <a:spcAft>
                <a:spcPts val="0"/>
              </a:spcAft>
              <a:defRPr/>
            </a:pP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*1:</a:t>
            </a:r>
            <a:r>
              <a:rPr kumimoji="0" lang="ja-JP" altLang="en-US" sz="800" kern="0" dirty="0">
                <a:solidFill>
                  <a:schemeClr val="tx1">
                    <a:lumMod val="75000"/>
                    <a:lumOff val="25000"/>
                  </a:schemeClr>
                </a:solidFill>
                <a:latin typeface="Meiryo UI" panose="020B0604030504040204" pitchFamily="34" charset="-128"/>
                <a:ea typeface="Meiryo UI" panose="020B0604030504040204" pitchFamily="34" charset="-128"/>
              </a:rPr>
              <a:t>刷新構想検討</a:t>
            </a:r>
            <a:r>
              <a:rPr kumimoji="0" lang="en" altLang="ja-JP" sz="800" kern="0" dirty="0">
                <a:solidFill>
                  <a:schemeClr val="tx1">
                    <a:lumMod val="75000"/>
                    <a:lumOff val="25000"/>
                  </a:schemeClr>
                </a:solidFill>
                <a:latin typeface="Meiryo UI" panose="020B0604030504040204" pitchFamily="34" charset="-128"/>
                <a:ea typeface="Meiryo UI" panose="020B0604030504040204" pitchFamily="34" charset="-128"/>
              </a:rPr>
              <a:t>PJ</a:t>
            </a:r>
            <a:r>
              <a:rPr kumimoji="0" lang="ja-JP" altLang="en-US" sz="800" kern="0" dirty="0">
                <a:solidFill>
                  <a:schemeClr val="tx1">
                    <a:lumMod val="75000"/>
                    <a:lumOff val="25000"/>
                  </a:schemeClr>
                </a:solidFill>
                <a:latin typeface="Meiryo UI" panose="020B0604030504040204" pitchFamily="34" charset="-128"/>
                <a:ea typeface="Meiryo UI" panose="020B0604030504040204" pitchFamily="34" charset="-128"/>
              </a:rPr>
              <a:t>にて収集・精査した</a:t>
            </a:r>
            <a:r>
              <a:rPr kumimoji="0" lang="ja-JP" altLang="en-US" sz="800" kern="0">
                <a:solidFill>
                  <a:schemeClr val="tx1">
                    <a:lumMod val="75000"/>
                    <a:lumOff val="25000"/>
                  </a:schemeClr>
                </a:solidFill>
                <a:latin typeface="Meiryo UI" panose="020B0604030504040204" pitchFamily="34" charset="-128"/>
                <a:ea typeface="Meiryo UI" panose="020B0604030504040204" pitchFamily="34" charset="-128"/>
              </a:rPr>
              <a:t>資料を想定　</a:t>
            </a:r>
            <a:r>
              <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rPr>
              <a:t>*2:</a:t>
            </a:r>
            <a:r>
              <a:rPr kumimoji="0" lang="ja-JP" altLang="en-US" sz="800" kern="0" dirty="0">
                <a:solidFill>
                  <a:schemeClr val="tx1">
                    <a:lumMod val="75000"/>
                    <a:lumOff val="25000"/>
                  </a:schemeClr>
                </a:solidFill>
                <a:latin typeface="Meiryo UI" panose="020B0604030504040204" pitchFamily="34" charset="-128"/>
                <a:ea typeface="Meiryo UI" panose="020B0604030504040204" pitchFamily="34" charset="-128"/>
              </a:rPr>
              <a:t>関連システム仕様・定義書に関する資料依頼</a:t>
            </a:r>
            <a:endParaRPr kumimoji="0" lang="en-US" altLang="ja-JP" sz="800" kern="0" dirty="0">
              <a:solidFill>
                <a:schemeClr val="tx1">
                  <a:lumMod val="75000"/>
                  <a:lumOff val="25000"/>
                </a:schemeClr>
              </a:solidFill>
              <a:latin typeface="Meiryo UI" panose="020B0604030504040204" pitchFamily="34" charset="-128"/>
              <a:ea typeface="Meiryo UI" panose="020B0604030504040204" pitchFamily="34" charset="-128"/>
            </a:endParaRPr>
          </a:p>
        </p:txBody>
      </p:sp>
      <p:grpSp>
        <p:nvGrpSpPr>
          <p:cNvPr id="126" name="グループ化 125">
            <a:extLst>
              <a:ext uri="{FF2B5EF4-FFF2-40B4-BE49-F238E27FC236}">
                <a16:creationId xmlns:a16="http://schemas.microsoft.com/office/drawing/2014/main" id="{0172C2B4-3E50-41FD-9AE7-CEA164170B7D}"/>
              </a:ext>
            </a:extLst>
          </p:cNvPr>
          <p:cNvGrpSpPr/>
          <p:nvPr/>
        </p:nvGrpSpPr>
        <p:grpSpPr>
          <a:xfrm>
            <a:off x="8160196" y="635215"/>
            <a:ext cx="1440974" cy="221456"/>
            <a:chOff x="8227924" y="548833"/>
            <a:chExt cx="1440974" cy="221456"/>
          </a:xfrm>
        </p:grpSpPr>
        <p:sp>
          <p:nvSpPr>
            <p:cNvPr id="79" name="ホームベース 126">
              <a:extLst>
                <a:ext uri="{FF2B5EF4-FFF2-40B4-BE49-F238E27FC236}">
                  <a16:creationId xmlns:a16="http://schemas.microsoft.com/office/drawing/2014/main" id="{90C69726-5365-4445-9B52-A68A1D24EDE8}"/>
                </a:ext>
              </a:extLst>
            </p:cNvPr>
            <p:cNvSpPr/>
            <p:nvPr/>
          </p:nvSpPr>
          <p:spPr>
            <a:xfrm>
              <a:off x="9206379" y="691200"/>
              <a:ext cx="462519" cy="79089"/>
            </a:xfrm>
            <a:prstGeom prst="homePlate">
              <a:avLst>
                <a:gd name="adj" fmla="val 23973"/>
              </a:avLst>
            </a:prstGeom>
            <a:solidFill>
              <a:schemeClr val="tx2">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700" u="none" strike="noStrike" kern="0" cap="none" spc="0" normalizeH="0" baseline="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rPr>
                <a:t>DM</a:t>
              </a:r>
            </a:p>
          </p:txBody>
        </p:sp>
        <p:sp>
          <p:nvSpPr>
            <p:cNvPr id="81" name="ホームベース 126">
              <a:extLst>
                <a:ext uri="{FF2B5EF4-FFF2-40B4-BE49-F238E27FC236}">
                  <a16:creationId xmlns:a16="http://schemas.microsoft.com/office/drawing/2014/main" id="{32AC206C-E0D6-D44A-9982-D9C851916C70}"/>
                </a:ext>
              </a:extLst>
            </p:cNvPr>
            <p:cNvSpPr/>
            <p:nvPr/>
          </p:nvSpPr>
          <p:spPr>
            <a:xfrm>
              <a:off x="8227924" y="691200"/>
              <a:ext cx="462660" cy="79089"/>
            </a:xfrm>
            <a:prstGeom prst="homePlate">
              <a:avLst>
                <a:gd name="adj" fmla="val 23973"/>
              </a:avLst>
            </a:prstGeom>
            <a:solidFill>
              <a:schemeClr val="accent6">
                <a:lumMod val="20000"/>
                <a:lumOff val="80000"/>
              </a:schemeClr>
            </a:solidFill>
            <a:ln w="9525" cap="flat" cmpd="sng" algn="ctr">
              <a:solidFill>
                <a:schemeClr val="bg2">
                  <a:lumMod val="60000"/>
                  <a:lumOff val="4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en-US" altLang="ja-JP" sz="700" kern="0" dirty="0">
                  <a:solidFill>
                    <a:schemeClr val="tx2">
                      <a:lumMod val="75000"/>
                    </a:schemeClr>
                  </a:solidFill>
                  <a:latin typeface="Meiryo UI" panose="020B0604030504040204" pitchFamily="34" charset="-128"/>
                  <a:ea typeface="Meiryo UI" panose="020B0604030504040204" pitchFamily="34" charset="-128"/>
                </a:rPr>
                <a:t>IT</a:t>
              </a:r>
              <a:r>
                <a:rPr kumimoji="0" lang="ja-JP" altLang="en-US" sz="700" kern="0" dirty="0">
                  <a:solidFill>
                    <a:schemeClr val="tx2">
                      <a:lumMod val="75000"/>
                    </a:schemeClr>
                  </a:solidFill>
                  <a:latin typeface="Meiryo UI" panose="020B0604030504040204" pitchFamily="34" charset="-128"/>
                  <a:ea typeface="Meiryo UI" panose="020B0604030504040204" pitchFamily="34" charset="-128"/>
                </a:rPr>
                <a:t>アーキ</a:t>
              </a:r>
              <a:endParaRPr kumimoji="0" lang="en-US" altLang="ja-JP" sz="7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124" name="ホームベース 126">
              <a:extLst>
                <a:ext uri="{FF2B5EF4-FFF2-40B4-BE49-F238E27FC236}">
                  <a16:creationId xmlns:a16="http://schemas.microsoft.com/office/drawing/2014/main" id="{77108998-1BDB-408C-9B48-586DAA102B2D}"/>
                </a:ext>
              </a:extLst>
            </p:cNvPr>
            <p:cNvSpPr/>
            <p:nvPr/>
          </p:nvSpPr>
          <p:spPr>
            <a:xfrm>
              <a:off x="8717151" y="691200"/>
              <a:ext cx="462660" cy="79089"/>
            </a:xfrm>
            <a:prstGeom prst="homePlate">
              <a:avLst>
                <a:gd name="adj" fmla="val 23973"/>
              </a:avLst>
            </a:prstGeom>
            <a:solidFill>
              <a:schemeClr val="accent4">
                <a:lumMod val="20000"/>
                <a:lumOff val="80000"/>
              </a:schemeClr>
            </a:solidFill>
            <a:ln w="9525" cap="flat" cmpd="sng" algn="ctr">
              <a:solidFill>
                <a:schemeClr val="accent4">
                  <a:lumMod val="50000"/>
                </a:schemeClr>
              </a:solidFill>
              <a:prstDash val="solid"/>
              <a:miter lim="800000"/>
            </a:ln>
            <a:effectLst/>
          </p:spPr>
          <p:txBody>
            <a:bodyPr wrap="none" lIns="36000" tIns="36000" rIns="36000" bIns="0" rtlCol="0" anchor="ctr"/>
            <a:lstStyle/>
            <a:p>
              <a:pPr marL="0" marR="0" lvl="0" indent="0" defTabSz="914400" eaLnBrk="1" fontAlgn="auto" latinLnBrk="0" hangingPunct="1">
                <a:lnSpc>
                  <a:spcPts val="760"/>
                </a:lnSpc>
                <a:spcBef>
                  <a:spcPts val="0"/>
                </a:spcBef>
                <a:spcAft>
                  <a:spcPts val="0"/>
                </a:spcAft>
                <a:buClrTx/>
                <a:buSzTx/>
                <a:buFontTx/>
                <a:buNone/>
                <a:tabLst/>
                <a:defRPr/>
              </a:pPr>
              <a:r>
                <a:rPr kumimoji="0" lang="ja-JP" altLang="en-US" sz="700" kern="0" dirty="0">
                  <a:solidFill>
                    <a:schemeClr val="tx2">
                      <a:lumMod val="75000"/>
                    </a:schemeClr>
                  </a:solidFill>
                  <a:latin typeface="Meiryo UI" panose="020B0604030504040204" pitchFamily="34" charset="-128"/>
                  <a:ea typeface="Meiryo UI" panose="020B0604030504040204" pitchFamily="34" charset="-128"/>
                </a:rPr>
                <a:t>調達</a:t>
              </a:r>
              <a:endParaRPr kumimoji="0" lang="en-US" altLang="ja-JP" sz="700" u="none" strike="noStrike" kern="0" cap="none" spc="0" normalizeH="0" baseline="30000" noProof="0" dirty="0">
                <a:ln>
                  <a:noFill/>
                </a:ln>
                <a:solidFill>
                  <a:schemeClr val="tx2">
                    <a:lumMod val="75000"/>
                  </a:schemeClr>
                </a:solidFill>
                <a:effectLst/>
                <a:uLnTx/>
                <a:uFillTx/>
                <a:latin typeface="Meiryo UI" panose="020B0604030504040204" pitchFamily="34" charset="-128"/>
                <a:ea typeface="Meiryo UI" panose="020B0604030504040204" pitchFamily="34" charset="-128"/>
              </a:endParaRPr>
            </a:p>
          </p:txBody>
        </p:sp>
        <p:sp>
          <p:nvSpPr>
            <p:cNvPr id="125" name="テキスト ボックス 124">
              <a:extLst>
                <a:ext uri="{FF2B5EF4-FFF2-40B4-BE49-F238E27FC236}">
                  <a16:creationId xmlns:a16="http://schemas.microsoft.com/office/drawing/2014/main" id="{B9DFEC4C-2A3D-4C04-B2AF-DDA37F0CA511}"/>
                </a:ext>
              </a:extLst>
            </p:cNvPr>
            <p:cNvSpPr txBox="1"/>
            <p:nvPr/>
          </p:nvSpPr>
          <p:spPr>
            <a:xfrm>
              <a:off x="8717222" y="548833"/>
              <a:ext cx="462519" cy="169277"/>
            </a:xfrm>
            <a:prstGeom prst="rect">
              <a:avLst/>
            </a:prstGeom>
            <a:noFill/>
          </p:spPr>
          <p:txBody>
            <a:bodyPr wrap="square" rtlCol="0" anchor="ctr">
              <a:spAutoFit/>
            </a:bodyPr>
            <a:lstStyle/>
            <a:p>
              <a:pPr algn="ctr"/>
              <a:r>
                <a:rPr kumimoji="1" lang="ja-JP" altLang="en-US" sz="500" u="sng" dirty="0">
                  <a:latin typeface="Meiryo UI" panose="020B0604030504040204" pitchFamily="34" charset="-128"/>
                  <a:ea typeface="Meiryo UI" panose="020B0604030504040204" pitchFamily="34" charset="-128"/>
                </a:rPr>
                <a:t>凡例</a:t>
              </a:r>
              <a:endParaRPr kumimoji="1" lang="en-US" sz="500" u="sng" dirty="0">
                <a:latin typeface="Meiryo UI" panose="020B0604030504040204" pitchFamily="34" charset="-128"/>
                <a:ea typeface="Meiryo UI" panose="020B0604030504040204" pitchFamily="34" charset="-128"/>
              </a:endParaRPr>
            </a:p>
          </p:txBody>
        </p:sp>
      </p:grpSp>
    </p:spTree>
    <p:extLst>
      <p:ext uri="{BB962C8B-B14F-4D97-AF65-F5344CB8AC3E}">
        <p14:creationId xmlns:p14="http://schemas.microsoft.com/office/powerpoint/2010/main" val="2576072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EFDEC5A-BD50-4FF3-B1C4-0BA24EEB0A9B}"/>
              </a:ext>
            </a:extLst>
          </p:cNvPr>
          <p:cNvSpPr>
            <a:spLocks noGrp="1"/>
          </p:cNvSpPr>
          <p:nvPr>
            <p:ph type="title"/>
          </p:nvPr>
        </p:nvSpPr>
        <p:spPr/>
        <p:txBody>
          <a:bodyPr/>
          <a:lstStyle/>
          <a:p>
            <a:r>
              <a:rPr lang="en-US" dirty="0"/>
              <a:t>Appendix</a:t>
            </a:r>
            <a:endParaRPr kumimoji="1" lang="en-US" dirty="0"/>
          </a:p>
        </p:txBody>
      </p:sp>
      <p:sp>
        <p:nvSpPr>
          <p:cNvPr id="8" name="テキスト プレースホルダー 7">
            <a:extLst>
              <a:ext uri="{FF2B5EF4-FFF2-40B4-BE49-F238E27FC236}">
                <a16:creationId xmlns:a16="http://schemas.microsoft.com/office/drawing/2014/main" id="{ED135232-E460-44DD-9B70-95530EA96CB0}"/>
              </a:ext>
            </a:extLst>
          </p:cNvPr>
          <p:cNvSpPr>
            <a:spLocks noGrp="1"/>
          </p:cNvSpPr>
          <p:nvPr>
            <p:ph type="body" sz="quarter" idx="14"/>
          </p:nvPr>
        </p:nvSpPr>
        <p:spPr/>
        <p:txBody>
          <a:bodyPr/>
          <a:lstStyle/>
          <a:p>
            <a:pPr marL="801688" lvl="1" indent="-423863">
              <a:lnSpc>
                <a:spcPct val="200000"/>
              </a:lnSpc>
              <a:buFont typeface="+mj-lt"/>
              <a:buAutoNum type="arabicParenR"/>
            </a:pPr>
            <a:r>
              <a:rPr lang="en-US" altLang="ja-JP" sz="1600" dirty="0">
                <a:solidFill>
                  <a:srgbClr val="4B4B4B"/>
                </a:solidFill>
                <a:latin typeface="Meiryo UI" panose="020B0604030504040204" pitchFamily="34" charset="-128"/>
                <a:ea typeface="Meiryo UI" panose="020B0604030504040204" pitchFamily="34" charset="-128"/>
              </a:rPr>
              <a:t>××××</a:t>
            </a:r>
          </a:p>
        </p:txBody>
      </p:sp>
    </p:spTree>
    <p:extLst>
      <p:ext uri="{BB962C8B-B14F-4D97-AF65-F5344CB8AC3E}">
        <p14:creationId xmlns:p14="http://schemas.microsoft.com/office/powerpoint/2010/main" val="3991991870"/>
      </p:ext>
    </p:extLst>
  </p:cSld>
  <p:clrMapOvr>
    <a:masterClrMapping/>
  </p:clrMapOvr>
</p:sld>
</file>

<file path=ppt/theme/theme1.xml><?xml version="1.0" encoding="utf-8"?>
<a:theme xmlns:a="http://schemas.openxmlformats.org/drawingml/2006/main" name="MHI PPT 4:3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noFill/>
        <a:ln w="9525" cap="flat" cmpd="sng" algn="ctr">
          <a:solidFill>
            <a:srgbClr val="0076A8"/>
          </a:solidFill>
          <a:prstDash val="solid"/>
          <a:tailEnd type="none"/>
        </a:ln>
        <a:effectLst/>
      </a:spPr>
      <a:bodyPr/>
      <a:lstStyle/>
    </a:ln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9674434C8CD87942B621FE3F405220AB" ma:contentTypeVersion="13" ma:contentTypeDescription="新しいドキュメントを作成します。" ma:contentTypeScope="" ma:versionID="db51b00f45bfc27a82e6effb38bc8faa">
  <xsd:schema xmlns:xsd="http://www.w3.org/2001/XMLSchema" xmlns:xs="http://www.w3.org/2001/XMLSchema" xmlns:p="http://schemas.microsoft.com/office/2006/metadata/properties" xmlns:ns3="4be3366d-21a3-4603-8428-6e96dbf00bff" xmlns:ns4="f9940f77-d365-459b-bf39-a7ce20e2f4c1" targetNamespace="http://schemas.microsoft.com/office/2006/metadata/properties" ma:root="true" ma:fieldsID="7364de4c7e3132c99ff78f702fd8a8be" ns3:_="" ns4:_="">
    <xsd:import namespace="4be3366d-21a3-4603-8428-6e96dbf00bff"/>
    <xsd:import namespace="f9940f77-d365-459b-bf39-a7ce20e2f4c1"/>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3366d-21a3-4603-8428-6e96dbf00bff"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共有のヒントのハッシュ" ma:internalName="SharingHintHash" ma:readOnly="true">
      <xsd:simpleType>
        <xsd:restriction base="dms:Text"/>
      </xsd:simpleType>
    </xsd:element>
    <xsd:element name="SharedWithDetails" ma:index="10" nillable="true" ma:displayName="共有相手の詳細情報"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9940f77-d365-459b-bf39-a7ce20e2f4c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ABEB45-958D-42FB-AA0E-18437091BB01}">
  <ds:schemaRefs>
    <ds:schemaRef ds:uri="http://schemas.microsoft.com/sharepoint/v3/contenttype/forms"/>
  </ds:schemaRefs>
</ds:datastoreItem>
</file>

<file path=customXml/itemProps2.xml><?xml version="1.0" encoding="utf-8"?>
<ds:datastoreItem xmlns:ds="http://schemas.openxmlformats.org/officeDocument/2006/customXml" ds:itemID="{854BE119-C82C-468D-ADFC-E21203B462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3366d-21a3-4603-8428-6e96dbf00bff"/>
    <ds:schemaRef ds:uri="f9940f77-d365-459b-bf39-a7ce20e2f4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8FDBD6F-EF04-4F1D-88A1-0CACA8A276CB}">
  <ds:schemaRefs>
    <ds:schemaRef ds:uri="http://schemas.microsoft.com/office/2006/documentManagement/types"/>
    <ds:schemaRef ds:uri="http://www.w3.org/XML/1998/namespace"/>
    <ds:schemaRef ds:uri="http://purl.org/dc/elements/1.1/"/>
    <ds:schemaRef ds:uri="f9940f77-d365-459b-bf39-a7ce20e2f4c1"/>
    <ds:schemaRef ds:uri="http://schemas.openxmlformats.org/package/2006/metadata/core-properties"/>
    <ds:schemaRef ds:uri="http://purl.org/dc/dcmitype/"/>
    <ds:schemaRef ds:uri="http://purl.org/dc/terms/"/>
    <ds:schemaRef ds:uri="http://schemas.microsoft.com/office/infopath/2007/PartnerControls"/>
    <ds:schemaRef ds:uri="4be3366d-21a3-4603-8428-6e96dbf00bff"/>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94327</TotalTime>
  <Words>8727</Words>
  <Application>Microsoft Macintosh PowerPoint</Application>
  <PresentationFormat>A4 210 x 297 mm</PresentationFormat>
  <Paragraphs>1508</Paragraphs>
  <Slides>28</Slides>
  <Notes>0</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28</vt:i4>
      </vt:variant>
    </vt:vector>
  </HeadingPairs>
  <TitlesOfParts>
    <vt:vector size="35" baseType="lpstr">
      <vt:lpstr>Meiryo UI</vt:lpstr>
      <vt:lpstr>Arial</vt:lpstr>
      <vt:lpstr>Calibri</vt:lpstr>
      <vt:lpstr>Wingdings</vt:lpstr>
      <vt:lpstr>Wingdings 2</vt:lpstr>
      <vt:lpstr>MHI PPT 4:3_単独会社用</vt:lpstr>
      <vt:lpstr>シート</vt:lpstr>
      <vt:lpstr>データマネジメント実施スコープおよび実装ロードマップ （業務WG向けご説明資料）</vt:lpstr>
      <vt:lpstr>目次</vt:lpstr>
      <vt:lpstr>データドリブン経営におけるデータマネジメント強化の必要性</vt:lpstr>
      <vt:lpstr>貴社のビジネスにとってのデータマネジメント強化の意義</vt:lpstr>
      <vt:lpstr>貴社のITシステム刷新に関する弊社理解</vt:lpstr>
      <vt:lpstr>貴社のITシステムにもたらされるデータマネジメント強化のバリュー</vt:lpstr>
      <vt:lpstr>基幹刷新PJにおけるデータマネジメント強化の位置づけ</vt:lpstr>
      <vt:lpstr>データマネジメント強化のアプローチ</vt:lpstr>
      <vt:lpstr>データマネジメント実施スコープおよび実装ロードマップ策定の流れ</vt:lpstr>
      <vt:lpstr>データマネジメント目的仮説（更新版）</vt:lpstr>
      <vt:lpstr>Appendix データマネジメント実施スコープ（サンプル）</vt:lpstr>
      <vt:lpstr>データマネジメント実施スコープ データマネジメント目的仮説とその実現に向けた重点強化領域</vt:lpstr>
      <vt:lpstr>データマネジメント実施スコープ 重点強化領域に対するデータマネジメント実施項目</vt:lpstr>
      <vt:lpstr>データマネジメント実施スコープ データマネジメント各実施項目に関する現状仮説</vt:lpstr>
      <vt:lpstr>Appendix DAMAデータマネジメント機能フレームワーク</vt:lpstr>
      <vt:lpstr>データマネジメント実施スコープ データマネジメント成熟度向上案（初期導入フェーズ）</vt:lpstr>
      <vt:lpstr>データマネジメント実施スコープ データマネジメント成熟度向上案（BU別最適化フェーズ）</vt:lpstr>
      <vt:lpstr>データマネジメント実施スコープ データマネジメント成熟度向上案（全社最適化フェーズ）</vt:lpstr>
      <vt:lpstr>データマネジメント強化の実施ロードマップ（案）</vt:lpstr>
      <vt:lpstr>データマネジメントの実施計画（6/4更新版）</vt:lpstr>
      <vt:lpstr>データマネジメント強化アプローチの見直</vt:lpstr>
      <vt:lpstr>リファレンス型アプローチでの活動計画</vt:lpstr>
      <vt:lpstr>実際の作業イメージ</vt:lpstr>
      <vt:lpstr>2Q活動計画（詳細）</vt:lpstr>
      <vt:lpstr>ご依頼事項</vt:lpstr>
      <vt:lpstr>重点シナリオの選定の進め方（ディスカッション資料）</vt:lpstr>
      <vt:lpstr>2Q活動のWBS（簡易版）</vt:lpstr>
      <vt:lpstr>Appendix</vt:lpstr>
    </vt:vector>
  </TitlesOfParts>
  <Company>QUNIE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QUNIE CORPORATION</dc:creator>
  <cp:lastModifiedBy>Nawa,Kozaburo</cp:lastModifiedBy>
  <cp:revision>3438</cp:revision>
  <cp:lastPrinted>2019-11-07T15:57:27Z</cp:lastPrinted>
  <dcterms:created xsi:type="dcterms:W3CDTF">2009-06-26T09:45:45Z</dcterms:created>
  <dcterms:modified xsi:type="dcterms:W3CDTF">2021-07-13T08:20:04Z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0x0101009674434C8CD87942B621FE3F405220AB</vt:lpwstr>
  </property>
</Properties>
</file>