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1" r:id="rId4"/>
    <p:sldMasterId id="2147483930" r:id="rId5"/>
  </p:sldMasterIdLst>
  <p:notesMasterIdLst>
    <p:notesMasterId r:id="rId39"/>
  </p:notesMasterIdLst>
  <p:handoutMasterIdLst>
    <p:handoutMasterId r:id="rId40"/>
  </p:handoutMasterIdLst>
  <p:sldIdLst>
    <p:sldId id="2147473885" r:id="rId6"/>
    <p:sldId id="2147474358" r:id="rId7"/>
    <p:sldId id="2147474365" r:id="rId8"/>
    <p:sldId id="2147474453" r:id="rId9"/>
    <p:sldId id="2147474468" r:id="rId10"/>
    <p:sldId id="2147474479" r:id="rId11"/>
    <p:sldId id="2147473949" r:id="rId12"/>
    <p:sldId id="2147473960" r:id="rId13"/>
    <p:sldId id="2147472341" r:id="rId14"/>
    <p:sldId id="2147474180" r:id="rId15"/>
    <p:sldId id="2147474315" r:id="rId16"/>
    <p:sldId id="2147474316" r:id="rId17"/>
    <p:sldId id="2147474234" r:id="rId18"/>
    <p:sldId id="2147474399" r:id="rId19"/>
    <p:sldId id="2147474465" r:id="rId20"/>
    <p:sldId id="2147474511" r:id="rId21"/>
    <p:sldId id="2147474530" r:id="rId22"/>
    <p:sldId id="2147474531" r:id="rId23"/>
    <p:sldId id="2147474536" r:id="rId24"/>
    <p:sldId id="2147474519" r:id="rId25"/>
    <p:sldId id="2147474532" r:id="rId26"/>
    <p:sldId id="2147474499" r:id="rId27"/>
    <p:sldId id="2147474525" r:id="rId28"/>
    <p:sldId id="2147474526" r:id="rId29"/>
    <p:sldId id="2147474535" r:id="rId30"/>
    <p:sldId id="2147474400" r:id="rId31"/>
    <p:sldId id="2147474455" r:id="rId32"/>
    <p:sldId id="2147474456" r:id="rId33"/>
    <p:sldId id="2147474457" r:id="rId34"/>
    <p:sldId id="2147474458" r:id="rId35"/>
    <p:sldId id="2147474459" r:id="rId36"/>
    <p:sldId id="2147474185" r:id="rId37"/>
    <p:sldId id="293" r:id="rId38"/>
  </p:sldIdLst>
  <p:sldSz cx="9144000" cy="6858000" type="screen4x3"/>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ドラフト" id="{3277C813-6659-4435-8437-D385372AFE3E}">
          <p14:sldIdLst>
            <p14:sldId id="2147473885"/>
            <p14:sldId id="2147474358"/>
            <p14:sldId id="2147474365"/>
            <p14:sldId id="2147474453"/>
            <p14:sldId id="2147474468"/>
            <p14:sldId id="2147474479"/>
            <p14:sldId id="2147473949"/>
            <p14:sldId id="2147473960"/>
            <p14:sldId id="2147472341"/>
            <p14:sldId id="2147474180"/>
            <p14:sldId id="2147474315"/>
            <p14:sldId id="2147474316"/>
            <p14:sldId id="2147474234"/>
            <p14:sldId id="2147474399"/>
            <p14:sldId id="2147474465"/>
            <p14:sldId id="2147474511"/>
            <p14:sldId id="2147474530"/>
            <p14:sldId id="2147474531"/>
            <p14:sldId id="2147474536"/>
            <p14:sldId id="2147474519"/>
            <p14:sldId id="2147474532"/>
            <p14:sldId id="2147474499"/>
            <p14:sldId id="2147474525"/>
            <p14:sldId id="2147474526"/>
            <p14:sldId id="2147474535"/>
            <p14:sldId id="2147474400"/>
            <p14:sldId id="2147474455"/>
            <p14:sldId id="2147474456"/>
            <p14:sldId id="2147474457"/>
            <p14:sldId id="2147474458"/>
            <p14:sldId id="2147474459"/>
            <p14:sldId id="2147474185"/>
            <p14:sldId id="293"/>
          </p14:sldIdLst>
        </p14:section>
      </p14:sectionLst>
    </p:ext>
    <p:ext uri="{EFAFB233-063F-42B5-8137-9DF3F51BA10A}">
      <p15:sldGuideLst xmlns:p15="http://schemas.microsoft.com/office/powerpoint/2012/main">
        <p15:guide id="1" orient="horz" pos="2183"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E1CE"/>
    <a:srgbClr val="FFE699"/>
    <a:srgbClr val="CDD9DD"/>
    <a:srgbClr val="FFFFFF"/>
    <a:srgbClr val="7F7F7F"/>
    <a:srgbClr val="F1A46B"/>
    <a:srgbClr val="B4ECFF"/>
    <a:srgbClr val="567783"/>
    <a:srgbClr val="E6ECEE"/>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761" autoAdjust="0"/>
  </p:normalViewPr>
  <p:slideViewPr>
    <p:cSldViewPr showGuides="1">
      <p:cViewPr varScale="1">
        <p:scale>
          <a:sx n="108" d="100"/>
          <a:sy n="108" d="100"/>
        </p:scale>
        <p:origin x="1650" y="102"/>
      </p:cViewPr>
      <p:guideLst>
        <p:guide orient="horz" pos="2183"/>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4090"/>
    </p:cViewPr>
  </p:sorterViewPr>
  <p:notesViewPr>
    <p:cSldViewPr>
      <p:cViewPr varScale="1">
        <p:scale>
          <a:sx n="65" d="100"/>
          <a:sy n="65" d="100"/>
        </p:scale>
        <p:origin x="1392" y="66"/>
      </p:cViewPr>
      <p:guideLst>
        <p:guide orient="horz" pos="3131"/>
        <p:guide pos="214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0" Type="http://schemas.openxmlformats.org/officeDocument/2006/relationships/slide" Target="slides/slide15.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a:p>
        </p:txBody>
      </p:sp>
      <p:sp>
        <p:nvSpPr>
          <p:cNvPr id="4" name="フッター プレースホルダー 3"/>
          <p:cNvSpPr>
            <a:spLocks noGrp="1"/>
          </p:cNvSpPr>
          <p:nvPr>
            <p:ph type="ftr" sz="quarter" idx="2"/>
          </p:nvPr>
        </p:nvSpPr>
        <p:spPr>
          <a:xfrm>
            <a:off x="0" y="9440646"/>
            <a:ext cx="2949787" cy="49696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5838" y="9440646"/>
            <a:ext cx="2949787" cy="496967"/>
          </a:xfrm>
          <a:prstGeom prst="rect">
            <a:avLst/>
          </a:prstGeom>
        </p:spPr>
        <p:txBody>
          <a:bodyPr vert="horz" lIns="91440" tIns="45720" rIns="91440" bIns="45720" rtlCol="0" anchor="b"/>
          <a:lstStyle>
            <a:lvl1pPr algn="r">
              <a:defRPr sz="1200"/>
            </a:lvl1pPr>
          </a:lstStyle>
          <a:p>
            <a:fld id="{F6EBD337-12C5-45AC-92D7-BF79CCFC2773}" type="slidenum">
              <a:rPr kumimoji="1" lang="ja-JP" altLang="en-US" smtClean="0"/>
              <a:t>‹#›</a:t>
            </a:fld>
            <a:endParaRPr kumimoji="1" lang="ja-JP" altLang="en-US"/>
          </a:p>
        </p:txBody>
      </p:sp>
      <p:sp>
        <p:nvSpPr>
          <p:cNvPr id="6" name="日付プレースホルダー 5">
            <a:extLst>
              <a:ext uri="{FF2B5EF4-FFF2-40B4-BE49-F238E27FC236}">
                <a16:creationId xmlns:a16="http://schemas.microsoft.com/office/drawing/2014/main" id="{6BC0A49E-C5C5-43C7-96AE-7967885D9775}"/>
              </a:ext>
            </a:extLst>
          </p:cNvPr>
          <p:cNvSpPr>
            <a:spLocks noGrp="1"/>
          </p:cNvSpPr>
          <p:nvPr>
            <p:ph type="dt" sz="quarter" idx="1"/>
          </p:nvPr>
        </p:nvSpPr>
        <p:spPr>
          <a:xfrm>
            <a:off x="3855838" y="0"/>
            <a:ext cx="2949787" cy="498693"/>
          </a:xfrm>
          <a:prstGeom prst="rect">
            <a:avLst/>
          </a:prstGeom>
        </p:spPr>
        <p:txBody>
          <a:bodyPr vert="horz" lIns="91440" tIns="45720" rIns="91440" bIns="45720" rtlCol="0"/>
          <a:lstStyle>
            <a:lvl1pPr algn="r">
              <a:defRPr sz="1200"/>
            </a:lvl1pPr>
          </a:lstStyle>
          <a:p>
            <a:fld id="{F45E392D-78FB-4EBA-9BEE-964E5CD0905C}" type="datetimeFigureOut">
              <a:rPr kumimoji="1" lang="ja-JP" altLang="en-US" smtClean="0"/>
              <a:t>2024/6/27</a:t>
            </a:fld>
            <a:endParaRPr kumimoji="1" lang="ja-JP" altLang="en-US"/>
          </a:p>
        </p:txBody>
      </p:sp>
    </p:spTree>
    <p:extLst>
      <p:ext uri="{BB962C8B-B14F-4D97-AF65-F5344CB8AC3E}">
        <p14:creationId xmlns:p14="http://schemas.microsoft.com/office/powerpoint/2010/main" val="1452104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5BBA264C-6953-4F22-AEE6-38CCC8CB2F77}" type="datetimeFigureOut">
              <a:rPr kumimoji="1" lang="ja-JP" altLang="en-US" smtClean="0"/>
              <a:t>2024/6/27</a:t>
            </a:fld>
            <a:endParaRPr kumimoji="1" lang="ja-JP" altLang="en-US"/>
          </a:p>
        </p:txBody>
      </p:sp>
      <p:sp>
        <p:nvSpPr>
          <p:cNvPr id="4" name="スライド イメージ プレースホルダー 3"/>
          <p:cNvSpPr>
            <a:spLocks noGrp="1" noRot="1" noChangeAspect="1"/>
          </p:cNvSpPr>
          <p:nvPr>
            <p:ph type="sldImg" idx="2"/>
          </p:nvPr>
        </p:nvSpPr>
        <p:spPr>
          <a:xfrm>
            <a:off x="1168400" y="1243013"/>
            <a:ext cx="447040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EF780C04-D137-4757-B814-7DAA94ED8486}" type="slidenum">
              <a:rPr kumimoji="1" lang="ja-JP" altLang="en-US" smtClean="0"/>
              <a:t>‹#›</a:t>
            </a:fld>
            <a:endParaRPr kumimoji="1" lang="ja-JP" altLang="en-US"/>
          </a:p>
        </p:txBody>
      </p:sp>
    </p:spTree>
    <p:extLst>
      <p:ext uri="{BB962C8B-B14F-4D97-AF65-F5344CB8AC3E}">
        <p14:creationId xmlns:p14="http://schemas.microsoft.com/office/powerpoint/2010/main" val="122156619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目次の説明</a:t>
            </a:r>
          </a:p>
        </p:txBody>
      </p:sp>
      <p:sp>
        <p:nvSpPr>
          <p:cNvPr id="4" name="スライド番号プレースホルダー 3"/>
          <p:cNvSpPr>
            <a:spLocks noGrp="1"/>
          </p:cNvSpPr>
          <p:nvPr>
            <p:ph type="sldNum" sz="quarter" idx="5"/>
          </p:nvPr>
        </p:nvSpPr>
        <p:spPr/>
        <p:txBody>
          <a:bodyPr/>
          <a:lstStyle/>
          <a:p>
            <a:fld id="{EF780C04-D137-4757-B814-7DAA94ED8486}" type="slidenum">
              <a:rPr kumimoji="1" lang="ja-JP" altLang="en-US" smtClean="0"/>
              <a:t>2</a:t>
            </a:fld>
            <a:endParaRPr kumimoji="1" lang="ja-JP" altLang="en-US"/>
          </a:p>
        </p:txBody>
      </p:sp>
    </p:spTree>
    <p:extLst>
      <p:ext uri="{BB962C8B-B14F-4D97-AF65-F5344CB8AC3E}">
        <p14:creationId xmlns:p14="http://schemas.microsoft.com/office/powerpoint/2010/main" val="2908738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altLang="ja-JP"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780C04-D137-4757-B814-7DAA94ED8486}"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283145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F780C04-D137-4757-B814-7DAA94ED8486}" type="slidenum">
              <a:rPr kumimoji="1" lang="ja-JP" altLang="en-US" smtClean="0"/>
              <a:t>4</a:t>
            </a:fld>
            <a:endParaRPr kumimoji="1" lang="ja-JP" altLang="en-US"/>
          </a:p>
        </p:txBody>
      </p:sp>
    </p:spTree>
    <p:extLst>
      <p:ext uri="{BB962C8B-B14F-4D97-AF65-F5344CB8AC3E}">
        <p14:creationId xmlns:p14="http://schemas.microsoft.com/office/powerpoint/2010/main" val="3285803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EF780C04-D137-4757-B814-7DAA94ED8486}" type="slidenum">
              <a:rPr kumimoji="1" lang="ja-JP" altLang="en-US" smtClean="0"/>
              <a:t>5</a:t>
            </a:fld>
            <a:endParaRPr kumimoji="1" lang="ja-JP" altLang="en-US"/>
          </a:p>
        </p:txBody>
      </p:sp>
    </p:spTree>
    <p:extLst>
      <p:ext uri="{BB962C8B-B14F-4D97-AF65-F5344CB8AC3E}">
        <p14:creationId xmlns:p14="http://schemas.microsoft.com/office/powerpoint/2010/main" val="367950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780C04-D137-4757-B814-7DAA94ED8486}"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2077769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780C04-D137-4757-B814-7DAA94ED8486}"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3085244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780C04-D137-4757-B814-7DAA94ED8486}"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2151714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780C04-D137-4757-B814-7DAA94ED8486}"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2248121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780C04-D137-4757-B814-7DAA94ED8486}"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435372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780C04-D137-4757-B814-7DAA94ED8486}"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3583142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780C04-D137-4757-B814-7DAA94ED8486}"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2893671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780C04-D137-4757-B814-7DAA94ED8486}"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2363566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F780C04-D137-4757-B814-7DAA94ED8486}" type="slidenum">
              <a:rPr kumimoji="1" lang="ja-JP" altLang="en-US" smtClean="0"/>
              <a:t>26</a:t>
            </a:fld>
            <a:endParaRPr kumimoji="1" lang="ja-JP" altLang="en-US"/>
          </a:p>
        </p:txBody>
      </p:sp>
    </p:spTree>
    <p:extLst>
      <p:ext uri="{BB962C8B-B14F-4D97-AF65-F5344CB8AC3E}">
        <p14:creationId xmlns:p14="http://schemas.microsoft.com/office/powerpoint/2010/main" val="1389544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F780C04-D137-4757-B814-7DAA94ED8486}" type="slidenum">
              <a:rPr kumimoji="1" lang="ja-JP" altLang="en-US" smtClean="0"/>
              <a:t>32</a:t>
            </a:fld>
            <a:endParaRPr kumimoji="1" lang="ja-JP" altLang="en-US"/>
          </a:p>
        </p:txBody>
      </p:sp>
    </p:spTree>
    <p:extLst>
      <p:ext uri="{BB962C8B-B14F-4D97-AF65-F5344CB8AC3E}">
        <p14:creationId xmlns:p14="http://schemas.microsoft.com/office/powerpoint/2010/main" val="471256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1">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308725" y="5566335"/>
            <a:ext cx="2387099" cy="351288"/>
          </a:xfrm>
          <a:prstGeom prst="rect">
            <a:avLst/>
          </a:prstGeom>
        </p:spPr>
        <p:txBody>
          <a:bodyPr anchor="ctr"/>
          <a:lstStyle>
            <a:lvl1pPr marL="0" indent="0">
              <a:lnSpc>
                <a:spcPct val="100000"/>
              </a:lnSpc>
              <a:spcBef>
                <a:spcPts val="0"/>
              </a:spcBef>
              <a:buNone/>
              <a:defRPr sz="1300">
                <a:latin typeface="+mn-ea"/>
                <a:ea typeface="+mn-ea"/>
                <a:cs typeface="メイリオ" pitchFamily="50" charset="-128"/>
              </a:defRPr>
            </a:lvl1pPr>
          </a:lstStyle>
          <a:p>
            <a:pPr lvl="0"/>
            <a:r>
              <a:rPr kumimoji="1" lang="en-US" altLang="ja-JP" dirty="0"/>
              <a:t>0000/00/00</a:t>
            </a:r>
            <a:endParaRPr kumimoji="1" lang="ja-JP" altLang="en-US" dirty="0"/>
          </a:p>
        </p:txBody>
      </p:sp>
      <p:sp>
        <p:nvSpPr>
          <p:cNvPr id="16" name="タイトル 2"/>
          <p:cNvSpPr>
            <a:spLocks noGrp="1"/>
          </p:cNvSpPr>
          <p:nvPr>
            <p:ph type="title" hasCustomPrompt="1"/>
          </p:nvPr>
        </p:nvSpPr>
        <p:spPr>
          <a:xfrm>
            <a:off x="308725" y="2699385"/>
            <a:ext cx="8531974" cy="585575"/>
          </a:xfrm>
          <a:prstGeom prst="rect">
            <a:avLst/>
          </a:prstGeom>
        </p:spPr>
        <p:txBody>
          <a:bodyPr/>
          <a:lstStyle>
            <a:lvl1pPr>
              <a:lnSpc>
                <a:spcPct val="100000"/>
              </a:lnSpc>
              <a:spcBef>
                <a:spcPts val="0"/>
              </a:spcBef>
              <a:defRPr sz="3200" b="1" baseline="0">
                <a:solidFill>
                  <a:schemeClr val="tx1"/>
                </a:solidFill>
                <a:latin typeface="+mj-ea"/>
                <a:ea typeface="+mj-ea"/>
                <a:cs typeface="メイリオ" pitchFamily="50" charset="-128"/>
              </a:defRPr>
            </a:lvl1pPr>
          </a:lstStyle>
          <a:p>
            <a:r>
              <a:rPr kumimoji="1" lang="ja-JP" altLang="en-US" dirty="0"/>
              <a:t>表紙タイトル </a:t>
            </a:r>
            <a:r>
              <a:rPr kumimoji="1" lang="en-US" altLang="ja-JP" dirty="0"/>
              <a:t>32pt</a:t>
            </a:r>
            <a:endParaRPr kumimoji="1" lang="ja-JP" altLang="en-US" dirty="0"/>
          </a:p>
        </p:txBody>
      </p:sp>
      <p:sp>
        <p:nvSpPr>
          <p:cNvPr id="18" name="テキスト ボックス 17"/>
          <p:cNvSpPr txBox="1"/>
          <p:nvPr userDrawn="1"/>
        </p:nvSpPr>
        <p:spPr>
          <a:xfrm>
            <a:off x="303300" y="5920205"/>
            <a:ext cx="4318925" cy="292388"/>
          </a:xfrm>
          <a:prstGeom prst="rect">
            <a:avLst/>
          </a:prstGeom>
          <a:noFill/>
        </p:spPr>
        <p:txBody>
          <a:bodyPr wrap="square" rtlCol="0" anchor="t">
            <a:spAutoFit/>
          </a:bodyPr>
          <a:lstStyle/>
          <a:p>
            <a:pPr>
              <a:spcBef>
                <a:spcPts val="0"/>
              </a:spcBef>
              <a:spcAft>
                <a:spcPts val="600"/>
              </a:spcAft>
            </a:pPr>
            <a:r>
              <a:rPr kumimoji="1" lang="ja-JP" altLang="en-US" sz="1300" b="1" dirty="0">
                <a:solidFill>
                  <a:schemeClr val="tx1"/>
                </a:solidFill>
                <a:latin typeface="+mn-ea"/>
                <a:ea typeface="+mn-ea"/>
                <a:cs typeface="メイリオ" pitchFamily="50" charset="-128"/>
              </a:rPr>
              <a:t>三菱重工業株式会社</a:t>
            </a:r>
          </a:p>
        </p:txBody>
      </p:sp>
      <p:pic>
        <p:nvPicPr>
          <p:cNvPr id="11" name="図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437" y="201827"/>
            <a:ext cx="8744712" cy="944880"/>
          </a:xfrm>
          <a:prstGeom prst="rect">
            <a:avLst/>
          </a:prstGeom>
        </p:spPr>
      </p:pic>
      <p:sp>
        <p:nvSpPr>
          <p:cNvPr id="10" name="テキスト プレースホルダー 21">
            <a:extLst>
              <a:ext uri="{FF2B5EF4-FFF2-40B4-BE49-F238E27FC236}">
                <a16:creationId xmlns:a16="http://schemas.microsoft.com/office/drawing/2014/main" id="{A1B3CB4D-6995-4FBD-99A9-97EF83630755}"/>
              </a:ext>
            </a:extLst>
          </p:cNvPr>
          <p:cNvSpPr>
            <a:spLocks noGrp="1"/>
          </p:cNvSpPr>
          <p:nvPr>
            <p:ph type="body" sz="quarter" idx="14" hasCustomPrompt="1"/>
          </p:nvPr>
        </p:nvSpPr>
        <p:spPr>
          <a:xfrm>
            <a:off x="308725" y="3361113"/>
            <a:ext cx="8531974" cy="1676400"/>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tx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dirty="0"/>
              <a:t>サブタイトル </a:t>
            </a:r>
            <a:r>
              <a:rPr kumimoji="1" lang="en-US" altLang="ja-JP" dirty="0"/>
              <a:t>16pt</a:t>
            </a:r>
            <a:r>
              <a:rPr kumimoji="1" lang="ja-JP" altLang="en-US" dirty="0"/>
              <a:t>　　　　　　　　　　　　　　　　　　　　　　　　　　　　　　　　●複数の会社名やロゴを記載するレイアウトはスライドマスターにあり                          ●写真付きの表紙レイアウト（</a:t>
            </a:r>
            <a:r>
              <a:rPr kumimoji="1" lang="en-US" altLang="ja-JP" dirty="0"/>
              <a:t>2</a:t>
            </a:r>
            <a:r>
              <a:rPr kumimoji="1" lang="ja-JP" altLang="en-US" dirty="0"/>
              <a:t>種）はスライドマスターにあり                                   </a:t>
            </a:r>
            <a:r>
              <a:rPr kumimoji="1" lang="en-US" altLang="ja-JP" dirty="0"/>
              <a:t>※</a:t>
            </a:r>
            <a:r>
              <a:rPr kumimoji="1" lang="ja-JP" altLang="en-US" dirty="0"/>
              <a:t>スライドマスターの変更は別紙「スライドマスター操作ガイド」をご参照ください</a:t>
            </a:r>
          </a:p>
        </p:txBody>
      </p:sp>
      <p:sp>
        <p:nvSpPr>
          <p:cNvPr id="9" name="日付プレースホルダー 32"/>
          <p:cNvSpPr txBox="1">
            <a:spLocks/>
          </p:cNvSpPr>
          <p:nvPr userDrawn="1"/>
        </p:nvSpPr>
        <p:spPr>
          <a:xfrm>
            <a:off x="196437" y="6370974"/>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tx1"/>
                </a:solidFill>
                <a:latin typeface="+mn-lt"/>
              </a:rPr>
              <a:t>© Mitsubishi Heavy Industries, Ltd.  All Rights Reserved.</a:t>
            </a:r>
            <a:endParaRPr lang="ja-JP" altLang="en-US" sz="700" dirty="0">
              <a:solidFill>
                <a:schemeClr val="tx1"/>
              </a:solidFill>
              <a:latin typeface="+mn-lt"/>
            </a:endParaRPr>
          </a:p>
        </p:txBody>
      </p:sp>
      <p:pic>
        <p:nvPicPr>
          <p:cNvPr id="12" name="図 11">
            <a:extLst>
              <a:ext uri="{FF2B5EF4-FFF2-40B4-BE49-F238E27FC236}">
                <a16:creationId xmlns:a16="http://schemas.microsoft.com/office/drawing/2014/main" id="{9CA45DE1-C1B1-4C0E-B123-54EBEE5258C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5080" y="6421555"/>
            <a:ext cx="1188000" cy="230108"/>
          </a:xfrm>
          <a:prstGeom prst="rect">
            <a:avLst/>
          </a:prstGeom>
        </p:spPr>
      </p:pic>
    </p:spTree>
    <p:extLst>
      <p:ext uri="{BB962C8B-B14F-4D97-AF65-F5344CB8AC3E}">
        <p14:creationId xmlns:p14="http://schemas.microsoft.com/office/powerpoint/2010/main" val="960231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2">
    <p:spTree>
      <p:nvGrpSpPr>
        <p:cNvPr id="1" name=""/>
        <p:cNvGrpSpPr/>
        <p:nvPr/>
      </p:nvGrpSpPr>
      <p:grpSpPr>
        <a:xfrm>
          <a:off x="0" y="0"/>
          <a:ext cx="0" cy="0"/>
          <a:chOff x="0" y="0"/>
          <a:chExt cx="0" cy="0"/>
        </a:xfrm>
      </p:grpSpPr>
      <p:sp>
        <p:nvSpPr>
          <p:cNvPr id="27" name="タイトル 1"/>
          <p:cNvSpPr>
            <a:spLocks noGrp="1"/>
          </p:cNvSpPr>
          <p:nvPr>
            <p:ph type="title" hasCustomPrompt="1"/>
          </p:nvPr>
        </p:nvSpPr>
        <p:spPr>
          <a:xfrm>
            <a:off x="308725" y="1887960"/>
            <a:ext cx="4312737" cy="1139483"/>
          </a:xfrm>
          <a:prstGeom prst="rect">
            <a:avLst/>
          </a:prstGeom>
        </p:spPr>
        <p:txBody>
          <a:bodyPr/>
          <a:lstStyle>
            <a:lvl1pPr>
              <a:lnSpc>
                <a:spcPct val="100000"/>
              </a:lnSpc>
              <a:defRPr sz="3200" b="1">
                <a:solidFill>
                  <a:schemeClr val="bg1"/>
                </a:solidFill>
                <a:latin typeface="+mj-ea"/>
                <a:ea typeface="+mj-ea"/>
                <a:cs typeface="メイリオ" pitchFamily="50" charset="-128"/>
              </a:defRPr>
            </a:lvl1pPr>
          </a:lstStyle>
          <a:p>
            <a:r>
              <a:rPr kumimoji="1" lang="ja-JP" altLang="en-US" dirty="0"/>
              <a:t>表紙タイトル </a:t>
            </a:r>
            <a:r>
              <a:rPr kumimoji="1" lang="en-US" altLang="ja-JP" dirty="0"/>
              <a:t>32pt</a:t>
            </a:r>
            <a:endParaRPr kumimoji="1" lang="ja-JP" altLang="en-US" dirty="0"/>
          </a:p>
        </p:txBody>
      </p:sp>
      <p:sp>
        <p:nvSpPr>
          <p:cNvPr id="28" name="テキスト プレースホルダー 21"/>
          <p:cNvSpPr>
            <a:spLocks noGrp="1"/>
          </p:cNvSpPr>
          <p:nvPr>
            <p:ph type="body" sz="quarter" idx="12" hasCustomPrompt="1"/>
          </p:nvPr>
        </p:nvSpPr>
        <p:spPr>
          <a:xfrm>
            <a:off x="308724" y="3099948"/>
            <a:ext cx="4312737" cy="1590674"/>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bg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dirty="0"/>
              <a:t>サブタイトル </a:t>
            </a:r>
            <a:r>
              <a:rPr kumimoji="1" lang="en-US" altLang="ja-JP" dirty="0"/>
              <a:t>16pt</a:t>
            </a:r>
          </a:p>
        </p:txBody>
      </p:sp>
      <p:pic>
        <p:nvPicPr>
          <p:cNvPr id="9" name="図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437" y="201827"/>
            <a:ext cx="8744712" cy="944880"/>
          </a:xfrm>
          <a:prstGeom prst="rect">
            <a:avLst/>
          </a:prstGeom>
        </p:spPr>
      </p:pic>
      <p:sp>
        <p:nvSpPr>
          <p:cNvPr id="21" name="テキスト プレースホルダー 5"/>
          <p:cNvSpPr>
            <a:spLocks noGrp="1"/>
          </p:cNvSpPr>
          <p:nvPr>
            <p:ph type="body" sz="quarter" idx="13" hasCustomPrompt="1"/>
          </p:nvPr>
        </p:nvSpPr>
        <p:spPr>
          <a:xfrm>
            <a:off x="308725" y="5394339"/>
            <a:ext cx="2387099" cy="351288"/>
          </a:xfrm>
          <a:prstGeom prst="rect">
            <a:avLst/>
          </a:prstGeom>
        </p:spPr>
        <p:txBody>
          <a:bodyPr anchor="ctr"/>
          <a:lstStyle>
            <a:lvl1pPr marL="0" indent="0">
              <a:lnSpc>
                <a:spcPct val="100000"/>
              </a:lnSpc>
              <a:spcBef>
                <a:spcPts val="0"/>
              </a:spcBef>
              <a:buNone/>
              <a:defRPr sz="1300">
                <a:solidFill>
                  <a:schemeClr val="bg1"/>
                </a:solidFill>
                <a:latin typeface="+mn-ea"/>
                <a:ea typeface="+mn-ea"/>
                <a:cs typeface="メイリオ" pitchFamily="50" charset="-128"/>
              </a:defRPr>
            </a:lvl1pPr>
          </a:lstStyle>
          <a:p>
            <a:pPr lvl="0"/>
            <a:r>
              <a:rPr kumimoji="1" lang="en-US" altLang="ja-JP" dirty="0"/>
              <a:t>0000/00/00</a:t>
            </a:r>
            <a:endParaRPr kumimoji="1" lang="ja-JP" altLang="en-US" dirty="0"/>
          </a:p>
        </p:txBody>
      </p:sp>
      <p:sp>
        <p:nvSpPr>
          <p:cNvPr id="24" name="テキスト ボックス 23"/>
          <p:cNvSpPr txBox="1"/>
          <p:nvPr userDrawn="1"/>
        </p:nvSpPr>
        <p:spPr>
          <a:xfrm>
            <a:off x="303298" y="5748208"/>
            <a:ext cx="4318164" cy="292388"/>
          </a:xfrm>
          <a:prstGeom prst="rect">
            <a:avLst/>
          </a:prstGeom>
          <a:noFill/>
        </p:spPr>
        <p:txBody>
          <a:bodyPr wrap="square" rtlCol="0" anchor="t">
            <a:spAutoFit/>
          </a:bodyPr>
          <a:lstStyle/>
          <a:p>
            <a:pPr>
              <a:spcAft>
                <a:spcPts val="600"/>
              </a:spcAft>
            </a:pPr>
            <a:r>
              <a:rPr kumimoji="1" lang="ja-JP" altLang="en-US" sz="1300" b="1" dirty="0">
                <a:solidFill>
                  <a:schemeClr val="bg1"/>
                </a:solidFill>
                <a:latin typeface="+mn-ea"/>
                <a:ea typeface="+mn-ea"/>
                <a:cs typeface="メイリオ" pitchFamily="50" charset="-128"/>
              </a:rPr>
              <a:t>三菱重工業株式会社</a:t>
            </a:r>
          </a:p>
        </p:txBody>
      </p:sp>
      <p:sp>
        <p:nvSpPr>
          <p:cNvPr id="31" name="日付プレースホルダー 32"/>
          <p:cNvSpPr txBox="1">
            <a:spLocks/>
          </p:cNvSpPr>
          <p:nvPr userDrawn="1"/>
        </p:nvSpPr>
        <p:spPr>
          <a:xfrm>
            <a:off x="196437" y="6370974"/>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tx1"/>
                </a:solidFill>
                <a:latin typeface="+mn-lt"/>
              </a:rPr>
              <a:t>© Mitsubishi Heavy Industries, Ltd.  All Rights Reserved.</a:t>
            </a:r>
            <a:endParaRPr lang="ja-JP" altLang="en-US" sz="700" dirty="0">
              <a:solidFill>
                <a:schemeClr val="tx1"/>
              </a:solidFill>
              <a:latin typeface="+mn-lt"/>
            </a:endParaRPr>
          </a:p>
        </p:txBody>
      </p:sp>
      <p:pic>
        <p:nvPicPr>
          <p:cNvPr id="11" name="図 10">
            <a:extLst>
              <a:ext uri="{FF2B5EF4-FFF2-40B4-BE49-F238E27FC236}">
                <a16:creationId xmlns:a16="http://schemas.microsoft.com/office/drawing/2014/main" id="{C70D38E8-0DE6-47EE-B224-018031CE46D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5080" y="6421555"/>
            <a:ext cx="1188000" cy="230108"/>
          </a:xfrm>
          <a:prstGeom prst="rect">
            <a:avLst/>
          </a:prstGeom>
        </p:spPr>
      </p:pic>
    </p:spTree>
    <p:extLst>
      <p:ext uri="{BB962C8B-B14F-4D97-AF65-F5344CB8AC3E}">
        <p14:creationId xmlns:p14="http://schemas.microsoft.com/office/powerpoint/2010/main" val="4157631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表紙3">
    <p:spTree>
      <p:nvGrpSpPr>
        <p:cNvPr id="1" name=""/>
        <p:cNvGrpSpPr/>
        <p:nvPr/>
      </p:nvGrpSpPr>
      <p:grpSpPr>
        <a:xfrm>
          <a:off x="0" y="0"/>
          <a:ext cx="0" cy="0"/>
          <a:chOff x="0" y="0"/>
          <a:chExt cx="0" cy="0"/>
        </a:xfrm>
      </p:grpSpPr>
      <p:pic>
        <p:nvPicPr>
          <p:cNvPr id="4" name="図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6437" y="957110"/>
            <a:ext cx="3651504" cy="5187696"/>
          </a:xfrm>
          <a:prstGeom prst="rect">
            <a:avLst/>
          </a:prstGeom>
        </p:spPr>
      </p:pic>
      <p:pic>
        <p:nvPicPr>
          <p:cNvPr id="1029" name="Picture 5" descr="C:\Users\S04\Desktop\名称未設定-2-01.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973714" y="216547"/>
            <a:ext cx="2964260" cy="516959"/>
          </a:xfrm>
          <a:prstGeom prst="rect">
            <a:avLst/>
          </a:prstGeom>
          <a:noFill/>
          <a:extLst>
            <a:ext uri="{909E8E84-426E-40DD-AFC4-6F175D3DCCD1}">
              <a14:hiddenFill xmlns:a14="http://schemas.microsoft.com/office/drawing/2010/main">
                <a:solidFill>
                  <a:srgbClr val="FFFFFF"/>
                </a:solidFill>
              </a14:hiddenFill>
            </a:ext>
          </a:extLst>
        </p:spPr>
      </p:pic>
      <p:sp>
        <p:nvSpPr>
          <p:cNvPr id="16" name="テキスト プレースホルダー 5"/>
          <p:cNvSpPr>
            <a:spLocks noGrp="1"/>
          </p:cNvSpPr>
          <p:nvPr>
            <p:ph type="body" sz="quarter" idx="13" hasCustomPrompt="1"/>
          </p:nvPr>
        </p:nvSpPr>
        <p:spPr>
          <a:xfrm>
            <a:off x="308725" y="5394339"/>
            <a:ext cx="2387099" cy="351288"/>
          </a:xfrm>
          <a:prstGeom prst="rect">
            <a:avLst/>
          </a:prstGeom>
        </p:spPr>
        <p:txBody>
          <a:bodyPr anchor="ctr"/>
          <a:lstStyle>
            <a:lvl1pPr marL="0" indent="0">
              <a:lnSpc>
                <a:spcPct val="100000"/>
              </a:lnSpc>
              <a:spcBef>
                <a:spcPts val="0"/>
              </a:spcBef>
              <a:buNone/>
              <a:defRPr sz="1300">
                <a:solidFill>
                  <a:schemeClr val="bg1"/>
                </a:solidFill>
                <a:latin typeface="+mn-ea"/>
                <a:ea typeface="+mn-ea"/>
                <a:cs typeface="メイリオ" pitchFamily="50" charset="-128"/>
              </a:defRPr>
            </a:lvl1pPr>
          </a:lstStyle>
          <a:p>
            <a:pPr lvl="0"/>
            <a:r>
              <a:rPr kumimoji="1" lang="en-US" altLang="ja-JP" dirty="0"/>
              <a:t>0000/00/00</a:t>
            </a:r>
            <a:endParaRPr kumimoji="1" lang="ja-JP" altLang="en-US" dirty="0"/>
          </a:p>
        </p:txBody>
      </p:sp>
      <p:sp>
        <p:nvSpPr>
          <p:cNvPr id="17" name="テキスト ボックス 16"/>
          <p:cNvSpPr txBox="1"/>
          <p:nvPr userDrawn="1"/>
        </p:nvSpPr>
        <p:spPr>
          <a:xfrm>
            <a:off x="303298" y="5748208"/>
            <a:ext cx="3544643" cy="292388"/>
          </a:xfrm>
          <a:prstGeom prst="rect">
            <a:avLst/>
          </a:prstGeom>
          <a:noFill/>
        </p:spPr>
        <p:txBody>
          <a:bodyPr wrap="square" rtlCol="0" anchor="t">
            <a:spAutoFit/>
          </a:bodyPr>
          <a:lstStyle/>
          <a:p>
            <a:pPr>
              <a:spcAft>
                <a:spcPts val="600"/>
              </a:spcAft>
            </a:pPr>
            <a:r>
              <a:rPr kumimoji="1" lang="ja-JP" altLang="en-US" sz="1300" b="1" dirty="0">
                <a:solidFill>
                  <a:schemeClr val="bg1"/>
                </a:solidFill>
                <a:latin typeface="+mn-ea"/>
                <a:ea typeface="+mn-ea"/>
                <a:cs typeface="メイリオ" pitchFamily="50" charset="-128"/>
              </a:rPr>
              <a:t>三菱重工業株式会社</a:t>
            </a:r>
          </a:p>
        </p:txBody>
      </p:sp>
      <p:sp>
        <p:nvSpPr>
          <p:cNvPr id="12" name="タイトル 1"/>
          <p:cNvSpPr>
            <a:spLocks noGrp="1"/>
          </p:cNvSpPr>
          <p:nvPr>
            <p:ph type="title" hasCustomPrompt="1"/>
          </p:nvPr>
        </p:nvSpPr>
        <p:spPr>
          <a:xfrm>
            <a:off x="308725" y="1887960"/>
            <a:ext cx="3536653" cy="1139483"/>
          </a:xfrm>
          <a:prstGeom prst="rect">
            <a:avLst/>
          </a:prstGeom>
        </p:spPr>
        <p:txBody>
          <a:bodyPr/>
          <a:lstStyle>
            <a:lvl1pPr>
              <a:lnSpc>
                <a:spcPct val="100000"/>
              </a:lnSpc>
              <a:defRPr sz="3200" b="1">
                <a:solidFill>
                  <a:schemeClr val="bg1"/>
                </a:solidFill>
                <a:latin typeface="+mj-ea"/>
                <a:ea typeface="+mj-ea"/>
                <a:cs typeface="メイリオ" pitchFamily="50" charset="-128"/>
              </a:defRPr>
            </a:lvl1pPr>
          </a:lstStyle>
          <a:p>
            <a:r>
              <a:rPr kumimoji="1" lang="ja-JP" altLang="en-US" dirty="0"/>
              <a:t>表紙タイトル </a:t>
            </a:r>
            <a:r>
              <a:rPr kumimoji="1" lang="en-US" altLang="ja-JP" dirty="0"/>
              <a:t>32pt</a:t>
            </a:r>
            <a:endParaRPr kumimoji="1" lang="ja-JP" altLang="en-US" dirty="0"/>
          </a:p>
        </p:txBody>
      </p:sp>
      <p:sp>
        <p:nvSpPr>
          <p:cNvPr id="18" name="テキスト プレースホルダー 21"/>
          <p:cNvSpPr>
            <a:spLocks noGrp="1"/>
          </p:cNvSpPr>
          <p:nvPr>
            <p:ph type="body" sz="quarter" idx="12" hasCustomPrompt="1"/>
          </p:nvPr>
        </p:nvSpPr>
        <p:spPr>
          <a:xfrm>
            <a:off x="308724" y="3099948"/>
            <a:ext cx="3539217" cy="1590674"/>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bg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dirty="0"/>
              <a:t>サブタイトル </a:t>
            </a:r>
            <a:r>
              <a:rPr kumimoji="1" lang="en-US" altLang="ja-JP" dirty="0"/>
              <a:t>16pt</a:t>
            </a:r>
          </a:p>
        </p:txBody>
      </p:sp>
      <p:sp>
        <p:nvSpPr>
          <p:cNvPr id="11" name="日付プレースホルダー 32"/>
          <p:cNvSpPr txBox="1">
            <a:spLocks/>
          </p:cNvSpPr>
          <p:nvPr userDrawn="1"/>
        </p:nvSpPr>
        <p:spPr>
          <a:xfrm>
            <a:off x="196437" y="6370974"/>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tx1"/>
                </a:solidFill>
                <a:latin typeface="+mn-lt"/>
              </a:rPr>
              <a:t>© Mitsubishi Heavy Industries, Ltd.  All Rights Reserved.</a:t>
            </a:r>
            <a:endParaRPr lang="ja-JP" altLang="en-US" sz="700" dirty="0">
              <a:solidFill>
                <a:schemeClr val="tx1"/>
              </a:solidFill>
              <a:latin typeface="+mn-lt"/>
            </a:endParaRPr>
          </a:p>
        </p:txBody>
      </p:sp>
      <p:pic>
        <p:nvPicPr>
          <p:cNvPr id="15" name="図 14">
            <a:extLst>
              <a:ext uri="{FF2B5EF4-FFF2-40B4-BE49-F238E27FC236}">
                <a16:creationId xmlns:a16="http://schemas.microsoft.com/office/drawing/2014/main" id="{FA98FA36-DDD8-450D-B9A0-375914A3D8D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655080" y="6421555"/>
            <a:ext cx="1188000" cy="230108"/>
          </a:xfrm>
          <a:prstGeom prst="rect">
            <a:avLst/>
          </a:prstGeom>
        </p:spPr>
      </p:pic>
    </p:spTree>
    <p:extLst>
      <p:ext uri="{BB962C8B-B14F-4D97-AF65-F5344CB8AC3E}">
        <p14:creationId xmlns:p14="http://schemas.microsoft.com/office/powerpoint/2010/main" val="2876382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カラーサンプル">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8120" y="6407161"/>
            <a:ext cx="8747760" cy="262128"/>
          </a:xfrm>
          <a:prstGeom prst="rect">
            <a:avLst/>
          </a:prstGeom>
        </p:spPr>
      </p:pic>
      <p:sp>
        <p:nvSpPr>
          <p:cNvPr id="4" name="日付プレースホルダー 32"/>
          <p:cNvSpPr txBox="1">
            <a:spLocks/>
          </p:cNvSpPr>
          <p:nvPr userDrawn="1"/>
        </p:nvSpPr>
        <p:spPr>
          <a:xfrm>
            <a:off x="309672" y="6357512"/>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bg1"/>
                </a:solidFill>
                <a:latin typeface="+mn-lt"/>
              </a:rPr>
              <a:t>© Mitsubishi Heavy Industries, Ltd.  All Rights Reserved.</a:t>
            </a:r>
            <a:endParaRPr lang="ja-JP" altLang="en-US" sz="700" dirty="0">
              <a:solidFill>
                <a:schemeClr val="bg1"/>
              </a:solidFill>
              <a:latin typeface="+mn-lt"/>
            </a:endParaRPr>
          </a:p>
        </p:txBody>
      </p:sp>
      <p:sp>
        <p:nvSpPr>
          <p:cNvPr id="7" name="スライド番号プレースホルダー 5"/>
          <p:cNvSpPr txBox="1">
            <a:spLocks/>
          </p:cNvSpPr>
          <p:nvPr userDrawn="1"/>
        </p:nvSpPr>
        <p:spPr>
          <a:xfrm>
            <a:off x="8374063" y="6356607"/>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dirty="0">
              <a:latin typeface="Arial"/>
            </a:endParaRPr>
          </a:p>
        </p:txBody>
      </p:sp>
      <p:cxnSp>
        <p:nvCxnSpPr>
          <p:cNvPr id="21" name="直線コネクタ 20"/>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1CBBDA9B-E97E-4157-8C9B-E181F614B24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4266" y="169645"/>
            <a:ext cx="1188000" cy="230108"/>
          </a:xfrm>
          <a:prstGeom prst="rect">
            <a:avLst/>
          </a:prstGeom>
        </p:spPr>
      </p:pic>
    </p:spTree>
    <p:extLst>
      <p:ext uri="{BB962C8B-B14F-4D97-AF65-F5344CB8AC3E}">
        <p14:creationId xmlns:p14="http://schemas.microsoft.com/office/powerpoint/2010/main" val="451256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ロゴ">
    <p:spTree>
      <p:nvGrpSpPr>
        <p:cNvPr id="1" name=""/>
        <p:cNvGrpSpPr/>
        <p:nvPr/>
      </p:nvGrpSpPr>
      <p:grpSpPr>
        <a:xfrm>
          <a:off x="0" y="0"/>
          <a:ext cx="0" cy="0"/>
          <a:chOff x="0" y="0"/>
          <a:chExt cx="0" cy="0"/>
        </a:xfrm>
      </p:grpSpPr>
      <p:pic>
        <p:nvPicPr>
          <p:cNvPr id="4" name="Picture 5" descr="C:\Users\S04\Desktop\名称未設定-2-01.jpg">
            <a:extLst>
              <a:ext uri="{FF2B5EF4-FFF2-40B4-BE49-F238E27FC236}">
                <a16:creationId xmlns:a16="http://schemas.microsoft.com/office/drawing/2014/main" id="{F1494654-01F0-42B3-A66A-EAA98DA1965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938540" y="241200"/>
            <a:ext cx="2964260" cy="516959"/>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a:extLst>
              <a:ext uri="{FF2B5EF4-FFF2-40B4-BE49-F238E27FC236}">
                <a16:creationId xmlns:a16="http://schemas.microsoft.com/office/drawing/2014/main" id="{3A43E3EA-FD6B-48AF-B1FE-280D2B3402F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75919" y="2525032"/>
            <a:ext cx="5286057" cy="1491755"/>
          </a:xfrm>
          <a:prstGeom prst="rect">
            <a:avLst/>
          </a:prstGeom>
          <a:noFill/>
          <a:ln>
            <a:noFill/>
          </a:ln>
        </p:spPr>
      </p:pic>
    </p:spTree>
    <p:extLst>
      <p:ext uri="{BB962C8B-B14F-4D97-AF65-F5344CB8AC3E}">
        <p14:creationId xmlns:p14="http://schemas.microsoft.com/office/powerpoint/2010/main" val="88126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カラーサンプル">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8120" y="6407161"/>
            <a:ext cx="8747760" cy="262128"/>
          </a:xfrm>
          <a:prstGeom prst="rect">
            <a:avLst/>
          </a:prstGeom>
        </p:spPr>
      </p:pic>
      <p:sp>
        <p:nvSpPr>
          <p:cNvPr id="4" name="日付プレースホルダー 32"/>
          <p:cNvSpPr txBox="1">
            <a:spLocks/>
          </p:cNvSpPr>
          <p:nvPr userDrawn="1"/>
        </p:nvSpPr>
        <p:spPr>
          <a:xfrm>
            <a:off x="309672" y="6357512"/>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bg1"/>
                </a:solidFill>
                <a:latin typeface="+mn-lt"/>
              </a:rPr>
              <a:t>© Mitsubishi Heavy Industries, Ltd.  All Rights Reserved.</a:t>
            </a:r>
            <a:endParaRPr lang="ja-JP" altLang="en-US" sz="700" dirty="0">
              <a:solidFill>
                <a:schemeClr val="bg1"/>
              </a:solidFill>
              <a:latin typeface="+mn-lt"/>
            </a:endParaRPr>
          </a:p>
        </p:txBody>
      </p:sp>
      <p:sp>
        <p:nvSpPr>
          <p:cNvPr id="7" name="スライド番号プレースホルダー 5"/>
          <p:cNvSpPr txBox="1">
            <a:spLocks/>
          </p:cNvSpPr>
          <p:nvPr userDrawn="1"/>
        </p:nvSpPr>
        <p:spPr>
          <a:xfrm>
            <a:off x="8374063" y="6356607"/>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dirty="0">
              <a:latin typeface="Arial"/>
            </a:endParaRPr>
          </a:p>
        </p:txBody>
      </p:sp>
      <p:sp>
        <p:nvSpPr>
          <p:cNvPr id="15" name="タイトル 1"/>
          <p:cNvSpPr>
            <a:spLocks noGrp="1"/>
          </p:cNvSpPr>
          <p:nvPr>
            <p:ph type="title" hasCustomPrompt="1"/>
          </p:nvPr>
        </p:nvSpPr>
        <p:spPr>
          <a:xfrm>
            <a:off x="555459" y="128798"/>
            <a:ext cx="6390090"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dirty="0"/>
              <a:t>ページタイトル </a:t>
            </a:r>
            <a:r>
              <a:rPr kumimoji="1" lang="en-US" altLang="ja-JP" dirty="0"/>
              <a:t>22pt</a:t>
            </a:r>
            <a:endParaRPr kumimoji="1" lang="ja-JP" altLang="en-US" dirty="0"/>
          </a:p>
        </p:txBody>
      </p:sp>
      <p:sp>
        <p:nvSpPr>
          <p:cNvPr id="17" name="テキスト プレースホルダー 9"/>
          <p:cNvSpPr>
            <a:spLocks noGrp="1"/>
          </p:cNvSpPr>
          <p:nvPr>
            <p:ph type="body" sz="quarter" idx="10" hasCustomPrompt="1"/>
          </p:nvPr>
        </p:nvSpPr>
        <p:spPr>
          <a:xfrm>
            <a:off x="555625" y="797131"/>
            <a:ext cx="6389688"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dirty="0"/>
              <a:t>テキスト </a:t>
            </a:r>
            <a:r>
              <a:rPr kumimoji="1" lang="en-US" altLang="ja-JP" dirty="0"/>
              <a:t>16pt</a:t>
            </a:r>
            <a:endParaRPr kumimoji="1" lang="ja-JP" altLang="en-US" dirty="0"/>
          </a:p>
        </p:txBody>
      </p:sp>
      <p:sp>
        <p:nvSpPr>
          <p:cNvPr id="18" name="テキスト プレースホルダー 18"/>
          <p:cNvSpPr>
            <a:spLocks noGrp="1"/>
          </p:cNvSpPr>
          <p:nvPr>
            <p:ph type="body" sz="quarter" idx="13" hasCustomPrompt="1"/>
          </p:nvPr>
        </p:nvSpPr>
        <p:spPr>
          <a:xfrm>
            <a:off x="552450" y="1525210"/>
            <a:ext cx="8191500"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dirty="0"/>
              <a:t>テキスト </a:t>
            </a:r>
            <a:r>
              <a:rPr kumimoji="1" lang="en-US" altLang="ja-JP" dirty="0"/>
              <a:t>10pt</a:t>
            </a:r>
            <a:endParaRPr kumimoji="1" lang="ja-JP" altLang="en-US" dirty="0"/>
          </a:p>
        </p:txBody>
      </p:sp>
      <p:cxnSp>
        <p:nvCxnSpPr>
          <p:cNvPr id="21" name="直線コネクタ 20"/>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1CBBDA9B-E97E-4157-8C9B-E181F614B24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4266" y="169645"/>
            <a:ext cx="1188000" cy="230108"/>
          </a:xfrm>
          <a:prstGeom prst="rect">
            <a:avLst/>
          </a:prstGeom>
        </p:spPr>
      </p:pic>
    </p:spTree>
    <p:extLst>
      <p:ext uri="{BB962C8B-B14F-4D97-AF65-F5344CB8AC3E}">
        <p14:creationId xmlns:p14="http://schemas.microsoft.com/office/powerpoint/2010/main" val="851715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表紙1">
    <p:spTree>
      <p:nvGrpSpPr>
        <p:cNvPr id="1" name=""/>
        <p:cNvGrpSpPr/>
        <p:nvPr/>
      </p:nvGrpSpPr>
      <p:grpSpPr>
        <a:xfrm>
          <a:off x="0" y="0"/>
          <a:ext cx="0" cy="0"/>
          <a:chOff x="0" y="0"/>
          <a:chExt cx="0" cy="0"/>
        </a:xfrm>
      </p:grpSpPr>
      <p:sp>
        <p:nvSpPr>
          <p:cNvPr id="16" name="タイトル 2"/>
          <p:cNvSpPr>
            <a:spLocks noGrp="1"/>
          </p:cNvSpPr>
          <p:nvPr>
            <p:ph type="title" hasCustomPrompt="1"/>
          </p:nvPr>
        </p:nvSpPr>
        <p:spPr>
          <a:xfrm>
            <a:off x="308725" y="2699385"/>
            <a:ext cx="8531974" cy="585575"/>
          </a:xfrm>
          <a:prstGeom prst="rect">
            <a:avLst/>
          </a:prstGeom>
        </p:spPr>
        <p:txBody>
          <a:bodyPr/>
          <a:lstStyle>
            <a:lvl1pPr>
              <a:lnSpc>
                <a:spcPct val="100000"/>
              </a:lnSpc>
              <a:spcBef>
                <a:spcPts val="0"/>
              </a:spcBef>
              <a:defRPr sz="3200" b="1" baseline="0">
                <a:solidFill>
                  <a:schemeClr val="tx1"/>
                </a:solidFill>
                <a:latin typeface="+mj-ea"/>
                <a:ea typeface="+mj-ea"/>
                <a:cs typeface="メイリオ" pitchFamily="50" charset="-128"/>
              </a:defRPr>
            </a:lvl1pPr>
          </a:lstStyle>
          <a:p>
            <a:r>
              <a:rPr kumimoji="1" lang="ja-JP" altLang="en-US" dirty="0"/>
              <a:t>表紙タイトル </a:t>
            </a:r>
            <a:r>
              <a:rPr kumimoji="1" lang="en-US" altLang="ja-JP" dirty="0"/>
              <a:t>32pt</a:t>
            </a:r>
            <a:endParaRPr kumimoji="1" lang="ja-JP" altLang="en-US" dirty="0"/>
          </a:p>
        </p:txBody>
      </p:sp>
      <p:pic>
        <p:nvPicPr>
          <p:cNvPr id="11" name="図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437" y="201827"/>
            <a:ext cx="8744712" cy="944880"/>
          </a:xfrm>
          <a:prstGeom prst="rect">
            <a:avLst/>
          </a:prstGeom>
        </p:spPr>
      </p:pic>
      <p:sp>
        <p:nvSpPr>
          <p:cNvPr id="9" name="日付プレースホルダー 32"/>
          <p:cNvSpPr txBox="1">
            <a:spLocks/>
          </p:cNvSpPr>
          <p:nvPr userDrawn="1"/>
        </p:nvSpPr>
        <p:spPr>
          <a:xfrm>
            <a:off x="196437" y="6370974"/>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tx1"/>
                </a:solidFill>
                <a:latin typeface="+mn-lt"/>
              </a:rPr>
              <a:t>© Mitsubishi Heavy Industries, Ltd.  All Rights Reserved.</a:t>
            </a:r>
            <a:endParaRPr lang="ja-JP" altLang="en-US" sz="700" dirty="0">
              <a:solidFill>
                <a:schemeClr val="tx1"/>
              </a:solidFill>
              <a:latin typeface="+mn-lt"/>
            </a:endParaRPr>
          </a:p>
        </p:txBody>
      </p:sp>
    </p:spTree>
    <p:extLst>
      <p:ext uri="{BB962C8B-B14F-4D97-AF65-F5344CB8AC3E}">
        <p14:creationId xmlns:p14="http://schemas.microsoft.com/office/powerpoint/2010/main" val="2271281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Last page">
    <p:spTree>
      <p:nvGrpSpPr>
        <p:cNvPr id="1" name=""/>
        <p:cNvGrpSpPr/>
        <p:nvPr/>
      </p:nvGrpSpPr>
      <p:grpSpPr>
        <a:xfrm>
          <a:off x="0" y="0"/>
          <a:ext cx="0" cy="0"/>
          <a:chOff x="0" y="0"/>
          <a:chExt cx="0" cy="0"/>
        </a:xfrm>
      </p:grpSpPr>
      <p:pic>
        <p:nvPicPr>
          <p:cNvPr id="3" name="図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63363" y="3258297"/>
            <a:ext cx="6017274" cy="341406"/>
          </a:xfrm>
          <a:prstGeom prst="rect">
            <a:avLst/>
          </a:prstGeom>
        </p:spPr>
      </p:pic>
      <p:pic>
        <p:nvPicPr>
          <p:cNvPr id="4" name="図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92364" y="5805146"/>
            <a:ext cx="1249788" cy="743776"/>
          </a:xfrm>
          <a:prstGeom prst="rect">
            <a:avLst/>
          </a:prstGeom>
        </p:spPr>
      </p:pic>
    </p:spTree>
    <p:extLst>
      <p:ext uri="{BB962C8B-B14F-4D97-AF65-F5344CB8AC3E}">
        <p14:creationId xmlns:p14="http://schemas.microsoft.com/office/powerpoint/2010/main" val="875599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page">
    <p:spTree>
      <p:nvGrpSpPr>
        <p:cNvPr id="1" name=""/>
        <p:cNvGrpSpPr/>
        <p:nvPr/>
      </p:nvGrpSpPr>
      <p:grpSpPr>
        <a:xfrm>
          <a:off x="0" y="0"/>
          <a:ext cx="0" cy="0"/>
          <a:chOff x="0" y="0"/>
          <a:chExt cx="0" cy="0"/>
        </a:xfrm>
      </p:grpSpPr>
      <p:pic>
        <p:nvPicPr>
          <p:cNvPr id="6" name="図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9499" y="201827"/>
            <a:ext cx="8744712" cy="944860"/>
          </a:xfrm>
          <a:prstGeom prst="rect">
            <a:avLst/>
          </a:prstGeom>
        </p:spPr>
      </p:pic>
      <p:sp>
        <p:nvSpPr>
          <p:cNvPr id="7" name="タイトル 1"/>
          <p:cNvSpPr>
            <a:spLocks noGrp="1"/>
          </p:cNvSpPr>
          <p:nvPr>
            <p:ph type="title" hasCustomPrompt="1"/>
          </p:nvPr>
        </p:nvSpPr>
        <p:spPr>
          <a:xfrm>
            <a:off x="313840" y="2601912"/>
            <a:ext cx="8632424" cy="577409"/>
          </a:xfrm>
          <a:prstGeom prst="rect">
            <a:avLst/>
          </a:prstGeom>
        </p:spPr>
        <p:txBody>
          <a:bodyPr lIns="95730" tIns="47866" rIns="95730" bIns="47866"/>
          <a:lstStyle>
            <a:lvl1pPr>
              <a:defRPr sz="3139" b="1" baseline="0"/>
            </a:lvl1pPr>
          </a:lstStyle>
          <a:p>
            <a:r>
              <a:rPr kumimoji="1" lang="ja-JP" altLang="en-US" dirty="0"/>
              <a:t>章タイトルテキスト</a:t>
            </a:r>
          </a:p>
        </p:txBody>
      </p:sp>
      <p:sp>
        <p:nvSpPr>
          <p:cNvPr id="8" name="テキスト プレースホルダー 7"/>
          <p:cNvSpPr>
            <a:spLocks noGrp="1"/>
          </p:cNvSpPr>
          <p:nvPr>
            <p:ph type="body" sz="quarter" idx="12" hasCustomPrompt="1"/>
          </p:nvPr>
        </p:nvSpPr>
        <p:spPr>
          <a:xfrm>
            <a:off x="308736" y="3248720"/>
            <a:ext cx="8632825" cy="1362748"/>
          </a:xfrm>
          <a:prstGeom prst="rect">
            <a:avLst/>
          </a:prstGeom>
        </p:spPr>
        <p:txBody>
          <a:bodyPr lIns="95730" tIns="47866" rIns="95730" bIns="47866"/>
          <a:lstStyle>
            <a:lvl1pPr marL="0" marR="0" indent="0" algn="l" defTabSz="662761" rtl="0" eaLnBrk="1" fontAlgn="auto" latinLnBrk="0" hangingPunct="1">
              <a:lnSpc>
                <a:spcPct val="120000"/>
              </a:lnSpc>
              <a:spcBef>
                <a:spcPts val="726"/>
              </a:spcBef>
              <a:spcAft>
                <a:spcPts val="0"/>
              </a:spcAft>
              <a:buClrTx/>
              <a:buSzTx/>
              <a:buFont typeface="Arial" panose="020B0604020202020204" pitchFamily="34" charset="0"/>
              <a:buNone/>
              <a:tabLst/>
              <a:defRPr sz="1477">
                <a:solidFill>
                  <a:schemeClr val="tx1"/>
                </a:solidFill>
              </a:defRPr>
            </a:lvl1pPr>
          </a:lstStyle>
          <a:p>
            <a:pPr marL="0" marR="0" lvl="0" indent="0" algn="l" defTabSz="662761" rtl="0" eaLnBrk="1" fontAlgn="auto" latinLnBrk="0" hangingPunct="1">
              <a:lnSpc>
                <a:spcPct val="120000"/>
              </a:lnSpc>
              <a:spcBef>
                <a:spcPts val="726"/>
              </a:spcBef>
              <a:spcAft>
                <a:spcPts val="0"/>
              </a:spcAft>
              <a:buClrTx/>
              <a:buSzTx/>
              <a:buFont typeface="Arial" panose="020B0604020202020204" pitchFamily="34" charset="0"/>
              <a:buNone/>
              <a:tabLst/>
              <a:defRPr/>
            </a:pPr>
            <a:r>
              <a:rPr kumimoji="1" lang="ja-JP" altLang="en-US" dirty="0"/>
              <a:t>サブタイトル</a:t>
            </a:r>
            <a:r>
              <a:rPr kumimoji="1" lang="en-US" altLang="ja-JP" dirty="0"/>
              <a:t>16pt</a:t>
            </a:r>
          </a:p>
        </p:txBody>
      </p:sp>
    </p:spTree>
    <p:extLst>
      <p:ext uri="{BB962C8B-B14F-4D97-AF65-F5344CB8AC3E}">
        <p14:creationId xmlns:p14="http://schemas.microsoft.com/office/powerpoint/2010/main" val="3067074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pread/chart page">
    <p:spTree>
      <p:nvGrpSpPr>
        <p:cNvPr id="1" name=""/>
        <p:cNvGrpSpPr/>
        <p:nvPr/>
      </p:nvGrpSpPr>
      <p:grpSpPr>
        <a:xfrm>
          <a:off x="0" y="0"/>
          <a:ext cx="0" cy="0"/>
          <a:chOff x="0" y="0"/>
          <a:chExt cx="0" cy="0"/>
        </a:xfrm>
      </p:grpSpPr>
      <p:pic>
        <p:nvPicPr>
          <p:cNvPr id="3" name="図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1127" y="6408946"/>
            <a:ext cx="8750749" cy="260363"/>
          </a:xfrm>
          <a:prstGeom prst="rect">
            <a:avLst/>
          </a:prstGeom>
        </p:spPr>
      </p:pic>
      <p:sp>
        <p:nvSpPr>
          <p:cNvPr id="4" name="日付プレースホルダー 32"/>
          <p:cNvSpPr txBox="1">
            <a:spLocks/>
          </p:cNvSpPr>
          <p:nvPr userDrawn="1"/>
        </p:nvSpPr>
        <p:spPr>
          <a:xfrm>
            <a:off x="309673" y="6348011"/>
            <a:ext cx="5402356" cy="365125"/>
          </a:xfrm>
          <a:prstGeom prst="rect">
            <a:avLst/>
          </a:prstGeom>
          <a:ln>
            <a:noFill/>
          </a:ln>
        </p:spPr>
        <p:txBody>
          <a:bodyPr vert="horz" wrap="square" lIns="0" tIns="44184" rIns="88366" bIns="44184"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646" dirty="0">
                <a:solidFill>
                  <a:prstClr val="white"/>
                </a:solidFill>
              </a:rPr>
              <a:t>© 2021 MITSUBISHI HEAVY INDUSTRIES, LTD.  All Rights Reserved.</a:t>
            </a:r>
            <a:endParaRPr lang="ja-JP" altLang="en-US" sz="646" dirty="0">
              <a:solidFill>
                <a:prstClr val="white"/>
              </a:solidFill>
            </a:endParaRPr>
          </a:p>
        </p:txBody>
      </p:sp>
      <p:sp>
        <p:nvSpPr>
          <p:cNvPr id="7" name="スライド番号プレースホルダー 5"/>
          <p:cNvSpPr txBox="1">
            <a:spLocks/>
          </p:cNvSpPr>
          <p:nvPr userDrawn="1"/>
        </p:nvSpPr>
        <p:spPr>
          <a:xfrm>
            <a:off x="8374064" y="6347104"/>
            <a:ext cx="520700" cy="365125"/>
          </a:xfrm>
          <a:prstGeom prst="rect">
            <a:avLst/>
          </a:prstGeom>
          <a:ln>
            <a:noFill/>
          </a:ln>
        </p:spPr>
        <p:txBody>
          <a:bodyPr vert="horz" wrap="square" lIns="88366" tIns="44184" rIns="88366" bIns="44184"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923" smtClean="0"/>
              <a:pPr>
                <a:defRPr/>
              </a:pPr>
              <a:t>‹#›</a:t>
            </a:fld>
            <a:endParaRPr lang="en-US" altLang="ja-JP" sz="923" dirty="0"/>
          </a:p>
        </p:txBody>
      </p:sp>
      <p:cxnSp>
        <p:nvCxnSpPr>
          <p:cNvPr id="21" name="直線コネクタ 20"/>
          <p:cNvCxnSpPr/>
          <p:nvPr userDrawn="1"/>
        </p:nvCxnSpPr>
        <p:spPr>
          <a:xfrm>
            <a:off x="225317" y="564204"/>
            <a:ext cx="874851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4" name="図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87469" y="136960"/>
            <a:ext cx="1286367" cy="274344"/>
          </a:xfrm>
          <a:prstGeom prst="rect">
            <a:avLst/>
          </a:prstGeom>
        </p:spPr>
      </p:pic>
      <p:sp>
        <p:nvSpPr>
          <p:cNvPr id="15" name="タイトル 1"/>
          <p:cNvSpPr>
            <a:spLocks noGrp="1"/>
          </p:cNvSpPr>
          <p:nvPr>
            <p:ph type="title" hasCustomPrompt="1"/>
          </p:nvPr>
        </p:nvSpPr>
        <p:spPr>
          <a:xfrm>
            <a:off x="555459" y="136978"/>
            <a:ext cx="6390090" cy="349961"/>
          </a:xfrm>
          <a:prstGeom prst="rect">
            <a:avLst/>
          </a:prstGeom>
        </p:spPr>
        <p:txBody>
          <a:bodyPr lIns="95730" tIns="47866" rIns="95730" bIns="47866"/>
          <a:lstStyle>
            <a:lvl1pPr>
              <a:defRPr sz="2123" b="1"/>
            </a:lvl1pPr>
          </a:lstStyle>
          <a:p>
            <a:r>
              <a:rPr kumimoji="1" lang="ja-JP" altLang="en-US" dirty="0"/>
              <a:t>ページタイトル </a:t>
            </a:r>
            <a:r>
              <a:rPr kumimoji="1" lang="en-US" altLang="ja-JP" dirty="0"/>
              <a:t>22pt</a:t>
            </a:r>
            <a:endParaRPr kumimoji="1" lang="ja-JP" altLang="en-US" dirty="0"/>
          </a:p>
        </p:txBody>
      </p:sp>
      <p:sp>
        <p:nvSpPr>
          <p:cNvPr id="17" name="テキスト プレースホルダー 9"/>
          <p:cNvSpPr>
            <a:spLocks noGrp="1"/>
          </p:cNvSpPr>
          <p:nvPr>
            <p:ph type="body" sz="quarter" idx="10" hasCustomPrompt="1"/>
          </p:nvPr>
        </p:nvSpPr>
        <p:spPr>
          <a:xfrm>
            <a:off x="555625" y="797142"/>
            <a:ext cx="6389688" cy="652463"/>
          </a:xfrm>
          <a:prstGeom prst="rect">
            <a:avLst/>
          </a:prstGeom>
        </p:spPr>
        <p:txBody>
          <a:bodyPr lIns="95730" tIns="47866" rIns="95730" bIns="47866"/>
          <a:lstStyle>
            <a:lvl1pPr marL="0" indent="0">
              <a:lnSpc>
                <a:spcPct val="120000"/>
              </a:lnSpc>
              <a:buNone/>
              <a:defRPr sz="1477"/>
            </a:lvl1pPr>
          </a:lstStyle>
          <a:p>
            <a:pPr lvl="0"/>
            <a:r>
              <a:rPr kumimoji="1" lang="ja-JP" altLang="en-US" dirty="0"/>
              <a:t>テキスト </a:t>
            </a:r>
            <a:r>
              <a:rPr kumimoji="1" lang="en-US" altLang="ja-JP" dirty="0"/>
              <a:t>16pt</a:t>
            </a:r>
            <a:endParaRPr kumimoji="1" lang="ja-JP" altLang="en-US" dirty="0"/>
          </a:p>
        </p:txBody>
      </p:sp>
      <p:sp>
        <p:nvSpPr>
          <p:cNvPr id="18" name="テキスト プレースホルダー 18"/>
          <p:cNvSpPr>
            <a:spLocks noGrp="1"/>
          </p:cNvSpPr>
          <p:nvPr>
            <p:ph type="body" sz="quarter" idx="13" hasCustomPrompt="1"/>
          </p:nvPr>
        </p:nvSpPr>
        <p:spPr>
          <a:xfrm>
            <a:off x="558588" y="1525209"/>
            <a:ext cx="8081963" cy="838164"/>
          </a:xfrm>
          <a:prstGeom prst="rect">
            <a:avLst/>
          </a:prstGeom>
        </p:spPr>
        <p:txBody>
          <a:bodyPr lIns="95730" tIns="47866" rIns="95730" bIns="47866" numCol="2" spcCol="565333"/>
          <a:lstStyle>
            <a:lvl1pPr marL="0" indent="0">
              <a:lnSpc>
                <a:spcPct val="120000"/>
              </a:lnSpc>
              <a:buNone/>
              <a:defRPr sz="738"/>
            </a:lvl1pPr>
          </a:lstStyle>
          <a:p>
            <a:pPr lvl="0"/>
            <a:r>
              <a:rPr kumimoji="1" lang="ja-JP" altLang="en-US" dirty="0"/>
              <a:t>テキスト </a:t>
            </a:r>
            <a:r>
              <a:rPr kumimoji="1" lang="en-US" altLang="ja-JP" dirty="0"/>
              <a:t>8pt</a:t>
            </a:r>
            <a:endParaRPr kumimoji="1" lang="ja-JP" altLang="en-US" dirty="0"/>
          </a:p>
        </p:txBody>
      </p:sp>
      <p:sp>
        <p:nvSpPr>
          <p:cNvPr id="22" name="テキスト プレースホルダー 18"/>
          <p:cNvSpPr>
            <a:spLocks noGrp="1"/>
          </p:cNvSpPr>
          <p:nvPr>
            <p:ph type="body" sz="quarter" idx="14" hasCustomPrompt="1"/>
          </p:nvPr>
        </p:nvSpPr>
        <p:spPr>
          <a:xfrm>
            <a:off x="558588" y="5434206"/>
            <a:ext cx="8081963" cy="838164"/>
          </a:xfrm>
          <a:prstGeom prst="rect">
            <a:avLst/>
          </a:prstGeom>
        </p:spPr>
        <p:txBody>
          <a:bodyPr lIns="95730" tIns="47866" rIns="95730" bIns="47866" numCol="2" spcCol="565333"/>
          <a:lstStyle>
            <a:lvl1pPr marL="0" indent="0">
              <a:lnSpc>
                <a:spcPct val="120000"/>
              </a:lnSpc>
              <a:buNone/>
              <a:defRPr sz="738"/>
            </a:lvl1pPr>
          </a:lstStyle>
          <a:p>
            <a:pPr lvl="0"/>
            <a:r>
              <a:rPr kumimoji="1" lang="ja-JP" altLang="en-US" dirty="0"/>
              <a:t>テキスト </a:t>
            </a:r>
            <a:r>
              <a:rPr kumimoji="1" lang="en-US" altLang="ja-JP" dirty="0"/>
              <a:t>8pt</a:t>
            </a:r>
            <a:endParaRPr kumimoji="1" lang="ja-JP" altLang="en-US" dirty="0"/>
          </a:p>
        </p:txBody>
      </p:sp>
      <p:sp>
        <p:nvSpPr>
          <p:cNvPr id="23" name="コンテンツ プレースホルダー 8"/>
          <p:cNvSpPr>
            <a:spLocks noGrp="1"/>
          </p:cNvSpPr>
          <p:nvPr>
            <p:ph sz="quarter" idx="15" hasCustomPrompt="1"/>
          </p:nvPr>
        </p:nvSpPr>
        <p:spPr>
          <a:xfrm>
            <a:off x="555638" y="2517789"/>
            <a:ext cx="4016375" cy="2728913"/>
          </a:xfrm>
          <a:prstGeom prst="rect">
            <a:avLst/>
          </a:prstGeom>
        </p:spPr>
        <p:txBody>
          <a:bodyPr lIns="95730" tIns="47866" rIns="95730" bIns="47866"/>
          <a:lstStyle>
            <a:lvl1pPr marL="0" indent="0">
              <a:buNone/>
              <a:defRPr sz="1385"/>
            </a:lvl1pPr>
          </a:lstStyle>
          <a:p>
            <a:pPr lvl="0"/>
            <a:r>
              <a:rPr kumimoji="1" lang="ja-JP" altLang="en-US" dirty="0"/>
              <a:t>オブジェクト</a:t>
            </a:r>
          </a:p>
        </p:txBody>
      </p:sp>
      <p:sp>
        <p:nvSpPr>
          <p:cNvPr id="24" name="コンテンツ プレースホルダー 8"/>
          <p:cNvSpPr>
            <a:spLocks noGrp="1"/>
          </p:cNvSpPr>
          <p:nvPr>
            <p:ph sz="quarter" idx="16" hasCustomPrompt="1"/>
          </p:nvPr>
        </p:nvSpPr>
        <p:spPr>
          <a:xfrm>
            <a:off x="4719676" y="2517789"/>
            <a:ext cx="4016375" cy="2728913"/>
          </a:xfrm>
          <a:prstGeom prst="rect">
            <a:avLst/>
          </a:prstGeom>
        </p:spPr>
        <p:txBody>
          <a:bodyPr lIns="95730" tIns="47866" rIns="95730" bIns="47866"/>
          <a:lstStyle>
            <a:lvl1pPr marL="0" indent="0">
              <a:buNone/>
              <a:defRPr sz="1385"/>
            </a:lvl1pPr>
          </a:lstStyle>
          <a:p>
            <a:pPr lvl="0"/>
            <a:r>
              <a:rPr kumimoji="1" lang="ja-JP" altLang="en-US" dirty="0"/>
              <a:t>オブジェクト</a:t>
            </a:r>
          </a:p>
        </p:txBody>
      </p:sp>
    </p:spTree>
    <p:extLst>
      <p:ext uri="{BB962C8B-B14F-4D97-AF65-F5344CB8AC3E}">
        <p14:creationId xmlns:p14="http://schemas.microsoft.com/office/powerpoint/2010/main" val="1350214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Spread/chart page">
    <p:spTree>
      <p:nvGrpSpPr>
        <p:cNvPr id="1" name=""/>
        <p:cNvGrpSpPr/>
        <p:nvPr/>
      </p:nvGrpSpPr>
      <p:grpSpPr>
        <a:xfrm>
          <a:off x="0" y="0"/>
          <a:ext cx="0" cy="0"/>
          <a:chOff x="0" y="0"/>
          <a:chExt cx="0" cy="0"/>
        </a:xfrm>
      </p:grpSpPr>
      <p:pic>
        <p:nvPicPr>
          <p:cNvPr id="3" name="図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1122" y="6408937"/>
            <a:ext cx="8750749" cy="260363"/>
          </a:xfrm>
          <a:prstGeom prst="rect">
            <a:avLst/>
          </a:prstGeom>
        </p:spPr>
      </p:pic>
      <p:sp>
        <p:nvSpPr>
          <p:cNvPr id="4" name="日付プレースホルダー 32"/>
          <p:cNvSpPr txBox="1">
            <a:spLocks/>
          </p:cNvSpPr>
          <p:nvPr userDrawn="1"/>
        </p:nvSpPr>
        <p:spPr>
          <a:xfrm>
            <a:off x="309673" y="6347999"/>
            <a:ext cx="5402356" cy="365125"/>
          </a:xfrm>
          <a:prstGeom prst="rect">
            <a:avLst/>
          </a:prstGeom>
          <a:ln>
            <a:noFill/>
          </a:ln>
        </p:spPr>
        <p:txBody>
          <a:bodyPr vert="horz" wrap="square" lIns="0" tIns="42203" rIns="84406" bIns="42203"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646" dirty="0">
                <a:solidFill>
                  <a:prstClr val="white"/>
                </a:solidFill>
              </a:rPr>
              <a:t>© 2021 MITSUBISHI HEAVY INDUSTRIES, LTD.  All Rights Reserved.</a:t>
            </a:r>
            <a:endParaRPr lang="ja-JP" altLang="en-US" sz="646" dirty="0">
              <a:solidFill>
                <a:prstClr val="white"/>
              </a:solidFill>
            </a:endParaRPr>
          </a:p>
        </p:txBody>
      </p:sp>
      <p:sp>
        <p:nvSpPr>
          <p:cNvPr id="7" name="スライド番号プレースホルダー 5"/>
          <p:cNvSpPr txBox="1">
            <a:spLocks/>
          </p:cNvSpPr>
          <p:nvPr userDrawn="1"/>
        </p:nvSpPr>
        <p:spPr>
          <a:xfrm>
            <a:off x="8374064" y="6347092"/>
            <a:ext cx="520700" cy="365125"/>
          </a:xfrm>
          <a:prstGeom prst="rect">
            <a:avLst/>
          </a:prstGeom>
          <a:ln>
            <a:noFill/>
          </a:ln>
        </p:spPr>
        <p:txBody>
          <a:bodyPr vert="horz" wrap="square" lIns="84406" tIns="42203" rIns="84406" bIns="42203"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923" smtClean="0">
                <a:latin typeface="Arial"/>
              </a:rPr>
              <a:pPr>
                <a:defRPr/>
              </a:pPr>
              <a:t>‹#›</a:t>
            </a:fld>
            <a:endParaRPr lang="en-US" altLang="ja-JP" sz="923" dirty="0">
              <a:latin typeface="Arial"/>
            </a:endParaRPr>
          </a:p>
        </p:txBody>
      </p:sp>
      <p:cxnSp>
        <p:nvCxnSpPr>
          <p:cNvPr id="21" name="直線コネクタ 20"/>
          <p:cNvCxnSpPr/>
          <p:nvPr userDrawn="1"/>
        </p:nvCxnSpPr>
        <p:spPr>
          <a:xfrm>
            <a:off x="225315" y="564204"/>
            <a:ext cx="874851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4" name="図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87468" y="136960"/>
            <a:ext cx="1286367" cy="274344"/>
          </a:xfrm>
          <a:prstGeom prst="rect">
            <a:avLst/>
          </a:prstGeom>
        </p:spPr>
      </p:pic>
      <p:sp>
        <p:nvSpPr>
          <p:cNvPr id="15" name="タイトル 1"/>
          <p:cNvSpPr>
            <a:spLocks noGrp="1"/>
          </p:cNvSpPr>
          <p:nvPr>
            <p:ph type="title" hasCustomPrompt="1"/>
          </p:nvPr>
        </p:nvSpPr>
        <p:spPr>
          <a:xfrm>
            <a:off x="555459" y="136965"/>
            <a:ext cx="6390090" cy="349961"/>
          </a:xfrm>
          <a:prstGeom prst="rect">
            <a:avLst/>
          </a:prstGeom>
        </p:spPr>
        <p:txBody>
          <a:bodyPr/>
          <a:lstStyle>
            <a:lvl1pPr>
              <a:defRPr sz="2031" b="1"/>
            </a:lvl1pPr>
          </a:lstStyle>
          <a:p>
            <a:r>
              <a:rPr kumimoji="1" lang="ja-JP" altLang="en-US" dirty="0"/>
              <a:t>ページタイトル </a:t>
            </a:r>
            <a:r>
              <a:rPr kumimoji="1" lang="en-US" altLang="ja-JP" dirty="0"/>
              <a:t>22pt</a:t>
            </a:r>
            <a:endParaRPr kumimoji="1" lang="ja-JP" altLang="en-US" dirty="0"/>
          </a:p>
        </p:txBody>
      </p:sp>
      <p:sp>
        <p:nvSpPr>
          <p:cNvPr id="17" name="テキスト プレースホルダー 9"/>
          <p:cNvSpPr>
            <a:spLocks noGrp="1"/>
          </p:cNvSpPr>
          <p:nvPr>
            <p:ph type="body" sz="quarter" idx="10" hasCustomPrompt="1"/>
          </p:nvPr>
        </p:nvSpPr>
        <p:spPr>
          <a:xfrm>
            <a:off x="555625" y="797137"/>
            <a:ext cx="6389688" cy="652463"/>
          </a:xfrm>
          <a:prstGeom prst="rect">
            <a:avLst/>
          </a:prstGeom>
        </p:spPr>
        <p:txBody>
          <a:bodyPr/>
          <a:lstStyle>
            <a:lvl1pPr marL="0" indent="0">
              <a:lnSpc>
                <a:spcPct val="120000"/>
              </a:lnSpc>
              <a:buNone/>
              <a:defRPr sz="1477"/>
            </a:lvl1pPr>
          </a:lstStyle>
          <a:p>
            <a:pPr lvl="0"/>
            <a:r>
              <a:rPr kumimoji="1" lang="ja-JP" altLang="en-US" dirty="0"/>
              <a:t>テキスト </a:t>
            </a:r>
            <a:r>
              <a:rPr kumimoji="1" lang="en-US" altLang="ja-JP" dirty="0"/>
              <a:t>16pt</a:t>
            </a:r>
            <a:endParaRPr kumimoji="1" lang="ja-JP" altLang="en-US" dirty="0"/>
          </a:p>
        </p:txBody>
      </p:sp>
      <p:sp>
        <p:nvSpPr>
          <p:cNvPr id="18" name="テキスト プレースホルダー 18"/>
          <p:cNvSpPr>
            <a:spLocks noGrp="1"/>
          </p:cNvSpPr>
          <p:nvPr>
            <p:ph type="body" sz="quarter" idx="13" hasCustomPrompt="1"/>
          </p:nvPr>
        </p:nvSpPr>
        <p:spPr>
          <a:xfrm>
            <a:off x="558588" y="1525209"/>
            <a:ext cx="8081963" cy="838164"/>
          </a:xfrm>
          <a:prstGeom prst="rect">
            <a:avLst/>
          </a:prstGeom>
        </p:spPr>
        <p:txBody>
          <a:bodyPr numCol="2" spcCol="540000"/>
          <a:lstStyle>
            <a:lvl1pPr marL="0" indent="0">
              <a:lnSpc>
                <a:spcPct val="120000"/>
              </a:lnSpc>
              <a:buNone/>
              <a:defRPr sz="738"/>
            </a:lvl1pPr>
          </a:lstStyle>
          <a:p>
            <a:pPr lvl="0"/>
            <a:r>
              <a:rPr kumimoji="1" lang="ja-JP" altLang="en-US" dirty="0"/>
              <a:t>テキスト </a:t>
            </a:r>
            <a:r>
              <a:rPr kumimoji="1" lang="en-US" altLang="ja-JP" dirty="0"/>
              <a:t>8pt</a:t>
            </a:r>
            <a:endParaRPr kumimoji="1" lang="ja-JP" altLang="en-US" dirty="0"/>
          </a:p>
        </p:txBody>
      </p:sp>
      <p:sp>
        <p:nvSpPr>
          <p:cNvPr id="22" name="テキスト プレースホルダー 18"/>
          <p:cNvSpPr>
            <a:spLocks noGrp="1"/>
          </p:cNvSpPr>
          <p:nvPr>
            <p:ph type="body" sz="quarter" idx="14" hasCustomPrompt="1"/>
          </p:nvPr>
        </p:nvSpPr>
        <p:spPr>
          <a:xfrm>
            <a:off x="558588" y="5434206"/>
            <a:ext cx="8081963" cy="838164"/>
          </a:xfrm>
          <a:prstGeom prst="rect">
            <a:avLst/>
          </a:prstGeom>
        </p:spPr>
        <p:txBody>
          <a:bodyPr numCol="2" spcCol="540000"/>
          <a:lstStyle>
            <a:lvl1pPr marL="0" indent="0">
              <a:lnSpc>
                <a:spcPct val="120000"/>
              </a:lnSpc>
              <a:buNone/>
              <a:defRPr sz="738"/>
            </a:lvl1pPr>
          </a:lstStyle>
          <a:p>
            <a:pPr lvl="0"/>
            <a:r>
              <a:rPr kumimoji="1" lang="ja-JP" altLang="en-US" dirty="0"/>
              <a:t>テキスト </a:t>
            </a:r>
            <a:r>
              <a:rPr kumimoji="1" lang="en-US" altLang="ja-JP" dirty="0"/>
              <a:t>8pt</a:t>
            </a:r>
            <a:endParaRPr kumimoji="1" lang="ja-JP" altLang="en-US" dirty="0"/>
          </a:p>
        </p:txBody>
      </p:sp>
      <p:sp>
        <p:nvSpPr>
          <p:cNvPr id="23" name="コンテンツ プレースホルダー 8"/>
          <p:cNvSpPr>
            <a:spLocks noGrp="1"/>
          </p:cNvSpPr>
          <p:nvPr>
            <p:ph sz="quarter" idx="15" hasCustomPrompt="1"/>
          </p:nvPr>
        </p:nvSpPr>
        <p:spPr>
          <a:xfrm>
            <a:off x="555632" y="2517780"/>
            <a:ext cx="4016375" cy="2728913"/>
          </a:xfrm>
          <a:prstGeom prst="rect">
            <a:avLst/>
          </a:prstGeom>
        </p:spPr>
        <p:txBody>
          <a:bodyPr/>
          <a:lstStyle>
            <a:lvl1pPr marL="0" indent="0">
              <a:buNone/>
              <a:defRPr sz="1292"/>
            </a:lvl1pPr>
          </a:lstStyle>
          <a:p>
            <a:pPr lvl="0"/>
            <a:r>
              <a:rPr kumimoji="1" lang="ja-JP" altLang="en-US" dirty="0"/>
              <a:t>オブジェクト</a:t>
            </a:r>
          </a:p>
        </p:txBody>
      </p:sp>
      <p:sp>
        <p:nvSpPr>
          <p:cNvPr id="24" name="コンテンツ プレースホルダー 8"/>
          <p:cNvSpPr>
            <a:spLocks noGrp="1"/>
          </p:cNvSpPr>
          <p:nvPr>
            <p:ph sz="quarter" idx="16" hasCustomPrompt="1"/>
          </p:nvPr>
        </p:nvSpPr>
        <p:spPr>
          <a:xfrm>
            <a:off x="4719668" y="2517780"/>
            <a:ext cx="4016375" cy="2728913"/>
          </a:xfrm>
          <a:prstGeom prst="rect">
            <a:avLst/>
          </a:prstGeom>
        </p:spPr>
        <p:txBody>
          <a:bodyPr/>
          <a:lstStyle>
            <a:lvl1pPr marL="0" indent="0">
              <a:buNone/>
              <a:defRPr sz="1292"/>
            </a:lvl1pPr>
          </a:lstStyle>
          <a:p>
            <a:pPr lvl="0"/>
            <a:r>
              <a:rPr kumimoji="1" lang="ja-JP" altLang="en-US" dirty="0"/>
              <a:t>オブジェクト</a:t>
            </a:r>
          </a:p>
        </p:txBody>
      </p:sp>
    </p:spTree>
    <p:extLst>
      <p:ext uri="{BB962C8B-B14F-4D97-AF65-F5344CB8AC3E}">
        <p14:creationId xmlns:p14="http://schemas.microsoft.com/office/powerpoint/2010/main" val="15768160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Last page">
    <p:spTree>
      <p:nvGrpSpPr>
        <p:cNvPr id="1" name=""/>
        <p:cNvGrpSpPr/>
        <p:nvPr/>
      </p:nvGrpSpPr>
      <p:grpSpPr>
        <a:xfrm>
          <a:off x="0" y="0"/>
          <a:ext cx="0" cy="0"/>
          <a:chOff x="0" y="0"/>
          <a:chExt cx="0" cy="0"/>
        </a:xfrm>
      </p:grpSpPr>
      <p:pic>
        <p:nvPicPr>
          <p:cNvPr id="3" name="図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63363" y="3258297"/>
            <a:ext cx="6017274" cy="341406"/>
          </a:xfrm>
          <a:prstGeom prst="rect">
            <a:avLst/>
          </a:prstGeom>
        </p:spPr>
      </p:pic>
      <p:pic>
        <p:nvPicPr>
          <p:cNvPr id="4" name="図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92364" y="5805146"/>
            <a:ext cx="1249788" cy="743776"/>
          </a:xfrm>
          <a:prstGeom prst="rect">
            <a:avLst/>
          </a:prstGeom>
        </p:spPr>
      </p:pic>
    </p:spTree>
    <p:extLst>
      <p:ext uri="{BB962C8B-B14F-4D97-AF65-F5344CB8AC3E}">
        <p14:creationId xmlns:p14="http://schemas.microsoft.com/office/powerpoint/2010/main" val="12900835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表紙1">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308726" y="5566335"/>
            <a:ext cx="2387099" cy="351288"/>
          </a:xfrm>
          <a:prstGeom prst="rect">
            <a:avLst/>
          </a:prstGeom>
        </p:spPr>
        <p:txBody>
          <a:bodyPr anchor="ctr"/>
          <a:lstStyle>
            <a:lvl1pPr marL="0" indent="0">
              <a:lnSpc>
                <a:spcPct val="100000"/>
              </a:lnSpc>
              <a:spcBef>
                <a:spcPts val="0"/>
              </a:spcBef>
              <a:buNone/>
              <a:defRPr sz="1200">
                <a:latin typeface="+mn-ea"/>
                <a:ea typeface="+mn-ea"/>
                <a:cs typeface="メイリオ" pitchFamily="50" charset="-128"/>
              </a:defRPr>
            </a:lvl1pPr>
          </a:lstStyle>
          <a:p>
            <a:pPr lvl="0"/>
            <a:r>
              <a:rPr kumimoji="1" lang="en-US" altLang="ja-JP" dirty="0"/>
              <a:t>0000/00/00</a:t>
            </a:r>
            <a:endParaRPr kumimoji="1" lang="ja-JP" altLang="en-US" dirty="0"/>
          </a:p>
        </p:txBody>
      </p:sp>
      <p:sp>
        <p:nvSpPr>
          <p:cNvPr id="16" name="タイトル 2"/>
          <p:cNvSpPr>
            <a:spLocks noGrp="1"/>
          </p:cNvSpPr>
          <p:nvPr>
            <p:ph type="title" hasCustomPrompt="1"/>
          </p:nvPr>
        </p:nvSpPr>
        <p:spPr>
          <a:xfrm>
            <a:off x="308725" y="2699387"/>
            <a:ext cx="8531974" cy="585575"/>
          </a:xfrm>
          <a:prstGeom prst="rect">
            <a:avLst/>
          </a:prstGeom>
        </p:spPr>
        <p:txBody>
          <a:bodyPr/>
          <a:lstStyle>
            <a:lvl1pPr>
              <a:lnSpc>
                <a:spcPct val="100000"/>
              </a:lnSpc>
              <a:spcBef>
                <a:spcPts val="0"/>
              </a:spcBef>
              <a:defRPr sz="2954" b="1" baseline="0">
                <a:solidFill>
                  <a:schemeClr val="tx1"/>
                </a:solidFill>
                <a:latin typeface="+mj-ea"/>
                <a:ea typeface="+mj-ea"/>
                <a:cs typeface="メイリオ" pitchFamily="50" charset="-128"/>
              </a:defRPr>
            </a:lvl1pPr>
          </a:lstStyle>
          <a:p>
            <a:r>
              <a:rPr kumimoji="1" lang="ja-JP" altLang="en-US" dirty="0"/>
              <a:t>表紙タイトル </a:t>
            </a:r>
            <a:r>
              <a:rPr kumimoji="1" lang="en-US" altLang="ja-JP" dirty="0"/>
              <a:t>32pt</a:t>
            </a:r>
            <a:endParaRPr kumimoji="1" lang="ja-JP" altLang="en-US" dirty="0"/>
          </a:p>
        </p:txBody>
      </p:sp>
      <p:sp>
        <p:nvSpPr>
          <p:cNvPr id="18" name="テキスト ボックス 17"/>
          <p:cNvSpPr txBox="1"/>
          <p:nvPr userDrawn="1"/>
        </p:nvSpPr>
        <p:spPr>
          <a:xfrm>
            <a:off x="303301" y="5920206"/>
            <a:ext cx="4318925" cy="276999"/>
          </a:xfrm>
          <a:prstGeom prst="rect">
            <a:avLst/>
          </a:prstGeom>
          <a:noFill/>
        </p:spPr>
        <p:txBody>
          <a:bodyPr wrap="square" rtlCol="0" anchor="t">
            <a:spAutoFit/>
          </a:bodyPr>
          <a:lstStyle/>
          <a:p>
            <a:pPr>
              <a:spcBef>
                <a:spcPts val="0"/>
              </a:spcBef>
              <a:spcAft>
                <a:spcPts val="554"/>
              </a:spcAft>
            </a:pPr>
            <a:r>
              <a:rPr kumimoji="1" lang="ja-JP" altLang="en-US" sz="1200" b="1" dirty="0">
                <a:solidFill>
                  <a:schemeClr val="tx1"/>
                </a:solidFill>
                <a:latin typeface="+mn-ea"/>
                <a:ea typeface="+mn-ea"/>
                <a:cs typeface="メイリオ" pitchFamily="50" charset="-128"/>
              </a:rPr>
              <a:t>三菱重工業株式会社</a:t>
            </a:r>
          </a:p>
        </p:txBody>
      </p:sp>
      <p:pic>
        <p:nvPicPr>
          <p:cNvPr id="11" name="図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437" y="201827"/>
            <a:ext cx="8744712" cy="944880"/>
          </a:xfrm>
          <a:prstGeom prst="rect">
            <a:avLst/>
          </a:prstGeom>
        </p:spPr>
      </p:pic>
      <p:sp>
        <p:nvSpPr>
          <p:cNvPr id="10" name="テキスト プレースホルダー 21">
            <a:extLst>
              <a:ext uri="{FF2B5EF4-FFF2-40B4-BE49-F238E27FC236}">
                <a16:creationId xmlns:a16="http://schemas.microsoft.com/office/drawing/2014/main" id="{A1B3CB4D-6995-4FBD-99A9-97EF83630755}"/>
              </a:ext>
            </a:extLst>
          </p:cNvPr>
          <p:cNvSpPr>
            <a:spLocks noGrp="1"/>
          </p:cNvSpPr>
          <p:nvPr>
            <p:ph type="body" sz="quarter" idx="14" hasCustomPrompt="1"/>
          </p:nvPr>
        </p:nvSpPr>
        <p:spPr>
          <a:xfrm>
            <a:off x="308725" y="3361113"/>
            <a:ext cx="8531974" cy="1676400"/>
          </a:xfrm>
          <a:prstGeom prst="rect">
            <a:avLst/>
          </a:prstGeom>
        </p:spPr>
        <p:txBody>
          <a:bodyPr/>
          <a:lstStyle>
            <a:lvl1pPr marL="0" marR="0" indent="0" algn="l" defTabSz="633062" rtl="0" eaLnBrk="1" fontAlgn="auto" latinLnBrk="0" hangingPunct="1">
              <a:lnSpc>
                <a:spcPct val="120000"/>
              </a:lnSpc>
              <a:spcBef>
                <a:spcPts val="0"/>
              </a:spcBef>
              <a:spcAft>
                <a:spcPts val="0"/>
              </a:spcAft>
              <a:buClrTx/>
              <a:buSzTx/>
              <a:buFont typeface="Arial" panose="020B0604020202020204" pitchFamily="34" charset="0"/>
              <a:buNone/>
              <a:tabLst/>
              <a:defRPr sz="1477" baseline="0">
                <a:solidFill>
                  <a:schemeClr val="tx1"/>
                </a:solidFill>
                <a:latin typeface="+mn-ea"/>
                <a:ea typeface="+mn-ea"/>
                <a:cs typeface="メイリオ" pitchFamily="50" charset="-128"/>
              </a:defRPr>
            </a:lvl1pPr>
          </a:lstStyle>
          <a:p>
            <a:pPr marL="0" marR="0" lvl="0" indent="0" algn="l" defTabSz="633062"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dirty="0"/>
              <a:t>サブタイトル </a:t>
            </a:r>
            <a:r>
              <a:rPr kumimoji="1" lang="en-US" altLang="ja-JP" dirty="0"/>
              <a:t>16pt</a:t>
            </a:r>
            <a:r>
              <a:rPr kumimoji="1" lang="ja-JP" altLang="en-US" dirty="0"/>
              <a:t>　　　　　　　　　　　　　　　　　　　　　　　　　　　　　　　　●複数の会社名やロゴを記載するレイアウトはスライドマスターにあり                          ●写真付きの表紙レイアウト（</a:t>
            </a:r>
            <a:r>
              <a:rPr kumimoji="1" lang="en-US" altLang="ja-JP" dirty="0"/>
              <a:t>2</a:t>
            </a:r>
            <a:r>
              <a:rPr kumimoji="1" lang="ja-JP" altLang="en-US" dirty="0"/>
              <a:t>種）はスライドマスターにあり                                   </a:t>
            </a:r>
            <a:r>
              <a:rPr kumimoji="1" lang="en-US" altLang="ja-JP" dirty="0"/>
              <a:t>※</a:t>
            </a:r>
            <a:r>
              <a:rPr kumimoji="1" lang="ja-JP" altLang="en-US" dirty="0"/>
              <a:t>スライドマスターの変更は別紙「スライドマスター操作ガイド」をご参照ください</a:t>
            </a:r>
          </a:p>
        </p:txBody>
      </p:sp>
      <p:sp>
        <p:nvSpPr>
          <p:cNvPr id="9" name="日付プレースホルダー 32"/>
          <p:cNvSpPr txBox="1">
            <a:spLocks/>
          </p:cNvSpPr>
          <p:nvPr userDrawn="1"/>
        </p:nvSpPr>
        <p:spPr>
          <a:xfrm>
            <a:off x="196437" y="6370976"/>
            <a:ext cx="5402356" cy="365125"/>
          </a:xfrm>
          <a:prstGeom prst="rect">
            <a:avLst/>
          </a:prstGeom>
          <a:ln>
            <a:noFill/>
          </a:ln>
        </p:spPr>
        <p:txBody>
          <a:bodyPr vert="horz" wrap="square" lIns="0" tIns="42203" rIns="84406" bIns="42203"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646" dirty="0">
                <a:solidFill>
                  <a:schemeClr val="tx1"/>
                </a:solidFill>
                <a:latin typeface="+mn-lt"/>
              </a:rPr>
              <a:t>© Mitsubishi Heavy Industries, Ltd.  All Rights Reserved.</a:t>
            </a:r>
            <a:endParaRPr lang="ja-JP" altLang="en-US" sz="646" dirty="0">
              <a:solidFill>
                <a:schemeClr val="tx1"/>
              </a:solidFill>
              <a:latin typeface="+mn-lt"/>
            </a:endParaRPr>
          </a:p>
        </p:txBody>
      </p:sp>
      <p:pic>
        <p:nvPicPr>
          <p:cNvPr id="12" name="図 11">
            <a:extLst>
              <a:ext uri="{FF2B5EF4-FFF2-40B4-BE49-F238E27FC236}">
                <a16:creationId xmlns:a16="http://schemas.microsoft.com/office/drawing/2014/main" id="{9CA45DE1-C1B1-4C0E-B123-54EBEE5258C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5080" y="6421555"/>
            <a:ext cx="1188000" cy="230108"/>
          </a:xfrm>
          <a:prstGeom prst="rect">
            <a:avLst/>
          </a:prstGeom>
        </p:spPr>
      </p:pic>
    </p:spTree>
    <p:extLst>
      <p:ext uri="{BB962C8B-B14F-4D97-AF65-F5344CB8AC3E}">
        <p14:creationId xmlns:p14="http://schemas.microsoft.com/office/powerpoint/2010/main" val="3206388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ロゴ">
    <p:spTree>
      <p:nvGrpSpPr>
        <p:cNvPr id="1" name=""/>
        <p:cNvGrpSpPr/>
        <p:nvPr/>
      </p:nvGrpSpPr>
      <p:grpSpPr>
        <a:xfrm>
          <a:off x="0" y="0"/>
          <a:ext cx="0" cy="0"/>
          <a:chOff x="0" y="0"/>
          <a:chExt cx="0" cy="0"/>
        </a:xfrm>
      </p:grpSpPr>
      <p:pic>
        <p:nvPicPr>
          <p:cNvPr id="4" name="Picture 5" descr="C:\Users\S04\Desktop\名称未設定-2-01.jpg">
            <a:extLst>
              <a:ext uri="{FF2B5EF4-FFF2-40B4-BE49-F238E27FC236}">
                <a16:creationId xmlns:a16="http://schemas.microsoft.com/office/drawing/2014/main" id="{F1494654-01F0-42B3-A66A-EAA98DA1965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938540" y="241201"/>
            <a:ext cx="2964260" cy="516959"/>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a:extLst>
              <a:ext uri="{FF2B5EF4-FFF2-40B4-BE49-F238E27FC236}">
                <a16:creationId xmlns:a16="http://schemas.microsoft.com/office/drawing/2014/main" id="{3A43E3EA-FD6B-48AF-B1FE-280D2B3402F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75920" y="2525034"/>
            <a:ext cx="5286057" cy="1491755"/>
          </a:xfrm>
          <a:prstGeom prst="rect">
            <a:avLst/>
          </a:prstGeom>
          <a:noFill/>
          <a:ln>
            <a:noFill/>
          </a:ln>
        </p:spPr>
      </p:pic>
    </p:spTree>
    <p:extLst>
      <p:ext uri="{BB962C8B-B14F-4D97-AF65-F5344CB8AC3E}">
        <p14:creationId xmlns:p14="http://schemas.microsoft.com/office/powerpoint/2010/main" val="21248459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カラーサンプル">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8120" y="6407161"/>
            <a:ext cx="8747760" cy="262128"/>
          </a:xfrm>
          <a:prstGeom prst="rect">
            <a:avLst/>
          </a:prstGeom>
        </p:spPr>
      </p:pic>
      <p:sp>
        <p:nvSpPr>
          <p:cNvPr id="4" name="日付プレースホルダー 32"/>
          <p:cNvSpPr txBox="1">
            <a:spLocks/>
          </p:cNvSpPr>
          <p:nvPr userDrawn="1"/>
        </p:nvSpPr>
        <p:spPr>
          <a:xfrm>
            <a:off x="309672" y="6357512"/>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bg1"/>
                </a:solidFill>
                <a:latin typeface="+mn-lt"/>
              </a:rPr>
              <a:t>© Mitsubishi Heavy Industries, Ltd.  All Rights Reserved.</a:t>
            </a:r>
            <a:endParaRPr lang="ja-JP" altLang="en-US" sz="700" dirty="0">
              <a:solidFill>
                <a:schemeClr val="bg1"/>
              </a:solidFill>
              <a:latin typeface="+mn-lt"/>
            </a:endParaRPr>
          </a:p>
        </p:txBody>
      </p:sp>
      <p:sp>
        <p:nvSpPr>
          <p:cNvPr id="7" name="スライド番号プレースホルダー 5"/>
          <p:cNvSpPr txBox="1">
            <a:spLocks/>
          </p:cNvSpPr>
          <p:nvPr userDrawn="1"/>
        </p:nvSpPr>
        <p:spPr>
          <a:xfrm>
            <a:off x="8374063" y="6356607"/>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dirty="0">
              <a:latin typeface="Arial"/>
            </a:endParaRPr>
          </a:p>
        </p:txBody>
      </p:sp>
      <p:sp>
        <p:nvSpPr>
          <p:cNvPr id="15" name="タイトル 1"/>
          <p:cNvSpPr>
            <a:spLocks noGrp="1"/>
          </p:cNvSpPr>
          <p:nvPr>
            <p:ph type="title" hasCustomPrompt="1"/>
          </p:nvPr>
        </p:nvSpPr>
        <p:spPr>
          <a:xfrm>
            <a:off x="555459" y="128798"/>
            <a:ext cx="6390090"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dirty="0"/>
              <a:t>ページタイトル </a:t>
            </a:r>
            <a:r>
              <a:rPr kumimoji="1" lang="en-US" altLang="ja-JP" dirty="0"/>
              <a:t>22pt</a:t>
            </a:r>
            <a:endParaRPr kumimoji="1" lang="ja-JP" altLang="en-US" dirty="0"/>
          </a:p>
        </p:txBody>
      </p:sp>
      <p:sp>
        <p:nvSpPr>
          <p:cNvPr id="17" name="テキスト プレースホルダー 9"/>
          <p:cNvSpPr>
            <a:spLocks noGrp="1"/>
          </p:cNvSpPr>
          <p:nvPr>
            <p:ph type="body" sz="quarter" idx="10" hasCustomPrompt="1"/>
          </p:nvPr>
        </p:nvSpPr>
        <p:spPr>
          <a:xfrm>
            <a:off x="555625" y="797131"/>
            <a:ext cx="6389688"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dirty="0"/>
              <a:t>テキスト </a:t>
            </a:r>
            <a:r>
              <a:rPr kumimoji="1" lang="en-US" altLang="ja-JP" dirty="0"/>
              <a:t>16pt</a:t>
            </a:r>
            <a:endParaRPr kumimoji="1" lang="ja-JP" altLang="en-US" dirty="0"/>
          </a:p>
        </p:txBody>
      </p:sp>
      <p:sp>
        <p:nvSpPr>
          <p:cNvPr id="18" name="テキスト プレースホルダー 18"/>
          <p:cNvSpPr>
            <a:spLocks noGrp="1"/>
          </p:cNvSpPr>
          <p:nvPr>
            <p:ph type="body" sz="quarter" idx="13" hasCustomPrompt="1"/>
          </p:nvPr>
        </p:nvSpPr>
        <p:spPr>
          <a:xfrm>
            <a:off x="552450" y="1525210"/>
            <a:ext cx="8191500"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dirty="0"/>
              <a:t>テキスト </a:t>
            </a:r>
            <a:r>
              <a:rPr kumimoji="1" lang="en-US" altLang="ja-JP" dirty="0"/>
              <a:t>10pt</a:t>
            </a:r>
            <a:endParaRPr kumimoji="1" lang="ja-JP" altLang="en-US" dirty="0"/>
          </a:p>
        </p:txBody>
      </p:sp>
      <p:cxnSp>
        <p:nvCxnSpPr>
          <p:cNvPr id="21" name="直線コネクタ 20"/>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1CBBDA9B-E97E-4157-8C9B-E181F614B24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4266" y="169645"/>
            <a:ext cx="1188000" cy="230108"/>
          </a:xfrm>
          <a:prstGeom prst="rect">
            <a:avLst/>
          </a:prstGeom>
        </p:spPr>
      </p:pic>
    </p:spTree>
    <p:extLst>
      <p:ext uri="{BB962C8B-B14F-4D97-AF65-F5344CB8AC3E}">
        <p14:creationId xmlns:p14="http://schemas.microsoft.com/office/powerpoint/2010/main" val="31732367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表紙1">
    <p:spTree>
      <p:nvGrpSpPr>
        <p:cNvPr id="1" name=""/>
        <p:cNvGrpSpPr/>
        <p:nvPr/>
      </p:nvGrpSpPr>
      <p:grpSpPr>
        <a:xfrm>
          <a:off x="0" y="0"/>
          <a:ext cx="0" cy="0"/>
          <a:chOff x="0" y="0"/>
          <a:chExt cx="0" cy="0"/>
        </a:xfrm>
      </p:grpSpPr>
      <p:sp>
        <p:nvSpPr>
          <p:cNvPr id="16" name="タイトル 2"/>
          <p:cNvSpPr>
            <a:spLocks noGrp="1"/>
          </p:cNvSpPr>
          <p:nvPr>
            <p:ph type="title" hasCustomPrompt="1"/>
          </p:nvPr>
        </p:nvSpPr>
        <p:spPr>
          <a:xfrm>
            <a:off x="308725" y="2699385"/>
            <a:ext cx="8531974" cy="585575"/>
          </a:xfrm>
          <a:prstGeom prst="rect">
            <a:avLst/>
          </a:prstGeom>
        </p:spPr>
        <p:txBody>
          <a:bodyPr/>
          <a:lstStyle>
            <a:lvl1pPr>
              <a:lnSpc>
                <a:spcPct val="100000"/>
              </a:lnSpc>
              <a:spcBef>
                <a:spcPts val="0"/>
              </a:spcBef>
              <a:defRPr sz="3200" b="1" baseline="0">
                <a:solidFill>
                  <a:schemeClr val="tx1"/>
                </a:solidFill>
                <a:latin typeface="+mj-ea"/>
                <a:ea typeface="+mj-ea"/>
                <a:cs typeface="メイリオ" pitchFamily="50" charset="-128"/>
              </a:defRPr>
            </a:lvl1pPr>
          </a:lstStyle>
          <a:p>
            <a:r>
              <a:rPr kumimoji="1" lang="ja-JP" altLang="en-US" dirty="0"/>
              <a:t>表紙タイトル </a:t>
            </a:r>
            <a:r>
              <a:rPr kumimoji="1" lang="en-US" altLang="ja-JP" dirty="0"/>
              <a:t>32pt</a:t>
            </a:r>
            <a:endParaRPr kumimoji="1" lang="ja-JP" altLang="en-US" dirty="0"/>
          </a:p>
        </p:txBody>
      </p:sp>
      <p:pic>
        <p:nvPicPr>
          <p:cNvPr id="11" name="図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437" y="201827"/>
            <a:ext cx="8744712" cy="944880"/>
          </a:xfrm>
          <a:prstGeom prst="rect">
            <a:avLst/>
          </a:prstGeom>
        </p:spPr>
      </p:pic>
      <p:sp>
        <p:nvSpPr>
          <p:cNvPr id="9" name="日付プレースホルダー 32"/>
          <p:cNvSpPr txBox="1">
            <a:spLocks/>
          </p:cNvSpPr>
          <p:nvPr userDrawn="1"/>
        </p:nvSpPr>
        <p:spPr>
          <a:xfrm>
            <a:off x="196437" y="6370974"/>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tx1"/>
                </a:solidFill>
                <a:latin typeface="+mn-lt"/>
              </a:rPr>
              <a:t>© Mitsubishi Heavy Industries, Ltd.  All Rights Reserved.</a:t>
            </a:r>
            <a:endParaRPr lang="ja-JP" altLang="en-US" sz="700" dirty="0">
              <a:solidFill>
                <a:schemeClr val="tx1"/>
              </a:solidFill>
              <a:latin typeface="+mn-lt"/>
            </a:endParaRPr>
          </a:p>
        </p:txBody>
      </p:sp>
    </p:spTree>
    <p:extLst>
      <p:ext uri="{BB962C8B-B14F-4D97-AF65-F5344CB8AC3E}">
        <p14:creationId xmlns:p14="http://schemas.microsoft.com/office/powerpoint/2010/main" val="2001718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カラーサンプル　複数">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8120" y="6407161"/>
            <a:ext cx="8747760" cy="262128"/>
          </a:xfrm>
          <a:prstGeom prst="rect">
            <a:avLst/>
          </a:prstGeom>
        </p:spPr>
      </p:pic>
      <p:sp>
        <p:nvSpPr>
          <p:cNvPr id="7" name="スライド番号プレースホルダー 5"/>
          <p:cNvSpPr txBox="1">
            <a:spLocks/>
          </p:cNvSpPr>
          <p:nvPr userDrawn="1"/>
        </p:nvSpPr>
        <p:spPr>
          <a:xfrm>
            <a:off x="8374063" y="6356605"/>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dirty="0">
              <a:latin typeface="Arial"/>
            </a:endParaRPr>
          </a:p>
        </p:txBody>
      </p:sp>
      <p:sp>
        <p:nvSpPr>
          <p:cNvPr id="15" name="タイトル 1"/>
          <p:cNvSpPr>
            <a:spLocks noGrp="1"/>
          </p:cNvSpPr>
          <p:nvPr>
            <p:ph type="title" hasCustomPrompt="1"/>
          </p:nvPr>
        </p:nvSpPr>
        <p:spPr>
          <a:xfrm>
            <a:off x="258555" y="128795"/>
            <a:ext cx="7135022"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dirty="0"/>
              <a:t>ページタイトル </a:t>
            </a:r>
            <a:r>
              <a:rPr kumimoji="1" lang="en-US" altLang="ja-JP" dirty="0"/>
              <a:t>22pt</a:t>
            </a:r>
            <a:endParaRPr kumimoji="1" lang="ja-JP" altLang="en-US" dirty="0"/>
          </a:p>
        </p:txBody>
      </p:sp>
      <p:sp>
        <p:nvSpPr>
          <p:cNvPr id="17" name="テキスト プレースホルダー 9"/>
          <p:cNvSpPr>
            <a:spLocks noGrp="1"/>
          </p:cNvSpPr>
          <p:nvPr>
            <p:ph type="body" sz="quarter" idx="10" hasCustomPrompt="1"/>
          </p:nvPr>
        </p:nvSpPr>
        <p:spPr>
          <a:xfrm>
            <a:off x="258555" y="797128"/>
            <a:ext cx="8636208" cy="652463"/>
          </a:xfrm>
          <a:prstGeom prst="rect">
            <a:avLst/>
          </a:prstGeom>
        </p:spPr>
        <p:txBody>
          <a:bodyPr/>
          <a:lstStyle>
            <a:lvl1pPr marL="0" indent="0">
              <a:lnSpc>
                <a:spcPct val="100000"/>
              </a:lnSpc>
              <a:spcBef>
                <a:spcPts val="0"/>
              </a:spcBef>
              <a:buNone/>
              <a:defRPr sz="1600">
                <a:latin typeface="+mn-ea"/>
                <a:ea typeface="+mn-ea"/>
                <a:cs typeface="メイリオ" pitchFamily="50" charset="-128"/>
              </a:defRPr>
            </a:lvl1pPr>
          </a:lstStyle>
          <a:p>
            <a:pPr lvl="0"/>
            <a:r>
              <a:rPr kumimoji="1" lang="ja-JP" altLang="en-US" dirty="0"/>
              <a:t>テキスト </a:t>
            </a:r>
            <a:r>
              <a:rPr kumimoji="1" lang="en-US" altLang="ja-JP" dirty="0"/>
              <a:t>16pt</a:t>
            </a:r>
            <a:endParaRPr kumimoji="1" lang="ja-JP" altLang="en-US" dirty="0"/>
          </a:p>
        </p:txBody>
      </p:sp>
      <p:cxnSp>
        <p:nvCxnSpPr>
          <p:cNvPr id="21" name="直線コネクタ 20"/>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日付プレースホルダー 32"/>
          <p:cNvSpPr txBox="1">
            <a:spLocks/>
          </p:cNvSpPr>
          <p:nvPr userDrawn="1"/>
        </p:nvSpPr>
        <p:spPr>
          <a:xfrm>
            <a:off x="309672" y="6357512"/>
            <a:ext cx="8636208"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r>
              <a:rPr lang="en-US" altLang="ja-JP" sz="700" dirty="0">
                <a:solidFill>
                  <a:schemeClr val="bg1"/>
                </a:solidFill>
                <a:latin typeface="+mn-lt"/>
              </a:rPr>
              <a:t>© Mitsubishi Heavy Industries, Ltd.  All Rights Reserved.</a:t>
            </a:r>
            <a:r>
              <a:rPr lang="ja-JP" altLang="en-US" sz="700" dirty="0">
                <a:solidFill>
                  <a:schemeClr val="bg1"/>
                </a:solidFill>
                <a:latin typeface="+mn-lt"/>
              </a:rPr>
              <a:t>　　　　</a:t>
            </a:r>
            <a:r>
              <a:rPr kumimoji="1" lang="en-US" altLang="ja-JP" sz="700" kern="1200" dirty="0">
                <a:solidFill>
                  <a:schemeClr val="bg1"/>
                </a:solidFill>
                <a:latin typeface="Arial" pitchFamily="34" charset="0"/>
                <a:ea typeface="ＭＳ Ｐゴシック" pitchFamily="50" charset="-128"/>
                <a:cs typeface="+mn-cs"/>
              </a:rPr>
              <a:t>© </a:t>
            </a:r>
            <a:r>
              <a:rPr lang="en-US" altLang="ja-JP" sz="700" dirty="0">
                <a:solidFill>
                  <a:schemeClr val="bg1"/>
                </a:solidFill>
                <a:latin typeface="+mj-lt"/>
              </a:rPr>
              <a:t>Mitsubishi Heavy Industries </a:t>
            </a:r>
            <a:r>
              <a:rPr kumimoji="1" lang="en-US" altLang="ja-JP" sz="500" kern="1200" dirty="0">
                <a:solidFill>
                  <a:schemeClr val="bg1"/>
                </a:solidFill>
                <a:latin typeface="Arial" pitchFamily="34" charset="0"/>
                <a:ea typeface="ＭＳ Ｐゴシック" pitchFamily="50" charset="-128"/>
                <a:cs typeface="+mn-cs"/>
              </a:rPr>
              <a:t>□□□□</a:t>
            </a:r>
            <a:r>
              <a:rPr lang="en-US" altLang="ja-JP" sz="500" dirty="0">
                <a:solidFill>
                  <a:schemeClr val="bg1"/>
                </a:solidFill>
                <a:latin typeface="+mj-lt"/>
              </a:rPr>
              <a:t>□□□□</a:t>
            </a:r>
            <a:r>
              <a:rPr lang="en-US" altLang="ja-JP" sz="700" dirty="0">
                <a:solidFill>
                  <a:schemeClr val="bg1"/>
                </a:solidFill>
                <a:latin typeface="+mj-lt"/>
              </a:rPr>
              <a:t> Co., Ltd. All Rights Reserved. </a:t>
            </a:r>
          </a:p>
        </p:txBody>
      </p:sp>
      <p:pic>
        <p:nvPicPr>
          <p:cNvPr id="11" name="図 10">
            <a:extLst>
              <a:ext uri="{FF2B5EF4-FFF2-40B4-BE49-F238E27FC236}">
                <a16:creationId xmlns:a16="http://schemas.microsoft.com/office/drawing/2014/main" id="{AAA88AE6-DD0D-4FAC-B5DD-357B3785BBC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4266" y="169645"/>
            <a:ext cx="1188000" cy="230108"/>
          </a:xfrm>
          <a:prstGeom prst="rect">
            <a:avLst/>
          </a:prstGeom>
        </p:spPr>
      </p:pic>
    </p:spTree>
    <p:extLst>
      <p:ext uri="{BB962C8B-B14F-4D97-AF65-F5344CB8AC3E}">
        <p14:creationId xmlns:p14="http://schemas.microsoft.com/office/powerpoint/2010/main" val="1266231209"/>
      </p:ext>
    </p:extLst>
  </p:cSld>
  <p:clrMapOvr>
    <a:masterClrMapping/>
  </p:clrMapOvr>
  <p:extLst>
    <p:ext uri="{DCECCB84-F9BA-43D5-87BE-67443E8EF086}">
      <p15:sldGuideLst xmlns:p15="http://schemas.microsoft.com/office/powerpoint/2012/main">
        <p15:guide id="1" orient="horz" pos="1026">
          <p15:clr>
            <a:srgbClr val="FBAE40"/>
          </p15:clr>
        </p15:guide>
        <p15:guide id="2" orient="horz" pos="397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コンテンツ">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8120" y="6407161"/>
            <a:ext cx="8747760" cy="262128"/>
          </a:xfrm>
          <a:prstGeom prst="rect">
            <a:avLst/>
          </a:prstGeom>
        </p:spPr>
      </p:pic>
      <p:sp>
        <p:nvSpPr>
          <p:cNvPr id="4" name="日付プレースホルダー 32"/>
          <p:cNvSpPr txBox="1">
            <a:spLocks/>
          </p:cNvSpPr>
          <p:nvPr userDrawn="1"/>
        </p:nvSpPr>
        <p:spPr>
          <a:xfrm>
            <a:off x="309672" y="6357512"/>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bg1"/>
                </a:solidFill>
                <a:latin typeface="+mn-lt"/>
              </a:rPr>
              <a:t>© Mitsubishi Heavy Industries, Ltd.  All Rights Reserved.</a:t>
            </a:r>
            <a:endParaRPr lang="ja-JP" altLang="en-US" sz="700" dirty="0">
              <a:solidFill>
                <a:schemeClr val="bg1"/>
              </a:solidFill>
              <a:latin typeface="+mn-lt"/>
            </a:endParaRPr>
          </a:p>
        </p:txBody>
      </p:sp>
      <p:sp>
        <p:nvSpPr>
          <p:cNvPr id="7" name="スライド番号プレースホルダー 5"/>
          <p:cNvSpPr txBox="1">
            <a:spLocks/>
          </p:cNvSpPr>
          <p:nvPr userDrawn="1"/>
        </p:nvSpPr>
        <p:spPr>
          <a:xfrm>
            <a:off x="8374063" y="6356607"/>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dirty="0">
              <a:latin typeface="Arial"/>
            </a:endParaRPr>
          </a:p>
        </p:txBody>
      </p:sp>
      <p:sp>
        <p:nvSpPr>
          <p:cNvPr id="15" name="タイトル 1"/>
          <p:cNvSpPr>
            <a:spLocks noGrp="1"/>
          </p:cNvSpPr>
          <p:nvPr>
            <p:ph type="title" hasCustomPrompt="1"/>
          </p:nvPr>
        </p:nvSpPr>
        <p:spPr>
          <a:xfrm>
            <a:off x="555459" y="128798"/>
            <a:ext cx="6390090"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dirty="0"/>
              <a:t>ページタイトル </a:t>
            </a:r>
            <a:r>
              <a:rPr kumimoji="1" lang="en-US" altLang="ja-JP" dirty="0"/>
              <a:t>22pt</a:t>
            </a:r>
            <a:endParaRPr kumimoji="1" lang="ja-JP" altLang="en-US" dirty="0"/>
          </a:p>
        </p:txBody>
      </p:sp>
      <p:sp>
        <p:nvSpPr>
          <p:cNvPr id="17" name="テキスト プレースホルダー 9"/>
          <p:cNvSpPr>
            <a:spLocks noGrp="1"/>
          </p:cNvSpPr>
          <p:nvPr>
            <p:ph type="body" sz="quarter" idx="10" hasCustomPrompt="1"/>
          </p:nvPr>
        </p:nvSpPr>
        <p:spPr>
          <a:xfrm>
            <a:off x="555625" y="797131"/>
            <a:ext cx="6389688" cy="652463"/>
          </a:xfrm>
          <a:prstGeom prst="rect">
            <a:avLst/>
          </a:prstGeom>
        </p:spPr>
        <p:txBody>
          <a:bodyPr/>
          <a:lstStyle>
            <a:lvl1pPr marL="0" marR="0" indent="0" algn="l" defTabSz="685800" rtl="0" eaLnBrk="1" fontAlgn="auto" latinLnBrk="0" hangingPunct="1">
              <a:lnSpc>
                <a:spcPct val="120000"/>
              </a:lnSpc>
              <a:spcBef>
                <a:spcPts val="750"/>
              </a:spcBef>
              <a:spcAft>
                <a:spcPts val="0"/>
              </a:spcAft>
              <a:buClrTx/>
              <a:buSzTx/>
              <a:buFont typeface="Arial" panose="020B0604020202020204" pitchFamily="34" charset="0"/>
              <a:buNone/>
              <a:tabLst/>
              <a:defRPr sz="1600">
                <a:latin typeface="+mn-ea"/>
                <a:ea typeface="+mn-ea"/>
                <a:cs typeface="メイリオ" pitchFamily="50" charset="-128"/>
              </a:defRPr>
            </a:lvl1pPr>
          </a:lstStyle>
          <a:p>
            <a:pPr marL="0" marR="0" lvl="0" indent="0" algn="l" defTabSz="685800" rtl="0" eaLnBrk="1" fontAlgn="auto" latinLnBrk="0" hangingPunct="1">
              <a:lnSpc>
                <a:spcPct val="120000"/>
              </a:lnSpc>
              <a:spcBef>
                <a:spcPts val="750"/>
              </a:spcBef>
              <a:spcAft>
                <a:spcPts val="0"/>
              </a:spcAft>
              <a:buClrTx/>
              <a:buSzTx/>
              <a:buFont typeface="Arial" panose="020B0604020202020204" pitchFamily="34" charset="0"/>
              <a:buNone/>
              <a:tabLst/>
              <a:defRPr/>
            </a:pPr>
            <a:r>
              <a:rPr kumimoji="1" lang="ja-JP" altLang="en-US" dirty="0"/>
              <a:t>テキスト </a:t>
            </a:r>
            <a:r>
              <a:rPr kumimoji="1" lang="en-US" altLang="ja-JP" dirty="0"/>
              <a:t>16pt</a:t>
            </a:r>
            <a:endParaRPr kumimoji="1" lang="ja-JP" altLang="en-US" dirty="0"/>
          </a:p>
        </p:txBody>
      </p:sp>
      <p:sp>
        <p:nvSpPr>
          <p:cNvPr id="18" name="テキスト プレースホルダー 18"/>
          <p:cNvSpPr>
            <a:spLocks noGrp="1"/>
          </p:cNvSpPr>
          <p:nvPr>
            <p:ph type="body" sz="quarter" idx="13" hasCustomPrompt="1"/>
          </p:nvPr>
        </p:nvSpPr>
        <p:spPr>
          <a:xfrm>
            <a:off x="552450" y="1525210"/>
            <a:ext cx="8191500"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dirty="0"/>
              <a:t>テキスト </a:t>
            </a:r>
            <a:r>
              <a:rPr kumimoji="1" lang="en-US" altLang="ja-JP" dirty="0"/>
              <a:t>10pt</a:t>
            </a:r>
            <a:endParaRPr kumimoji="1" lang="ja-JP" altLang="en-US" dirty="0"/>
          </a:p>
        </p:txBody>
      </p:sp>
      <p:sp>
        <p:nvSpPr>
          <p:cNvPr id="22" name="テキスト プレースホルダー 18"/>
          <p:cNvSpPr>
            <a:spLocks noGrp="1"/>
          </p:cNvSpPr>
          <p:nvPr>
            <p:ph type="body" sz="quarter" idx="14" hasCustomPrompt="1"/>
          </p:nvPr>
        </p:nvSpPr>
        <p:spPr>
          <a:xfrm>
            <a:off x="552450" y="5434207"/>
            <a:ext cx="8191499" cy="838164"/>
          </a:xfrm>
          <a:prstGeom prst="rect">
            <a:avLst/>
          </a:prstGeom>
        </p:spPr>
        <p:txBody>
          <a:bodyPr numCol="2" spcCol="540000"/>
          <a:lstStyle>
            <a:lvl1pPr marL="0" indent="0">
              <a:lnSpc>
                <a:spcPct val="100000"/>
              </a:lnSpc>
              <a:spcBef>
                <a:spcPts val="0"/>
              </a:spcBef>
              <a:buNone/>
              <a:defRPr sz="1000">
                <a:latin typeface="+mn-ea"/>
                <a:ea typeface="+mn-ea"/>
                <a:cs typeface="メイリオ" pitchFamily="50" charset="-128"/>
              </a:defRPr>
            </a:lvl1pPr>
          </a:lstStyle>
          <a:p>
            <a:pPr lvl="0"/>
            <a:r>
              <a:rPr kumimoji="1" lang="ja-JP" altLang="en-US" dirty="0"/>
              <a:t>テキスト </a:t>
            </a:r>
            <a:r>
              <a:rPr kumimoji="1" lang="en-US" altLang="ja-JP" dirty="0"/>
              <a:t>10pt</a:t>
            </a:r>
            <a:endParaRPr kumimoji="1" lang="ja-JP" altLang="en-US" dirty="0"/>
          </a:p>
        </p:txBody>
      </p:sp>
      <p:sp>
        <p:nvSpPr>
          <p:cNvPr id="23" name="コンテンツ プレースホルダー 8"/>
          <p:cNvSpPr>
            <a:spLocks noGrp="1"/>
          </p:cNvSpPr>
          <p:nvPr>
            <p:ph sz="quarter" idx="15" hasCustomPrompt="1"/>
          </p:nvPr>
        </p:nvSpPr>
        <p:spPr>
          <a:xfrm>
            <a:off x="555626" y="2517778"/>
            <a:ext cx="4016375" cy="2728913"/>
          </a:xfrm>
          <a:prstGeom prst="rect">
            <a:avLst/>
          </a:prstGeom>
        </p:spPr>
        <p:txBody>
          <a:bodyPr/>
          <a:lstStyle>
            <a:lvl1pPr marL="0" indent="0">
              <a:lnSpc>
                <a:spcPct val="100000"/>
              </a:lnSpc>
              <a:spcBef>
                <a:spcPts val="0"/>
              </a:spcBef>
              <a:buNone/>
              <a:defRPr sz="1400">
                <a:latin typeface="+mn-ea"/>
                <a:ea typeface="+mn-ea"/>
                <a:cs typeface="メイリオ" pitchFamily="50" charset="-128"/>
              </a:defRPr>
            </a:lvl1pPr>
          </a:lstStyle>
          <a:p>
            <a:pPr lvl="0"/>
            <a:r>
              <a:rPr kumimoji="1" lang="ja-JP" altLang="en-US" dirty="0"/>
              <a:t>オブジェクト</a:t>
            </a:r>
          </a:p>
        </p:txBody>
      </p:sp>
      <p:sp>
        <p:nvSpPr>
          <p:cNvPr id="24" name="コンテンツ プレースホルダー 8"/>
          <p:cNvSpPr>
            <a:spLocks noGrp="1"/>
          </p:cNvSpPr>
          <p:nvPr>
            <p:ph sz="quarter" idx="16" hasCustomPrompt="1"/>
          </p:nvPr>
        </p:nvSpPr>
        <p:spPr>
          <a:xfrm>
            <a:off x="4719665" y="2517778"/>
            <a:ext cx="4016375" cy="2728913"/>
          </a:xfrm>
          <a:prstGeom prst="rect">
            <a:avLst/>
          </a:prstGeom>
        </p:spPr>
        <p:txBody>
          <a:bodyPr/>
          <a:lstStyle>
            <a:lvl1pPr marL="0" indent="0">
              <a:lnSpc>
                <a:spcPct val="100000"/>
              </a:lnSpc>
              <a:spcBef>
                <a:spcPts val="0"/>
              </a:spcBef>
              <a:buNone/>
              <a:defRPr sz="1400">
                <a:latin typeface="+mn-ea"/>
                <a:ea typeface="+mn-ea"/>
                <a:cs typeface="メイリオ" pitchFamily="50" charset="-128"/>
              </a:defRPr>
            </a:lvl1pPr>
          </a:lstStyle>
          <a:p>
            <a:pPr lvl="0"/>
            <a:r>
              <a:rPr kumimoji="1" lang="ja-JP" altLang="en-US" dirty="0"/>
              <a:t>オブジェクト</a:t>
            </a:r>
          </a:p>
        </p:txBody>
      </p:sp>
      <p:cxnSp>
        <p:nvCxnSpPr>
          <p:cNvPr id="21" name="直線コネクタ 20"/>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2DAFCD39-86C5-4FFF-A35F-130E48AB77C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4266" y="169645"/>
            <a:ext cx="1188000" cy="230108"/>
          </a:xfrm>
          <a:prstGeom prst="rect">
            <a:avLst/>
          </a:prstGeom>
        </p:spPr>
      </p:pic>
    </p:spTree>
    <p:extLst>
      <p:ext uri="{BB962C8B-B14F-4D97-AF65-F5344CB8AC3E}">
        <p14:creationId xmlns:p14="http://schemas.microsoft.com/office/powerpoint/2010/main" val="21558653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page">
    <p:spTree>
      <p:nvGrpSpPr>
        <p:cNvPr id="1" name=""/>
        <p:cNvGrpSpPr/>
        <p:nvPr/>
      </p:nvGrpSpPr>
      <p:grpSpPr>
        <a:xfrm>
          <a:off x="0" y="0"/>
          <a:ext cx="0" cy="0"/>
          <a:chOff x="0" y="0"/>
          <a:chExt cx="0" cy="0"/>
        </a:xfrm>
      </p:grpSpPr>
      <p:pic>
        <p:nvPicPr>
          <p:cNvPr id="6" name="図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9499" y="201827"/>
            <a:ext cx="8744712" cy="944860"/>
          </a:xfrm>
          <a:prstGeom prst="rect">
            <a:avLst/>
          </a:prstGeom>
        </p:spPr>
      </p:pic>
      <p:sp>
        <p:nvSpPr>
          <p:cNvPr id="7" name="タイトル 1"/>
          <p:cNvSpPr>
            <a:spLocks noGrp="1"/>
          </p:cNvSpPr>
          <p:nvPr>
            <p:ph type="title" hasCustomPrompt="1"/>
          </p:nvPr>
        </p:nvSpPr>
        <p:spPr>
          <a:xfrm>
            <a:off x="313840" y="2601912"/>
            <a:ext cx="8632424" cy="577409"/>
          </a:xfrm>
          <a:prstGeom prst="rect">
            <a:avLst/>
          </a:prstGeom>
        </p:spPr>
        <p:txBody>
          <a:bodyPr lIns="95730" tIns="47866" rIns="95730" bIns="47866"/>
          <a:lstStyle>
            <a:lvl1pPr>
              <a:defRPr sz="3139" b="1" baseline="0"/>
            </a:lvl1pPr>
          </a:lstStyle>
          <a:p>
            <a:r>
              <a:rPr kumimoji="1" lang="ja-JP" altLang="en-US" dirty="0"/>
              <a:t>章タイトルテキスト</a:t>
            </a:r>
          </a:p>
        </p:txBody>
      </p:sp>
      <p:sp>
        <p:nvSpPr>
          <p:cNvPr id="8" name="テキスト プレースホルダー 7"/>
          <p:cNvSpPr>
            <a:spLocks noGrp="1"/>
          </p:cNvSpPr>
          <p:nvPr>
            <p:ph type="body" sz="quarter" idx="12" hasCustomPrompt="1"/>
          </p:nvPr>
        </p:nvSpPr>
        <p:spPr>
          <a:xfrm>
            <a:off x="308736" y="3248720"/>
            <a:ext cx="8632825" cy="1362748"/>
          </a:xfrm>
          <a:prstGeom prst="rect">
            <a:avLst/>
          </a:prstGeom>
        </p:spPr>
        <p:txBody>
          <a:bodyPr lIns="95730" tIns="47866" rIns="95730" bIns="47866"/>
          <a:lstStyle>
            <a:lvl1pPr marL="0" marR="0" indent="0" algn="l" defTabSz="662761" rtl="0" eaLnBrk="1" fontAlgn="auto" latinLnBrk="0" hangingPunct="1">
              <a:lnSpc>
                <a:spcPct val="120000"/>
              </a:lnSpc>
              <a:spcBef>
                <a:spcPts val="726"/>
              </a:spcBef>
              <a:spcAft>
                <a:spcPts val="0"/>
              </a:spcAft>
              <a:buClrTx/>
              <a:buSzTx/>
              <a:buFont typeface="Arial" panose="020B0604020202020204" pitchFamily="34" charset="0"/>
              <a:buNone/>
              <a:tabLst/>
              <a:defRPr sz="1477">
                <a:solidFill>
                  <a:schemeClr val="tx1"/>
                </a:solidFill>
              </a:defRPr>
            </a:lvl1pPr>
          </a:lstStyle>
          <a:p>
            <a:pPr marL="0" marR="0" lvl="0" indent="0" algn="l" defTabSz="662761" rtl="0" eaLnBrk="1" fontAlgn="auto" latinLnBrk="0" hangingPunct="1">
              <a:lnSpc>
                <a:spcPct val="120000"/>
              </a:lnSpc>
              <a:spcBef>
                <a:spcPts val="726"/>
              </a:spcBef>
              <a:spcAft>
                <a:spcPts val="0"/>
              </a:spcAft>
              <a:buClrTx/>
              <a:buSzTx/>
              <a:buFont typeface="Arial" panose="020B0604020202020204" pitchFamily="34" charset="0"/>
              <a:buNone/>
              <a:tabLst/>
              <a:defRPr/>
            </a:pPr>
            <a:r>
              <a:rPr kumimoji="1" lang="ja-JP" altLang="en-US" dirty="0"/>
              <a:t>サブタイトル</a:t>
            </a:r>
            <a:r>
              <a:rPr kumimoji="1" lang="en-US" altLang="ja-JP" dirty="0"/>
              <a:t>16pt</a:t>
            </a:r>
          </a:p>
        </p:txBody>
      </p:sp>
    </p:spTree>
    <p:extLst>
      <p:ext uri="{BB962C8B-B14F-4D97-AF65-F5344CB8AC3E}">
        <p14:creationId xmlns:p14="http://schemas.microsoft.com/office/powerpoint/2010/main" val="2448005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pread/chart page">
    <p:spTree>
      <p:nvGrpSpPr>
        <p:cNvPr id="1" name=""/>
        <p:cNvGrpSpPr/>
        <p:nvPr/>
      </p:nvGrpSpPr>
      <p:grpSpPr>
        <a:xfrm>
          <a:off x="0" y="0"/>
          <a:ext cx="0" cy="0"/>
          <a:chOff x="0" y="0"/>
          <a:chExt cx="0" cy="0"/>
        </a:xfrm>
      </p:grpSpPr>
      <p:pic>
        <p:nvPicPr>
          <p:cNvPr id="3" name="図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1127" y="6408946"/>
            <a:ext cx="8750749" cy="260363"/>
          </a:xfrm>
          <a:prstGeom prst="rect">
            <a:avLst/>
          </a:prstGeom>
        </p:spPr>
      </p:pic>
      <p:sp>
        <p:nvSpPr>
          <p:cNvPr id="4" name="日付プレースホルダー 32"/>
          <p:cNvSpPr txBox="1">
            <a:spLocks/>
          </p:cNvSpPr>
          <p:nvPr userDrawn="1"/>
        </p:nvSpPr>
        <p:spPr>
          <a:xfrm>
            <a:off x="309673" y="6348011"/>
            <a:ext cx="5402356" cy="365125"/>
          </a:xfrm>
          <a:prstGeom prst="rect">
            <a:avLst/>
          </a:prstGeom>
          <a:ln>
            <a:noFill/>
          </a:ln>
        </p:spPr>
        <p:txBody>
          <a:bodyPr vert="horz" wrap="square" lIns="0" tIns="44184" rIns="88366" bIns="44184"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646" dirty="0">
                <a:solidFill>
                  <a:prstClr val="white"/>
                </a:solidFill>
              </a:rPr>
              <a:t>© 2021 MITSUBISHI HEAVY INDUSTRIES, LTD.  All Rights Reserved.</a:t>
            </a:r>
            <a:endParaRPr lang="ja-JP" altLang="en-US" sz="646" dirty="0">
              <a:solidFill>
                <a:prstClr val="white"/>
              </a:solidFill>
            </a:endParaRPr>
          </a:p>
        </p:txBody>
      </p:sp>
      <p:sp>
        <p:nvSpPr>
          <p:cNvPr id="7" name="スライド番号プレースホルダー 5"/>
          <p:cNvSpPr txBox="1">
            <a:spLocks/>
          </p:cNvSpPr>
          <p:nvPr userDrawn="1"/>
        </p:nvSpPr>
        <p:spPr>
          <a:xfrm>
            <a:off x="8374064" y="6347104"/>
            <a:ext cx="520700" cy="365125"/>
          </a:xfrm>
          <a:prstGeom prst="rect">
            <a:avLst/>
          </a:prstGeom>
          <a:ln>
            <a:noFill/>
          </a:ln>
        </p:spPr>
        <p:txBody>
          <a:bodyPr vert="horz" wrap="square" lIns="88366" tIns="44184" rIns="88366" bIns="44184"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923" smtClean="0"/>
              <a:pPr>
                <a:defRPr/>
              </a:pPr>
              <a:t>‹#›</a:t>
            </a:fld>
            <a:endParaRPr lang="en-US" altLang="ja-JP" sz="923" dirty="0"/>
          </a:p>
        </p:txBody>
      </p:sp>
      <p:cxnSp>
        <p:nvCxnSpPr>
          <p:cNvPr id="21" name="直線コネクタ 20"/>
          <p:cNvCxnSpPr/>
          <p:nvPr userDrawn="1"/>
        </p:nvCxnSpPr>
        <p:spPr>
          <a:xfrm>
            <a:off x="225317" y="564204"/>
            <a:ext cx="874851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4" name="図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87469" y="136960"/>
            <a:ext cx="1286367" cy="274344"/>
          </a:xfrm>
          <a:prstGeom prst="rect">
            <a:avLst/>
          </a:prstGeom>
        </p:spPr>
      </p:pic>
      <p:sp>
        <p:nvSpPr>
          <p:cNvPr id="15" name="タイトル 1"/>
          <p:cNvSpPr>
            <a:spLocks noGrp="1"/>
          </p:cNvSpPr>
          <p:nvPr>
            <p:ph type="title" hasCustomPrompt="1"/>
          </p:nvPr>
        </p:nvSpPr>
        <p:spPr>
          <a:xfrm>
            <a:off x="555459" y="136978"/>
            <a:ext cx="6390090" cy="349961"/>
          </a:xfrm>
          <a:prstGeom prst="rect">
            <a:avLst/>
          </a:prstGeom>
        </p:spPr>
        <p:txBody>
          <a:bodyPr lIns="95730" tIns="47866" rIns="95730" bIns="47866"/>
          <a:lstStyle>
            <a:lvl1pPr>
              <a:defRPr sz="2123" b="1"/>
            </a:lvl1pPr>
          </a:lstStyle>
          <a:p>
            <a:r>
              <a:rPr kumimoji="1" lang="ja-JP" altLang="en-US" dirty="0"/>
              <a:t>ページタイトル </a:t>
            </a:r>
            <a:r>
              <a:rPr kumimoji="1" lang="en-US" altLang="ja-JP" dirty="0"/>
              <a:t>22pt</a:t>
            </a:r>
            <a:endParaRPr kumimoji="1" lang="ja-JP" altLang="en-US" dirty="0"/>
          </a:p>
        </p:txBody>
      </p:sp>
      <p:sp>
        <p:nvSpPr>
          <p:cNvPr id="17" name="テキスト プレースホルダー 9"/>
          <p:cNvSpPr>
            <a:spLocks noGrp="1"/>
          </p:cNvSpPr>
          <p:nvPr>
            <p:ph type="body" sz="quarter" idx="10" hasCustomPrompt="1"/>
          </p:nvPr>
        </p:nvSpPr>
        <p:spPr>
          <a:xfrm>
            <a:off x="555625" y="797142"/>
            <a:ext cx="6389688" cy="652463"/>
          </a:xfrm>
          <a:prstGeom prst="rect">
            <a:avLst/>
          </a:prstGeom>
        </p:spPr>
        <p:txBody>
          <a:bodyPr lIns="95730" tIns="47866" rIns="95730" bIns="47866"/>
          <a:lstStyle>
            <a:lvl1pPr marL="0" indent="0">
              <a:lnSpc>
                <a:spcPct val="120000"/>
              </a:lnSpc>
              <a:buNone/>
              <a:defRPr sz="1477"/>
            </a:lvl1pPr>
          </a:lstStyle>
          <a:p>
            <a:pPr lvl="0"/>
            <a:r>
              <a:rPr kumimoji="1" lang="ja-JP" altLang="en-US" dirty="0"/>
              <a:t>テキスト </a:t>
            </a:r>
            <a:r>
              <a:rPr kumimoji="1" lang="en-US" altLang="ja-JP" dirty="0"/>
              <a:t>16pt</a:t>
            </a:r>
            <a:endParaRPr kumimoji="1" lang="ja-JP" altLang="en-US" dirty="0"/>
          </a:p>
        </p:txBody>
      </p:sp>
      <p:sp>
        <p:nvSpPr>
          <p:cNvPr id="18" name="テキスト プレースホルダー 18"/>
          <p:cNvSpPr>
            <a:spLocks noGrp="1"/>
          </p:cNvSpPr>
          <p:nvPr>
            <p:ph type="body" sz="quarter" idx="13" hasCustomPrompt="1"/>
          </p:nvPr>
        </p:nvSpPr>
        <p:spPr>
          <a:xfrm>
            <a:off x="558588" y="1525209"/>
            <a:ext cx="8081963" cy="838164"/>
          </a:xfrm>
          <a:prstGeom prst="rect">
            <a:avLst/>
          </a:prstGeom>
        </p:spPr>
        <p:txBody>
          <a:bodyPr lIns="95730" tIns="47866" rIns="95730" bIns="47866" numCol="2" spcCol="565333"/>
          <a:lstStyle>
            <a:lvl1pPr marL="0" indent="0">
              <a:lnSpc>
                <a:spcPct val="120000"/>
              </a:lnSpc>
              <a:buNone/>
              <a:defRPr sz="738"/>
            </a:lvl1pPr>
          </a:lstStyle>
          <a:p>
            <a:pPr lvl="0"/>
            <a:r>
              <a:rPr kumimoji="1" lang="ja-JP" altLang="en-US" dirty="0"/>
              <a:t>テキスト </a:t>
            </a:r>
            <a:r>
              <a:rPr kumimoji="1" lang="en-US" altLang="ja-JP" dirty="0"/>
              <a:t>8pt</a:t>
            </a:r>
            <a:endParaRPr kumimoji="1" lang="ja-JP" altLang="en-US" dirty="0"/>
          </a:p>
        </p:txBody>
      </p:sp>
      <p:sp>
        <p:nvSpPr>
          <p:cNvPr id="22" name="テキスト プレースホルダー 18"/>
          <p:cNvSpPr>
            <a:spLocks noGrp="1"/>
          </p:cNvSpPr>
          <p:nvPr>
            <p:ph type="body" sz="quarter" idx="14" hasCustomPrompt="1"/>
          </p:nvPr>
        </p:nvSpPr>
        <p:spPr>
          <a:xfrm>
            <a:off x="558588" y="5434206"/>
            <a:ext cx="8081963" cy="838164"/>
          </a:xfrm>
          <a:prstGeom prst="rect">
            <a:avLst/>
          </a:prstGeom>
        </p:spPr>
        <p:txBody>
          <a:bodyPr lIns="95730" tIns="47866" rIns="95730" bIns="47866" numCol="2" spcCol="565333"/>
          <a:lstStyle>
            <a:lvl1pPr marL="0" indent="0">
              <a:lnSpc>
                <a:spcPct val="120000"/>
              </a:lnSpc>
              <a:buNone/>
              <a:defRPr sz="738"/>
            </a:lvl1pPr>
          </a:lstStyle>
          <a:p>
            <a:pPr lvl="0"/>
            <a:r>
              <a:rPr kumimoji="1" lang="ja-JP" altLang="en-US" dirty="0"/>
              <a:t>テキスト </a:t>
            </a:r>
            <a:r>
              <a:rPr kumimoji="1" lang="en-US" altLang="ja-JP" dirty="0"/>
              <a:t>8pt</a:t>
            </a:r>
            <a:endParaRPr kumimoji="1" lang="ja-JP" altLang="en-US" dirty="0"/>
          </a:p>
        </p:txBody>
      </p:sp>
      <p:sp>
        <p:nvSpPr>
          <p:cNvPr id="23" name="コンテンツ プレースホルダー 8"/>
          <p:cNvSpPr>
            <a:spLocks noGrp="1"/>
          </p:cNvSpPr>
          <p:nvPr>
            <p:ph sz="quarter" idx="15" hasCustomPrompt="1"/>
          </p:nvPr>
        </p:nvSpPr>
        <p:spPr>
          <a:xfrm>
            <a:off x="555638" y="2517789"/>
            <a:ext cx="4016375" cy="2728913"/>
          </a:xfrm>
          <a:prstGeom prst="rect">
            <a:avLst/>
          </a:prstGeom>
        </p:spPr>
        <p:txBody>
          <a:bodyPr lIns="95730" tIns="47866" rIns="95730" bIns="47866"/>
          <a:lstStyle>
            <a:lvl1pPr marL="0" indent="0">
              <a:buNone/>
              <a:defRPr sz="1385"/>
            </a:lvl1pPr>
          </a:lstStyle>
          <a:p>
            <a:pPr lvl="0"/>
            <a:r>
              <a:rPr kumimoji="1" lang="ja-JP" altLang="en-US" dirty="0"/>
              <a:t>オブジェクト</a:t>
            </a:r>
          </a:p>
        </p:txBody>
      </p:sp>
      <p:sp>
        <p:nvSpPr>
          <p:cNvPr id="24" name="コンテンツ プレースホルダー 8"/>
          <p:cNvSpPr>
            <a:spLocks noGrp="1"/>
          </p:cNvSpPr>
          <p:nvPr>
            <p:ph sz="quarter" idx="16" hasCustomPrompt="1"/>
          </p:nvPr>
        </p:nvSpPr>
        <p:spPr>
          <a:xfrm>
            <a:off x="4719676" y="2517789"/>
            <a:ext cx="4016375" cy="2728913"/>
          </a:xfrm>
          <a:prstGeom prst="rect">
            <a:avLst/>
          </a:prstGeom>
        </p:spPr>
        <p:txBody>
          <a:bodyPr lIns="95730" tIns="47866" rIns="95730" bIns="47866"/>
          <a:lstStyle>
            <a:lvl1pPr marL="0" indent="0">
              <a:buNone/>
              <a:defRPr sz="1385"/>
            </a:lvl1pPr>
          </a:lstStyle>
          <a:p>
            <a:pPr lvl="0"/>
            <a:r>
              <a:rPr kumimoji="1" lang="ja-JP" altLang="en-US" dirty="0"/>
              <a:t>オブジェクト</a:t>
            </a:r>
          </a:p>
        </p:txBody>
      </p:sp>
    </p:spTree>
    <p:extLst>
      <p:ext uri="{BB962C8B-B14F-4D97-AF65-F5344CB8AC3E}">
        <p14:creationId xmlns:p14="http://schemas.microsoft.com/office/powerpoint/2010/main" val="7745100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pread/chart page">
    <p:spTree>
      <p:nvGrpSpPr>
        <p:cNvPr id="1" name=""/>
        <p:cNvGrpSpPr/>
        <p:nvPr/>
      </p:nvGrpSpPr>
      <p:grpSpPr>
        <a:xfrm>
          <a:off x="0" y="0"/>
          <a:ext cx="0" cy="0"/>
          <a:chOff x="0" y="0"/>
          <a:chExt cx="0" cy="0"/>
        </a:xfrm>
      </p:grpSpPr>
      <p:pic>
        <p:nvPicPr>
          <p:cNvPr id="3" name="図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1122" y="6408937"/>
            <a:ext cx="8750749" cy="260363"/>
          </a:xfrm>
          <a:prstGeom prst="rect">
            <a:avLst/>
          </a:prstGeom>
        </p:spPr>
      </p:pic>
      <p:sp>
        <p:nvSpPr>
          <p:cNvPr id="4" name="日付プレースホルダー 32"/>
          <p:cNvSpPr txBox="1">
            <a:spLocks/>
          </p:cNvSpPr>
          <p:nvPr userDrawn="1"/>
        </p:nvSpPr>
        <p:spPr>
          <a:xfrm>
            <a:off x="309673" y="6347999"/>
            <a:ext cx="5402356" cy="365125"/>
          </a:xfrm>
          <a:prstGeom prst="rect">
            <a:avLst/>
          </a:prstGeom>
          <a:ln>
            <a:noFill/>
          </a:ln>
        </p:spPr>
        <p:txBody>
          <a:bodyPr vert="horz" wrap="square" lIns="0" tIns="42203" rIns="84406" bIns="42203"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646" dirty="0">
                <a:solidFill>
                  <a:prstClr val="white"/>
                </a:solidFill>
              </a:rPr>
              <a:t>© 2021 MITSUBISHI HEAVY INDUSTRIES, LTD.  All Rights Reserved.</a:t>
            </a:r>
            <a:endParaRPr lang="ja-JP" altLang="en-US" sz="646" dirty="0">
              <a:solidFill>
                <a:prstClr val="white"/>
              </a:solidFill>
            </a:endParaRPr>
          </a:p>
        </p:txBody>
      </p:sp>
      <p:sp>
        <p:nvSpPr>
          <p:cNvPr id="7" name="スライド番号プレースホルダー 5"/>
          <p:cNvSpPr txBox="1">
            <a:spLocks/>
          </p:cNvSpPr>
          <p:nvPr userDrawn="1"/>
        </p:nvSpPr>
        <p:spPr>
          <a:xfrm>
            <a:off x="8374064" y="6347092"/>
            <a:ext cx="520700" cy="365125"/>
          </a:xfrm>
          <a:prstGeom prst="rect">
            <a:avLst/>
          </a:prstGeom>
          <a:ln>
            <a:noFill/>
          </a:ln>
        </p:spPr>
        <p:txBody>
          <a:bodyPr vert="horz" wrap="square" lIns="84406" tIns="42203" rIns="84406" bIns="42203"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923" smtClean="0">
                <a:latin typeface="Arial"/>
              </a:rPr>
              <a:pPr>
                <a:defRPr/>
              </a:pPr>
              <a:t>‹#›</a:t>
            </a:fld>
            <a:endParaRPr lang="en-US" altLang="ja-JP" sz="923" dirty="0">
              <a:latin typeface="Arial"/>
            </a:endParaRPr>
          </a:p>
        </p:txBody>
      </p:sp>
      <p:cxnSp>
        <p:nvCxnSpPr>
          <p:cNvPr id="21" name="直線コネクタ 20"/>
          <p:cNvCxnSpPr/>
          <p:nvPr userDrawn="1"/>
        </p:nvCxnSpPr>
        <p:spPr>
          <a:xfrm>
            <a:off x="225315" y="564204"/>
            <a:ext cx="874851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4" name="図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87468" y="136960"/>
            <a:ext cx="1286367" cy="274344"/>
          </a:xfrm>
          <a:prstGeom prst="rect">
            <a:avLst/>
          </a:prstGeom>
        </p:spPr>
      </p:pic>
      <p:sp>
        <p:nvSpPr>
          <p:cNvPr id="15" name="タイトル 1"/>
          <p:cNvSpPr>
            <a:spLocks noGrp="1"/>
          </p:cNvSpPr>
          <p:nvPr>
            <p:ph type="title" hasCustomPrompt="1"/>
          </p:nvPr>
        </p:nvSpPr>
        <p:spPr>
          <a:xfrm>
            <a:off x="555459" y="136965"/>
            <a:ext cx="6390090" cy="349961"/>
          </a:xfrm>
          <a:prstGeom prst="rect">
            <a:avLst/>
          </a:prstGeom>
        </p:spPr>
        <p:txBody>
          <a:bodyPr/>
          <a:lstStyle>
            <a:lvl1pPr>
              <a:defRPr sz="2031" b="1"/>
            </a:lvl1pPr>
          </a:lstStyle>
          <a:p>
            <a:r>
              <a:rPr kumimoji="1" lang="ja-JP" altLang="en-US" dirty="0"/>
              <a:t>ページタイトル </a:t>
            </a:r>
            <a:r>
              <a:rPr kumimoji="1" lang="en-US" altLang="ja-JP" dirty="0"/>
              <a:t>22pt</a:t>
            </a:r>
            <a:endParaRPr kumimoji="1" lang="ja-JP" altLang="en-US" dirty="0"/>
          </a:p>
        </p:txBody>
      </p:sp>
      <p:sp>
        <p:nvSpPr>
          <p:cNvPr id="17" name="テキスト プレースホルダー 9"/>
          <p:cNvSpPr>
            <a:spLocks noGrp="1"/>
          </p:cNvSpPr>
          <p:nvPr>
            <p:ph type="body" sz="quarter" idx="10" hasCustomPrompt="1"/>
          </p:nvPr>
        </p:nvSpPr>
        <p:spPr>
          <a:xfrm>
            <a:off x="555625" y="797137"/>
            <a:ext cx="6389688" cy="652463"/>
          </a:xfrm>
          <a:prstGeom prst="rect">
            <a:avLst/>
          </a:prstGeom>
        </p:spPr>
        <p:txBody>
          <a:bodyPr/>
          <a:lstStyle>
            <a:lvl1pPr marL="0" indent="0">
              <a:lnSpc>
                <a:spcPct val="120000"/>
              </a:lnSpc>
              <a:buNone/>
              <a:defRPr sz="1477"/>
            </a:lvl1pPr>
          </a:lstStyle>
          <a:p>
            <a:pPr lvl="0"/>
            <a:r>
              <a:rPr kumimoji="1" lang="ja-JP" altLang="en-US" dirty="0"/>
              <a:t>テキスト </a:t>
            </a:r>
            <a:r>
              <a:rPr kumimoji="1" lang="en-US" altLang="ja-JP" dirty="0"/>
              <a:t>16pt</a:t>
            </a:r>
            <a:endParaRPr kumimoji="1" lang="ja-JP" altLang="en-US" dirty="0"/>
          </a:p>
        </p:txBody>
      </p:sp>
      <p:sp>
        <p:nvSpPr>
          <p:cNvPr id="18" name="テキスト プレースホルダー 18"/>
          <p:cNvSpPr>
            <a:spLocks noGrp="1"/>
          </p:cNvSpPr>
          <p:nvPr>
            <p:ph type="body" sz="quarter" idx="13" hasCustomPrompt="1"/>
          </p:nvPr>
        </p:nvSpPr>
        <p:spPr>
          <a:xfrm>
            <a:off x="558588" y="1525209"/>
            <a:ext cx="8081963" cy="838164"/>
          </a:xfrm>
          <a:prstGeom prst="rect">
            <a:avLst/>
          </a:prstGeom>
        </p:spPr>
        <p:txBody>
          <a:bodyPr numCol="2" spcCol="540000"/>
          <a:lstStyle>
            <a:lvl1pPr marL="0" indent="0">
              <a:lnSpc>
                <a:spcPct val="120000"/>
              </a:lnSpc>
              <a:buNone/>
              <a:defRPr sz="738"/>
            </a:lvl1pPr>
          </a:lstStyle>
          <a:p>
            <a:pPr lvl="0"/>
            <a:r>
              <a:rPr kumimoji="1" lang="ja-JP" altLang="en-US" dirty="0"/>
              <a:t>テキスト </a:t>
            </a:r>
            <a:r>
              <a:rPr kumimoji="1" lang="en-US" altLang="ja-JP" dirty="0"/>
              <a:t>8pt</a:t>
            </a:r>
            <a:endParaRPr kumimoji="1" lang="ja-JP" altLang="en-US" dirty="0"/>
          </a:p>
        </p:txBody>
      </p:sp>
      <p:sp>
        <p:nvSpPr>
          <p:cNvPr id="22" name="テキスト プレースホルダー 18"/>
          <p:cNvSpPr>
            <a:spLocks noGrp="1"/>
          </p:cNvSpPr>
          <p:nvPr>
            <p:ph type="body" sz="quarter" idx="14" hasCustomPrompt="1"/>
          </p:nvPr>
        </p:nvSpPr>
        <p:spPr>
          <a:xfrm>
            <a:off x="558588" y="5434206"/>
            <a:ext cx="8081963" cy="838164"/>
          </a:xfrm>
          <a:prstGeom prst="rect">
            <a:avLst/>
          </a:prstGeom>
        </p:spPr>
        <p:txBody>
          <a:bodyPr numCol="2" spcCol="540000"/>
          <a:lstStyle>
            <a:lvl1pPr marL="0" indent="0">
              <a:lnSpc>
                <a:spcPct val="120000"/>
              </a:lnSpc>
              <a:buNone/>
              <a:defRPr sz="738"/>
            </a:lvl1pPr>
          </a:lstStyle>
          <a:p>
            <a:pPr lvl="0"/>
            <a:r>
              <a:rPr kumimoji="1" lang="ja-JP" altLang="en-US" dirty="0"/>
              <a:t>テキスト </a:t>
            </a:r>
            <a:r>
              <a:rPr kumimoji="1" lang="en-US" altLang="ja-JP" dirty="0"/>
              <a:t>8pt</a:t>
            </a:r>
            <a:endParaRPr kumimoji="1" lang="ja-JP" altLang="en-US" dirty="0"/>
          </a:p>
        </p:txBody>
      </p:sp>
      <p:sp>
        <p:nvSpPr>
          <p:cNvPr id="23" name="コンテンツ プレースホルダー 8"/>
          <p:cNvSpPr>
            <a:spLocks noGrp="1"/>
          </p:cNvSpPr>
          <p:nvPr>
            <p:ph sz="quarter" idx="15" hasCustomPrompt="1"/>
          </p:nvPr>
        </p:nvSpPr>
        <p:spPr>
          <a:xfrm>
            <a:off x="555632" y="2517780"/>
            <a:ext cx="4016375" cy="2728913"/>
          </a:xfrm>
          <a:prstGeom prst="rect">
            <a:avLst/>
          </a:prstGeom>
        </p:spPr>
        <p:txBody>
          <a:bodyPr/>
          <a:lstStyle>
            <a:lvl1pPr marL="0" indent="0">
              <a:buNone/>
              <a:defRPr sz="1292"/>
            </a:lvl1pPr>
          </a:lstStyle>
          <a:p>
            <a:pPr lvl="0"/>
            <a:r>
              <a:rPr kumimoji="1" lang="ja-JP" altLang="en-US" dirty="0"/>
              <a:t>オブジェクト</a:t>
            </a:r>
          </a:p>
        </p:txBody>
      </p:sp>
      <p:sp>
        <p:nvSpPr>
          <p:cNvPr id="24" name="コンテンツ プレースホルダー 8"/>
          <p:cNvSpPr>
            <a:spLocks noGrp="1"/>
          </p:cNvSpPr>
          <p:nvPr>
            <p:ph sz="quarter" idx="16" hasCustomPrompt="1"/>
          </p:nvPr>
        </p:nvSpPr>
        <p:spPr>
          <a:xfrm>
            <a:off x="4719668" y="2517780"/>
            <a:ext cx="4016375" cy="2728913"/>
          </a:xfrm>
          <a:prstGeom prst="rect">
            <a:avLst/>
          </a:prstGeom>
        </p:spPr>
        <p:txBody>
          <a:bodyPr/>
          <a:lstStyle>
            <a:lvl1pPr marL="0" indent="0">
              <a:buNone/>
              <a:defRPr sz="1292"/>
            </a:lvl1pPr>
          </a:lstStyle>
          <a:p>
            <a:pPr lvl="0"/>
            <a:r>
              <a:rPr kumimoji="1" lang="ja-JP" altLang="en-US" dirty="0"/>
              <a:t>オブジェクト</a:t>
            </a:r>
          </a:p>
        </p:txBody>
      </p:sp>
    </p:spTree>
    <p:extLst>
      <p:ext uri="{BB962C8B-B14F-4D97-AF65-F5344CB8AC3E}">
        <p14:creationId xmlns:p14="http://schemas.microsoft.com/office/powerpoint/2010/main" val="6060458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Last page">
    <p:spTree>
      <p:nvGrpSpPr>
        <p:cNvPr id="1" name=""/>
        <p:cNvGrpSpPr/>
        <p:nvPr/>
      </p:nvGrpSpPr>
      <p:grpSpPr>
        <a:xfrm>
          <a:off x="0" y="0"/>
          <a:ext cx="0" cy="0"/>
          <a:chOff x="0" y="0"/>
          <a:chExt cx="0" cy="0"/>
        </a:xfrm>
      </p:grpSpPr>
      <p:pic>
        <p:nvPicPr>
          <p:cNvPr id="3" name="図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63363" y="3258297"/>
            <a:ext cx="6017274" cy="341406"/>
          </a:xfrm>
          <a:prstGeom prst="rect">
            <a:avLst/>
          </a:prstGeom>
        </p:spPr>
      </p:pic>
      <p:pic>
        <p:nvPicPr>
          <p:cNvPr id="4" name="図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92364" y="5805146"/>
            <a:ext cx="1249788" cy="743776"/>
          </a:xfrm>
          <a:prstGeom prst="rect">
            <a:avLst/>
          </a:prstGeom>
        </p:spPr>
      </p:pic>
    </p:spTree>
    <p:extLst>
      <p:ext uri="{BB962C8B-B14F-4D97-AF65-F5344CB8AC3E}">
        <p14:creationId xmlns:p14="http://schemas.microsoft.com/office/powerpoint/2010/main" val="1924715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表紙1">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308726" y="5566335"/>
            <a:ext cx="2387099" cy="351288"/>
          </a:xfrm>
          <a:prstGeom prst="rect">
            <a:avLst/>
          </a:prstGeom>
        </p:spPr>
        <p:txBody>
          <a:bodyPr anchor="ctr"/>
          <a:lstStyle>
            <a:lvl1pPr marL="0" indent="0">
              <a:lnSpc>
                <a:spcPct val="100000"/>
              </a:lnSpc>
              <a:spcBef>
                <a:spcPts val="0"/>
              </a:spcBef>
              <a:buNone/>
              <a:defRPr sz="1200">
                <a:latin typeface="+mn-ea"/>
                <a:ea typeface="+mn-ea"/>
                <a:cs typeface="メイリオ" pitchFamily="50" charset="-128"/>
              </a:defRPr>
            </a:lvl1pPr>
          </a:lstStyle>
          <a:p>
            <a:pPr lvl="0"/>
            <a:r>
              <a:rPr kumimoji="1" lang="en-US" altLang="ja-JP" dirty="0"/>
              <a:t>0000/00/00</a:t>
            </a:r>
            <a:endParaRPr kumimoji="1" lang="ja-JP" altLang="en-US" dirty="0"/>
          </a:p>
        </p:txBody>
      </p:sp>
      <p:sp>
        <p:nvSpPr>
          <p:cNvPr id="16" name="タイトル 2"/>
          <p:cNvSpPr>
            <a:spLocks noGrp="1"/>
          </p:cNvSpPr>
          <p:nvPr>
            <p:ph type="title" hasCustomPrompt="1"/>
          </p:nvPr>
        </p:nvSpPr>
        <p:spPr>
          <a:xfrm>
            <a:off x="308725" y="2699387"/>
            <a:ext cx="8531974" cy="585575"/>
          </a:xfrm>
          <a:prstGeom prst="rect">
            <a:avLst/>
          </a:prstGeom>
        </p:spPr>
        <p:txBody>
          <a:bodyPr/>
          <a:lstStyle>
            <a:lvl1pPr>
              <a:lnSpc>
                <a:spcPct val="100000"/>
              </a:lnSpc>
              <a:spcBef>
                <a:spcPts val="0"/>
              </a:spcBef>
              <a:defRPr sz="2954" b="1" baseline="0">
                <a:solidFill>
                  <a:schemeClr val="tx1"/>
                </a:solidFill>
                <a:latin typeface="+mj-ea"/>
                <a:ea typeface="+mj-ea"/>
                <a:cs typeface="メイリオ" pitchFamily="50" charset="-128"/>
              </a:defRPr>
            </a:lvl1pPr>
          </a:lstStyle>
          <a:p>
            <a:r>
              <a:rPr kumimoji="1" lang="ja-JP" altLang="en-US" dirty="0"/>
              <a:t>表紙タイトル </a:t>
            </a:r>
            <a:r>
              <a:rPr kumimoji="1" lang="en-US" altLang="ja-JP" dirty="0"/>
              <a:t>32pt</a:t>
            </a:r>
            <a:endParaRPr kumimoji="1" lang="ja-JP" altLang="en-US" dirty="0"/>
          </a:p>
        </p:txBody>
      </p:sp>
      <p:sp>
        <p:nvSpPr>
          <p:cNvPr id="18" name="テキスト ボックス 17"/>
          <p:cNvSpPr txBox="1"/>
          <p:nvPr userDrawn="1"/>
        </p:nvSpPr>
        <p:spPr>
          <a:xfrm>
            <a:off x="303301" y="5920206"/>
            <a:ext cx="4318925" cy="276999"/>
          </a:xfrm>
          <a:prstGeom prst="rect">
            <a:avLst/>
          </a:prstGeom>
          <a:noFill/>
        </p:spPr>
        <p:txBody>
          <a:bodyPr wrap="square" rtlCol="0" anchor="t">
            <a:spAutoFit/>
          </a:bodyPr>
          <a:lstStyle/>
          <a:p>
            <a:pPr>
              <a:spcBef>
                <a:spcPts val="0"/>
              </a:spcBef>
              <a:spcAft>
                <a:spcPts val="554"/>
              </a:spcAft>
            </a:pPr>
            <a:r>
              <a:rPr kumimoji="1" lang="ja-JP" altLang="en-US" sz="1200" b="1" dirty="0">
                <a:solidFill>
                  <a:schemeClr val="tx1"/>
                </a:solidFill>
                <a:latin typeface="+mn-ea"/>
                <a:ea typeface="+mn-ea"/>
                <a:cs typeface="メイリオ" pitchFamily="50" charset="-128"/>
              </a:rPr>
              <a:t>三菱重工業株式会社</a:t>
            </a:r>
          </a:p>
        </p:txBody>
      </p:sp>
      <p:pic>
        <p:nvPicPr>
          <p:cNvPr id="11" name="図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437" y="201827"/>
            <a:ext cx="8744712" cy="944880"/>
          </a:xfrm>
          <a:prstGeom prst="rect">
            <a:avLst/>
          </a:prstGeom>
        </p:spPr>
      </p:pic>
      <p:sp>
        <p:nvSpPr>
          <p:cNvPr id="10" name="テキスト プレースホルダー 21">
            <a:extLst>
              <a:ext uri="{FF2B5EF4-FFF2-40B4-BE49-F238E27FC236}">
                <a16:creationId xmlns:a16="http://schemas.microsoft.com/office/drawing/2014/main" id="{A1B3CB4D-6995-4FBD-99A9-97EF83630755}"/>
              </a:ext>
            </a:extLst>
          </p:cNvPr>
          <p:cNvSpPr>
            <a:spLocks noGrp="1"/>
          </p:cNvSpPr>
          <p:nvPr>
            <p:ph type="body" sz="quarter" idx="14" hasCustomPrompt="1"/>
          </p:nvPr>
        </p:nvSpPr>
        <p:spPr>
          <a:xfrm>
            <a:off x="308725" y="3361113"/>
            <a:ext cx="8531974" cy="1676400"/>
          </a:xfrm>
          <a:prstGeom prst="rect">
            <a:avLst/>
          </a:prstGeom>
        </p:spPr>
        <p:txBody>
          <a:bodyPr/>
          <a:lstStyle>
            <a:lvl1pPr marL="0" marR="0" indent="0" algn="l" defTabSz="633062" rtl="0" eaLnBrk="1" fontAlgn="auto" latinLnBrk="0" hangingPunct="1">
              <a:lnSpc>
                <a:spcPct val="120000"/>
              </a:lnSpc>
              <a:spcBef>
                <a:spcPts val="0"/>
              </a:spcBef>
              <a:spcAft>
                <a:spcPts val="0"/>
              </a:spcAft>
              <a:buClrTx/>
              <a:buSzTx/>
              <a:buFont typeface="Arial" panose="020B0604020202020204" pitchFamily="34" charset="0"/>
              <a:buNone/>
              <a:tabLst/>
              <a:defRPr sz="1477" baseline="0">
                <a:solidFill>
                  <a:schemeClr val="tx1"/>
                </a:solidFill>
                <a:latin typeface="+mn-ea"/>
                <a:ea typeface="+mn-ea"/>
                <a:cs typeface="メイリオ" pitchFamily="50" charset="-128"/>
              </a:defRPr>
            </a:lvl1pPr>
          </a:lstStyle>
          <a:p>
            <a:pPr marL="0" marR="0" lvl="0" indent="0" algn="l" defTabSz="633062"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dirty="0"/>
              <a:t>サブタイトル </a:t>
            </a:r>
            <a:r>
              <a:rPr kumimoji="1" lang="en-US" altLang="ja-JP" dirty="0"/>
              <a:t>16pt</a:t>
            </a:r>
            <a:r>
              <a:rPr kumimoji="1" lang="ja-JP" altLang="en-US" dirty="0"/>
              <a:t>　　　　　　　　　　　　　　　　　　　　　　　　　　　　　　　　●複数の会社名やロゴを記載するレイアウトはスライドマスターにあり                          ●写真付きの表紙レイアウト（</a:t>
            </a:r>
            <a:r>
              <a:rPr kumimoji="1" lang="en-US" altLang="ja-JP" dirty="0"/>
              <a:t>2</a:t>
            </a:r>
            <a:r>
              <a:rPr kumimoji="1" lang="ja-JP" altLang="en-US" dirty="0"/>
              <a:t>種）はスライドマスターにあり                                   </a:t>
            </a:r>
            <a:r>
              <a:rPr kumimoji="1" lang="en-US" altLang="ja-JP" dirty="0"/>
              <a:t>※</a:t>
            </a:r>
            <a:r>
              <a:rPr kumimoji="1" lang="ja-JP" altLang="en-US" dirty="0"/>
              <a:t>スライドマスターの変更は別紙「スライドマスター操作ガイド」をご参照ください</a:t>
            </a:r>
          </a:p>
        </p:txBody>
      </p:sp>
      <p:sp>
        <p:nvSpPr>
          <p:cNvPr id="9" name="日付プレースホルダー 32"/>
          <p:cNvSpPr txBox="1">
            <a:spLocks/>
          </p:cNvSpPr>
          <p:nvPr userDrawn="1"/>
        </p:nvSpPr>
        <p:spPr>
          <a:xfrm>
            <a:off x="196437" y="6370976"/>
            <a:ext cx="5402356" cy="365125"/>
          </a:xfrm>
          <a:prstGeom prst="rect">
            <a:avLst/>
          </a:prstGeom>
          <a:ln>
            <a:noFill/>
          </a:ln>
        </p:spPr>
        <p:txBody>
          <a:bodyPr vert="horz" wrap="square" lIns="0" tIns="42203" rIns="84406" bIns="42203"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646" dirty="0">
                <a:solidFill>
                  <a:schemeClr val="tx1"/>
                </a:solidFill>
                <a:latin typeface="+mn-lt"/>
              </a:rPr>
              <a:t>© Mitsubishi Heavy Industries, Ltd.  All Rights Reserved.</a:t>
            </a:r>
            <a:endParaRPr lang="ja-JP" altLang="en-US" sz="646" dirty="0">
              <a:solidFill>
                <a:schemeClr val="tx1"/>
              </a:solidFill>
              <a:latin typeface="+mn-lt"/>
            </a:endParaRPr>
          </a:p>
        </p:txBody>
      </p:sp>
      <p:pic>
        <p:nvPicPr>
          <p:cNvPr id="12" name="図 11">
            <a:extLst>
              <a:ext uri="{FF2B5EF4-FFF2-40B4-BE49-F238E27FC236}">
                <a16:creationId xmlns:a16="http://schemas.microsoft.com/office/drawing/2014/main" id="{9CA45DE1-C1B1-4C0E-B123-54EBEE5258C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5080" y="6421555"/>
            <a:ext cx="1188000" cy="230108"/>
          </a:xfrm>
          <a:prstGeom prst="rect">
            <a:avLst/>
          </a:prstGeom>
        </p:spPr>
      </p:pic>
    </p:spTree>
    <p:extLst>
      <p:ext uri="{BB962C8B-B14F-4D97-AF65-F5344CB8AC3E}">
        <p14:creationId xmlns:p14="http://schemas.microsoft.com/office/powerpoint/2010/main" val="13267003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ロゴ">
    <p:spTree>
      <p:nvGrpSpPr>
        <p:cNvPr id="1" name=""/>
        <p:cNvGrpSpPr/>
        <p:nvPr/>
      </p:nvGrpSpPr>
      <p:grpSpPr>
        <a:xfrm>
          <a:off x="0" y="0"/>
          <a:ext cx="0" cy="0"/>
          <a:chOff x="0" y="0"/>
          <a:chExt cx="0" cy="0"/>
        </a:xfrm>
      </p:grpSpPr>
      <p:pic>
        <p:nvPicPr>
          <p:cNvPr id="4" name="Picture 5" descr="C:\Users\S04\Desktop\名称未設定-2-01.jpg">
            <a:extLst>
              <a:ext uri="{FF2B5EF4-FFF2-40B4-BE49-F238E27FC236}">
                <a16:creationId xmlns:a16="http://schemas.microsoft.com/office/drawing/2014/main" id="{F1494654-01F0-42B3-A66A-EAA98DA1965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938540" y="241201"/>
            <a:ext cx="2964260" cy="516959"/>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a:extLst>
              <a:ext uri="{FF2B5EF4-FFF2-40B4-BE49-F238E27FC236}">
                <a16:creationId xmlns:a16="http://schemas.microsoft.com/office/drawing/2014/main" id="{3A43E3EA-FD6B-48AF-B1FE-280D2B3402F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75920" y="2525034"/>
            <a:ext cx="5286057" cy="1491755"/>
          </a:xfrm>
          <a:prstGeom prst="rect">
            <a:avLst/>
          </a:prstGeom>
          <a:noFill/>
          <a:ln>
            <a:noFill/>
          </a:ln>
        </p:spPr>
      </p:pic>
    </p:spTree>
    <p:extLst>
      <p:ext uri="{BB962C8B-B14F-4D97-AF65-F5344CB8AC3E}">
        <p14:creationId xmlns:p14="http://schemas.microsoft.com/office/powerpoint/2010/main" val="17432028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カラーサンプル">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8120" y="6407161"/>
            <a:ext cx="8747760" cy="262128"/>
          </a:xfrm>
          <a:prstGeom prst="rect">
            <a:avLst/>
          </a:prstGeom>
        </p:spPr>
      </p:pic>
      <p:sp>
        <p:nvSpPr>
          <p:cNvPr id="4" name="日付プレースホルダー 32"/>
          <p:cNvSpPr txBox="1">
            <a:spLocks/>
          </p:cNvSpPr>
          <p:nvPr userDrawn="1"/>
        </p:nvSpPr>
        <p:spPr>
          <a:xfrm>
            <a:off x="309672" y="6357512"/>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bg1"/>
                </a:solidFill>
                <a:latin typeface="+mn-lt"/>
              </a:rPr>
              <a:t>© Mitsubishi Heavy Industries, Ltd.  All Rights Reserved.</a:t>
            </a:r>
            <a:endParaRPr lang="ja-JP" altLang="en-US" sz="700" dirty="0">
              <a:solidFill>
                <a:schemeClr val="bg1"/>
              </a:solidFill>
              <a:latin typeface="+mn-lt"/>
            </a:endParaRPr>
          </a:p>
        </p:txBody>
      </p:sp>
      <p:sp>
        <p:nvSpPr>
          <p:cNvPr id="7" name="スライド番号プレースホルダー 5"/>
          <p:cNvSpPr txBox="1">
            <a:spLocks/>
          </p:cNvSpPr>
          <p:nvPr userDrawn="1"/>
        </p:nvSpPr>
        <p:spPr>
          <a:xfrm>
            <a:off x="8374063" y="6356607"/>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dirty="0">
              <a:latin typeface="Arial"/>
            </a:endParaRPr>
          </a:p>
        </p:txBody>
      </p:sp>
      <p:sp>
        <p:nvSpPr>
          <p:cNvPr id="15" name="タイトル 1"/>
          <p:cNvSpPr>
            <a:spLocks noGrp="1"/>
          </p:cNvSpPr>
          <p:nvPr>
            <p:ph type="title" hasCustomPrompt="1"/>
          </p:nvPr>
        </p:nvSpPr>
        <p:spPr>
          <a:xfrm>
            <a:off x="555459" y="128798"/>
            <a:ext cx="6390090"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dirty="0"/>
              <a:t>ページタイトル </a:t>
            </a:r>
            <a:r>
              <a:rPr kumimoji="1" lang="en-US" altLang="ja-JP" dirty="0"/>
              <a:t>22pt</a:t>
            </a:r>
            <a:endParaRPr kumimoji="1" lang="ja-JP" altLang="en-US" dirty="0"/>
          </a:p>
        </p:txBody>
      </p:sp>
      <p:sp>
        <p:nvSpPr>
          <p:cNvPr id="17" name="テキスト プレースホルダー 9"/>
          <p:cNvSpPr>
            <a:spLocks noGrp="1"/>
          </p:cNvSpPr>
          <p:nvPr>
            <p:ph type="body" sz="quarter" idx="10" hasCustomPrompt="1"/>
          </p:nvPr>
        </p:nvSpPr>
        <p:spPr>
          <a:xfrm>
            <a:off x="555625" y="797131"/>
            <a:ext cx="6389688"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dirty="0"/>
              <a:t>テキスト </a:t>
            </a:r>
            <a:r>
              <a:rPr kumimoji="1" lang="en-US" altLang="ja-JP" dirty="0"/>
              <a:t>16pt</a:t>
            </a:r>
            <a:endParaRPr kumimoji="1" lang="ja-JP" altLang="en-US" dirty="0"/>
          </a:p>
        </p:txBody>
      </p:sp>
      <p:sp>
        <p:nvSpPr>
          <p:cNvPr id="18" name="テキスト プレースホルダー 18"/>
          <p:cNvSpPr>
            <a:spLocks noGrp="1"/>
          </p:cNvSpPr>
          <p:nvPr>
            <p:ph type="body" sz="quarter" idx="13" hasCustomPrompt="1"/>
          </p:nvPr>
        </p:nvSpPr>
        <p:spPr>
          <a:xfrm>
            <a:off x="552450" y="1525210"/>
            <a:ext cx="8191500"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dirty="0"/>
              <a:t>テキスト </a:t>
            </a:r>
            <a:r>
              <a:rPr kumimoji="1" lang="en-US" altLang="ja-JP" dirty="0"/>
              <a:t>10pt</a:t>
            </a:r>
            <a:endParaRPr kumimoji="1" lang="ja-JP" altLang="en-US" dirty="0"/>
          </a:p>
        </p:txBody>
      </p:sp>
      <p:cxnSp>
        <p:nvCxnSpPr>
          <p:cNvPr id="21" name="直線コネクタ 20"/>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1CBBDA9B-E97E-4157-8C9B-E181F614B24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4266" y="169645"/>
            <a:ext cx="1188000" cy="230108"/>
          </a:xfrm>
          <a:prstGeom prst="rect">
            <a:avLst/>
          </a:prstGeom>
        </p:spPr>
      </p:pic>
    </p:spTree>
    <p:extLst>
      <p:ext uri="{BB962C8B-B14F-4D97-AF65-F5344CB8AC3E}">
        <p14:creationId xmlns:p14="http://schemas.microsoft.com/office/powerpoint/2010/main" val="37538476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カラーサンプル">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8120" y="6407161"/>
            <a:ext cx="8747760" cy="262128"/>
          </a:xfrm>
          <a:prstGeom prst="rect">
            <a:avLst/>
          </a:prstGeom>
        </p:spPr>
      </p:pic>
      <p:sp>
        <p:nvSpPr>
          <p:cNvPr id="4" name="日付プレースホルダー 32"/>
          <p:cNvSpPr txBox="1">
            <a:spLocks/>
          </p:cNvSpPr>
          <p:nvPr userDrawn="1"/>
        </p:nvSpPr>
        <p:spPr>
          <a:xfrm>
            <a:off x="309672" y="6357512"/>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bg1"/>
                </a:solidFill>
                <a:latin typeface="+mn-lt"/>
              </a:rPr>
              <a:t>© Mitsubishi Heavy Industries, Ltd.  All Rights Reserved.</a:t>
            </a:r>
            <a:endParaRPr lang="ja-JP" altLang="en-US" sz="700" dirty="0">
              <a:solidFill>
                <a:schemeClr val="bg1"/>
              </a:solidFill>
              <a:latin typeface="+mn-lt"/>
            </a:endParaRPr>
          </a:p>
        </p:txBody>
      </p:sp>
      <p:sp>
        <p:nvSpPr>
          <p:cNvPr id="7" name="スライド番号プレースホルダー 5"/>
          <p:cNvSpPr txBox="1">
            <a:spLocks/>
          </p:cNvSpPr>
          <p:nvPr userDrawn="1"/>
        </p:nvSpPr>
        <p:spPr>
          <a:xfrm>
            <a:off x="8374063" y="6356607"/>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dirty="0">
              <a:latin typeface="Arial"/>
            </a:endParaRPr>
          </a:p>
        </p:txBody>
      </p:sp>
      <p:cxnSp>
        <p:nvCxnSpPr>
          <p:cNvPr id="21" name="直線コネクタ 20"/>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1CBBDA9B-E97E-4157-8C9B-E181F614B24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4266" y="169645"/>
            <a:ext cx="1188000" cy="230108"/>
          </a:xfrm>
          <a:prstGeom prst="rect">
            <a:avLst/>
          </a:prstGeom>
        </p:spPr>
      </p:pic>
    </p:spTree>
    <p:extLst>
      <p:ext uri="{BB962C8B-B14F-4D97-AF65-F5344CB8AC3E}">
        <p14:creationId xmlns:p14="http://schemas.microsoft.com/office/powerpoint/2010/main" val="990989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588572"/>
      </p:ext>
    </p:extLst>
  </p:cSld>
  <p:clrMap bg1="lt1" tx1="dk1" bg2="lt2" tx2="dk2" accent1="accent1" accent2="accent2" accent3="accent3" accent4="accent4" accent5="accent5" accent6="accent6" hlink="hlink" folHlink="folHlink"/>
  <p:sldLayoutIdLst>
    <p:sldLayoutId id="2147483700" r:id="rId1"/>
    <p:sldLayoutId id="2147483710" r:id="rId2"/>
    <p:sldLayoutId id="2147483712" r:id="rId3"/>
    <p:sldLayoutId id="2147483706" r:id="rId4"/>
    <p:sldLayoutId id="2147483907" r:id="rId5"/>
    <p:sldLayoutId id="2147483908" r:id="rId6"/>
    <p:sldLayoutId id="2147483909" r:id="rId7"/>
    <p:sldLayoutId id="2147483927" r:id="rId8"/>
    <p:sldLayoutId id="2147483918" r:id="rId9"/>
    <p:sldLayoutId id="2147483919" r:id="rId10"/>
    <p:sldLayoutId id="2147483920" r:id="rId11"/>
    <p:sldLayoutId id="2147483921" r:id="rId12"/>
    <p:sldLayoutId id="2147483922" r:id="rId13"/>
    <p:sldLayoutId id="2147483923" r:id="rId14"/>
    <p:sldLayoutId id="2147483924" r:id="rId15"/>
    <p:sldLayoutId id="2147483925" r:id="rId16"/>
    <p:sldLayoutId id="2147483928" r:id="rId17"/>
    <p:sldLayoutId id="2147483939" r:id="rId18"/>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370229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Lst>
  <p:hf sldNum="0" hdr="0" ftr="0" dt="0"/>
  <p:txStyles>
    <p:titleStyle>
      <a:lvl1pPr algn="l" defTabSz="662761" rtl="0" eaLnBrk="1" latinLnBrk="0" hangingPunct="1">
        <a:lnSpc>
          <a:spcPct val="90000"/>
        </a:lnSpc>
        <a:spcBef>
          <a:spcPct val="0"/>
        </a:spcBef>
        <a:buNone/>
        <a:defRPr kumimoji="1" sz="3139" kern="1200">
          <a:solidFill>
            <a:schemeClr val="tx1"/>
          </a:solidFill>
          <a:latin typeface="+mj-lt"/>
          <a:ea typeface="+mj-ea"/>
          <a:cs typeface="+mj-cs"/>
        </a:defRPr>
      </a:lvl1pPr>
    </p:titleStyle>
    <p:bodyStyle>
      <a:lvl1pPr marL="165692" indent="-165692" algn="l" defTabSz="662761" rtl="0" eaLnBrk="1" latinLnBrk="0" hangingPunct="1">
        <a:lnSpc>
          <a:spcPct val="90000"/>
        </a:lnSpc>
        <a:spcBef>
          <a:spcPts val="726"/>
        </a:spcBef>
        <a:buFont typeface="Arial" panose="020B0604020202020204" pitchFamily="34" charset="0"/>
        <a:buChar char="•"/>
        <a:defRPr kumimoji="1" sz="2031" kern="1200">
          <a:solidFill>
            <a:schemeClr val="tx1"/>
          </a:solidFill>
          <a:latin typeface="+mn-lt"/>
          <a:ea typeface="+mn-ea"/>
          <a:cs typeface="+mn-cs"/>
        </a:defRPr>
      </a:lvl1pPr>
      <a:lvl2pPr marL="497071" indent="-165692" algn="l" defTabSz="662761" rtl="0" eaLnBrk="1" latinLnBrk="0" hangingPunct="1">
        <a:lnSpc>
          <a:spcPct val="90000"/>
        </a:lnSpc>
        <a:spcBef>
          <a:spcPts val="363"/>
        </a:spcBef>
        <a:buFont typeface="Arial" panose="020B0604020202020204" pitchFamily="34" charset="0"/>
        <a:buChar char="•"/>
        <a:defRPr kumimoji="1" sz="1754" kern="1200">
          <a:solidFill>
            <a:schemeClr val="tx1"/>
          </a:solidFill>
          <a:latin typeface="+mn-lt"/>
          <a:ea typeface="+mn-ea"/>
          <a:cs typeface="+mn-cs"/>
        </a:defRPr>
      </a:lvl2pPr>
      <a:lvl3pPr marL="828451" indent="-165692" algn="l" defTabSz="662761" rtl="0" eaLnBrk="1" latinLnBrk="0" hangingPunct="1">
        <a:lnSpc>
          <a:spcPct val="90000"/>
        </a:lnSpc>
        <a:spcBef>
          <a:spcPts val="363"/>
        </a:spcBef>
        <a:buFont typeface="Arial" panose="020B0604020202020204" pitchFamily="34" charset="0"/>
        <a:buChar char="•"/>
        <a:defRPr kumimoji="1" sz="1477" kern="1200">
          <a:solidFill>
            <a:schemeClr val="tx1"/>
          </a:solidFill>
          <a:latin typeface="+mn-lt"/>
          <a:ea typeface="+mn-ea"/>
          <a:cs typeface="+mn-cs"/>
        </a:defRPr>
      </a:lvl3pPr>
      <a:lvl4pPr marL="1159832" indent="-165692" algn="l" defTabSz="662761" rtl="0" eaLnBrk="1" latinLnBrk="0" hangingPunct="1">
        <a:lnSpc>
          <a:spcPct val="90000"/>
        </a:lnSpc>
        <a:spcBef>
          <a:spcPts val="363"/>
        </a:spcBef>
        <a:buFont typeface="Arial" panose="020B0604020202020204" pitchFamily="34" charset="0"/>
        <a:buChar char="•"/>
        <a:defRPr kumimoji="1" sz="1385" kern="1200">
          <a:solidFill>
            <a:schemeClr val="tx1"/>
          </a:solidFill>
          <a:latin typeface="+mn-lt"/>
          <a:ea typeface="+mn-ea"/>
          <a:cs typeface="+mn-cs"/>
        </a:defRPr>
      </a:lvl4pPr>
      <a:lvl5pPr marL="1491215" indent="-165692" algn="l" defTabSz="662761" rtl="0" eaLnBrk="1" latinLnBrk="0" hangingPunct="1">
        <a:lnSpc>
          <a:spcPct val="90000"/>
        </a:lnSpc>
        <a:spcBef>
          <a:spcPts val="363"/>
        </a:spcBef>
        <a:buFont typeface="Arial" panose="020B0604020202020204" pitchFamily="34" charset="0"/>
        <a:buChar char="•"/>
        <a:defRPr kumimoji="1" sz="1385" kern="1200">
          <a:solidFill>
            <a:schemeClr val="tx1"/>
          </a:solidFill>
          <a:latin typeface="+mn-lt"/>
          <a:ea typeface="+mn-ea"/>
          <a:cs typeface="+mn-cs"/>
        </a:defRPr>
      </a:lvl5pPr>
      <a:lvl6pPr marL="1822595" indent="-165692" algn="l" defTabSz="662761" rtl="0" eaLnBrk="1" latinLnBrk="0" hangingPunct="1">
        <a:lnSpc>
          <a:spcPct val="90000"/>
        </a:lnSpc>
        <a:spcBef>
          <a:spcPts val="363"/>
        </a:spcBef>
        <a:buFont typeface="Arial" panose="020B0604020202020204" pitchFamily="34" charset="0"/>
        <a:buChar char="•"/>
        <a:defRPr kumimoji="1" sz="1385" kern="1200">
          <a:solidFill>
            <a:schemeClr val="tx1"/>
          </a:solidFill>
          <a:latin typeface="+mn-lt"/>
          <a:ea typeface="+mn-ea"/>
          <a:cs typeface="+mn-cs"/>
        </a:defRPr>
      </a:lvl6pPr>
      <a:lvl7pPr marL="2153975" indent="-165692" algn="l" defTabSz="662761" rtl="0" eaLnBrk="1" latinLnBrk="0" hangingPunct="1">
        <a:lnSpc>
          <a:spcPct val="90000"/>
        </a:lnSpc>
        <a:spcBef>
          <a:spcPts val="363"/>
        </a:spcBef>
        <a:buFont typeface="Arial" panose="020B0604020202020204" pitchFamily="34" charset="0"/>
        <a:buChar char="•"/>
        <a:defRPr kumimoji="1" sz="1385" kern="1200">
          <a:solidFill>
            <a:schemeClr val="tx1"/>
          </a:solidFill>
          <a:latin typeface="+mn-lt"/>
          <a:ea typeface="+mn-ea"/>
          <a:cs typeface="+mn-cs"/>
        </a:defRPr>
      </a:lvl7pPr>
      <a:lvl8pPr marL="2485355" indent="-165692" algn="l" defTabSz="662761" rtl="0" eaLnBrk="1" latinLnBrk="0" hangingPunct="1">
        <a:lnSpc>
          <a:spcPct val="90000"/>
        </a:lnSpc>
        <a:spcBef>
          <a:spcPts val="363"/>
        </a:spcBef>
        <a:buFont typeface="Arial" panose="020B0604020202020204" pitchFamily="34" charset="0"/>
        <a:buChar char="•"/>
        <a:defRPr kumimoji="1" sz="1385" kern="1200">
          <a:solidFill>
            <a:schemeClr val="tx1"/>
          </a:solidFill>
          <a:latin typeface="+mn-lt"/>
          <a:ea typeface="+mn-ea"/>
          <a:cs typeface="+mn-cs"/>
        </a:defRPr>
      </a:lvl8pPr>
      <a:lvl9pPr marL="2816736" indent="-165692" algn="l" defTabSz="662761" rtl="0" eaLnBrk="1" latinLnBrk="0" hangingPunct="1">
        <a:lnSpc>
          <a:spcPct val="90000"/>
        </a:lnSpc>
        <a:spcBef>
          <a:spcPts val="363"/>
        </a:spcBef>
        <a:buFont typeface="Arial" panose="020B0604020202020204" pitchFamily="34" charset="0"/>
        <a:buChar char="•"/>
        <a:defRPr kumimoji="1" sz="1385" kern="1200">
          <a:solidFill>
            <a:schemeClr val="tx1"/>
          </a:solidFill>
          <a:latin typeface="+mn-lt"/>
          <a:ea typeface="+mn-ea"/>
          <a:cs typeface="+mn-cs"/>
        </a:defRPr>
      </a:lvl9pPr>
    </p:bodyStyle>
    <p:otherStyle>
      <a:defPPr>
        <a:defRPr lang="en-US"/>
      </a:defPPr>
      <a:lvl1pPr marL="0" algn="l" defTabSz="662761" rtl="0" eaLnBrk="1" latinLnBrk="0" hangingPunct="1">
        <a:defRPr kumimoji="1" sz="1385" kern="1200">
          <a:solidFill>
            <a:schemeClr val="tx1"/>
          </a:solidFill>
          <a:latin typeface="+mn-lt"/>
          <a:ea typeface="+mn-ea"/>
          <a:cs typeface="+mn-cs"/>
        </a:defRPr>
      </a:lvl1pPr>
      <a:lvl2pPr marL="331381" algn="l" defTabSz="662761" rtl="0" eaLnBrk="1" latinLnBrk="0" hangingPunct="1">
        <a:defRPr kumimoji="1" sz="1385" kern="1200">
          <a:solidFill>
            <a:schemeClr val="tx1"/>
          </a:solidFill>
          <a:latin typeface="+mn-lt"/>
          <a:ea typeface="+mn-ea"/>
          <a:cs typeface="+mn-cs"/>
        </a:defRPr>
      </a:lvl2pPr>
      <a:lvl3pPr marL="662761" algn="l" defTabSz="662761" rtl="0" eaLnBrk="1" latinLnBrk="0" hangingPunct="1">
        <a:defRPr kumimoji="1" sz="1385" kern="1200">
          <a:solidFill>
            <a:schemeClr val="tx1"/>
          </a:solidFill>
          <a:latin typeface="+mn-lt"/>
          <a:ea typeface="+mn-ea"/>
          <a:cs typeface="+mn-cs"/>
        </a:defRPr>
      </a:lvl3pPr>
      <a:lvl4pPr marL="994144" algn="l" defTabSz="662761" rtl="0" eaLnBrk="1" latinLnBrk="0" hangingPunct="1">
        <a:defRPr kumimoji="1" sz="1385" kern="1200">
          <a:solidFill>
            <a:schemeClr val="tx1"/>
          </a:solidFill>
          <a:latin typeface="+mn-lt"/>
          <a:ea typeface="+mn-ea"/>
          <a:cs typeface="+mn-cs"/>
        </a:defRPr>
      </a:lvl4pPr>
      <a:lvl5pPr marL="1325522" algn="l" defTabSz="662761" rtl="0" eaLnBrk="1" latinLnBrk="0" hangingPunct="1">
        <a:defRPr kumimoji="1" sz="1385" kern="1200">
          <a:solidFill>
            <a:schemeClr val="tx1"/>
          </a:solidFill>
          <a:latin typeface="+mn-lt"/>
          <a:ea typeface="+mn-ea"/>
          <a:cs typeface="+mn-cs"/>
        </a:defRPr>
      </a:lvl5pPr>
      <a:lvl6pPr marL="1656905" algn="l" defTabSz="662761" rtl="0" eaLnBrk="1" latinLnBrk="0" hangingPunct="1">
        <a:defRPr kumimoji="1" sz="1385" kern="1200">
          <a:solidFill>
            <a:schemeClr val="tx1"/>
          </a:solidFill>
          <a:latin typeface="+mn-lt"/>
          <a:ea typeface="+mn-ea"/>
          <a:cs typeface="+mn-cs"/>
        </a:defRPr>
      </a:lvl6pPr>
      <a:lvl7pPr marL="1988284" algn="l" defTabSz="662761" rtl="0" eaLnBrk="1" latinLnBrk="0" hangingPunct="1">
        <a:defRPr kumimoji="1" sz="1385" kern="1200">
          <a:solidFill>
            <a:schemeClr val="tx1"/>
          </a:solidFill>
          <a:latin typeface="+mn-lt"/>
          <a:ea typeface="+mn-ea"/>
          <a:cs typeface="+mn-cs"/>
        </a:defRPr>
      </a:lvl7pPr>
      <a:lvl8pPr marL="2319665" algn="l" defTabSz="662761" rtl="0" eaLnBrk="1" latinLnBrk="0" hangingPunct="1">
        <a:defRPr kumimoji="1" sz="1385" kern="1200">
          <a:solidFill>
            <a:schemeClr val="tx1"/>
          </a:solidFill>
          <a:latin typeface="+mn-lt"/>
          <a:ea typeface="+mn-ea"/>
          <a:cs typeface="+mn-cs"/>
        </a:defRPr>
      </a:lvl8pPr>
      <a:lvl9pPr marL="2651046" algn="l" defTabSz="662761" rtl="0" eaLnBrk="1" latinLnBrk="0" hangingPunct="1">
        <a:defRPr kumimoji="1" sz="13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teams.microsoft.com/l/channel/19%3A3396053c6dec4a0ca8d77c7120e1dbb2%40thread.tacv2/%E6%8A%80%E8%A1%93%E7%85%A7%E4%BC%9A%E3%81%AE%E4%BB%95%E8%A8%B3%E3%83%95%E3%83%AD%E3%83%BC?groupId=74a9ecb0-1797-47ee-ba6a-edf29bc70624&amp;tenantId=50528b4c-efba-4fff-b242-2a939652cd3e"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hyperlink" Target="https://teams.microsoft.com/l/channel/19%3A054bfc9140fd450faf912278f8320eb3%40thread.tacv2/%E6%8F%90%E6%A1%88%E6%9B%B8%E4%BD%9C%E6%88%90%E3%81%AE%E3%82%AC%E3%82%A4%E3%83%89%E3%83%A9%E3%82%A4%E3%83%B3?groupId=74a9ecb0-1797-47ee-ba6a-edf29bc70624&amp;tenantId=50528b4c-efba-4fff-b242-2a939652cd3e"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6.xml"/><Relationship Id="rId4" Type="http://schemas.openxmlformats.org/officeDocument/2006/relationships/image" Target="../media/image23.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5" Type="http://schemas.openxmlformats.org/officeDocument/2006/relationships/hyperlink" Target="https://teams.microsoft.com/l/channel/19%3Aa9EZ0HGKA6gUq1d3zIDNkXbEWfUy9VMRJQa7xuqggrM1%40thread.tacv2/General?groupId=c4ca7e8c-e507-4538-b74c-a3f5584ae769&amp;tenantId=50528b4c-efba-4fff-b242-2a939652cd3e" TargetMode="External"/><Relationship Id="rId4" Type="http://schemas.openxmlformats.org/officeDocument/2006/relationships/hyperlink" Target="https://teams.microsoft.com/l/channel/19%3A67f55996d231430192e82d256a90c153%40thread.tacv2/%E5%BC%95%E5%90%88%E8%B2%BB%E5%AE%9F%E7%B8%BE%E3%83%AC%E3%83%9D%E3%83%BC%E3%83%88?groupId=74a9ecb0-1797-47ee-ba6a-edf29bc70624&amp;tenantId=50528b4c-efba-4fff-b242-2a939652cd3e"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teams.microsoft.com/l/channel/19%3A3396053c6dec4a0ca8d77c7120e1dbb2%40thread.tacv2/%E6%8A%80%E8%A1%93%E7%85%A7%E4%BC%9A%E3%81%AE%E4%BB%95%E8%A8%B3%E3%83%95%E3%83%AD%E3%83%BC?groupId=74a9ecb0-1797-47ee-ba6a-edf29bc70624&amp;tenantId=50528b4c-efba-4fff-b242-2a939652cd3e"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hyperlink" Target="https://teams.microsoft.com/l/channel/19%3A054bfc9140fd450faf912278f8320eb3%40thread.tacv2/%E6%8F%90%E6%A1%88%E6%9B%B8%E4%BD%9C%E6%88%90%E3%81%AE%E3%82%AC%E3%82%A4%E3%83%89%E3%83%A9%E3%82%A4%E3%83%B3?groupId=74a9ecb0-1797-47ee-ba6a-edf29bc70624&amp;tenantId=50528b4c-efba-4fff-b242-2a939652cd3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teams.microsoft.com/l/channel/19%3A67f55996d231430192e82d256a90c153%40thread.tacv2/%E5%BC%95%E5%90%88%E8%B2%BB%E5%AE%9F%E7%B8%BE%E3%83%AC%E3%83%9D%E3%83%BC%E3%83%88?groupId=74a9ecb0-1797-47ee-ba6a-edf29bc70624&amp;tenantId=50528b4c-efba-4fff-b242-2a939652cd3e" TargetMode="Externa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teams.microsoft.com/l/channel/19%3A67f55996d231430192e82d256a90c153%40thread.tacv2/%E5%BC%95%E5%90%88%E8%B2%BB%E5%AE%9F%E7%B8%BE%E3%83%AC%E3%83%9D%E3%83%BC%E3%83%88?groupId=74a9ecb0-1797-47ee-ba6a-edf29bc70624&amp;tenantId=50528b4c-efba-4fff-b242-2a939652cd3e" TargetMode="Externa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teams.microsoft.com/l/channel/19%3Aa9EZ0HGKA6gUq1d3zIDNkXbEWfUy9VMRJQa7xuqggrM1%40thread.tacv2/General?groupId=c4ca7e8c-e507-4538-b74c-a3f5584ae769&amp;tenantId=50528b4c-efba-4fff-b242-2a939652cd3e" TargetMode="Externa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hyperlink" Target="https://teams.microsoft.com/l/channel/19%3Aa9EZ0HGKA6gUq1d3zIDNkXbEWfUy9VMRJQa7xuqggrM1%40thread.tacv2/General?groupId=c4ca7e8c-e507-4538-b74c-a3f5584ae769&amp;tenantId=50528b4c-efba-4fff-b242-2a939652cd3e" TargetMode="External"/><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hyperlink" Target="https://teams.microsoft.com/l/channel/19%3Aa9EZ0HGKA6gUq1d3zIDNkXbEWfUy9VMRJQa7xuqggrM1%40thread.tacv2/General?groupId=c4ca7e8c-e507-4538-b74c-a3f5584ae769&amp;tenantId=50528b4c-efba-4fff-b242-2a939652cd3e" TargetMode="External"/><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A31EBDB2-E54C-C5D9-C7F6-BC646AF79024}"/>
              </a:ext>
            </a:extLst>
          </p:cNvPr>
          <p:cNvSpPr>
            <a:spLocks noGrp="1"/>
          </p:cNvSpPr>
          <p:nvPr>
            <p:ph type="body" sz="quarter" idx="10"/>
          </p:nvPr>
        </p:nvSpPr>
        <p:spPr/>
        <p:txBody>
          <a:bodyPr/>
          <a:lstStyle/>
          <a:p>
            <a:r>
              <a:rPr lang="en-US" altLang="ja-JP" dirty="0"/>
              <a:t>2024/06/25</a:t>
            </a:r>
            <a:endParaRPr lang="ja-JP" altLang="en-US" dirty="0"/>
          </a:p>
        </p:txBody>
      </p:sp>
      <p:sp>
        <p:nvSpPr>
          <p:cNvPr id="2" name="タイトル 1">
            <a:extLst>
              <a:ext uri="{FF2B5EF4-FFF2-40B4-BE49-F238E27FC236}">
                <a16:creationId xmlns:a16="http://schemas.microsoft.com/office/drawing/2014/main" id="{0DD5DB1A-046E-6E87-928B-248BB12195F6}"/>
              </a:ext>
            </a:extLst>
          </p:cNvPr>
          <p:cNvSpPr>
            <a:spLocks noGrp="1"/>
          </p:cNvSpPr>
          <p:nvPr>
            <p:ph type="title"/>
          </p:nvPr>
        </p:nvSpPr>
        <p:spPr/>
        <p:txBody>
          <a:bodyPr/>
          <a:lstStyle/>
          <a:p>
            <a:r>
              <a:rPr lang="en-US" altLang="ja-JP" dirty="0"/>
              <a:t>WP</a:t>
            </a:r>
            <a:r>
              <a:rPr lang="ja-JP" altLang="en-US" dirty="0"/>
              <a:t>プロジェクト</a:t>
            </a:r>
          </a:p>
        </p:txBody>
      </p:sp>
      <p:sp>
        <p:nvSpPr>
          <p:cNvPr id="4" name="テキスト プレースホルダー 3">
            <a:extLst>
              <a:ext uri="{FF2B5EF4-FFF2-40B4-BE49-F238E27FC236}">
                <a16:creationId xmlns:a16="http://schemas.microsoft.com/office/drawing/2014/main" id="{C2CBA697-E8F2-4646-ECA8-2791F8CC2E01}"/>
              </a:ext>
            </a:extLst>
          </p:cNvPr>
          <p:cNvSpPr>
            <a:spLocks noGrp="1"/>
          </p:cNvSpPr>
          <p:nvPr>
            <p:ph type="body" sz="quarter" idx="14"/>
          </p:nvPr>
        </p:nvSpPr>
        <p:spPr>
          <a:xfrm>
            <a:off x="308725" y="3361113"/>
            <a:ext cx="8295723" cy="351288"/>
          </a:xfrm>
        </p:spPr>
        <p:txBody>
          <a:bodyPr/>
          <a:lstStyle/>
          <a:p>
            <a:r>
              <a:rPr lang="en-US" altLang="ja-JP" dirty="0"/>
              <a:t>5-6</a:t>
            </a:r>
            <a:r>
              <a:rPr lang="ja-JP" altLang="en-US" dirty="0"/>
              <a:t>月活動</a:t>
            </a:r>
            <a:r>
              <a:rPr lang="en-US" altLang="ja-JP" dirty="0"/>
              <a:t>(</a:t>
            </a:r>
            <a:r>
              <a:rPr lang="ja-JP" altLang="en-US" dirty="0"/>
              <a:t>フェーズ３</a:t>
            </a:r>
            <a:r>
              <a:rPr lang="en-US" altLang="ja-JP" dirty="0"/>
              <a:t>)</a:t>
            </a:r>
            <a:r>
              <a:rPr lang="ja-JP" altLang="en-US" dirty="0"/>
              <a:t>中間報告</a:t>
            </a:r>
          </a:p>
          <a:p>
            <a:endParaRPr lang="ja-JP" altLang="en-US" dirty="0"/>
          </a:p>
        </p:txBody>
      </p:sp>
      <p:sp>
        <p:nvSpPr>
          <p:cNvPr id="5" name="正方形/長方形 4">
            <a:extLst>
              <a:ext uri="{FF2B5EF4-FFF2-40B4-BE49-F238E27FC236}">
                <a16:creationId xmlns:a16="http://schemas.microsoft.com/office/drawing/2014/main" id="{8F4AFF40-FC7C-34EF-DBC4-F12027B234DC}"/>
              </a:ext>
            </a:extLst>
          </p:cNvPr>
          <p:cNvSpPr/>
          <p:nvPr/>
        </p:nvSpPr>
        <p:spPr>
          <a:xfrm>
            <a:off x="1115616" y="3889236"/>
            <a:ext cx="4968552" cy="1224136"/>
          </a:xfrm>
          <a:prstGeom prst="rect">
            <a:avLst/>
          </a:prstGeom>
          <a:solidFill>
            <a:schemeClr val="bg2">
              <a:lumMod val="20000"/>
              <a:lumOff val="80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en-US" altLang="ja-JP" sz="1200" b="1" dirty="0">
                <a:solidFill>
                  <a:schemeClr val="tx1"/>
                </a:solidFill>
                <a:latin typeface="+mn-ea"/>
              </a:rPr>
              <a:t>【</a:t>
            </a:r>
            <a:r>
              <a:rPr kumimoji="1" lang="ja-JP" altLang="en-US" sz="1200" b="1" dirty="0">
                <a:solidFill>
                  <a:schemeClr val="tx1"/>
                </a:solidFill>
                <a:latin typeface="+mn-ea"/>
              </a:rPr>
              <a:t>各フェーズ実施事項</a:t>
            </a:r>
            <a:r>
              <a:rPr kumimoji="1" lang="en-US" altLang="ja-JP" sz="1200" b="1" dirty="0">
                <a:solidFill>
                  <a:schemeClr val="tx1"/>
                </a:solidFill>
                <a:latin typeface="+mn-ea"/>
              </a:rPr>
              <a:t>】</a:t>
            </a:r>
          </a:p>
          <a:p>
            <a:pPr algn="l"/>
            <a:r>
              <a:rPr lang="ja-JP" altLang="en-US" sz="1200" dirty="0">
                <a:solidFill>
                  <a:schemeClr val="tx1"/>
                </a:solidFill>
                <a:latin typeface="+mn-ea"/>
              </a:rPr>
              <a:t>■</a:t>
            </a:r>
            <a:r>
              <a:rPr kumimoji="1" lang="ja-JP" altLang="en-US" sz="1200" dirty="0">
                <a:solidFill>
                  <a:schemeClr val="tx1"/>
                </a:solidFill>
                <a:latin typeface="+mn-ea"/>
              </a:rPr>
              <a:t>フェーズ１　   </a:t>
            </a:r>
            <a:r>
              <a:rPr kumimoji="1" lang="en-US" altLang="ja-JP" sz="1200" dirty="0">
                <a:solidFill>
                  <a:schemeClr val="tx1"/>
                </a:solidFill>
                <a:latin typeface="+mn-ea"/>
              </a:rPr>
              <a:t>(FY23/5-8)  </a:t>
            </a:r>
            <a:r>
              <a:rPr kumimoji="1" lang="ja-JP" altLang="en-US" sz="1200" dirty="0">
                <a:solidFill>
                  <a:schemeClr val="tx1"/>
                </a:solidFill>
                <a:latin typeface="+mn-ea"/>
              </a:rPr>
              <a:t>：改革テーマ選定</a:t>
            </a:r>
            <a:endParaRPr kumimoji="1" lang="en-US" altLang="ja-JP" sz="1200" dirty="0">
              <a:solidFill>
                <a:schemeClr val="tx1"/>
              </a:solidFill>
              <a:latin typeface="+mn-ea"/>
            </a:endParaRPr>
          </a:p>
          <a:p>
            <a:pPr algn="l"/>
            <a:r>
              <a:rPr lang="ja-JP" altLang="en-US" sz="1200" dirty="0">
                <a:solidFill>
                  <a:schemeClr val="tx1"/>
                </a:solidFill>
                <a:latin typeface="+mn-ea"/>
              </a:rPr>
              <a:t>■フェーズ２－１</a:t>
            </a:r>
            <a:r>
              <a:rPr lang="en-US" altLang="ja-JP" sz="1200" dirty="0">
                <a:solidFill>
                  <a:schemeClr val="tx1"/>
                </a:solidFill>
                <a:latin typeface="+mn-ea"/>
              </a:rPr>
              <a:t>(FY23/9-12)</a:t>
            </a:r>
            <a:r>
              <a:rPr lang="ja-JP" altLang="en-US" sz="1200" dirty="0">
                <a:solidFill>
                  <a:schemeClr val="tx1"/>
                </a:solidFill>
                <a:latin typeface="+mn-ea"/>
              </a:rPr>
              <a:t>：</a:t>
            </a:r>
            <a:r>
              <a:rPr lang="en-US" altLang="ja-JP" sz="1200" dirty="0">
                <a:solidFill>
                  <a:schemeClr val="tx1"/>
                </a:solidFill>
                <a:latin typeface="+mn-ea"/>
              </a:rPr>
              <a:t>KPI</a:t>
            </a:r>
            <a:r>
              <a:rPr lang="ja-JP" altLang="en-US" sz="1200" dirty="0">
                <a:solidFill>
                  <a:schemeClr val="tx1"/>
                </a:solidFill>
                <a:latin typeface="+mn-ea"/>
              </a:rPr>
              <a:t>設定・ルール整備</a:t>
            </a:r>
            <a:endParaRPr lang="en-US" altLang="ja-JP" sz="1200" dirty="0">
              <a:solidFill>
                <a:schemeClr val="tx1"/>
              </a:solidFill>
              <a:latin typeface="+mn-ea"/>
            </a:endParaRPr>
          </a:p>
          <a:p>
            <a:pPr algn="l"/>
            <a:r>
              <a:rPr lang="ja-JP" altLang="en-US" sz="1200" dirty="0">
                <a:solidFill>
                  <a:schemeClr val="tx1"/>
                </a:solidFill>
                <a:latin typeface="+mn-ea"/>
              </a:rPr>
              <a:t>■</a:t>
            </a:r>
            <a:r>
              <a:rPr kumimoji="1" lang="ja-JP" altLang="en-US" sz="1200" dirty="0">
                <a:solidFill>
                  <a:schemeClr val="tx1"/>
                </a:solidFill>
                <a:latin typeface="+mn-ea"/>
              </a:rPr>
              <a:t>フェーズ２－２</a:t>
            </a:r>
            <a:r>
              <a:rPr kumimoji="1" lang="en-US" altLang="ja-JP" sz="1200" dirty="0">
                <a:solidFill>
                  <a:schemeClr val="tx1"/>
                </a:solidFill>
                <a:latin typeface="+mn-ea"/>
              </a:rPr>
              <a:t>(FY24/1-3)  </a:t>
            </a:r>
            <a:r>
              <a:rPr kumimoji="1" lang="ja-JP" altLang="en-US" sz="1200" dirty="0">
                <a:solidFill>
                  <a:schemeClr val="tx1"/>
                </a:solidFill>
                <a:latin typeface="+mn-ea"/>
              </a:rPr>
              <a:t>：引合・間接業務改善①</a:t>
            </a:r>
            <a:endParaRPr kumimoji="1" lang="en-US" altLang="ja-JP" sz="1200" dirty="0">
              <a:solidFill>
                <a:schemeClr val="tx1"/>
              </a:solidFill>
              <a:latin typeface="+mn-ea"/>
            </a:endParaRPr>
          </a:p>
          <a:p>
            <a:pPr algn="l"/>
            <a:r>
              <a:rPr lang="ja-JP" altLang="en-US" sz="1200" dirty="0">
                <a:solidFill>
                  <a:schemeClr val="tx1"/>
                </a:solidFill>
                <a:latin typeface="+mn-ea"/>
              </a:rPr>
              <a:t>■フェーズ２－３</a:t>
            </a:r>
            <a:r>
              <a:rPr lang="en-US" altLang="ja-JP" sz="1200" dirty="0">
                <a:solidFill>
                  <a:schemeClr val="tx1"/>
                </a:solidFill>
                <a:latin typeface="+mn-ea"/>
              </a:rPr>
              <a:t>(FY24/4)     </a:t>
            </a:r>
            <a:r>
              <a:rPr lang="ja-JP" altLang="en-US" sz="1200" dirty="0">
                <a:solidFill>
                  <a:schemeClr val="tx1"/>
                </a:solidFill>
                <a:latin typeface="+mn-ea"/>
              </a:rPr>
              <a:t>：引合・間接業務改善②</a:t>
            </a:r>
            <a:endParaRPr kumimoji="1" lang="en-US" altLang="ja-JP" sz="1200" dirty="0">
              <a:solidFill>
                <a:schemeClr val="tx1"/>
              </a:solidFill>
              <a:latin typeface="+mn-ea"/>
            </a:endParaRPr>
          </a:p>
          <a:p>
            <a:pPr algn="l"/>
            <a:r>
              <a:rPr lang="ja-JP" altLang="en-US" sz="1200" dirty="0">
                <a:solidFill>
                  <a:srgbClr val="FF0000"/>
                </a:solidFill>
                <a:latin typeface="+mn-ea"/>
              </a:rPr>
              <a:t>■フェーズ３　　</a:t>
            </a:r>
            <a:r>
              <a:rPr lang="en-US" altLang="ja-JP" sz="1200" dirty="0">
                <a:solidFill>
                  <a:srgbClr val="FF0000"/>
                </a:solidFill>
                <a:latin typeface="+mn-ea"/>
              </a:rPr>
              <a:t>(FY24/5-8)  </a:t>
            </a:r>
            <a:r>
              <a:rPr lang="ja-JP" altLang="en-US" sz="1200" dirty="0">
                <a:solidFill>
                  <a:srgbClr val="FF0000"/>
                </a:solidFill>
                <a:latin typeface="+mn-ea"/>
              </a:rPr>
              <a:t>：プロジェクト管理・設計業務改善</a:t>
            </a:r>
            <a:endParaRPr kumimoji="1" lang="ja-JP" altLang="en-US" sz="1200" dirty="0">
              <a:solidFill>
                <a:srgbClr val="FF0000"/>
              </a:solidFill>
              <a:latin typeface="+mn-ea"/>
            </a:endParaRPr>
          </a:p>
        </p:txBody>
      </p:sp>
    </p:spTree>
    <p:extLst>
      <p:ext uri="{BB962C8B-B14F-4D97-AF65-F5344CB8AC3E}">
        <p14:creationId xmlns:p14="http://schemas.microsoft.com/office/powerpoint/2010/main" val="2829367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9609A53-46D4-45D6-8F74-4B9F2829964A}"/>
              </a:ext>
            </a:extLst>
          </p:cNvPr>
          <p:cNvSpPr txBox="1"/>
          <p:nvPr/>
        </p:nvSpPr>
        <p:spPr>
          <a:xfrm>
            <a:off x="210312" y="173736"/>
            <a:ext cx="5833872" cy="369332"/>
          </a:xfrm>
          <a:prstGeom prst="rect">
            <a:avLst/>
          </a:prstGeom>
          <a:noFill/>
        </p:spPr>
        <p:txBody>
          <a:bodyPr wrap="square" rtlCol="0">
            <a:spAutoFit/>
          </a:bodyPr>
          <a:lstStyle/>
          <a:p>
            <a:r>
              <a:rPr lang="ja-JP" altLang="en-US" dirty="0"/>
              <a:t>目次</a:t>
            </a:r>
            <a:endParaRPr kumimoji="1" lang="ja-JP" altLang="en-US" dirty="0"/>
          </a:p>
        </p:txBody>
      </p:sp>
      <p:sp>
        <p:nvSpPr>
          <p:cNvPr id="7" name="テキスト ボックス 6">
            <a:extLst>
              <a:ext uri="{FF2B5EF4-FFF2-40B4-BE49-F238E27FC236}">
                <a16:creationId xmlns:a16="http://schemas.microsoft.com/office/drawing/2014/main" id="{22A8828D-7D60-4DC0-8D41-C36AC6A82A2A}"/>
              </a:ext>
            </a:extLst>
          </p:cNvPr>
          <p:cNvSpPr txBox="1"/>
          <p:nvPr/>
        </p:nvSpPr>
        <p:spPr>
          <a:xfrm>
            <a:off x="210312" y="877796"/>
            <a:ext cx="8494776" cy="2862322"/>
          </a:xfrm>
          <a:prstGeom prst="rect">
            <a:avLst/>
          </a:prstGeom>
          <a:noFill/>
        </p:spPr>
        <p:txBody>
          <a:bodyPr wrap="square" rtlCol="0">
            <a:spAutoFit/>
          </a:bodyPr>
          <a:lstStyle/>
          <a:p>
            <a:r>
              <a:rPr lang="ja-JP" altLang="en-US" dirty="0">
                <a:latin typeface="+mn-ea"/>
              </a:rPr>
              <a:t>１．</a:t>
            </a:r>
            <a:r>
              <a:rPr lang="en-US" altLang="ja-JP" dirty="0">
                <a:latin typeface="+mn-ea"/>
              </a:rPr>
              <a:t>WP</a:t>
            </a:r>
            <a:r>
              <a:rPr lang="ja-JP" altLang="en-US" dirty="0">
                <a:latin typeface="+mn-ea"/>
              </a:rPr>
              <a:t>プロジェクトの全体像（振返り）</a:t>
            </a:r>
            <a:endParaRPr lang="en-US" altLang="ja-JP" dirty="0">
              <a:latin typeface="+mn-ea"/>
            </a:endParaRPr>
          </a:p>
          <a:p>
            <a:r>
              <a:rPr lang="ja-JP" altLang="en-US" dirty="0">
                <a:latin typeface="+mn-ea"/>
              </a:rPr>
              <a:t>２．</a:t>
            </a:r>
            <a:r>
              <a:rPr lang="en-US" altLang="ja-JP" dirty="0">
                <a:latin typeface="+mn-ea"/>
              </a:rPr>
              <a:t>AS</a:t>
            </a:r>
            <a:r>
              <a:rPr lang="ja-JP" altLang="en-US" dirty="0">
                <a:latin typeface="+mn-ea"/>
              </a:rPr>
              <a:t>事業の目標とする姿と各取組み項目との関連</a:t>
            </a:r>
            <a:r>
              <a:rPr lang="en-US" altLang="ja-JP" dirty="0">
                <a:latin typeface="+mn-ea"/>
              </a:rPr>
              <a:t>(</a:t>
            </a:r>
            <a:r>
              <a:rPr lang="ja-JP" altLang="en-US" dirty="0">
                <a:latin typeface="+mn-ea"/>
              </a:rPr>
              <a:t>振返り</a:t>
            </a:r>
            <a:r>
              <a:rPr lang="en-US" altLang="ja-JP" dirty="0">
                <a:latin typeface="+mn-ea"/>
              </a:rPr>
              <a:t>)</a:t>
            </a:r>
          </a:p>
          <a:p>
            <a:r>
              <a:rPr lang="ja-JP" altLang="en-US" dirty="0">
                <a:latin typeface="+mn-ea"/>
              </a:rPr>
              <a:t>３．活動</a:t>
            </a:r>
            <a:r>
              <a:rPr kumimoji="1" lang="ja-JP" altLang="en-US" dirty="0">
                <a:latin typeface="+mn-ea"/>
              </a:rPr>
              <a:t>進捗</a:t>
            </a:r>
            <a:r>
              <a:rPr lang="ja-JP" altLang="en-US" sz="1800" dirty="0">
                <a:latin typeface="+mn-ea"/>
              </a:rPr>
              <a:t>サマリと本日の報告対象</a:t>
            </a:r>
            <a:endParaRPr lang="en-US" altLang="ja-JP" sz="1800" dirty="0">
              <a:latin typeface="+mn-ea"/>
            </a:endParaRPr>
          </a:p>
          <a:p>
            <a:r>
              <a:rPr lang="ja-JP" altLang="en-US" dirty="0">
                <a:latin typeface="+mn-ea"/>
              </a:rPr>
              <a:t>４．フェーズ２からの継続活動事項</a:t>
            </a:r>
            <a:endParaRPr lang="en-US" altLang="ja-JP" dirty="0">
              <a:latin typeface="+mn-ea"/>
            </a:endParaRPr>
          </a:p>
          <a:p>
            <a:r>
              <a:rPr lang="ja-JP" altLang="en-US" dirty="0">
                <a:latin typeface="+mn-ea"/>
              </a:rPr>
              <a:t>　　４－１．顧客セグメントの再定義について</a:t>
            </a:r>
            <a:endParaRPr lang="en-US" altLang="ja-JP" dirty="0">
              <a:latin typeface="+mn-ea"/>
            </a:endParaRPr>
          </a:p>
          <a:p>
            <a:r>
              <a:rPr lang="ja-JP" altLang="en-US" dirty="0">
                <a:latin typeface="+mn-ea"/>
              </a:rPr>
              <a:t>　　４－２．経営数値のダッシュボード構築について</a:t>
            </a:r>
          </a:p>
          <a:p>
            <a:r>
              <a:rPr lang="ja-JP" altLang="en-US" dirty="0">
                <a:latin typeface="+mn-ea"/>
              </a:rPr>
              <a:t>　　４－２</a:t>
            </a:r>
            <a:r>
              <a:rPr kumimoji="1" lang="ja-JP" altLang="en-US" dirty="0">
                <a:latin typeface="+mn-ea"/>
              </a:rPr>
              <a:t>．</a:t>
            </a:r>
            <a:r>
              <a:rPr lang="ja-JP" altLang="en-US" dirty="0">
                <a:latin typeface="+mn-ea"/>
              </a:rPr>
              <a:t>見積作業の効率化について</a:t>
            </a:r>
            <a:r>
              <a:rPr lang="en-US" altLang="ja-JP" dirty="0">
                <a:latin typeface="+mn-ea"/>
              </a:rPr>
              <a:t>(</a:t>
            </a:r>
            <a:r>
              <a:rPr lang="ja-JP" altLang="en-US" dirty="0">
                <a:latin typeface="+mn-ea"/>
              </a:rPr>
              <a:t>簡略化</a:t>
            </a:r>
            <a:r>
              <a:rPr lang="en-US" altLang="ja-JP" dirty="0">
                <a:latin typeface="+mn-ea"/>
              </a:rPr>
              <a:t>TT,CATS+)</a:t>
            </a:r>
          </a:p>
          <a:p>
            <a:r>
              <a:rPr lang="ja-JP" altLang="en-US" dirty="0">
                <a:latin typeface="+mn-ea"/>
              </a:rPr>
              <a:t>５．フェーズ３の活動詳細</a:t>
            </a:r>
            <a:endParaRPr lang="en-US" altLang="ja-JP" dirty="0">
              <a:latin typeface="+mn-ea"/>
            </a:endParaRPr>
          </a:p>
          <a:p>
            <a:r>
              <a:rPr lang="ja-JP" altLang="en-US" dirty="0">
                <a:latin typeface="+mn-ea"/>
              </a:rPr>
              <a:t>　　５－１．見積</a:t>
            </a:r>
            <a:r>
              <a:rPr lang="en-US" altLang="ja-JP" dirty="0">
                <a:latin typeface="+mn-ea"/>
              </a:rPr>
              <a:t>/</a:t>
            </a:r>
            <a:r>
              <a:rPr lang="ja-JP" altLang="en-US" dirty="0">
                <a:latin typeface="+mn-ea"/>
              </a:rPr>
              <a:t>実行フォロ（金額・工程）業務の整流化・効率化について</a:t>
            </a:r>
            <a:endParaRPr lang="en-US" altLang="ja-JP" dirty="0">
              <a:latin typeface="+mn-ea"/>
            </a:endParaRPr>
          </a:p>
          <a:p>
            <a:r>
              <a:rPr kumimoji="1" lang="ja-JP" altLang="en-US" dirty="0">
                <a:latin typeface="+mn-ea"/>
              </a:rPr>
              <a:t>　　５</a:t>
            </a:r>
            <a:r>
              <a:rPr lang="ja-JP" altLang="en-US" dirty="0">
                <a:latin typeface="+mn-ea"/>
              </a:rPr>
              <a:t>－２</a:t>
            </a:r>
            <a:r>
              <a:rPr kumimoji="1" lang="ja-JP" altLang="en-US" dirty="0">
                <a:latin typeface="+mn-ea"/>
              </a:rPr>
              <a:t>．遂行（設計）業務の整流化・効率化について</a:t>
            </a:r>
            <a:endParaRPr kumimoji="1" lang="en-US" altLang="ja-JP" dirty="0">
              <a:latin typeface="+mn-ea"/>
            </a:endParaRPr>
          </a:p>
        </p:txBody>
      </p:sp>
    </p:spTree>
    <p:extLst>
      <p:ext uri="{BB962C8B-B14F-4D97-AF65-F5344CB8AC3E}">
        <p14:creationId xmlns:p14="http://schemas.microsoft.com/office/powerpoint/2010/main" val="1573996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矢印コネクタ 3">
            <a:extLst>
              <a:ext uri="{FF2B5EF4-FFF2-40B4-BE49-F238E27FC236}">
                <a16:creationId xmlns:a16="http://schemas.microsoft.com/office/drawing/2014/main" id="{432F2115-D070-888E-2B7A-4BBABC0B9738}"/>
              </a:ext>
            </a:extLst>
          </p:cNvPr>
          <p:cNvCxnSpPr>
            <a:cxnSpLocks/>
          </p:cNvCxnSpPr>
          <p:nvPr/>
        </p:nvCxnSpPr>
        <p:spPr>
          <a:xfrm flipH="1" flipV="1">
            <a:off x="4662687" y="2098945"/>
            <a:ext cx="32306" cy="3941858"/>
          </a:xfrm>
          <a:prstGeom prst="straightConnector1">
            <a:avLst/>
          </a:prstGeom>
          <a:ln w="28575">
            <a:tailEnd type="none"/>
          </a:ln>
        </p:spPr>
        <p:style>
          <a:lnRef idx="1">
            <a:schemeClr val="accent5"/>
          </a:lnRef>
          <a:fillRef idx="0">
            <a:schemeClr val="accent5"/>
          </a:fillRef>
          <a:effectRef idx="0">
            <a:schemeClr val="accent5"/>
          </a:effectRef>
          <a:fontRef idx="minor">
            <a:schemeClr val="tx1"/>
          </a:fontRef>
        </p:style>
      </p:cxnSp>
      <p:sp>
        <p:nvSpPr>
          <p:cNvPr id="10" name="タイトル 4">
            <a:extLst>
              <a:ext uri="{FF2B5EF4-FFF2-40B4-BE49-F238E27FC236}">
                <a16:creationId xmlns:a16="http://schemas.microsoft.com/office/drawing/2014/main" id="{29412A62-F771-4766-89BD-13834BA79B92}"/>
              </a:ext>
            </a:extLst>
          </p:cNvPr>
          <p:cNvSpPr>
            <a:spLocks noGrp="1"/>
          </p:cNvSpPr>
          <p:nvPr>
            <p:ph type="title" idx="4294967295"/>
          </p:nvPr>
        </p:nvSpPr>
        <p:spPr>
          <a:xfrm>
            <a:off x="248234" y="135110"/>
            <a:ext cx="7227899" cy="349961"/>
          </a:xfrm>
          <a:prstGeom prst="rect">
            <a:avLst/>
          </a:prstGeom>
        </p:spPr>
        <p:txBody>
          <a:bodyPr/>
          <a:lstStyle/>
          <a:p>
            <a:r>
              <a:rPr lang="ja-JP" altLang="en-US" sz="1800" b="1" dirty="0">
                <a:latin typeface="+mj-ea"/>
              </a:rPr>
              <a:t>１．</a:t>
            </a:r>
            <a:r>
              <a:rPr lang="en-US" altLang="ja-JP" sz="1800" b="1" dirty="0">
                <a:latin typeface="+mj-ea"/>
              </a:rPr>
              <a:t>WP</a:t>
            </a:r>
            <a:r>
              <a:rPr lang="ja-JP" altLang="en-US" sz="1800" b="1" dirty="0">
                <a:latin typeface="+mj-ea"/>
              </a:rPr>
              <a:t>プロジェクトの全体像（振り返り）</a:t>
            </a:r>
          </a:p>
        </p:txBody>
      </p:sp>
      <p:sp>
        <p:nvSpPr>
          <p:cNvPr id="41" name="正方形/長方形 40">
            <a:extLst>
              <a:ext uri="{FF2B5EF4-FFF2-40B4-BE49-F238E27FC236}">
                <a16:creationId xmlns:a16="http://schemas.microsoft.com/office/drawing/2014/main" id="{2F4E2E6D-0675-4EA9-9599-42A1777B2967}"/>
              </a:ext>
            </a:extLst>
          </p:cNvPr>
          <p:cNvSpPr/>
          <p:nvPr/>
        </p:nvSpPr>
        <p:spPr>
          <a:xfrm>
            <a:off x="29174" y="650080"/>
            <a:ext cx="9023812" cy="931597"/>
          </a:xfrm>
          <a:prstGeom prst="rect">
            <a:avLst/>
          </a:prstGeom>
          <a:solidFill>
            <a:schemeClr val="bg2">
              <a:lumMod val="40000"/>
              <a:lumOff val="60000"/>
            </a:schemeClr>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0000"/>
              </a:lnSpc>
              <a:spcBef>
                <a:spcPts val="0"/>
              </a:spcBef>
              <a:spcAft>
                <a:spcPts val="0"/>
              </a:spcAft>
              <a:buClrTx/>
              <a:buSzTx/>
              <a:tabLst/>
              <a:defRPr/>
            </a:pPr>
            <a:r>
              <a:rPr lang="ja-JP" altLang="en-US" sz="1600" dirty="0">
                <a:solidFill>
                  <a:srgbClr val="000000"/>
                </a:solidFill>
                <a:latin typeface="メイリオ"/>
                <a:ea typeface="メイリオ"/>
              </a:rPr>
              <a:t>■</a:t>
            </a:r>
            <a:r>
              <a:rPr kumimoji="1" lang="en-US" altLang="ja-JP" sz="1600" i="0" u="none" strike="noStrike" kern="1200" cap="none" spc="0" normalizeH="0" baseline="0" noProof="0" dirty="0">
                <a:ln>
                  <a:noFill/>
                </a:ln>
                <a:solidFill>
                  <a:srgbClr val="000000"/>
                </a:solidFill>
                <a:effectLst/>
                <a:uLnTx/>
                <a:uFillTx/>
                <a:latin typeface="メイリオ"/>
                <a:ea typeface="メイリオ"/>
                <a:cs typeface="+mn-cs"/>
              </a:rPr>
              <a:t>PM</a:t>
            </a:r>
            <a:r>
              <a:rPr kumimoji="1" lang="ja-JP" altLang="en-US" sz="1600" i="0" u="none" strike="noStrike" kern="1200" cap="none" spc="0" normalizeH="0" baseline="0" noProof="0" dirty="0">
                <a:ln>
                  <a:noFill/>
                </a:ln>
                <a:solidFill>
                  <a:srgbClr val="000000"/>
                </a:solidFill>
                <a:effectLst/>
                <a:uLnTx/>
                <a:uFillTx/>
                <a:latin typeface="メイリオ"/>
                <a:ea typeface="メイリオ"/>
                <a:cs typeface="+mn-cs"/>
              </a:rPr>
              <a:t>中心のマネジメント体制とし、</a:t>
            </a:r>
            <a:r>
              <a:rPr lang="ja-JP" altLang="en-US" sz="1600" dirty="0">
                <a:solidFill>
                  <a:srgbClr val="000000"/>
                </a:solidFill>
                <a:latin typeface="メイリオ"/>
                <a:ea typeface="メイリオ"/>
              </a:rPr>
              <a:t>適正人数かつ効率的な</a:t>
            </a:r>
            <a:r>
              <a:rPr lang="en-US" altLang="ja-JP" sz="1600" dirty="0">
                <a:solidFill>
                  <a:srgbClr val="000000"/>
                </a:solidFill>
                <a:latin typeface="メイリオ"/>
                <a:ea typeface="メイリオ"/>
              </a:rPr>
              <a:t>AS</a:t>
            </a:r>
            <a:r>
              <a:rPr lang="ja-JP" altLang="en-US" sz="1600" dirty="0">
                <a:solidFill>
                  <a:srgbClr val="000000"/>
                </a:solidFill>
                <a:latin typeface="メイリオ"/>
                <a:ea typeface="メイリオ"/>
              </a:rPr>
              <a:t>事業運営の実行が最終ゴール</a:t>
            </a:r>
            <a:endParaRPr lang="en-US" altLang="ja-JP" sz="1600" dirty="0">
              <a:solidFill>
                <a:srgbClr val="000000"/>
              </a:solidFill>
              <a:latin typeface="メイリオ"/>
              <a:ea typeface="メイリオ"/>
            </a:endParaRPr>
          </a:p>
          <a:p>
            <a:pPr marR="0" lvl="0" algn="l" defTabSz="914400" rtl="0" eaLnBrk="1" fontAlgn="auto" latinLnBrk="0" hangingPunct="1">
              <a:lnSpc>
                <a:spcPct val="100000"/>
              </a:lnSpc>
              <a:spcBef>
                <a:spcPts val="0"/>
              </a:spcBef>
              <a:spcAft>
                <a:spcPts val="0"/>
              </a:spcAft>
              <a:buClrTx/>
              <a:buSzTx/>
              <a:tabLst/>
              <a:defRPr/>
            </a:pPr>
            <a:r>
              <a:rPr kumimoji="1" lang="ja-JP" altLang="en-US" sz="1600" i="0" u="none" strike="noStrike" kern="1200" cap="none" spc="0" normalizeH="0" baseline="0" noProof="0" dirty="0">
                <a:ln>
                  <a:noFill/>
                </a:ln>
                <a:solidFill>
                  <a:srgbClr val="000000"/>
                </a:solidFill>
                <a:effectLst/>
                <a:uLnTx/>
                <a:uFillTx/>
                <a:latin typeface="メイリオ"/>
                <a:ea typeface="メイリオ"/>
                <a:cs typeface="+mn-cs"/>
              </a:rPr>
              <a:t>■そのためには</a:t>
            </a:r>
            <a:r>
              <a:rPr lang="ja-JP" altLang="en-US" sz="1600" dirty="0">
                <a:solidFill>
                  <a:srgbClr val="000000"/>
                </a:solidFill>
                <a:latin typeface="メイリオ"/>
                <a:ea typeface="メイリオ"/>
              </a:rPr>
              <a:t>発電所別の採算・引合費管理サイクルの構築が必要であり、</a:t>
            </a:r>
            <a:endParaRPr lang="en-US" altLang="ja-JP" sz="1600" dirty="0">
              <a:solidFill>
                <a:srgbClr val="000000"/>
              </a:solidFill>
              <a:latin typeface="メイリオ"/>
              <a:ea typeface="メイリオ"/>
            </a:endParaRPr>
          </a:p>
          <a:p>
            <a:pPr marR="0" lvl="0" algn="l" defTabSz="914400" rtl="0" eaLnBrk="1" fontAlgn="auto" latinLnBrk="0" hangingPunct="1">
              <a:lnSpc>
                <a:spcPct val="100000"/>
              </a:lnSpc>
              <a:spcBef>
                <a:spcPts val="0"/>
              </a:spcBef>
              <a:spcAft>
                <a:spcPts val="0"/>
              </a:spcAft>
              <a:buClrTx/>
              <a:buSzTx/>
              <a:tabLst/>
              <a:defRPr/>
            </a:pPr>
            <a:r>
              <a:rPr lang="ja-JP" altLang="en-US" sz="1600" dirty="0">
                <a:solidFill>
                  <a:srgbClr val="000000"/>
                </a:solidFill>
                <a:latin typeface="メイリオ"/>
                <a:ea typeface="メイリオ"/>
              </a:rPr>
              <a:t>　フェーズ</a:t>
            </a:r>
            <a:r>
              <a:rPr lang="en-US" altLang="ja-JP" sz="1600" dirty="0">
                <a:solidFill>
                  <a:srgbClr val="000000"/>
                </a:solidFill>
                <a:latin typeface="メイリオ"/>
                <a:ea typeface="メイリオ"/>
              </a:rPr>
              <a:t>2-1</a:t>
            </a:r>
            <a:r>
              <a:rPr lang="ja-JP" altLang="en-US" sz="1600" dirty="0">
                <a:solidFill>
                  <a:srgbClr val="000000"/>
                </a:solidFill>
                <a:latin typeface="メイリオ"/>
                <a:ea typeface="メイリオ"/>
              </a:rPr>
              <a:t>から順次、不足する機能を拡充している状況。</a:t>
            </a:r>
            <a:endParaRPr kumimoji="1" lang="en-US" altLang="ja-JP" sz="1600" i="0" u="none" strike="noStrike" kern="1200" cap="none" spc="0" normalizeH="0" baseline="0" noProof="0" dirty="0">
              <a:ln>
                <a:noFill/>
              </a:ln>
              <a:solidFill>
                <a:srgbClr val="000000"/>
              </a:solidFill>
              <a:effectLst/>
              <a:uLnTx/>
              <a:uFillTx/>
              <a:latin typeface="メイリオ"/>
              <a:ea typeface="メイリオ"/>
              <a:cs typeface="+mn-cs"/>
            </a:endParaRPr>
          </a:p>
        </p:txBody>
      </p:sp>
      <p:sp>
        <p:nvSpPr>
          <p:cNvPr id="93" name="テキスト ボックス 92">
            <a:extLst>
              <a:ext uri="{FF2B5EF4-FFF2-40B4-BE49-F238E27FC236}">
                <a16:creationId xmlns:a16="http://schemas.microsoft.com/office/drawing/2014/main" id="{2BED49BB-6CC4-4903-BC6F-4CAB7AD793E7}"/>
              </a:ext>
            </a:extLst>
          </p:cNvPr>
          <p:cNvSpPr txBox="1"/>
          <p:nvPr/>
        </p:nvSpPr>
        <p:spPr>
          <a:xfrm>
            <a:off x="7960816" y="6087112"/>
            <a:ext cx="902812" cy="276999"/>
          </a:xfrm>
          <a:prstGeom prst="rect">
            <a:avLst/>
          </a:prstGeom>
          <a:noFill/>
        </p:spPr>
        <p:txBody>
          <a:bodyPr wrap="non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dirty="0">
                <a:ln>
                  <a:noFill/>
                </a:ln>
                <a:solidFill>
                  <a:srgbClr val="000000"/>
                </a:solidFill>
                <a:effectLst/>
                <a:uLnTx/>
                <a:uFillTx/>
                <a:latin typeface="+mj-ea"/>
                <a:ea typeface="+mj-ea"/>
                <a:cs typeface="+mn-cs"/>
              </a:rPr>
              <a:t>FY25</a:t>
            </a:r>
            <a:r>
              <a:rPr kumimoji="1" lang="ja-JP" altLang="en-US" sz="1200" b="1" i="0" u="none" strike="noStrike" kern="1200" cap="none" spc="0" normalizeH="0" baseline="0" noProof="0" dirty="0">
                <a:ln>
                  <a:noFill/>
                </a:ln>
                <a:solidFill>
                  <a:srgbClr val="000000"/>
                </a:solidFill>
                <a:effectLst/>
                <a:uLnTx/>
                <a:uFillTx/>
                <a:latin typeface="+mj-ea"/>
                <a:ea typeface="+mj-ea"/>
                <a:cs typeface="+mn-cs"/>
              </a:rPr>
              <a:t>以降</a:t>
            </a:r>
          </a:p>
        </p:txBody>
      </p:sp>
      <p:cxnSp>
        <p:nvCxnSpPr>
          <p:cNvPr id="95" name="直線矢印コネクタ 94">
            <a:extLst>
              <a:ext uri="{FF2B5EF4-FFF2-40B4-BE49-F238E27FC236}">
                <a16:creationId xmlns:a16="http://schemas.microsoft.com/office/drawing/2014/main" id="{6A59F036-06D9-42A1-B9AA-AAB0330F7472}"/>
              </a:ext>
            </a:extLst>
          </p:cNvPr>
          <p:cNvCxnSpPr>
            <a:cxnSpLocks/>
          </p:cNvCxnSpPr>
          <p:nvPr/>
        </p:nvCxnSpPr>
        <p:spPr>
          <a:xfrm>
            <a:off x="86010" y="6026124"/>
            <a:ext cx="8966976" cy="4"/>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96" name="直線矢印コネクタ 95">
            <a:extLst>
              <a:ext uri="{FF2B5EF4-FFF2-40B4-BE49-F238E27FC236}">
                <a16:creationId xmlns:a16="http://schemas.microsoft.com/office/drawing/2014/main" id="{47B34889-1221-450D-9FB7-6112F47B70C0}"/>
              </a:ext>
            </a:extLst>
          </p:cNvPr>
          <p:cNvCxnSpPr>
            <a:cxnSpLocks/>
          </p:cNvCxnSpPr>
          <p:nvPr/>
        </p:nvCxnSpPr>
        <p:spPr>
          <a:xfrm flipV="1">
            <a:off x="1498414" y="2098945"/>
            <a:ext cx="0" cy="4240171"/>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sp>
        <p:nvSpPr>
          <p:cNvPr id="103" name="四角形: 角を丸くする 102">
            <a:extLst>
              <a:ext uri="{FF2B5EF4-FFF2-40B4-BE49-F238E27FC236}">
                <a16:creationId xmlns:a16="http://schemas.microsoft.com/office/drawing/2014/main" id="{C3E36BC5-383B-49D8-BA92-AD82920CEDC9}"/>
              </a:ext>
            </a:extLst>
          </p:cNvPr>
          <p:cNvSpPr/>
          <p:nvPr/>
        </p:nvSpPr>
        <p:spPr>
          <a:xfrm>
            <a:off x="62790" y="4675396"/>
            <a:ext cx="1404000" cy="769469"/>
          </a:xfrm>
          <a:prstGeom prst="roundRect">
            <a:avLst>
              <a:gd name="adj" fmla="val 0"/>
            </a:avLst>
          </a:prstGeom>
          <a:solidFill>
            <a:schemeClr val="bg2">
              <a:lumMod val="50000"/>
            </a:schemeClr>
          </a:solidFill>
          <a:ln w="381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defRPr/>
            </a:pPr>
            <a:r>
              <a:rPr kumimoji="1" lang="en-US" altLang="ja-JP" sz="1100" b="1" i="0" u="none" strike="noStrike" kern="1200" cap="none" spc="0" normalizeH="0" baseline="0" noProof="0" dirty="0">
                <a:ln>
                  <a:noFill/>
                </a:ln>
                <a:solidFill>
                  <a:srgbClr val="FFFFFF"/>
                </a:solidFill>
                <a:effectLst/>
                <a:uLnTx/>
                <a:uFillTx/>
                <a:latin typeface="+mn-ea"/>
                <a:cs typeface="+mn-cs"/>
              </a:rPr>
              <a:t>(</a:t>
            </a:r>
            <a:r>
              <a:rPr kumimoji="1" lang="ja-JP" altLang="en-US" sz="1100" b="1" i="0" u="none" strike="noStrike" kern="1200" cap="none" spc="0" normalizeH="0" baseline="0" noProof="0" dirty="0">
                <a:ln>
                  <a:noFill/>
                </a:ln>
                <a:solidFill>
                  <a:srgbClr val="FFFFFF"/>
                </a:solidFill>
                <a:effectLst/>
                <a:uLnTx/>
                <a:uFillTx/>
                <a:latin typeface="+mn-ea"/>
                <a:cs typeface="+mn-cs"/>
              </a:rPr>
              <a:t>フェーズ２</a:t>
            </a:r>
            <a:r>
              <a:rPr kumimoji="1" lang="en-US" altLang="ja-JP" sz="1100" b="1" i="0" u="none" strike="noStrike" kern="1200" cap="none" spc="0" normalizeH="0" baseline="0" noProof="0" dirty="0">
                <a:ln>
                  <a:noFill/>
                </a:ln>
                <a:solidFill>
                  <a:srgbClr val="FFFFFF"/>
                </a:solidFill>
                <a:effectLst/>
                <a:uLnTx/>
                <a:uFillTx/>
                <a:latin typeface="+mn-ea"/>
                <a:cs typeface="+mn-cs"/>
              </a:rPr>
              <a:t>-1)</a:t>
            </a:r>
          </a:p>
          <a:p>
            <a:pPr>
              <a:defRPr/>
            </a:pPr>
            <a:r>
              <a:rPr lang="en-US" altLang="ja-JP" sz="1100" b="1" dirty="0">
                <a:solidFill>
                  <a:srgbClr val="FFFFFF"/>
                </a:solidFill>
                <a:latin typeface="+mn-ea"/>
              </a:rPr>
              <a:t> 1.KPI</a:t>
            </a:r>
            <a:r>
              <a:rPr lang="ja-JP" altLang="en-US" sz="1100" b="1" dirty="0">
                <a:solidFill>
                  <a:srgbClr val="FFFFFF"/>
                </a:solidFill>
                <a:latin typeface="+mn-ea"/>
              </a:rPr>
              <a:t>設定</a:t>
            </a:r>
            <a:endParaRPr lang="en-US" altLang="ja-JP" sz="1100" b="1" dirty="0">
              <a:solidFill>
                <a:srgbClr val="FFFFFF"/>
              </a:solidFill>
              <a:latin typeface="+mn-ea"/>
            </a:endParaRPr>
          </a:p>
          <a:p>
            <a:pPr>
              <a:defRPr/>
            </a:pPr>
            <a:r>
              <a:rPr lang="en-US" altLang="ja-JP" sz="1100" b="1" dirty="0">
                <a:solidFill>
                  <a:srgbClr val="FFFFFF"/>
                </a:solidFill>
                <a:latin typeface="+mn-ea"/>
              </a:rPr>
              <a:t> 2.</a:t>
            </a:r>
            <a:r>
              <a:rPr lang="ja-JP" altLang="en-US" sz="1100" b="1" dirty="0">
                <a:solidFill>
                  <a:srgbClr val="FFFFFF"/>
                </a:solidFill>
                <a:latin typeface="+mn-ea"/>
              </a:rPr>
              <a:t>既存</a:t>
            </a:r>
            <a:r>
              <a:rPr kumimoji="1" lang="ja-JP" altLang="en-US" sz="1100" b="1" i="0" u="none" strike="noStrike" kern="1200" cap="none" spc="0" normalizeH="0" baseline="0" noProof="0" dirty="0">
                <a:ln>
                  <a:noFill/>
                </a:ln>
                <a:solidFill>
                  <a:srgbClr val="FFFFFF"/>
                </a:solidFill>
                <a:effectLst/>
                <a:uLnTx/>
                <a:uFillTx/>
                <a:latin typeface="+mn-ea"/>
                <a:cs typeface="+mn-cs"/>
              </a:rPr>
              <a:t>ルール徹底</a:t>
            </a:r>
            <a:endParaRPr kumimoji="1" lang="en-US" altLang="ja-JP" sz="1100" b="1" i="0" u="none" strike="noStrike" kern="1200" cap="none" spc="0" normalizeH="0" baseline="0" noProof="0" dirty="0">
              <a:ln>
                <a:noFill/>
              </a:ln>
              <a:solidFill>
                <a:srgbClr val="FFFFFF"/>
              </a:solidFill>
              <a:effectLst/>
              <a:uLnTx/>
              <a:uFillTx/>
              <a:latin typeface="+mn-ea"/>
              <a:cs typeface="+mn-cs"/>
            </a:endParaRPr>
          </a:p>
          <a:p>
            <a:pPr>
              <a:defRPr/>
            </a:pPr>
            <a:r>
              <a:rPr lang="en-US" altLang="ja-JP" sz="1100" b="1" dirty="0">
                <a:solidFill>
                  <a:srgbClr val="FFFFFF"/>
                </a:solidFill>
                <a:latin typeface="+mn-ea"/>
              </a:rPr>
              <a:t>                  </a:t>
            </a:r>
            <a:r>
              <a:rPr kumimoji="1" lang="en-US" altLang="ja-JP" sz="1100" b="1" i="0" u="none" strike="noStrike" kern="1200" cap="none" spc="0" normalizeH="0" baseline="0" noProof="0" dirty="0">
                <a:ln>
                  <a:noFill/>
                </a:ln>
                <a:solidFill>
                  <a:srgbClr val="FFFFFF"/>
                </a:solidFill>
                <a:effectLst/>
                <a:uLnTx/>
                <a:uFillTx/>
                <a:latin typeface="+mn-ea"/>
                <a:cs typeface="+mn-cs"/>
              </a:rPr>
              <a:t>/</a:t>
            </a:r>
            <a:r>
              <a:rPr kumimoji="1" lang="ja-JP" altLang="en-US" sz="1100" b="1" i="0" u="none" strike="noStrike" kern="1200" cap="none" spc="0" normalizeH="0" baseline="0" noProof="0" dirty="0">
                <a:ln>
                  <a:noFill/>
                </a:ln>
                <a:solidFill>
                  <a:srgbClr val="FFFFFF"/>
                </a:solidFill>
                <a:effectLst/>
                <a:uLnTx/>
                <a:uFillTx/>
                <a:latin typeface="+mn-ea"/>
                <a:cs typeface="+mn-cs"/>
              </a:rPr>
              <a:t>改定</a:t>
            </a:r>
          </a:p>
        </p:txBody>
      </p:sp>
      <p:sp>
        <p:nvSpPr>
          <p:cNvPr id="104" name="四角形: 角を丸くする 103">
            <a:extLst>
              <a:ext uri="{FF2B5EF4-FFF2-40B4-BE49-F238E27FC236}">
                <a16:creationId xmlns:a16="http://schemas.microsoft.com/office/drawing/2014/main" id="{7C05F5A7-216B-4C4F-87E2-2F8163DF450B}"/>
              </a:ext>
            </a:extLst>
          </p:cNvPr>
          <p:cNvSpPr/>
          <p:nvPr/>
        </p:nvSpPr>
        <p:spPr>
          <a:xfrm>
            <a:off x="62790" y="4089905"/>
            <a:ext cx="1404000" cy="593231"/>
          </a:xfrm>
          <a:prstGeom prst="roundRect">
            <a:avLst>
              <a:gd name="adj" fmla="val 0"/>
            </a:avLst>
          </a:prstGeom>
          <a:solidFill>
            <a:schemeClr val="bg2">
              <a:lumMod val="75000"/>
            </a:schemeClr>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defRPr/>
            </a:pPr>
            <a:r>
              <a:rPr kumimoji="1" lang="en-US" altLang="ja-JP" sz="1100" b="1" i="0" u="none" strike="noStrike" kern="1200" cap="none" spc="0" normalizeH="0" baseline="0" noProof="0" dirty="0">
                <a:ln>
                  <a:noFill/>
                </a:ln>
                <a:solidFill>
                  <a:srgbClr val="FFFFFF"/>
                </a:solidFill>
                <a:effectLst/>
                <a:uLnTx/>
                <a:uFillTx/>
                <a:latin typeface="+mn-ea"/>
                <a:cs typeface="+mn-cs"/>
              </a:rPr>
              <a:t>(</a:t>
            </a:r>
            <a:r>
              <a:rPr kumimoji="1" lang="ja-JP" altLang="en-US" sz="1100" b="1" i="0" u="none" strike="noStrike" kern="1200" cap="none" spc="0" normalizeH="0" baseline="0" noProof="0" dirty="0">
                <a:ln>
                  <a:noFill/>
                </a:ln>
                <a:solidFill>
                  <a:srgbClr val="FFFFFF"/>
                </a:solidFill>
                <a:effectLst/>
                <a:uLnTx/>
                <a:uFillTx/>
                <a:latin typeface="+mn-ea"/>
                <a:cs typeface="+mn-cs"/>
              </a:rPr>
              <a:t>フェーズ２</a:t>
            </a:r>
            <a:r>
              <a:rPr kumimoji="1" lang="en-US" altLang="ja-JP" sz="1100" b="1" i="0" u="none" strike="noStrike" kern="1200" cap="none" spc="0" normalizeH="0" baseline="0" noProof="0" dirty="0">
                <a:ln>
                  <a:noFill/>
                </a:ln>
                <a:solidFill>
                  <a:srgbClr val="FFFFFF"/>
                </a:solidFill>
                <a:effectLst/>
                <a:uLnTx/>
                <a:uFillTx/>
                <a:latin typeface="+mn-ea"/>
                <a:cs typeface="+mn-cs"/>
              </a:rPr>
              <a:t>-</a:t>
            </a:r>
            <a:r>
              <a:rPr kumimoji="1" lang="ja-JP" altLang="en-US" sz="1100" b="1" i="0" u="none" strike="noStrike" kern="1200" cap="none" spc="0" normalizeH="0" baseline="0" noProof="0" dirty="0">
                <a:ln>
                  <a:noFill/>
                </a:ln>
                <a:solidFill>
                  <a:srgbClr val="FFFFFF"/>
                </a:solidFill>
                <a:effectLst/>
                <a:uLnTx/>
                <a:uFillTx/>
                <a:latin typeface="+mn-ea"/>
                <a:cs typeface="+mn-cs"/>
              </a:rPr>
              <a:t>２</a:t>
            </a:r>
            <a:r>
              <a:rPr kumimoji="1" lang="en-US" altLang="ja-JP" sz="1100" b="1" i="0" u="none" strike="noStrike" kern="1200" cap="none" spc="0" normalizeH="0" baseline="0" noProof="0" dirty="0">
                <a:ln>
                  <a:noFill/>
                </a:ln>
                <a:solidFill>
                  <a:srgbClr val="FFFFFF"/>
                </a:solidFill>
                <a:effectLst/>
                <a:uLnTx/>
                <a:uFillTx/>
                <a:latin typeface="+mn-ea"/>
                <a:cs typeface="+mn-cs"/>
              </a:rPr>
              <a:t>,3)</a:t>
            </a:r>
          </a:p>
          <a:p>
            <a:pPr>
              <a:defRPr/>
            </a:pPr>
            <a:r>
              <a:rPr lang="en-US" altLang="ja-JP" sz="1100" b="1" dirty="0">
                <a:solidFill>
                  <a:srgbClr val="FFFFFF"/>
                </a:solidFill>
                <a:latin typeface="+mn-ea"/>
              </a:rPr>
              <a:t> </a:t>
            </a:r>
            <a:r>
              <a:rPr lang="ja-JP" altLang="en-US" sz="1100" b="1" dirty="0">
                <a:solidFill>
                  <a:srgbClr val="FFFFFF"/>
                </a:solidFill>
                <a:latin typeface="+mn-ea"/>
              </a:rPr>
              <a:t>引合費・間接業務</a:t>
            </a:r>
            <a:endParaRPr lang="en-US" altLang="ja-JP" sz="1100" b="1" dirty="0">
              <a:solidFill>
                <a:srgbClr val="FFFFFF"/>
              </a:solidFill>
              <a:latin typeface="+mn-ea"/>
            </a:endParaRPr>
          </a:p>
          <a:p>
            <a:pPr>
              <a:defRPr/>
            </a:pPr>
            <a:r>
              <a:rPr lang="ja-JP" altLang="en-US" sz="1100" b="1" dirty="0">
                <a:solidFill>
                  <a:srgbClr val="FFFFFF"/>
                </a:solidFill>
                <a:latin typeface="+mn-ea"/>
              </a:rPr>
              <a:t> 改善策検討・実行</a:t>
            </a:r>
            <a:endParaRPr kumimoji="1" lang="en-US" altLang="ja-JP" sz="1100" b="1" i="0" u="none" strike="noStrike" kern="1200" cap="none" spc="0" normalizeH="0" baseline="0" noProof="0" dirty="0">
              <a:ln>
                <a:noFill/>
              </a:ln>
              <a:solidFill>
                <a:srgbClr val="FFFFFF"/>
              </a:solidFill>
              <a:effectLst/>
              <a:uLnTx/>
              <a:uFillTx/>
              <a:latin typeface="+mn-ea"/>
              <a:cs typeface="+mn-cs"/>
            </a:endParaRPr>
          </a:p>
        </p:txBody>
      </p:sp>
      <p:sp>
        <p:nvSpPr>
          <p:cNvPr id="106" name="四角形: 角を丸くする 105">
            <a:extLst>
              <a:ext uri="{FF2B5EF4-FFF2-40B4-BE49-F238E27FC236}">
                <a16:creationId xmlns:a16="http://schemas.microsoft.com/office/drawing/2014/main" id="{1CB3CA1B-1302-4449-94DE-F0CFED29A5AF}"/>
              </a:ext>
            </a:extLst>
          </p:cNvPr>
          <p:cNvSpPr/>
          <p:nvPr/>
        </p:nvSpPr>
        <p:spPr>
          <a:xfrm>
            <a:off x="62790" y="5432893"/>
            <a:ext cx="1404000" cy="593231"/>
          </a:xfrm>
          <a:prstGeom prst="roundRect">
            <a:avLst>
              <a:gd name="adj" fmla="val 0"/>
            </a:avLst>
          </a:prstGeom>
          <a:solidFill>
            <a:schemeClr val="tx2">
              <a:lumMod val="50000"/>
            </a:schemeClr>
          </a:solidFill>
          <a:ln w="381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srgbClr val="FFFFFF"/>
                </a:solidFill>
                <a:effectLst/>
                <a:uLnTx/>
                <a:uFillTx/>
                <a:latin typeface="+mn-ea"/>
                <a:cs typeface="+mn-cs"/>
              </a:rPr>
              <a:t>(</a:t>
            </a:r>
            <a:r>
              <a:rPr kumimoji="1" lang="ja-JP" altLang="en-US" sz="1100" b="1" i="0" u="none" strike="noStrike" kern="1200" cap="none" spc="0" normalizeH="0" baseline="0" noProof="0" dirty="0">
                <a:ln>
                  <a:noFill/>
                </a:ln>
                <a:solidFill>
                  <a:srgbClr val="FFFFFF"/>
                </a:solidFill>
                <a:effectLst/>
                <a:uLnTx/>
                <a:uFillTx/>
                <a:latin typeface="+mn-ea"/>
                <a:cs typeface="+mn-cs"/>
              </a:rPr>
              <a:t>フェーズ１</a:t>
            </a:r>
            <a:r>
              <a:rPr kumimoji="1" lang="en-US" altLang="ja-JP" sz="1100" b="1" i="0" u="none" strike="noStrike" kern="1200" cap="none" spc="0" normalizeH="0" baseline="0" noProof="0" dirty="0">
                <a:ln>
                  <a:noFill/>
                </a:ln>
                <a:solidFill>
                  <a:srgbClr val="FFFFFF"/>
                </a:solidFill>
                <a:effectLst/>
                <a:uLnTx/>
                <a:uFillTx/>
                <a:latin typeface="+mn-ea"/>
                <a:cs typeface="+mn-cs"/>
              </a:rPr>
              <a:t>)</a:t>
            </a:r>
          </a:p>
          <a:p>
            <a:pPr marL="0" marR="0" lvl="0" indent="0"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srgbClr val="FFFFFF"/>
                </a:solidFill>
                <a:effectLst/>
                <a:uLnTx/>
                <a:uFillTx/>
                <a:latin typeface="+mn-ea"/>
                <a:cs typeface="+mn-cs"/>
              </a:rPr>
              <a:t> 改革テーマ選定</a:t>
            </a:r>
          </a:p>
        </p:txBody>
      </p:sp>
      <p:sp>
        <p:nvSpPr>
          <p:cNvPr id="120" name="正方形/長方形 119">
            <a:extLst>
              <a:ext uri="{FF2B5EF4-FFF2-40B4-BE49-F238E27FC236}">
                <a16:creationId xmlns:a16="http://schemas.microsoft.com/office/drawing/2014/main" id="{4F639579-64F8-49B2-87CC-7D7F4B217783}"/>
              </a:ext>
            </a:extLst>
          </p:cNvPr>
          <p:cNvSpPr/>
          <p:nvPr/>
        </p:nvSpPr>
        <p:spPr>
          <a:xfrm>
            <a:off x="7707127" y="2098945"/>
            <a:ext cx="1361654" cy="3920245"/>
          </a:xfrm>
          <a:prstGeom prst="rect">
            <a:avLst/>
          </a:prstGeom>
          <a:solidFill>
            <a:schemeClr val="accent3">
              <a:lumMod val="40000"/>
              <a:lumOff val="60000"/>
            </a:schemeClr>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400" b="1" i="0" u="none" strike="noStrike" kern="1200" cap="none" spc="0" normalizeH="0" baseline="0" noProof="0" dirty="0">
              <a:ln>
                <a:noFill/>
              </a:ln>
              <a:solidFill>
                <a:srgbClr val="000000"/>
              </a:solidFill>
              <a:effectLst/>
              <a:uLnTx/>
              <a:uFillTx/>
              <a:latin typeface="+mj-ea"/>
              <a:ea typeface="+mj-ea"/>
              <a:cs typeface="+mn-cs"/>
            </a:endParaRPr>
          </a:p>
        </p:txBody>
      </p:sp>
      <p:sp>
        <p:nvSpPr>
          <p:cNvPr id="42" name="矢印: 五方向 41">
            <a:extLst>
              <a:ext uri="{FF2B5EF4-FFF2-40B4-BE49-F238E27FC236}">
                <a16:creationId xmlns:a16="http://schemas.microsoft.com/office/drawing/2014/main" id="{4F20BFE4-B8D5-4C50-B753-EFBC96296126}"/>
              </a:ext>
            </a:extLst>
          </p:cNvPr>
          <p:cNvSpPr/>
          <p:nvPr/>
        </p:nvSpPr>
        <p:spPr>
          <a:xfrm>
            <a:off x="1532658" y="4683136"/>
            <a:ext cx="2628000" cy="761729"/>
          </a:xfrm>
          <a:prstGeom prst="homePlate">
            <a:avLst>
              <a:gd name="adj" fmla="val 16317"/>
            </a:avLst>
          </a:prstGeom>
          <a:solidFill>
            <a:schemeClr val="bg2">
              <a:lumMod val="50000"/>
            </a:schemeClr>
          </a:solidFill>
          <a:ln w="19050" cmpd="sng">
            <a:no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defRPr/>
            </a:pPr>
            <a:r>
              <a:rPr lang="en-US" altLang="ja-JP" sz="1100" b="1" dirty="0">
                <a:solidFill>
                  <a:srgbClr val="FFFFFF"/>
                </a:solidFill>
                <a:latin typeface="+mn-ea"/>
              </a:rPr>
              <a:t>1.</a:t>
            </a:r>
            <a:r>
              <a:rPr lang="ja-JP" altLang="en-US" sz="1100" b="1" dirty="0">
                <a:solidFill>
                  <a:srgbClr val="FFFFFF"/>
                </a:solidFill>
                <a:latin typeface="+mn-ea"/>
              </a:rPr>
              <a:t>可視化モデル作成</a:t>
            </a:r>
            <a:endParaRPr lang="en-US" altLang="ja-JP" sz="1100" b="1" dirty="0">
              <a:solidFill>
                <a:srgbClr val="FFFFFF"/>
              </a:solidFill>
              <a:latin typeface="+mn-ea"/>
            </a:endParaRPr>
          </a:p>
          <a:p>
            <a:pPr>
              <a:defRPr/>
            </a:pPr>
            <a:r>
              <a:rPr lang="en-US" altLang="ja-JP" sz="1100" b="1" dirty="0">
                <a:solidFill>
                  <a:srgbClr val="FFFFFF"/>
                </a:solidFill>
                <a:latin typeface="+mn-ea"/>
              </a:rPr>
              <a:t>  (</a:t>
            </a:r>
            <a:r>
              <a:rPr lang="ja-JP" altLang="en-US" sz="1100" b="1" dirty="0">
                <a:solidFill>
                  <a:srgbClr val="FFFFFF"/>
                </a:solidFill>
                <a:latin typeface="+mn-ea"/>
              </a:rPr>
              <a:t>受売利</a:t>
            </a:r>
            <a:r>
              <a:rPr lang="en-US" altLang="ja-JP" sz="1100" b="1" dirty="0">
                <a:solidFill>
                  <a:srgbClr val="FFFFFF"/>
                </a:solidFill>
                <a:latin typeface="+mn-ea"/>
              </a:rPr>
              <a:t>/</a:t>
            </a:r>
            <a:r>
              <a:rPr lang="ja-JP" altLang="en-US" sz="1100" b="1" dirty="0">
                <a:solidFill>
                  <a:srgbClr val="FFFFFF"/>
                </a:solidFill>
                <a:latin typeface="+mn-ea"/>
              </a:rPr>
              <a:t>引合費</a:t>
            </a:r>
            <a:r>
              <a:rPr lang="en-US" altLang="ja-JP" sz="1100" b="1" dirty="0">
                <a:solidFill>
                  <a:srgbClr val="FFFFFF"/>
                </a:solidFill>
                <a:latin typeface="+mn-ea"/>
              </a:rPr>
              <a:t>/AS</a:t>
            </a:r>
            <a:r>
              <a:rPr lang="ja-JP" altLang="en-US" sz="1100" b="1" dirty="0">
                <a:solidFill>
                  <a:srgbClr val="FFFFFF"/>
                </a:solidFill>
                <a:latin typeface="+mn-ea"/>
              </a:rPr>
              <a:t>従事比率</a:t>
            </a:r>
            <a:r>
              <a:rPr lang="en-US" altLang="ja-JP" sz="1100" b="1" dirty="0">
                <a:solidFill>
                  <a:srgbClr val="FFFFFF"/>
                </a:solidFill>
                <a:latin typeface="+mn-ea"/>
              </a:rPr>
              <a:t>/</a:t>
            </a:r>
            <a:r>
              <a:rPr lang="ja-JP" altLang="en-US" sz="1100" b="1" dirty="0">
                <a:solidFill>
                  <a:srgbClr val="FFFFFF"/>
                </a:solidFill>
                <a:latin typeface="+mn-ea"/>
              </a:rPr>
              <a:t>直工率</a:t>
            </a:r>
            <a:r>
              <a:rPr lang="en-US" altLang="ja-JP" sz="1100" b="1" dirty="0">
                <a:solidFill>
                  <a:srgbClr val="FFFFFF"/>
                </a:solidFill>
                <a:latin typeface="+mn-ea"/>
              </a:rPr>
              <a:t>)</a:t>
            </a:r>
          </a:p>
          <a:p>
            <a:pPr>
              <a:defRPr/>
            </a:pPr>
            <a:r>
              <a:rPr lang="en-US" altLang="ja-JP" sz="1100" b="1" dirty="0">
                <a:solidFill>
                  <a:srgbClr val="FFFFFF"/>
                </a:solidFill>
                <a:latin typeface="+mn-ea"/>
              </a:rPr>
              <a:t>2.</a:t>
            </a:r>
            <a:r>
              <a:rPr kumimoji="1" lang="ja-JP" altLang="en-US" sz="1100" b="1" i="0" u="none" strike="noStrike" kern="1200" cap="none" spc="0" normalizeH="0" baseline="0" noProof="0" dirty="0">
                <a:ln>
                  <a:noFill/>
                </a:ln>
                <a:solidFill>
                  <a:srgbClr val="FFFFFF"/>
                </a:solidFill>
                <a:effectLst/>
                <a:uLnTx/>
                <a:uFillTx/>
                <a:latin typeface="+mn-ea"/>
                <a:cs typeface="+mn-cs"/>
              </a:rPr>
              <a:t>引合オーダ体系</a:t>
            </a:r>
            <a:r>
              <a:rPr kumimoji="1" lang="en-US" altLang="ja-JP" sz="1100" b="1" i="0" u="none" strike="noStrike" kern="1200" cap="none" spc="0" normalizeH="0" baseline="0" noProof="0" dirty="0">
                <a:ln>
                  <a:noFill/>
                </a:ln>
                <a:solidFill>
                  <a:srgbClr val="FFFFFF"/>
                </a:solidFill>
                <a:effectLst/>
                <a:uLnTx/>
                <a:uFillTx/>
                <a:latin typeface="+mn-ea"/>
                <a:cs typeface="+mn-cs"/>
              </a:rPr>
              <a:t>/</a:t>
            </a:r>
            <a:r>
              <a:rPr kumimoji="1" lang="ja-JP" altLang="en-US" sz="1100" b="1" i="0" u="none" strike="noStrike" kern="1200" cap="none" spc="0" normalizeH="0" baseline="0" noProof="0" dirty="0">
                <a:ln>
                  <a:noFill/>
                </a:ln>
                <a:solidFill>
                  <a:srgbClr val="FFFFFF"/>
                </a:solidFill>
                <a:effectLst/>
                <a:uLnTx/>
                <a:uFillTx/>
                <a:latin typeface="+mn-ea"/>
                <a:cs typeface="+mn-cs"/>
              </a:rPr>
              <a:t>引合管理値</a:t>
            </a:r>
            <a:r>
              <a:rPr kumimoji="1" lang="en-US" altLang="ja-JP" sz="1100" b="1" i="0" u="none" strike="noStrike" kern="1200" cap="none" spc="0" normalizeH="0" baseline="0" noProof="0" dirty="0">
                <a:ln>
                  <a:noFill/>
                </a:ln>
                <a:solidFill>
                  <a:srgbClr val="FFFFFF"/>
                </a:solidFill>
                <a:effectLst/>
                <a:uLnTx/>
                <a:uFillTx/>
                <a:latin typeface="+mn-ea"/>
                <a:cs typeface="+mn-cs"/>
              </a:rPr>
              <a:t>/</a:t>
            </a:r>
          </a:p>
          <a:p>
            <a:pPr>
              <a:defRPr/>
            </a:pPr>
            <a:r>
              <a:rPr lang="ja-JP" altLang="en-US" sz="1100" b="1" dirty="0">
                <a:solidFill>
                  <a:srgbClr val="FFFFFF"/>
                </a:solidFill>
                <a:latin typeface="+mn-ea"/>
              </a:rPr>
              <a:t>　</a:t>
            </a:r>
            <a:r>
              <a:rPr kumimoji="1" lang="ja-JP" altLang="en-US" sz="1100" b="1" i="0" u="none" strike="noStrike" kern="1200" cap="none" spc="0" normalizeH="0" baseline="0" noProof="0" dirty="0">
                <a:ln>
                  <a:noFill/>
                </a:ln>
                <a:solidFill>
                  <a:srgbClr val="FFFFFF"/>
                </a:solidFill>
                <a:effectLst/>
                <a:uLnTx/>
                <a:uFillTx/>
                <a:latin typeface="+mn-ea"/>
                <a:cs typeface="+mn-cs"/>
              </a:rPr>
              <a:t>セグメンテーション他</a:t>
            </a:r>
            <a:endParaRPr kumimoji="1" lang="en-US" altLang="ja-JP" sz="1100" b="1" i="0" u="none" strike="noStrike" kern="1200" cap="none" spc="0" normalizeH="0" baseline="0" noProof="0" dirty="0">
              <a:ln>
                <a:noFill/>
              </a:ln>
              <a:solidFill>
                <a:srgbClr val="FFFFFF"/>
              </a:solidFill>
              <a:effectLst/>
              <a:uLnTx/>
              <a:uFillTx/>
              <a:latin typeface="+mn-ea"/>
              <a:cs typeface="+mn-cs"/>
            </a:endParaRPr>
          </a:p>
        </p:txBody>
      </p:sp>
      <p:sp>
        <p:nvSpPr>
          <p:cNvPr id="22" name="矢印: 五方向 21">
            <a:extLst>
              <a:ext uri="{FF2B5EF4-FFF2-40B4-BE49-F238E27FC236}">
                <a16:creationId xmlns:a16="http://schemas.microsoft.com/office/drawing/2014/main" id="{D228C4B9-9D9E-4B31-8BCD-E57D62FBF622}"/>
              </a:ext>
            </a:extLst>
          </p:cNvPr>
          <p:cNvSpPr/>
          <p:nvPr/>
        </p:nvSpPr>
        <p:spPr>
          <a:xfrm>
            <a:off x="1532658" y="4089905"/>
            <a:ext cx="2628000" cy="593231"/>
          </a:xfrm>
          <a:prstGeom prst="homePlate">
            <a:avLst>
              <a:gd name="adj" fmla="val 19454"/>
            </a:avLst>
          </a:prstGeom>
          <a:solidFill>
            <a:schemeClr val="bg2">
              <a:lumMod val="75000"/>
            </a:schemeClr>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schemeClr val="bg1"/>
                </a:solidFill>
                <a:effectLst/>
                <a:uLnTx/>
                <a:uFillTx/>
                <a:latin typeface="+mn-ea"/>
                <a:cs typeface="+mn-cs"/>
              </a:rPr>
              <a:t>(</a:t>
            </a:r>
            <a:r>
              <a:rPr kumimoji="1" lang="ja-JP" altLang="en-US" sz="1100" b="1" i="0" u="none" strike="noStrike" kern="1200" cap="none" spc="0" normalizeH="0" baseline="0" noProof="0" dirty="0">
                <a:ln>
                  <a:noFill/>
                </a:ln>
                <a:solidFill>
                  <a:schemeClr val="bg1"/>
                </a:solidFill>
                <a:effectLst/>
                <a:uLnTx/>
                <a:uFillTx/>
                <a:latin typeface="+mn-ea"/>
                <a:cs typeface="+mn-cs"/>
              </a:rPr>
              <a:t>引合</a:t>
            </a:r>
            <a:r>
              <a:rPr kumimoji="1" lang="en-US" altLang="ja-JP" sz="1100" b="1" i="0" u="none" strike="noStrike" kern="1200" cap="none" spc="0" normalizeH="0" baseline="0" noProof="0" dirty="0">
                <a:ln>
                  <a:noFill/>
                </a:ln>
                <a:solidFill>
                  <a:schemeClr val="bg1"/>
                </a:solidFill>
                <a:effectLst/>
                <a:uLnTx/>
                <a:uFillTx/>
                <a:latin typeface="+mn-ea"/>
                <a:cs typeface="+mn-cs"/>
              </a:rPr>
              <a:t>)</a:t>
            </a:r>
            <a:r>
              <a:rPr kumimoji="1" lang="ja-JP" altLang="en-US" sz="1100" b="1" i="0" u="none" strike="noStrike" kern="1200" cap="none" spc="0" normalizeH="0" baseline="0" noProof="0" dirty="0">
                <a:ln>
                  <a:noFill/>
                </a:ln>
                <a:solidFill>
                  <a:schemeClr val="bg1"/>
                </a:solidFill>
                <a:effectLst/>
                <a:uLnTx/>
                <a:uFillTx/>
                <a:latin typeface="+mn-ea"/>
                <a:cs typeface="+mn-cs"/>
              </a:rPr>
              <a:t>技術照会、顧客提案の効率化、</a:t>
            </a:r>
            <a:endParaRPr kumimoji="1" lang="en-US" altLang="ja-JP" sz="1100" b="1" i="0" u="none" strike="noStrike" kern="1200" cap="none" spc="0" normalizeH="0" baseline="0" noProof="0" dirty="0">
              <a:ln>
                <a:noFill/>
              </a:ln>
              <a:solidFill>
                <a:schemeClr val="bg1"/>
              </a:solidFill>
              <a:effectLst/>
              <a:uLnTx/>
              <a:uFillTx/>
              <a:latin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100" b="1" dirty="0">
                <a:solidFill>
                  <a:schemeClr val="bg1"/>
                </a:solidFill>
                <a:latin typeface="+mn-ea"/>
              </a:rPr>
              <a:t>　引合例月フォロ、予算配分フォーム</a:t>
            </a:r>
            <a:endParaRPr kumimoji="1" lang="en-US" altLang="ja-JP" sz="1100" b="1" i="0" u="none" strike="noStrike" kern="1200" cap="none" spc="0" normalizeH="0" baseline="0" noProof="0" dirty="0">
              <a:ln>
                <a:noFill/>
              </a:ln>
              <a:solidFill>
                <a:schemeClr val="bg1"/>
              </a:solidFill>
              <a:effectLst/>
              <a:uLnTx/>
              <a:uFillTx/>
              <a:latin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100" b="1" dirty="0">
                <a:solidFill>
                  <a:schemeClr val="bg1"/>
                </a:solidFill>
                <a:latin typeface="+mn-ea"/>
              </a:rPr>
              <a:t>(</a:t>
            </a:r>
            <a:r>
              <a:rPr lang="ja-JP" altLang="en-US" sz="1100" b="1" dirty="0">
                <a:solidFill>
                  <a:schemeClr val="bg1"/>
                </a:solidFill>
                <a:latin typeface="+mn-ea"/>
              </a:rPr>
              <a:t>間接</a:t>
            </a:r>
            <a:r>
              <a:rPr lang="en-US" altLang="ja-JP" sz="1100" b="1" dirty="0">
                <a:solidFill>
                  <a:schemeClr val="bg1"/>
                </a:solidFill>
                <a:latin typeface="+mn-ea"/>
              </a:rPr>
              <a:t>)</a:t>
            </a:r>
            <a:r>
              <a:rPr lang="ja-JP" altLang="en-US" sz="1100" b="1" dirty="0">
                <a:solidFill>
                  <a:schemeClr val="bg1"/>
                </a:solidFill>
                <a:latin typeface="+mn-ea"/>
              </a:rPr>
              <a:t>直接作業比率の指針決定</a:t>
            </a:r>
            <a:r>
              <a:rPr lang="en-US" altLang="ja-JP" sz="1100" b="1" dirty="0">
                <a:solidFill>
                  <a:schemeClr val="bg1"/>
                </a:solidFill>
                <a:latin typeface="+mn-ea"/>
              </a:rPr>
              <a:t>/</a:t>
            </a:r>
            <a:r>
              <a:rPr lang="ja-JP" altLang="en-US" sz="1100" b="1" dirty="0">
                <a:solidFill>
                  <a:schemeClr val="bg1"/>
                </a:solidFill>
                <a:latin typeface="+mn-ea"/>
              </a:rPr>
              <a:t>改善</a:t>
            </a:r>
            <a:endParaRPr kumimoji="1" lang="en-US" altLang="ja-JP" sz="1100" b="1" i="0" u="none" strike="noStrike" kern="1200" cap="none" spc="0" normalizeH="0" baseline="0" noProof="0" dirty="0">
              <a:ln>
                <a:noFill/>
              </a:ln>
              <a:solidFill>
                <a:schemeClr val="bg1"/>
              </a:solidFill>
              <a:effectLst/>
              <a:uLnTx/>
              <a:uFillTx/>
              <a:latin typeface="+mn-ea"/>
              <a:cs typeface="+mn-cs"/>
            </a:endParaRPr>
          </a:p>
        </p:txBody>
      </p:sp>
      <p:grpSp>
        <p:nvGrpSpPr>
          <p:cNvPr id="55" name="グループ化 54">
            <a:extLst>
              <a:ext uri="{FF2B5EF4-FFF2-40B4-BE49-F238E27FC236}">
                <a16:creationId xmlns:a16="http://schemas.microsoft.com/office/drawing/2014/main" id="{71EB6050-2836-6E07-0B02-F2382050AB8A}"/>
              </a:ext>
            </a:extLst>
          </p:cNvPr>
          <p:cNvGrpSpPr/>
          <p:nvPr/>
        </p:nvGrpSpPr>
        <p:grpSpPr>
          <a:xfrm>
            <a:off x="7802070" y="4698322"/>
            <a:ext cx="1149421" cy="600842"/>
            <a:chOff x="7801278" y="2948232"/>
            <a:chExt cx="1149421" cy="600842"/>
          </a:xfrm>
        </p:grpSpPr>
        <p:grpSp>
          <p:nvGrpSpPr>
            <p:cNvPr id="29" name="グループ化 28">
              <a:extLst>
                <a:ext uri="{FF2B5EF4-FFF2-40B4-BE49-F238E27FC236}">
                  <a16:creationId xmlns:a16="http://schemas.microsoft.com/office/drawing/2014/main" id="{C7CF3BB6-4BF4-8999-AD63-2A21CE056723}"/>
                </a:ext>
              </a:extLst>
            </p:cNvPr>
            <p:cNvGrpSpPr/>
            <p:nvPr/>
          </p:nvGrpSpPr>
          <p:grpSpPr>
            <a:xfrm>
              <a:off x="8640321" y="2948232"/>
              <a:ext cx="310378" cy="600842"/>
              <a:chOff x="2940241" y="2209800"/>
              <a:chExt cx="1159383" cy="2438400"/>
            </a:xfrm>
          </p:grpSpPr>
          <p:pic>
            <p:nvPicPr>
              <p:cNvPr id="32" name="図 31">
                <a:extLst>
                  <a:ext uri="{FF2B5EF4-FFF2-40B4-BE49-F238E27FC236}">
                    <a16:creationId xmlns:a16="http://schemas.microsoft.com/office/drawing/2014/main" id="{291D9819-28C4-D11F-DBDF-FC637E77C0A7}"/>
                  </a:ext>
                </a:extLst>
              </p:cNvPr>
              <p:cNvPicPr>
                <a:picLocks noChangeAspect="1"/>
              </p:cNvPicPr>
              <p:nvPr/>
            </p:nvPicPr>
            <p:blipFill rotWithShape="1">
              <a:blip r:embed="rId3" cstate="print">
                <a:duotone>
                  <a:schemeClr val="accent3">
                    <a:shade val="45000"/>
                    <a:satMod val="135000"/>
                  </a:schemeClr>
                  <a:prstClr val="white"/>
                </a:duotone>
                <a:extLst>
                  <a:ext uri="{28A0092B-C50C-407E-A947-70E740481C1C}">
                    <a14:useLocalDpi xmlns:a14="http://schemas.microsoft.com/office/drawing/2010/main" val="0"/>
                  </a:ext>
                </a:extLst>
              </a:blip>
              <a:srcRect/>
              <a:stretch/>
            </p:blipFill>
            <p:spPr>
              <a:xfrm>
                <a:off x="2940241" y="2921923"/>
                <a:ext cx="1159383" cy="1726277"/>
              </a:xfrm>
              <a:prstGeom prst="rect">
                <a:avLst/>
              </a:prstGeom>
            </p:spPr>
          </p:pic>
          <p:pic>
            <p:nvPicPr>
              <p:cNvPr id="33" name="図 32">
                <a:extLst>
                  <a:ext uri="{FF2B5EF4-FFF2-40B4-BE49-F238E27FC236}">
                    <a16:creationId xmlns:a16="http://schemas.microsoft.com/office/drawing/2014/main" id="{DBFDF828-2128-FCCC-2AD8-CFEA12A6F9F4}"/>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a:stretch/>
            </p:blipFill>
            <p:spPr>
              <a:xfrm>
                <a:off x="2977688" y="2209800"/>
                <a:ext cx="1121936" cy="712123"/>
              </a:xfrm>
              <a:prstGeom prst="rect">
                <a:avLst/>
              </a:prstGeom>
            </p:spPr>
          </p:pic>
        </p:grpSp>
        <p:grpSp>
          <p:nvGrpSpPr>
            <p:cNvPr id="50" name="グループ化 49">
              <a:extLst>
                <a:ext uri="{FF2B5EF4-FFF2-40B4-BE49-F238E27FC236}">
                  <a16:creationId xmlns:a16="http://schemas.microsoft.com/office/drawing/2014/main" id="{CEE0B34B-E710-FF44-7750-9A83F0639936}"/>
                </a:ext>
              </a:extLst>
            </p:cNvPr>
            <p:cNvGrpSpPr/>
            <p:nvPr/>
          </p:nvGrpSpPr>
          <p:grpSpPr>
            <a:xfrm>
              <a:off x="7801278" y="2953971"/>
              <a:ext cx="305972" cy="595103"/>
              <a:chOff x="7801278" y="2951510"/>
              <a:chExt cx="305972" cy="595103"/>
            </a:xfrm>
          </p:grpSpPr>
          <p:pic>
            <p:nvPicPr>
              <p:cNvPr id="31" name="図 30">
                <a:extLst>
                  <a:ext uri="{FF2B5EF4-FFF2-40B4-BE49-F238E27FC236}">
                    <a16:creationId xmlns:a16="http://schemas.microsoft.com/office/drawing/2014/main" id="{D9421A3C-4114-79D7-9676-8F79D1BD45E0}"/>
                  </a:ext>
                </a:extLst>
              </p:cNvPr>
              <p:cNvPicPr>
                <a:picLocks noChangeAspect="1"/>
              </p:cNvPicPr>
              <p:nvPr/>
            </p:nvPicPr>
            <p:blipFill rotWithShape="1">
              <a:blip r:embed="rId5" cstate="print">
                <a:duotone>
                  <a:schemeClr val="accent2">
                    <a:shade val="45000"/>
                    <a:satMod val="135000"/>
                  </a:schemeClr>
                  <a:prstClr val="white"/>
                </a:duotone>
                <a:extLst>
                  <a:ext uri="{28A0092B-C50C-407E-A947-70E740481C1C}">
                    <a14:useLocalDpi xmlns:a14="http://schemas.microsoft.com/office/drawing/2010/main" val="0"/>
                  </a:ext>
                </a:extLst>
              </a:blip>
              <a:srcRect/>
              <a:stretch/>
            </p:blipFill>
            <p:spPr>
              <a:xfrm>
                <a:off x="7802697" y="3110041"/>
                <a:ext cx="304553" cy="436572"/>
              </a:xfrm>
              <a:prstGeom prst="rect">
                <a:avLst/>
              </a:prstGeom>
            </p:spPr>
          </p:pic>
          <p:pic>
            <p:nvPicPr>
              <p:cNvPr id="46" name="図 45">
                <a:extLst>
                  <a:ext uri="{FF2B5EF4-FFF2-40B4-BE49-F238E27FC236}">
                    <a16:creationId xmlns:a16="http://schemas.microsoft.com/office/drawing/2014/main" id="{1AA5B55D-3877-75E9-08B2-D20DEA81C396}"/>
                  </a:ext>
                </a:extLst>
              </p:cNvPr>
              <p:cNvPicPr>
                <a:picLocks noChangeAspect="1"/>
              </p:cNvPicPr>
              <p:nvPr/>
            </p:nvPicPr>
            <p:blipFill rotWithShape="1">
              <a:blip r:embed="rId6" cstate="print">
                <a:lum bright="70000" contrast="-70000"/>
                <a:extLst>
                  <a:ext uri="{28A0092B-C50C-407E-A947-70E740481C1C}">
                    <a14:useLocalDpi xmlns:a14="http://schemas.microsoft.com/office/drawing/2010/main" val="0"/>
                  </a:ext>
                </a:extLst>
              </a:blip>
              <a:srcRect/>
              <a:stretch/>
            </p:blipFill>
            <p:spPr>
              <a:xfrm>
                <a:off x="7801278" y="2951510"/>
                <a:ext cx="280291" cy="164913"/>
              </a:xfrm>
              <a:prstGeom prst="rect">
                <a:avLst/>
              </a:prstGeom>
            </p:spPr>
          </p:pic>
        </p:grpSp>
        <p:grpSp>
          <p:nvGrpSpPr>
            <p:cNvPr id="51" name="グループ化 50">
              <a:extLst>
                <a:ext uri="{FF2B5EF4-FFF2-40B4-BE49-F238E27FC236}">
                  <a16:creationId xmlns:a16="http://schemas.microsoft.com/office/drawing/2014/main" id="{BED599F1-2A0B-9340-210F-9105B74E8E4E}"/>
                </a:ext>
              </a:extLst>
            </p:cNvPr>
            <p:cNvGrpSpPr/>
            <p:nvPr/>
          </p:nvGrpSpPr>
          <p:grpSpPr>
            <a:xfrm>
              <a:off x="8081569" y="2954373"/>
              <a:ext cx="280291" cy="594701"/>
              <a:chOff x="8081569" y="2951893"/>
              <a:chExt cx="280291" cy="594701"/>
            </a:xfrm>
          </p:grpSpPr>
          <p:pic>
            <p:nvPicPr>
              <p:cNvPr id="34" name="図 33">
                <a:extLst>
                  <a:ext uri="{FF2B5EF4-FFF2-40B4-BE49-F238E27FC236}">
                    <a16:creationId xmlns:a16="http://schemas.microsoft.com/office/drawing/2014/main" id="{71D9A162-CDE4-E583-6BA3-058C1D69A426}"/>
                  </a:ext>
                </a:extLst>
              </p:cNvPr>
              <p:cNvPicPr>
                <a:picLocks noChangeAspect="1"/>
              </p:cNvPicPr>
              <p:nvPr/>
            </p:nvPicPr>
            <p:blipFill rotWithShape="1">
              <a:blip r:embed="rId7" cstate="print">
                <a:duotone>
                  <a:schemeClr val="accent3">
                    <a:shade val="45000"/>
                    <a:satMod val="135000"/>
                  </a:schemeClr>
                  <a:prstClr val="white"/>
                </a:duotone>
                <a:extLst>
                  <a:ext uri="{28A0092B-C50C-407E-A947-70E740481C1C}">
                    <a14:useLocalDpi xmlns:a14="http://schemas.microsoft.com/office/drawing/2010/main" val="0"/>
                  </a:ext>
                </a:extLst>
              </a:blip>
              <a:srcRect/>
              <a:stretch/>
            </p:blipFill>
            <p:spPr>
              <a:xfrm>
                <a:off x="8081569" y="3460136"/>
                <a:ext cx="280291" cy="86458"/>
              </a:xfrm>
              <a:prstGeom prst="rect">
                <a:avLst/>
              </a:prstGeom>
            </p:spPr>
          </p:pic>
          <p:pic>
            <p:nvPicPr>
              <p:cNvPr id="48" name="図 47">
                <a:extLst>
                  <a:ext uri="{FF2B5EF4-FFF2-40B4-BE49-F238E27FC236}">
                    <a16:creationId xmlns:a16="http://schemas.microsoft.com/office/drawing/2014/main" id="{6A43AB6B-56C9-8DBD-F8C6-DFFF7ED37252}"/>
                  </a:ext>
                </a:extLst>
              </p:cNvPr>
              <p:cNvPicPr>
                <a:picLocks noChangeAspect="1"/>
              </p:cNvPicPr>
              <p:nvPr/>
            </p:nvPicPr>
            <p:blipFill rotWithShape="1">
              <a:blip r:embed="rId8" cstate="print">
                <a:duotone>
                  <a:schemeClr val="accent2">
                    <a:shade val="45000"/>
                    <a:satMod val="135000"/>
                  </a:schemeClr>
                  <a:prstClr val="white"/>
                </a:duotone>
                <a:extLst>
                  <a:ext uri="{28A0092B-C50C-407E-A947-70E740481C1C}">
                    <a14:useLocalDpi xmlns:a14="http://schemas.microsoft.com/office/drawing/2010/main" val="0"/>
                  </a:ext>
                </a:extLst>
              </a:blip>
              <a:srcRect/>
              <a:stretch/>
            </p:blipFill>
            <p:spPr>
              <a:xfrm>
                <a:off x="8081569" y="3116423"/>
                <a:ext cx="280291" cy="343329"/>
              </a:xfrm>
              <a:prstGeom prst="rect">
                <a:avLst/>
              </a:prstGeom>
            </p:spPr>
          </p:pic>
          <p:pic>
            <p:nvPicPr>
              <p:cNvPr id="49" name="図 48">
                <a:extLst>
                  <a:ext uri="{FF2B5EF4-FFF2-40B4-BE49-F238E27FC236}">
                    <a16:creationId xmlns:a16="http://schemas.microsoft.com/office/drawing/2014/main" id="{B654B49F-4470-EAB0-AFB1-5E8A1838DEA7}"/>
                  </a:ext>
                </a:extLst>
              </p:cNvPr>
              <p:cNvPicPr>
                <a:picLocks noChangeAspect="1"/>
              </p:cNvPicPr>
              <p:nvPr/>
            </p:nvPicPr>
            <p:blipFill rotWithShape="1">
              <a:blip r:embed="rId9" cstate="print">
                <a:lum bright="70000" contrast="-70000"/>
                <a:extLst>
                  <a:ext uri="{28A0092B-C50C-407E-A947-70E740481C1C}">
                    <a14:useLocalDpi xmlns:a14="http://schemas.microsoft.com/office/drawing/2010/main" val="0"/>
                  </a:ext>
                </a:extLst>
              </a:blip>
              <a:srcRect/>
              <a:stretch/>
            </p:blipFill>
            <p:spPr>
              <a:xfrm>
                <a:off x="8081569" y="2951893"/>
                <a:ext cx="280291" cy="164913"/>
              </a:xfrm>
              <a:prstGeom prst="rect">
                <a:avLst/>
              </a:prstGeom>
            </p:spPr>
          </p:pic>
        </p:grpSp>
        <p:grpSp>
          <p:nvGrpSpPr>
            <p:cNvPr id="54" name="グループ化 53">
              <a:extLst>
                <a:ext uri="{FF2B5EF4-FFF2-40B4-BE49-F238E27FC236}">
                  <a16:creationId xmlns:a16="http://schemas.microsoft.com/office/drawing/2014/main" id="{0744C9B3-18B7-25C8-B458-B81210539D6C}"/>
                </a:ext>
              </a:extLst>
            </p:cNvPr>
            <p:cNvGrpSpPr/>
            <p:nvPr/>
          </p:nvGrpSpPr>
          <p:grpSpPr>
            <a:xfrm>
              <a:off x="8343897" y="2948711"/>
              <a:ext cx="322619" cy="600363"/>
              <a:chOff x="8502709" y="2948709"/>
              <a:chExt cx="322619" cy="600363"/>
            </a:xfrm>
          </p:grpSpPr>
          <p:grpSp>
            <p:nvGrpSpPr>
              <p:cNvPr id="27" name="グループ化 26">
                <a:extLst>
                  <a:ext uri="{FF2B5EF4-FFF2-40B4-BE49-F238E27FC236}">
                    <a16:creationId xmlns:a16="http://schemas.microsoft.com/office/drawing/2014/main" id="{A6B1FF20-B3E0-48BF-6D5F-0D2F731D1520}"/>
                  </a:ext>
                </a:extLst>
              </p:cNvPr>
              <p:cNvGrpSpPr/>
              <p:nvPr/>
            </p:nvGrpSpPr>
            <p:grpSpPr>
              <a:xfrm>
                <a:off x="8502709" y="3122804"/>
                <a:ext cx="322619" cy="426268"/>
                <a:chOff x="684203" y="3281131"/>
                <a:chExt cx="1205108" cy="1729926"/>
              </a:xfrm>
            </p:grpSpPr>
            <p:pic>
              <p:nvPicPr>
                <p:cNvPr id="36" name="図 35">
                  <a:extLst>
                    <a:ext uri="{FF2B5EF4-FFF2-40B4-BE49-F238E27FC236}">
                      <a16:creationId xmlns:a16="http://schemas.microsoft.com/office/drawing/2014/main" id="{0FA3F8F8-6E9B-A298-D06A-176E0A30F803}"/>
                    </a:ext>
                  </a:extLst>
                </p:cNvPr>
                <p:cNvPicPr>
                  <a:picLocks noChangeAspect="1"/>
                </p:cNvPicPr>
                <p:nvPr/>
              </p:nvPicPr>
              <p:blipFill rotWithShape="1">
                <a:blip r:embed="rId10" cstate="print">
                  <a:duotone>
                    <a:schemeClr val="accent3">
                      <a:shade val="45000"/>
                      <a:satMod val="135000"/>
                    </a:schemeClr>
                    <a:prstClr val="white"/>
                  </a:duotone>
                  <a:extLst>
                    <a:ext uri="{28A0092B-C50C-407E-A947-70E740481C1C}">
                      <a14:useLocalDpi xmlns:a14="http://schemas.microsoft.com/office/drawing/2010/main" val="0"/>
                    </a:ext>
                  </a:extLst>
                </a:blip>
                <a:srcRect/>
                <a:stretch/>
              </p:blipFill>
              <p:spPr>
                <a:xfrm>
                  <a:off x="684203" y="3835788"/>
                  <a:ext cx="1205108" cy="1175269"/>
                </a:xfrm>
                <a:prstGeom prst="rect">
                  <a:avLst/>
                </a:prstGeom>
                <a:noFill/>
              </p:spPr>
            </p:pic>
            <p:pic>
              <p:nvPicPr>
                <p:cNvPr id="37" name="図 36">
                  <a:extLst>
                    <a:ext uri="{FF2B5EF4-FFF2-40B4-BE49-F238E27FC236}">
                      <a16:creationId xmlns:a16="http://schemas.microsoft.com/office/drawing/2014/main" id="{C3C31691-BB98-B314-34BB-C585835D86AC}"/>
                    </a:ext>
                  </a:extLst>
                </p:cNvPr>
                <p:cNvPicPr>
                  <a:picLocks noChangeAspect="1"/>
                </p:cNvPicPr>
                <p:nvPr/>
              </p:nvPicPr>
              <p:blipFill rotWithShape="1">
                <a:blip r:embed="rId11" cstate="print">
                  <a:duotone>
                    <a:schemeClr val="accent2">
                      <a:shade val="45000"/>
                      <a:satMod val="135000"/>
                    </a:schemeClr>
                    <a:prstClr val="white"/>
                  </a:duotone>
                  <a:extLst>
                    <a:ext uri="{28A0092B-C50C-407E-A947-70E740481C1C}">
                      <a14:useLocalDpi xmlns:a14="http://schemas.microsoft.com/office/drawing/2010/main" val="0"/>
                    </a:ext>
                  </a:extLst>
                </a:blip>
                <a:srcRect/>
                <a:stretch/>
              </p:blipFill>
              <p:spPr>
                <a:xfrm>
                  <a:off x="684203" y="3281131"/>
                  <a:ext cx="1205108" cy="554657"/>
                </a:xfrm>
                <a:prstGeom prst="rect">
                  <a:avLst/>
                </a:prstGeom>
              </p:spPr>
            </p:pic>
          </p:grpSp>
          <p:pic>
            <p:nvPicPr>
              <p:cNvPr id="53" name="図 52">
                <a:extLst>
                  <a:ext uri="{FF2B5EF4-FFF2-40B4-BE49-F238E27FC236}">
                    <a16:creationId xmlns:a16="http://schemas.microsoft.com/office/drawing/2014/main" id="{7D9063A8-3DBE-C7AA-7EAE-FF551061852E}"/>
                  </a:ext>
                </a:extLst>
              </p:cNvPr>
              <p:cNvPicPr>
                <a:picLocks noChangeAspect="1"/>
              </p:cNvPicPr>
              <p:nvPr/>
            </p:nvPicPr>
            <p:blipFill rotWithShape="1">
              <a:blip r:embed="rId12" cstate="print">
                <a:lum bright="70000" contrast="-70000"/>
                <a:extLst>
                  <a:ext uri="{28A0092B-C50C-407E-A947-70E740481C1C}">
                    <a14:useLocalDpi xmlns:a14="http://schemas.microsoft.com/office/drawing/2010/main" val="0"/>
                  </a:ext>
                </a:extLst>
              </a:blip>
              <a:srcRect/>
              <a:stretch/>
            </p:blipFill>
            <p:spPr>
              <a:xfrm>
                <a:off x="8524975" y="2948709"/>
                <a:ext cx="280291" cy="176495"/>
              </a:xfrm>
              <a:prstGeom prst="rect">
                <a:avLst/>
              </a:prstGeom>
            </p:spPr>
          </p:pic>
        </p:grpSp>
      </p:grpSp>
      <p:sp>
        <p:nvSpPr>
          <p:cNvPr id="102" name="テキスト ボックス 101">
            <a:extLst>
              <a:ext uri="{FF2B5EF4-FFF2-40B4-BE49-F238E27FC236}">
                <a16:creationId xmlns:a16="http://schemas.microsoft.com/office/drawing/2014/main" id="{B09240BE-F074-4D4E-9717-9725D29D4F0A}"/>
              </a:ext>
            </a:extLst>
          </p:cNvPr>
          <p:cNvSpPr txBox="1"/>
          <p:nvPr/>
        </p:nvSpPr>
        <p:spPr>
          <a:xfrm>
            <a:off x="7584065" y="4497903"/>
            <a:ext cx="954107" cy="246221"/>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000000"/>
                </a:solidFill>
                <a:effectLst/>
                <a:uLnTx/>
                <a:uFillTx/>
                <a:latin typeface="+mj-ea"/>
                <a:ea typeface="+mj-ea"/>
                <a:cs typeface="+mn-cs"/>
              </a:rPr>
              <a:t>＜現状の姿＞</a:t>
            </a:r>
          </a:p>
        </p:txBody>
      </p:sp>
      <p:sp>
        <p:nvSpPr>
          <p:cNvPr id="56" name="正方形/長方形 55">
            <a:extLst>
              <a:ext uri="{FF2B5EF4-FFF2-40B4-BE49-F238E27FC236}">
                <a16:creationId xmlns:a16="http://schemas.microsoft.com/office/drawing/2014/main" id="{A101DDB2-0986-C20A-22EC-4B49AC3DBAB8}"/>
              </a:ext>
            </a:extLst>
          </p:cNvPr>
          <p:cNvSpPr/>
          <p:nvPr/>
        </p:nvSpPr>
        <p:spPr>
          <a:xfrm>
            <a:off x="7798197" y="5440071"/>
            <a:ext cx="375696" cy="238531"/>
          </a:xfrm>
          <a:prstGeom prst="rect">
            <a:avLst/>
          </a:prstGeom>
          <a:solidFill>
            <a:schemeClr val="bg2">
              <a:lumMod val="20000"/>
              <a:lumOff val="80000"/>
            </a:schemeClr>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700" b="1" i="0" u="none" strike="noStrike" kern="1200" cap="none" spc="0" normalizeH="0" baseline="0" noProof="0" dirty="0">
                <a:ln>
                  <a:noFill/>
                </a:ln>
                <a:solidFill>
                  <a:sysClr val="windowText" lastClr="000000"/>
                </a:solidFill>
                <a:effectLst/>
                <a:uLnTx/>
                <a:uFillTx/>
                <a:latin typeface="+mj-ea"/>
                <a:ea typeface="+mj-ea"/>
                <a:cs typeface="+mn-cs"/>
              </a:rPr>
              <a:t>部門費</a:t>
            </a:r>
          </a:p>
        </p:txBody>
      </p:sp>
      <p:sp>
        <p:nvSpPr>
          <p:cNvPr id="57" name="正方形/長方形 56">
            <a:extLst>
              <a:ext uri="{FF2B5EF4-FFF2-40B4-BE49-F238E27FC236}">
                <a16:creationId xmlns:a16="http://schemas.microsoft.com/office/drawing/2014/main" id="{A418D28F-FA9F-B71D-F087-56AC09B4A302}"/>
              </a:ext>
            </a:extLst>
          </p:cNvPr>
          <p:cNvSpPr/>
          <p:nvPr/>
        </p:nvSpPr>
        <p:spPr>
          <a:xfrm>
            <a:off x="8217851" y="5435486"/>
            <a:ext cx="375696" cy="238531"/>
          </a:xfrm>
          <a:prstGeom prst="rect">
            <a:avLst/>
          </a:prstGeom>
          <a:solidFill>
            <a:srgbClr val="4B8098"/>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700" b="1" i="0" u="none" strike="noStrike" kern="1200" cap="none" spc="0" normalizeH="0" baseline="0" noProof="0" dirty="0">
                <a:ln>
                  <a:noFill/>
                </a:ln>
                <a:solidFill>
                  <a:srgbClr val="FFFFFF"/>
                </a:solidFill>
                <a:effectLst/>
                <a:uLnTx/>
                <a:uFillTx/>
                <a:latin typeface="+mj-ea"/>
                <a:ea typeface="+mj-ea"/>
                <a:cs typeface="+mn-cs"/>
              </a:rPr>
              <a:t>新設</a:t>
            </a:r>
            <a:endParaRPr kumimoji="1" lang="en-US" altLang="ja-JP" sz="700" b="1" i="0" u="none" strike="noStrike" kern="1200" cap="none" spc="0" normalizeH="0" baseline="0" noProof="0" dirty="0">
              <a:ln>
                <a:noFill/>
              </a:ln>
              <a:solidFill>
                <a:srgbClr val="FFFFFF"/>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700" b="1" i="0" u="none" strike="noStrike" kern="1200" cap="none" spc="0" normalizeH="0" baseline="0" noProof="0" dirty="0">
                <a:ln>
                  <a:noFill/>
                </a:ln>
                <a:solidFill>
                  <a:srgbClr val="FFFFFF"/>
                </a:solidFill>
                <a:effectLst/>
                <a:uLnTx/>
                <a:uFillTx/>
                <a:latin typeface="+mj-ea"/>
                <a:ea typeface="+mj-ea"/>
                <a:cs typeface="+mn-cs"/>
              </a:rPr>
              <a:t>従事</a:t>
            </a:r>
            <a:endParaRPr kumimoji="1" lang="en-US" altLang="ja-JP" sz="700" b="1" i="0" u="none" strike="noStrike" kern="1200" cap="none" spc="0" normalizeH="0" baseline="0" noProof="0" dirty="0">
              <a:ln>
                <a:noFill/>
              </a:ln>
              <a:solidFill>
                <a:srgbClr val="FFFFFF"/>
              </a:solidFill>
              <a:effectLst/>
              <a:uLnTx/>
              <a:uFillTx/>
              <a:latin typeface="+mj-ea"/>
              <a:ea typeface="+mj-ea"/>
              <a:cs typeface="+mn-cs"/>
            </a:endParaRPr>
          </a:p>
        </p:txBody>
      </p:sp>
      <p:sp>
        <p:nvSpPr>
          <p:cNvPr id="58" name="正方形/長方形 57">
            <a:extLst>
              <a:ext uri="{FF2B5EF4-FFF2-40B4-BE49-F238E27FC236}">
                <a16:creationId xmlns:a16="http://schemas.microsoft.com/office/drawing/2014/main" id="{04D22CCF-76EC-F212-8F84-5D9BB6989621}"/>
              </a:ext>
            </a:extLst>
          </p:cNvPr>
          <p:cNvSpPr/>
          <p:nvPr/>
        </p:nvSpPr>
        <p:spPr>
          <a:xfrm>
            <a:off x="8637506" y="5441769"/>
            <a:ext cx="375696" cy="238531"/>
          </a:xfrm>
          <a:prstGeom prst="rect">
            <a:avLst/>
          </a:prstGeom>
          <a:solidFill>
            <a:srgbClr val="C97B4B"/>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700" b="1" i="0" u="none" strike="noStrike" kern="1200" cap="none" spc="0" normalizeH="0" baseline="0" noProof="0" dirty="0">
                <a:ln>
                  <a:noFill/>
                </a:ln>
                <a:solidFill>
                  <a:srgbClr val="FFFFFF"/>
                </a:solidFill>
                <a:effectLst/>
                <a:uLnTx/>
                <a:uFillTx/>
                <a:latin typeface="+mj-ea"/>
                <a:ea typeface="+mj-ea"/>
                <a:cs typeface="+mn-cs"/>
              </a:rPr>
              <a:t>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700" b="1" i="0" u="none" strike="noStrike" kern="1200" cap="none" spc="0" normalizeH="0" baseline="0" noProof="0" dirty="0">
                <a:ln>
                  <a:noFill/>
                </a:ln>
                <a:solidFill>
                  <a:srgbClr val="FFFFFF"/>
                </a:solidFill>
                <a:effectLst/>
                <a:uLnTx/>
                <a:uFillTx/>
                <a:latin typeface="+mj-ea"/>
                <a:ea typeface="+mj-ea"/>
                <a:cs typeface="+mn-cs"/>
              </a:rPr>
              <a:t>従事</a:t>
            </a:r>
            <a:endParaRPr kumimoji="1" lang="en-US" altLang="ja-JP" sz="700" b="1" i="0" u="none" strike="noStrike" kern="1200" cap="none" spc="0" normalizeH="0" baseline="0" noProof="0" dirty="0">
              <a:ln>
                <a:noFill/>
              </a:ln>
              <a:solidFill>
                <a:srgbClr val="FFFFFF"/>
              </a:solidFill>
              <a:effectLst/>
              <a:uLnTx/>
              <a:uFillTx/>
              <a:latin typeface="+mj-ea"/>
              <a:ea typeface="+mj-ea"/>
              <a:cs typeface="+mn-cs"/>
            </a:endParaRPr>
          </a:p>
        </p:txBody>
      </p:sp>
      <p:sp>
        <p:nvSpPr>
          <p:cNvPr id="59" name="テキスト ボックス 58">
            <a:extLst>
              <a:ext uri="{FF2B5EF4-FFF2-40B4-BE49-F238E27FC236}">
                <a16:creationId xmlns:a16="http://schemas.microsoft.com/office/drawing/2014/main" id="{AB254001-64A0-808A-F230-7EACD9DC0CA8}"/>
              </a:ext>
            </a:extLst>
          </p:cNvPr>
          <p:cNvSpPr txBox="1"/>
          <p:nvPr/>
        </p:nvSpPr>
        <p:spPr>
          <a:xfrm>
            <a:off x="7631375" y="2253620"/>
            <a:ext cx="1409361" cy="261610"/>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srgbClr val="000000"/>
                </a:solidFill>
                <a:effectLst/>
                <a:uLnTx/>
                <a:uFillTx/>
                <a:latin typeface="+mj-ea"/>
                <a:ea typeface="+mj-ea"/>
                <a:cs typeface="+mn-cs"/>
              </a:rPr>
              <a:t>＜</a:t>
            </a:r>
            <a:r>
              <a:rPr kumimoji="1" lang="en-US" altLang="ja-JP" sz="1100" b="1" i="0" u="none" strike="noStrike" kern="1200" cap="none" spc="0" normalizeH="0" baseline="0" noProof="0" dirty="0">
                <a:ln>
                  <a:noFill/>
                </a:ln>
                <a:solidFill>
                  <a:srgbClr val="000000"/>
                </a:solidFill>
                <a:effectLst/>
                <a:uLnTx/>
                <a:uFillTx/>
                <a:latin typeface="+mj-ea"/>
                <a:ea typeface="+mj-ea"/>
                <a:cs typeface="+mn-cs"/>
              </a:rPr>
              <a:t>FY25</a:t>
            </a:r>
            <a:r>
              <a:rPr kumimoji="1" lang="ja-JP" altLang="en-US" sz="1100" b="1" i="0" u="none" strike="noStrike" kern="1200" cap="none" spc="0" normalizeH="0" baseline="0" noProof="0" dirty="0">
                <a:ln>
                  <a:noFill/>
                </a:ln>
                <a:solidFill>
                  <a:srgbClr val="000000"/>
                </a:solidFill>
                <a:effectLst/>
                <a:uLnTx/>
                <a:uFillTx/>
                <a:latin typeface="+mj-ea"/>
                <a:ea typeface="+mj-ea"/>
                <a:cs typeface="+mn-cs"/>
              </a:rPr>
              <a:t>以降の姿＞</a:t>
            </a:r>
          </a:p>
        </p:txBody>
      </p:sp>
      <p:grpSp>
        <p:nvGrpSpPr>
          <p:cNvPr id="60" name="グループ化 59">
            <a:extLst>
              <a:ext uri="{FF2B5EF4-FFF2-40B4-BE49-F238E27FC236}">
                <a16:creationId xmlns:a16="http://schemas.microsoft.com/office/drawing/2014/main" id="{8F5095A4-710D-E426-DA0B-E9E00366DF29}"/>
              </a:ext>
            </a:extLst>
          </p:cNvPr>
          <p:cNvGrpSpPr/>
          <p:nvPr/>
        </p:nvGrpSpPr>
        <p:grpSpPr>
          <a:xfrm>
            <a:off x="8089603" y="2615490"/>
            <a:ext cx="606802" cy="600842"/>
            <a:chOff x="8343897" y="2948232"/>
            <a:chExt cx="606802" cy="600842"/>
          </a:xfrm>
        </p:grpSpPr>
        <p:grpSp>
          <p:nvGrpSpPr>
            <p:cNvPr id="61" name="グループ化 60">
              <a:extLst>
                <a:ext uri="{FF2B5EF4-FFF2-40B4-BE49-F238E27FC236}">
                  <a16:creationId xmlns:a16="http://schemas.microsoft.com/office/drawing/2014/main" id="{21661C84-1FA5-D8F8-CBD3-A2D265CC2CAC}"/>
                </a:ext>
              </a:extLst>
            </p:cNvPr>
            <p:cNvGrpSpPr/>
            <p:nvPr/>
          </p:nvGrpSpPr>
          <p:grpSpPr>
            <a:xfrm>
              <a:off x="8640321" y="2948232"/>
              <a:ext cx="310378" cy="600842"/>
              <a:chOff x="2940241" y="2209800"/>
              <a:chExt cx="1159383" cy="2438400"/>
            </a:xfrm>
          </p:grpSpPr>
          <p:pic>
            <p:nvPicPr>
              <p:cNvPr id="74" name="図 73">
                <a:extLst>
                  <a:ext uri="{FF2B5EF4-FFF2-40B4-BE49-F238E27FC236}">
                    <a16:creationId xmlns:a16="http://schemas.microsoft.com/office/drawing/2014/main" id="{A6A4BAC6-75BD-2071-FDD4-1D1223DB9D7F}"/>
                  </a:ext>
                </a:extLst>
              </p:cNvPr>
              <p:cNvPicPr>
                <a:picLocks noChangeAspect="1"/>
              </p:cNvPicPr>
              <p:nvPr/>
            </p:nvPicPr>
            <p:blipFill rotWithShape="1">
              <a:blip r:embed="rId3" cstate="print">
                <a:duotone>
                  <a:schemeClr val="accent3">
                    <a:shade val="45000"/>
                    <a:satMod val="135000"/>
                  </a:schemeClr>
                  <a:prstClr val="white"/>
                </a:duotone>
                <a:extLst>
                  <a:ext uri="{28A0092B-C50C-407E-A947-70E740481C1C}">
                    <a14:useLocalDpi xmlns:a14="http://schemas.microsoft.com/office/drawing/2010/main" val="0"/>
                  </a:ext>
                </a:extLst>
              </a:blip>
              <a:srcRect/>
              <a:stretch/>
            </p:blipFill>
            <p:spPr>
              <a:xfrm>
                <a:off x="2940241" y="2921923"/>
                <a:ext cx="1159383" cy="1726277"/>
              </a:xfrm>
              <a:prstGeom prst="rect">
                <a:avLst/>
              </a:prstGeom>
            </p:spPr>
          </p:pic>
          <p:pic>
            <p:nvPicPr>
              <p:cNvPr id="75" name="図 74">
                <a:extLst>
                  <a:ext uri="{FF2B5EF4-FFF2-40B4-BE49-F238E27FC236}">
                    <a16:creationId xmlns:a16="http://schemas.microsoft.com/office/drawing/2014/main" id="{29726FC0-9AEA-6A0E-2D13-0838603805C1}"/>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a:stretch/>
            </p:blipFill>
            <p:spPr>
              <a:xfrm>
                <a:off x="2977688" y="2209800"/>
                <a:ext cx="1121936" cy="712123"/>
              </a:xfrm>
              <a:prstGeom prst="rect">
                <a:avLst/>
              </a:prstGeom>
            </p:spPr>
          </p:pic>
        </p:grpSp>
        <p:grpSp>
          <p:nvGrpSpPr>
            <p:cNvPr id="64" name="グループ化 63">
              <a:extLst>
                <a:ext uri="{FF2B5EF4-FFF2-40B4-BE49-F238E27FC236}">
                  <a16:creationId xmlns:a16="http://schemas.microsoft.com/office/drawing/2014/main" id="{F71D8CE7-CAD5-BEBF-590C-94C061D54E93}"/>
                </a:ext>
              </a:extLst>
            </p:cNvPr>
            <p:cNvGrpSpPr/>
            <p:nvPr/>
          </p:nvGrpSpPr>
          <p:grpSpPr>
            <a:xfrm>
              <a:off x="8343897" y="2948711"/>
              <a:ext cx="322619" cy="600363"/>
              <a:chOff x="8502709" y="2948709"/>
              <a:chExt cx="322619" cy="600363"/>
            </a:xfrm>
          </p:grpSpPr>
          <p:grpSp>
            <p:nvGrpSpPr>
              <p:cNvPr id="65" name="グループ化 64">
                <a:extLst>
                  <a:ext uri="{FF2B5EF4-FFF2-40B4-BE49-F238E27FC236}">
                    <a16:creationId xmlns:a16="http://schemas.microsoft.com/office/drawing/2014/main" id="{361C6DFC-BE5F-1637-BA0D-365F0CE86643}"/>
                  </a:ext>
                </a:extLst>
              </p:cNvPr>
              <p:cNvGrpSpPr/>
              <p:nvPr/>
            </p:nvGrpSpPr>
            <p:grpSpPr>
              <a:xfrm>
                <a:off x="8502709" y="3122804"/>
                <a:ext cx="322619" cy="426268"/>
                <a:chOff x="684203" y="3281131"/>
                <a:chExt cx="1205108" cy="1729926"/>
              </a:xfrm>
            </p:grpSpPr>
            <p:pic>
              <p:nvPicPr>
                <p:cNvPr id="67" name="図 66">
                  <a:extLst>
                    <a:ext uri="{FF2B5EF4-FFF2-40B4-BE49-F238E27FC236}">
                      <a16:creationId xmlns:a16="http://schemas.microsoft.com/office/drawing/2014/main" id="{CB8A01C2-2240-7CBE-4C57-F48FE20AD5B7}"/>
                    </a:ext>
                  </a:extLst>
                </p:cNvPr>
                <p:cNvPicPr>
                  <a:picLocks noChangeAspect="1"/>
                </p:cNvPicPr>
                <p:nvPr/>
              </p:nvPicPr>
              <p:blipFill rotWithShape="1">
                <a:blip r:embed="rId10" cstate="print">
                  <a:duotone>
                    <a:schemeClr val="accent3">
                      <a:shade val="45000"/>
                      <a:satMod val="135000"/>
                    </a:schemeClr>
                    <a:prstClr val="white"/>
                  </a:duotone>
                  <a:extLst>
                    <a:ext uri="{28A0092B-C50C-407E-A947-70E740481C1C}">
                      <a14:useLocalDpi xmlns:a14="http://schemas.microsoft.com/office/drawing/2010/main" val="0"/>
                    </a:ext>
                  </a:extLst>
                </a:blip>
                <a:srcRect/>
                <a:stretch/>
              </p:blipFill>
              <p:spPr>
                <a:xfrm>
                  <a:off x="684203" y="3835788"/>
                  <a:ext cx="1205108" cy="1175269"/>
                </a:xfrm>
                <a:prstGeom prst="rect">
                  <a:avLst/>
                </a:prstGeom>
                <a:noFill/>
              </p:spPr>
            </p:pic>
            <p:pic>
              <p:nvPicPr>
                <p:cNvPr id="68" name="図 67">
                  <a:extLst>
                    <a:ext uri="{FF2B5EF4-FFF2-40B4-BE49-F238E27FC236}">
                      <a16:creationId xmlns:a16="http://schemas.microsoft.com/office/drawing/2014/main" id="{BBF72CEE-2178-2C18-5FA2-55F645A0B7D8}"/>
                    </a:ext>
                  </a:extLst>
                </p:cNvPr>
                <p:cNvPicPr>
                  <a:picLocks noChangeAspect="1"/>
                </p:cNvPicPr>
                <p:nvPr/>
              </p:nvPicPr>
              <p:blipFill rotWithShape="1">
                <a:blip r:embed="rId11" cstate="print">
                  <a:duotone>
                    <a:schemeClr val="accent3">
                      <a:shade val="45000"/>
                      <a:satMod val="135000"/>
                    </a:schemeClr>
                    <a:prstClr val="white"/>
                  </a:duotone>
                  <a:extLst>
                    <a:ext uri="{28A0092B-C50C-407E-A947-70E740481C1C}">
                      <a14:useLocalDpi xmlns:a14="http://schemas.microsoft.com/office/drawing/2010/main" val="0"/>
                    </a:ext>
                  </a:extLst>
                </a:blip>
                <a:srcRect/>
                <a:stretch/>
              </p:blipFill>
              <p:spPr>
                <a:xfrm>
                  <a:off x="684203" y="3281131"/>
                  <a:ext cx="1205108" cy="554657"/>
                </a:xfrm>
                <a:prstGeom prst="rect">
                  <a:avLst/>
                </a:prstGeom>
              </p:spPr>
            </p:pic>
          </p:grpSp>
          <p:pic>
            <p:nvPicPr>
              <p:cNvPr id="66" name="図 65">
                <a:extLst>
                  <a:ext uri="{FF2B5EF4-FFF2-40B4-BE49-F238E27FC236}">
                    <a16:creationId xmlns:a16="http://schemas.microsoft.com/office/drawing/2014/main" id="{CCFEACD4-A12B-7078-EBE2-0355F0039C82}"/>
                  </a:ext>
                </a:extLst>
              </p:cNvPr>
              <p:cNvPicPr>
                <a:picLocks noChangeAspect="1"/>
              </p:cNvPicPr>
              <p:nvPr/>
            </p:nvPicPr>
            <p:blipFill rotWithShape="1">
              <a:blip r:embed="rId12" cstate="print">
                <a:lum bright="70000" contrast="-70000"/>
                <a:extLst>
                  <a:ext uri="{28A0092B-C50C-407E-A947-70E740481C1C}">
                    <a14:useLocalDpi xmlns:a14="http://schemas.microsoft.com/office/drawing/2010/main" val="0"/>
                  </a:ext>
                </a:extLst>
              </a:blip>
              <a:srcRect/>
              <a:stretch/>
            </p:blipFill>
            <p:spPr>
              <a:xfrm>
                <a:off x="8524975" y="2948709"/>
                <a:ext cx="280291" cy="176495"/>
              </a:xfrm>
              <a:prstGeom prst="rect">
                <a:avLst/>
              </a:prstGeom>
            </p:spPr>
          </p:pic>
        </p:grpSp>
      </p:grpSp>
      <p:sp>
        <p:nvSpPr>
          <p:cNvPr id="76" name="テキスト ボックス 75">
            <a:extLst>
              <a:ext uri="{FF2B5EF4-FFF2-40B4-BE49-F238E27FC236}">
                <a16:creationId xmlns:a16="http://schemas.microsoft.com/office/drawing/2014/main" id="{E4564D0F-327A-B6DB-610B-BEE415106D3D}"/>
              </a:ext>
            </a:extLst>
          </p:cNvPr>
          <p:cNvSpPr txBox="1"/>
          <p:nvPr/>
        </p:nvSpPr>
        <p:spPr>
          <a:xfrm>
            <a:off x="7612550" y="3384659"/>
            <a:ext cx="954107" cy="246221"/>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000000"/>
                </a:solidFill>
                <a:effectLst/>
                <a:uLnTx/>
                <a:uFillTx/>
                <a:latin typeface="+mj-ea"/>
                <a:ea typeface="+mj-ea"/>
                <a:cs typeface="+mn-cs"/>
              </a:rPr>
              <a:t>＜改革途中＞</a:t>
            </a:r>
          </a:p>
        </p:txBody>
      </p:sp>
      <p:grpSp>
        <p:nvGrpSpPr>
          <p:cNvPr id="77" name="グループ化 76">
            <a:extLst>
              <a:ext uri="{FF2B5EF4-FFF2-40B4-BE49-F238E27FC236}">
                <a16:creationId xmlns:a16="http://schemas.microsoft.com/office/drawing/2014/main" id="{47414951-37C0-8118-6A80-6BA02C2D7FB5}"/>
              </a:ext>
            </a:extLst>
          </p:cNvPr>
          <p:cNvGrpSpPr/>
          <p:nvPr/>
        </p:nvGrpSpPr>
        <p:grpSpPr>
          <a:xfrm>
            <a:off x="8006522" y="3723533"/>
            <a:ext cx="869130" cy="600842"/>
            <a:chOff x="8081569" y="2948232"/>
            <a:chExt cx="869130" cy="600842"/>
          </a:xfrm>
        </p:grpSpPr>
        <p:grpSp>
          <p:nvGrpSpPr>
            <p:cNvPr id="78" name="グループ化 77">
              <a:extLst>
                <a:ext uri="{FF2B5EF4-FFF2-40B4-BE49-F238E27FC236}">
                  <a16:creationId xmlns:a16="http://schemas.microsoft.com/office/drawing/2014/main" id="{4AD921DA-BCF4-F5F3-BD85-FE706D46052A}"/>
                </a:ext>
              </a:extLst>
            </p:cNvPr>
            <p:cNvGrpSpPr/>
            <p:nvPr/>
          </p:nvGrpSpPr>
          <p:grpSpPr>
            <a:xfrm>
              <a:off x="8640321" y="2948232"/>
              <a:ext cx="310378" cy="600842"/>
              <a:chOff x="2940241" y="2209800"/>
              <a:chExt cx="1159383" cy="2438400"/>
            </a:xfrm>
          </p:grpSpPr>
          <p:pic>
            <p:nvPicPr>
              <p:cNvPr id="97" name="図 96">
                <a:extLst>
                  <a:ext uri="{FF2B5EF4-FFF2-40B4-BE49-F238E27FC236}">
                    <a16:creationId xmlns:a16="http://schemas.microsoft.com/office/drawing/2014/main" id="{747C4E14-7DD0-5BE3-A99F-33C5C3F5CDAE}"/>
                  </a:ext>
                </a:extLst>
              </p:cNvPr>
              <p:cNvPicPr>
                <a:picLocks noChangeAspect="1"/>
              </p:cNvPicPr>
              <p:nvPr/>
            </p:nvPicPr>
            <p:blipFill rotWithShape="1">
              <a:blip r:embed="rId3" cstate="print">
                <a:duotone>
                  <a:schemeClr val="accent3">
                    <a:shade val="45000"/>
                    <a:satMod val="135000"/>
                  </a:schemeClr>
                  <a:prstClr val="white"/>
                </a:duotone>
                <a:extLst>
                  <a:ext uri="{28A0092B-C50C-407E-A947-70E740481C1C}">
                    <a14:useLocalDpi xmlns:a14="http://schemas.microsoft.com/office/drawing/2010/main" val="0"/>
                  </a:ext>
                </a:extLst>
              </a:blip>
              <a:srcRect/>
              <a:stretch/>
            </p:blipFill>
            <p:spPr>
              <a:xfrm>
                <a:off x="2940241" y="2921923"/>
                <a:ext cx="1159383" cy="1726277"/>
              </a:xfrm>
              <a:prstGeom prst="rect">
                <a:avLst/>
              </a:prstGeom>
            </p:spPr>
          </p:pic>
          <p:pic>
            <p:nvPicPr>
              <p:cNvPr id="98" name="図 97">
                <a:extLst>
                  <a:ext uri="{FF2B5EF4-FFF2-40B4-BE49-F238E27FC236}">
                    <a16:creationId xmlns:a16="http://schemas.microsoft.com/office/drawing/2014/main" id="{512F6649-A985-A07B-507B-21AD9B58FF22}"/>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a:stretch/>
            </p:blipFill>
            <p:spPr>
              <a:xfrm>
                <a:off x="2977688" y="2209800"/>
                <a:ext cx="1121936" cy="712123"/>
              </a:xfrm>
              <a:prstGeom prst="rect">
                <a:avLst/>
              </a:prstGeom>
            </p:spPr>
          </p:pic>
        </p:grpSp>
        <p:grpSp>
          <p:nvGrpSpPr>
            <p:cNvPr id="80" name="グループ化 79">
              <a:extLst>
                <a:ext uri="{FF2B5EF4-FFF2-40B4-BE49-F238E27FC236}">
                  <a16:creationId xmlns:a16="http://schemas.microsoft.com/office/drawing/2014/main" id="{5914E1EA-FAF7-3618-6322-31549E634B93}"/>
                </a:ext>
              </a:extLst>
            </p:cNvPr>
            <p:cNvGrpSpPr/>
            <p:nvPr/>
          </p:nvGrpSpPr>
          <p:grpSpPr>
            <a:xfrm>
              <a:off x="8081569" y="2954373"/>
              <a:ext cx="280291" cy="594701"/>
              <a:chOff x="8081569" y="2951893"/>
              <a:chExt cx="280291" cy="594701"/>
            </a:xfrm>
          </p:grpSpPr>
          <p:pic>
            <p:nvPicPr>
              <p:cNvPr id="86" name="図 85">
                <a:extLst>
                  <a:ext uri="{FF2B5EF4-FFF2-40B4-BE49-F238E27FC236}">
                    <a16:creationId xmlns:a16="http://schemas.microsoft.com/office/drawing/2014/main" id="{51A7852B-3A3D-DE51-988B-6C5801D1AACD}"/>
                  </a:ext>
                </a:extLst>
              </p:cNvPr>
              <p:cNvPicPr>
                <a:picLocks noChangeAspect="1"/>
              </p:cNvPicPr>
              <p:nvPr/>
            </p:nvPicPr>
            <p:blipFill rotWithShape="1">
              <a:blip r:embed="rId7" cstate="print">
                <a:duotone>
                  <a:schemeClr val="accent3">
                    <a:shade val="45000"/>
                    <a:satMod val="135000"/>
                  </a:schemeClr>
                  <a:prstClr val="white"/>
                </a:duotone>
                <a:extLst>
                  <a:ext uri="{28A0092B-C50C-407E-A947-70E740481C1C}">
                    <a14:useLocalDpi xmlns:a14="http://schemas.microsoft.com/office/drawing/2010/main" val="0"/>
                  </a:ext>
                </a:extLst>
              </a:blip>
              <a:srcRect/>
              <a:stretch/>
            </p:blipFill>
            <p:spPr>
              <a:xfrm>
                <a:off x="8081569" y="3460136"/>
                <a:ext cx="280291" cy="86458"/>
              </a:xfrm>
              <a:prstGeom prst="rect">
                <a:avLst/>
              </a:prstGeom>
            </p:spPr>
          </p:pic>
          <p:pic>
            <p:nvPicPr>
              <p:cNvPr id="87" name="図 86">
                <a:extLst>
                  <a:ext uri="{FF2B5EF4-FFF2-40B4-BE49-F238E27FC236}">
                    <a16:creationId xmlns:a16="http://schemas.microsoft.com/office/drawing/2014/main" id="{FF9BEBEA-FD79-B9FD-C02F-00779672CE3C}"/>
                  </a:ext>
                </a:extLst>
              </p:cNvPr>
              <p:cNvPicPr>
                <a:picLocks noChangeAspect="1"/>
              </p:cNvPicPr>
              <p:nvPr/>
            </p:nvPicPr>
            <p:blipFill rotWithShape="1">
              <a:blip r:embed="rId8" cstate="print">
                <a:lum bright="70000" contrast="-70000"/>
                <a:extLst>
                  <a:ext uri="{28A0092B-C50C-407E-A947-70E740481C1C}">
                    <a14:useLocalDpi xmlns:a14="http://schemas.microsoft.com/office/drawing/2010/main" val="0"/>
                  </a:ext>
                </a:extLst>
              </a:blip>
              <a:srcRect/>
              <a:stretch/>
            </p:blipFill>
            <p:spPr>
              <a:xfrm>
                <a:off x="8081569" y="3116423"/>
                <a:ext cx="280291" cy="343329"/>
              </a:xfrm>
              <a:prstGeom prst="rect">
                <a:avLst/>
              </a:prstGeom>
            </p:spPr>
          </p:pic>
          <p:pic>
            <p:nvPicPr>
              <p:cNvPr id="88" name="図 87">
                <a:extLst>
                  <a:ext uri="{FF2B5EF4-FFF2-40B4-BE49-F238E27FC236}">
                    <a16:creationId xmlns:a16="http://schemas.microsoft.com/office/drawing/2014/main" id="{D3081BE7-A8DC-CF9A-58EE-06022B9216AB}"/>
                  </a:ext>
                </a:extLst>
              </p:cNvPr>
              <p:cNvPicPr>
                <a:picLocks noChangeAspect="1"/>
              </p:cNvPicPr>
              <p:nvPr/>
            </p:nvPicPr>
            <p:blipFill rotWithShape="1">
              <a:blip r:embed="rId9" cstate="print">
                <a:lum bright="70000" contrast="-70000"/>
                <a:extLst>
                  <a:ext uri="{28A0092B-C50C-407E-A947-70E740481C1C}">
                    <a14:useLocalDpi xmlns:a14="http://schemas.microsoft.com/office/drawing/2010/main" val="0"/>
                  </a:ext>
                </a:extLst>
              </a:blip>
              <a:srcRect/>
              <a:stretch/>
            </p:blipFill>
            <p:spPr>
              <a:xfrm>
                <a:off x="8081569" y="2951893"/>
                <a:ext cx="280291" cy="164913"/>
              </a:xfrm>
              <a:prstGeom prst="rect">
                <a:avLst/>
              </a:prstGeom>
            </p:spPr>
          </p:pic>
        </p:grpSp>
        <p:grpSp>
          <p:nvGrpSpPr>
            <p:cNvPr id="81" name="グループ化 80">
              <a:extLst>
                <a:ext uri="{FF2B5EF4-FFF2-40B4-BE49-F238E27FC236}">
                  <a16:creationId xmlns:a16="http://schemas.microsoft.com/office/drawing/2014/main" id="{C0B36C77-3F09-CC3F-E324-6EF6260A7896}"/>
                </a:ext>
              </a:extLst>
            </p:cNvPr>
            <p:cNvGrpSpPr/>
            <p:nvPr/>
          </p:nvGrpSpPr>
          <p:grpSpPr>
            <a:xfrm>
              <a:off x="8343897" y="2948711"/>
              <a:ext cx="322619" cy="600363"/>
              <a:chOff x="8502709" y="2948709"/>
              <a:chExt cx="322619" cy="600363"/>
            </a:xfrm>
          </p:grpSpPr>
          <p:grpSp>
            <p:nvGrpSpPr>
              <p:cNvPr id="82" name="グループ化 81">
                <a:extLst>
                  <a:ext uri="{FF2B5EF4-FFF2-40B4-BE49-F238E27FC236}">
                    <a16:creationId xmlns:a16="http://schemas.microsoft.com/office/drawing/2014/main" id="{E92BC814-E762-0B8D-C1EA-D2CBCA94EDAA}"/>
                  </a:ext>
                </a:extLst>
              </p:cNvPr>
              <p:cNvGrpSpPr/>
              <p:nvPr/>
            </p:nvGrpSpPr>
            <p:grpSpPr>
              <a:xfrm>
                <a:off x="8502709" y="3122804"/>
                <a:ext cx="322619" cy="426268"/>
                <a:chOff x="684203" y="3281131"/>
                <a:chExt cx="1205108" cy="1729926"/>
              </a:xfrm>
            </p:grpSpPr>
            <p:pic>
              <p:nvPicPr>
                <p:cNvPr id="84" name="図 83">
                  <a:extLst>
                    <a:ext uri="{FF2B5EF4-FFF2-40B4-BE49-F238E27FC236}">
                      <a16:creationId xmlns:a16="http://schemas.microsoft.com/office/drawing/2014/main" id="{9ED5F4F9-2690-BCF6-872A-AAD18392D0C0}"/>
                    </a:ext>
                  </a:extLst>
                </p:cNvPr>
                <p:cNvPicPr>
                  <a:picLocks noChangeAspect="1"/>
                </p:cNvPicPr>
                <p:nvPr/>
              </p:nvPicPr>
              <p:blipFill rotWithShape="1">
                <a:blip r:embed="rId10" cstate="print">
                  <a:duotone>
                    <a:schemeClr val="accent3">
                      <a:shade val="45000"/>
                      <a:satMod val="135000"/>
                    </a:schemeClr>
                    <a:prstClr val="white"/>
                  </a:duotone>
                  <a:extLst>
                    <a:ext uri="{28A0092B-C50C-407E-A947-70E740481C1C}">
                      <a14:useLocalDpi xmlns:a14="http://schemas.microsoft.com/office/drawing/2010/main" val="0"/>
                    </a:ext>
                  </a:extLst>
                </a:blip>
                <a:srcRect/>
                <a:stretch/>
              </p:blipFill>
              <p:spPr>
                <a:xfrm>
                  <a:off x="684203" y="3835788"/>
                  <a:ext cx="1205108" cy="1175269"/>
                </a:xfrm>
                <a:prstGeom prst="rect">
                  <a:avLst/>
                </a:prstGeom>
                <a:noFill/>
              </p:spPr>
            </p:pic>
            <p:pic>
              <p:nvPicPr>
                <p:cNvPr id="85" name="図 84">
                  <a:extLst>
                    <a:ext uri="{FF2B5EF4-FFF2-40B4-BE49-F238E27FC236}">
                      <a16:creationId xmlns:a16="http://schemas.microsoft.com/office/drawing/2014/main" id="{193F5D26-3F21-E065-649D-E2521FAB083C}"/>
                    </a:ext>
                  </a:extLst>
                </p:cNvPr>
                <p:cNvPicPr>
                  <a:picLocks noChangeAspect="1"/>
                </p:cNvPicPr>
                <p:nvPr/>
              </p:nvPicPr>
              <p:blipFill rotWithShape="1">
                <a:blip r:embed="rId11" cstate="print">
                  <a:lum bright="70000" contrast="-70000"/>
                  <a:extLst>
                    <a:ext uri="{28A0092B-C50C-407E-A947-70E740481C1C}">
                      <a14:useLocalDpi xmlns:a14="http://schemas.microsoft.com/office/drawing/2010/main" val="0"/>
                    </a:ext>
                  </a:extLst>
                </a:blip>
                <a:srcRect/>
                <a:stretch/>
              </p:blipFill>
              <p:spPr>
                <a:xfrm>
                  <a:off x="684203" y="3281131"/>
                  <a:ext cx="1205108" cy="554657"/>
                </a:xfrm>
                <a:prstGeom prst="rect">
                  <a:avLst/>
                </a:prstGeom>
              </p:spPr>
            </p:pic>
          </p:grpSp>
          <p:pic>
            <p:nvPicPr>
              <p:cNvPr id="83" name="図 82">
                <a:extLst>
                  <a:ext uri="{FF2B5EF4-FFF2-40B4-BE49-F238E27FC236}">
                    <a16:creationId xmlns:a16="http://schemas.microsoft.com/office/drawing/2014/main" id="{8EBC4D93-30B8-3371-425E-37275C97D5A4}"/>
                  </a:ext>
                </a:extLst>
              </p:cNvPr>
              <p:cNvPicPr>
                <a:picLocks noChangeAspect="1"/>
              </p:cNvPicPr>
              <p:nvPr/>
            </p:nvPicPr>
            <p:blipFill rotWithShape="1">
              <a:blip r:embed="rId12" cstate="print">
                <a:lum bright="70000" contrast="-70000"/>
                <a:extLst>
                  <a:ext uri="{28A0092B-C50C-407E-A947-70E740481C1C}">
                    <a14:useLocalDpi xmlns:a14="http://schemas.microsoft.com/office/drawing/2010/main" val="0"/>
                  </a:ext>
                </a:extLst>
              </a:blip>
              <a:srcRect/>
              <a:stretch/>
            </p:blipFill>
            <p:spPr>
              <a:xfrm>
                <a:off x="8524975" y="2948709"/>
                <a:ext cx="280291" cy="176495"/>
              </a:xfrm>
              <a:prstGeom prst="rect">
                <a:avLst/>
              </a:prstGeom>
            </p:spPr>
          </p:pic>
        </p:grpSp>
      </p:grpSp>
      <p:sp>
        <p:nvSpPr>
          <p:cNvPr id="105" name="矢印: 上 104">
            <a:extLst>
              <a:ext uri="{FF2B5EF4-FFF2-40B4-BE49-F238E27FC236}">
                <a16:creationId xmlns:a16="http://schemas.microsoft.com/office/drawing/2014/main" id="{437FCACD-4EC1-89A3-3313-14DBC8333707}"/>
              </a:ext>
            </a:extLst>
          </p:cNvPr>
          <p:cNvSpPr/>
          <p:nvPr/>
        </p:nvSpPr>
        <p:spPr>
          <a:xfrm>
            <a:off x="8070988" y="4385646"/>
            <a:ext cx="633931" cy="86459"/>
          </a:xfrm>
          <a:prstGeom prst="upArrow">
            <a:avLst/>
          </a:prstGeom>
          <a:solidFill>
            <a:schemeClr val="bg2"/>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dirty="0">
              <a:ln>
                <a:noFill/>
              </a:ln>
              <a:solidFill>
                <a:sysClr val="windowText" lastClr="000000"/>
              </a:solidFill>
              <a:effectLst/>
              <a:uLnTx/>
              <a:uFillTx/>
              <a:latin typeface="+mj-ea"/>
              <a:ea typeface="+mj-ea"/>
              <a:cs typeface="+mn-cs"/>
            </a:endParaRPr>
          </a:p>
        </p:txBody>
      </p:sp>
      <p:sp>
        <p:nvSpPr>
          <p:cNvPr id="109" name="矢印: 上 108">
            <a:extLst>
              <a:ext uri="{FF2B5EF4-FFF2-40B4-BE49-F238E27FC236}">
                <a16:creationId xmlns:a16="http://schemas.microsoft.com/office/drawing/2014/main" id="{BC31C315-B281-6385-04E5-235289483F0B}"/>
              </a:ext>
            </a:extLst>
          </p:cNvPr>
          <p:cNvSpPr/>
          <p:nvPr/>
        </p:nvSpPr>
        <p:spPr>
          <a:xfrm>
            <a:off x="8075649" y="3304107"/>
            <a:ext cx="633931" cy="86459"/>
          </a:xfrm>
          <a:prstGeom prst="upArrow">
            <a:avLst/>
          </a:prstGeom>
          <a:solidFill>
            <a:schemeClr val="bg2"/>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dirty="0">
              <a:ln>
                <a:noFill/>
              </a:ln>
              <a:solidFill>
                <a:sysClr val="windowText" lastClr="000000"/>
              </a:solidFill>
              <a:effectLst/>
              <a:uLnTx/>
              <a:uFillTx/>
              <a:latin typeface="+mj-ea"/>
              <a:ea typeface="+mj-ea"/>
              <a:cs typeface="+mn-cs"/>
            </a:endParaRPr>
          </a:p>
        </p:txBody>
      </p:sp>
      <p:sp>
        <p:nvSpPr>
          <p:cNvPr id="101" name="テキスト ボックス 100">
            <a:extLst>
              <a:ext uri="{FF2B5EF4-FFF2-40B4-BE49-F238E27FC236}">
                <a16:creationId xmlns:a16="http://schemas.microsoft.com/office/drawing/2014/main" id="{42BFBCBE-9139-4895-8AAC-ADAC0585D632}"/>
              </a:ext>
            </a:extLst>
          </p:cNvPr>
          <p:cNvSpPr txBox="1"/>
          <p:nvPr/>
        </p:nvSpPr>
        <p:spPr>
          <a:xfrm>
            <a:off x="7705323" y="3539626"/>
            <a:ext cx="1157689" cy="20005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700" b="1" i="0" u="none" strike="noStrike" kern="1200" cap="none" spc="0" normalizeH="0" baseline="0" noProof="0" dirty="0">
                <a:ln>
                  <a:noFill/>
                </a:ln>
                <a:solidFill>
                  <a:srgbClr val="000000"/>
                </a:solidFill>
                <a:effectLst/>
                <a:uLnTx/>
                <a:uFillTx/>
                <a:latin typeface="+mj-ea"/>
                <a:ea typeface="+mj-ea"/>
                <a:cs typeface="+mn-cs"/>
              </a:rPr>
              <a:t>新設減少するが効率化</a:t>
            </a:r>
            <a:r>
              <a:rPr kumimoji="1" lang="en-US" altLang="ja-JP" sz="700" b="1" i="0" u="none" strike="noStrike" kern="1200" cap="none" spc="0" normalizeH="0" baseline="0" noProof="0" dirty="0">
                <a:ln>
                  <a:noFill/>
                </a:ln>
                <a:solidFill>
                  <a:srgbClr val="000000"/>
                </a:solidFill>
                <a:effectLst/>
                <a:uLnTx/>
                <a:uFillTx/>
                <a:latin typeface="+mj-ea"/>
                <a:ea typeface="+mj-ea"/>
                <a:cs typeface="+mn-cs"/>
              </a:rPr>
              <a:t>×</a:t>
            </a:r>
            <a:endParaRPr kumimoji="1" lang="ja-JP" altLang="en-US" sz="700" b="1" i="0" u="none" strike="noStrike" kern="1200" cap="none" spc="0" normalizeH="0" baseline="0" noProof="0" dirty="0">
              <a:ln>
                <a:noFill/>
              </a:ln>
              <a:solidFill>
                <a:srgbClr val="000000"/>
              </a:solidFill>
              <a:effectLst/>
              <a:uLnTx/>
              <a:uFillTx/>
              <a:latin typeface="+mj-ea"/>
              <a:ea typeface="+mj-ea"/>
              <a:cs typeface="+mn-cs"/>
            </a:endParaRPr>
          </a:p>
        </p:txBody>
      </p:sp>
      <p:sp>
        <p:nvSpPr>
          <p:cNvPr id="111" name="テキスト ボックス 110">
            <a:extLst>
              <a:ext uri="{FF2B5EF4-FFF2-40B4-BE49-F238E27FC236}">
                <a16:creationId xmlns:a16="http://schemas.microsoft.com/office/drawing/2014/main" id="{63FBA2B5-6EE2-EB98-8C3E-9C0D5130E552}"/>
              </a:ext>
            </a:extLst>
          </p:cNvPr>
          <p:cNvSpPr txBox="1"/>
          <p:nvPr/>
        </p:nvSpPr>
        <p:spPr>
          <a:xfrm>
            <a:off x="7736110" y="2442964"/>
            <a:ext cx="936474" cy="20005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700" b="1" i="0" u="none" strike="noStrike" kern="1200" cap="none" spc="0" normalizeH="0" baseline="0" noProof="0" dirty="0">
                <a:ln>
                  <a:noFill/>
                </a:ln>
                <a:solidFill>
                  <a:srgbClr val="000000"/>
                </a:solidFill>
                <a:effectLst/>
                <a:uLnTx/>
                <a:uFillTx/>
                <a:latin typeface="+mj-ea"/>
                <a:ea typeface="+mj-ea"/>
                <a:cs typeface="+mn-cs"/>
              </a:rPr>
              <a:t>AS</a:t>
            </a:r>
            <a:r>
              <a:rPr kumimoji="1" lang="ja-JP" altLang="en-US" sz="700" b="1" i="0" u="none" strike="noStrike" kern="1200" cap="none" spc="0" normalizeH="0" baseline="0" noProof="0" dirty="0">
                <a:ln>
                  <a:noFill/>
                </a:ln>
                <a:solidFill>
                  <a:srgbClr val="000000"/>
                </a:solidFill>
                <a:effectLst/>
                <a:uLnTx/>
                <a:uFillTx/>
                <a:latin typeface="+mj-ea"/>
                <a:ea typeface="+mj-ea"/>
                <a:cs typeface="+mn-cs"/>
              </a:rPr>
              <a:t>のみ、効率化〇</a:t>
            </a:r>
          </a:p>
        </p:txBody>
      </p:sp>
      <p:sp>
        <p:nvSpPr>
          <p:cNvPr id="152" name="四角形: 角を丸くする 151">
            <a:extLst>
              <a:ext uri="{FF2B5EF4-FFF2-40B4-BE49-F238E27FC236}">
                <a16:creationId xmlns:a16="http://schemas.microsoft.com/office/drawing/2014/main" id="{39A5447D-93E6-C685-A7AF-5DE0AB364CAA}"/>
              </a:ext>
            </a:extLst>
          </p:cNvPr>
          <p:cNvSpPr/>
          <p:nvPr/>
        </p:nvSpPr>
        <p:spPr>
          <a:xfrm>
            <a:off x="62790" y="3405546"/>
            <a:ext cx="1404000" cy="664031"/>
          </a:xfrm>
          <a:prstGeom prst="roundRect">
            <a:avLst>
              <a:gd name="adj" fmla="val 0"/>
            </a:avLst>
          </a:prstGeom>
          <a:solidFill>
            <a:schemeClr val="accent2">
              <a:lumMod val="50000"/>
            </a:schemeClr>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ja-JP" sz="1100" b="1" dirty="0">
                <a:solidFill>
                  <a:srgbClr val="FFFFFF"/>
                </a:solidFill>
                <a:latin typeface="メイリオ"/>
                <a:ea typeface="メイリオ"/>
              </a:rPr>
              <a:t>(</a:t>
            </a:r>
            <a:r>
              <a:rPr kumimoji="1" lang="ja-JP" altLang="en-US" sz="1100" b="1" i="0" u="none" strike="noStrike" kern="1200" cap="none" spc="0" normalizeH="0" baseline="0" noProof="0" dirty="0">
                <a:ln>
                  <a:noFill/>
                </a:ln>
                <a:solidFill>
                  <a:srgbClr val="FFFFFF"/>
                </a:solidFill>
                <a:effectLst/>
                <a:uLnTx/>
                <a:uFillTx/>
                <a:latin typeface="メイリオ"/>
                <a:ea typeface="メイリオ"/>
                <a:cs typeface="+mn-cs"/>
              </a:rPr>
              <a:t>フェーズ３</a:t>
            </a:r>
            <a:r>
              <a:rPr kumimoji="1" lang="en-US" altLang="ja-JP" sz="1100" b="1" i="0" u="none" strike="noStrike" kern="1200" cap="none" spc="0" normalizeH="0" baseline="0" noProof="0" dirty="0">
                <a:ln>
                  <a:noFill/>
                </a:ln>
                <a:solidFill>
                  <a:srgbClr val="FFFFFF"/>
                </a:solidFill>
                <a:effectLst/>
                <a:uLnTx/>
                <a:uFillTx/>
                <a:latin typeface="メイリオ"/>
                <a:ea typeface="メイリオ"/>
                <a:cs typeface="+mn-cs"/>
              </a:rPr>
              <a:t>)</a:t>
            </a:r>
          </a:p>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srgbClr val="FFFFFF"/>
                </a:solidFill>
                <a:effectLst/>
                <a:uLnTx/>
                <a:uFillTx/>
                <a:latin typeface="メイリオ"/>
                <a:ea typeface="メイリオ"/>
                <a:cs typeface="+mn-cs"/>
              </a:rPr>
              <a:t> </a:t>
            </a:r>
            <a:r>
              <a:rPr kumimoji="1" lang="ja-JP" altLang="en-US" sz="1100" b="1" i="0" u="none" strike="noStrike" kern="1200" cap="none" spc="0" normalizeH="0" baseline="0" noProof="0" dirty="0">
                <a:ln>
                  <a:noFill/>
                </a:ln>
                <a:solidFill>
                  <a:srgbClr val="FFFFFF"/>
                </a:solidFill>
                <a:effectLst/>
                <a:uLnTx/>
                <a:uFillTx/>
                <a:latin typeface="メイリオ"/>
                <a:ea typeface="メイリオ"/>
                <a:cs typeface="+mn-cs"/>
              </a:rPr>
              <a:t>プ推・設計業務</a:t>
            </a:r>
            <a:endParaRPr kumimoji="1" lang="en-US" altLang="ja-JP" sz="11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r>
              <a:rPr lang="en-US" altLang="ja-JP" sz="1100" b="1" dirty="0">
                <a:solidFill>
                  <a:srgbClr val="FFFFFF"/>
                </a:solidFill>
                <a:latin typeface="メイリオ"/>
                <a:ea typeface="メイリオ"/>
              </a:rPr>
              <a:t> </a:t>
            </a:r>
            <a:r>
              <a:rPr kumimoji="1" lang="ja-JP" altLang="en-US" sz="1100" b="1" i="0" u="none" strike="noStrike" kern="1200" cap="none" spc="0" normalizeH="0" baseline="0" noProof="0" dirty="0">
                <a:ln>
                  <a:noFill/>
                </a:ln>
                <a:solidFill>
                  <a:srgbClr val="FFFFFF"/>
                </a:solidFill>
                <a:effectLst/>
                <a:uLnTx/>
                <a:uFillTx/>
                <a:latin typeface="メイリオ"/>
                <a:ea typeface="メイリオ"/>
                <a:cs typeface="+mn-cs"/>
              </a:rPr>
              <a:t>改善策検討・実行</a:t>
            </a:r>
            <a:endParaRPr kumimoji="1" lang="en-US" altLang="ja-JP" sz="1100" b="1" i="0" u="none" strike="noStrike" kern="1200" cap="none" spc="0" normalizeH="0" baseline="0" noProof="0" dirty="0">
              <a:ln>
                <a:noFill/>
              </a:ln>
              <a:solidFill>
                <a:srgbClr val="FFFFFF"/>
              </a:solidFill>
              <a:effectLst/>
              <a:uLnTx/>
              <a:uFillTx/>
              <a:latin typeface="メイリオ"/>
              <a:ea typeface="メイリオ"/>
              <a:cs typeface="+mn-cs"/>
            </a:endParaRPr>
          </a:p>
        </p:txBody>
      </p:sp>
      <p:sp>
        <p:nvSpPr>
          <p:cNvPr id="7" name="四角形: 角を丸くする 6">
            <a:extLst>
              <a:ext uri="{FF2B5EF4-FFF2-40B4-BE49-F238E27FC236}">
                <a16:creationId xmlns:a16="http://schemas.microsoft.com/office/drawing/2014/main" id="{AFA9CCD6-D4F6-E360-DB01-D293038426A0}"/>
              </a:ext>
            </a:extLst>
          </p:cNvPr>
          <p:cNvSpPr/>
          <p:nvPr/>
        </p:nvSpPr>
        <p:spPr>
          <a:xfrm>
            <a:off x="62790" y="2098945"/>
            <a:ext cx="1404000" cy="643944"/>
          </a:xfrm>
          <a:prstGeom prst="roundRect">
            <a:avLst>
              <a:gd name="adj" fmla="val 0"/>
            </a:avLst>
          </a:prstGeom>
          <a:solidFill>
            <a:schemeClr val="accent3">
              <a:lumMod val="50000"/>
            </a:schemeClr>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a:t>
            </a:r>
            <a:r>
              <a:rPr lang="ja-JP" altLang="en-US" sz="1000" b="1" dirty="0">
                <a:solidFill>
                  <a:srgbClr val="FFFFFF"/>
                </a:solidFill>
                <a:latin typeface="メイリオ"/>
                <a:ea typeface="メイリオ"/>
              </a:rPr>
              <a:t>最終ゴール</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 </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適正人数かつ</a:t>
            </a:r>
            <a:r>
              <a:rPr lang="ja-JP" altLang="en-US" sz="1000" b="1" dirty="0">
                <a:solidFill>
                  <a:srgbClr val="FFFFFF"/>
                </a:solidFill>
                <a:latin typeface="メイリオ"/>
                <a:ea typeface="メイリオ"/>
              </a:rPr>
              <a:t>効率的な</a:t>
            </a:r>
            <a:endParaRPr lang="en-US" altLang="ja-JP" sz="1000" b="1" dirty="0">
              <a:solidFill>
                <a:srgbClr val="FFFFFF"/>
              </a:solidFill>
              <a:latin typeface="メイリオ"/>
              <a:ea typeface="メイリオ"/>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AS</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事業運営</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p:txBody>
      </p:sp>
      <p:cxnSp>
        <p:nvCxnSpPr>
          <p:cNvPr id="20" name="直線矢印コネクタ 19">
            <a:extLst>
              <a:ext uri="{FF2B5EF4-FFF2-40B4-BE49-F238E27FC236}">
                <a16:creationId xmlns:a16="http://schemas.microsoft.com/office/drawing/2014/main" id="{74619FBF-7B1F-18D4-4164-9FFABB3BA9BC}"/>
              </a:ext>
            </a:extLst>
          </p:cNvPr>
          <p:cNvCxnSpPr>
            <a:cxnSpLocks/>
          </p:cNvCxnSpPr>
          <p:nvPr/>
        </p:nvCxnSpPr>
        <p:spPr>
          <a:xfrm>
            <a:off x="1489251" y="6207919"/>
            <a:ext cx="258011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2" name="テキスト ボックス 91">
            <a:extLst>
              <a:ext uri="{FF2B5EF4-FFF2-40B4-BE49-F238E27FC236}">
                <a16:creationId xmlns:a16="http://schemas.microsoft.com/office/drawing/2014/main" id="{BBF2017E-5D83-4E36-9AF6-08A3A8E43F88}"/>
              </a:ext>
            </a:extLst>
          </p:cNvPr>
          <p:cNvSpPr txBox="1"/>
          <p:nvPr/>
        </p:nvSpPr>
        <p:spPr>
          <a:xfrm>
            <a:off x="2168489" y="6107598"/>
            <a:ext cx="1384514" cy="276999"/>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dirty="0">
                <a:ln>
                  <a:noFill/>
                </a:ln>
                <a:solidFill>
                  <a:srgbClr val="000000"/>
                </a:solidFill>
                <a:effectLst/>
                <a:highlight>
                  <a:srgbClr val="FFFFFF"/>
                </a:highlight>
                <a:uLnTx/>
                <a:uFillTx/>
                <a:latin typeface="+mn-ea"/>
                <a:cs typeface="+mn-cs"/>
              </a:rPr>
              <a:t>FY23~FY24/4</a:t>
            </a:r>
            <a:endParaRPr kumimoji="1" lang="ja-JP" altLang="en-US" sz="1200" b="1" i="0" u="none" strike="noStrike" kern="1200" cap="none" spc="0" normalizeH="0" baseline="0" noProof="0" dirty="0">
              <a:ln>
                <a:noFill/>
              </a:ln>
              <a:solidFill>
                <a:srgbClr val="000000"/>
              </a:solidFill>
              <a:effectLst/>
              <a:highlight>
                <a:srgbClr val="FFFFFF"/>
              </a:highlight>
              <a:uLnTx/>
              <a:uFillTx/>
              <a:latin typeface="+mn-ea"/>
              <a:cs typeface="+mn-cs"/>
            </a:endParaRPr>
          </a:p>
        </p:txBody>
      </p:sp>
      <p:cxnSp>
        <p:nvCxnSpPr>
          <p:cNvPr id="25" name="直線矢印コネクタ 24">
            <a:extLst>
              <a:ext uri="{FF2B5EF4-FFF2-40B4-BE49-F238E27FC236}">
                <a16:creationId xmlns:a16="http://schemas.microsoft.com/office/drawing/2014/main" id="{AD1A0660-6683-A100-535E-C7DFE8BEB1DC}"/>
              </a:ext>
            </a:extLst>
          </p:cNvPr>
          <p:cNvCxnSpPr>
            <a:cxnSpLocks/>
          </p:cNvCxnSpPr>
          <p:nvPr/>
        </p:nvCxnSpPr>
        <p:spPr>
          <a:xfrm flipH="1" flipV="1">
            <a:off x="4160658" y="2098945"/>
            <a:ext cx="32306" cy="4240171"/>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CFCAA2DA-2818-FC94-E239-94DDE82A7F44}"/>
              </a:ext>
            </a:extLst>
          </p:cNvPr>
          <p:cNvCxnSpPr/>
          <p:nvPr/>
        </p:nvCxnSpPr>
        <p:spPr>
          <a:xfrm flipH="1">
            <a:off x="29173" y="4083759"/>
            <a:ext cx="7668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FA0D2D41-6859-9A81-5F85-A8A14A58C1D9}"/>
              </a:ext>
            </a:extLst>
          </p:cNvPr>
          <p:cNvCxnSpPr>
            <a:cxnSpLocks/>
          </p:cNvCxnSpPr>
          <p:nvPr/>
        </p:nvCxnSpPr>
        <p:spPr>
          <a:xfrm>
            <a:off x="4220838" y="6207919"/>
            <a:ext cx="345065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8DE70A10-1758-45ED-993D-268372B3105F}"/>
              </a:ext>
            </a:extLst>
          </p:cNvPr>
          <p:cNvSpPr txBox="1"/>
          <p:nvPr/>
        </p:nvSpPr>
        <p:spPr>
          <a:xfrm>
            <a:off x="5590999" y="6060939"/>
            <a:ext cx="918841" cy="276999"/>
          </a:xfrm>
          <a:prstGeom prst="rect">
            <a:avLst/>
          </a:prstGeom>
          <a:noFill/>
        </p:spPr>
        <p:txBody>
          <a:bodyPr wrap="non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dirty="0">
                <a:ln>
                  <a:noFill/>
                </a:ln>
                <a:solidFill>
                  <a:srgbClr val="000000"/>
                </a:solidFill>
                <a:effectLst/>
                <a:highlight>
                  <a:srgbClr val="FFFFFF"/>
                </a:highlight>
                <a:uLnTx/>
                <a:uFillTx/>
                <a:latin typeface="+mn-ea"/>
                <a:cs typeface="+mn-cs"/>
              </a:rPr>
              <a:t>FY24/5~</a:t>
            </a:r>
            <a:endParaRPr kumimoji="1" lang="ja-JP" altLang="en-US" sz="1200" b="1" i="0" u="none" strike="noStrike" kern="1200" cap="none" spc="0" normalizeH="0" baseline="0" noProof="0" dirty="0">
              <a:ln>
                <a:noFill/>
              </a:ln>
              <a:solidFill>
                <a:srgbClr val="000000"/>
              </a:solidFill>
              <a:effectLst/>
              <a:highlight>
                <a:srgbClr val="FFFFFF"/>
              </a:highlight>
              <a:uLnTx/>
              <a:uFillTx/>
              <a:latin typeface="+mn-ea"/>
              <a:cs typeface="+mn-cs"/>
            </a:endParaRPr>
          </a:p>
        </p:txBody>
      </p:sp>
      <p:cxnSp>
        <p:nvCxnSpPr>
          <p:cNvPr id="47" name="直線矢印コネクタ 46">
            <a:extLst>
              <a:ext uri="{FF2B5EF4-FFF2-40B4-BE49-F238E27FC236}">
                <a16:creationId xmlns:a16="http://schemas.microsoft.com/office/drawing/2014/main" id="{6228DB4A-E8B4-10F1-9101-DAB63632CF0C}"/>
              </a:ext>
            </a:extLst>
          </p:cNvPr>
          <p:cNvCxnSpPr>
            <a:cxnSpLocks/>
          </p:cNvCxnSpPr>
          <p:nvPr/>
        </p:nvCxnSpPr>
        <p:spPr>
          <a:xfrm flipV="1">
            <a:off x="7697016" y="2098945"/>
            <a:ext cx="0" cy="4210815"/>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sp>
        <p:nvSpPr>
          <p:cNvPr id="52" name="矢印: 五方向 51">
            <a:extLst>
              <a:ext uri="{FF2B5EF4-FFF2-40B4-BE49-F238E27FC236}">
                <a16:creationId xmlns:a16="http://schemas.microsoft.com/office/drawing/2014/main" id="{DC36272B-3146-ADD2-8A66-CD35707D9CF9}"/>
              </a:ext>
            </a:extLst>
          </p:cNvPr>
          <p:cNvSpPr/>
          <p:nvPr/>
        </p:nvSpPr>
        <p:spPr>
          <a:xfrm>
            <a:off x="6258758" y="2758443"/>
            <a:ext cx="1434366" cy="653820"/>
          </a:xfrm>
          <a:prstGeom prst="homePlate">
            <a:avLst>
              <a:gd name="adj" fmla="val 13578"/>
            </a:avLst>
          </a:prstGeom>
          <a:solidFill>
            <a:schemeClr val="accent2">
              <a:lumMod val="75000"/>
            </a:schemeClr>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100" b="1" dirty="0">
                <a:solidFill>
                  <a:schemeClr val="bg1"/>
                </a:solidFill>
                <a:latin typeface="+mn-ea"/>
              </a:rPr>
              <a:t>発電所別の採算・引合費管理サイクル運用</a:t>
            </a:r>
            <a:endParaRPr lang="en-US" altLang="ja-JP" sz="1100" b="1" dirty="0">
              <a:solidFill>
                <a:schemeClr val="bg1"/>
              </a:solidFill>
              <a:latin typeface="+mn-ea"/>
            </a:endParaRPr>
          </a:p>
        </p:txBody>
      </p:sp>
      <p:sp>
        <p:nvSpPr>
          <p:cNvPr id="62" name="四角形: 角を丸くする 61">
            <a:extLst>
              <a:ext uri="{FF2B5EF4-FFF2-40B4-BE49-F238E27FC236}">
                <a16:creationId xmlns:a16="http://schemas.microsoft.com/office/drawing/2014/main" id="{2C626A89-1C03-9D04-8A4C-6CDA92A7F387}"/>
              </a:ext>
            </a:extLst>
          </p:cNvPr>
          <p:cNvSpPr/>
          <p:nvPr/>
        </p:nvSpPr>
        <p:spPr>
          <a:xfrm>
            <a:off x="62790" y="2764969"/>
            <a:ext cx="1404000" cy="664031"/>
          </a:xfrm>
          <a:prstGeom prst="roundRect">
            <a:avLst>
              <a:gd name="adj" fmla="val 0"/>
            </a:avLst>
          </a:prstGeom>
          <a:solidFill>
            <a:schemeClr val="accent2">
              <a:lumMod val="75000"/>
            </a:schemeClr>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100" b="1" dirty="0">
                <a:solidFill>
                  <a:srgbClr val="FFFFFF"/>
                </a:solidFill>
                <a:latin typeface="メイリオ"/>
                <a:ea typeface="メイリオ"/>
              </a:rPr>
              <a:t>PM</a:t>
            </a:r>
            <a:r>
              <a:rPr lang="ja-JP" altLang="en-US" sz="1100" b="1" dirty="0">
                <a:solidFill>
                  <a:srgbClr val="FFFFFF"/>
                </a:solidFill>
                <a:latin typeface="メイリオ"/>
                <a:ea typeface="メイリオ"/>
              </a:rPr>
              <a:t>中心の</a:t>
            </a:r>
            <a:endParaRPr lang="en-US" altLang="ja-JP" sz="1100" b="1" dirty="0">
              <a:solidFill>
                <a:srgbClr val="FFFFFF"/>
              </a:solidFill>
              <a:latin typeface="メイリオ"/>
              <a:ea typeface="メイリオ"/>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srgbClr val="FFFFFF"/>
                </a:solidFill>
                <a:effectLst/>
                <a:uLnTx/>
                <a:uFillTx/>
                <a:latin typeface="メイリオ"/>
                <a:ea typeface="メイリオ"/>
                <a:cs typeface="+mn-cs"/>
              </a:rPr>
              <a:t>マネジメント体制</a:t>
            </a:r>
            <a:endParaRPr lang="en-US" altLang="ja-JP" sz="1100" b="1" dirty="0">
              <a:solidFill>
                <a:srgbClr val="FFFFFF"/>
              </a:solidFill>
              <a:latin typeface="メイリオ"/>
              <a:ea typeface="メイリオ"/>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srgbClr val="FFFFFF"/>
                </a:solidFill>
                <a:effectLst/>
                <a:uLnTx/>
                <a:uFillTx/>
                <a:latin typeface="メイリオ"/>
                <a:ea typeface="メイリオ"/>
                <a:cs typeface="+mn-cs"/>
              </a:rPr>
              <a:t>運用</a:t>
            </a:r>
            <a:endParaRPr kumimoji="1" lang="en-US" altLang="ja-JP" sz="1100" b="1" i="0" u="none" strike="noStrike" kern="1200" cap="none" spc="0" normalizeH="0" baseline="0" noProof="0" dirty="0">
              <a:ln>
                <a:noFill/>
              </a:ln>
              <a:solidFill>
                <a:srgbClr val="FFFFFF"/>
              </a:solidFill>
              <a:effectLst/>
              <a:uLnTx/>
              <a:uFillTx/>
              <a:latin typeface="メイリオ"/>
              <a:ea typeface="メイリオ"/>
              <a:cs typeface="+mn-cs"/>
            </a:endParaRPr>
          </a:p>
        </p:txBody>
      </p:sp>
      <p:cxnSp>
        <p:nvCxnSpPr>
          <p:cNvPr id="63" name="直線コネクタ 62">
            <a:extLst>
              <a:ext uri="{FF2B5EF4-FFF2-40B4-BE49-F238E27FC236}">
                <a16:creationId xmlns:a16="http://schemas.microsoft.com/office/drawing/2014/main" id="{E4CEF35F-55CD-5C76-977C-7E7E9DC2C42E}"/>
              </a:ext>
            </a:extLst>
          </p:cNvPr>
          <p:cNvCxnSpPr/>
          <p:nvPr/>
        </p:nvCxnSpPr>
        <p:spPr>
          <a:xfrm flipH="1">
            <a:off x="29016" y="2758443"/>
            <a:ext cx="7668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A28BF779-0F95-E318-5E2C-21D3B7BFF7C0}"/>
              </a:ext>
            </a:extLst>
          </p:cNvPr>
          <p:cNvCxnSpPr/>
          <p:nvPr/>
        </p:nvCxnSpPr>
        <p:spPr>
          <a:xfrm flipH="1">
            <a:off x="68110" y="2098945"/>
            <a:ext cx="90000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9" name="矢印: 五方向 98">
            <a:extLst>
              <a:ext uri="{FF2B5EF4-FFF2-40B4-BE49-F238E27FC236}">
                <a16:creationId xmlns:a16="http://schemas.microsoft.com/office/drawing/2014/main" id="{D4BDAE1D-C67C-5DC3-7510-D8AD59F919E7}"/>
              </a:ext>
            </a:extLst>
          </p:cNvPr>
          <p:cNvSpPr/>
          <p:nvPr/>
        </p:nvSpPr>
        <p:spPr>
          <a:xfrm>
            <a:off x="1535318" y="5435486"/>
            <a:ext cx="2628000" cy="587171"/>
          </a:xfrm>
          <a:prstGeom prst="homePlate">
            <a:avLst>
              <a:gd name="adj" fmla="val 20853"/>
            </a:avLst>
          </a:prstGeom>
          <a:solidFill>
            <a:schemeClr val="tx2">
              <a:lumMod val="50000"/>
            </a:schemeClr>
          </a:solidFill>
          <a:ln w="19050" cmpd="sng">
            <a:no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srgbClr val="FFFFFF"/>
                </a:solidFill>
                <a:effectLst/>
                <a:uLnTx/>
                <a:uFillTx/>
                <a:latin typeface="メイリオ"/>
                <a:ea typeface="メイリオ"/>
                <a:cs typeface="+mn-cs"/>
              </a:rPr>
              <a:t>1.PM</a:t>
            </a:r>
            <a:r>
              <a:rPr kumimoji="1" lang="ja-JP" altLang="en-US" sz="1100" b="1" i="0" u="none" strike="noStrike" kern="1200" cap="none" spc="0" normalizeH="0" baseline="0" noProof="0" dirty="0">
                <a:ln>
                  <a:noFill/>
                </a:ln>
                <a:solidFill>
                  <a:srgbClr val="FFFFFF"/>
                </a:solidFill>
                <a:effectLst/>
                <a:uLnTx/>
                <a:uFillTx/>
                <a:latin typeface="メイリオ"/>
                <a:ea typeface="メイリオ"/>
                <a:cs typeface="+mn-cs"/>
              </a:rPr>
              <a:t>中心のマネジメント体制再構築</a:t>
            </a:r>
            <a:endParaRPr kumimoji="1" lang="en-US" altLang="ja-JP" sz="11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srgbClr val="FFFFFF"/>
                </a:solidFill>
                <a:effectLst/>
                <a:uLnTx/>
                <a:uFillTx/>
                <a:latin typeface="メイリオ"/>
                <a:ea typeface="メイリオ"/>
                <a:cs typeface="+mn-cs"/>
              </a:rPr>
              <a:t>2.</a:t>
            </a:r>
            <a:r>
              <a:rPr kumimoji="1" lang="ja-JP" altLang="en-US" sz="1100" b="1" i="0" u="none" strike="noStrike" kern="1200" cap="none" spc="0" normalizeH="0" baseline="0" noProof="0" dirty="0">
                <a:ln>
                  <a:noFill/>
                </a:ln>
                <a:solidFill>
                  <a:srgbClr val="FFFFFF"/>
                </a:solidFill>
                <a:effectLst/>
                <a:uLnTx/>
                <a:uFillTx/>
                <a:latin typeface="メイリオ"/>
                <a:ea typeface="メイリオ"/>
                <a:cs typeface="+mn-cs"/>
              </a:rPr>
              <a:t>顧客起点の提案</a:t>
            </a:r>
            <a:endParaRPr kumimoji="1" lang="en-US" altLang="ja-JP" sz="11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srgbClr val="FFFFFF"/>
                </a:solidFill>
                <a:effectLst/>
                <a:uLnTx/>
                <a:uFillTx/>
                <a:latin typeface="メイリオ"/>
                <a:ea typeface="メイリオ"/>
                <a:cs typeface="+mn-cs"/>
              </a:rPr>
              <a:t>3.</a:t>
            </a:r>
            <a:r>
              <a:rPr kumimoji="1" lang="ja-JP" altLang="en-US" sz="1100" b="1" i="0" u="none" strike="noStrike" kern="1200" cap="none" spc="0" normalizeH="0" baseline="0" noProof="0" dirty="0">
                <a:ln>
                  <a:noFill/>
                </a:ln>
                <a:solidFill>
                  <a:srgbClr val="FFFFFF"/>
                </a:solidFill>
                <a:effectLst/>
                <a:uLnTx/>
                <a:uFillTx/>
                <a:latin typeface="メイリオ"/>
                <a:ea typeface="メイリオ"/>
                <a:cs typeface="+mn-cs"/>
              </a:rPr>
              <a:t>多能工化</a:t>
            </a:r>
            <a:r>
              <a:rPr kumimoji="1" lang="en-US" altLang="ja-JP" sz="1100" b="1" i="0" u="none" strike="noStrike" kern="1200" cap="none" spc="0" normalizeH="0" baseline="0" noProof="0" dirty="0">
                <a:ln>
                  <a:noFill/>
                </a:ln>
                <a:solidFill>
                  <a:srgbClr val="FFFFFF"/>
                </a:solidFill>
                <a:effectLst/>
                <a:uLnTx/>
                <a:uFillTx/>
                <a:latin typeface="メイリオ"/>
                <a:ea typeface="メイリオ"/>
                <a:cs typeface="+mn-cs"/>
              </a:rPr>
              <a:t>/AS</a:t>
            </a:r>
            <a:r>
              <a:rPr kumimoji="1" lang="ja-JP" altLang="en-US" sz="1100" b="1" i="0" u="none" strike="noStrike" kern="1200" cap="none" spc="0" normalizeH="0" baseline="0" noProof="0" dirty="0">
                <a:ln>
                  <a:noFill/>
                </a:ln>
                <a:solidFill>
                  <a:srgbClr val="FFFFFF"/>
                </a:solidFill>
                <a:effectLst/>
                <a:uLnTx/>
                <a:uFillTx/>
                <a:latin typeface="メイリオ"/>
                <a:ea typeface="メイリオ"/>
                <a:cs typeface="+mn-cs"/>
              </a:rPr>
              <a:t>従事比率・直工率向上</a:t>
            </a:r>
            <a:endParaRPr kumimoji="1" lang="en-US" altLang="ja-JP" sz="1100" b="1" i="0" u="none" strike="noStrike" kern="1200" cap="none" spc="0" normalizeH="0" baseline="0" noProof="0" dirty="0">
              <a:ln>
                <a:noFill/>
              </a:ln>
              <a:solidFill>
                <a:srgbClr val="FFFFFF"/>
              </a:solidFill>
              <a:effectLst/>
              <a:uLnTx/>
              <a:uFillTx/>
              <a:latin typeface="+mn-ea"/>
              <a:cs typeface="+mn-cs"/>
            </a:endParaRPr>
          </a:p>
        </p:txBody>
      </p:sp>
      <p:sp>
        <p:nvSpPr>
          <p:cNvPr id="136" name="右中かっこ 135">
            <a:extLst>
              <a:ext uri="{FF2B5EF4-FFF2-40B4-BE49-F238E27FC236}">
                <a16:creationId xmlns:a16="http://schemas.microsoft.com/office/drawing/2014/main" id="{B660C1B1-26A2-4181-FB93-05AC0C967EA6}"/>
              </a:ext>
            </a:extLst>
          </p:cNvPr>
          <p:cNvSpPr/>
          <p:nvPr/>
        </p:nvSpPr>
        <p:spPr>
          <a:xfrm>
            <a:off x="4267384" y="4119750"/>
            <a:ext cx="117304" cy="1845390"/>
          </a:xfrm>
          <a:prstGeom prst="rightBrace">
            <a:avLst>
              <a:gd name="adj1" fmla="val 8333"/>
              <a:gd name="adj2" fmla="val 69009"/>
            </a:avLst>
          </a:prstGeom>
          <a:ln/>
        </p:spPr>
        <p:style>
          <a:lnRef idx="1">
            <a:schemeClr val="accent5"/>
          </a:lnRef>
          <a:fillRef idx="0">
            <a:schemeClr val="accent5"/>
          </a:fillRef>
          <a:effectRef idx="0">
            <a:schemeClr val="accent5"/>
          </a:effectRef>
          <a:fontRef idx="minor">
            <a:schemeClr val="tx1"/>
          </a:fontRef>
        </p:style>
        <p:txBody>
          <a:bodyPr rtlCol="0" anchor="ctr"/>
          <a:lstStyle/>
          <a:p>
            <a:pPr algn="ctr"/>
            <a:endParaRPr kumimoji="1" lang="ja-JP" altLang="en-US"/>
          </a:p>
        </p:txBody>
      </p:sp>
      <p:sp>
        <p:nvSpPr>
          <p:cNvPr id="2" name="タイトル 4">
            <a:extLst>
              <a:ext uri="{FF2B5EF4-FFF2-40B4-BE49-F238E27FC236}">
                <a16:creationId xmlns:a16="http://schemas.microsoft.com/office/drawing/2014/main" id="{546E922F-57E3-494A-98EE-E1ECEE547709}"/>
              </a:ext>
            </a:extLst>
          </p:cNvPr>
          <p:cNvSpPr txBox="1">
            <a:spLocks/>
          </p:cNvSpPr>
          <p:nvPr/>
        </p:nvSpPr>
        <p:spPr>
          <a:xfrm>
            <a:off x="-162771" y="1703859"/>
            <a:ext cx="3390856" cy="349961"/>
          </a:xfrm>
          <a:prstGeom prst="rect">
            <a:avLst/>
          </a:prstGeom>
        </p:spPr>
        <p:txBody>
          <a:bodyPr/>
          <a:lst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a:lstStyle>
          <a:p>
            <a:r>
              <a:rPr lang="en-US" altLang="ja-JP" sz="1800" b="1" dirty="0">
                <a:latin typeface="+mj-ea"/>
              </a:rPr>
              <a:t>【WP</a:t>
            </a:r>
            <a:r>
              <a:rPr lang="ja-JP" altLang="en-US" sz="1800" b="1" dirty="0">
                <a:latin typeface="+mj-ea"/>
              </a:rPr>
              <a:t>プロジェクトの全体像</a:t>
            </a:r>
            <a:r>
              <a:rPr lang="en-US" altLang="ja-JP" sz="1800" b="1" dirty="0">
                <a:latin typeface="+mj-ea"/>
              </a:rPr>
              <a:t>】</a:t>
            </a:r>
            <a:endParaRPr lang="ja-JP" altLang="en-US" sz="1800" b="1" dirty="0">
              <a:latin typeface="+mj-ea"/>
            </a:endParaRPr>
          </a:p>
        </p:txBody>
      </p:sp>
      <p:sp>
        <p:nvSpPr>
          <p:cNvPr id="3" name="正方形/長方形 2">
            <a:extLst>
              <a:ext uri="{FF2B5EF4-FFF2-40B4-BE49-F238E27FC236}">
                <a16:creationId xmlns:a16="http://schemas.microsoft.com/office/drawing/2014/main" id="{7CF1EB69-9019-8585-5169-FCEE7BF1634B}"/>
              </a:ext>
            </a:extLst>
          </p:cNvPr>
          <p:cNvSpPr/>
          <p:nvPr/>
        </p:nvSpPr>
        <p:spPr>
          <a:xfrm>
            <a:off x="5089125" y="4237442"/>
            <a:ext cx="2447542" cy="654760"/>
          </a:xfrm>
          <a:prstGeom prst="rect">
            <a:avLst/>
          </a:prstGeom>
          <a:solidFill>
            <a:srgbClr val="FFFF00"/>
          </a:solid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ja-JP" altLang="en-US" sz="1050" dirty="0">
                <a:solidFill>
                  <a:schemeClr val="tx1"/>
                </a:solidFill>
                <a:latin typeface="+mn-ea"/>
              </a:rPr>
              <a:t>フェーズ</a:t>
            </a:r>
            <a:r>
              <a:rPr lang="en-US" altLang="ja-JP" sz="1050" dirty="0">
                <a:solidFill>
                  <a:schemeClr val="tx1"/>
                </a:solidFill>
                <a:latin typeface="+mn-ea"/>
              </a:rPr>
              <a:t>3</a:t>
            </a:r>
            <a:r>
              <a:rPr lang="ja-JP" altLang="en-US" sz="1050" dirty="0">
                <a:solidFill>
                  <a:schemeClr val="tx1"/>
                </a:solidFill>
                <a:latin typeface="+mn-ea"/>
              </a:rPr>
              <a:t>：</a:t>
            </a:r>
            <a:r>
              <a:rPr lang="en-US" altLang="ja-JP" sz="1050" dirty="0">
                <a:solidFill>
                  <a:schemeClr val="tx1"/>
                </a:solidFill>
                <a:latin typeface="+mn-ea"/>
              </a:rPr>
              <a:t>8/9</a:t>
            </a:r>
            <a:r>
              <a:rPr lang="ja-JP" altLang="en-US" sz="1050" dirty="0">
                <a:solidFill>
                  <a:schemeClr val="tx1"/>
                </a:solidFill>
                <a:latin typeface="+mn-ea"/>
              </a:rPr>
              <a:t>が一旦の区切り</a:t>
            </a:r>
            <a:endParaRPr kumimoji="1" lang="en-US" altLang="ja-JP" sz="1050" dirty="0">
              <a:solidFill>
                <a:schemeClr val="tx1"/>
              </a:solidFill>
              <a:latin typeface="+mn-ea"/>
            </a:endParaRPr>
          </a:p>
          <a:p>
            <a:pPr algn="l"/>
            <a:r>
              <a:rPr kumimoji="1" lang="ja-JP" altLang="en-US" sz="1050" dirty="0">
                <a:solidFill>
                  <a:schemeClr val="tx1"/>
                </a:solidFill>
                <a:latin typeface="+mn-ea"/>
              </a:rPr>
              <a:t>・</a:t>
            </a:r>
            <a:r>
              <a:rPr kumimoji="1" lang="en-US" altLang="ja-JP" sz="1050" dirty="0" err="1">
                <a:solidFill>
                  <a:schemeClr val="tx1"/>
                </a:solidFill>
                <a:latin typeface="+mn-ea"/>
              </a:rPr>
              <a:t>ToBe</a:t>
            </a:r>
            <a:r>
              <a:rPr kumimoji="1" lang="ja-JP" altLang="en-US" sz="1050" dirty="0">
                <a:solidFill>
                  <a:schemeClr val="tx1"/>
                </a:solidFill>
                <a:latin typeface="+mn-ea"/>
              </a:rPr>
              <a:t>業務フローの明確化</a:t>
            </a:r>
            <a:r>
              <a:rPr lang="ja-JP" altLang="en-US" sz="1050" dirty="0">
                <a:solidFill>
                  <a:schemeClr val="tx1"/>
                </a:solidFill>
                <a:latin typeface="+mn-ea"/>
              </a:rPr>
              <a:t>、</a:t>
            </a:r>
            <a:endParaRPr kumimoji="1" lang="en-US" altLang="ja-JP" sz="1050" dirty="0">
              <a:solidFill>
                <a:schemeClr val="tx1"/>
              </a:solidFill>
              <a:latin typeface="+mn-ea"/>
            </a:endParaRPr>
          </a:p>
          <a:p>
            <a:pPr algn="l"/>
            <a:r>
              <a:rPr lang="ja-JP" altLang="en-US" sz="1050" dirty="0">
                <a:solidFill>
                  <a:schemeClr val="tx1"/>
                </a:solidFill>
                <a:latin typeface="+mn-ea"/>
              </a:rPr>
              <a:t>　運用開始する為の準備完了</a:t>
            </a:r>
            <a:endParaRPr lang="en-US" altLang="ja-JP" sz="1050" dirty="0">
              <a:solidFill>
                <a:schemeClr val="tx1"/>
              </a:solidFill>
              <a:latin typeface="+mn-ea"/>
            </a:endParaRPr>
          </a:p>
        </p:txBody>
      </p:sp>
      <p:sp>
        <p:nvSpPr>
          <p:cNvPr id="6" name="テキスト ボックス 5">
            <a:extLst>
              <a:ext uri="{FF2B5EF4-FFF2-40B4-BE49-F238E27FC236}">
                <a16:creationId xmlns:a16="http://schemas.microsoft.com/office/drawing/2014/main" id="{C65310F6-347D-F207-BA80-A921D3403362}"/>
              </a:ext>
            </a:extLst>
          </p:cNvPr>
          <p:cNvSpPr txBox="1"/>
          <p:nvPr/>
        </p:nvSpPr>
        <p:spPr>
          <a:xfrm>
            <a:off x="4989007" y="5766792"/>
            <a:ext cx="638316" cy="276999"/>
          </a:xfrm>
          <a:prstGeom prst="rect">
            <a:avLst/>
          </a:prstGeom>
          <a:noFill/>
        </p:spPr>
        <p:txBody>
          <a:bodyPr wrap="non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dirty="0">
                <a:ln>
                  <a:noFill/>
                </a:ln>
                <a:solidFill>
                  <a:srgbClr val="000000"/>
                </a:solidFill>
                <a:effectLst/>
                <a:highlight>
                  <a:srgbClr val="FFFFFF"/>
                </a:highlight>
                <a:uLnTx/>
                <a:uFillTx/>
                <a:latin typeface="+mn-ea"/>
                <a:cs typeface="+mn-cs"/>
              </a:rPr>
              <a:t>～</a:t>
            </a:r>
            <a:r>
              <a:rPr kumimoji="1" lang="en-US" altLang="ja-JP" sz="1200" b="1" i="0" u="none" strike="noStrike" kern="1200" cap="none" spc="0" normalizeH="0" baseline="0" noProof="0" dirty="0">
                <a:ln>
                  <a:noFill/>
                </a:ln>
                <a:solidFill>
                  <a:srgbClr val="000000"/>
                </a:solidFill>
                <a:effectLst/>
                <a:highlight>
                  <a:srgbClr val="FFFFFF"/>
                </a:highlight>
                <a:uLnTx/>
                <a:uFillTx/>
                <a:latin typeface="+mn-ea"/>
                <a:cs typeface="+mn-cs"/>
              </a:rPr>
              <a:t>8/9</a:t>
            </a:r>
            <a:endParaRPr kumimoji="1" lang="ja-JP" altLang="en-US" sz="1200" b="1" i="0" u="none" strike="noStrike" kern="1200" cap="none" spc="0" normalizeH="0" baseline="0" noProof="0" dirty="0">
              <a:ln>
                <a:noFill/>
              </a:ln>
              <a:solidFill>
                <a:srgbClr val="000000"/>
              </a:solidFill>
              <a:effectLst/>
              <a:highlight>
                <a:srgbClr val="FFFFFF"/>
              </a:highlight>
              <a:uLnTx/>
              <a:uFillTx/>
              <a:latin typeface="+mn-ea"/>
              <a:cs typeface="+mn-cs"/>
            </a:endParaRPr>
          </a:p>
        </p:txBody>
      </p:sp>
      <p:cxnSp>
        <p:nvCxnSpPr>
          <p:cNvPr id="5" name="直線矢印コネクタ 4">
            <a:extLst>
              <a:ext uri="{FF2B5EF4-FFF2-40B4-BE49-F238E27FC236}">
                <a16:creationId xmlns:a16="http://schemas.microsoft.com/office/drawing/2014/main" id="{738D8B00-1B71-5756-4BD5-408E8126AF85}"/>
              </a:ext>
            </a:extLst>
          </p:cNvPr>
          <p:cNvCxnSpPr>
            <a:cxnSpLocks/>
          </p:cNvCxnSpPr>
          <p:nvPr/>
        </p:nvCxnSpPr>
        <p:spPr>
          <a:xfrm flipH="1" flipV="1">
            <a:off x="5054958" y="2084266"/>
            <a:ext cx="32306" cy="3941858"/>
          </a:xfrm>
          <a:prstGeom prst="straightConnector1">
            <a:avLst/>
          </a:prstGeom>
          <a:ln w="28575">
            <a:solidFill>
              <a:schemeClr val="accent1"/>
            </a:solidFill>
            <a:tailEnd type="none"/>
          </a:ln>
        </p:spPr>
        <p:style>
          <a:lnRef idx="1">
            <a:schemeClr val="accent5"/>
          </a:lnRef>
          <a:fillRef idx="0">
            <a:schemeClr val="accent5"/>
          </a:fillRef>
          <a:effectRef idx="0">
            <a:schemeClr val="accent5"/>
          </a:effectRef>
          <a:fontRef idx="minor">
            <a:schemeClr val="tx1"/>
          </a:fontRef>
        </p:style>
      </p:cxnSp>
      <p:sp>
        <p:nvSpPr>
          <p:cNvPr id="8" name="テキスト ボックス 7">
            <a:extLst>
              <a:ext uri="{FF2B5EF4-FFF2-40B4-BE49-F238E27FC236}">
                <a16:creationId xmlns:a16="http://schemas.microsoft.com/office/drawing/2014/main" id="{490106F8-50BD-12F9-E553-A2D8B3B30D7F}"/>
              </a:ext>
            </a:extLst>
          </p:cNvPr>
          <p:cNvSpPr txBox="1"/>
          <p:nvPr/>
        </p:nvSpPr>
        <p:spPr>
          <a:xfrm>
            <a:off x="4284258" y="2925160"/>
            <a:ext cx="588624" cy="276999"/>
          </a:xfrm>
          <a:prstGeom prst="rect">
            <a:avLst/>
          </a:prstGeom>
          <a:noFill/>
        </p:spPr>
        <p:txBody>
          <a:bodyPr wrap="non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dirty="0">
                <a:ln>
                  <a:noFill/>
                </a:ln>
                <a:solidFill>
                  <a:srgbClr val="FF0000"/>
                </a:solidFill>
                <a:effectLst/>
                <a:highlight>
                  <a:srgbClr val="FFFFFF"/>
                </a:highlight>
                <a:uLnTx/>
                <a:uFillTx/>
                <a:latin typeface="+mn-ea"/>
                <a:cs typeface="+mn-cs"/>
              </a:rPr>
              <a:t>6/25</a:t>
            </a:r>
            <a:endParaRPr kumimoji="1" lang="ja-JP" altLang="en-US" sz="1200" b="1" i="0" u="none" strike="noStrike" kern="1200" cap="none" spc="0" normalizeH="0" baseline="0" noProof="0" dirty="0">
              <a:ln>
                <a:noFill/>
              </a:ln>
              <a:solidFill>
                <a:srgbClr val="FF0000"/>
              </a:solidFill>
              <a:effectLst/>
              <a:highlight>
                <a:srgbClr val="FFFFFF"/>
              </a:highlight>
              <a:uLnTx/>
              <a:uFillTx/>
              <a:latin typeface="+mn-ea"/>
              <a:cs typeface="+mn-cs"/>
            </a:endParaRPr>
          </a:p>
        </p:txBody>
      </p:sp>
      <p:sp>
        <p:nvSpPr>
          <p:cNvPr id="139" name="テキスト ボックス 138">
            <a:extLst>
              <a:ext uri="{FF2B5EF4-FFF2-40B4-BE49-F238E27FC236}">
                <a16:creationId xmlns:a16="http://schemas.microsoft.com/office/drawing/2014/main" id="{A71113AB-1BC0-8242-9B52-3FF7C76C6A62}"/>
              </a:ext>
            </a:extLst>
          </p:cNvPr>
          <p:cNvSpPr txBox="1"/>
          <p:nvPr/>
        </p:nvSpPr>
        <p:spPr>
          <a:xfrm>
            <a:off x="4277430" y="3127852"/>
            <a:ext cx="1555901" cy="276999"/>
          </a:xfrm>
          <a:prstGeom prst="rect">
            <a:avLst/>
          </a:prstGeom>
          <a:noFill/>
        </p:spPr>
        <p:txBody>
          <a:bodyPr wrap="square" rtlCol="0">
            <a:spAutoFit/>
          </a:bodyPr>
          <a:lstStyle/>
          <a:p>
            <a:r>
              <a:rPr lang="ja-JP" altLang="en-US" sz="1200" dirty="0">
                <a:solidFill>
                  <a:srgbClr val="FF0000"/>
                </a:solidFill>
                <a:highlight>
                  <a:srgbClr val="FFFFFF"/>
                </a:highlight>
                <a:latin typeface="+mn-ea"/>
              </a:rPr>
              <a:t>本日は途中経過報告</a:t>
            </a:r>
            <a:endParaRPr kumimoji="1" lang="ja-JP" altLang="en-US" sz="1200" dirty="0">
              <a:solidFill>
                <a:srgbClr val="FF0000"/>
              </a:solidFill>
              <a:highlight>
                <a:srgbClr val="FFFFFF"/>
              </a:highlight>
              <a:latin typeface="+mn-ea"/>
            </a:endParaRPr>
          </a:p>
        </p:txBody>
      </p:sp>
      <p:sp>
        <p:nvSpPr>
          <p:cNvPr id="9" name="矢印: 五方向 8">
            <a:extLst>
              <a:ext uri="{FF2B5EF4-FFF2-40B4-BE49-F238E27FC236}">
                <a16:creationId xmlns:a16="http://schemas.microsoft.com/office/drawing/2014/main" id="{505A5AD8-E02F-7509-A93C-B13AA0E169F1}"/>
              </a:ext>
            </a:extLst>
          </p:cNvPr>
          <p:cNvSpPr/>
          <p:nvPr/>
        </p:nvSpPr>
        <p:spPr>
          <a:xfrm>
            <a:off x="4163319" y="3826550"/>
            <a:ext cx="877166" cy="253211"/>
          </a:xfrm>
          <a:prstGeom prst="homePlate">
            <a:avLst>
              <a:gd name="adj" fmla="val 42528"/>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100" b="1" dirty="0">
                <a:solidFill>
                  <a:schemeClr val="bg1"/>
                </a:solidFill>
                <a:latin typeface="+mn-ea"/>
              </a:rPr>
              <a:t>実行準備</a:t>
            </a:r>
            <a:endParaRPr kumimoji="1" lang="en-US" altLang="ja-JP" sz="1100" b="1" i="0" u="none" strike="noStrike" kern="1200" cap="none" spc="0" normalizeH="0" baseline="0" noProof="0" dirty="0">
              <a:ln>
                <a:noFill/>
              </a:ln>
              <a:solidFill>
                <a:schemeClr val="bg1"/>
              </a:solidFill>
              <a:effectLst/>
              <a:uLnTx/>
              <a:uFillTx/>
              <a:latin typeface="+mn-ea"/>
              <a:cs typeface="+mn-cs"/>
            </a:endParaRPr>
          </a:p>
        </p:txBody>
      </p:sp>
      <p:sp>
        <p:nvSpPr>
          <p:cNvPr id="11" name="矢印: 五方向 10">
            <a:extLst>
              <a:ext uri="{FF2B5EF4-FFF2-40B4-BE49-F238E27FC236}">
                <a16:creationId xmlns:a16="http://schemas.microsoft.com/office/drawing/2014/main" id="{65A83A23-AD93-F288-428B-BE8AF6AE56F2}"/>
              </a:ext>
            </a:extLst>
          </p:cNvPr>
          <p:cNvSpPr/>
          <p:nvPr/>
        </p:nvSpPr>
        <p:spPr>
          <a:xfrm>
            <a:off x="5053250" y="3819936"/>
            <a:ext cx="1205508" cy="261824"/>
          </a:xfrm>
          <a:prstGeom prst="homePlate">
            <a:avLst>
              <a:gd name="adj" fmla="val 45919"/>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100" b="1" dirty="0">
                <a:solidFill>
                  <a:schemeClr val="bg1"/>
                </a:solidFill>
                <a:latin typeface="+mn-ea"/>
              </a:rPr>
              <a:t>実行</a:t>
            </a:r>
            <a:endParaRPr kumimoji="1" lang="en-US" altLang="ja-JP" sz="1100" b="1" i="0" u="none" strike="noStrike" kern="1200" cap="none" spc="0" normalizeH="0" baseline="0" noProof="0" dirty="0">
              <a:ln>
                <a:noFill/>
              </a:ln>
              <a:solidFill>
                <a:schemeClr val="bg1"/>
              </a:solidFill>
              <a:effectLst/>
              <a:uLnTx/>
              <a:uFillTx/>
              <a:latin typeface="+mn-ea"/>
              <a:cs typeface="+mn-cs"/>
            </a:endParaRPr>
          </a:p>
        </p:txBody>
      </p:sp>
      <p:sp>
        <p:nvSpPr>
          <p:cNvPr id="137" name="テキスト ボックス 136">
            <a:extLst>
              <a:ext uri="{FF2B5EF4-FFF2-40B4-BE49-F238E27FC236}">
                <a16:creationId xmlns:a16="http://schemas.microsoft.com/office/drawing/2014/main" id="{727282E4-4B26-1E8B-0D5C-D4A7C43F88DA}"/>
              </a:ext>
            </a:extLst>
          </p:cNvPr>
          <p:cNvSpPr txBox="1"/>
          <p:nvPr/>
        </p:nvSpPr>
        <p:spPr>
          <a:xfrm>
            <a:off x="4364816" y="5120744"/>
            <a:ext cx="2888369" cy="461665"/>
          </a:xfrm>
          <a:prstGeom prst="rect">
            <a:avLst/>
          </a:prstGeom>
          <a:noFill/>
        </p:spPr>
        <p:txBody>
          <a:bodyPr wrap="square" rtlCol="0">
            <a:spAutoFit/>
          </a:bodyPr>
          <a:lstStyle/>
          <a:p>
            <a:r>
              <a:rPr lang="ja-JP" altLang="en-US" sz="1200" dirty="0">
                <a:solidFill>
                  <a:srgbClr val="FF0000"/>
                </a:solidFill>
                <a:highlight>
                  <a:srgbClr val="FFFFFF"/>
                </a:highlight>
                <a:latin typeface="+mn-ea"/>
              </a:rPr>
              <a:t>フェーズ２までの検討事項の</a:t>
            </a:r>
            <a:endParaRPr lang="en-US" altLang="ja-JP" sz="1200" dirty="0">
              <a:solidFill>
                <a:srgbClr val="FF0000"/>
              </a:solidFill>
              <a:highlight>
                <a:srgbClr val="FFFFFF"/>
              </a:highlight>
              <a:latin typeface="+mn-ea"/>
            </a:endParaRPr>
          </a:p>
          <a:p>
            <a:r>
              <a:rPr lang="ja-JP" altLang="en-US" sz="1200" dirty="0">
                <a:solidFill>
                  <a:srgbClr val="FF0000"/>
                </a:solidFill>
                <a:highlight>
                  <a:srgbClr val="FFFFFF"/>
                </a:highlight>
                <a:latin typeface="+mn-ea"/>
              </a:rPr>
              <a:t>運用・運用準備状況の報告</a:t>
            </a:r>
            <a:endParaRPr kumimoji="1" lang="ja-JP" altLang="en-US" sz="1200" dirty="0">
              <a:solidFill>
                <a:srgbClr val="FF0000"/>
              </a:solidFill>
              <a:highlight>
                <a:srgbClr val="FFFFFF"/>
              </a:highlight>
              <a:latin typeface="+mn-ea"/>
            </a:endParaRPr>
          </a:p>
        </p:txBody>
      </p:sp>
      <p:sp>
        <p:nvSpPr>
          <p:cNvPr id="28" name="矢印: 五方向 27">
            <a:extLst>
              <a:ext uri="{FF2B5EF4-FFF2-40B4-BE49-F238E27FC236}">
                <a16:creationId xmlns:a16="http://schemas.microsoft.com/office/drawing/2014/main" id="{D01C7291-80E8-1578-5576-9ED4918C1874}"/>
              </a:ext>
            </a:extLst>
          </p:cNvPr>
          <p:cNvSpPr/>
          <p:nvPr/>
        </p:nvSpPr>
        <p:spPr>
          <a:xfrm>
            <a:off x="4169213" y="3412012"/>
            <a:ext cx="2138461" cy="414539"/>
          </a:xfrm>
          <a:prstGeom prst="homePlate">
            <a:avLst>
              <a:gd name="adj" fmla="val 12012"/>
            </a:avLst>
          </a:prstGeom>
          <a:solidFill>
            <a:schemeClr val="accent2">
              <a:lumMod val="50000"/>
            </a:schemeClr>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100" b="1" dirty="0">
                <a:solidFill>
                  <a:schemeClr val="bg1"/>
                </a:solidFill>
                <a:latin typeface="+mn-ea"/>
              </a:rPr>
              <a:t>①</a:t>
            </a:r>
            <a:r>
              <a:rPr kumimoji="1" lang="ja-JP" altLang="en-US" sz="1100" b="1" i="0" u="none" strike="noStrike" kern="1200" cap="none" spc="0" normalizeH="0" baseline="0" noProof="0" dirty="0">
                <a:ln>
                  <a:noFill/>
                </a:ln>
                <a:solidFill>
                  <a:schemeClr val="bg1"/>
                </a:solidFill>
                <a:effectLst/>
                <a:uLnTx/>
                <a:uFillTx/>
                <a:latin typeface="+mn-ea"/>
                <a:cs typeface="+mn-cs"/>
              </a:rPr>
              <a:t>見積</a:t>
            </a:r>
            <a:r>
              <a:rPr kumimoji="1" lang="en-US" altLang="ja-JP" sz="1100" b="1" i="0" u="none" strike="noStrike" kern="1200" cap="none" spc="0" normalizeH="0" baseline="0" noProof="0" dirty="0">
                <a:ln>
                  <a:noFill/>
                </a:ln>
                <a:solidFill>
                  <a:schemeClr val="bg1"/>
                </a:solidFill>
                <a:effectLst/>
                <a:uLnTx/>
                <a:uFillTx/>
                <a:latin typeface="+mn-ea"/>
                <a:cs typeface="+mn-cs"/>
              </a:rPr>
              <a:t>/</a:t>
            </a:r>
            <a:r>
              <a:rPr kumimoji="1" lang="ja-JP" altLang="en-US" sz="1100" b="1" i="0" u="none" strike="noStrike" kern="1200" cap="none" spc="0" normalizeH="0" baseline="0" noProof="0" dirty="0">
                <a:ln>
                  <a:noFill/>
                </a:ln>
                <a:solidFill>
                  <a:schemeClr val="bg1"/>
                </a:solidFill>
                <a:effectLst/>
                <a:uLnTx/>
                <a:uFillTx/>
                <a:latin typeface="+mn-ea"/>
                <a:cs typeface="+mn-cs"/>
              </a:rPr>
              <a:t>実行フォロ</a:t>
            </a:r>
            <a:r>
              <a:rPr lang="ja-JP" altLang="en-US" sz="1100" b="1" dirty="0">
                <a:solidFill>
                  <a:schemeClr val="bg1"/>
                </a:solidFill>
                <a:latin typeface="+mn-ea"/>
              </a:rPr>
              <a:t>業務</a:t>
            </a:r>
            <a:endParaRPr lang="en-US" altLang="ja-JP" sz="1100" b="1" dirty="0">
              <a:solidFill>
                <a:schemeClr val="bg1"/>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100" b="1" dirty="0">
                <a:solidFill>
                  <a:schemeClr val="bg1"/>
                </a:solidFill>
                <a:latin typeface="+mn-ea"/>
              </a:rPr>
              <a:t>②設計業務</a:t>
            </a:r>
            <a:endParaRPr kumimoji="1" lang="en-US" altLang="ja-JP" sz="1100" b="1" i="0" u="none" strike="noStrike" kern="1200" cap="none" spc="0" normalizeH="0" baseline="0" noProof="0" dirty="0">
              <a:ln>
                <a:noFill/>
              </a:ln>
              <a:solidFill>
                <a:schemeClr val="bg1"/>
              </a:solidFill>
              <a:effectLst/>
              <a:uLnTx/>
              <a:uFillTx/>
              <a:latin typeface="+mn-ea"/>
              <a:cs typeface="+mn-cs"/>
            </a:endParaRPr>
          </a:p>
        </p:txBody>
      </p:sp>
    </p:spTree>
    <p:extLst>
      <p:ext uri="{BB962C8B-B14F-4D97-AF65-F5344CB8AC3E}">
        <p14:creationId xmlns:p14="http://schemas.microsoft.com/office/powerpoint/2010/main" val="4232267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4">
            <a:extLst>
              <a:ext uri="{FF2B5EF4-FFF2-40B4-BE49-F238E27FC236}">
                <a16:creationId xmlns:a16="http://schemas.microsoft.com/office/drawing/2014/main" id="{B7ABC962-458D-6A99-FF9B-AB6500A9B013}"/>
              </a:ext>
            </a:extLst>
          </p:cNvPr>
          <p:cNvSpPr txBox="1">
            <a:spLocks/>
          </p:cNvSpPr>
          <p:nvPr/>
        </p:nvSpPr>
        <p:spPr>
          <a:xfrm>
            <a:off x="248234" y="135110"/>
            <a:ext cx="7227899" cy="349961"/>
          </a:xfrm>
          <a:prstGeom prst="rect">
            <a:avLst/>
          </a:prstGeom>
        </p:spPr>
        <p:txBody>
          <a:bodyPr/>
          <a:lst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lang="ja-JP" altLang="en-US" sz="1800" b="1" dirty="0">
                <a:solidFill>
                  <a:srgbClr val="000000"/>
                </a:solidFill>
                <a:latin typeface="メイリオ"/>
                <a:ea typeface="メイリオ"/>
              </a:rPr>
              <a:t>２</a:t>
            </a:r>
            <a:r>
              <a:rPr kumimoji="1" lang="ja-JP" altLang="en-US" sz="1800" b="1" i="0" u="none" strike="noStrike" kern="1200" cap="none" spc="0" normalizeH="0" baseline="0" noProof="0" dirty="0">
                <a:ln>
                  <a:noFill/>
                </a:ln>
                <a:solidFill>
                  <a:srgbClr val="000000"/>
                </a:solidFill>
                <a:effectLst/>
                <a:uLnTx/>
                <a:uFillTx/>
                <a:latin typeface="メイリオ"/>
                <a:ea typeface="メイリオ"/>
                <a:cs typeface="+mj-cs"/>
              </a:rPr>
              <a:t>．</a:t>
            </a:r>
            <a:r>
              <a:rPr kumimoji="1" lang="en-US" altLang="ja-JP" sz="1800" b="1" i="0" u="none" strike="noStrike" kern="1200" cap="none" spc="0" normalizeH="0" baseline="0" noProof="0" dirty="0">
                <a:ln>
                  <a:noFill/>
                </a:ln>
                <a:solidFill>
                  <a:srgbClr val="000000"/>
                </a:solidFill>
                <a:effectLst/>
                <a:uLnTx/>
                <a:uFillTx/>
                <a:latin typeface="メイリオ"/>
                <a:ea typeface="メイリオ"/>
                <a:cs typeface="+mj-cs"/>
              </a:rPr>
              <a:t>AS</a:t>
            </a:r>
            <a:r>
              <a:rPr kumimoji="1" lang="ja-JP" altLang="en-US" sz="1800" b="1" i="0" u="none" strike="noStrike" kern="1200" cap="none" spc="0" normalizeH="0" baseline="0" noProof="0" dirty="0">
                <a:ln>
                  <a:noFill/>
                </a:ln>
                <a:solidFill>
                  <a:srgbClr val="000000"/>
                </a:solidFill>
                <a:effectLst/>
                <a:uLnTx/>
                <a:uFillTx/>
                <a:latin typeface="メイリオ"/>
                <a:ea typeface="メイリオ"/>
                <a:cs typeface="+mj-cs"/>
              </a:rPr>
              <a:t>事業の目標とする姿と各取組み項目との関連（振返り）</a:t>
            </a:r>
          </a:p>
        </p:txBody>
      </p:sp>
      <p:grpSp>
        <p:nvGrpSpPr>
          <p:cNvPr id="21" name="グループ化 20">
            <a:extLst>
              <a:ext uri="{FF2B5EF4-FFF2-40B4-BE49-F238E27FC236}">
                <a16:creationId xmlns:a16="http://schemas.microsoft.com/office/drawing/2014/main" id="{AD12E80C-8E60-8184-0BDA-94E23440551C}"/>
              </a:ext>
            </a:extLst>
          </p:cNvPr>
          <p:cNvGrpSpPr/>
          <p:nvPr/>
        </p:nvGrpSpPr>
        <p:grpSpPr>
          <a:xfrm>
            <a:off x="413480" y="4669364"/>
            <a:ext cx="7489978" cy="1363424"/>
            <a:chOff x="510139" y="1820551"/>
            <a:chExt cx="7489978" cy="1363424"/>
          </a:xfrm>
        </p:grpSpPr>
        <p:sp>
          <p:nvSpPr>
            <p:cNvPr id="4" name="四角形: 角を丸くする 3">
              <a:extLst>
                <a:ext uri="{FF2B5EF4-FFF2-40B4-BE49-F238E27FC236}">
                  <a16:creationId xmlns:a16="http://schemas.microsoft.com/office/drawing/2014/main" id="{516297A3-0D0A-CC84-900A-FC09177FCEE4}"/>
                </a:ext>
              </a:extLst>
            </p:cNvPr>
            <p:cNvSpPr/>
            <p:nvPr/>
          </p:nvSpPr>
          <p:spPr>
            <a:xfrm>
              <a:off x="510139" y="1823859"/>
              <a:ext cx="2658389" cy="365709"/>
            </a:xfrm>
            <a:prstGeom prst="roundRect">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Plan</a:t>
              </a:r>
              <a:endParaRPr kumimoji="1" lang="ja-JP" altLang="en-US" sz="11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5" name="四角形: 角を丸くする 4">
              <a:extLst>
                <a:ext uri="{FF2B5EF4-FFF2-40B4-BE49-F238E27FC236}">
                  <a16:creationId xmlns:a16="http://schemas.microsoft.com/office/drawing/2014/main" id="{DC77FC6D-330A-F47A-734C-3F087FB8645F}"/>
                </a:ext>
              </a:extLst>
            </p:cNvPr>
            <p:cNvSpPr/>
            <p:nvPr/>
          </p:nvSpPr>
          <p:spPr>
            <a:xfrm>
              <a:off x="4607209" y="1820553"/>
              <a:ext cx="1939292" cy="371668"/>
            </a:xfrm>
            <a:prstGeom prst="roundRect">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Check</a:t>
              </a:r>
              <a:endParaRPr kumimoji="1" lang="ja-JP" altLang="en-US" sz="11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6" name="四角形: 角を丸くする 5">
              <a:extLst>
                <a:ext uri="{FF2B5EF4-FFF2-40B4-BE49-F238E27FC236}">
                  <a16:creationId xmlns:a16="http://schemas.microsoft.com/office/drawing/2014/main" id="{513973DE-92E0-3700-D98D-8C2C6B84B7A9}"/>
                </a:ext>
              </a:extLst>
            </p:cNvPr>
            <p:cNvSpPr/>
            <p:nvPr/>
          </p:nvSpPr>
          <p:spPr>
            <a:xfrm>
              <a:off x="6715292" y="1820551"/>
              <a:ext cx="1266649" cy="371669"/>
            </a:xfrm>
            <a:prstGeom prst="roundRect">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Action</a:t>
              </a:r>
              <a:endParaRPr kumimoji="1" lang="ja-JP" altLang="en-US" sz="11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7" name="四角形: 角を丸くする 6">
              <a:extLst>
                <a:ext uri="{FF2B5EF4-FFF2-40B4-BE49-F238E27FC236}">
                  <a16:creationId xmlns:a16="http://schemas.microsoft.com/office/drawing/2014/main" id="{4EEDF73E-C86B-42A3-7292-FEC370B42BFD}"/>
                </a:ext>
              </a:extLst>
            </p:cNvPr>
            <p:cNvSpPr/>
            <p:nvPr/>
          </p:nvSpPr>
          <p:spPr>
            <a:xfrm>
              <a:off x="3240537" y="1823858"/>
              <a:ext cx="1197879" cy="365711"/>
            </a:xfrm>
            <a:prstGeom prst="roundRect">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Do</a:t>
              </a:r>
              <a:endParaRPr kumimoji="1" lang="ja-JP" altLang="en-US" sz="11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8" name="矢印: 五方向 7">
              <a:extLst>
                <a:ext uri="{FF2B5EF4-FFF2-40B4-BE49-F238E27FC236}">
                  <a16:creationId xmlns:a16="http://schemas.microsoft.com/office/drawing/2014/main" id="{9F8325C0-E950-27E7-AB39-D79B1B6C77D6}"/>
                </a:ext>
              </a:extLst>
            </p:cNvPr>
            <p:cNvSpPr/>
            <p:nvPr/>
          </p:nvSpPr>
          <p:spPr>
            <a:xfrm>
              <a:off x="522835" y="2725430"/>
              <a:ext cx="1157322" cy="437141"/>
            </a:xfrm>
            <a:prstGeom prst="homePlate">
              <a:avLst>
                <a:gd name="adj" fmla="val 17297"/>
              </a:avLst>
            </a:prstGeom>
            <a:solidFill>
              <a:schemeClr val="accent3"/>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引合費計画</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p>
          </p:txBody>
        </p:sp>
        <p:sp>
          <p:nvSpPr>
            <p:cNvPr id="9" name="矢印: 五方向 8">
              <a:extLst>
                <a:ext uri="{FF2B5EF4-FFF2-40B4-BE49-F238E27FC236}">
                  <a16:creationId xmlns:a16="http://schemas.microsoft.com/office/drawing/2014/main" id="{7A86B9EA-C27A-E668-E64B-E3C359412DB6}"/>
                </a:ext>
              </a:extLst>
            </p:cNvPr>
            <p:cNvSpPr/>
            <p:nvPr/>
          </p:nvSpPr>
          <p:spPr>
            <a:xfrm>
              <a:off x="3240538" y="2226166"/>
              <a:ext cx="1212920" cy="437141"/>
            </a:xfrm>
            <a:prstGeom prst="homePlate">
              <a:avLst>
                <a:gd name="adj" fmla="val 19018"/>
              </a:avLst>
            </a:prstGeom>
            <a:solidFill>
              <a:srgbClr val="567783"/>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生産工事遂行</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DC6914">
                      <a:lumMod val="40000"/>
                      <a:lumOff val="60000"/>
                    </a:srgbClr>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DC6914">
                      <a:lumMod val="40000"/>
                      <a:lumOff val="60000"/>
                    </a:srgbClr>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rgbClr val="DC6914">
                      <a:lumMod val="40000"/>
                      <a:lumOff val="60000"/>
                    </a:srgbClr>
                  </a:solidFill>
                  <a:effectLst/>
                  <a:uLnTx/>
                  <a:uFillTx/>
                  <a:latin typeface="メイリオ"/>
                  <a:ea typeface="メイリオ"/>
                  <a:cs typeface="+mn-cs"/>
                </a:rPr>
                <a:t>)</a:t>
              </a:r>
            </a:p>
          </p:txBody>
        </p:sp>
        <p:sp>
          <p:nvSpPr>
            <p:cNvPr id="10" name="矢印: 五方向 9">
              <a:extLst>
                <a:ext uri="{FF2B5EF4-FFF2-40B4-BE49-F238E27FC236}">
                  <a16:creationId xmlns:a16="http://schemas.microsoft.com/office/drawing/2014/main" id="{C5B6A614-CE8A-54C0-6DEF-2AA59D1DBB2B}"/>
                </a:ext>
              </a:extLst>
            </p:cNvPr>
            <p:cNvSpPr/>
            <p:nvPr/>
          </p:nvSpPr>
          <p:spPr>
            <a:xfrm>
              <a:off x="5116450" y="2226166"/>
              <a:ext cx="1448226" cy="437141"/>
            </a:xfrm>
            <a:prstGeom prst="homePlate">
              <a:avLst>
                <a:gd name="adj" fmla="val 18158"/>
              </a:avLst>
            </a:prstGeom>
            <a:solidFill>
              <a:schemeClr val="accent3"/>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生産工事コストフォロ</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p>
          </p:txBody>
        </p:sp>
        <p:sp>
          <p:nvSpPr>
            <p:cNvPr id="11" name="矢印: 五方向 10">
              <a:extLst>
                <a:ext uri="{FF2B5EF4-FFF2-40B4-BE49-F238E27FC236}">
                  <a16:creationId xmlns:a16="http://schemas.microsoft.com/office/drawing/2014/main" id="{6A70D408-A78E-56F3-6944-F1A22771785A}"/>
                </a:ext>
              </a:extLst>
            </p:cNvPr>
            <p:cNvSpPr/>
            <p:nvPr/>
          </p:nvSpPr>
          <p:spPr>
            <a:xfrm>
              <a:off x="6733468" y="2226166"/>
              <a:ext cx="1266649" cy="437141"/>
            </a:xfrm>
            <a:prstGeom prst="homePlate">
              <a:avLst>
                <a:gd name="adj" fmla="val 19879"/>
              </a:avLst>
            </a:prstGeom>
            <a:solidFill>
              <a:schemeClr val="accent3"/>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rPr>
                <a:t>コスト低減活動</a:t>
              </a:r>
              <a:endParaRPr kumimoji="1" lang="en-US" altLang="ja-JP"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rPr>
                <a:t>次回案件への反映</a:t>
              </a:r>
              <a:endParaRPr kumimoji="1" lang="en-US" altLang="ja-JP"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endParaRPr>
            </a:p>
          </p:txBody>
        </p:sp>
        <p:cxnSp>
          <p:nvCxnSpPr>
            <p:cNvPr id="12" name="コネクタ: カギ線 11">
              <a:extLst>
                <a:ext uri="{FF2B5EF4-FFF2-40B4-BE49-F238E27FC236}">
                  <a16:creationId xmlns:a16="http://schemas.microsoft.com/office/drawing/2014/main" id="{529FCC05-C2D2-6351-9C1C-562741B96E5E}"/>
                </a:ext>
              </a:extLst>
            </p:cNvPr>
            <p:cNvCxnSpPr>
              <a:cxnSpLocks/>
              <a:stCxn id="6" idx="3"/>
              <a:endCxn id="4" idx="1"/>
            </p:cNvCxnSpPr>
            <p:nvPr/>
          </p:nvCxnSpPr>
          <p:spPr>
            <a:xfrm flipH="1">
              <a:off x="510139" y="2006386"/>
              <a:ext cx="7471802" cy="328"/>
            </a:xfrm>
            <a:prstGeom prst="bentConnector5">
              <a:avLst>
                <a:gd name="adj1" fmla="val -3060"/>
                <a:gd name="adj2" fmla="val 388892683"/>
                <a:gd name="adj3" fmla="val 10306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矢印: 五方向 13">
              <a:extLst>
                <a:ext uri="{FF2B5EF4-FFF2-40B4-BE49-F238E27FC236}">
                  <a16:creationId xmlns:a16="http://schemas.microsoft.com/office/drawing/2014/main" id="{78C8E9B5-78A3-F2D0-4CCB-535EF91D075A}"/>
                </a:ext>
              </a:extLst>
            </p:cNvPr>
            <p:cNvSpPr/>
            <p:nvPr/>
          </p:nvSpPr>
          <p:spPr>
            <a:xfrm>
              <a:off x="528314" y="2226166"/>
              <a:ext cx="1158756" cy="437141"/>
            </a:xfrm>
            <a:prstGeom prst="homePlate">
              <a:avLst>
                <a:gd name="adj" fmla="val 17297"/>
              </a:avLst>
            </a:prstGeom>
            <a:solidFill>
              <a:schemeClr val="accent3"/>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AS</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受売利計画</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p>
          </p:txBody>
        </p:sp>
        <p:sp>
          <p:nvSpPr>
            <p:cNvPr id="15" name="矢印: 五方向 14">
              <a:extLst>
                <a:ext uri="{FF2B5EF4-FFF2-40B4-BE49-F238E27FC236}">
                  <a16:creationId xmlns:a16="http://schemas.microsoft.com/office/drawing/2014/main" id="{F014695D-EC7E-57F9-09A9-666B4645A6E8}"/>
                </a:ext>
              </a:extLst>
            </p:cNvPr>
            <p:cNvSpPr/>
            <p:nvPr/>
          </p:nvSpPr>
          <p:spPr>
            <a:xfrm>
              <a:off x="5116450" y="2746834"/>
              <a:ext cx="1448226" cy="437141"/>
            </a:xfrm>
            <a:prstGeom prst="homePlate">
              <a:avLst>
                <a:gd name="adj" fmla="val 18158"/>
              </a:avLst>
            </a:prstGeom>
            <a:solidFill>
              <a:schemeClr val="accent3"/>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引合費例月フォロ</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p>
          </p:txBody>
        </p:sp>
        <p:sp>
          <p:nvSpPr>
            <p:cNvPr id="16" name="矢印: 五方向 15">
              <a:extLst>
                <a:ext uri="{FF2B5EF4-FFF2-40B4-BE49-F238E27FC236}">
                  <a16:creationId xmlns:a16="http://schemas.microsoft.com/office/drawing/2014/main" id="{B7238101-A63E-9B84-294A-E2337025ADE2}"/>
                </a:ext>
              </a:extLst>
            </p:cNvPr>
            <p:cNvSpPr/>
            <p:nvPr/>
          </p:nvSpPr>
          <p:spPr>
            <a:xfrm>
              <a:off x="6733468" y="2746834"/>
              <a:ext cx="1266649" cy="437141"/>
            </a:xfrm>
            <a:prstGeom prst="homePlate">
              <a:avLst>
                <a:gd name="adj" fmla="val 19879"/>
              </a:avLst>
            </a:prstGeom>
            <a:solidFill>
              <a:schemeClr val="accent3"/>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rPr>
                <a:t>引合効率化の活動</a:t>
              </a:r>
              <a:endParaRPr kumimoji="1" lang="en-US" altLang="ja-JP"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endParaRPr>
            </a:p>
          </p:txBody>
        </p:sp>
        <p:sp>
          <p:nvSpPr>
            <p:cNvPr id="17" name="矢印: 五方向 16">
              <a:extLst>
                <a:ext uri="{FF2B5EF4-FFF2-40B4-BE49-F238E27FC236}">
                  <a16:creationId xmlns:a16="http://schemas.microsoft.com/office/drawing/2014/main" id="{E09C07FF-57B8-20D3-6EB3-98FC76BE7CD1}"/>
                </a:ext>
              </a:extLst>
            </p:cNvPr>
            <p:cNvSpPr/>
            <p:nvPr/>
          </p:nvSpPr>
          <p:spPr>
            <a:xfrm>
              <a:off x="2210039" y="2725430"/>
              <a:ext cx="1047481" cy="437141"/>
            </a:xfrm>
            <a:prstGeom prst="homePlate">
              <a:avLst>
                <a:gd name="adj" fmla="val 19018"/>
              </a:avLst>
            </a:prstGeom>
            <a:solidFill>
              <a:srgbClr val="567783"/>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引合活動遂行</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p:txBody>
        </p:sp>
        <p:sp>
          <p:nvSpPr>
            <p:cNvPr id="18" name="矢印: 五方向 17">
              <a:extLst>
                <a:ext uri="{FF2B5EF4-FFF2-40B4-BE49-F238E27FC236}">
                  <a16:creationId xmlns:a16="http://schemas.microsoft.com/office/drawing/2014/main" id="{3DC05E25-277E-FBB1-26A1-DBA7907D1C35}"/>
                </a:ext>
              </a:extLst>
            </p:cNvPr>
            <p:cNvSpPr/>
            <p:nvPr/>
          </p:nvSpPr>
          <p:spPr>
            <a:xfrm>
              <a:off x="4607209" y="2226166"/>
              <a:ext cx="434149" cy="957809"/>
            </a:xfrm>
            <a:prstGeom prst="homePlate">
              <a:avLst>
                <a:gd name="adj" fmla="val 18158"/>
              </a:avLst>
            </a:prstGeom>
            <a:solidFill>
              <a:schemeClr val="accent3"/>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採算</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状況</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把握</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p:txBody>
        </p:sp>
      </p:grpSp>
      <p:sp>
        <p:nvSpPr>
          <p:cNvPr id="23" name="四角形: 角を丸くする 22">
            <a:extLst>
              <a:ext uri="{FF2B5EF4-FFF2-40B4-BE49-F238E27FC236}">
                <a16:creationId xmlns:a16="http://schemas.microsoft.com/office/drawing/2014/main" id="{8ECD3EE9-841A-73A5-52A4-343F595C1519}"/>
              </a:ext>
            </a:extLst>
          </p:cNvPr>
          <p:cNvSpPr/>
          <p:nvPr/>
        </p:nvSpPr>
        <p:spPr>
          <a:xfrm>
            <a:off x="142844" y="637267"/>
            <a:ext cx="8856983" cy="1020400"/>
          </a:xfrm>
          <a:prstGeom prst="roundRect">
            <a:avLst>
              <a:gd name="adj" fmla="val 0"/>
            </a:avLst>
          </a:prstGeom>
          <a:solidFill>
            <a:schemeClr val="bg2">
              <a:lumMod val="40000"/>
              <a:lumOff val="60000"/>
            </a:schemeClr>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srgbClr val="000000"/>
                </a:solidFill>
                <a:effectLst/>
                <a:uLnTx/>
                <a:uFillTx/>
                <a:latin typeface="Meiryo UI"/>
                <a:ea typeface="Meiryo UI"/>
                <a:cs typeface="+mn-cs"/>
              </a:rPr>
              <a:t>■従来</a:t>
            </a:r>
            <a:r>
              <a:rPr kumimoji="1" lang="en-US" altLang="ja-JP" sz="1600" b="0" i="0" u="none" strike="noStrike" kern="1200" cap="none" spc="0" normalizeH="0" baseline="0" noProof="0" dirty="0">
                <a:ln>
                  <a:noFill/>
                </a:ln>
                <a:solidFill>
                  <a:srgbClr val="000000"/>
                </a:solidFill>
                <a:effectLst/>
                <a:uLnTx/>
                <a:uFillTx/>
                <a:latin typeface="Meiryo UI"/>
                <a:ea typeface="Meiryo UI"/>
                <a:cs typeface="+mn-cs"/>
              </a:rPr>
              <a:t>PM</a:t>
            </a:r>
            <a:r>
              <a:rPr kumimoji="1" lang="ja-JP" altLang="en-US" sz="1600" b="0" i="0" u="none" strike="noStrike" kern="1200" cap="none" spc="0" normalizeH="0" baseline="0" noProof="0" dirty="0">
                <a:ln>
                  <a:noFill/>
                </a:ln>
                <a:solidFill>
                  <a:srgbClr val="000000"/>
                </a:solidFill>
                <a:effectLst/>
                <a:uLnTx/>
                <a:uFillTx/>
                <a:latin typeface="Meiryo UI"/>
                <a:ea typeface="Meiryo UI"/>
                <a:cs typeface="+mn-cs"/>
              </a:rPr>
              <a:t>のマネジメント範囲を拡大し</a:t>
            </a:r>
            <a:r>
              <a:rPr lang="ja-JP" altLang="en-US" sz="1600" dirty="0">
                <a:solidFill>
                  <a:srgbClr val="000000"/>
                </a:solidFill>
                <a:latin typeface="Meiryo UI"/>
                <a:ea typeface="Meiryo UI"/>
              </a:rPr>
              <a:t>たうえで</a:t>
            </a:r>
            <a:r>
              <a:rPr kumimoji="1" lang="ja-JP" altLang="en-US" sz="1600" b="0" i="0" u="none" strike="noStrike" kern="1200" cap="none" spc="0" normalizeH="0" baseline="0" noProof="0" dirty="0">
                <a:ln>
                  <a:noFill/>
                </a:ln>
                <a:solidFill>
                  <a:srgbClr val="000000"/>
                </a:solidFill>
                <a:effectLst/>
                <a:uLnTx/>
                <a:uFillTx/>
                <a:latin typeface="Meiryo UI"/>
                <a:ea typeface="Meiryo UI"/>
                <a:cs typeface="+mn-cs"/>
              </a:rPr>
              <a:t>、適正人数かつ効率的に</a:t>
            </a:r>
            <a:r>
              <a:rPr kumimoji="1" lang="en-US" altLang="ja-JP" sz="1600" b="0" i="0" u="none" strike="noStrike" kern="1200" cap="none" spc="0" normalizeH="0" baseline="0" noProof="0" dirty="0">
                <a:ln>
                  <a:noFill/>
                </a:ln>
                <a:solidFill>
                  <a:srgbClr val="000000"/>
                </a:solidFill>
                <a:effectLst/>
                <a:uLnTx/>
                <a:uFillTx/>
                <a:latin typeface="Meiryo UI"/>
                <a:ea typeface="Meiryo UI"/>
                <a:cs typeface="+mn-cs"/>
              </a:rPr>
              <a:t>PDCA</a:t>
            </a:r>
            <a:r>
              <a:rPr kumimoji="1" lang="ja-JP" altLang="en-US" sz="1600" b="0" i="0" u="none" strike="noStrike" kern="1200" cap="none" spc="0" normalizeH="0" baseline="0" noProof="0" dirty="0">
                <a:ln>
                  <a:noFill/>
                </a:ln>
                <a:solidFill>
                  <a:srgbClr val="000000"/>
                </a:solidFill>
                <a:effectLst/>
                <a:uLnTx/>
                <a:uFillTx/>
                <a:latin typeface="Meiryo UI"/>
                <a:ea typeface="Meiryo UI"/>
                <a:cs typeface="+mn-cs"/>
              </a:rPr>
              <a:t>サイクルを</a:t>
            </a:r>
            <a:r>
              <a:rPr lang="ja-JP" altLang="en-US" sz="1600" dirty="0">
                <a:solidFill>
                  <a:srgbClr val="000000"/>
                </a:solidFill>
                <a:latin typeface="Meiryo UI"/>
                <a:ea typeface="Meiryo UI"/>
              </a:rPr>
              <a:t>回す体制を整える。</a:t>
            </a:r>
            <a:endParaRPr lang="en-US" altLang="ja-JP" sz="1600" dirty="0">
              <a:solidFill>
                <a:srgbClr val="000000"/>
              </a:solidFill>
              <a:latin typeface="Meiryo UI"/>
              <a:ea typeface="Meiryo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solidFill>
                  <a:srgbClr val="000000"/>
                </a:solidFill>
                <a:latin typeface="Meiryo UI"/>
                <a:ea typeface="Meiryo UI"/>
              </a:rPr>
              <a:t>　 </a:t>
            </a:r>
            <a:r>
              <a:rPr lang="en-US" altLang="ja-JP" sz="1600" dirty="0">
                <a:solidFill>
                  <a:srgbClr val="000000"/>
                </a:solidFill>
                <a:latin typeface="Meiryo UI"/>
                <a:ea typeface="Meiryo UI"/>
              </a:rPr>
              <a:t>(</a:t>
            </a:r>
            <a:r>
              <a:rPr lang="ja-JP" altLang="en-US" sz="1600" dirty="0">
                <a:solidFill>
                  <a:srgbClr val="000000"/>
                </a:solidFill>
                <a:latin typeface="Meiryo UI"/>
                <a:ea typeface="Meiryo UI"/>
              </a:rPr>
              <a:t>＝</a:t>
            </a:r>
            <a:r>
              <a:rPr lang="en-US" altLang="ja-JP" sz="1600" dirty="0">
                <a:solidFill>
                  <a:srgbClr val="000000"/>
                </a:solidFill>
                <a:latin typeface="Meiryo UI"/>
                <a:ea typeface="Meiryo UI"/>
              </a:rPr>
              <a:t>PM</a:t>
            </a:r>
            <a:r>
              <a:rPr lang="ja-JP" altLang="en-US" sz="1600" dirty="0">
                <a:solidFill>
                  <a:srgbClr val="000000"/>
                </a:solidFill>
                <a:latin typeface="Meiryo UI"/>
                <a:ea typeface="Meiryo UI"/>
              </a:rPr>
              <a:t>中心のマネジメント体制の構築</a:t>
            </a:r>
            <a:r>
              <a:rPr lang="en-US" altLang="ja-JP" sz="1600" dirty="0">
                <a:solidFill>
                  <a:srgbClr val="000000"/>
                </a:solidFill>
                <a:latin typeface="Meiryo UI"/>
                <a:ea typeface="Meiryo UI"/>
              </a:rPr>
              <a:t>)</a:t>
            </a:r>
            <a:r>
              <a:rPr lang="ja-JP" altLang="en-US" sz="1600" dirty="0">
                <a:solidFill>
                  <a:srgbClr val="000000"/>
                </a:solidFill>
                <a:latin typeface="Meiryo UI"/>
                <a:ea typeface="Meiryo UI"/>
              </a:rPr>
              <a:t> </a:t>
            </a:r>
            <a:r>
              <a:rPr kumimoji="1" lang="ja-JP" altLang="en-US" sz="16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1600" b="0" i="0" u="none" strike="noStrike" kern="1200" cap="none" spc="0" normalizeH="0" baseline="0" noProof="0" dirty="0">
              <a:ln>
                <a:noFill/>
              </a:ln>
              <a:solidFill>
                <a:srgbClr val="000000"/>
              </a:solidFill>
              <a:effectLst/>
              <a:uLnTx/>
              <a:uFillTx/>
              <a:latin typeface="Meiryo UI"/>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solidFill>
                  <a:srgbClr val="000000"/>
                </a:solidFill>
                <a:latin typeface="Meiryo UI"/>
                <a:ea typeface="Meiryo UI"/>
              </a:rPr>
              <a:t>■フェーズ２までは主に引合活動</a:t>
            </a:r>
            <a:r>
              <a:rPr lang="en-US" altLang="ja-JP" sz="1600" dirty="0">
                <a:solidFill>
                  <a:srgbClr val="000000"/>
                </a:solidFill>
                <a:latin typeface="Meiryo UI"/>
                <a:ea typeface="Meiryo UI"/>
              </a:rPr>
              <a:t>(</a:t>
            </a:r>
            <a:r>
              <a:rPr lang="ja-JP" altLang="en-US" sz="1600" dirty="0">
                <a:solidFill>
                  <a:srgbClr val="000000"/>
                </a:solidFill>
                <a:latin typeface="Meiryo UI"/>
                <a:ea typeface="Meiryo UI"/>
              </a:rPr>
              <a:t>下段</a:t>
            </a:r>
            <a:r>
              <a:rPr lang="en-US" altLang="ja-JP" sz="1600" dirty="0">
                <a:solidFill>
                  <a:srgbClr val="000000"/>
                </a:solidFill>
                <a:latin typeface="Meiryo UI"/>
                <a:ea typeface="Meiryo UI"/>
              </a:rPr>
              <a:t>)</a:t>
            </a:r>
            <a:r>
              <a:rPr lang="ja-JP" altLang="en-US" sz="1600" dirty="0">
                <a:solidFill>
                  <a:srgbClr val="000000"/>
                </a:solidFill>
                <a:latin typeface="Meiryo UI"/>
                <a:ea typeface="Meiryo UI"/>
              </a:rPr>
              <a:t>に関わる機能の検討を進めた。</a:t>
            </a:r>
            <a:endParaRPr lang="en-US" altLang="ja-JP" sz="1600" dirty="0">
              <a:solidFill>
                <a:srgbClr val="000000"/>
              </a:solidFill>
              <a:latin typeface="Meiryo UI"/>
              <a:ea typeface="Meiryo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srgbClr val="000000"/>
                </a:solidFill>
                <a:effectLst/>
                <a:uLnTx/>
                <a:uFillTx/>
                <a:latin typeface="Meiryo UI"/>
                <a:ea typeface="Meiryo UI"/>
                <a:cs typeface="+mn-cs"/>
              </a:rPr>
              <a:t>■フェーズ３では主に生産工事に関わる機能</a:t>
            </a:r>
            <a:r>
              <a:rPr kumimoji="1" lang="en-US" altLang="ja-JP" sz="1600" b="0" i="0" u="none" strike="noStrike" kern="1200" cap="none" spc="0" normalizeH="0" baseline="0" noProof="0" dirty="0">
                <a:ln>
                  <a:noFill/>
                </a:ln>
                <a:solidFill>
                  <a:srgbClr val="000000"/>
                </a:solidFill>
                <a:effectLst/>
                <a:uLnTx/>
                <a:uFillTx/>
                <a:latin typeface="Meiryo UI"/>
                <a:ea typeface="Meiryo UI"/>
                <a:cs typeface="+mn-cs"/>
              </a:rPr>
              <a:t>(</a:t>
            </a:r>
            <a:r>
              <a:rPr kumimoji="1" lang="ja-JP" altLang="en-US" sz="1600" b="0" i="0" u="none" strike="noStrike" kern="1200" cap="none" spc="0" normalizeH="0" baseline="0" noProof="0" dirty="0">
                <a:ln>
                  <a:noFill/>
                </a:ln>
                <a:solidFill>
                  <a:srgbClr val="000000"/>
                </a:solidFill>
                <a:effectLst/>
                <a:uLnTx/>
                <a:uFillTx/>
                <a:latin typeface="Meiryo UI"/>
                <a:ea typeface="Meiryo UI"/>
                <a:cs typeface="+mn-cs"/>
              </a:rPr>
              <a:t>上段</a:t>
            </a:r>
            <a:r>
              <a:rPr kumimoji="1" lang="en-US" altLang="ja-JP" sz="1600" b="0" i="0" u="none" strike="noStrike" kern="1200" cap="none" spc="0" normalizeH="0" baseline="0" noProof="0" dirty="0">
                <a:ln>
                  <a:noFill/>
                </a:ln>
                <a:solidFill>
                  <a:srgbClr val="000000"/>
                </a:solidFill>
                <a:effectLst/>
                <a:uLnTx/>
                <a:uFillTx/>
                <a:latin typeface="Meiryo UI"/>
                <a:ea typeface="Meiryo UI"/>
                <a:cs typeface="+mn-cs"/>
              </a:rPr>
              <a:t>)</a:t>
            </a:r>
            <a:r>
              <a:rPr kumimoji="1" lang="ja-JP" altLang="en-US" sz="1600" b="0" i="0" u="none" strike="noStrike" kern="1200" cap="none" spc="0" normalizeH="0" baseline="0" noProof="0" dirty="0">
                <a:ln>
                  <a:noFill/>
                </a:ln>
                <a:solidFill>
                  <a:srgbClr val="000000"/>
                </a:solidFill>
                <a:effectLst/>
                <a:uLnTx/>
                <a:uFillTx/>
                <a:latin typeface="Meiryo UI"/>
                <a:ea typeface="Meiryo UI"/>
                <a:cs typeface="+mn-cs"/>
              </a:rPr>
              <a:t>の改善・拡充を</a:t>
            </a:r>
            <a:r>
              <a:rPr lang="ja-JP" altLang="en-US" sz="1600" dirty="0">
                <a:solidFill>
                  <a:srgbClr val="000000"/>
                </a:solidFill>
                <a:latin typeface="Meiryo UI"/>
                <a:ea typeface="Meiryo UI"/>
              </a:rPr>
              <a:t>進める。</a:t>
            </a:r>
            <a:endParaRPr kumimoji="1" lang="ja-JP" altLang="en-US" sz="1600" b="0" i="0" u="none" strike="noStrike" kern="1200" cap="none" spc="0" normalizeH="0" baseline="0" noProof="0" dirty="0">
              <a:ln>
                <a:noFill/>
              </a:ln>
              <a:solidFill>
                <a:srgbClr val="000000"/>
              </a:solidFill>
              <a:effectLst/>
              <a:uLnTx/>
              <a:uFillTx/>
              <a:latin typeface="Meiryo UI"/>
              <a:ea typeface="Meiryo UI"/>
              <a:cs typeface="+mn-cs"/>
            </a:endParaRPr>
          </a:p>
        </p:txBody>
      </p:sp>
      <p:grpSp>
        <p:nvGrpSpPr>
          <p:cNvPr id="53" name="グループ化 52">
            <a:extLst>
              <a:ext uri="{FF2B5EF4-FFF2-40B4-BE49-F238E27FC236}">
                <a16:creationId xmlns:a16="http://schemas.microsoft.com/office/drawing/2014/main" id="{FBD20C88-C722-E3C4-A100-F08DCC214771}"/>
              </a:ext>
            </a:extLst>
          </p:cNvPr>
          <p:cNvGrpSpPr/>
          <p:nvPr/>
        </p:nvGrpSpPr>
        <p:grpSpPr>
          <a:xfrm>
            <a:off x="314313" y="1999785"/>
            <a:ext cx="7489977" cy="1413457"/>
            <a:chOff x="467544" y="2143801"/>
            <a:chExt cx="7489977" cy="1413457"/>
          </a:xfrm>
        </p:grpSpPr>
        <p:sp>
          <p:nvSpPr>
            <p:cNvPr id="25" name="四角形: 角を丸くする 24">
              <a:extLst>
                <a:ext uri="{FF2B5EF4-FFF2-40B4-BE49-F238E27FC236}">
                  <a16:creationId xmlns:a16="http://schemas.microsoft.com/office/drawing/2014/main" id="{36E7862B-BD5A-04E1-3771-4B42A5037EF9}"/>
                </a:ext>
              </a:extLst>
            </p:cNvPr>
            <p:cNvSpPr/>
            <p:nvPr/>
          </p:nvSpPr>
          <p:spPr>
            <a:xfrm>
              <a:off x="467544" y="2147109"/>
              <a:ext cx="2648110" cy="365709"/>
            </a:xfrm>
            <a:prstGeom prst="roundRect">
              <a:avLst/>
            </a:prstGeom>
            <a:solidFill>
              <a:schemeClr val="accent1"/>
            </a:solidFill>
            <a:ln w="1905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srgbClr val="FFFFFF"/>
                  </a:solidFill>
                  <a:effectLst/>
                  <a:uLnTx/>
                  <a:uFillTx/>
                  <a:latin typeface="Meiryo UI"/>
                  <a:ea typeface="Meiryo UI"/>
                  <a:cs typeface="+mn-cs"/>
                </a:rPr>
                <a:t>Plan</a:t>
              </a:r>
              <a:endParaRPr kumimoji="1" lang="ja-JP" altLang="en-US" sz="1100" b="1" i="0" u="none" strike="noStrike" kern="1200" cap="none" spc="0" normalizeH="0" baseline="0" noProof="0" dirty="0">
                <a:ln>
                  <a:noFill/>
                </a:ln>
                <a:solidFill>
                  <a:srgbClr val="FFFFFF"/>
                </a:solidFill>
                <a:effectLst/>
                <a:uLnTx/>
                <a:uFillTx/>
                <a:latin typeface="Meiryo UI"/>
                <a:ea typeface="Meiryo UI"/>
                <a:cs typeface="+mn-cs"/>
              </a:endParaRPr>
            </a:p>
          </p:txBody>
        </p:sp>
        <p:sp>
          <p:nvSpPr>
            <p:cNvPr id="26" name="四角形: 角を丸くする 25">
              <a:extLst>
                <a:ext uri="{FF2B5EF4-FFF2-40B4-BE49-F238E27FC236}">
                  <a16:creationId xmlns:a16="http://schemas.microsoft.com/office/drawing/2014/main" id="{DA89BDBF-B278-0933-B7FB-BA19F345756D}"/>
                </a:ext>
              </a:extLst>
            </p:cNvPr>
            <p:cNvSpPr/>
            <p:nvPr/>
          </p:nvSpPr>
          <p:spPr>
            <a:xfrm>
              <a:off x="4564613" y="2143803"/>
              <a:ext cx="1939292" cy="371668"/>
            </a:xfrm>
            <a:prstGeom prst="roundRect">
              <a:avLst/>
            </a:prstGeom>
            <a:solidFill>
              <a:schemeClr val="tx2">
                <a:lumMod val="20000"/>
                <a:lumOff val="80000"/>
              </a:schemeClr>
            </a:solidFill>
            <a:ln w="19050" cmpd="sng">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srgbClr val="FFFFFF">
                      <a:lumMod val="50000"/>
                    </a:srgbClr>
                  </a:solidFill>
                  <a:effectLst/>
                  <a:uLnTx/>
                  <a:uFillTx/>
                  <a:latin typeface="Meiryo UI"/>
                  <a:ea typeface="Meiryo UI"/>
                  <a:cs typeface="+mn-cs"/>
                </a:rPr>
                <a:t>Check</a:t>
              </a:r>
              <a:endParaRPr kumimoji="1" lang="ja-JP" altLang="en-US" sz="1100" b="1" i="0" u="none" strike="noStrike" kern="1200" cap="none" spc="0" normalizeH="0" baseline="0" noProof="0" dirty="0">
                <a:ln>
                  <a:noFill/>
                </a:ln>
                <a:solidFill>
                  <a:srgbClr val="FFFFFF">
                    <a:lumMod val="50000"/>
                  </a:srgbClr>
                </a:solidFill>
                <a:effectLst/>
                <a:uLnTx/>
                <a:uFillTx/>
                <a:latin typeface="Meiryo UI"/>
                <a:ea typeface="Meiryo UI"/>
                <a:cs typeface="+mn-cs"/>
              </a:endParaRPr>
            </a:p>
          </p:txBody>
        </p:sp>
        <p:sp>
          <p:nvSpPr>
            <p:cNvPr id="27" name="四角形: 角を丸くする 26">
              <a:extLst>
                <a:ext uri="{FF2B5EF4-FFF2-40B4-BE49-F238E27FC236}">
                  <a16:creationId xmlns:a16="http://schemas.microsoft.com/office/drawing/2014/main" id="{BEF11FD7-CAE4-2465-01F5-046C14472CC7}"/>
                </a:ext>
              </a:extLst>
            </p:cNvPr>
            <p:cNvSpPr/>
            <p:nvPr/>
          </p:nvSpPr>
          <p:spPr>
            <a:xfrm>
              <a:off x="6672696" y="2143801"/>
              <a:ext cx="1266649" cy="371669"/>
            </a:xfrm>
            <a:prstGeom prst="roundRect">
              <a:avLst/>
            </a:prstGeom>
            <a:noFill/>
            <a:ln w="19050" cmpd="sng">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srgbClr val="FFFFFF">
                      <a:lumMod val="50000"/>
                    </a:srgbClr>
                  </a:solidFill>
                  <a:effectLst/>
                  <a:uLnTx/>
                  <a:uFillTx/>
                  <a:latin typeface="Meiryo UI"/>
                  <a:ea typeface="Meiryo UI"/>
                  <a:cs typeface="+mn-cs"/>
                </a:rPr>
                <a:t>Action</a:t>
              </a:r>
              <a:endParaRPr kumimoji="1" lang="ja-JP" altLang="en-US" sz="1100" b="1" i="0" u="none" strike="noStrike" kern="1200" cap="none" spc="0" normalizeH="0" baseline="0" noProof="0" dirty="0">
                <a:ln>
                  <a:noFill/>
                </a:ln>
                <a:solidFill>
                  <a:srgbClr val="FFFFFF">
                    <a:lumMod val="50000"/>
                  </a:srgbClr>
                </a:solidFill>
                <a:effectLst/>
                <a:uLnTx/>
                <a:uFillTx/>
                <a:latin typeface="Meiryo UI"/>
                <a:ea typeface="Meiryo UI"/>
                <a:cs typeface="+mn-cs"/>
              </a:endParaRPr>
            </a:p>
          </p:txBody>
        </p:sp>
        <p:sp>
          <p:nvSpPr>
            <p:cNvPr id="28" name="四角形: 角を丸くする 27">
              <a:extLst>
                <a:ext uri="{FF2B5EF4-FFF2-40B4-BE49-F238E27FC236}">
                  <a16:creationId xmlns:a16="http://schemas.microsoft.com/office/drawing/2014/main" id="{B6BB34BF-6753-EC2A-1406-6B54937D8FEB}"/>
                </a:ext>
              </a:extLst>
            </p:cNvPr>
            <p:cNvSpPr/>
            <p:nvPr/>
          </p:nvSpPr>
          <p:spPr>
            <a:xfrm>
              <a:off x="3187662" y="2147108"/>
              <a:ext cx="1208158" cy="365711"/>
            </a:xfrm>
            <a:prstGeom prst="round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Do</a:t>
              </a:r>
              <a:endParaRPr kumimoji="1" lang="ja-JP" altLang="en-US" sz="11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29" name="矢印: 五方向 28">
              <a:extLst>
                <a:ext uri="{FF2B5EF4-FFF2-40B4-BE49-F238E27FC236}">
                  <a16:creationId xmlns:a16="http://schemas.microsoft.com/office/drawing/2014/main" id="{B0A5D483-F289-FCBB-3060-94A20B8ADE0D}"/>
                </a:ext>
              </a:extLst>
            </p:cNvPr>
            <p:cNvSpPr/>
            <p:nvPr/>
          </p:nvSpPr>
          <p:spPr>
            <a:xfrm>
              <a:off x="476873" y="3102735"/>
              <a:ext cx="1157322" cy="437141"/>
            </a:xfrm>
            <a:prstGeom prst="homePlate">
              <a:avLst>
                <a:gd name="adj" fmla="val 17297"/>
              </a:avLst>
            </a:prstGeom>
            <a:noFill/>
            <a:ln w="19050" cmpd="sng">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lumMod val="50000"/>
                    </a:srgbClr>
                  </a:solidFill>
                  <a:effectLst/>
                  <a:uLnTx/>
                  <a:uFillTx/>
                  <a:latin typeface="メイリオ"/>
                  <a:ea typeface="メイリオ"/>
                  <a:cs typeface="+mn-cs"/>
                </a:rPr>
                <a:t>引合費計画</a:t>
              </a:r>
              <a:endParaRPr kumimoji="1" lang="en-US" altLang="ja-JP" sz="1000" b="1" i="0" u="none" strike="noStrike" kern="1200" cap="none" spc="0" normalizeH="0" baseline="0" noProof="0" dirty="0">
                <a:ln>
                  <a:noFill/>
                </a:ln>
                <a:solidFill>
                  <a:srgbClr val="FFFFFF">
                    <a:lumMod val="50000"/>
                  </a:srgbClr>
                </a:solidFill>
                <a:effectLst/>
                <a:uLnTx/>
                <a:uFillTx/>
                <a:latin typeface="メイリオ"/>
                <a:ea typeface="メイリオ"/>
                <a:cs typeface="+mn-cs"/>
              </a:endParaRPr>
            </a:p>
          </p:txBody>
        </p:sp>
        <p:sp>
          <p:nvSpPr>
            <p:cNvPr id="30" name="矢印: 五方向 29">
              <a:extLst>
                <a:ext uri="{FF2B5EF4-FFF2-40B4-BE49-F238E27FC236}">
                  <a16:creationId xmlns:a16="http://schemas.microsoft.com/office/drawing/2014/main" id="{10124F1B-8D4F-28E7-371B-3FBBB13A276B}"/>
                </a:ext>
              </a:extLst>
            </p:cNvPr>
            <p:cNvSpPr/>
            <p:nvPr/>
          </p:nvSpPr>
          <p:spPr>
            <a:xfrm>
              <a:off x="3187662" y="2592085"/>
              <a:ext cx="1223200" cy="437141"/>
            </a:xfrm>
            <a:prstGeom prst="homePlate">
              <a:avLst>
                <a:gd name="adj" fmla="val 19018"/>
              </a:avLst>
            </a:prstGeom>
            <a:solidFill>
              <a:srgbClr val="567783"/>
            </a:solidFill>
            <a:ln w="3175" cmpd="sng">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生産工事遂行</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オーダ単位</a:t>
              </a: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p>
          </p:txBody>
        </p:sp>
        <p:sp>
          <p:nvSpPr>
            <p:cNvPr id="31" name="矢印: 五方向 30">
              <a:extLst>
                <a:ext uri="{FF2B5EF4-FFF2-40B4-BE49-F238E27FC236}">
                  <a16:creationId xmlns:a16="http://schemas.microsoft.com/office/drawing/2014/main" id="{6DC772C1-52DE-2FDD-D5C4-B6D0633F1231}"/>
                </a:ext>
              </a:extLst>
            </p:cNvPr>
            <p:cNvSpPr/>
            <p:nvPr/>
          </p:nvSpPr>
          <p:spPr>
            <a:xfrm>
              <a:off x="5073854" y="2592085"/>
              <a:ext cx="1448226" cy="437141"/>
            </a:xfrm>
            <a:prstGeom prst="homePlate">
              <a:avLst>
                <a:gd name="adj" fmla="val 18158"/>
              </a:avLst>
            </a:prstGeom>
            <a:solidFill>
              <a:schemeClr val="tx2">
                <a:lumMod val="20000"/>
                <a:lumOff val="80000"/>
              </a:schemeClr>
            </a:solidFill>
            <a:ln w="19050" cmpd="sng">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lumMod val="50000"/>
                    </a:srgbClr>
                  </a:solidFill>
                  <a:effectLst/>
                  <a:uLnTx/>
                  <a:uFillTx/>
                  <a:latin typeface="メイリオ"/>
                  <a:ea typeface="メイリオ"/>
                  <a:cs typeface="+mn-cs"/>
                </a:rPr>
                <a:t>生産工事コストフォロ</a:t>
              </a:r>
              <a:endParaRPr kumimoji="1" lang="en-US" altLang="ja-JP" sz="1000" b="1" i="0" u="none" strike="noStrike" kern="1200" cap="none" spc="0" normalizeH="0" baseline="0" noProof="0" dirty="0">
                <a:ln>
                  <a:noFill/>
                </a:ln>
                <a:solidFill>
                  <a:srgbClr val="FFFFFF">
                    <a:lumMod val="50000"/>
                  </a:srgbClr>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lumMod val="50000"/>
                    </a:srgbClr>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lumMod val="50000"/>
                    </a:srgbClr>
                  </a:solidFill>
                  <a:effectLst/>
                  <a:uLnTx/>
                  <a:uFillTx/>
                  <a:latin typeface="メイリオ"/>
                  <a:ea typeface="メイリオ"/>
                  <a:cs typeface="+mn-cs"/>
                </a:rPr>
                <a:t>大口のみ</a:t>
              </a:r>
              <a:r>
                <a:rPr kumimoji="1" lang="en-US" altLang="ja-JP" sz="1000" b="1" i="0" u="none" strike="noStrike" kern="1200" cap="none" spc="0" normalizeH="0" baseline="0" noProof="0" dirty="0">
                  <a:ln>
                    <a:noFill/>
                  </a:ln>
                  <a:solidFill>
                    <a:srgbClr val="FFFFFF">
                      <a:lumMod val="50000"/>
                    </a:srgbClr>
                  </a:solidFill>
                  <a:effectLst/>
                  <a:uLnTx/>
                  <a:uFillTx/>
                  <a:latin typeface="メイリオ"/>
                  <a:ea typeface="メイリオ"/>
                  <a:cs typeface="+mn-cs"/>
                </a:rPr>
                <a:t>)</a:t>
              </a:r>
            </a:p>
          </p:txBody>
        </p:sp>
        <p:sp>
          <p:nvSpPr>
            <p:cNvPr id="32" name="矢印: 五方向 31">
              <a:extLst>
                <a:ext uri="{FF2B5EF4-FFF2-40B4-BE49-F238E27FC236}">
                  <a16:creationId xmlns:a16="http://schemas.microsoft.com/office/drawing/2014/main" id="{9165CE13-A7EF-3C18-B95B-0084E1A69FC2}"/>
                </a:ext>
              </a:extLst>
            </p:cNvPr>
            <p:cNvSpPr/>
            <p:nvPr/>
          </p:nvSpPr>
          <p:spPr>
            <a:xfrm>
              <a:off x="6690872" y="2592085"/>
              <a:ext cx="1266649" cy="437141"/>
            </a:xfrm>
            <a:prstGeom prst="homePlate">
              <a:avLst>
                <a:gd name="adj" fmla="val 19879"/>
              </a:avLst>
            </a:prstGeom>
            <a:noFill/>
            <a:ln w="19050" cmpd="sng">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lumMod val="50000"/>
                    </a:srgbClr>
                  </a:solidFill>
                  <a:effectLst/>
                  <a:uLnTx/>
                  <a:uFillTx/>
                  <a:latin typeface="メイリオ" panose="020B0604030504040204" pitchFamily="50" charset="-128"/>
                  <a:ea typeface="メイリオ" panose="020B0604030504040204" pitchFamily="50" charset="-128"/>
                  <a:cs typeface="+mn-cs"/>
                </a:rPr>
                <a:t>コスト低減活動</a:t>
              </a:r>
              <a:endParaRPr kumimoji="1" lang="en-US" altLang="ja-JP" sz="1000" b="1" i="0" u="none" strike="noStrike" kern="1200" cap="none" spc="0" normalizeH="0" baseline="0" noProof="0" dirty="0">
                <a:ln>
                  <a:noFill/>
                </a:ln>
                <a:solidFill>
                  <a:srgbClr val="FFFFFF">
                    <a:lumMod val="50000"/>
                  </a:srgbClr>
                </a:solidFill>
                <a:effectLst/>
                <a:uLnTx/>
                <a:uFillTx/>
                <a:latin typeface="メイリオ" panose="020B0604030504040204" pitchFamily="50" charset="-128"/>
                <a:ea typeface="メイリオ"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lumMod val="50000"/>
                    </a:srgbClr>
                  </a:solidFill>
                  <a:effectLst/>
                  <a:uLnTx/>
                  <a:uFillTx/>
                  <a:latin typeface="メイリオ" panose="020B0604030504040204" pitchFamily="50" charset="-128"/>
                  <a:ea typeface="メイリオ" panose="020B0604030504040204" pitchFamily="50" charset="-128"/>
                  <a:cs typeface="+mn-cs"/>
                </a:rPr>
                <a:t>次回案件への反映</a:t>
              </a:r>
              <a:endParaRPr kumimoji="1" lang="en-US" altLang="ja-JP" sz="1000" b="1" i="0" u="none" strike="noStrike" kern="1200" cap="none" spc="0" normalizeH="0" baseline="0" noProof="0" dirty="0">
                <a:ln>
                  <a:noFill/>
                </a:ln>
                <a:solidFill>
                  <a:srgbClr val="FFFFFF">
                    <a:lumMod val="50000"/>
                  </a:srgbClr>
                </a:solidFill>
                <a:effectLst/>
                <a:uLnTx/>
                <a:uFillTx/>
                <a:latin typeface="メイリオ" panose="020B0604030504040204" pitchFamily="50" charset="-128"/>
                <a:ea typeface="メイリオ" panose="020B0604030504040204" pitchFamily="50" charset="-128"/>
                <a:cs typeface="+mn-cs"/>
              </a:endParaRPr>
            </a:p>
          </p:txBody>
        </p:sp>
        <p:cxnSp>
          <p:nvCxnSpPr>
            <p:cNvPr id="33" name="コネクタ: カギ線 32">
              <a:extLst>
                <a:ext uri="{FF2B5EF4-FFF2-40B4-BE49-F238E27FC236}">
                  <a16:creationId xmlns:a16="http://schemas.microsoft.com/office/drawing/2014/main" id="{1D284954-52AA-C7F2-302B-EA7874B45744}"/>
                </a:ext>
              </a:extLst>
            </p:cNvPr>
            <p:cNvCxnSpPr>
              <a:cxnSpLocks/>
              <a:stCxn id="27" idx="3"/>
              <a:endCxn id="25" idx="1"/>
            </p:cNvCxnSpPr>
            <p:nvPr/>
          </p:nvCxnSpPr>
          <p:spPr>
            <a:xfrm flipH="1">
              <a:off x="467544" y="2329636"/>
              <a:ext cx="7471801" cy="328"/>
            </a:xfrm>
            <a:prstGeom prst="bentConnector5">
              <a:avLst>
                <a:gd name="adj1" fmla="val -3060"/>
                <a:gd name="adj2" fmla="val 407839024"/>
                <a:gd name="adj3" fmla="val 103060"/>
              </a:avLst>
            </a:prstGeom>
            <a:ln w="28575">
              <a:solidFill>
                <a:schemeClr val="bg1">
                  <a:lumMod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4" name="矢印: 五方向 33">
              <a:extLst>
                <a:ext uri="{FF2B5EF4-FFF2-40B4-BE49-F238E27FC236}">
                  <a16:creationId xmlns:a16="http://schemas.microsoft.com/office/drawing/2014/main" id="{E5787BB5-12DE-A3AF-1D63-0697A5489D28}"/>
                </a:ext>
              </a:extLst>
            </p:cNvPr>
            <p:cNvSpPr/>
            <p:nvPr/>
          </p:nvSpPr>
          <p:spPr>
            <a:xfrm>
              <a:off x="485718" y="2592085"/>
              <a:ext cx="1158756" cy="437141"/>
            </a:xfrm>
            <a:prstGeom prst="homePlate">
              <a:avLst>
                <a:gd name="adj" fmla="val 17297"/>
              </a:avLst>
            </a:prstGeom>
            <a:solidFill>
              <a:schemeClr val="tx2">
                <a:lumMod val="20000"/>
                <a:lumOff val="80000"/>
              </a:schemeClr>
            </a:solidFill>
            <a:ln w="19050" cmpd="sng">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lumMod val="50000"/>
                    </a:srgbClr>
                  </a:solidFill>
                  <a:effectLst/>
                  <a:uLnTx/>
                  <a:uFillTx/>
                  <a:latin typeface="メイリオ"/>
                  <a:ea typeface="メイリオ"/>
                  <a:cs typeface="+mn-cs"/>
                </a:rPr>
                <a:t>AS</a:t>
              </a:r>
              <a:r>
                <a:rPr kumimoji="1" lang="ja-JP" altLang="en-US" sz="1000" b="1" i="0" u="none" strike="noStrike" kern="1200" cap="none" spc="0" normalizeH="0" baseline="0" noProof="0" dirty="0">
                  <a:ln>
                    <a:noFill/>
                  </a:ln>
                  <a:solidFill>
                    <a:srgbClr val="FFFFFF">
                      <a:lumMod val="50000"/>
                    </a:srgbClr>
                  </a:solidFill>
                  <a:effectLst/>
                  <a:uLnTx/>
                  <a:uFillTx/>
                  <a:latin typeface="メイリオ"/>
                  <a:ea typeface="メイリオ"/>
                  <a:cs typeface="+mn-cs"/>
                </a:rPr>
                <a:t>受売利計画</a:t>
              </a:r>
              <a:endParaRPr kumimoji="1" lang="en-US" altLang="ja-JP" sz="1000" b="1" i="0" u="none" strike="noStrike" kern="1200" cap="none" spc="0" normalizeH="0" baseline="0" noProof="0" dirty="0">
                <a:ln>
                  <a:noFill/>
                </a:ln>
                <a:solidFill>
                  <a:srgbClr val="FFFFFF">
                    <a:lumMod val="50000"/>
                  </a:srgbClr>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lumMod val="50000"/>
                    </a:srgbClr>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lumMod val="50000"/>
                    </a:srgbClr>
                  </a:solidFill>
                  <a:effectLst/>
                  <a:uLnTx/>
                  <a:uFillTx/>
                  <a:latin typeface="メイリオ"/>
                  <a:ea typeface="メイリオ"/>
                  <a:cs typeface="+mn-cs"/>
                </a:rPr>
                <a:t>帯での計画</a:t>
              </a:r>
              <a:r>
                <a:rPr kumimoji="1" lang="en-US" altLang="ja-JP" sz="1000" b="1" i="0" u="none" strike="noStrike" kern="1200" cap="none" spc="0" normalizeH="0" baseline="0" noProof="0" dirty="0">
                  <a:ln>
                    <a:noFill/>
                  </a:ln>
                  <a:solidFill>
                    <a:srgbClr val="FFFFFF">
                      <a:lumMod val="50000"/>
                    </a:srgbClr>
                  </a:solidFill>
                  <a:effectLst/>
                  <a:uLnTx/>
                  <a:uFillTx/>
                  <a:latin typeface="メイリオ"/>
                  <a:ea typeface="メイリオ"/>
                  <a:cs typeface="+mn-cs"/>
                </a:rPr>
                <a:t>)</a:t>
              </a:r>
            </a:p>
          </p:txBody>
        </p:sp>
        <p:sp>
          <p:nvSpPr>
            <p:cNvPr id="35" name="矢印: 五方向 34">
              <a:extLst>
                <a:ext uri="{FF2B5EF4-FFF2-40B4-BE49-F238E27FC236}">
                  <a16:creationId xmlns:a16="http://schemas.microsoft.com/office/drawing/2014/main" id="{91F54A71-02F6-464D-F051-D1C33949E644}"/>
                </a:ext>
              </a:extLst>
            </p:cNvPr>
            <p:cNvSpPr/>
            <p:nvPr/>
          </p:nvSpPr>
          <p:spPr>
            <a:xfrm>
              <a:off x="5073854" y="3112753"/>
              <a:ext cx="1448226" cy="437141"/>
            </a:xfrm>
            <a:prstGeom prst="homePlate">
              <a:avLst>
                <a:gd name="adj" fmla="val 18158"/>
              </a:avLst>
            </a:prstGeom>
            <a:noFill/>
            <a:ln w="19050" cmpd="sng">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lumMod val="50000"/>
                    </a:srgbClr>
                  </a:solidFill>
                  <a:effectLst/>
                  <a:uLnTx/>
                  <a:uFillTx/>
                  <a:latin typeface="メイリオ"/>
                  <a:ea typeface="メイリオ"/>
                  <a:cs typeface="+mn-cs"/>
                </a:rPr>
                <a:t>引合費例月フォロ</a:t>
              </a:r>
              <a:endParaRPr kumimoji="1" lang="en-US" altLang="ja-JP" sz="1000" b="1" i="0" u="none" strike="noStrike" kern="1200" cap="none" spc="0" normalizeH="0" baseline="0" noProof="0" dirty="0">
                <a:ln>
                  <a:noFill/>
                </a:ln>
                <a:solidFill>
                  <a:srgbClr val="FFFFFF">
                    <a:lumMod val="50000"/>
                  </a:srgbClr>
                </a:solidFill>
                <a:effectLst/>
                <a:uLnTx/>
                <a:uFillTx/>
                <a:latin typeface="メイリオ"/>
                <a:ea typeface="メイリオ"/>
                <a:cs typeface="+mn-cs"/>
              </a:endParaRPr>
            </a:p>
          </p:txBody>
        </p:sp>
        <p:sp>
          <p:nvSpPr>
            <p:cNvPr id="36" name="矢印: 五方向 35">
              <a:extLst>
                <a:ext uri="{FF2B5EF4-FFF2-40B4-BE49-F238E27FC236}">
                  <a16:creationId xmlns:a16="http://schemas.microsoft.com/office/drawing/2014/main" id="{B1C5F858-722D-5A6C-37C1-48D862F637F6}"/>
                </a:ext>
              </a:extLst>
            </p:cNvPr>
            <p:cNvSpPr/>
            <p:nvPr/>
          </p:nvSpPr>
          <p:spPr>
            <a:xfrm>
              <a:off x="6690872" y="3112753"/>
              <a:ext cx="1266649" cy="437141"/>
            </a:xfrm>
            <a:prstGeom prst="homePlate">
              <a:avLst>
                <a:gd name="adj" fmla="val 19879"/>
              </a:avLst>
            </a:prstGeom>
            <a:noFill/>
            <a:ln w="19050" cmpd="sng">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lumMod val="50000"/>
                    </a:srgbClr>
                  </a:solidFill>
                  <a:effectLst/>
                  <a:uLnTx/>
                  <a:uFillTx/>
                  <a:latin typeface="メイリオ" panose="020B0604030504040204" pitchFamily="50" charset="-128"/>
                  <a:ea typeface="メイリオ" panose="020B0604030504040204" pitchFamily="50" charset="-128"/>
                  <a:cs typeface="+mn-cs"/>
                </a:rPr>
                <a:t>引合効率化の活動</a:t>
              </a:r>
              <a:endParaRPr kumimoji="1" lang="en-US" altLang="ja-JP" sz="1000" b="1" i="0" u="none" strike="noStrike" kern="1200" cap="none" spc="0" normalizeH="0" baseline="0" noProof="0" dirty="0">
                <a:ln>
                  <a:noFill/>
                </a:ln>
                <a:solidFill>
                  <a:srgbClr val="FFFFFF">
                    <a:lumMod val="50000"/>
                  </a:srgbClr>
                </a:solidFill>
                <a:effectLst/>
                <a:uLnTx/>
                <a:uFillTx/>
                <a:latin typeface="メイリオ" panose="020B0604030504040204" pitchFamily="50" charset="-128"/>
                <a:ea typeface="メイリオ" panose="020B0604030504040204" pitchFamily="50" charset="-128"/>
                <a:cs typeface="+mn-cs"/>
              </a:endParaRPr>
            </a:p>
          </p:txBody>
        </p:sp>
        <p:sp>
          <p:nvSpPr>
            <p:cNvPr id="37" name="矢印: 五方向 36">
              <a:extLst>
                <a:ext uri="{FF2B5EF4-FFF2-40B4-BE49-F238E27FC236}">
                  <a16:creationId xmlns:a16="http://schemas.microsoft.com/office/drawing/2014/main" id="{FD4109C6-4049-03FA-4C43-030396801D92}"/>
                </a:ext>
              </a:extLst>
            </p:cNvPr>
            <p:cNvSpPr/>
            <p:nvPr/>
          </p:nvSpPr>
          <p:spPr>
            <a:xfrm>
              <a:off x="2168783" y="3120117"/>
              <a:ext cx="1047481" cy="437141"/>
            </a:xfrm>
            <a:prstGeom prst="homePlate">
              <a:avLst>
                <a:gd name="adj" fmla="val 19018"/>
              </a:avLst>
            </a:prstGeom>
            <a:solidFill>
              <a:srgbClr val="567783"/>
            </a:solidFill>
            <a:ln w="3175" cmpd="sng">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引合活動遂行</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p:txBody>
        </p:sp>
        <p:sp>
          <p:nvSpPr>
            <p:cNvPr id="38" name="矢印: 五方向 37">
              <a:extLst>
                <a:ext uri="{FF2B5EF4-FFF2-40B4-BE49-F238E27FC236}">
                  <a16:creationId xmlns:a16="http://schemas.microsoft.com/office/drawing/2014/main" id="{96E48F26-DE3D-D836-15F0-3D77BE33AF29}"/>
                </a:ext>
              </a:extLst>
            </p:cNvPr>
            <p:cNvSpPr/>
            <p:nvPr/>
          </p:nvSpPr>
          <p:spPr>
            <a:xfrm>
              <a:off x="4564613" y="2592085"/>
              <a:ext cx="434149" cy="957809"/>
            </a:xfrm>
            <a:prstGeom prst="homePlate">
              <a:avLst>
                <a:gd name="adj" fmla="val 18158"/>
              </a:avLst>
            </a:prstGeom>
            <a:noFill/>
            <a:ln w="19050" cmpd="sng">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7F7F7F"/>
                  </a:solidFill>
                  <a:effectLst/>
                  <a:uLnTx/>
                  <a:uFillTx/>
                  <a:latin typeface="メイリオ"/>
                  <a:ea typeface="メイリオ"/>
                  <a:cs typeface="+mn-cs"/>
                </a:rPr>
                <a:t>採算</a:t>
              </a:r>
              <a:endParaRPr kumimoji="1" lang="en-US" altLang="ja-JP" sz="1000" b="1" i="0" u="none" strike="noStrike" kern="1200" cap="none" spc="0" normalizeH="0" baseline="0" noProof="0" dirty="0">
                <a:ln>
                  <a:noFill/>
                </a:ln>
                <a:solidFill>
                  <a:srgbClr val="7F7F7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7F7F7F"/>
                  </a:solidFill>
                  <a:effectLst/>
                  <a:uLnTx/>
                  <a:uFillTx/>
                  <a:latin typeface="メイリオ"/>
                  <a:ea typeface="メイリオ"/>
                  <a:cs typeface="+mn-cs"/>
                </a:rPr>
                <a:t>状況</a:t>
              </a:r>
              <a:endParaRPr kumimoji="1" lang="en-US" altLang="ja-JP" sz="1000" b="1" i="0" u="none" strike="noStrike" kern="1200" cap="none" spc="0" normalizeH="0" baseline="0" noProof="0" dirty="0">
                <a:ln>
                  <a:noFill/>
                </a:ln>
                <a:solidFill>
                  <a:srgbClr val="7F7F7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7F7F7F"/>
                  </a:solidFill>
                  <a:effectLst/>
                  <a:uLnTx/>
                  <a:uFillTx/>
                  <a:latin typeface="メイリオ"/>
                  <a:ea typeface="メイリオ"/>
                  <a:cs typeface="+mn-cs"/>
                </a:rPr>
                <a:t>把握</a:t>
              </a:r>
              <a:endParaRPr kumimoji="1" lang="en-US" altLang="ja-JP" sz="1000" b="1" i="0" u="none" strike="noStrike" kern="1200" cap="none" spc="0" normalizeH="0" baseline="0" noProof="0" dirty="0">
                <a:ln>
                  <a:noFill/>
                </a:ln>
                <a:solidFill>
                  <a:srgbClr val="7F7F7F"/>
                </a:solidFill>
                <a:effectLst/>
                <a:uLnTx/>
                <a:uFillTx/>
                <a:latin typeface="メイリオ"/>
                <a:ea typeface="メイリオ"/>
                <a:cs typeface="+mn-cs"/>
              </a:endParaRPr>
            </a:p>
          </p:txBody>
        </p:sp>
        <p:sp>
          <p:nvSpPr>
            <p:cNvPr id="39" name="矢印: 五方向 38">
              <a:extLst>
                <a:ext uri="{FF2B5EF4-FFF2-40B4-BE49-F238E27FC236}">
                  <a16:creationId xmlns:a16="http://schemas.microsoft.com/office/drawing/2014/main" id="{6640D089-7156-64A8-59AC-078601B9C167}"/>
                </a:ext>
              </a:extLst>
            </p:cNvPr>
            <p:cNvSpPr/>
            <p:nvPr/>
          </p:nvSpPr>
          <p:spPr>
            <a:xfrm>
              <a:off x="1695746" y="2592085"/>
              <a:ext cx="1074187" cy="437141"/>
            </a:xfrm>
            <a:prstGeom prst="homePlate">
              <a:avLst>
                <a:gd name="adj" fmla="val 19018"/>
              </a:avLst>
            </a:prstGeom>
            <a:solidFill>
              <a:srgbClr val="567783"/>
            </a:solidFill>
            <a:ln w="3175" cmpd="sng">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生産工事計画</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オーダ単位</a:t>
              </a: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p>
          </p:txBody>
        </p:sp>
      </p:grpSp>
      <p:sp>
        <p:nvSpPr>
          <p:cNvPr id="40" name="矢印: 五方向 39">
            <a:extLst>
              <a:ext uri="{FF2B5EF4-FFF2-40B4-BE49-F238E27FC236}">
                <a16:creationId xmlns:a16="http://schemas.microsoft.com/office/drawing/2014/main" id="{5C5876A5-70D4-B92E-7E91-200F3A839AD4}"/>
              </a:ext>
            </a:extLst>
          </p:cNvPr>
          <p:cNvSpPr/>
          <p:nvPr/>
        </p:nvSpPr>
        <p:spPr>
          <a:xfrm>
            <a:off x="1624518" y="5074979"/>
            <a:ext cx="1074187" cy="437141"/>
          </a:xfrm>
          <a:prstGeom prst="homePlate">
            <a:avLst>
              <a:gd name="adj" fmla="val 19018"/>
            </a:avLst>
          </a:prstGeom>
          <a:solidFill>
            <a:srgbClr val="567783"/>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生産工事計画</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DC6914">
                    <a:lumMod val="40000"/>
                    <a:lumOff val="60000"/>
                  </a:srgbClr>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DC6914">
                    <a:lumMod val="40000"/>
                    <a:lumOff val="60000"/>
                  </a:srgbClr>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rgbClr val="DC6914">
                    <a:lumMod val="40000"/>
                    <a:lumOff val="60000"/>
                  </a:srgbClr>
                </a:solidFill>
                <a:effectLst/>
                <a:uLnTx/>
                <a:uFillTx/>
                <a:latin typeface="メイリオ"/>
                <a:ea typeface="メイリオ"/>
                <a:cs typeface="+mn-cs"/>
              </a:rPr>
              <a:t>)</a:t>
            </a:r>
          </a:p>
        </p:txBody>
      </p:sp>
      <p:sp>
        <p:nvSpPr>
          <p:cNvPr id="45" name="四角形: 角を丸くする 44">
            <a:extLst>
              <a:ext uri="{FF2B5EF4-FFF2-40B4-BE49-F238E27FC236}">
                <a16:creationId xmlns:a16="http://schemas.microsoft.com/office/drawing/2014/main" id="{221A7711-1194-B366-7319-40849963859D}"/>
              </a:ext>
            </a:extLst>
          </p:cNvPr>
          <p:cNvSpPr/>
          <p:nvPr/>
        </p:nvSpPr>
        <p:spPr>
          <a:xfrm>
            <a:off x="1491243" y="2430925"/>
            <a:ext cx="2766388" cy="1019933"/>
          </a:xfrm>
          <a:prstGeom prst="roundRect">
            <a:avLst>
              <a:gd name="adj" fmla="val 3513"/>
            </a:avLst>
          </a:prstGeom>
          <a:noFill/>
          <a:ln w="1905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dirty="0">
              <a:ln>
                <a:noFill/>
              </a:ln>
              <a:solidFill>
                <a:srgbClr val="000000"/>
              </a:solidFill>
              <a:effectLst/>
              <a:uLnTx/>
              <a:uFillTx/>
              <a:latin typeface="メイリオ"/>
              <a:ea typeface="メイリオ"/>
              <a:cs typeface="+mn-cs"/>
            </a:endParaRPr>
          </a:p>
        </p:txBody>
      </p:sp>
      <p:sp>
        <p:nvSpPr>
          <p:cNvPr id="46" name="テキスト ボックス 45">
            <a:extLst>
              <a:ext uri="{FF2B5EF4-FFF2-40B4-BE49-F238E27FC236}">
                <a16:creationId xmlns:a16="http://schemas.microsoft.com/office/drawing/2014/main" id="{4FFFDEAB-3C46-4B14-ABA4-0E7751AE6DE9}"/>
              </a:ext>
            </a:extLst>
          </p:cNvPr>
          <p:cNvSpPr txBox="1"/>
          <p:nvPr/>
        </p:nvSpPr>
        <p:spPr>
          <a:xfrm>
            <a:off x="2462299" y="3463116"/>
            <a:ext cx="1872208"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i="0" u="none" strike="noStrike" kern="1200" cap="none" spc="0" normalizeH="0" baseline="0" noProof="0" dirty="0">
                <a:ln>
                  <a:noFill/>
                </a:ln>
                <a:solidFill>
                  <a:srgbClr val="FF0000"/>
                </a:solidFill>
                <a:effectLst/>
                <a:highlight>
                  <a:srgbClr val="FFFFFF"/>
                </a:highlight>
                <a:uLnTx/>
                <a:uFillTx/>
                <a:latin typeface="Arial"/>
                <a:ea typeface="メイリオ"/>
                <a:cs typeface="+mn-cs"/>
              </a:rPr>
              <a:t>従来</a:t>
            </a:r>
            <a:r>
              <a:rPr kumimoji="1" lang="en-US" altLang="ja-JP" sz="1050" b="1" i="0" u="none" strike="noStrike" kern="1200" cap="none" spc="0" normalizeH="0" baseline="0" noProof="0" dirty="0">
                <a:ln>
                  <a:noFill/>
                </a:ln>
                <a:solidFill>
                  <a:srgbClr val="FF0000"/>
                </a:solidFill>
                <a:effectLst/>
                <a:highlight>
                  <a:srgbClr val="FFFFFF"/>
                </a:highlight>
                <a:uLnTx/>
                <a:uFillTx/>
                <a:latin typeface="Arial"/>
                <a:ea typeface="メイリオ"/>
                <a:cs typeface="+mn-cs"/>
              </a:rPr>
              <a:t>PM</a:t>
            </a:r>
            <a:r>
              <a:rPr kumimoji="1" lang="ja-JP" altLang="en-US" sz="1050" b="1" i="0" u="none" strike="noStrike" kern="1200" cap="none" spc="0" normalizeH="0" baseline="0" noProof="0" dirty="0">
                <a:ln>
                  <a:noFill/>
                </a:ln>
                <a:solidFill>
                  <a:srgbClr val="FF0000"/>
                </a:solidFill>
                <a:effectLst/>
                <a:highlight>
                  <a:srgbClr val="FFFFFF"/>
                </a:highlight>
                <a:uLnTx/>
                <a:uFillTx/>
                <a:latin typeface="Arial"/>
                <a:ea typeface="メイリオ"/>
                <a:cs typeface="+mn-cs"/>
              </a:rPr>
              <a:t>のマネジメント範囲</a:t>
            </a:r>
          </a:p>
        </p:txBody>
      </p:sp>
      <p:sp>
        <p:nvSpPr>
          <p:cNvPr id="47" name="四角形: 角を丸くする 46">
            <a:extLst>
              <a:ext uri="{FF2B5EF4-FFF2-40B4-BE49-F238E27FC236}">
                <a16:creationId xmlns:a16="http://schemas.microsoft.com/office/drawing/2014/main" id="{A7D5BAF5-5B39-7DC6-4C5A-06780C69B1D6}"/>
              </a:ext>
            </a:extLst>
          </p:cNvPr>
          <p:cNvSpPr/>
          <p:nvPr/>
        </p:nvSpPr>
        <p:spPr>
          <a:xfrm>
            <a:off x="10845" y="4604240"/>
            <a:ext cx="8235723" cy="1616493"/>
          </a:xfrm>
          <a:prstGeom prst="roundRect">
            <a:avLst>
              <a:gd name="adj" fmla="val 3513"/>
            </a:avLst>
          </a:prstGeom>
          <a:noFill/>
          <a:ln w="1905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dirty="0">
              <a:ln>
                <a:noFill/>
              </a:ln>
              <a:solidFill>
                <a:srgbClr val="000000"/>
              </a:solidFill>
              <a:effectLst/>
              <a:uLnTx/>
              <a:uFillTx/>
              <a:latin typeface="メイリオ"/>
              <a:ea typeface="メイリオ"/>
              <a:cs typeface="+mn-cs"/>
            </a:endParaRPr>
          </a:p>
        </p:txBody>
      </p:sp>
      <p:sp>
        <p:nvSpPr>
          <p:cNvPr id="48" name="テキスト ボックス 47">
            <a:extLst>
              <a:ext uri="{FF2B5EF4-FFF2-40B4-BE49-F238E27FC236}">
                <a16:creationId xmlns:a16="http://schemas.microsoft.com/office/drawing/2014/main" id="{ABDB18D7-8963-F801-3A9B-BB530604C207}"/>
              </a:ext>
            </a:extLst>
          </p:cNvPr>
          <p:cNvSpPr txBox="1"/>
          <p:nvPr/>
        </p:nvSpPr>
        <p:spPr>
          <a:xfrm>
            <a:off x="2213634" y="4376796"/>
            <a:ext cx="2345557"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i="0" u="none" strike="noStrike" kern="1200" cap="none" spc="0" normalizeH="0" baseline="0" noProof="0" dirty="0">
                <a:ln>
                  <a:noFill/>
                </a:ln>
                <a:solidFill>
                  <a:srgbClr val="FF0000"/>
                </a:solidFill>
                <a:effectLst/>
                <a:highlight>
                  <a:srgbClr val="FFFFFF"/>
                </a:highlight>
                <a:uLnTx/>
                <a:uFillTx/>
                <a:latin typeface="Arial"/>
                <a:ea typeface="メイリオ"/>
                <a:cs typeface="+mn-cs"/>
              </a:rPr>
              <a:t>目標とする</a:t>
            </a:r>
            <a:r>
              <a:rPr kumimoji="1" lang="en-US" altLang="ja-JP" sz="1050" b="1" i="0" u="none" strike="noStrike" kern="1200" cap="none" spc="0" normalizeH="0" baseline="0" noProof="0" dirty="0">
                <a:ln>
                  <a:noFill/>
                </a:ln>
                <a:solidFill>
                  <a:srgbClr val="FF0000"/>
                </a:solidFill>
                <a:effectLst/>
                <a:highlight>
                  <a:srgbClr val="FFFFFF"/>
                </a:highlight>
                <a:uLnTx/>
                <a:uFillTx/>
                <a:latin typeface="Arial"/>
                <a:ea typeface="メイリオ"/>
                <a:cs typeface="+mn-cs"/>
              </a:rPr>
              <a:t>PM</a:t>
            </a:r>
            <a:r>
              <a:rPr kumimoji="1" lang="ja-JP" altLang="en-US" sz="1050" b="1" i="0" u="none" strike="noStrike" kern="1200" cap="none" spc="0" normalizeH="0" baseline="0" noProof="0" dirty="0">
                <a:ln>
                  <a:noFill/>
                </a:ln>
                <a:solidFill>
                  <a:srgbClr val="FF0000"/>
                </a:solidFill>
                <a:effectLst/>
                <a:highlight>
                  <a:srgbClr val="FFFFFF"/>
                </a:highlight>
                <a:uLnTx/>
                <a:uFillTx/>
                <a:latin typeface="Arial"/>
                <a:ea typeface="メイリオ"/>
                <a:cs typeface="+mn-cs"/>
              </a:rPr>
              <a:t>のマネジメント範囲</a:t>
            </a:r>
          </a:p>
        </p:txBody>
      </p:sp>
      <p:sp>
        <p:nvSpPr>
          <p:cNvPr id="49" name="正方形/長方形 48">
            <a:extLst>
              <a:ext uri="{FF2B5EF4-FFF2-40B4-BE49-F238E27FC236}">
                <a16:creationId xmlns:a16="http://schemas.microsoft.com/office/drawing/2014/main" id="{578611B0-ACA0-7CA6-115E-33021F24E5E2}"/>
              </a:ext>
            </a:extLst>
          </p:cNvPr>
          <p:cNvSpPr/>
          <p:nvPr/>
        </p:nvSpPr>
        <p:spPr>
          <a:xfrm>
            <a:off x="8248530" y="2123872"/>
            <a:ext cx="722575" cy="250756"/>
          </a:xfrm>
          <a:prstGeom prst="rect">
            <a:avLst/>
          </a:prstGeom>
          <a:noFill/>
          <a:ln w="19050" cmpd="sng">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lumMod val="50000"/>
                  </a:srgbClr>
                </a:solidFill>
                <a:effectLst/>
                <a:uLnTx/>
                <a:uFillTx/>
                <a:latin typeface="メイリオ" panose="020B0604030504040204" pitchFamily="50" charset="-128"/>
                <a:ea typeface="メイリオ" panose="020B0604030504040204" pitchFamily="50" charset="-128"/>
                <a:cs typeface="+mn-cs"/>
              </a:rPr>
              <a:t>現状機能無</a:t>
            </a:r>
          </a:p>
        </p:txBody>
      </p:sp>
      <p:sp>
        <p:nvSpPr>
          <p:cNvPr id="50" name="正方形/長方形 49">
            <a:extLst>
              <a:ext uri="{FF2B5EF4-FFF2-40B4-BE49-F238E27FC236}">
                <a16:creationId xmlns:a16="http://schemas.microsoft.com/office/drawing/2014/main" id="{7D01A7E8-5F8F-2B23-B9C4-87CAF817765D}"/>
              </a:ext>
            </a:extLst>
          </p:cNvPr>
          <p:cNvSpPr/>
          <p:nvPr/>
        </p:nvSpPr>
        <p:spPr>
          <a:xfrm>
            <a:off x="8246568" y="2476937"/>
            <a:ext cx="722575" cy="250756"/>
          </a:xfrm>
          <a:prstGeom prst="rect">
            <a:avLst/>
          </a:prstGeom>
          <a:solidFill>
            <a:schemeClr val="tx2">
              <a:lumMod val="20000"/>
              <a:lumOff val="80000"/>
            </a:schemeClr>
          </a:solidFill>
          <a:ln w="19050" cmpd="sng">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lumMod val="50000"/>
                  </a:srgbClr>
                </a:solidFill>
                <a:effectLst/>
                <a:uLnTx/>
                <a:uFillTx/>
                <a:latin typeface="メイリオ" panose="020B0604030504040204" pitchFamily="50" charset="-128"/>
                <a:ea typeface="メイリオ" panose="020B0604030504040204" pitchFamily="50" charset="-128"/>
                <a:cs typeface="+mn-cs"/>
              </a:rPr>
              <a:t>一部機能有</a:t>
            </a:r>
          </a:p>
        </p:txBody>
      </p:sp>
      <p:sp>
        <p:nvSpPr>
          <p:cNvPr id="51" name="正方形/長方形 50">
            <a:extLst>
              <a:ext uri="{FF2B5EF4-FFF2-40B4-BE49-F238E27FC236}">
                <a16:creationId xmlns:a16="http://schemas.microsoft.com/office/drawing/2014/main" id="{352D84F3-2A30-5985-3709-5BD11DFB7CDE}"/>
              </a:ext>
            </a:extLst>
          </p:cNvPr>
          <p:cNvSpPr/>
          <p:nvPr/>
        </p:nvSpPr>
        <p:spPr>
          <a:xfrm>
            <a:off x="8366416" y="4710782"/>
            <a:ext cx="634735" cy="250756"/>
          </a:xfrm>
          <a:prstGeom prst="rect">
            <a:avLst/>
          </a:prstGeom>
          <a:solidFill>
            <a:srgbClr val="567783"/>
          </a:solidFill>
          <a:ln w="3175" cmpd="sng">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rPr>
              <a:t>既存機能</a:t>
            </a:r>
          </a:p>
        </p:txBody>
      </p:sp>
      <p:sp>
        <p:nvSpPr>
          <p:cNvPr id="52" name="正方形/長方形 51">
            <a:extLst>
              <a:ext uri="{FF2B5EF4-FFF2-40B4-BE49-F238E27FC236}">
                <a16:creationId xmlns:a16="http://schemas.microsoft.com/office/drawing/2014/main" id="{D0182223-F5CC-C65A-E4F9-D5CD898E0C70}"/>
              </a:ext>
            </a:extLst>
          </p:cNvPr>
          <p:cNvSpPr/>
          <p:nvPr/>
        </p:nvSpPr>
        <p:spPr>
          <a:xfrm>
            <a:off x="8378557" y="5038381"/>
            <a:ext cx="634735" cy="250756"/>
          </a:xfrm>
          <a:prstGeom prst="rect">
            <a:avLst/>
          </a:prstGeom>
          <a:solidFill>
            <a:schemeClr val="accent3"/>
          </a:solidFill>
          <a:ln w="3175" cmpd="sng">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rPr>
              <a:t>追加機能</a:t>
            </a:r>
          </a:p>
        </p:txBody>
      </p:sp>
      <p:sp>
        <p:nvSpPr>
          <p:cNvPr id="44" name="矢印: 下 43">
            <a:extLst>
              <a:ext uri="{FF2B5EF4-FFF2-40B4-BE49-F238E27FC236}">
                <a16:creationId xmlns:a16="http://schemas.microsoft.com/office/drawing/2014/main" id="{1E7247BC-F60E-DFCF-5D37-543312BA7F08}"/>
              </a:ext>
            </a:extLst>
          </p:cNvPr>
          <p:cNvSpPr/>
          <p:nvPr/>
        </p:nvSpPr>
        <p:spPr>
          <a:xfrm>
            <a:off x="3174382" y="3752349"/>
            <a:ext cx="293671" cy="533359"/>
          </a:xfrm>
          <a:prstGeom prst="downArrow">
            <a:avLst/>
          </a:prstGeom>
          <a:solidFill>
            <a:srgbClr val="FFFF00"/>
          </a:solid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200" dirty="0">
              <a:solidFill>
                <a:schemeClr val="tx1"/>
              </a:solidFill>
              <a:latin typeface="+mn-ea"/>
            </a:endParaRPr>
          </a:p>
        </p:txBody>
      </p:sp>
      <p:sp>
        <p:nvSpPr>
          <p:cNvPr id="54" name="テキスト ボックス 53">
            <a:extLst>
              <a:ext uri="{FF2B5EF4-FFF2-40B4-BE49-F238E27FC236}">
                <a16:creationId xmlns:a16="http://schemas.microsoft.com/office/drawing/2014/main" id="{6A903FF3-13F9-50BC-8178-713148FF5EAD}"/>
              </a:ext>
            </a:extLst>
          </p:cNvPr>
          <p:cNvSpPr txBox="1"/>
          <p:nvPr/>
        </p:nvSpPr>
        <p:spPr>
          <a:xfrm>
            <a:off x="3471911" y="3802150"/>
            <a:ext cx="2345557" cy="430887"/>
          </a:xfrm>
          <a:prstGeom prst="rect">
            <a:avLst/>
          </a:prstGeom>
          <a:noFill/>
        </p:spPr>
        <p:txBody>
          <a:bodyPr wrap="square" rtlCol="0">
            <a:spAutoFit/>
          </a:bodyPr>
          <a:lstStyle/>
          <a:p>
            <a:r>
              <a:rPr lang="en-US" altLang="ja-JP" sz="1100" b="1" dirty="0"/>
              <a:t>PM</a:t>
            </a:r>
            <a:r>
              <a:rPr lang="ja-JP" altLang="en-US" sz="1100" b="1" dirty="0"/>
              <a:t>中心のマネジメント体制構築</a:t>
            </a:r>
            <a:endParaRPr lang="en-US" altLang="ja-JP" sz="1100" b="1" dirty="0"/>
          </a:p>
          <a:p>
            <a:r>
              <a:rPr lang="ja-JP" altLang="en-US" sz="1100" b="1" dirty="0"/>
              <a:t>＝マネジメント範囲の拡充・拡大</a:t>
            </a:r>
            <a:endParaRPr kumimoji="1" lang="ja-JP" altLang="en-US" sz="1100" b="1" dirty="0"/>
          </a:p>
        </p:txBody>
      </p:sp>
      <p:sp>
        <p:nvSpPr>
          <p:cNvPr id="55" name="テキスト ボックス 54">
            <a:extLst>
              <a:ext uri="{FF2B5EF4-FFF2-40B4-BE49-F238E27FC236}">
                <a16:creationId xmlns:a16="http://schemas.microsoft.com/office/drawing/2014/main" id="{6D28B0CE-6780-6DAB-C85F-F7A3DE9D81EB}"/>
              </a:ext>
            </a:extLst>
          </p:cNvPr>
          <p:cNvSpPr txBox="1"/>
          <p:nvPr/>
        </p:nvSpPr>
        <p:spPr>
          <a:xfrm>
            <a:off x="4070609" y="5910755"/>
            <a:ext cx="1448226" cy="338554"/>
          </a:xfrm>
          <a:prstGeom prst="rect">
            <a:avLst/>
          </a:prstGeom>
          <a:noFill/>
        </p:spPr>
        <p:txBody>
          <a:bodyPr wrap="square" rtlCol="0">
            <a:spAutoFit/>
          </a:bodyPr>
          <a:lstStyle/>
          <a:p>
            <a:r>
              <a:rPr kumimoji="1" lang="ja-JP" altLang="en-US" sz="800" b="1" dirty="0">
                <a:highlight>
                  <a:srgbClr val="C0C0C0"/>
                </a:highlight>
                <a:latin typeface="+mn-ea"/>
              </a:rPr>
              <a:t>フェーズ</a:t>
            </a:r>
            <a:r>
              <a:rPr kumimoji="1" lang="en-US" altLang="ja-JP" sz="800" b="1" dirty="0">
                <a:highlight>
                  <a:srgbClr val="C0C0C0"/>
                </a:highlight>
                <a:latin typeface="+mn-ea"/>
              </a:rPr>
              <a:t>2-1(</a:t>
            </a:r>
            <a:r>
              <a:rPr kumimoji="1" lang="ja-JP" altLang="en-US" sz="800" b="1" dirty="0">
                <a:highlight>
                  <a:srgbClr val="C0C0C0"/>
                </a:highlight>
                <a:latin typeface="+mn-ea"/>
              </a:rPr>
              <a:t>運用未開始</a:t>
            </a:r>
            <a:r>
              <a:rPr kumimoji="1" lang="en-US" altLang="ja-JP" sz="800" b="1" dirty="0">
                <a:highlight>
                  <a:srgbClr val="C0C0C0"/>
                </a:highlight>
                <a:latin typeface="+mn-ea"/>
              </a:rPr>
              <a:t>)</a:t>
            </a:r>
          </a:p>
          <a:p>
            <a:r>
              <a:rPr lang="ja-JP" altLang="en-US" sz="800" b="1" dirty="0">
                <a:highlight>
                  <a:srgbClr val="C0C0C0"/>
                </a:highlight>
                <a:latin typeface="+mn-ea"/>
              </a:rPr>
              <a:t>経営数値</a:t>
            </a:r>
            <a:r>
              <a:rPr kumimoji="1" lang="ja-JP" altLang="en-US" sz="800" b="1" dirty="0">
                <a:highlight>
                  <a:srgbClr val="C0C0C0"/>
                </a:highlight>
                <a:latin typeface="+mn-ea"/>
              </a:rPr>
              <a:t>可視化</a:t>
            </a:r>
          </a:p>
        </p:txBody>
      </p:sp>
      <p:sp>
        <p:nvSpPr>
          <p:cNvPr id="56" name="テキスト ボックス 55">
            <a:extLst>
              <a:ext uri="{FF2B5EF4-FFF2-40B4-BE49-F238E27FC236}">
                <a16:creationId xmlns:a16="http://schemas.microsoft.com/office/drawing/2014/main" id="{5E8083A8-E525-FB2A-ABD4-F3C0644C9606}"/>
              </a:ext>
            </a:extLst>
          </p:cNvPr>
          <p:cNvSpPr txBox="1"/>
          <p:nvPr/>
        </p:nvSpPr>
        <p:spPr>
          <a:xfrm>
            <a:off x="5972804" y="5928629"/>
            <a:ext cx="792088" cy="338554"/>
          </a:xfrm>
          <a:prstGeom prst="rect">
            <a:avLst/>
          </a:prstGeom>
          <a:noFill/>
        </p:spPr>
        <p:txBody>
          <a:bodyPr wrap="square" rtlCol="0">
            <a:spAutoFit/>
          </a:bodyPr>
          <a:lstStyle/>
          <a:p>
            <a:r>
              <a:rPr kumimoji="1" lang="ja-JP" altLang="en-US" sz="800" b="1" dirty="0">
                <a:highlight>
                  <a:srgbClr val="C0C0C0"/>
                </a:highlight>
                <a:latin typeface="+mn-ea"/>
              </a:rPr>
              <a:t>フェーズ</a:t>
            </a:r>
            <a:r>
              <a:rPr kumimoji="1" lang="en-US" altLang="ja-JP" sz="800" b="1" dirty="0">
                <a:highlight>
                  <a:srgbClr val="C0C0C0"/>
                </a:highlight>
                <a:latin typeface="+mn-ea"/>
              </a:rPr>
              <a:t>2-2</a:t>
            </a:r>
          </a:p>
          <a:p>
            <a:r>
              <a:rPr lang="ja-JP" altLang="en-US" sz="800" b="1" dirty="0">
                <a:highlight>
                  <a:srgbClr val="C0C0C0"/>
                </a:highlight>
                <a:latin typeface="+mn-ea"/>
              </a:rPr>
              <a:t>運用開始済</a:t>
            </a:r>
            <a:endParaRPr kumimoji="1" lang="ja-JP" altLang="en-US" sz="800" b="1" dirty="0">
              <a:highlight>
                <a:srgbClr val="C0C0C0"/>
              </a:highlight>
              <a:latin typeface="+mn-ea"/>
            </a:endParaRPr>
          </a:p>
        </p:txBody>
      </p:sp>
      <p:sp>
        <p:nvSpPr>
          <p:cNvPr id="57" name="テキスト ボックス 56">
            <a:extLst>
              <a:ext uri="{FF2B5EF4-FFF2-40B4-BE49-F238E27FC236}">
                <a16:creationId xmlns:a16="http://schemas.microsoft.com/office/drawing/2014/main" id="{D05C40B8-EBB0-641A-F1AC-39B3FB351910}"/>
              </a:ext>
            </a:extLst>
          </p:cNvPr>
          <p:cNvSpPr txBox="1"/>
          <p:nvPr/>
        </p:nvSpPr>
        <p:spPr>
          <a:xfrm>
            <a:off x="7319899" y="5927527"/>
            <a:ext cx="1928431" cy="584775"/>
          </a:xfrm>
          <a:prstGeom prst="rect">
            <a:avLst/>
          </a:prstGeom>
          <a:noFill/>
        </p:spPr>
        <p:txBody>
          <a:bodyPr wrap="square" rtlCol="0">
            <a:spAutoFit/>
          </a:bodyPr>
          <a:lstStyle/>
          <a:p>
            <a:r>
              <a:rPr kumimoji="1" lang="ja-JP" altLang="en-US" sz="800" b="1" dirty="0">
                <a:highlight>
                  <a:srgbClr val="C0C0C0"/>
                </a:highlight>
                <a:latin typeface="+mn-ea"/>
              </a:rPr>
              <a:t>フェーズ</a:t>
            </a:r>
            <a:r>
              <a:rPr kumimoji="1" lang="en-US" altLang="ja-JP" sz="800" b="1" dirty="0">
                <a:highlight>
                  <a:srgbClr val="C0C0C0"/>
                </a:highlight>
                <a:latin typeface="+mn-ea"/>
              </a:rPr>
              <a:t>2-2,3</a:t>
            </a:r>
          </a:p>
          <a:p>
            <a:r>
              <a:rPr lang="ja-JP" altLang="en-US" sz="800" b="1" dirty="0">
                <a:highlight>
                  <a:srgbClr val="C0C0C0"/>
                </a:highlight>
                <a:latin typeface="+mn-ea"/>
              </a:rPr>
              <a:t>・見積効率化</a:t>
            </a:r>
            <a:r>
              <a:rPr lang="en-US" altLang="ja-JP" sz="800" b="1" dirty="0">
                <a:highlight>
                  <a:srgbClr val="C0C0C0"/>
                </a:highlight>
                <a:latin typeface="+mn-ea"/>
              </a:rPr>
              <a:t>(</a:t>
            </a:r>
            <a:r>
              <a:rPr lang="ja-JP" altLang="en-US" sz="800" b="1" dirty="0">
                <a:highlight>
                  <a:srgbClr val="C0C0C0"/>
                </a:highlight>
                <a:latin typeface="+mn-ea"/>
              </a:rPr>
              <a:t>簡略化</a:t>
            </a:r>
            <a:r>
              <a:rPr lang="en-US" altLang="ja-JP" sz="800" b="1" dirty="0">
                <a:highlight>
                  <a:srgbClr val="C0C0C0"/>
                </a:highlight>
                <a:latin typeface="+mn-ea"/>
              </a:rPr>
              <a:t>TT,CATS+)</a:t>
            </a:r>
          </a:p>
          <a:p>
            <a:r>
              <a:rPr lang="ja-JP" altLang="en-US" sz="800" b="1" dirty="0">
                <a:highlight>
                  <a:srgbClr val="C0C0C0"/>
                </a:highlight>
                <a:latin typeface="+mn-ea"/>
              </a:rPr>
              <a:t>・技術照会有償化</a:t>
            </a:r>
            <a:endParaRPr lang="en-US" altLang="ja-JP" sz="800" b="1" dirty="0">
              <a:highlight>
                <a:srgbClr val="C0C0C0"/>
              </a:highlight>
              <a:latin typeface="+mn-ea"/>
            </a:endParaRPr>
          </a:p>
          <a:p>
            <a:r>
              <a:rPr kumimoji="1" lang="ja-JP" altLang="en-US" sz="800" b="1" dirty="0">
                <a:highlight>
                  <a:srgbClr val="C0C0C0"/>
                </a:highlight>
                <a:latin typeface="+mn-ea"/>
              </a:rPr>
              <a:t>・顧客提案ガイドライン</a:t>
            </a:r>
          </a:p>
        </p:txBody>
      </p:sp>
      <p:sp>
        <p:nvSpPr>
          <p:cNvPr id="59" name="テキスト ボックス 58">
            <a:extLst>
              <a:ext uri="{FF2B5EF4-FFF2-40B4-BE49-F238E27FC236}">
                <a16:creationId xmlns:a16="http://schemas.microsoft.com/office/drawing/2014/main" id="{3FC9AA87-119F-1036-8036-C25F59285E8C}"/>
              </a:ext>
            </a:extLst>
          </p:cNvPr>
          <p:cNvSpPr txBox="1"/>
          <p:nvPr/>
        </p:nvSpPr>
        <p:spPr>
          <a:xfrm>
            <a:off x="6053578" y="5345536"/>
            <a:ext cx="732493" cy="338554"/>
          </a:xfrm>
          <a:prstGeom prst="rect">
            <a:avLst/>
          </a:prstGeom>
          <a:noFill/>
        </p:spPr>
        <p:txBody>
          <a:bodyPr wrap="square" rtlCol="0">
            <a:spAutoFit/>
          </a:bodyPr>
          <a:lstStyle/>
          <a:p>
            <a:r>
              <a:rPr kumimoji="1" lang="ja-JP" altLang="en-US" sz="800" b="1" dirty="0">
                <a:highlight>
                  <a:srgbClr val="FFFF00"/>
                </a:highlight>
                <a:latin typeface="+mn-ea"/>
              </a:rPr>
              <a:t>フェーズ</a:t>
            </a:r>
            <a:r>
              <a:rPr kumimoji="1" lang="en-US" altLang="ja-JP" sz="800" b="1" dirty="0">
                <a:highlight>
                  <a:srgbClr val="FFFF00"/>
                </a:highlight>
                <a:latin typeface="+mn-ea"/>
              </a:rPr>
              <a:t>3</a:t>
            </a:r>
          </a:p>
          <a:p>
            <a:r>
              <a:rPr lang="ja-JP" altLang="en-US" sz="800" b="1" dirty="0">
                <a:highlight>
                  <a:srgbClr val="FFFF00"/>
                </a:highlight>
                <a:latin typeface="+mn-ea"/>
              </a:rPr>
              <a:t>業務分析中</a:t>
            </a:r>
            <a:endParaRPr kumimoji="1" lang="ja-JP" altLang="en-US" sz="800" b="1" dirty="0">
              <a:highlight>
                <a:srgbClr val="FFFF00"/>
              </a:highlight>
              <a:latin typeface="+mn-ea"/>
            </a:endParaRPr>
          </a:p>
        </p:txBody>
      </p:sp>
      <p:sp>
        <p:nvSpPr>
          <p:cNvPr id="60" name="テキスト ボックス 59">
            <a:extLst>
              <a:ext uri="{FF2B5EF4-FFF2-40B4-BE49-F238E27FC236}">
                <a16:creationId xmlns:a16="http://schemas.microsoft.com/office/drawing/2014/main" id="{786FB355-BB2A-78E2-02C2-03CC8D666961}"/>
              </a:ext>
            </a:extLst>
          </p:cNvPr>
          <p:cNvSpPr txBox="1"/>
          <p:nvPr/>
        </p:nvSpPr>
        <p:spPr>
          <a:xfrm>
            <a:off x="3912197" y="5362497"/>
            <a:ext cx="732493" cy="338554"/>
          </a:xfrm>
          <a:prstGeom prst="rect">
            <a:avLst/>
          </a:prstGeom>
          <a:noFill/>
        </p:spPr>
        <p:txBody>
          <a:bodyPr wrap="square" rtlCol="0">
            <a:spAutoFit/>
          </a:bodyPr>
          <a:lstStyle/>
          <a:p>
            <a:r>
              <a:rPr kumimoji="1" lang="ja-JP" altLang="en-US" sz="800" b="1" dirty="0">
                <a:highlight>
                  <a:srgbClr val="FFFF00"/>
                </a:highlight>
                <a:latin typeface="+mn-ea"/>
              </a:rPr>
              <a:t>フェーズ</a:t>
            </a:r>
            <a:r>
              <a:rPr kumimoji="1" lang="en-US" altLang="ja-JP" sz="800" b="1" dirty="0">
                <a:highlight>
                  <a:srgbClr val="FFFF00"/>
                </a:highlight>
                <a:latin typeface="+mn-ea"/>
              </a:rPr>
              <a:t>3</a:t>
            </a:r>
          </a:p>
          <a:p>
            <a:r>
              <a:rPr lang="ja-JP" altLang="en-US" sz="800" b="1" dirty="0">
                <a:highlight>
                  <a:srgbClr val="FFFF00"/>
                </a:highlight>
                <a:latin typeface="+mn-ea"/>
              </a:rPr>
              <a:t>業務分析中</a:t>
            </a:r>
            <a:endParaRPr kumimoji="1" lang="ja-JP" altLang="en-US" sz="800" b="1" dirty="0">
              <a:highlight>
                <a:srgbClr val="FFFF00"/>
              </a:highlight>
              <a:latin typeface="+mn-ea"/>
            </a:endParaRPr>
          </a:p>
        </p:txBody>
      </p:sp>
      <p:sp>
        <p:nvSpPr>
          <p:cNvPr id="61" name="テキスト ボックス 60">
            <a:extLst>
              <a:ext uri="{FF2B5EF4-FFF2-40B4-BE49-F238E27FC236}">
                <a16:creationId xmlns:a16="http://schemas.microsoft.com/office/drawing/2014/main" id="{F1881B11-1D81-6A17-D041-AF13B1322F9B}"/>
              </a:ext>
            </a:extLst>
          </p:cNvPr>
          <p:cNvSpPr txBox="1"/>
          <p:nvPr/>
        </p:nvSpPr>
        <p:spPr>
          <a:xfrm>
            <a:off x="450883" y="5928629"/>
            <a:ext cx="1493705" cy="338554"/>
          </a:xfrm>
          <a:prstGeom prst="rect">
            <a:avLst/>
          </a:prstGeom>
          <a:noFill/>
        </p:spPr>
        <p:txBody>
          <a:bodyPr wrap="square" rtlCol="0">
            <a:spAutoFit/>
          </a:bodyPr>
          <a:lstStyle/>
          <a:p>
            <a:r>
              <a:rPr lang="ja-JP" altLang="en-US" sz="800" b="1" dirty="0">
                <a:highlight>
                  <a:srgbClr val="C0C0C0"/>
                </a:highlight>
                <a:latin typeface="+mn-ea"/>
              </a:rPr>
              <a:t>フェーズ</a:t>
            </a:r>
            <a:r>
              <a:rPr lang="en-US" altLang="ja-JP" sz="800" b="1" dirty="0">
                <a:highlight>
                  <a:srgbClr val="C0C0C0"/>
                </a:highlight>
                <a:latin typeface="+mn-ea"/>
              </a:rPr>
              <a:t>2-3(</a:t>
            </a:r>
            <a:r>
              <a:rPr lang="ja-JP" altLang="en-US" sz="800" b="1" dirty="0">
                <a:highlight>
                  <a:srgbClr val="C0C0C0"/>
                </a:highlight>
                <a:latin typeface="+mn-ea"/>
              </a:rPr>
              <a:t>運用未開始</a:t>
            </a:r>
            <a:r>
              <a:rPr lang="en-US" altLang="ja-JP" sz="800" b="1" dirty="0">
                <a:highlight>
                  <a:srgbClr val="C0C0C0"/>
                </a:highlight>
                <a:latin typeface="+mn-ea"/>
              </a:rPr>
              <a:t>)</a:t>
            </a:r>
          </a:p>
          <a:p>
            <a:r>
              <a:rPr lang="ja-JP" altLang="en-US" sz="800" b="1" dirty="0">
                <a:highlight>
                  <a:srgbClr val="C0C0C0"/>
                </a:highlight>
                <a:latin typeface="+mn-ea"/>
              </a:rPr>
              <a:t>引合費予算配分フォーム</a:t>
            </a:r>
            <a:endParaRPr lang="en-US" altLang="ja-JP" sz="800" b="1" dirty="0">
              <a:highlight>
                <a:srgbClr val="C0C0C0"/>
              </a:highlight>
              <a:latin typeface="+mn-ea"/>
            </a:endParaRPr>
          </a:p>
        </p:txBody>
      </p:sp>
      <p:sp>
        <p:nvSpPr>
          <p:cNvPr id="62" name="テキスト ボックス 61">
            <a:extLst>
              <a:ext uri="{FF2B5EF4-FFF2-40B4-BE49-F238E27FC236}">
                <a16:creationId xmlns:a16="http://schemas.microsoft.com/office/drawing/2014/main" id="{62FD7739-ACF7-9742-4D57-BF286CCC23D3}"/>
              </a:ext>
            </a:extLst>
          </p:cNvPr>
          <p:cNvSpPr txBox="1"/>
          <p:nvPr/>
        </p:nvSpPr>
        <p:spPr>
          <a:xfrm>
            <a:off x="860653" y="5414113"/>
            <a:ext cx="732426" cy="215444"/>
          </a:xfrm>
          <a:prstGeom prst="rect">
            <a:avLst/>
          </a:prstGeom>
          <a:noFill/>
        </p:spPr>
        <p:txBody>
          <a:bodyPr wrap="square" rtlCol="0">
            <a:spAutoFit/>
          </a:bodyPr>
          <a:lstStyle/>
          <a:p>
            <a:r>
              <a:rPr lang="en-US" altLang="ja-JP" sz="800" b="1" dirty="0">
                <a:highlight>
                  <a:srgbClr val="C0C0C0"/>
                </a:highlight>
                <a:latin typeface="+mn-ea"/>
              </a:rPr>
              <a:t>WP</a:t>
            </a:r>
            <a:r>
              <a:rPr lang="ja-JP" altLang="en-US" sz="800" b="1" dirty="0">
                <a:highlight>
                  <a:srgbClr val="C0C0C0"/>
                </a:highlight>
                <a:latin typeface="+mn-ea"/>
              </a:rPr>
              <a:t>未対応</a:t>
            </a:r>
            <a:endParaRPr kumimoji="1" lang="en-US" altLang="ja-JP" sz="800" b="1" dirty="0">
              <a:highlight>
                <a:srgbClr val="C0C0C0"/>
              </a:highlight>
              <a:latin typeface="+mn-ea"/>
            </a:endParaRPr>
          </a:p>
        </p:txBody>
      </p:sp>
      <p:sp>
        <p:nvSpPr>
          <p:cNvPr id="63" name="テキスト ボックス 62">
            <a:extLst>
              <a:ext uri="{FF2B5EF4-FFF2-40B4-BE49-F238E27FC236}">
                <a16:creationId xmlns:a16="http://schemas.microsoft.com/office/drawing/2014/main" id="{0787F831-B860-D132-A086-E4DD89998BBB}"/>
              </a:ext>
            </a:extLst>
          </p:cNvPr>
          <p:cNvSpPr txBox="1"/>
          <p:nvPr/>
        </p:nvSpPr>
        <p:spPr>
          <a:xfrm>
            <a:off x="7667826" y="5345536"/>
            <a:ext cx="732493" cy="338554"/>
          </a:xfrm>
          <a:prstGeom prst="rect">
            <a:avLst/>
          </a:prstGeom>
          <a:noFill/>
        </p:spPr>
        <p:txBody>
          <a:bodyPr wrap="square" rtlCol="0">
            <a:spAutoFit/>
          </a:bodyPr>
          <a:lstStyle/>
          <a:p>
            <a:r>
              <a:rPr kumimoji="1" lang="ja-JP" altLang="en-US" sz="800" b="1" dirty="0">
                <a:highlight>
                  <a:srgbClr val="FFFF00"/>
                </a:highlight>
                <a:latin typeface="+mn-ea"/>
              </a:rPr>
              <a:t>フェーズ</a:t>
            </a:r>
            <a:r>
              <a:rPr kumimoji="1" lang="en-US" altLang="ja-JP" sz="800" b="1" dirty="0">
                <a:highlight>
                  <a:srgbClr val="FFFF00"/>
                </a:highlight>
                <a:latin typeface="+mn-ea"/>
              </a:rPr>
              <a:t>3</a:t>
            </a:r>
          </a:p>
          <a:p>
            <a:r>
              <a:rPr lang="ja-JP" altLang="en-US" sz="800" b="1" dirty="0">
                <a:highlight>
                  <a:srgbClr val="FFFF00"/>
                </a:highlight>
                <a:latin typeface="+mn-ea"/>
              </a:rPr>
              <a:t>業務分析中</a:t>
            </a:r>
            <a:endParaRPr kumimoji="1" lang="ja-JP" altLang="en-US" sz="800" b="1" dirty="0">
              <a:highlight>
                <a:srgbClr val="FFFF00"/>
              </a:highlight>
              <a:latin typeface="+mn-ea"/>
            </a:endParaRPr>
          </a:p>
        </p:txBody>
      </p:sp>
      <p:sp>
        <p:nvSpPr>
          <p:cNvPr id="64" name="テキスト ボックス 63">
            <a:extLst>
              <a:ext uri="{FF2B5EF4-FFF2-40B4-BE49-F238E27FC236}">
                <a16:creationId xmlns:a16="http://schemas.microsoft.com/office/drawing/2014/main" id="{3A5AEA45-425F-9106-5BB3-C088B90D6BDE}"/>
              </a:ext>
            </a:extLst>
          </p:cNvPr>
          <p:cNvSpPr txBox="1"/>
          <p:nvPr/>
        </p:nvSpPr>
        <p:spPr>
          <a:xfrm>
            <a:off x="2441889" y="5327405"/>
            <a:ext cx="732493" cy="338554"/>
          </a:xfrm>
          <a:prstGeom prst="rect">
            <a:avLst/>
          </a:prstGeom>
          <a:noFill/>
        </p:spPr>
        <p:txBody>
          <a:bodyPr wrap="square" rtlCol="0">
            <a:spAutoFit/>
          </a:bodyPr>
          <a:lstStyle/>
          <a:p>
            <a:r>
              <a:rPr kumimoji="1" lang="ja-JP" altLang="en-US" sz="800" b="1" dirty="0">
                <a:highlight>
                  <a:srgbClr val="FFFF00"/>
                </a:highlight>
                <a:latin typeface="+mn-ea"/>
              </a:rPr>
              <a:t>フェーズ</a:t>
            </a:r>
            <a:r>
              <a:rPr kumimoji="1" lang="en-US" altLang="ja-JP" sz="800" b="1" dirty="0">
                <a:highlight>
                  <a:srgbClr val="FFFF00"/>
                </a:highlight>
                <a:latin typeface="+mn-ea"/>
              </a:rPr>
              <a:t>3</a:t>
            </a:r>
          </a:p>
          <a:p>
            <a:r>
              <a:rPr lang="ja-JP" altLang="en-US" sz="800" b="1" dirty="0">
                <a:highlight>
                  <a:srgbClr val="FFFF00"/>
                </a:highlight>
                <a:latin typeface="+mn-ea"/>
              </a:rPr>
              <a:t>業務分析中</a:t>
            </a:r>
            <a:endParaRPr kumimoji="1" lang="ja-JP" altLang="en-US" sz="800" b="1" dirty="0">
              <a:highlight>
                <a:srgbClr val="FFFF00"/>
              </a:highlight>
              <a:latin typeface="+mn-ea"/>
            </a:endParaRPr>
          </a:p>
        </p:txBody>
      </p:sp>
      <p:sp>
        <p:nvSpPr>
          <p:cNvPr id="66" name="テキスト ボックス 65">
            <a:extLst>
              <a:ext uri="{FF2B5EF4-FFF2-40B4-BE49-F238E27FC236}">
                <a16:creationId xmlns:a16="http://schemas.microsoft.com/office/drawing/2014/main" id="{8F46F1AE-2FFC-A750-0B70-C158EB4E272A}"/>
              </a:ext>
            </a:extLst>
          </p:cNvPr>
          <p:cNvSpPr txBox="1"/>
          <p:nvPr/>
        </p:nvSpPr>
        <p:spPr>
          <a:xfrm>
            <a:off x="-54139" y="1640139"/>
            <a:ext cx="138557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srgbClr val="000000"/>
                </a:solidFill>
                <a:effectLst/>
                <a:uLnTx/>
                <a:uFillTx/>
                <a:latin typeface="Meiryo UI"/>
                <a:ea typeface="Meiryo UI"/>
                <a:cs typeface="+mn-cs"/>
              </a:rPr>
              <a:t>【</a:t>
            </a:r>
            <a:r>
              <a:rPr kumimoji="1" lang="ja-JP" altLang="en-US" sz="1800" b="1" i="0" u="none" strike="noStrike" kern="1200" cap="none" spc="0" normalizeH="0" baseline="0" noProof="0" dirty="0">
                <a:ln>
                  <a:noFill/>
                </a:ln>
                <a:solidFill>
                  <a:srgbClr val="000000"/>
                </a:solidFill>
                <a:effectLst/>
                <a:uLnTx/>
                <a:uFillTx/>
                <a:latin typeface="Meiryo UI"/>
                <a:ea typeface="Meiryo UI"/>
                <a:cs typeface="+mn-cs"/>
              </a:rPr>
              <a:t>従来の姿</a:t>
            </a:r>
            <a:r>
              <a:rPr kumimoji="1" lang="en-US" altLang="ja-JP" sz="1800" b="1" i="0" u="none" strike="noStrike" kern="1200" cap="none" spc="0" normalizeH="0" baseline="0" noProof="0" dirty="0">
                <a:ln>
                  <a:noFill/>
                </a:ln>
                <a:solidFill>
                  <a:srgbClr val="000000"/>
                </a:solidFill>
                <a:effectLst/>
                <a:uLnTx/>
                <a:uFillTx/>
                <a:latin typeface="Meiryo UI"/>
                <a:ea typeface="Meiryo UI"/>
                <a:cs typeface="+mn-cs"/>
              </a:rPr>
              <a:t>】</a:t>
            </a:r>
          </a:p>
        </p:txBody>
      </p:sp>
      <p:sp>
        <p:nvSpPr>
          <p:cNvPr id="67" name="テキスト ボックス 66">
            <a:extLst>
              <a:ext uri="{FF2B5EF4-FFF2-40B4-BE49-F238E27FC236}">
                <a16:creationId xmlns:a16="http://schemas.microsoft.com/office/drawing/2014/main" id="{4A36788F-477E-D4DB-308E-7DE1FD2C9FE1}"/>
              </a:ext>
            </a:extLst>
          </p:cNvPr>
          <p:cNvSpPr txBox="1"/>
          <p:nvPr/>
        </p:nvSpPr>
        <p:spPr>
          <a:xfrm>
            <a:off x="-27317" y="4043842"/>
            <a:ext cx="30165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1" dirty="0">
                <a:solidFill>
                  <a:srgbClr val="000000"/>
                </a:solidFill>
                <a:latin typeface="Meiryo UI"/>
                <a:ea typeface="Meiryo UI"/>
              </a:rPr>
              <a:t>【FY25</a:t>
            </a:r>
            <a:r>
              <a:rPr lang="ja-JP" altLang="en-US" b="1" dirty="0">
                <a:solidFill>
                  <a:srgbClr val="000000"/>
                </a:solidFill>
                <a:latin typeface="Meiryo UI"/>
                <a:ea typeface="Meiryo UI"/>
              </a:rPr>
              <a:t>以降目標とする</a:t>
            </a:r>
            <a:r>
              <a:rPr kumimoji="1" lang="ja-JP" altLang="en-US" sz="1800" b="1" i="0" u="none" strike="noStrike" kern="1200" cap="none" spc="0" normalizeH="0" baseline="0" noProof="0" dirty="0">
                <a:ln>
                  <a:noFill/>
                </a:ln>
                <a:solidFill>
                  <a:srgbClr val="000000"/>
                </a:solidFill>
                <a:effectLst/>
                <a:uLnTx/>
                <a:uFillTx/>
                <a:latin typeface="Meiryo UI"/>
                <a:ea typeface="Meiryo UI"/>
                <a:cs typeface="+mn-cs"/>
              </a:rPr>
              <a:t>姿</a:t>
            </a:r>
            <a:r>
              <a:rPr kumimoji="1" lang="en-US" altLang="ja-JP" sz="1800" b="1" i="0" u="none" strike="noStrike" kern="1200" cap="none" spc="0" normalizeH="0" baseline="0" noProof="0" dirty="0">
                <a:ln>
                  <a:noFill/>
                </a:ln>
                <a:solidFill>
                  <a:srgbClr val="000000"/>
                </a:solidFill>
                <a:effectLst/>
                <a:uLnTx/>
                <a:uFillTx/>
                <a:latin typeface="Meiryo UI"/>
                <a:ea typeface="Meiryo UI"/>
                <a:cs typeface="+mn-cs"/>
              </a:rPr>
              <a:t>】</a:t>
            </a:r>
          </a:p>
        </p:txBody>
      </p:sp>
      <p:sp>
        <p:nvSpPr>
          <p:cNvPr id="68" name="テキスト ボックス 67">
            <a:extLst>
              <a:ext uri="{FF2B5EF4-FFF2-40B4-BE49-F238E27FC236}">
                <a16:creationId xmlns:a16="http://schemas.microsoft.com/office/drawing/2014/main" id="{3BB7A125-D177-89AF-CAA9-C8ACC223FDD2}"/>
              </a:ext>
            </a:extLst>
          </p:cNvPr>
          <p:cNvSpPr txBox="1"/>
          <p:nvPr/>
        </p:nvSpPr>
        <p:spPr>
          <a:xfrm>
            <a:off x="4292876" y="4282903"/>
            <a:ext cx="2675211" cy="369332"/>
          </a:xfrm>
          <a:prstGeom prst="rect">
            <a:avLst/>
          </a:prstGeom>
          <a:noFill/>
        </p:spPr>
        <p:txBody>
          <a:bodyPr wrap="square" rtlCol="0">
            <a:spAutoFit/>
          </a:bodyPr>
          <a:lstStyle/>
          <a:p>
            <a:r>
              <a:rPr kumimoji="1" lang="en-US" altLang="ja-JP" sz="900" b="1" dirty="0">
                <a:highlight>
                  <a:srgbClr val="FFFF00"/>
                </a:highlight>
                <a:latin typeface="+mn-ea"/>
              </a:rPr>
              <a:t>※</a:t>
            </a:r>
            <a:r>
              <a:rPr kumimoji="1" lang="en-US" altLang="ja-JP" sz="900" b="1" u="sng" dirty="0">
                <a:highlight>
                  <a:srgbClr val="FFFF00"/>
                </a:highlight>
                <a:latin typeface="+mn-ea"/>
              </a:rPr>
              <a:t>PM</a:t>
            </a:r>
            <a:r>
              <a:rPr kumimoji="1" lang="ja-JP" altLang="en-US" sz="900" b="1" u="sng" dirty="0">
                <a:highlight>
                  <a:srgbClr val="FFFF00"/>
                </a:highlight>
                <a:latin typeface="+mn-ea"/>
              </a:rPr>
              <a:t>が全ての機能の責任を担うのでなく、</a:t>
            </a:r>
            <a:endParaRPr kumimoji="1" lang="en-US" altLang="ja-JP" sz="900" b="1" u="sng" dirty="0">
              <a:highlight>
                <a:srgbClr val="FFFF00"/>
              </a:highlight>
              <a:latin typeface="+mn-ea"/>
            </a:endParaRPr>
          </a:p>
          <a:p>
            <a:r>
              <a:rPr lang="ja-JP" altLang="en-US" sz="900" b="1" dirty="0">
                <a:highlight>
                  <a:srgbClr val="FFFF00"/>
                </a:highlight>
                <a:latin typeface="+mn-ea"/>
              </a:rPr>
              <a:t>　</a:t>
            </a:r>
            <a:r>
              <a:rPr kumimoji="1" lang="ja-JP" altLang="en-US" sz="900" b="1" u="sng" dirty="0">
                <a:highlight>
                  <a:srgbClr val="FFFF00"/>
                </a:highlight>
                <a:latin typeface="+mn-ea"/>
              </a:rPr>
              <a:t>全部門でバックアップする体制を整えるもの</a:t>
            </a:r>
            <a:endParaRPr kumimoji="1" lang="en-US" altLang="ja-JP" sz="900" b="1" u="sng" dirty="0">
              <a:highlight>
                <a:srgbClr val="FFFF00"/>
              </a:highlight>
              <a:latin typeface="+mn-ea"/>
            </a:endParaRPr>
          </a:p>
        </p:txBody>
      </p:sp>
      <p:sp>
        <p:nvSpPr>
          <p:cNvPr id="70" name="テキスト ボックス 69">
            <a:extLst>
              <a:ext uri="{FF2B5EF4-FFF2-40B4-BE49-F238E27FC236}">
                <a16:creationId xmlns:a16="http://schemas.microsoft.com/office/drawing/2014/main" id="{1A134A57-F032-7695-BA0F-6D1968B30499}"/>
              </a:ext>
            </a:extLst>
          </p:cNvPr>
          <p:cNvSpPr txBox="1"/>
          <p:nvPr/>
        </p:nvSpPr>
        <p:spPr>
          <a:xfrm>
            <a:off x="5724128" y="3236131"/>
            <a:ext cx="622912" cy="200055"/>
          </a:xfrm>
          <a:prstGeom prst="rect">
            <a:avLst/>
          </a:prstGeom>
          <a:noFill/>
        </p:spPr>
        <p:txBody>
          <a:bodyPr wrap="square" rtlCol="0">
            <a:spAutoFit/>
          </a:bodyPr>
          <a:lstStyle/>
          <a:p>
            <a:r>
              <a:rPr kumimoji="1" lang="en-US" altLang="ja-JP" sz="700" b="1" dirty="0">
                <a:solidFill>
                  <a:srgbClr val="7F7F7F"/>
                </a:solidFill>
              </a:rPr>
              <a:t>(</a:t>
            </a:r>
            <a:r>
              <a:rPr kumimoji="1" lang="ja-JP" altLang="en-US" sz="700" b="1" dirty="0">
                <a:solidFill>
                  <a:srgbClr val="7F7F7F"/>
                </a:solidFill>
              </a:rPr>
              <a:t>仕組み無</a:t>
            </a:r>
            <a:r>
              <a:rPr kumimoji="1" lang="en-US" altLang="ja-JP" sz="700" b="1" dirty="0">
                <a:solidFill>
                  <a:srgbClr val="7F7F7F"/>
                </a:solidFill>
              </a:rPr>
              <a:t>)</a:t>
            </a:r>
            <a:endParaRPr kumimoji="1" lang="ja-JP" altLang="en-US" sz="700" b="1" dirty="0">
              <a:solidFill>
                <a:srgbClr val="7F7F7F"/>
              </a:solidFill>
            </a:endParaRPr>
          </a:p>
        </p:txBody>
      </p:sp>
      <p:sp>
        <p:nvSpPr>
          <p:cNvPr id="71" name="テキスト ボックス 70">
            <a:extLst>
              <a:ext uri="{FF2B5EF4-FFF2-40B4-BE49-F238E27FC236}">
                <a16:creationId xmlns:a16="http://schemas.microsoft.com/office/drawing/2014/main" id="{DC5BE757-A047-99B1-3CBB-949364E4109E}"/>
              </a:ext>
            </a:extLst>
          </p:cNvPr>
          <p:cNvSpPr txBox="1"/>
          <p:nvPr/>
        </p:nvSpPr>
        <p:spPr>
          <a:xfrm>
            <a:off x="4341757" y="3236884"/>
            <a:ext cx="622912" cy="200055"/>
          </a:xfrm>
          <a:prstGeom prst="rect">
            <a:avLst/>
          </a:prstGeom>
          <a:noFill/>
        </p:spPr>
        <p:txBody>
          <a:bodyPr wrap="square" rtlCol="0">
            <a:spAutoFit/>
          </a:bodyPr>
          <a:lstStyle/>
          <a:p>
            <a:r>
              <a:rPr kumimoji="1" lang="en-US" altLang="ja-JP" sz="700" b="1" dirty="0">
                <a:solidFill>
                  <a:srgbClr val="7F7F7F"/>
                </a:solidFill>
              </a:rPr>
              <a:t>(</a:t>
            </a:r>
            <a:r>
              <a:rPr lang="ja-JP" altLang="en-US" sz="700" b="1" dirty="0">
                <a:solidFill>
                  <a:srgbClr val="7F7F7F"/>
                </a:solidFill>
              </a:rPr>
              <a:t>機能</a:t>
            </a:r>
            <a:r>
              <a:rPr kumimoji="1" lang="ja-JP" altLang="en-US" sz="700" b="1" dirty="0">
                <a:solidFill>
                  <a:srgbClr val="7F7F7F"/>
                </a:solidFill>
              </a:rPr>
              <a:t>無</a:t>
            </a:r>
            <a:r>
              <a:rPr kumimoji="1" lang="en-US" altLang="ja-JP" sz="700" b="1" dirty="0">
                <a:solidFill>
                  <a:srgbClr val="7F7F7F"/>
                </a:solidFill>
              </a:rPr>
              <a:t>)</a:t>
            </a:r>
            <a:endParaRPr kumimoji="1" lang="ja-JP" altLang="en-US" sz="700" b="1" dirty="0">
              <a:solidFill>
                <a:srgbClr val="7F7F7F"/>
              </a:solidFill>
            </a:endParaRPr>
          </a:p>
        </p:txBody>
      </p:sp>
      <p:sp>
        <p:nvSpPr>
          <p:cNvPr id="72" name="テキスト ボックス 71">
            <a:extLst>
              <a:ext uri="{FF2B5EF4-FFF2-40B4-BE49-F238E27FC236}">
                <a16:creationId xmlns:a16="http://schemas.microsoft.com/office/drawing/2014/main" id="{0C3F1B80-A185-22EC-8025-C935B94161B0}"/>
              </a:ext>
            </a:extLst>
          </p:cNvPr>
          <p:cNvSpPr txBox="1"/>
          <p:nvPr/>
        </p:nvSpPr>
        <p:spPr>
          <a:xfrm>
            <a:off x="6948264" y="3236131"/>
            <a:ext cx="887082" cy="200055"/>
          </a:xfrm>
          <a:prstGeom prst="rect">
            <a:avLst/>
          </a:prstGeom>
          <a:noFill/>
        </p:spPr>
        <p:txBody>
          <a:bodyPr wrap="square" rtlCol="0">
            <a:spAutoFit/>
          </a:bodyPr>
          <a:lstStyle/>
          <a:p>
            <a:r>
              <a:rPr kumimoji="1" lang="en-US" altLang="ja-JP" sz="700" b="1" dirty="0">
                <a:solidFill>
                  <a:srgbClr val="7F7F7F"/>
                </a:solidFill>
              </a:rPr>
              <a:t>(</a:t>
            </a:r>
            <a:r>
              <a:rPr kumimoji="1" lang="ja-JP" altLang="en-US" sz="700" b="1" dirty="0">
                <a:solidFill>
                  <a:srgbClr val="7F7F7F"/>
                </a:solidFill>
              </a:rPr>
              <a:t>実施していない</a:t>
            </a:r>
            <a:r>
              <a:rPr kumimoji="1" lang="en-US" altLang="ja-JP" sz="700" b="1" dirty="0">
                <a:solidFill>
                  <a:srgbClr val="7F7F7F"/>
                </a:solidFill>
              </a:rPr>
              <a:t>)</a:t>
            </a:r>
            <a:endParaRPr kumimoji="1" lang="ja-JP" altLang="en-US" sz="700" b="1" dirty="0">
              <a:solidFill>
                <a:srgbClr val="7F7F7F"/>
              </a:solidFill>
            </a:endParaRPr>
          </a:p>
        </p:txBody>
      </p:sp>
      <p:sp>
        <p:nvSpPr>
          <p:cNvPr id="73" name="テキスト ボックス 72">
            <a:extLst>
              <a:ext uri="{FF2B5EF4-FFF2-40B4-BE49-F238E27FC236}">
                <a16:creationId xmlns:a16="http://schemas.microsoft.com/office/drawing/2014/main" id="{5BF17D0A-5694-1417-EF45-EC7FDB423A4D}"/>
              </a:ext>
            </a:extLst>
          </p:cNvPr>
          <p:cNvSpPr txBox="1"/>
          <p:nvPr/>
        </p:nvSpPr>
        <p:spPr>
          <a:xfrm>
            <a:off x="6948264" y="2741554"/>
            <a:ext cx="887082" cy="200055"/>
          </a:xfrm>
          <a:prstGeom prst="rect">
            <a:avLst/>
          </a:prstGeom>
          <a:noFill/>
        </p:spPr>
        <p:txBody>
          <a:bodyPr wrap="square" rtlCol="0">
            <a:spAutoFit/>
          </a:bodyPr>
          <a:lstStyle/>
          <a:p>
            <a:r>
              <a:rPr kumimoji="1" lang="en-US" altLang="ja-JP" sz="700" b="1" dirty="0">
                <a:solidFill>
                  <a:srgbClr val="7F7F7F"/>
                </a:solidFill>
              </a:rPr>
              <a:t>(</a:t>
            </a:r>
            <a:r>
              <a:rPr kumimoji="1" lang="ja-JP" altLang="en-US" sz="700" b="1" dirty="0">
                <a:solidFill>
                  <a:srgbClr val="7F7F7F"/>
                </a:solidFill>
              </a:rPr>
              <a:t>実施していない</a:t>
            </a:r>
            <a:r>
              <a:rPr kumimoji="1" lang="en-US" altLang="ja-JP" sz="700" b="1" dirty="0">
                <a:solidFill>
                  <a:srgbClr val="7F7F7F"/>
                </a:solidFill>
              </a:rPr>
              <a:t>)</a:t>
            </a:r>
            <a:endParaRPr kumimoji="1" lang="ja-JP" altLang="en-US" sz="700" b="1" dirty="0">
              <a:solidFill>
                <a:srgbClr val="7F7F7F"/>
              </a:solidFill>
            </a:endParaRPr>
          </a:p>
        </p:txBody>
      </p:sp>
      <p:sp>
        <p:nvSpPr>
          <p:cNvPr id="74" name="テキスト ボックス 73">
            <a:extLst>
              <a:ext uri="{FF2B5EF4-FFF2-40B4-BE49-F238E27FC236}">
                <a16:creationId xmlns:a16="http://schemas.microsoft.com/office/drawing/2014/main" id="{E0B5B40A-1D76-82E3-284C-A5009E56784F}"/>
              </a:ext>
            </a:extLst>
          </p:cNvPr>
          <p:cNvSpPr txBox="1"/>
          <p:nvPr/>
        </p:nvSpPr>
        <p:spPr>
          <a:xfrm>
            <a:off x="638646" y="3248539"/>
            <a:ext cx="887082" cy="200055"/>
          </a:xfrm>
          <a:prstGeom prst="rect">
            <a:avLst/>
          </a:prstGeom>
          <a:noFill/>
        </p:spPr>
        <p:txBody>
          <a:bodyPr wrap="square" rtlCol="0">
            <a:spAutoFit/>
          </a:bodyPr>
          <a:lstStyle/>
          <a:p>
            <a:r>
              <a:rPr kumimoji="1" lang="en-US" altLang="ja-JP" sz="700" b="1" dirty="0">
                <a:solidFill>
                  <a:srgbClr val="7F7F7F"/>
                </a:solidFill>
              </a:rPr>
              <a:t>(</a:t>
            </a:r>
            <a:r>
              <a:rPr kumimoji="1" lang="ja-JP" altLang="en-US" sz="700" b="1" dirty="0">
                <a:solidFill>
                  <a:srgbClr val="7F7F7F"/>
                </a:solidFill>
              </a:rPr>
              <a:t>実施していない</a:t>
            </a:r>
            <a:r>
              <a:rPr kumimoji="1" lang="en-US" altLang="ja-JP" sz="700" b="1" dirty="0">
                <a:solidFill>
                  <a:srgbClr val="7F7F7F"/>
                </a:solidFill>
              </a:rPr>
              <a:t>)</a:t>
            </a:r>
            <a:endParaRPr kumimoji="1" lang="ja-JP" altLang="en-US" sz="700" b="1" dirty="0">
              <a:solidFill>
                <a:srgbClr val="7F7F7F"/>
              </a:solidFill>
            </a:endParaRPr>
          </a:p>
        </p:txBody>
      </p:sp>
    </p:spTree>
    <p:extLst>
      <p:ext uri="{BB962C8B-B14F-4D97-AF65-F5344CB8AC3E}">
        <p14:creationId xmlns:p14="http://schemas.microsoft.com/office/powerpoint/2010/main" val="4258286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プレースホルダー 5">
            <a:extLst>
              <a:ext uri="{FF2B5EF4-FFF2-40B4-BE49-F238E27FC236}">
                <a16:creationId xmlns:a16="http://schemas.microsoft.com/office/drawing/2014/main" id="{34CF8142-356C-41EE-B40A-18FBD066C772}"/>
              </a:ext>
            </a:extLst>
          </p:cNvPr>
          <p:cNvSpPr>
            <a:spLocks noGrp="1"/>
          </p:cNvSpPr>
          <p:nvPr>
            <p:ph type="body" sz="quarter" idx="4294967295"/>
          </p:nvPr>
        </p:nvSpPr>
        <p:spPr>
          <a:xfrm>
            <a:off x="179028" y="593833"/>
            <a:ext cx="8851900" cy="477643"/>
          </a:xfrm>
          <a:prstGeom prst="rect">
            <a:avLst/>
          </a:prstGeom>
          <a:solidFill>
            <a:schemeClr val="bg2">
              <a:lumMod val="40000"/>
              <a:lumOff val="60000"/>
            </a:schemeClr>
          </a:solidFill>
        </p:spPr>
        <p:txBody>
          <a:bodyPr anchor="ctr"/>
          <a:lstStyle/>
          <a:p>
            <a:pPr marL="0" indent="0">
              <a:lnSpc>
                <a:spcPct val="100000"/>
              </a:lnSpc>
              <a:spcBef>
                <a:spcPts val="0"/>
              </a:spcBef>
              <a:buNone/>
            </a:pPr>
            <a:r>
              <a:rPr lang="ja-JP" altLang="en-US" sz="1600" dirty="0"/>
              <a:t>■各活動の進捗状況は下表の通り、１１項目のうち５項目の遅れ、それぞれ挽回策を打つ。</a:t>
            </a:r>
            <a:endParaRPr lang="en-US" altLang="ja-JP" sz="1600" dirty="0"/>
          </a:p>
          <a:p>
            <a:pPr marL="0" indent="0">
              <a:lnSpc>
                <a:spcPct val="100000"/>
              </a:lnSpc>
              <a:spcBef>
                <a:spcPts val="0"/>
              </a:spcBef>
              <a:buNone/>
            </a:pPr>
            <a:r>
              <a:rPr lang="ja-JP" altLang="en-US" sz="1600" dirty="0"/>
              <a:t>■本日はフェーズ２からの</a:t>
            </a:r>
            <a:r>
              <a:rPr lang="ja-JP" altLang="en-US" sz="1600" dirty="0">
                <a:highlight>
                  <a:srgbClr val="FFFF00"/>
                </a:highlight>
              </a:rPr>
              <a:t>継続活動の進捗</a:t>
            </a:r>
            <a:r>
              <a:rPr lang="ja-JP" altLang="en-US" sz="1600" dirty="0"/>
              <a:t>及び</a:t>
            </a:r>
            <a:r>
              <a:rPr lang="ja-JP" altLang="en-US" sz="1600" dirty="0">
                <a:highlight>
                  <a:srgbClr val="FFFF00"/>
                </a:highlight>
              </a:rPr>
              <a:t>フェーズ３進捗状況</a:t>
            </a:r>
            <a:r>
              <a:rPr lang="ja-JP" altLang="en-US" sz="1600" dirty="0"/>
              <a:t>を主に報告する。</a:t>
            </a:r>
            <a:endParaRPr lang="en-US" altLang="ja-JP" sz="1600" dirty="0"/>
          </a:p>
        </p:txBody>
      </p:sp>
      <p:sp>
        <p:nvSpPr>
          <p:cNvPr id="23" name="タイトル 4">
            <a:extLst>
              <a:ext uri="{FF2B5EF4-FFF2-40B4-BE49-F238E27FC236}">
                <a16:creationId xmlns:a16="http://schemas.microsoft.com/office/drawing/2014/main" id="{05491E6D-00C7-4651-BAF4-458A048D2E02}"/>
              </a:ext>
            </a:extLst>
          </p:cNvPr>
          <p:cNvSpPr>
            <a:spLocks noGrp="1"/>
          </p:cNvSpPr>
          <p:nvPr>
            <p:ph type="title" idx="4294967295"/>
          </p:nvPr>
        </p:nvSpPr>
        <p:spPr>
          <a:xfrm>
            <a:off x="0" y="134938"/>
            <a:ext cx="7440613" cy="350837"/>
          </a:xfrm>
          <a:prstGeom prst="rect">
            <a:avLst/>
          </a:prstGeom>
        </p:spPr>
        <p:txBody>
          <a:bodyPr/>
          <a:lstStyle/>
          <a:p>
            <a:r>
              <a:rPr lang="ja-JP" altLang="en-US" sz="1800" b="1" dirty="0"/>
              <a:t>３．活動進捗サマリと本日の報告対象</a:t>
            </a:r>
          </a:p>
        </p:txBody>
      </p:sp>
      <p:graphicFrame>
        <p:nvGraphicFramePr>
          <p:cNvPr id="2" name="表 6">
            <a:extLst>
              <a:ext uri="{FF2B5EF4-FFF2-40B4-BE49-F238E27FC236}">
                <a16:creationId xmlns:a16="http://schemas.microsoft.com/office/drawing/2014/main" id="{CA6A6E5B-724E-9402-BE89-AEC72C06DFD5}"/>
              </a:ext>
            </a:extLst>
          </p:cNvPr>
          <p:cNvGraphicFramePr>
            <a:graphicFrameLocks noGrp="1"/>
          </p:cNvGraphicFramePr>
          <p:nvPr>
            <p:extLst>
              <p:ext uri="{D42A27DB-BD31-4B8C-83A1-F6EECF244321}">
                <p14:modId xmlns:p14="http://schemas.microsoft.com/office/powerpoint/2010/main" val="3661775061"/>
              </p:ext>
            </p:extLst>
          </p:nvPr>
        </p:nvGraphicFramePr>
        <p:xfrm>
          <a:off x="35495" y="1268760"/>
          <a:ext cx="9073010" cy="5153728"/>
        </p:xfrm>
        <a:graphic>
          <a:graphicData uri="http://schemas.openxmlformats.org/drawingml/2006/table">
            <a:tbl>
              <a:tblPr firstRow="1" bandRow="1">
                <a:tableStyleId>{9D7B26C5-4107-4FEC-AEDC-1716B250A1EF}</a:tableStyleId>
              </a:tblPr>
              <a:tblGrid>
                <a:gridCol w="648072">
                  <a:extLst>
                    <a:ext uri="{9D8B030D-6E8A-4147-A177-3AD203B41FA5}">
                      <a16:colId xmlns:a16="http://schemas.microsoft.com/office/drawing/2014/main" val="1044953553"/>
                    </a:ext>
                  </a:extLst>
                </a:gridCol>
                <a:gridCol w="2448272">
                  <a:extLst>
                    <a:ext uri="{9D8B030D-6E8A-4147-A177-3AD203B41FA5}">
                      <a16:colId xmlns:a16="http://schemas.microsoft.com/office/drawing/2014/main" val="3584964446"/>
                    </a:ext>
                  </a:extLst>
                </a:gridCol>
                <a:gridCol w="3240360">
                  <a:extLst>
                    <a:ext uri="{9D8B030D-6E8A-4147-A177-3AD203B41FA5}">
                      <a16:colId xmlns:a16="http://schemas.microsoft.com/office/drawing/2014/main" val="350842847"/>
                    </a:ext>
                  </a:extLst>
                </a:gridCol>
                <a:gridCol w="2077781">
                  <a:extLst>
                    <a:ext uri="{9D8B030D-6E8A-4147-A177-3AD203B41FA5}">
                      <a16:colId xmlns:a16="http://schemas.microsoft.com/office/drawing/2014/main" val="2650573269"/>
                    </a:ext>
                  </a:extLst>
                </a:gridCol>
                <a:gridCol w="658525">
                  <a:extLst>
                    <a:ext uri="{9D8B030D-6E8A-4147-A177-3AD203B41FA5}">
                      <a16:colId xmlns:a16="http://schemas.microsoft.com/office/drawing/2014/main" val="2082222364"/>
                    </a:ext>
                  </a:extLst>
                </a:gridCol>
              </a:tblGrid>
              <a:tr h="261951">
                <a:tc>
                  <a:txBody>
                    <a:bodyPr/>
                    <a:lstStyle/>
                    <a:p>
                      <a:pPr algn="ctr"/>
                      <a:r>
                        <a:rPr kumimoji="1" lang="ja-JP" altLang="en-US" b="1" dirty="0">
                          <a:solidFill>
                            <a:schemeClr val="bg1"/>
                          </a:solidFill>
                          <a:latin typeface="+mn-ea"/>
                          <a:ea typeface="+mn-ea"/>
                        </a:rPr>
                        <a:t>分類</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1">
                        <a:lumMod val="50000"/>
                        <a:lumOff val="50000"/>
                      </a:schemeClr>
                    </a:solidFill>
                  </a:tcPr>
                </a:tc>
                <a:tc>
                  <a:txBody>
                    <a:bodyPr/>
                    <a:lstStyle/>
                    <a:p>
                      <a:pPr algn="ctr"/>
                      <a:r>
                        <a:rPr kumimoji="1" lang="ja-JP" altLang="en-US" b="1" dirty="0">
                          <a:solidFill>
                            <a:schemeClr val="bg1"/>
                          </a:solidFill>
                          <a:latin typeface="+mn-ea"/>
                          <a:ea typeface="+mn-ea"/>
                        </a:rPr>
                        <a:t>取組み項目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kumimoji="1" lang="ja-JP" altLang="en-US" dirty="0">
                          <a:solidFill>
                            <a:schemeClr val="bg1"/>
                          </a:solidFill>
                          <a:latin typeface="+mn-ea"/>
                          <a:ea typeface="+mn-ea"/>
                        </a:rPr>
                        <a:t>進捗状況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kumimoji="1" lang="ja-JP" altLang="en-US" dirty="0">
                          <a:solidFill>
                            <a:schemeClr val="bg1"/>
                          </a:solidFill>
                          <a:latin typeface="+mn-ea"/>
                          <a:ea typeface="+mn-ea"/>
                        </a:rPr>
                        <a:t>ゴール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kumimoji="1" lang="ja-JP" altLang="en-US" sz="1200" i="1" dirty="0">
                          <a:solidFill>
                            <a:schemeClr val="bg1"/>
                          </a:solidFill>
                          <a:latin typeface="+mn-ea"/>
                          <a:ea typeface="+mn-ea"/>
                        </a:rPr>
                        <a:t>完了日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2774761768"/>
                  </a:ext>
                </a:extLst>
              </a:tr>
              <a:tr h="467428">
                <a:tc rowSpan="2">
                  <a:txBody>
                    <a:bodyPr/>
                    <a:lstStyle/>
                    <a:p>
                      <a:pPr algn="ctr">
                        <a:defRPr/>
                      </a:pPr>
                      <a:r>
                        <a:rPr kumimoji="1" lang="ja-JP" altLang="en-US" sz="1200" b="1" u="none" strike="noStrike" kern="1200" cap="none" spc="0" normalizeH="0" baseline="0" noProof="0" dirty="0">
                          <a:ln>
                            <a:noFill/>
                          </a:ln>
                          <a:solidFill>
                            <a:srgbClr val="000000"/>
                          </a:solidFill>
                          <a:effectLst/>
                          <a:uLnTx/>
                          <a:uFillTx/>
                          <a:latin typeface="+mn-ea"/>
                          <a:ea typeface="+mn-ea"/>
                        </a:rPr>
                        <a:t>全般</a:t>
                      </a:r>
                      <a:endParaRPr kumimoji="1" lang="en-US" altLang="ja-JP" sz="1200" b="1" i="0" u="none" strike="noStrike" kern="1200" cap="none" spc="0" normalizeH="0" baseline="0" noProof="0" dirty="0">
                        <a:ln>
                          <a:noFill/>
                        </a:ln>
                        <a:solidFill>
                          <a:srgbClr val="000000"/>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defRPr/>
                      </a:pPr>
                      <a:r>
                        <a:rPr kumimoji="1" lang="ja-JP" altLang="en-US" sz="1200" b="1" u="none" strike="noStrike" kern="1200" cap="none" spc="0" normalizeH="0" baseline="0" noProof="0" dirty="0">
                          <a:ln>
                            <a:noFill/>
                          </a:ln>
                          <a:solidFill>
                            <a:srgbClr val="000000"/>
                          </a:solidFill>
                          <a:effectLst/>
                          <a:uLnTx/>
                          <a:uFillTx/>
                          <a:latin typeface="+mn-ea"/>
                          <a:ea typeface="+mn-ea"/>
                        </a:rPr>
                        <a:t>顧客セグメンテーション見直し</a:t>
                      </a:r>
                      <a:endParaRPr kumimoji="1" lang="en-US" altLang="ja-JP" sz="1200" b="1" i="0" u="none" strike="noStrike" kern="1200" cap="none" spc="0" normalizeH="0" baseline="0" noProof="0" dirty="0">
                        <a:ln>
                          <a:noFill/>
                        </a:ln>
                        <a:solidFill>
                          <a:srgbClr val="000000"/>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defRPr/>
                      </a:pPr>
                      <a:r>
                        <a:rPr kumimoji="1" lang="ja-JP" altLang="en-US" sz="1200" i="0" u="none" strike="noStrike" kern="1200" cap="none" spc="0" normalizeH="0" baseline="0" noProof="0" dirty="0">
                          <a:ln>
                            <a:noFill/>
                          </a:ln>
                          <a:solidFill>
                            <a:schemeClr val="tx1"/>
                          </a:solidFill>
                          <a:effectLst/>
                          <a:uLnTx/>
                          <a:uFillTx/>
                          <a:latin typeface="+mn-ea"/>
                          <a:ea typeface="+mn-ea"/>
                          <a:cs typeface="+mn-cs"/>
                        </a:rPr>
                        <a:t>ライフサイクルに沿った受注活動が出来るよう、顧客ランク・セグメントの再定義中</a:t>
                      </a:r>
                      <a:endParaRPr kumimoji="1" lang="en-US" altLang="ja-JP" sz="1200" i="0" u="none" strike="noStrike" kern="1200" cap="none" spc="0" normalizeH="0" baseline="0" noProof="0" dirty="0">
                        <a:ln>
                          <a:noFill/>
                        </a:ln>
                        <a:solidFill>
                          <a:schemeClr val="tx1"/>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defRPr/>
                      </a:pPr>
                      <a:r>
                        <a:rPr kumimoji="1" lang="ja-JP" altLang="en-US" sz="1200" i="0" u="none" strike="noStrike" kern="1200" cap="none" spc="0" normalizeH="0" baseline="0" noProof="0" dirty="0">
                          <a:ln>
                            <a:noFill/>
                          </a:ln>
                          <a:solidFill>
                            <a:schemeClr val="tx1"/>
                          </a:solidFill>
                          <a:effectLst/>
                          <a:uLnTx/>
                          <a:uFillTx/>
                          <a:latin typeface="+mn-ea"/>
                          <a:ea typeface="+mn-ea"/>
                          <a:cs typeface="+mn-cs"/>
                        </a:rPr>
                        <a:t>見直しした顧客ランクに応じた営業活動が出来る</a:t>
                      </a:r>
                      <a:endParaRPr kumimoji="1" lang="en-US" altLang="ja-JP" sz="1200" i="0" u="none" strike="noStrike" kern="1200" cap="none" spc="0" normalizeH="0" baseline="0" noProof="0" dirty="0">
                        <a:ln>
                          <a:noFill/>
                        </a:ln>
                        <a:solidFill>
                          <a:schemeClr val="tx1"/>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defRPr/>
                      </a:pPr>
                      <a:r>
                        <a:rPr kumimoji="1" lang="en-US" altLang="ja-JP" sz="1200" i="1" u="none" strike="noStrike" kern="1200" cap="none" spc="0" normalizeH="0" baseline="0" noProof="0" dirty="0">
                          <a:ln>
                            <a:noFill/>
                          </a:ln>
                          <a:solidFill>
                            <a:schemeClr val="tx1"/>
                          </a:solidFill>
                          <a:effectLst/>
                          <a:uLnTx/>
                          <a:uFillTx/>
                          <a:latin typeface="+mn-ea"/>
                          <a:ea typeface="+mn-ea"/>
                          <a:cs typeface="+mn-cs"/>
                        </a:rPr>
                        <a:t>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222499577"/>
                  </a:ext>
                </a:extLst>
              </a:tr>
              <a:tr h="564203">
                <a:tc vMerge="1">
                  <a:txBody>
                    <a:bodyPr/>
                    <a:lstStyle/>
                    <a:p>
                      <a:pPr algn="ctr">
                        <a:defRPr/>
                      </a:pPr>
                      <a:r>
                        <a:rPr kumimoji="1" lang="ja-JP" altLang="en-US" sz="1400" b="1" u="none" strike="noStrike" kern="1200" cap="none" spc="0" normalizeH="0" baseline="0" noProof="0" dirty="0">
                          <a:ln>
                            <a:noFill/>
                          </a:ln>
                          <a:solidFill>
                            <a:srgbClr val="000000"/>
                          </a:solidFill>
                          <a:effectLst/>
                          <a:uLnTx/>
                          <a:uFillTx/>
                          <a:latin typeface="+mn-ea"/>
                          <a:ea typeface="+mn-ea"/>
                        </a:rPr>
                        <a:t>全般</a:t>
                      </a:r>
                      <a:endParaRPr kumimoji="1" lang="en-US" altLang="ja-JP" sz="1400" b="1" i="0" u="none" strike="noStrike" kern="1200" cap="none" spc="0" normalizeH="0" baseline="0" noProof="0" dirty="0">
                        <a:ln>
                          <a:noFill/>
                        </a:ln>
                        <a:solidFill>
                          <a:srgbClr val="000000"/>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defRPr/>
                      </a:pPr>
                      <a:r>
                        <a:rPr kumimoji="1" lang="ja-JP" altLang="en-US" sz="1200" b="1" u="none" strike="noStrike" kern="1200" cap="none" spc="0" normalizeH="0" baseline="0" noProof="0" dirty="0">
                          <a:ln>
                            <a:noFill/>
                          </a:ln>
                          <a:solidFill>
                            <a:srgbClr val="000000"/>
                          </a:solidFill>
                          <a:effectLst/>
                          <a:uLnTx/>
                          <a:uFillTx/>
                          <a:latin typeface="+mn-ea"/>
                          <a:ea typeface="+mn-ea"/>
                        </a:rPr>
                        <a:t>経営数値のダッシュボード</a:t>
                      </a:r>
                      <a:r>
                        <a:rPr lang="ja-JP" altLang="en-US" sz="1200" b="1" dirty="0">
                          <a:solidFill>
                            <a:srgbClr val="000000"/>
                          </a:solidFill>
                          <a:latin typeface="+mn-ea"/>
                          <a:ea typeface="+mn-ea"/>
                        </a:rPr>
                        <a:t>構築</a:t>
                      </a:r>
                      <a:endParaRPr kumimoji="1" lang="en-US" altLang="ja-JP" sz="1200" b="1" u="none" strike="noStrike" kern="1200" cap="none" spc="0" normalizeH="0" baseline="0" noProof="0" dirty="0">
                        <a:ln>
                          <a:noFill/>
                        </a:ln>
                        <a:solidFill>
                          <a:srgbClr val="000000"/>
                        </a:solidFill>
                        <a:effectLst/>
                        <a:uLnTx/>
                        <a:uFillTx/>
                        <a:latin typeface="+mn-ea"/>
                        <a:ea typeface="+mn-ea"/>
                      </a:endParaRPr>
                    </a:p>
                    <a:p>
                      <a:pPr>
                        <a:defRPr/>
                      </a:pPr>
                      <a:r>
                        <a:rPr lang="ja-JP" altLang="en-US" sz="1200" b="1" dirty="0">
                          <a:solidFill>
                            <a:srgbClr val="000000"/>
                          </a:solidFill>
                          <a:latin typeface="+mn-ea"/>
                          <a:ea typeface="+mn-ea"/>
                        </a:rPr>
                        <a:t>①受売利</a:t>
                      </a:r>
                      <a:r>
                        <a:rPr lang="en-US" altLang="ja-JP" sz="1200" b="1" dirty="0">
                          <a:solidFill>
                            <a:srgbClr val="000000"/>
                          </a:solidFill>
                          <a:latin typeface="+mn-ea"/>
                          <a:ea typeface="+mn-ea"/>
                        </a:rPr>
                        <a:t>(</a:t>
                      </a:r>
                      <a:r>
                        <a:rPr lang="ja-JP" altLang="en-US" sz="1200" b="1" dirty="0">
                          <a:solidFill>
                            <a:srgbClr val="000000"/>
                          </a:solidFill>
                          <a:latin typeface="+mn-ea"/>
                          <a:ea typeface="+mn-ea"/>
                        </a:rPr>
                        <a:t>営利</a:t>
                      </a:r>
                      <a:r>
                        <a:rPr lang="en-US" altLang="ja-JP" sz="1200" b="1" dirty="0">
                          <a:solidFill>
                            <a:srgbClr val="000000"/>
                          </a:solidFill>
                          <a:latin typeface="+mn-ea"/>
                          <a:ea typeface="+mn-ea"/>
                        </a:rPr>
                        <a:t>)</a:t>
                      </a:r>
                      <a:r>
                        <a:rPr lang="ja-JP" altLang="en-US" sz="1200" b="1" dirty="0">
                          <a:solidFill>
                            <a:srgbClr val="000000"/>
                          </a:solidFill>
                          <a:latin typeface="+mn-ea"/>
                          <a:ea typeface="+mn-ea"/>
                        </a:rPr>
                        <a:t>、</a:t>
                      </a:r>
                      <a:r>
                        <a:rPr kumimoji="1" lang="ja-JP" altLang="en-US" sz="1200" b="1" u="none" strike="noStrike" kern="1200" cap="none" spc="0" normalizeH="0" baseline="0" noProof="0" dirty="0">
                          <a:ln>
                            <a:noFill/>
                          </a:ln>
                          <a:solidFill>
                            <a:srgbClr val="000000"/>
                          </a:solidFill>
                          <a:effectLst/>
                          <a:uLnTx/>
                          <a:uFillTx/>
                          <a:latin typeface="+mn-ea"/>
                          <a:ea typeface="+mn-ea"/>
                        </a:rPr>
                        <a:t>②引合費</a:t>
                      </a:r>
                      <a:endParaRPr kumimoji="1" lang="en-US" altLang="ja-JP" sz="1200" b="1" u="none" strike="noStrike" kern="1200" cap="none" spc="0" normalizeH="0" baseline="0" noProof="0" dirty="0">
                        <a:ln>
                          <a:noFill/>
                        </a:ln>
                        <a:solidFill>
                          <a:srgbClr val="000000"/>
                        </a:solidFill>
                        <a:effectLst/>
                        <a:uLnTx/>
                        <a:uFillTx/>
                        <a:latin typeface="+mn-ea"/>
                        <a:ea typeface="+mn-ea"/>
                      </a:endParaRPr>
                    </a:p>
                    <a:p>
                      <a:pPr>
                        <a:defRPr/>
                      </a:pPr>
                      <a:r>
                        <a:rPr kumimoji="1" lang="ja-JP" altLang="en-US" sz="1200" b="1" u="none" strike="noStrike" kern="1200" cap="none" spc="0" normalizeH="0" baseline="0" noProof="0" dirty="0">
                          <a:ln>
                            <a:noFill/>
                          </a:ln>
                          <a:solidFill>
                            <a:srgbClr val="000000"/>
                          </a:solidFill>
                          <a:effectLst/>
                          <a:uLnTx/>
                          <a:uFillTx/>
                          <a:latin typeface="+mn-ea"/>
                          <a:ea typeface="+mn-ea"/>
                        </a:rPr>
                        <a:t>③</a:t>
                      </a:r>
                      <a:r>
                        <a:rPr kumimoji="1" lang="en-US" altLang="ja-JP" sz="1200" b="1" u="none" strike="noStrike" kern="1200" cap="none" spc="0" normalizeH="0" baseline="0" noProof="0" dirty="0">
                          <a:ln>
                            <a:noFill/>
                          </a:ln>
                          <a:solidFill>
                            <a:srgbClr val="000000"/>
                          </a:solidFill>
                          <a:effectLst/>
                          <a:uLnTx/>
                          <a:uFillTx/>
                          <a:latin typeface="+mn-ea"/>
                          <a:ea typeface="+mn-ea"/>
                        </a:rPr>
                        <a:t>AS</a:t>
                      </a:r>
                      <a:r>
                        <a:rPr kumimoji="1" lang="ja-JP" altLang="en-US" sz="1200" b="1" u="none" strike="noStrike" kern="1200" cap="none" spc="0" normalizeH="0" baseline="0" noProof="0" dirty="0">
                          <a:ln>
                            <a:noFill/>
                          </a:ln>
                          <a:solidFill>
                            <a:srgbClr val="000000"/>
                          </a:solidFill>
                          <a:effectLst/>
                          <a:uLnTx/>
                          <a:uFillTx/>
                          <a:latin typeface="+mn-ea"/>
                          <a:ea typeface="+mn-ea"/>
                        </a:rPr>
                        <a:t>従事比率、④直接作業比率</a:t>
                      </a:r>
                      <a:endParaRPr kumimoji="1" lang="en-US" altLang="ja-JP" sz="1200" b="1" i="0" u="none" strike="noStrike" kern="1200" cap="none" spc="0" normalizeH="0" baseline="0" noProof="0" dirty="0">
                        <a:ln>
                          <a:noFill/>
                        </a:ln>
                        <a:solidFill>
                          <a:srgbClr val="000000"/>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defRPr/>
                      </a:pPr>
                      <a:r>
                        <a:rPr kumimoji="1" lang="ja-JP" altLang="en-US" sz="1200" i="1" u="none" strike="noStrike" kern="1200" cap="none" spc="0" normalizeH="0" baseline="0" noProof="0" dirty="0">
                          <a:ln>
                            <a:noFill/>
                          </a:ln>
                          <a:solidFill>
                            <a:schemeClr val="tx1"/>
                          </a:solidFill>
                          <a:effectLst/>
                          <a:highlight>
                            <a:srgbClr val="FAE1CE"/>
                          </a:highlight>
                          <a:uLnTx/>
                          <a:uFillTx/>
                          <a:latin typeface="+mn-ea"/>
                          <a:ea typeface="+mn-ea"/>
                          <a:cs typeface="+mn-cs"/>
                        </a:rPr>
                        <a:t>①構築に遅れ：ソフ４へ依頼し挽回図る</a:t>
                      </a:r>
                      <a:endParaRPr kumimoji="1" lang="en-US" altLang="ja-JP" sz="1200" i="1" u="none" strike="noStrike" kern="1200" cap="none" spc="0" normalizeH="0" baseline="0" noProof="0" dirty="0">
                        <a:ln>
                          <a:noFill/>
                        </a:ln>
                        <a:solidFill>
                          <a:schemeClr val="tx1"/>
                        </a:solidFill>
                        <a:effectLst/>
                        <a:highlight>
                          <a:srgbClr val="FAE1CE"/>
                        </a:highlight>
                        <a:uLnTx/>
                        <a:uFillTx/>
                        <a:latin typeface="+mn-ea"/>
                        <a:ea typeface="+mn-ea"/>
                        <a:cs typeface="+mn-cs"/>
                      </a:endParaRPr>
                    </a:p>
                    <a:p>
                      <a:pPr>
                        <a:defRPr/>
                      </a:pPr>
                      <a:r>
                        <a:rPr kumimoji="1" lang="ja-JP" altLang="en-US" sz="1200" i="1" u="none" strike="noStrike" kern="1200" cap="none" spc="0" normalizeH="0" baseline="0" noProof="0" dirty="0">
                          <a:ln>
                            <a:noFill/>
                          </a:ln>
                          <a:solidFill>
                            <a:schemeClr val="tx1"/>
                          </a:solidFill>
                          <a:effectLst/>
                          <a:uLnTx/>
                          <a:uFillTx/>
                          <a:latin typeface="+mn-ea"/>
                          <a:ea typeface="+mn-ea"/>
                          <a:cs typeface="+mn-cs"/>
                        </a:rPr>
                        <a:t>②</a:t>
                      </a:r>
                      <a:r>
                        <a:rPr kumimoji="1" lang="en-US" altLang="ja-JP" sz="1200" i="1" u="none" strike="noStrike" kern="1200" cap="none" spc="0" normalizeH="0" baseline="0" noProof="0" dirty="0">
                          <a:ln>
                            <a:noFill/>
                          </a:ln>
                          <a:solidFill>
                            <a:schemeClr val="tx1"/>
                          </a:solidFill>
                          <a:effectLst/>
                          <a:uLnTx/>
                          <a:uFillTx/>
                          <a:latin typeface="+mn-ea"/>
                          <a:ea typeface="+mn-ea"/>
                          <a:cs typeface="+mn-cs"/>
                        </a:rPr>
                        <a:t>~</a:t>
                      </a:r>
                      <a:r>
                        <a:rPr kumimoji="1" lang="ja-JP" altLang="en-US" sz="1200" i="1" u="none" strike="noStrike" kern="1200" cap="none" spc="0" normalizeH="0" baseline="0" noProof="0" dirty="0">
                          <a:ln>
                            <a:noFill/>
                          </a:ln>
                          <a:solidFill>
                            <a:schemeClr val="tx1"/>
                          </a:solidFill>
                          <a:effectLst/>
                          <a:uLnTx/>
                          <a:uFillTx/>
                          <a:latin typeface="+mn-ea"/>
                          <a:ea typeface="+mn-ea"/>
                          <a:cs typeface="+mn-cs"/>
                        </a:rPr>
                        <a:t>④ほぼ</a:t>
                      </a:r>
                      <a:r>
                        <a:rPr kumimoji="1" lang="en-US" altLang="ja-JP" sz="1200" i="1" u="none" strike="noStrike" kern="1200" cap="none" spc="0" normalizeH="0" baseline="30000" noProof="0" dirty="0">
                          <a:ln>
                            <a:noFill/>
                          </a:ln>
                          <a:solidFill>
                            <a:schemeClr val="tx1"/>
                          </a:solidFill>
                          <a:effectLst/>
                          <a:uLnTx/>
                          <a:uFillTx/>
                          <a:latin typeface="+mn-ea"/>
                          <a:ea typeface="+mn-ea"/>
                          <a:cs typeface="+mn-cs"/>
                        </a:rPr>
                        <a:t>※</a:t>
                      </a:r>
                      <a:r>
                        <a:rPr kumimoji="1" lang="ja-JP" altLang="en-US" sz="1200" i="1" u="none" strike="noStrike" kern="1200" cap="none" spc="0" normalizeH="0" baseline="0" noProof="0" dirty="0">
                          <a:ln>
                            <a:noFill/>
                          </a:ln>
                          <a:solidFill>
                            <a:schemeClr val="tx1"/>
                          </a:solidFill>
                          <a:effectLst/>
                          <a:uLnTx/>
                          <a:uFillTx/>
                          <a:latin typeface="+mn-ea"/>
                          <a:ea typeface="+mn-ea"/>
                          <a:cs typeface="+mn-cs"/>
                        </a:rPr>
                        <a:t>構築完了。本日リリース</a:t>
                      </a:r>
                      <a:endParaRPr kumimoji="1" lang="en-US" altLang="ja-JP" sz="1200" i="1" u="none" strike="noStrike" kern="1200" cap="none" spc="0" normalizeH="0" baseline="0" noProof="0" dirty="0">
                        <a:ln>
                          <a:noFill/>
                        </a:ln>
                        <a:solidFill>
                          <a:schemeClr val="tx1"/>
                        </a:solidFill>
                        <a:effectLst/>
                        <a:uLnTx/>
                        <a:uFillTx/>
                        <a:latin typeface="+mn-ea"/>
                        <a:ea typeface="+mn-ea"/>
                        <a:cs typeface="+mn-cs"/>
                      </a:endParaRPr>
                    </a:p>
                    <a:p>
                      <a:pPr>
                        <a:defRPr/>
                      </a:pPr>
                      <a:r>
                        <a:rPr kumimoji="1" lang="ja-JP" altLang="en-US" sz="1000" i="1" u="none" strike="noStrike" kern="1200" cap="none" spc="0" normalizeH="0" baseline="0" noProof="0" dirty="0">
                          <a:ln>
                            <a:noFill/>
                          </a:ln>
                          <a:solidFill>
                            <a:schemeClr val="tx1"/>
                          </a:solidFill>
                          <a:effectLst/>
                          <a:uLnTx/>
                          <a:uFillTx/>
                          <a:latin typeface="+mn-ea"/>
                          <a:ea typeface="+mn-ea"/>
                          <a:cs typeface="+mn-cs"/>
                        </a:rPr>
                        <a:t>　</a:t>
                      </a:r>
                      <a:r>
                        <a:rPr kumimoji="1" lang="en-US" altLang="ja-JP" sz="1000" i="1" u="none" strike="noStrike" kern="1200" cap="none" spc="0" normalizeH="0" baseline="0" noProof="0" dirty="0">
                          <a:ln>
                            <a:noFill/>
                          </a:ln>
                          <a:solidFill>
                            <a:schemeClr val="tx1"/>
                          </a:solidFill>
                          <a:effectLst/>
                          <a:uLnTx/>
                          <a:uFillTx/>
                          <a:latin typeface="+mn-ea"/>
                          <a:ea typeface="+mn-ea"/>
                          <a:cs typeface="+mn-cs"/>
                        </a:rPr>
                        <a:t>※</a:t>
                      </a:r>
                      <a:r>
                        <a:rPr kumimoji="1" lang="ja-JP" altLang="en-US" sz="1000" i="1" u="none" strike="noStrike" kern="1200" cap="none" spc="0" normalizeH="0" baseline="0" noProof="0" dirty="0">
                          <a:ln>
                            <a:noFill/>
                          </a:ln>
                          <a:solidFill>
                            <a:schemeClr val="tx1"/>
                          </a:solidFill>
                          <a:effectLst/>
                          <a:uLnTx/>
                          <a:uFillTx/>
                          <a:latin typeface="+mn-ea"/>
                          <a:ea typeface="+mn-ea"/>
                          <a:cs typeface="+mn-cs"/>
                        </a:rPr>
                        <a:t>引合管理値は未だ表現出来ず継続構築中</a:t>
                      </a:r>
                      <a:endParaRPr kumimoji="1" lang="en-US" altLang="ja-JP" sz="1000" i="1" u="none" strike="noStrike" kern="1200" cap="none" spc="0" normalizeH="0" baseline="0" noProof="0" dirty="0">
                        <a:ln>
                          <a:noFill/>
                        </a:ln>
                        <a:solidFill>
                          <a:schemeClr val="tx1"/>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defRPr/>
                      </a:pPr>
                      <a:r>
                        <a:rPr kumimoji="1" lang="ja-JP" altLang="en-US" sz="1200" i="1" u="none" strike="noStrike" kern="1200" cap="none" spc="0" normalizeH="0" baseline="0" noProof="0" dirty="0">
                          <a:ln>
                            <a:noFill/>
                          </a:ln>
                          <a:solidFill>
                            <a:schemeClr val="tx1"/>
                          </a:solidFill>
                          <a:effectLst/>
                          <a:uLnTx/>
                          <a:uFillTx/>
                          <a:latin typeface="+mn-ea"/>
                          <a:ea typeface="+mn-ea"/>
                          <a:cs typeface="+mn-cs"/>
                        </a:rPr>
                        <a:t>職制・担当がいつでも最新情報を閲覧出来る</a:t>
                      </a:r>
                      <a:endParaRPr kumimoji="1" lang="en-US" altLang="ja-JP" sz="1200" i="1" u="none" strike="noStrike" kern="1200" cap="none" spc="0" normalizeH="0" baseline="0" noProof="0" dirty="0">
                        <a:ln>
                          <a:noFill/>
                        </a:ln>
                        <a:solidFill>
                          <a:schemeClr val="tx1"/>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defRPr/>
                      </a:pPr>
                      <a:r>
                        <a:rPr kumimoji="1" lang="ja-JP" altLang="en-US" sz="1200" i="1" u="none" strike="noStrike" kern="1200" cap="none" spc="0" normalizeH="0" baseline="0" noProof="0" dirty="0">
                          <a:ln>
                            <a:noFill/>
                          </a:ln>
                          <a:solidFill>
                            <a:schemeClr val="tx1"/>
                          </a:solidFill>
                          <a:effectLst/>
                          <a:uLnTx/>
                          <a:uFillTx/>
                          <a:latin typeface="+mn-ea"/>
                          <a:ea typeface="+mn-ea"/>
                          <a:cs typeface="+mn-cs"/>
                        </a:rPr>
                        <a:t>①</a:t>
                      </a:r>
                      <a:r>
                        <a:rPr kumimoji="1" lang="en-US" altLang="ja-JP" sz="1200" i="1" u="none" strike="noStrike" kern="1200" cap="none" spc="0" normalizeH="0" baseline="0" noProof="0" dirty="0">
                          <a:ln>
                            <a:noFill/>
                          </a:ln>
                          <a:solidFill>
                            <a:schemeClr val="tx1"/>
                          </a:solidFill>
                          <a:effectLst/>
                          <a:uLnTx/>
                          <a:uFillTx/>
                          <a:latin typeface="+mn-ea"/>
                          <a:ea typeface="+mn-ea"/>
                          <a:cs typeface="+mn-cs"/>
                        </a:rPr>
                        <a:t>8/9</a:t>
                      </a:r>
                    </a:p>
                    <a:p>
                      <a:pPr algn="ctr">
                        <a:defRPr/>
                      </a:pPr>
                      <a:r>
                        <a:rPr kumimoji="1" lang="ja-JP" altLang="en-US" sz="1200" i="1" u="none" strike="noStrike" kern="1200" cap="none" spc="0" normalizeH="0" baseline="0" noProof="0" dirty="0">
                          <a:ln>
                            <a:noFill/>
                          </a:ln>
                          <a:solidFill>
                            <a:schemeClr val="tx1"/>
                          </a:solidFill>
                          <a:effectLst/>
                          <a:uLnTx/>
                          <a:uFillTx/>
                          <a:latin typeface="+mn-ea"/>
                          <a:ea typeface="+mn-ea"/>
                          <a:cs typeface="+mn-cs"/>
                        </a:rPr>
                        <a:t>②</a:t>
                      </a:r>
                      <a:r>
                        <a:rPr kumimoji="1" lang="en-US" altLang="ja-JP" sz="1200" i="1" u="none" strike="noStrike" kern="1200" cap="none" spc="0" normalizeH="0" baseline="0" noProof="0" dirty="0">
                          <a:ln>
                            <a:noFill/>
                          </a:ln>
                          <a:solidFill>
                            <a:schemeClr val="tx1"/>
                          </a:solidFill>
                          <a:effectLst/>
                          <a:uLnTx/>
                          <a:uFillTx/>
                          <a:latin typeface="+mn-ea"/>
                          <a:ea typeface="+mn-ea"/>
                          <a:cs typeface="+mn-cs"/>
                        </a:rPr>
                        <a:t>~</a:t>
                      </a:r>
                      <a:r>
                        <a:rPr kumimoji="1" lang="ja-JP" altLang="en-US" sz="1200" i="1" u="none" strike="noStrike" kern="1200" cap="none" spc="0" normalizeH="0" baseline="0" noProof="0" dirty="0">
                          <a:ln>
                            <a:noFill/>
                          </a:ln>
                          <a:solidFill>
                            <a:schemeClr val="tx1"/>
                          </a:solidFill>
                          <a:effectLst/>
                          <a:uLnTx/>
                          <a:uFillTx/>
                          <a:latin typeface="+mn-ea"/>
                          <a:ea typeface="+mn-ea"/>
                          <a:cs typeface="+mn-cs"/>
                        </a:rPr>
                        <a:t>④</a:t>
                      </a:r>
                      <a:r>
                        <a:rPr kumimoji="1" lang="en-US" altLang="ja-JP" sz="1200" i="1" u="none" strike="noStrike" kern="1200" cap="none" spc="0" normalizeH="0" baseline="0" noProof="0" dirty="0">
                          <a:ln>
                            <a:noFill/>
                          </a:ln>
                          <a:solidFill>
                            <a:schemeClr val="tx1"/>
                          </a:solidFill>
                          <a:effectLst/>
                          <a:uLnTx/>
                          <a:uFillTx/>
                          <a:latin typeface="+mn-ea"/>
                          <a:ea typeface="+mn-ea"/>
                          <a:cs typeface="+mn-cs"/>
                        </a:rPr>
                        <a:t>6/25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2951620942"/>
                  </a:ext>
                </a:extLst>
              </a:tr>
              <a:tr h="403002">
                <a:tc row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200" b="1" dirty="0">
                          <a:latin typeface="+mn-ea"/>
                          <a:ea typeface="+mn-ea"/>
                        </a:rPr>
                        <a:t>引合</a:t>
                      </a:r>
                      <a:endParaRPr kumimoji="1" lang="en-US" altLang="ja-JP" sz="1200" b="1" dirty="0">
                        <a:latin typeface="+mn-ea"/>
                        <a:ea typeface="+mn-ea"/>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200" b="1" dirty="0">
                          <a:latin typeface="+mn-ea"/>
                          <a:ea typeface="+mn-ea"/>
                        </a:rPr>
                        <a:t>業務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defRPr/>
                      </a:pPr>
                      <a:r>
                        <a:rPr kumimoji="1" lang="ja-JP" altLang="en-US" sz="1200" b="1" u="none" strike="noStrike" kern="1200" cap="none" spc="0" normalizeH="0" baseline="0" noProof="0" dirty="0">
                          <a:ln>
                            <a:noFill/>
                          </a:ln>
                          <a:solidFill>
                            <a:srgbClr val="000000"/>
                          </a:solidFill>
                          <a:effectLst/>
                          <a:uLnTx/>
                          <a:uFillTx/>
                          <a:latin typeface="+mn-ea"/>
                          <a:ea typeface="+mn-ea"/>
                        </a:rPr>
                        <a:t>引合費予算策定フォーム構築</a:t>
                      </a:r>
                      <a:endParaRPr kumimoji="1" lang="en-US" altLang="ja-JP" sz="1200" b="1" i="0" u="none" strike="noStrike" kern="1200" cap="none" spc="0" normalizeH="0" baseline="0" noProof="0" dirty="0">
                        <a:ln>
                          <a:noFill/>
                        </a:ln>
                        <a:solidFill>
                          <a:srgbClr val="000000"/>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defRPr/>
                      </a:pPr>
                      <a:r>
                        <a:rPr kumimoji="1" lang="ja-JP" altLang="en-US" sz="1200" i="0" u="none" strike="noStrike" kern="1200" cap="none" spc="0" normalizeH="0" baseline="0" noProof="0" dirty="0">
                          <a:ln>
                            <a:noFill/>
                          </a:ln>
                          <a:solidFill>
                            <a:schemeClr val="tx1"/>
                          </a:solidFill>
                          <a:effectLst/>
                          <a:uLnTx/>
                          <a:uFillTx/>
                          <a:latin typeface="+mn-ea"/>
                          <a:ea typeface="+mn-ea"/>
                          <a:cs typeface="+mn-cs"/>
                        </a:rPr>
                        <a:t>対象発電所選定、説明会準備中。</a:t>
                      </a:r>
                      <a:endParaRPr kumimoji="1" lang="en-US" altLang="ja-JP" sz="1200" i="0" u="none" strike="noStrike" kern="1200" cap="none" spc="0" normalizeH="0" baseline="0" noProof="0" dirty="0">
                        <a:ln>
                          <a:noFill/>
                        </a:ln>
                        <a:solidFill>
                          <a:schemeClr val="tx1"/>
                        </a:solidFill>
                        <a:effectLst/>
                        <a:uLnTx/>
                        <a:uFillTx/>
                        <a:latin typeface="+mn-ea"/>
                        <a:ea typeface="+mn-ea"/>
                        <a:cs typeface="+mn-cs"/>
                      </a:endParaRPr>
                    </a:p>
                    <a:p>
                      <a:pPr>
                        <a:defRPr/>
                      </a:pPr>
                      <a:r>
                        <a:rPr kumimoji="1" lang="ja-JP" altLang="en-US" sz="1050" i="0" u="none" strike="noStrike" kern="1200" cap="none" spc="0" normalizeH="0" baseline="0" noProof="0" dirty="0">
                          <a:ln>
                            <a:noFill/>
                          </a:ln>
                          <a:solidFill>
                            <a:schemeClr val="tx1"/>
                          </a:solidFill>
                          <a:effectLst/>
                          <a:highlight>
                            <a:srgbClr val="FAE1CE"/>
                          </a:highlight>
                          <a:uLnTx/>
                          <a:uFillTx/>
                          <a:latin typeface="+mn-ea"/>
                          <a:ea typeface="+mn-ea"/>
                          <a:cs typeface="+mn-cs"/>
                        </a:rPr>
                        <a:t>検討の遅れ：ドラフト作成後営業部へ相談予定</a:t>
                      </a:r>
                      <a:endParaRPr kumimoji="1" lang="en-US" altLang="ja-JP" sz="1200" i="0" u="none" strike="noStrike" kern="1200" cap="none" spc="0" normalizeH="0" baseline="0" noProof="0" dirty="0">
                        <a:ln>
                          <a:noFill/>
                        </a:ln>
                        <a:solidFill>
                          <a:schemeClr val="tx1"/>
                        </a:solidFill>
                        <a:effectLst/>
                        <a:highlight>
                          <a:srgbClr val="FAE1CE"/>
                        </a:highligh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defRPr/>
                      </a:pPr>
                      <a:r>
                        <a:rPr kumimoji="1" lang="ja-JP" altLang="en-US" sz="1200" i="0" u="none" strike="noStrike" kern="1200" cap="none" spc="0" normalizeH="0" baseline="0" noProof="0" dirty="0">
                          <a:ln>
                            <a:noFill/>
                          </a:ln>
                          <a:solidFill>
                            <a:schemeClr val="tx1"/>
                          </a:solidFill>
                          <a:effectLst/>
                          <a:uLnTx/>
                          <a:uFillTx/>
                          <a:latin typeface="+mn-ea"/>
                          <a:ea typeface="+mn-ea"/>
                          <a:cs typeface="+mn-cs"/>
                        </a:rPr>
                        <a:t>予算設定完了し、例月フォロの管理値へ反映</a:t>
                      </a:r>
                      <a:endParaRPr kumimoji="1" lang="en-US" altLang="ja-JP" sz="1200" i="0" u="none" strike="noStrike" kern="1200" cap="none" spc="0" normalizeH="0" baseline="0" noProof="0" dirty="0">
                        <a:ln>
                          <a:noFill/>
                        </a:ln>
                        <a:solidFill>
                          <a:schemeClr val="tx1"/>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kumimoji="1" lang="en-US" altLang="ja-JP" sz="1200" i="1" u="none" strike="noStrike" kern="1200" cap="none" spc="0" normalizeH="0" baseline="0" noProof="0" dirty="0">
                          <a:ln>
                            <a:noFill/>
                          </a:ln>
                          <a:solidFill>
                            <a:schemeClr val="tx1"/>
                          </a:solidFill>
                          <a:effectLst/>
                          <a:uLnTx/>
                          <a:uFillTx/>
                          <a:latin typeface="+mn-ea"/>
                          <a:ea typeface="+mn-ea"/>
                          <a:cs typeface="+mn-cs"/>
                        </a:rPr>
                        <a:t>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4787530"/>
                  </a:ext>
                </a:extLst>
              </a:tr>
              <a:tr h="241801">
                <a:tc vMerge="1">
                  <a:txBody>
                    <a:bodyPr/>
                    <a:lstStyle/>
                    <a:p>
                      <a:endParaRPr kumimoji="1" lang="ja-JP" altLang="en-US"/>
                    </a:p>
                  </a:txBody>
                  <a:tcPr/>
                </a:tc>
                <a:tc>
                  <a:txBody>
                    <a:bodyPr/>
                    <a:lstStyle/>
                    <a:p>
                      <a:pPr>
                        <a:defRPr/>
                      </a:pPr>
                      <a:r>
                        <a:rPr kumimoji="1" lang="ja-JP" altLang="en-US" sz="1200" b="1" i="0" u="none" strike="noStrike" kern="1200" cap="none" spc="0" normalizeH="0" baseline="0" noProof="0" dirty="0">
                          <a:ln>
                            <a:noFill/>
                          </a:ln>
                          <a:solidFill>
                            <a:srgbClr val="000000"/>
                          </a:solidFill>
                          <a:effectLst/>
                          <a:uLnTx/>
                          <a:uFillTx/>
                          <a:latin typeface="+mn-ea"/>
                          <a:ea typeface="+mn-ea"/>
                          <a:cs typeface="+mn-cs"/>
                        </a:rPr>
                        <a:t>引合費例月フォロ</a:t>
                      </a:r>
                      <a:endParaRPr kumimoji="1" lang="en-US" altLang="ja-JP" sz="1200" b="1" i="0" u="none" strike="noStrike" kern="1200" cap="none" spc="0" normalizeH="0" baseline="0" noProof="0" dirty="0">
                        <a:ln>
                          <a:noFill/>
                        </a:ln>
                        <a:solidFill>
                          <a:srgbClr val="000000"/>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dirty="0">
                          <a:ln>
                            <a:noFill/>
                          </a:ln>
                          <a:solidFill>
                            <a:schemeClr val="tx1"/>
                          </a:solidFill>
                          <a:effectLst/>
                          <a:uLnTx/>
                          <a:uFillTx/>
                          <a:latin typeface="+mn-ea"/>
                          <a:ea typeface="+mn-ea"/>
                          <a:cs typeface="+mn-cs"/>
                        </a:rPr>
                        <a:t>細かな改修続けながら例月フォロ実施中</a:t>
                      </a:r>
                      <a:endParaRPr kumimoji="1" lang="en-US" altLang="ja-JP" sz="1200" i="0" u="none" strike="noStrike" kern="1200" cap="none" spc="0" normalizeH="0" baseline="0" noProof="0" dirty="0">
                        <a:ln>
                          <a:noFill/>
                        </a:ln>
                        <a:solidFill>
                          <a:schemeClr val="tx1"/>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dirty="0">
                          <a:ln>
                            <a:noFill/>
                          </a:ln>
                          <a:solidFill>
                            <a:schemeClr val="tx1"/>
                          </a:solidFill>
                          <a:effectLst/>
                          <a:uLnTx/>
                          <a:uFillTx/>
                          <a:latin typeface="+mn-ea"/>
                          <a:ea typeface="+mn-ea"/>
                          <a:cs typeface="+mn-cs"/>
                        </a:rPr>
                        <a:t>運用中</a:t>
                      </a:r>
                      <a:endParaRPr kumimoji="1" lang="en-US" altLang="ja-JP" sz="1200" i="0" u="none" strike="noStrike" kern="1200" cap="none" spc="0" normalizeH="0" baseline="0" noProof="0" dirty="0">
                        <a:ln>
                          <a:noFill/>
                        </a:ln>
                        <a:solidFill>
                          <a:schemeClr val="tx1"/>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en-US" altLang="ja-JP" sz="1200" i="1" u="none" strike="noStrike" kern="1200" cap="none" spc="0" normalizeH="0" baseline="0" noProof="0" dirty="0">
                          <a:ln>
                            <a:noFill/>
                          </a:ln>
                          <a:solidFill>
                            <a:schemeClr val="tx1"/>
                          </a:solidFill>
                          <a:effectLst/>
                          <a:uLnTx/>
                          <a:uFillTx/>
                          <a:latin typeface="+mn-ea"/>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9147865"/>
                  </a:ext>
                </a:extLst>
              </a:tr>
              <a:tr h="403002">
                <a:tc vMerge="1">
                  <a:txBody>
                    <a:bodyPr/>
                    <a:lstStyle/>
                    <a:p>
                      <a:pPr algn="ctr"/>
                      <a:endParaRPr kumimoji="1" lang="ja-JP" altLang="en-US" b="1" dirty="0">
                        <a:latin typeface="+mn-ea"/>
                        <a:ea typeface="+mn-ea"/>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kumimoji="1" lang="ja-JP" altLang="en-US" sz="1200" b="1" dirty="0">
                          <a:latin typeface="+mn-ea"/>
                          <a:ea typeface="+mn-ea"/>
                        </a:rPr>
                        <a:t>見積作業の効率化</a:t>
                      </a:r>
                      <a:endParaRPr kumimoji="1" lang="en-US" altLang="ja-JP" sz="1200" b="1" dirty="0">
                        <a:latin typeface="+mn-ea"/>
                        <a:ea typeface="+mn-ea"/>
                      </a:endParaRPr>
                    </a:p>
                    <a:p>
                      <a:r>
                        <a:rPr kumimoji="1" lang="ja-JP" altLang="en-US" sz="1200" b="1" dirty="0">
                          <a:latin typeface="+mn-ea"/>
                          <a:ea typeface="+mn-ea"/>
                        </a:rPr>
                        <a:t>①見積簡略化</a:t>
                      </a:r>
                      <a:r>
                        <a:rPr kumimoji="1" lang="en-US" altLang="ja-JP" sz="1200" b="1" dirty="0">
                          <a:latin typeface="+mn-ea"/>
                          <a:ea typeface="+mn-ea"/>
                        </a:rPr>
                        <a:t>TT</a:t>
                      </a:r>
                      <a:r>
                        <a:rPr kumimoji="1" lang="ja-JP" altLang="en-US" sz="1200" b="1" dirty="0">
                          <a:latin typeface="+mn-ea"/>
                          <a:ea typeface="+mn-ea"/>
                        </a:rPr>
                        <a:t>、②</a:t>
                      </a:r>
                      <a:r>
                        <a:rPr kumimoji="1" lang="en-US" altLang="ja-JP" sz="1200" b="1" dirty="0">
                          <a:latin typeface="+mn-ea"/>
                          <a:ea typeface="+mn-ea"/>
                        </a:rPr>
                        <a:t>CATS+</a:t>
                      </a:r>
                      <a:endParaRPr kumimoji="1" lang="ja-JP" altLang="en-US"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r>
                        <a:rPr kumimoji="1" lang="ja-JP" altLang="en-US" sz="1200" dirty="0">
                          <a:solidFill>
                            <a:schemeClr val="tx1"/>
                          </a:solidFill>
                          <a:latin typeface="+mn-ea"/>
                          <a:ea typeface="+mn-ea"/>
                        </a:rPr>
                        <a:t>①ボイラ本体適用率向上、水平展開開始。</a:t>
                      </a:r>
                    </a:p>
                    <a:p>
                      <a:r>
                        <a:rPr kumimoji="1" lang="ja-JP" altLang="en-US" sz="1200" dirty="0">
                          <a:solidFill>
                            <a:schemeClr val="tx1"/>
                          </a:solidFill>
                          <a:latin typeface="+mn-ea"/>
                          <a:ea typeface="+mn-ea"/>
                        </a:rPr>
                        <a:t>②海外</a:t>
                      </a:r>
                      <a:r>
                        <a:rPr kumimoji="1" lang="en-US" altLang="ja-JP" sz="1200" dirty="0">
                          <a:solidFill>
                            <a:schemeClr val="tx1"/>
                          </a:solidFill>
                          <a:latin typeface="+mn-ea"/>
                          <a:ea typeface="+mn-ea"/>
                        </a:rPr>
                        <a:t>ST</a:t>
                      </a:r>
                      <a:r>
                        <a:rPr kumimoji="1" lang="ja-JP" altLang="en-US" sz="1200" dirty="0">
                          <a:solidFill>
                            <a:schemeClr val="tx1"/>
                          </a:solidFill>
                          <a:latin typeface="+mn-ea"/>
                          <a:ea typeface="+mn-ea"/>
                        </a:rPr>
                        <a:t>継続適用中。水平展開準備中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r>
                        <a:rPr kumimoji="1" lang="ja-JP" altLang="en-US" sz="1200" dirty="0">
                          <a:solidFill>
                            <a:schemeClr val="tx1"/>
                          </a:solidFill>
                          <a:latin typeface="+mn-ea"/>
                          <a:ea typeface="+mn-ea"/>
                        </a:rPr>
                        <a:t>水平展開製品を見極め、運用定着化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r>
                        <a:rPr kumimoji="1" lang="en-US" altLang="ja-JP" sz="1050" i="1" dirty="0">
                          <a:solidFill>
                            <a:schemeClr val="tx1"/>
                          </a:solidFill>
                          <a:latin typeface="+mn-ea"/>
                          <a:ea typeface="+mn-ea"/>
                        </a:rPr>
                        <a:t>FY24</a:t>
                      </a:r>
                      <a:r>
                        <a:rPr kumimoji="1" lang="ja-JP" altLang="en-US" sz="1050" i="1" dirty="0">
                          <a:solidFill>
                            <a:schemeClr val="tx1"/>
                          </a:solidFill>
                          <a:latin typeface="+mn-ea"/>
                          <a:ea typeface="+mn-ea"/>
                        </a:rPr>
                        <a:t>末</a:t>
                      </a:r>
                      <a:r>
                        <a:rPr kumimoji="1" lang="en-US" altLang="ja-JP" sz="1050" i="1" dirty="0">
                          <a:solidFill>
                            <a:schemeClr val="tx1"/>
                          </a:solidFill>
                          <a:latin typeface="+mn-ea"/>
                          <a:ea typeface="+mn-ea"/>
                        </a:rPr>
                        <a:t>(</a:t>
                      </a:r>
                      <a:r>
                        <a:rPr kumimoji="1" lang="ja-JP" altLang="en-US" sz="1050" i="1" dirty="0">
                          <a:solidFill>
                            <a:schemeClr val="tx1"/>
                          </a:solidFill>
                          <a:latin typeface="+mn-ea"/>
                          <a:ea typeface="+mn-ea"/>
                        </a:rPr>
                        <a:t>見極</a:t>
                      </a:r>
                      <a:r>
                        <a:rPr kumimoji="1" lang="en-US" altLang="ja-JP" sz="1050" i="1" dirty="0">
                          <a:solidFill>
                            <a:schemeClr val="tx1"/>
                          </a:solidFill>
                          <a:latin typeface="+mn-ea"/>
                          <a:ea typeface="+mn-ea"/>
                        </a:rPr>
                        <a:t>)</a:t>
                      </a:r>
                      <a:endParaRPr kumimoji="1" lang="ja-JP" altLang="en-US" sz="1050" i="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2286429135"/>
                  </a:ext>
                </a:extLst>
              </a:tr>
              <a:tr h="403002">
                <a:tc vMerge="1">
                  <a:txBody>
                    <a:bodyPr/>
                    <a:lstStyle/>
                    <a:p>
                      <a:pPr algn="ctr"/>
                      <a:endParaRPr kumimoji="1" lang="en-US" altLang="ja-JP" b="1" dirty="0">
                        <a:latin typeface="+mn-ea"/>
                        <a:ea typeface="+mn-ea"/>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kumimoji="1" lang="ja-JP" altLang="en-US" sz="1200" b="1" dirty="0">
                          <a:latin typeface="+mn-ea"/>
                          <a:ea typeface="+mn-ea"/>
                        </a:rPr>
                        <a:t>技術照会の効率化</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a:t>
                      </a:r>
                      <a:r>
                        <a:rPr kumimoji="1" lang="ja-JP" altLang="en-US" sz="1200" dirty="0">
                          <a:latin typeface="+mn-ea"/>
                          <a:ea typeface="+mn-ea"/>
                          <a:hlinkClick r:id="rId3"/>
                        </a:rPr>
                        <a:t>問合せ受領時の仕訳フロー</a:t>
                      </a:r>
                      <a:r>
                        <a:rPr kumimoji="1" lang="ja-JP" altLang="en-US" sz="1200" dirty="0">
                          <a:latin typeface="+mn-ea"/>
                          <a:ea typeface="+mn-ea"/>
                        </a:rPr>
                        <a:t>を</a:t>
                      </a:r>
                      <a:endParaRPr kumimoji="1" lang="en-US" altLang="ja-JP" sz="1200" dirty="0">
                        <a:latin typeface="+mn-ea"/>
                        <a:ea typeface="+mn-ea"/>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　例月</a:t>
                      </a:r>
                      <a:r>
                        <a:rPr kumimoji="1" lang="en-US" altLang="ja-JP" sz="1200" dirty="0">
                          <a:latin typeface="+mn-ea"/>
                          <a:ea typeface="+mn-ea"/>
                        </a:rPr>
                        <a:t>F</a:t>
                      </a:r>
                      <a:r>
                        <a:rPr kumimoji="1" lang="ja-JP" altLang="en-US" sz="1200" dirty="0">
                          <a:latin typeface="+mn-ea"/>
                          <a:ea typeface="+mn-ea"/>
                        </a:rPr>
                        <a:t>補助資料として活用中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200" dirty="0">
                          <a:solidFill>
                            <a:schemeClr val="tx1"/>
                          </a:solidFill>
                          <a:latin typeface="+mn-ea"/>
                          <a:ea typeface="+mn-ea"/>
                        </a:rPr>
                        <a:t>運用中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i="1" dirty="0">
                          <a:solidFill>
                            <a:schemeClr val="tx1"/>
                          </a:solidFill>
                          <a:latin typeface="+mn-ea"/>
                          <a:ea typeface="+mn-ea"/>
                        </a:rPr>
                        <a:t>-</a:t>
                      </a:r>
                      <a:endParaRPr kumimoji="1" lang="ja-JP" altLang="en-US" sz="1200" i="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0026485"/>
                  </a:ext>
                </a:extLst>
              </a:tr>
              <a:tr h="403002">
                <a:tc vMerge="1">
                  <a:txBody>
                    <a:bodyPr/>
                    <a:lstStyle/>
                    <a:p>
                      <a:pPr algn="ctr"/>
                      <a:endParaRPr kumimoji="1" lang="en-US" altLang="ja-JP" b="1" dirty="0">
                        <a:latin typeface="+mn-ea"/>
                        <a:ea typeface="+mn-ea"/>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kumimoji="1" lang="ja-JP" altLang="en-US" sz="1200" b="1" dirty="0">
                          <a:latin typeface="+mn-ea"/>
                          <a:ea typeface="+mn-ea"/>
                        </a:rPr>
                        <a:t>顧客提案の効率化</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a:t>
                      </a:r>
                      <a:r>
                        <a:rPr kumimoji="1" lang="ja-JP" altLang="en-US" sz="1200" dirty="0">
                          <a:latin typeface="+mn-ea"/>
                          <a:ea typeface="+mn-ea"/>
                          <a:hlinkClick r:id="rId4"/>
                        </a:rPr>
                        <a:t>提案書作成ガイドライン</a:t>
                      </a:r>
                      <a:r>
                        <a:rPr kumimoji="1" lang="ja-JP" altLang="en-US" sz="1200" dirty="0">
                          <a:latin typeface="+mn-ea"/>
                          <a:ea typeface="+mn-ea"/>
                        </a:rPr>
                        <a:t>を</a:t>
                      </a:r>
                      <a:endParaRPr kumimoji="1" lang="en-US" altLang="ja-JP" sz="1200" dirty="0">
                        <a:latin typeface="+mn-ea"/>
                        <a:ea typeface="+mn-ea"/>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　次回定検後適用予定</a:t>
                      </a:r>
                      <a:r>
                        <a:rPr kumimoji="1" lang="en-US" altLang="ja-JP" sz="1200" dirty="0">
                          <a:latin typeface="+mn-ea"/>
                          <a:ea typeface="+mn-ea"/>
                        </a:rPr>
                        <a:t>(</a:t>
                      </a:r>
                      <a:r>
                        <a:rPr kumimoji="1" lang="ja-JP" altLang="en-US" sz="1200" dirty="0">
                          <a:latin typeface="+mn-ea"/>
                          <a:ea typeface="+mn-ea"/>
                        </a:rPr>
                        <a:t>ボ本設</a:t>
                      </a:r>
                      <a:r>
                        <a:rPr kumimoji="1" lang="en-US" altLang="ja-JP" sz="1200" dirty="0">
                          <a:latin typeface="+mn-ea"/>
                          <a:ea typeface="+mn-ea"/>
                        </a:rPr>
                        <a:t>)</a:t>
                      </a:r>
                      <a:endParaRPr kumimoji="1" lang="ja-JP" altLang="en-US" sz="12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200" dirty="0">
                          <a:solidFill>
                            <a:schemeClr val="tx1"/>
                          </a:solidFill>
                          <a:latin typeface="+mn-ea"/>
                          <a:ea typeface="+mn-ea"/>
                        </a:rPr>
                        <a:t>技術部他製品への展開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i="1" dirty="0">
                          <a:solidFill>
                            <a:schemeClr val="tx1"/>
                          </a:solidFill>
                          <a:latin typeface="+mn-ea"/>
                          <a:ea typeface="+mn-ea"/>
                        </a:rPr>
                        <a:t>9/E</a:t>
                      </a:r>
                      <a:endParaRPr kumimoji="1" lang="ja-JP" altLang="en-US" sz="1200" i="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50899052"/>
                  </a:ext>
                </a:extLst>
              </a:tr>
              <a:tr h="403002">
                <a:tc>
                  <a:txBody>
                    <a:bodyPr/>
                    <a:lstStyle/>
                    <a:p>
                      <a:pPr algn="ctr"/>
                      <a:r>
                        <a:rPr kumimoji="1" lang="ja-JP" altLang="en-US" sz="1200" b="1" dirty="0">
                          <a:latin typeface="+mn-ea"/>
                          <a:ea typeface="+mn-ea"/>
                        </a:rPr>
                        <a:t>引合</a:t>
                      </a:r>
                      <a:r>
                        <a:rPr kumimoji="1" lang="en-US" altLang="ja-JP" sz="1200" b="1" dirty="0">
                          <a:latin typeface="+mn-ea"/>
                          <a:ea typeface="+mn-ea"/>
                        </a:rPr>
                        <a:t>/</a:t>
                      </a:r>
                      <a:r>
                        <a:rPr kumimoji="1" lang="ja-JP" altLang="en-US" sz="1200" b="1" dirty="0">
                          <a:latin typeface="+mn-ea"/>
                          <a:ea typeface="+mn-ea"/>
                        </a:rPr>
                        <a:t>遂行</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b="1" dirty="0">
                          <a:latin typeface="+mn-ea"/>
                          <a:ea typeface="+mn-ea"/>
                        </a:rPr>
                        <a:t>見積・実行フォロ業務</a:t>
                      </a:r>
                      <a:endParaRPr kumimoji="1" lang="en-US" altLang="ja-JP" sz="1200" b="1" dirty="0">
                        <a:latin typeface="+mn-ea"/>
                        <a:ea typeface="+mn-ea"/>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200" b="1" dirty="0">
                          <a:latin typeface="+mn-ea"/>
                          <a:ea typeface="+mn-ea"/>
                        </a:rPr>
                        <a:t>(</a:t>
                      </a:r>
                      <a:r>
                        <a:rPr kumimoji="1" lang="ja-JP" altLang="en-US" sz="1200" b="1" dirty="0">
                          <a:latin typeface="+mn-ea"/>
                          <a:ea typeface="+mn-ea"/>
                        </a:rPr>
                        <a:t>金額・工程</a:t>
                      </a:r>
                      <a:r>
                        <a:rPr kumimoji="1" lang="en-US" altLang="ja-JP" sz="1200" b="1" dirty="0">
                          <a:latin typeface="+mn-ea"/>
                          <a:ea typeface="+mn-ea"/>
                        </a:rPr>
                        <a:t>)</a:t>
                      </a:r>
                      <a:r>
                        <a:rPr kumimoji="1" lang="ja-JP" altLang="en-US" sz="1200" b="1" dirty="0">
                          <a:latin typeface="+mn-ea"/>
                          <a:ea typeface="+mn-ea"/>
                        </a:rPr>
                        <a:t>の整流化・効率化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latin typeface="+mn-ea"/>
                          <a:ea typeface="+mn-ea"/>
                        </a:rPr>
                        <a:t>見積</a:t>
                      </a:r>
                      <a:r>
                        <a:rPr kumimoji="1" lang="en-US" altLang="ja-JP" sz="1200" dirty="0">
                          <a:solidFill>
                            <a:schemeClr val="tx1"/>
                          </a:solidFill>
                          <a:latin typeface="+mn-ea"/>
                          <a:ea typeface="+mn-ea"/>
                        </a:rPr>
                        <a:t>G</a:t>
                      </a:r>
                      <a:r>
                        <a:rPr kumimoji="1" lang="ja-JP" altLang="en-US" sz="1200" dirty="0">
                          <a:solidFill>
                            <a:schemeClr val="tx1"/>
                          </a:solidFill>
                          <a:latin typeface="+mn-ea"/>
                          <a:ea typeface="+mn-ea"/>
                        </a:rPr>
                        <a:t>、コスト</a:t>
                      </a:r>
                      <a:r>
                        <a:rPr kumimoji="1" lang="en-US" altLang="ja-JP" sz="1200" dirty="0">
                          <a:solidFill>
                            <a:schemeClr val="tx1"/>
                          </a:solidFill>
                          <a:latin typeface="+mn-ea"/>
                          <a:ea typeface="+mn-ea"/>
                        </a:rPr>
                        <a:t>G</a:t>
                      </a:r>
                      <a:r>
                        <a:rPr kumimoji="1" lang="ja-JP" altLang="en-US" sz="1200" dirty="0">
                          <a:solidFill>
                            <a:schemeClr val="tx1"/>
                          </a:solidFill>
                          <a:latin typeface="+mn-ea"/>
                          <a:ea typeface="+mn-ea"/>
                        </a:rPr>
                        <a:t>、</a:t>
                      </a:r>
                      <a:r>
                        <a:rPr kumimoji="1" lang="en-US" altLang="ja-JP" sz="1200" dirty="0">
                          <a:solidFill>
                            <a:schemeClr val="tx1"/>
                          </a:solidFill>
                          <a:latin typeface="+mn-ea"/>
                          <a:ea typeface="+mn-ea"/>
                        </a:rPr>
                        <a:t>PJG</a:t>
                      </a:r>
                      <a:r>
                        <a:rPr kumimoji="1" lang="ja-JP" altLang="en-US" sz="1200" dirty="0">
                          <a:solidFill>
                            <a:schemeClr val="tx1"/>
                          </a:solidFill>
                          <a:latin typeface="+mn-ea"/>
                          <a:ea typeface="+mn-ea"/>
                        </a:rPr>
                        <a:t>の業務フローから課題抽出中。</a:t>
                      </a:r>
                      <a:r>
                        <a:rPr kumimoji="1" lang="ja-JP" altLang="en-US" sz="1050" i="0" u="none" strike="noStrike" kern="1200" cap="none" spc="0" normalizeH="0" baseline="0" noProof="0" dirty="0">
                          <a:ln>
                            <a:noFill/>
                          </a:ln>
                          <a:solidFill>
                            <a:schemeClr val="tx1"/>
                          </a:solidFill>
                          <a:effectLst/>
                          <a:highlight>
                            <a:srgbClr val="FAE1CE"/>
                          </a:highlight>
                          <a:uLnTx/>
                          <a:uFillTx/>
                          <a:latin typeface="+mn-ea"/>
                          <a:ea typeface="+mn-ea"/>
                          <a:cs typeface="+mn-cs"/>
                        </a:rPr>
                        <a:t>検討の遅れ：引続き各部協力依頼予定</a:t>
                      </a:r>
                      <a:endParaRPr kumimoji="1" lang="en-US" altLang="ja-JP" sz="1200" i="0" u="none" strike="noStrike" kern="1200" cap="none" spc="0" normalizeH="0" baseline="0" noProof="0" dirty="0">
                        <a:ln>
                          <a:noFill/>
                        </a:ln>
                        <a:solidFill>
                          <a:schemeClr val="tx1"/>
                        </a:solidFill>
                        <a:effectLst/>
                        <a:highlight>
                          <a:srgbClr val="FAE1CE"/>
                        </a:highligh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r>
                        <a:rPr kumimoji="1" lang="en-US" altLang="ja-JP" sz="1200" dirty="0" err="1">
                          <a:solidFill>
                            <a:schemeClr val="tx1"/>
                          </a:solidFill>
                          <a:latin typeface="+mn-ea"/>
                          <a:ea typeface="+mn-ea"/>
                        </a:rPr>
                        <a:t>ToBe</a:t>
                      </a:r>
                      <a:r>
                        <a:rPr kumimoji="1" lang="ja-JP" altLang="en-US" sz="1200" dirty="0">
                          <a:solidFill>
                            <a:schemeClr val="tx1"/>
                          </a:solidFill>
                          <a:latin typeface="+mn-ea"/>
                          <a:ea typeface="+mn-ea"/>
                        </a:rPr>
                        <a:t>業務フロー確定</a:t>
                      </a:r>
                      <a:endParaRPr kumimoji="1" lang="en-US" altLang="ja-JP" sz="1200" dirty="0">
                        <a:solidFill>
                          <a:schemeClr val="tx1"/>
                        </a:solidFill>
                        <a:latin typeface="+mn-ea"/>
                        <a:ea typeface="+mn-ea"/>
                      </a:endParaRPr>
                    </a:p>
                    <a:p>
                      <a:r>
                        <a:rPr kumimoji="1" lang="ja-JP" altLang="en-US" sz="1200" dirty="0">
                          <a:solidFill>
                            <a:schemeClr val="tx1"/>
                          </a:solidFill>
                          <a:latin typeface="+mn-ea"/>
                          <a:ea typeface="+mn-ea"/>
                        </a:rPr>
                        <a:t>各課実行の為の準備完了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r>
                        <a:rPr kumimoji="1" lang="en-US" altLang="ja-JP" sz="1200" i="1" dirty="0">
                          <a:solidFill>
                            <a:schemeClr val="tx1"/>
                          </a:solidFill>
                          <a:latin typeface="+mn-ea"/>
                          <a:ea typeface="+mn-ea"/>
                        </a:rPr>
                        <a:t>8/9</a:t>
                      </a:r>
                      <a:endParaRPr kumimoji="1" lang="ja-JP" altLang="en-US" sz="1200" i="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3946571591"/>
                  </a:ext>
                </a:extLst>
              </a:tr>
              <a:tr h="403002">
                <a:tc rowSpan="2">
                  <a:txBody>
                    <a:bodyPr/>
                    <a:lstStyle/>
                    <a:p>
                      <a:pPr algn="ctr"/>
                      <a:r>
                        <a:rPr kumimoji="1" lang="ja-JP" altLang="en-US" sz="1200" b="1" dirty="0">
                          <a:latin typeface="+mn-ea"/>
                          <a:ea typeface="+mn-ea"/>
                        </a:rPr>
                        <a:t>遂行</a:t>
                      </a:r>
                      <a:endParaRPr kumimoji="1" lang="en-US" altLang="ja-JP" sz="1200" b="1" dirty="0">
                        <a:latin typeface="+mn-ea"/>
                        <a:ea typeface="+mn-ea"/>
                      </a:endParaRPr>
                    </a:p>
                    <a:p>
                      <a:pPr algn="ctr"/>
                      <a:r>
                        <a:rPr kumimoji="1" lang="ja-JP" altLang="en-US" sz="1200" b="1" dirty="0">
                          <a:latin typeface="+mn-ea"/>
                          <a:ea typeface="+mn-ea"/>
                        </a:rPr>
                        <a:t>業務</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kumimoji="1" lang="ja-JP" altLang="en-US" sz="1200" b="1" dirty="0">
                          <a:latin typeface="+mn-ea"/>
                          <a:ea typeface="+mn-ea"/>
                        </a:rPr>
                        <a:t>間接業務の効率化</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kumimoji="1" lang="ja-JP" altLang="en-US" sz="1200" dirty="0">
                          <a:solidFill>
                            <a:schemeClr val="tx1"/>
                          </a:solidFill>
                          <a:latin typeface="+mn-ea"/>
                          <a:ea typeface="+mn-ea"/>
                        </a:rPr>
                        <a:t>・直接作業比率目標</a:t>
                      </a:r>
                      <a:r>
                        <a:rPr kumimoji="1" lang="en-US" altLang="ja-JP" sz="1200" dirty="0">
                          <a:solidFill>
                            <a:schemeClr val="tx1"/>
                          </a:solidFill>
                          <a:latin typeface="+mn-ea"/>
                          <a:ea typeface="+mn-ea"/>
                        </a:rPr>
                        <a:t>72%</a:t>
                      </a:r>
                      <a:r>
                        <a:rPr kumimoji="1" lang="ja-JP" altLang="en-US" sz="1200" dirty="0">
                          <a:solidFill>
                            <a:schemeClr val="tx1"/>
                          </a:solidFill>
                          <a:latin typeface="+mn-ea"/>
                          <a:ea typeface="+mn-ea"/>
                        </a:rPr>
                        <a:t>を各部部門費期首フォロにて周知。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200" dirty="0">
                          <a:solidFill>
                            <a:schemeClr val="tx1"/>
                          </a:solidFill>
                          <a:latin typeface="+mn-ea"/>
                          <a:ea typeface="+mn-ea"/>
                        </a:rPr>
                        <a:t>運用中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i="1" dirty="0">
                          <a:solidFill>
                            <a:schemeClr val="tx1"/>
                          </a:solidFill>
                          <a:latin typeface="+mn-ea"/>
                          <a:ea typeface="+mn-ea"/>
                        </a:rPr>
                        <a:t>-</a:t>
                      </a:r>
                      <a:endParaRPr kumimoji="1" lang="ja-JP" altLang="en-US" sz="1200" i="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51908432"/>
                  </a:ext>
                </a:extLst>
              </a:tr>
              <a:tr h="403002">
                <a:tc vMerge="1">
                  <a:txBody>
                    <a:bodyPr/>
                    <a:lstStyle/>
                    <a:p>
                      <a:pPr algn="ctr"/>
                      <a:endParaRPr kumimoji="1" lang="en-US" altLang="ja-JP" b="1" dirty="0">
                        <a:latin typeface="+mn-ea"/>
                        <a:ea typeface="+mn-ea"/>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kumimoji="1" lang="ja-JP" altLang="en-US" sz="1200" b="1" dirty="0">
                          <a:latin typeface="+mn-ea"/>
                          <a:ea typeface="+mn-ea"/>
                        </a:rPr>
                        <a:t>設計業務の整流化・効率化</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latin typeface="+mn-ea"/>
                          <a:ea typeface="+mn-ea"/>
                        </a:rPr>
                        <a:t>・技術部全体の工数計上実績からターゲット絞込み中。</a:t>
                      </a:r>
                      <a:r>
                        <a:rPr kumimoji="1" lang="ja-JP" altLang="en-US" sz="1050" i="0" u="none" strike="noStrike" kern="1200" cap="none" spc="0" normalizeH="0" baseline="0" noProof="0" dirty="0">
                          <a:ln>
                            <a:noFill/>
                          </a:ln>
                          <a:solidFill>
                            <a:schemeClr val="tx1"/>
                          </a:solidFill>
                          <a:effectLst/>
                          <a:highlight>
                            <a:srgbClr val="FAE1CE"/>
                          </a:highlight>
                          <a:uLnTx/>
                          <a:uFillTx/>
                          <a:latin typeface="+mn-ea"/>
                          <a:ea typeface="+mn-ea"/>
                          <a:cs typeface="+mn-cs"/>
                        </a:rPr>
                        <a:t>検討の遅れ：引続き各部協力依頼予定</a:t>
                      </a:r>
                      <a:endParaRPr kumimoji="1" lang="en-US" altLang="ja-JP" sz="1200" i="0" u="none" strike="noStrike" kern="1200" cap="none" spc="0" normalizeH="0" baseline="0" noProof="0" dirty="0">
                        <a:ln>
                          <a:noFill/>
                        </a:ln>
                        <a:solidFill>
                          <a:schemeClr val="tx1"/>
                        </a:solidFill>
                        <a:effectLst/>
                        <a:highlight>
                          <a:srgbClr val="FAE1CE"/>
                        </a:highligh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r>
                        <a:rPr kumimoji="1" lang="en-US" altLang="ja-JP" sz="1200" dirty="0" err="1">
                          <a:solidFill>
                            <a:schemeClr val="tx1"/>
                          </a:solidFill>
                          <a:latin typeface="+mn-ea"/>
                          <a:ea typeface="+mn-ea"/>
                        </a:rPr>
                        <a:t>ToBe</a:t>
                      </a:r>
                      <a:r>
                        <a:rPr kumimoji="1" lang="ja-JP" altLang="en-US" sz="1200" dirty="0">
                          <a:solidFill>
                            <a:schemeClr val="tx1"/>
                          </a:solidFill>
                          <a:latin typeface="+mn-ea"/>
                          <a:ea typeface="+mn-ea"/>
                        </a:rPr>
                        <a:t>業務フロー確定</a:t>
                      </a:r>
                      <a:endParaRPr kumimoji="1" lang="en-US" altLang="ja-JP" sz="1200" dirty="0">
                        <a:solidFill>
                          <a:schemeClr val="tx1"/>
                        </a:solidFill>
                        <a:latin typeface="+mn-ea"/>
                        <a:ea typeface="+mn-ea"/>
                      </a:endParaRPr>
                    </a:p>
                    <a:p>
                      <a:r>
                        <a:rPr kumimoji="1" lang="ja-JP" altLang="en-US" sz="1200" dirty="0">
                          <a:solidFill>
                            <a:schemeClr val="tx1"/>
                          </a:solidFill>
                          <a:latin typeface="+mn-ea"/>
                          <a:ea typeface="+mn-ea"/>
                        </a:rPr>
                        <a:t>各課実行の為の準備完了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r>
                        <a:rPr kumimoji="1" lang="en-US" altLang="ja-JP" sz="1200" i="1" dirty="0">
                          <a:solidFill>
                            <a:schemeClr val="tx1"/>
                          </a:solidFill>
                          <a:latin typeface="+mn-ea"/>
                          <a:ea typeface="+mn-ea"/>
                        </a:rPr>
                        <a:t>8/9</a:t>
                      </a:r>
                      <a:endParaRPr kumimoji="1" lang="ja-JP" altLang="en-US" sz="1200" i="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2270321734"/>
                  </a:ext>
                </a:extLst>
              </a:tr>
              <a:tr h="241801">
                <a:tc>
                  <a:txBody>
                    <a:bodyPr/>
                    <a:lstStyle/>
                    <a:p>
                      <a:pPr algn="ctr"/>
                      <a:r>
                        <a:rPr kumimoji="1" lang="ja-JP" altLang="en-US" sz="1100" b="1" dirty="0">
                          <a:latin typeface="+mn-ea"/>
                          <a:ea typeface="+mn-ea"/>
                        </a:rPr>
                        <a:t>風土</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kumimoji="1" lang="ja-JP" altLang="en-US" sz="1200" b="1" dirty="0">
                          <a:latin typeface="+mn-ea"/>
                          <a:ea typeface="+mn-ea"/>
                        </a:rPr>
                        <a:t>コミュニケーション活発化</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050" dirty="0">
                          <a:highlight>
                            <a:srgbClr val="FAE1CE"/>
                          </a:highlight>
                          <a:latin typeface="+mn-ea"/>
                          <a:ea typeface="+mn-ea"/>
                        </a:rPr>
                        <a:t>検討の遅れ：目的の明確化と施策再考中。</a:t>
                      </a:r>
                      <a:endParaRPr kumimoji="1" lang="ja-JP" altLang="en-US" sz="1050" dirty="0">
                        <a:solidFill>
                          <a:schemeClr val="tx1"/>
                        </a:solidFill>
                        <a:highlight>
                          <a:srgbClr val="FAE1CE"/>
                        </a:highlight>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200" dirty="0">
                          <a:solidFill>
                            <a:schemeClr val="tx1"/>
                          </a:solidFill>
                          <a:latin typeface="+mn-ea"/>
                          <a:ea typeface="+mn-ea"/>
                        </a:rPr>
                        <a:t>コミュニケーション活発化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i="1" dirty="0">
                          <a:solidFill>
                            <a:schemeClr val="tx1"/>
                          </a:solidFill>
                          <a:latin typeface="+mn-ea"/>
                          <a:ea typeface="+mn-ea"/>
                        </a:rPr>
                        <a:t>8/9</a:t>
                      </a:r>
                      <a:endParaRPr kumimoji="1" lang="ja-JP" altLang="en-US" sz="1200" i="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2260571"/>
                  </a:ext>
                </a:extLst>
              </a:tr>
            </a:tbl>
          </a:graphicData>
        </a:graphic>
      </p:graphicFrame>
      <p:sp>
        <p:nvSpPr>
          <p:cNvPr id="4" name="テキスト ボックス 3">
            <a:extLst>
              <a:ext uri="{FF2B5EF4-FFF2-40B4-BE49-F238E27FC236}">
                <a16:creationId xmlns:a16="http://schemas.microsoft.com/office/drawing/2014/main" id="{1310701B-29A4-B67A-69AD-C18811ECE480}"/>
              </a:ext>
            </a:extLst>
          </p:cNvPr>
          <p:cNvSpPr txBox="1"/>
          <p:nvPr/>
        </p:nvSpPr>
        <p:spPr>
          <a:xfrm>
            <a:off x="463814" y="4644240"/>
            <a:ext cx="732493" cy="230832"/>
          </a:xfrm>
          <a:prstGeom prst="rect">
            <a:avLst/>
          </a:prstGeom>
          <a:noFill/>
        </p:spPr>
        <p:txBody>
          <a:bodyPr wrap="square" rtlCol="0">
            <a:spAutoFit/>
          </a:bodyPr>
          <a:lstStyle/>
          <a:p>
            <a:pPr algn="r"/>
            <a:r>
              <a:rPr kumimoji="1" lang="ja-JP" altLang="en-US" sz="900" b="1" dirty="0">
                <a:highlight>
                  <a:srgbClr val="FFFF00"/>
                </a:highlight>
                <a:latin typeface="+mn-ea"/>
              </a:rPr>
              <a:t>フェーズ</a:t>
            </a:r>
            <a:r>
              <a:rPr kumimoji="1" lang="en-US" altLang="ja-JP" sz="900" b="1" dirty="0">
                <a:highlight>
                  <a:srgbClr val="FFFF00"/>
                </a:highlight>
                <a:latin typeface="+mn-ea"/>
              </a:rPr>
              <a:t>3</a:t>
            </a:r>
            <a:endParaRPr kumimoji="1" lang="ja-JP" altLang="en-US" sz="900" b="1" dirty="0">
              <a:highlight>
                <a:srgbClr val="FFFF00"/>
              </a:highlight>
              <a:latin typeface="+mn-ea"/>
            </a:endParaRPr>
          </a:p>
        </p:txBody>
      </p:sp>
      <p:sp>
        <p:nvSpPr>
          <p:cNvPr id="5" name="テキスト ボックス 4">
            <a:extLst>
              <a:ext uri="{FF2B5EF4-FFF2-40B4-BE49-F238E27FC236}">
                <a16:creationId xmlns:a16="http://schemas.microsoft.com/office/drawing/2014/main" id="{3A3528E8-A90A-8B74-AD4B-7BE324E030C8}"/>
              </a:ext>
            </a:extLst>
          </p:cNvPr>
          <p:cNvSpPr txBox="1"/>
          <p:nvPr/>
        </p:nvSpPr>
        <p:spPr>
          <a:xfrm>
            <a:off x="539551" y="5550873"/>
            <a:ext cx="732493" cy="230832"/>
          </a:xfrm>
          <a:prstGeom prst="rect">
            <a:avLst/>
          </a:prstGeom>
          <a:noFill/>
        </p:spPr>
        <p:txBody>
          <a:bodyPr wrap="square" rtlCol="0">
            <a:spAutoFit/>
          </a:bodyPr>
          <a:lstStyle/>
          <a:p>
            <a:pPr algn="r"/>
            <a:r>
              <a:rPr kumimoji="1" lang="ja-JP" altLang="en-US" sz="900" b="1" dirty="0">
                <a:highlight>
                  <a:srgbClr val="FFFF00"/>
                </a:highlight>
                <a:latin typeface="+mn-ea"/>
              </a:rPr>
              <a:t>フェーズ</a:t>
            </a:r>
            <a:r>
              <a:rPr kumimoji="1" lang="en-US" altLang="ja-JP" sz="900" b="1" dirty="0">
                <a:highlight>
                  <a:srgbClr val="FFFF00"/>
                </a:highlight>
                <a:latin typeface="+mn-ea"/>
              </a:rPr>
              <a:t>3</a:t>
            </a:r>
            <a:endParaRPr kumimoji="1" lang="ja-JP" altLang="en-US" sz="900" b="1" dirty="0">
              <a:highlight>
                <a:srgbClr val="FFFF00"/>
              </a:highlight>
              <a:latin typeface="+mn-ea"/>
            </a:endParaRPr>
          </a:p>
        </p:txBody>
      </p:sp>
      <p:sp>
        <p:nvSpPr>
          <p:cNvPr id="26" name="テキスト ボックス 25">
            <a:extLst>
              <a:ext uri="{FF2B5EF4-FFF2-40B4-BE49-F238E27FC236}">
                <a16:creationId xmlns:a16="http://schemas.microsoft.com/office/drawing/2014/main" id="{3A8FA1E7-C1CA-9BDC-AECA-7C8A3F6E60EF}"/>
              </a:ext>
            </a:extLst>
          </p:cNvPr>
          <p:cNvSpPr txBox="1"/>
          <p:nvPr/>
        </p:nvSpPr>
        <p:spPr>
          <a:xfrm>
            <a:off x="395535" y="3294401"/>
            <a:ext cx="732493" cy="230832"/>
          </a:xfrm>
          <a:prstGeom prst="rect">
            <a:avLst/>
          </a:prstGeom>
          <a:noFill/>
        </p:spPr>
        <p:txBody>
          <a:bodyPr wrap="square" rtlCol="0">
            <a:spAutoFit/>
          </a:bodyPr>
          <a:lstStyle/>
          <a:p>
            <a:pPr algn="r"/>
            <a:r>
              <a:rPr lang="ja-JP" altLang="en-US" sz="900" b="1" dirty="0">
                <a:highlight>
                  <a:srgbClr val="FFFF00"/>
                </a:highlight>
                <a:latin typeface="+mn-ea"/>
              </a:rPr>
              <a:t>継続活動</a:t>
            </a:r>
            <a:endParaRPr kumimoji="1" lang="ja-JP" altLang="en-US" sz="900" b="1" dirty="0">
              <a:highlight>
                <a:srgbClr val="FFFF00"/>
              </a:highlight>
              <a:latin typeface="+mn-ea"/>
            </a:endParaRPr>
          </a:p>
        </p:txBody>
      </p:sp>
      <p:sp>
        <p:nvSpPr>
          <p:cNvPr id="27" name="テキスト ボックス 26">
            <a:extLst>
              <a:ext uri="{FF2B5EF4-FFF2-40B4-BE49-F238E27FC236}">
                <a16:creationId xmlns:a16="http://schemas.microsoft.com/office/drawing/2014/main" id="{43B2BCA6-6C19-247A-0DBE-BFE5C34E877C}"/>
              </a:ext>
            </a:extLst>
          </p:cNvPr>
          <p:cNvSpPr txBox="1"/>
          <p:nvPr/>
        </p:nvSpPr>
        <p:spPr>
          <a:xfrm>
            <a:off x="467542" y="1915300"/>
            <a:ext cx="732493" cy="230832"/>
          </a:xfrm>
          <a:prstGeom prst="rect">
            <a:avLst/>
          </a:prstGeom>
          <a:noFill/>
        </p:spPr>
        <p:txBody>
          <a:bodyPr wrap="square" rtlCol="0">
            <a:spAutoFit/>
          </a:bodyPr>
          <a:lstStyle/>
          <a:p>
            <a:pPr algn="r"/>
            <a:r>
              <a:rPr lang="ja-JP" altLang="en-US" sz="900" b="1" dirty="0">
                <a:highlight>
                  <a:srgbClr val="FFFF00"/>
                </a:highlight>
                <a:latin typeface="+mn-ea"/>
              </a:rPr>
              <a:t>継続活動</a:t>
            </a:r>
            <a:endParaRPr kumimoji="1" lang="ja-JP" altLang="en-US" sz="900" b="1" dirty="0">
              <a:highlight>
                <a:srgbClr val="FFFF00"/>
              </a:highlight>
              <a:latin typeface="+mn-ea"/>
            </a:endParaRPr>
          </a:p>
        </p:txBody>
      </p:sp>
      <p:sp>
        <p:nvSpPr>
          <p:cNvPr id="28" name="テキスト ボックス 27">
            <a:extLst>
              <a:ext uri="{FF2B5EF4-FFF2-40B4-BE49-F238E27FC236}">
                <a16:creationId xmlns:a16="http://schemas.microsoft.com/office/drawing/2014/main" id="{D2F19772-7156-04F8-DBFA-F774A3CB258E}"/>
              </a:ext>
            </a:extLst>
          </p:cNvPr>
          <p:cNvSpPr txBox="1"/>
          <p:nvPr/>
        </p:nvSpPr>
        <p:spPr>
          <a:xfrm>
            <a:off x="463814" y="1519881"/>
            <a:ext cx="732493" cy="230832"/>
          </a:xfrm>
          <a:prstGeom prst="rect">
            <a:avLst/>
          </a:prstGeom>
          <a:noFill/>
        </p:spPr>
        <p:txBody>
          <a:bodyPr wrap="square" rtlCol="0">
            <a:spAutoFit/>
          </a:bodyPr>
          <a:lstStyle/>
          <a:p>
            <a:pPr algn="r"/>
            <a:r>
              <a:rPr lang="ja-JP" altLang="en-US" sz="900" b="1" dirty="0">
                <a:highlight>
                  <a:srgbClr val="FFFF00"/>
                </a:highlight>
                <a:latin typeface="+mn-ea"/>
              </a:rPr>
              <a:t>継続活動</a:t>
            </a:r>
            <a:endParaRPr kumimoji="1" lang="ja-JP" altLang="en-US" sz="900" b="1" dirty="0">
              <a:highlight>
                <a:srgbClr val="FFFF00"/>
              </a:highlight>
              <a:latin typeface="+mn-ea"/>
            </a:endParaRPr>
          </a:p>
        </p:txBody>
      </p:sp>
    </p:spTree>
    <p:extLst>
      <p:ext uri="{BB962C8B-B14F-4D97-AF65-F5344CB8AC3E}">
        <p14:creationId xmlns:p14="http://schemas.microsoft.com/office/powerpoint/2010/main" val="2206776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8F1F7DC-D8BF-3813-9388-C3BF293B42EA}"/>
              </a:ext>
            </a:extLst>
          </p:cNvPr>
          <p:cNvSpPr>
            <a:spLocks noGrp="1"/>
          </p:cNvSpPr>
          <p:nvPr>
            <p:ph type="title"/>
          </p:nvPr>
        </p:nvSpPr>
        <p:spPr>
          <a:xfrm>
            <a:off x="308725" y="2699385"/>
            <a:ext cx="8531974" cy="1161663"/>
          </a:xfrm>
          <a:prstGeom prst="rect">
            <a:avLst/>
          </a:prstGeom>
        </p:spPr>
        <p:txBody>
          <a:bodyPr lIns="91440" tIns="45720" rIns="91440" bIns="45720" anchor="t"/>
          <a:lstStyle/>
          <a:p>
            <a:pPr>
              <a:defRPr/>
            </a:pPr>
            <a:r>
              <a:rPr lang="ja-JP" altLang="en-US" sz="2400" dirty="0"/>
              <a:t>４．フェーズ２からの継続活動事項</a:t>
            </a:r>
            <a:br>
              <a:rPr lang="en-US" altLang="ja-JP" sz="2400" b="0" dirty="0"/>
            </a:br>
            <a:r>
              <a:rPr lang="ja-JP" altLang="en-US" sz="2400" b="0" dirty="0"/>
              <a:t>　　</a:t>
            </a:r>
            <a:r>
              <a:rPr lang="ja-JP" altLang="en-US" sz="2000" b="0" dirty="0"/>
              <a:t>４－１．</a:t>
            </a:r>
            <a:r>
              <a:rPr kumimoji="1" lang="ja-JP" altLang="en-US" sz="2000" b="0" i="0" u="none" strike="noStrike" kern="1200" cap="none" spc="0" normalizeH="0" baseline="0" noProof="0" dirty="0">
                <a:ln>
                  <a:noFill/>
                </a:ln>
                <a:solidFill>
                  <a:srgbClr val="000000"/>
                </a:solidFill>
                <a:effectLst/>
                <a:uLnTx/>
                <a:uFillTx/>
                <a:latin typeface="+mn-ea"/>
                <a:cs typeface="+mn-cs"/>
              </a:rPr>
              <a:t>顧客セグメントの再定義について</a:t>
            </a:r>
            <a:endParaRPr lang="ja-JP" altLang="en-US" sz="2000" b="0" dirty="0"/>
          </a:p>
        </p:txBody>
      </p:sp>
    </p:spTree>
    <p:extLst>
      <p:ext uri="{BB962C8B-B14F-4D97-AF65-F5344CB8AC3E}">
        <p14:creationId xmlns:p14="http://schemas.microsoft.com/office/powerpoint/2010/main" val="2036596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25FAE3-143B-48B6-A2AB-A8A454774A4C}"/>
              </a:ext>
            </a:extLst>
          </p:cNvPr>
          <p:cNvSpPr>
            <a:spLocks noGrp="1"/>
          </p:cNvSpPr>
          <p:nvPr>
            <p:ph type="title" idx="4294967295"/>
          </p:nvPr>
        </p:nvSpPr>
        <p:spPr>
          <a:xfrm>
            <a:off x="237324" y="124853"/>
            <a:ext cx="7134225" cy="350837"/>
          </a:xfrm>
          <a:prstGeom prst="rect">
            <a:avLst/>
          </a:prstGeom>
        </p:spPr>
        <p:txBody>
          <a:bodyPr/>
          <a:lstStyle/>
          <a:p>
            <a:r>
              <a:rPr kumimoji="1" lang="ja-JP" altLang="en-US" sz="1800" b="1" dirty="0"/>
              <a:t>４－１．顧客セグメンテーションの目的（振り返り）</a:t>
            </a:r>
          </a:p>
        </p:txBody>
      </p:sp>
      <p:sp>
        <p:nvSpPr>
          <p:cNvPr id="3" name="テキスト プレースホルダー 2">
            <a:extLst>
              <a:ext uri="{FF2B5EF4-FFF2-40B4-BE49-F238E27FC236}">
                <a16:creationId xmlns:a16="http://schemas.microsoft.com/office/drawing/2014/main" id="{1FAADC35-CB74-4819-90AD-EF336D5611F7}"/>
              </a:ext>
            </a:extLst>
          </p:cNvPr>
          <p:cNvSpPr>
            <a:spLocks noGrp="1"/>
          </p:cNvSpPr>
          <p:nvPr>
            <p:ph type="body" sz="quarter" idx="4294967295"/>
          </p:nvPr>
        </p:nvSpPr>
        <p:spPr>
          <a:xfrm>
            <a:off x="237324" y="646252"/>
            <a:ext cx="8636000" cy="1293279"/>
          </a:xfrm>
          <a:prstGeom prst="rect">
            <a:avLst/>
          </a:prstGeom>
          <a:solidFill>
            <a:schemeClr val="bg2">
              <a:lumMod val="40000"/>
              <a:lumOff val="60000"/>
            </a:schemeClr>
          </a:solidFill>
        </p:spPr>
        <p:txBody>
          <a:bodyPr anchor="ctr"/>
          <a:lstStyle/>
          <a:p>
            <a:pPr marL="0" indent="0">
              <a:lnSpc>
                <a:spcPct val="100000"/>
              </a:lnSpc>
              <a:spcBef>
                <a:spcPts val="0"/>
              </a:spcBef>
              <a:buNone/>
            </a:pPr>
            <a:r>
              <a:rPr lang="ja-JP" altLang="en-US" sz="1600" dirty="0"/>
              <a:t>■顧客セグメント特定は「営業活動の適正化」「引合費の投資対効果の最大化」が目的</a:t>
            </a:r>
            <a:endParaRPr lang="en-US" altLang="ja-JP" sz="1600" dirty="0"/>
          </a:p>
          <a:p>
            <a:pPr marL="0" indent="0">
              <a:lnSpc>
                <a:spcPct val="100000"/>
              </a:lnSpc>
              <a:spcBef>
                <a:spcPts val="0"/>
              </a:spcBef>
              <a:buNone/>
            </a:pPr>
            <a:r>
              <a:rPr kumimoji="1" lang="ja-JP" altLang="en-US" sz="1600" dirty="0"/>
              <a:t>■前回は発電所別の営利評価をベースに、商談状況を考慮した</a:t>
            </a:r>
            <a:r>
              <a:rPr kumimoji="1" lang="en-US" altLang="ja-JP" sz="1600" dirty="0"/>
              <a:t>A</a:t>
            </a:r>
            <a:r>
              <a:rPr kumimoji="1" lang="ja-JP" altLang="en-US" sz="1600" dirty="0"/>
              <a:t>～</a:t>
            </a:r>
            <a:r>
              <a:rPr kumimoji="1" lang="en-US" altLang="ja-JP" sz="1600" dirty="0"/>
              <a:t>D</a:t>
            </a:r>
            <a:r>
              <a:rPr kumimoji="1" lang="ja-JP" altLang="en-US" sz="1600" dirty="0"/>
              <a:t>のランク分けを</a:t>
            </a:r>
            <a:endParaRPr kumimoji="1" lang="en-US" altLang="ja-JP" sz="1600" dirty="0"/>
          </a:p>
          <a:p>
            <a:pPr marL="0" indent="0">
              <a:lnSpc>
                <a:spcPct val="100000"/>
              </a:lnSpc>
              <a:spcBef>
                <a:spcPts val="0"/>
              </a:spcBef>
              <a:buNone/>
            </a:pPr>
            <a:r>
              <a:rPr lang="ja-JP" altLang="en-US" sz="1600" dirty="0"/>
              <a:t>　</a:t>
            </a:r>
            <a:r>
              <a:rPr kumimoji="1" lang="ja-JP" altLang="en-US" sz="1600" dirty="0"/>
              <a:t>実施したが、</a:t>
            </a:r>
            <a:r>
              <a:rPr lang="ja-JP" altLang="en-US" sz="1600" dirty="0"/>
              <a:t>目的に沿った内容ではなかった</a:t>
            </a:r>
            <a:r>
              <a:rPr kumimoji="1" lang="ja-JP" altLang="en-US" sz="1600" dirty="0"/>
              <a:t>。</a:t>
            </a:r>
            <a:endParaRPr kumimoji="1" lang="en-US" altLang="ja-JP" sz="1600" dirty="0"/>
          </a:p>
          <a:p>
            <a:pPr marL="0" indent="0">
              <a:lnSpc>
                <a:spcPct val="100000"/>
              </a:lnSpc>
              <a:spcBef>
                <a:spcPts val="0"/>
              </a:spcBef>
              <a:buNone/>
            </a:pPr>
            <a:r>
              <a:rPr lang="ja-JP" altLang="en-US" sz="1600" dirty="0"/>
              <a:t>■</a:t>
            </a:r>
            <a:r>
              <a:rPr lang="en-US" altLang="ja-JP" sz="1600" b="1" dirty="0"/>
              <a:t>1</a:t>
            </a:r>
            <a:r>
              <a:rPr lang="ja-JP" altLang="en-US" sz="1600" b="1" dirty="0"/>
              <a:t>年経過した為見直しするとともに、顧客ランクを実態に合わせて再定義する</a:t>
            </a:r>
            <a:r>
              <a:rPr lang="ja-JP" altLang="en-US" sz="1600" dirty="0"/>
              <a:t>。</a:t>
            </a:r>
            <a:endParaRPr kumimoji="1" lang="ja-JP" altLang="en-US" sz="1600" dirty="0"/>
          </a:p>
        </p:txBody>
      </p:sp>
      <p:sp>
        <p:nvSpPr>
          <p:cNvPr id="4" name="正方形/長方形 3">
            <a:extLst>
              <a:ext uri="{FF2B5EF4-FFF2-40B4-BE49-F238E27FC236}">
                <a16:creationId xmlns:a16="http://schemas.microsoft.com/office/drawing/2014/main" id="{5FDBF49E-DE18-48A4-ACFC-EAAD3E13C8EB}"/>
              </a:ext>
            </a:extLst>
          </p:cNvPr>
          <p:cNvSpPr/>
          <p:nvPr/>
        </p:nvSpPr>
        <p:spPr>
          <a:xfrm>
            <a:off x="4716015" y="2482300"/>
            <a:ext cx="4030947" cy="306733"/>
          </a:xfrm>
          <a:prstGeom prst="rect">
            <a:avLst/>
          </a:prstGeom>
          <a:solidFill>
            <a:schemeClr val="bg2">
              <a:lumMod val="50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mn-ea"/>
              </a:rPr>
              <a:t>引合費の投資対効果の最大化</a:t>
            </a:r>
          </a:p>
        </p:txBody>
      </p:sp>
      <p:sp>
        <p:nvSpPr>
          <p:cNvPr id="5" name="正方形/長方形 4">
            <a:extLst>
              <a:ext uri="{FF2B5EF4-FFF2-40B4-BE49-F238E27FC236}">
                <a16:creationId xmlns:a16="http://schemas.microsoft.com/office/drawing/2014/main" id="{67BD3F53-9C16-4462-B091-54E612CCB487}"/>
              </a:ext>
            </a:extLst>
          </p:cNvPr>
          <p:cNvSpPr/>
          <p:nvPr/>
        </p:nvSpPr>
        <p:spPr>
          <a:xfrm>
            <a:off x="397036" y="2482300"/>
            <a:ext cx="4030947" cy="306733"/>
          </a:xfrm>
          <a:prstGeom prst="rect">
            <a:avLst/>
          </a:prstGeom>
          <a:solidFill>
            <a:schemeClr val="bg2">
              <a:lumMod val="50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mn-ea"/>
              </a:rPr>
              <a:t>営業活動の適正化</a:t>
            </a:r>
          </a:p>
        </p:txBody>
      </p:sp>
      <p:sp>
        <p:nvSpPr>
          <p:cNvPr id="53" name="正方形/長方形 52">
            <a:extLst>
              <a:ext uri="{FF2B5EF4-FFF2-40B4-BE49-F238E27FC236}">
                <a16:creationId xmlns:a16="http://schemas.microsoft.com/office/drawing/2014/main" id="{5C2F9317-57D5-4693-AAA2-E46301AF3FDA}"/>
              </a:ext>
            </a:extLst>
          </p:cNvPr>
          <p:cNvSpPr/>
          <p:nvPr/>
        </p:nvSpPr>
        <p:spPr>
          <a:xfrm>
            <a:off x="395166" y="2862195"/>
            <a:ext cx="4030947" cy="1008621"/>
          </a:xfrm>
          <a:prstGeom prst="rect">
            <a:avLst/>
          </a:prstGeom>
          <a:solidFill>
            <a:schemeClr val="bg2">
              <a:lumMod val="40000"/>
              <a:lumOff val="60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latin typeface="+mn-ea"/>
              </a:rPr>
              <a:t>ベテランの</a:t>
            </a:r>
            <a:r>
              <a:rPr lang="ja-JP" altLang="en-US" sz="1400" dirty="0">
                <a:solidFill>
                  <a:schemeClr val="tx1"/>
                </a:solidFill>
                <a:latin typeface="+mn-ea"/>
              </a:rPr>
              <a:t>暗黙知</a:t>
            </a:r>
            <a:r>
              <a:rPr kumimoji="1" lang="ja-JP" altLang="en-US" sz="1400" dirty="0">
                <a:solidFill>
                  <a:schemeClr val="tx1"/>
                </a:solidFill>
                <a:latin typeface="+mn-ea"/>
              </a:rPr>
              <a:t>に基づいた営業活動や属人化していた業務を形式知</a:t>
            </a:r>
            <a:r>
              <a:rPr lang="ja-JP" altLang="en-US" sz="1400" dirty="0">
                <a:solidFill>
                  <a:schemeClr val="tx1"/>
                </a:solidFill>
                <a:latin typeface="+mn-ea"/>
              </a:rPr>
              <a:t>化し</a:t>
            </a:r>
            <a:r>
              <a:rPr kumimoji="1" lang="ja-JP" altLang="en-US" sz="1400" dirty="0">
                <a:solidFill>
                  <a:schemeClr val="tx1"/>
                </a:solidFill>
                <a:latin typeface="+mn-ea"/>
              </a:rPr>
              <a:t>、</a:t>
            </a:r>
            <a:endParaRPr kumimoji="1" lang="en-US" altLang="ja-JP" sz="1400" dirty="0">
              <a:solidFill>
                <a:schemeClr val="tx1"/>
              </a:solidFill>
              <a:latin typeface="+mn-ea"/>
            </a:endParaRPr>
          </a:p>
          <a:p>
            <a:r>
              <a:rPr kumimoji="1" lang="ja-JP" altLang="en-US" sz="1400" dirty="0">
                <a:solidFill>
                  <a:schemeClr val="tx1"/>
                </a:solidFill>
                <a:latin typeface="+mn-ea"/>
              </a:rPr>
              <a:t>組織全体として営業活動の質向上を推進</a:t>
            </a:r>
            <a:r>
              <a:rPr lang="ja-JP" altLang="en-US" sz="1400" dirty="0">
                <a:solidFill>
                  <a:schemeClr val="tx1"/>
                </a:solidFill>
                <a:latin typeface="+mn-ea"/>
              </a:rPr>
              <a:t>する</a:t>
            </a:r>
            <a:endParaRPr kumimoji="1" lang="ja-JP" altLang="en-US" sz="1400" dirty="0">
              <a:solidFill>
                <a:schemeClr val="tx1"/>
              </a:solidFill>
              <a:latin typeface="+mn-ea"/>
            </a:endParaRPr>
          </a:p>
        </p:txBody>
      </p:sp>
      <p:sp>
        <p:nvSpPr>
          <p:cNvPr id="54" name="正方形/長方形 53">
            <a:extLst>
              <a:ext uri="{FF2B5EF4-FFF2-40B4-BE49-F238E27FC236}">
                <a16:creationId xmlns:a16="http://schemas.microsoft.com/office/drawing/2014/main" id="{5A9B0577-0960-49CE-AA74-359C05A56184}"/>
              </a:ext>
            </a:extLst>
          </p:cNvPr>
          <p:cNvSpPr/>
          <p:nvPr/>
        </p:nvSpPr>
        <p:spPr>
          <a:xfrm>
            <a:off x="4716016" y="2862195"/>
            <a:ext cx="4030947" cy="1008621"/>
          </a:xfrm>
          <a:prstGeom prst="rect">
            <a:avLst/>
          </a:prstGeom>
          <a:solidFill>
            <a:schemeClr val="bg2">
              <a:lumMod val="40000"/>
              <a:lumOff val="60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1"/>
                </a:solidFill>
                <a:latin typeface="+mn-ea"/>
              </a:rPr>
              <a:t>引合費の予算策定フォームの構築、引合費例月フォロの活動</a:t>
            </a:r>
            <a:r>
              <a:rPr kumimoji="1" lang="ja-JP" altLang="en-US" sz="1400" dirty="0">
                <a:solidFill>
                  <a:schemeClr val="tx1"/>
                </a:solidFill>
                <a:latin typeface="+mn-ea"/>
              </a:rPr>
              <a:t>と合わせ、</a:t>
            </a:r>
            <a:r>
              <a:rPr kumimoji="1" lang="en-US" altLang="ja-JP" sz="1400" dirty="0">
                <a:solidFill>
                  <a:schemeClr val="tx1"/>
                </a:solidFill>
                <a:latin typeface="+mn-ea"/>
              </a:rPr>
              <a:t>PM</a:t>
            </a:r>
            <a:r>
              <a:rPr kumimoji="1" lang="ja-JP" altLang="en-US" sz="1400" dirty="0">
                <a:solidFill>
                  <a:schemeClr val="tx1"/>
                </a:solidFill>
                <a:latin typeface="+mn-ea"/>
              </a:rPr>
              <a:t>が</a:t>
            </a:r>
            <a:r>
              <a:rPr lang="ja-JP" altLang="en-US" sz="1400" dirty="0">
                <a:solidFill>
                  <a:schemeClr val="tx1"/>
                </a:solidFill>
                <a:latin typeface="+mn-ea"/>
              </a:rPr>
              <a:t>引合費の予実管理を適正に行うことで、投資対効果を最大化する</a:t>
            </a:r>
            <a:endParaRPr lang="en-US" altLang="ja-JP" sz="1400" dirty="0">
              <a:solidFill>
                <a:schemeClr val="tx1"/>
              </a:solidFill>
              <a:latin typeface="+mn-ea"/>
            </a:endParaRPr>
          </a:p>
        </p:txBody>
      </p:sp>
      <p:sp>
        <p:nvSpPr>
          <p:cNvPr id="58" name="楕円 57">
            <a:extLst>
              <a:ext uri="{FF2B5EF4-FFF2-40B4-BE49-F238E27FC236}">
                <a16:creationId xmlns:a16="http://schemas.microsoft.com/office/drawing/2014/main" id="{C14E9529-575E-43E8-B083-A20AB1D8AB12}"/>
              </a:ext>
            </a:extLst>
          </p:cNvPr>
          <p:cNvSpPr/>
          <p:nvPr/>
        </p:nvSpPr>
        <p:spPr>
          <a:xfrm>
            <a:off x="522979" y="2444939"/>
            <a:ext cx="375177" cy="375177"/>
          </a:xfrm>
          <a:prstGeom prst="ellipse">
            <a:avLst/>
          </a:prstGeom>
          <a:solidFill>
            <a:schemeClr val="bg1"/>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mn-ea"/>
              </a:rPr>
              <a:t>１</a:t>
            </a:r>
          </a:p>
        </p:txBody>
      </p:sp>
      <p:sp>
        <p:nvSpPr>
          <p:cNvPr id="59" name="楕円 58">
            <a:extLst>
              <a:ext uri="{FF2B5EF4-FFF2-40B4-BE49-F238E27FC236}">
                <a16:creationId xmlns:a16="http://schemas.microsoft.com/office/drawing/2014/main" id="{0E886044-6C31-42A3-A9C9-37A0B24DEA42}"/>
              </a:ext>
            </a:extLst>
          </p:cNvPr>
          <p:cNvSpPr/>
          <p:nvPr/>
        </p:nvSpPr>
        <p:spPr>
          <a:xfrm>
            <a:off x="4773201" y="2449657"/>
            <a:ext cx="375177" cy="375177"/>
          </a:xfrm>
          <a:prstGeom prst="ellipse">
            <a:avLst/>
          </a:prstGeom>
          <a:solidFill>
            <a:schemeClr val="bg1"/>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n-ea"/>
              </a:rPr>
              <a:t>２</a:t>
            </a:r>
            <a:endParaRPr kumimoji="1" lang="ja-JP" altLang="en-US" sz="1400" b="1" dirty="0">
              <a:solidFill>
                <a:schemeClr val="tx1"/>
              </a:solidFill>
              <a:latin typeface="+mn-ea"/>
            </a:endParaRPr>
          </a:p>
        </p:txBody>
      </p:sp>
      <p:graphicFrame>
        <p:nvGraphicFramePr>
          <p:cNvPr id="6" name="表 5">
            <a:extLst>
              <a:ext uri="{FF2B5EF4-FFF2-40B4-BE49-F238E27FC236}">
                <a16:creationId xmlns:a16="http://schemas.microsoft.com/office/drawing/2014/main" id="{737F0667-4800-313F-96CC-4FEDE6F8F0C0}"/>
              </a:ext>
            </a:extLst>
          </p:cNvPr>
          <p:cNvGraphicFramePr>
            <a:graphicFrameLocks noGrp="1"/>
          </p:cNvGraphicFramePr>
          <p:nvPr>
            <p:extLst>
              <p:ext uri="{D42A27DB-BD31-4B8C-83A1-F6EECF244321}">
                <p14:modId xmlns:p14="http://schemas.microsoft.com/office/powerpoint/2010/main" val="3218564772"/>
              </p:ext>
            </p:extLst>
          </p:nvPr>
        </p:nvGraphicFramePr>
        <p:xfrm>
          <a:off x="239486" y="4530581"/>
          <a:ext cx="8636005" cy="1573187"/>
        </p:xfrm>
        <a:graphic>
          <a:graphicData uri="http://schemas.openxmlformats.org/drawingml/2006/table">
            <a:tbl>
              <a:tblPr/>
              <a:tblGrid>
                <a:gridCol w="2254952">
                  <a:extLst>
                    <a:ext uri="{9D8B030D-6E8A-4147-A177-3AD203B41FA5}">
                      <a16:colId xmlns:a16="http://schemas.microsoft.com/office/drawing/2014/main" val="1674594136"/>
                    </a:ext>
                  </a:extLst>
                </a:gridCol>
                <a:gridCol w="112622">
                  <a:extLst>
                    <a:ext uri="{9D8B030D-6E8A-4147-A177-3AD203B41FA5}">
                      <a16:colId xmlns:a16="http://schemas.microsoft.com/office/drawing/2014/main" val="1322037401"/>
                    </a:ext>
                  </a:extLst>
                </a:gridCol>
                <a:gridCol w="112622">
                  <a:extLst>
                    <a:ext uri="{9D8B030D-6E8A-4147-A177-3AD203B41FA5}">
                      <a16:colId xmlns:a16="http://schemas.microsoft.com/office/drawing/2014/main" val="1344775027"/>
                    </a:ext>
                  </a:extLst>
                </a:gridCol>
                <a:gridCol w="112622">
                  <a:extLst>
                    <a:ext uri="{9D8B030D-6E8A-4147-A177-3AD203B41FA5}">
                      <a16:colId xmlns:a16="http://schemas.microsoft.com/office/drawing/2014/main" val="3496579355"/>
                    </a:ext>
                  </a:extLst>
                </a:gridCol>
                <a:gridCol w="112622">
                  <a:extLst>
                    <a:ext uri="{9D8B030D-6E8A-4147-A177-3AD203B41FA5}">
                      <a16:colId xmlns:a16="http://schemas.microsoft.com/office/drawing/2014/main" val="3302894154"/>
                    </a:ext>
                  </a:extLst>
                </a:gridCol>
                <a:gridCol w="112622">
                  <a:extLst>
                    <a:ext uri="{9D8B030D-6E8A-4147-A177-3AD203B41FA5}">
                      <a16:colId xmlns:a16="http://schemas.microsoft.com/office/drawing/2014/main" val="3480873156"/>
                    </a:ext>
                  </a:extLst>
                </a:gridCol>
                <a:gridCol w="112622">
                  <a:extLst>
                    <a:ext uri="{9D8B030D-6E8A-4147-A177-3AD203B41FA5}">
                      <a16:colId xmlns:a16="http://schemas.microsoft.com/office/drawing/2014/main" val="693673314"/>
                    </a:ext>
                  </a:extLst>
                </a:gridCol>
                <a:gridCol w="112622">
                  <a:extLst>
                    <a:ext uri="{9D8B030D-6E8A-4147-A177-3AD203B41FA5}">
                      <a16:colId xmlns:a16="http://schemas.microsoft.com/office/drawing/2014/main" val="3846419462"/>
                    </a:ext>
                  </a:extLst>
                </a:gridCol>
                <a:gridCol w="112622">
                  <a:extLst>
                    <a:ext uri="{9D8B030D-6E8A-4147-A177-3AD203B41FA5}">
                      <a16:colId xmlns:a16="http://schemas.microsoft.com/office/drawing/2014/main" val="2463522820"/>
                    </a:ext>
                  </a:extLst>
                </a:gridCol>
                <a:gridCol w="112622">
                  <a:extLst>
                    <a:ext uri="{9D8B030D-6E8A-4147-A177-3AD203B41FA5}">
                      <a16:colId xmlns:a16="http://schemas.microsoft.com/office/drawing/2014/main" val="2200829142"/>
                    </a:ext>
                  </a:extLst>
                </a:gridCol>
                <a:gridCol w="112622">
                  <a:extLst>
                    <a:ext uri="{9D8B030D-6E8A-4147-A177-3AD203B41FA5}">
                      <a16:colId xmlns:a16="http://schemas.microsoft.com/office/drawing/2014/main" val="3758009939"/>
                    </a:ext>
                  </a:extLst>
                </a:gridCol>
                <a:gridCol w="112622">
                  <a:extLst>
                    <a:ext uri="{9D8B030D-6E8A-4147-A177-3AD203B41FA5}">
                      <a16:colId xmlns:a16="http://schemas.microsoft.com/office/drawing/2014/main" val="3068192484"/>
                    </a:ext>
                  </a:extLst>
                </a:gridCol>
                <a:gridCol w="112622">
                  <a:extLst>
                    <a:ext uri="{9D8B030D-6E8A-4147-A177-3AD203B41FA5}">
                      <a16:colId xmlns:a16="http://schemas.microsoft.com/office/drawing/2014/main" val="4266744394"/>
                    </a:ext>
                  </a:extLst>
                </a:gridCol>
                <a:gridCol w="150162">
                  <a:extLst>
                    <a:ext uri="{9D8B030D-6E8A-4147-A177-3AD203B41FA5}">
                      <a16:colId xmlns:a16="http://schemas.microsoft.com/office/drawing/2014/main" val="3907589115"/>
                    </a:ext>
                  </a:extLst>
                </a:gridCol>
                <a:gridCol w="150162">
                  <a:extLst>
                    <a:ext uri="{9D8B030D-6E8A-4147-A177-3AD203B41FA5}">
                      <a16:colId xmlns:a16="http://schemas.microsoft.com/office/drawing/2014/main" val="1107395640"/>
                    </a:ext>
                  </a:extLst>
                </a:gridCol>
                <a:gridCol w="150162">
                  <a:extLst>
                    <a:ext uri="{9D8B030D-6E8A-4147-A177-3AD203B41FA5}">
                      <a16:colId xmlns:a16="http://schemas.microsoft.com/office/drawing/2014/main" val="785819000"/>
                    </a:ext>
                  </a:extLst>
                </a:gridCol>
                <a:gridCol w="150162">
                  <a:extLst>
                    <a:ext uri="{9D8B030D-6E8A-4147-A177-3AD203B41FA5}">
                      <a16:colId xmlns:a16="http://schemas.microsoft.com/office/drawing/2014/main" val="3129449765"/>
                    </a:ext>
                  </a:extLst>
                </a:gridCol>
                <a:gridCol w="150162">
                  <a:extLst>
                    <a:ext uri="{9D8B030D-6E8A-4147-A177-3AD203B41FA5}">
                      <a16:colId xmlns:a16="http://schemas.microsoft.com/office/drawing/2014/main" val="2562071687"/>
                    </a:ext>
                  </a:extLst>
                </a:gridCol>
                <a:gridCol w="150162">
                  <a:extLst>
                    <a:ext uri="{9D8B030D-6E8A-4147-A177-3AD203B41FA5}">
                      <a16:colId xmlns:a16="http://schemas.microsoft.com/office/drawing/2014/main" val="3464445718"/>
                    </a:ext>
                  </a:extLst>
                </a:gridCol>
                <a:gridCol w="150162">
                  <a:extLst>
                    <a:ext uri="{9D8B030D-6E8A-4147-A177-3AD203B41FA5}">
                      <a16:colId xmlns:a16="http://schemas.microsoft.com/office/drawing/2014/main" val="1884475334"/>
                    </a:ext>
                  </a:extLst>
                </a:gridCol>
                <a:gridCol w="150162">
                  <a:extLst>
                    <a:ext uri="{9D8B030D-6E8A-4147-A177-3AD203B41FA5}">
                      <a16:colId xmlns:a16="http://schemas.microsoft.com/office/drawing/2014/main" val="2639403832"/>
                    </a:ext>
                  </a:extLst>
                </a:gridCol>
                <a:gridCol w="150162">
                  <a:extLst>
                    <a:ext uri="{9D8B030D-6E8A-4147-A177-3AD203B41FA5}">
                      <a16:colId xmlns:a16="http://schemas.microsoft.com/office/drawing/2014/main" val="453538230"/>
                    </a:ext>
                  </a:extLst>
                </a:gridCol>
                <a:gridCol w="150162">
                  <a:extLst>
                    <a:ext uri="{9D8B030D-6E8A-4147-A177-3AD203B41FA5}">
                      <a16:colId xmlns:a16="http://schemas.microsoft.com/office/drawing/2014/main" val="2197387374"/>
                    </a:ext>
                  </a:extLst>
                </a:gridCol>
                <a:gridCol w="150162">
                  <a:extLst>
                    <a:ext uri="{9D8B030D-6E8A-4147-A177-3AD203B41FA5}">
                      <a16:colId xmlns:a16="http://schemas.microsoft.com/office/drawing/2014/main" val="180395531"/>
                    </a:ext>
                  </a:extLst>
                </a:gridCol>
                <a:gridCol w="150162">
                  <a:extLst>
                    <a:ext uri="{9D8B030D-6E8A-4147-A177-3AD203B41FA5}">
                      <a16:colId xmlns:a16="http://schemas.microsoft.com/office/drawing/2014/main" val="4127988748"/>
                    </a:ext>
                  </a:extLst>
                </a:gridCol>
                <a:gridCol w="150162">
                  <a:extLst>
                    <a:ext uri="{9D8B030D-6E8A-4147-A177-3AD203B41FA5}">
                      <a16:colId xmlns:a16="http://schemas.microsoft.com/office/drawing/2014/main" val="202505898"/>
                    </a:ext>
                  </a:extLst>
                </a:gridCol>
                <a:gridCol w="150162">
                  <a:extLst>
                    <a:ext uri="{9D8B030D-6E8A-4147-A177-3AD203B41FA5}">
                      <a16:colId xmlns:a16="http://schemas.microsoft.com/office/drawing/2014/main" val="3474369400"/>
                    </a:ext>
                  </a:extLst>
                </a:gridCol>
                <a:gridCol w="150162">
                  <a:extLst>
                    <a:ext uri="{9D8B030D-6E8A-4147-A177-3AD203B41FA5}">
                      <a16:colId xmlns:a16="http://schemas.microsoft.com/office/drawing/2014/main" val="3414670846"/>
                    </a:ext>
                  </a:extLst>
                </a:gridCol>
                <a:gridCol w="150162">
                  <a:extLst>
                    <a:ext uri="{9D8B030D-6E8A-4147-A177-3AD203B41FA5}">
                      <a16:colId xmlns:a16="http://schemas.microsoft.com/office/drawing/2014/main" val="1995160970"/>
                    </a:ext>
                  </a:extLst>
                </a:gridCol>
                <a:gridCol w="150162">
                  <a:extLst>
                    <a:ext uri="{9D8B030D-6E8A-4147-A177-3AD203B41FA5}">
                      <a16:colId xmlns:a16="http://schemas.microsoft.com/office/drawing/2014/main" val="1911630239"/>
                    </a:ext>
                  </a:extLst>
                </a:gridCol>
                <a:gridCol w="150162">
                  <a:extLst>
                    <a:ext uri="{9D8B030D-6E8A-4147-A177-3AD203B41FA5}">
                      <a16:colId xmlns:a16="http://schemas.microsoft.com/office/drawing/2014/main" val="3769339184"/>
                    </a:ext>
                  </a:extLst>
                </a:gridCol>
                <a:gridCol w="2326673">
                  <a:extLst>
                    <a:ext uri="{9D8B030D-6E8A-4147-A177-3AD203B41FA5}">
                      <a16:colId xmlns:a16="http://schemas.microsoft.com/office/drawing/2014/main" val="1039121085"/>
                    </a:ext>
                  </a:extLst>
                </a:gridCol>
              </a:tblGrid>
              <a:tr h="191916">
                <a:tc rowSpan="2">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12">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en-US" sz="1100" b="1" i="0" u="none" strike="noStrike" dirty="0">
                          <a:solidFill>
                            <a:srgbClr val="000000"/>
                          </a:solidFill>
                          <a:effectLst/>
                          <a:latin typeface="メイリオ" panose="020B0604030504040204" pitchFamily="50" charset="-128"/>
                          <a:ea typeface="メイリオ" panose="020B0604030504040204" pitchFamily="50" charset="-128"/>
                        </a:rPr>
                        <a:t>FY23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8">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en-US" sz="1100" b="1" i="0" u="none" strike="noStrike" dirty="0">
                          <a:solidFill>
                            <a:srgbClr val="000000"/>
                          </a:solidFill>
                          <a:effectLst/>
                          <a:latin typeface="メイリオ" panose="020B0604030504040204" pitchFamily="50" charset="-128"/>
                          <a:ea typeface="メイリオ" panose="020B0604030504040204" pitchFamily="50" charset="-128"/>
                        </a:rPr>
                        <a:t>FY24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rowSpan="2">
                  <a:txBody>
                    <a:bodyPr/>
                    <a:lstStyle/>
                    <a:p>
                      <a:pPr algn="ctr"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進捗状況</a:t>
                      </a:r>
                      <a:endParaRPr 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522613225"/>
                  </a:ext>
                </a:extLst>
              </a:tr>
              <a:tr h="191916">
                <a:tc vMerge="1">
                  <a:txBody>
                    <a:bodyPr/>
                    <a:lstStyle/>
                    <a:p>
                      <a:endParaRPr kumimoji="1" lang="ja-JP" altLang="en-US"/>
                    </a:p>
                  </a:txBody>
                  <a:tcPr/>
                </a:tc>
                <a:tc gridSpan="3">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1Q</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5</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6</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3">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2Q</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8</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9</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3">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3Q</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11</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12</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3">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4Q</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2</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3</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3">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4</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5</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6</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3175"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7</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8</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9</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kumimoji="1" lang="ja-JP" altLang="en-US"/>
                    </a:p>
                  </a:txBody>
                  <a:tcPr/>
                </a:tc>
                <a:tc hMerge="1">
                  <a:txBody>
                    <a:bodyPr/>
                    <a:lstStyle/>
                    <a:p>
                      <a:endParaRPr kumimoji="1" lang="ja-JP" altLang="en-US"/>
                    </a:p>
                  </a:txBody>
                  <a:tcPr/>
                </a:tc>
                <a:tc vMerge="1">
                  <a:txBody>
                    <a:bodyPr/>
                    <a:lstStyle/>
                    <a:p>
                      <a:pPr algn="ctr" fontAlgn="ct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55382474"/>
                  </a:ext>
                </a:extLst>
              </a:tr>
              <a:tr h="237871">
                <a:tc>
                  <a:txBody>
                    <a:bodyPr/>
                    <a:lstStyle/>
                    <a:p>
                      <a:pPr algn="l"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 FY23</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セグメンテーション</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chemeClr val="bg1"/>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chemeClr val="bg1"/>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chemeClr val="bg1"/>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chemeClr val="bg1"/>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algn="l"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■発電所ライフサイクルを考慮した</a:t>
                      </a:r>
                      <a:endParaRPr lang="en-US" altLang="ja-JP" sz="1100" b="0" i="0" u="none" strike="noStrike" dirty="0">
                        <a:solidFill>
                          <a:srgbClr val="000000"/>
                        </a:solidFill>
                        <a:effectLst/>
                        <a:latin typeface="メイリオ" panose="020B0604030504040204" pitchFamily="50" charset="-128"/>
                        <a:ea typeface="メイリオ" panose="020B0604030504040204" pitchFamily="50" charset="-128"/>
                      </a:endParaRPr>
                    </a:p>
                    <a:p>
                      <a:pPr algn="l"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顧客ランク・セグメントの再定義</a:t>
                      </a:r>
                      <a:endParaRPr lang="en-US" altLang="ja-JP" sz="1100" b="0" i="0" u="none" strike="noStrike" dirty="0">
                        <a:solidFill>
                          <a:srgbClr val="000000"/>
                        </a:solidFill>
                        <a:effectLst/>
                        <a:latin typeface="メイリオ" panose="020B0604030504040204" pitchFamily="50" charset="-128"/>
                        <a:ea typeface="メイリオ" panose="020B0604030504040204" pitchFamily="50" charset="-128"/>
                      </a:endParaRPr>
                    </a:p>
                    <a:p>
                      <a:pPr algn="l"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実施中。</a:t>
                      </a:r>
                      <a:endParaRPr lang="en-US" altLang="ja-JP" sz="1100" b="0" i="0" u="none" strike="noStrike" dirty="0">
                        <a:solidFill>
                          <a:srgbClr val="000000"/>
                        </a:solidFill>
                        <a:effectLst/>
                        <a:latin typeface="メイリオ" panose="020B0604030504040204" pitchFamily="50" charset="-128"/>
                        <a:ea typeface="メイリオ" panose="020B0604030504040204" pitchFamily="50" charset="-128"/>
                      </a:endParaRPr>
                    </a:p>
                    <a:p>
                      <a:pPr algn="l"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■フェーズ３完了</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(8/9)</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までに</a:t>
                      </a:r>
                      <a:endParaRPr lang="en-US" altLang="ja-JP" sz="1100" b="0" i="0" u="none" strike="noStrike" dirty="0">
                        <a:solidFill>
                          <a:srgbClr val="000000"/>
                        </a:solidFill>
                        <a:effectLst/>
                        <a:latin typeface="メイリオ" panose="020B0604030504040204" pitchFamily="50" charset="-128"/>
                        <a:ea typeface="メイリオ" panose="020B0604030504040204" pitchFamily="50" charset="-128"/>
                      </a:endParaRPr>
                    </a:p>
                    <a:p>
                      <a:pPr algn="l"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再定義したセグメンテーション</a:t>
                      </a:r>
                      <a:endParaRPr lang="en-US" altLang="ja-JP" sz="1100" b="0" i="0" u="none" strike="noStrike" dirty="0">
                        <a:solidFill>
                          <a:srgbClr val="000000"/>
                        </a:solidFill>
                        <a:effectLst/>
                        <a:latin typeface="メイリオ" panose="020B0604030504040204" pitchFamily="50" charset="-128"/>
                        <a:ea typeface="メイリオ" panose="020B0604030504040204" pitchFamily="50" charset="-128"/>
                      </a:endParaRPr>
                    </a:p>
                    <a:p>
                      <a:pPr algn="l"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完了させる。</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0316483"/>
                  </a:ext>
                </a:extLst>
              </a:tr>
              <a:tr h="237871">
                <a:tc>
                  <a:txBody>
                    <a:bodyPr/>
                    <a:lstStyle/>
                    <a:p>
                      <a:pPr algn="l"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2. FY23</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セグメント運用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45347436"/>
                  </a:ext>
                </a:extLst>
              </a:tr>
              <a:tr h="237871">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l"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3. </a:t>
                      </a:r>
                      <a:r>
                        <a:rPr lang="ja-JP" altLang="en-US" sz="1100" b="1"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セグメント</a:t>
                      </a:r>
                      <a:r>
                        <a:rPr lang="en-US" altLang="ja-JP" sz="1100" b="1"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a:t>
                      </a:r>
                      <a:r>
                        <a:rPr lang="ja-JP" altLang="en-US" sz="1100" b="1"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顧客ランク再定義</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0916301"/>
                  </a:ext>
                </a:extLst>
              </a:tr>
              <a:tr h="237871">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l"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4. FY24</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セグメンテーション</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69447901"/>
                  </a:ext>
                </a:extLst>
              </a:tr>
              <a:tr h="237871">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l"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5. FY24</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セグメント運用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vMerge="1">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308078"/>
                  </a:ext>
                </a:extLst>
              </a:tr>
            </a:tbl>
          </a:graphicData>
        </a:graphic>
      </p:graphicFrame>
      <p:sp>
        <p:nvSpPr>
          <p:cNvPr id="7" name="正方形/長方形 6">
            <a:extLst>
              <a:ext uri="{FF2B5EF4-FFF2-40B4-BE49-F238E27FC236}">
                <a16:creationId xmlns:a16="http://schemas.microsoft.com/office/drawing/2014/main" id="{13CD9864-1A5B-635F-47AE-3BE1B1A492CB}"/>
              </a:ext>
            </a:extLst>
          </p:cNvPr>
          <p:cNvSpPr/>
          <p:nvPr/>
        </p:nvSpPr>
        <p:spPr>
          <a:xfrm>
            <a:off x="-3542" y="4036054"/>
            <a:ext cx="2731891" cy="298549"/>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1" i="0" u="none" strike="noStrike" kern="1200" cap="none" spc="0" normalizeH="0" baseline="0" noProof="0" dirty="0">
                <a:ln>
                  <a:noFill/>
                </a:ln>
                <a:solidFill>
                  <a:prstClr val="black"/>
                </a:solidFill>
                <a:effectLst/>
                <a:uLnTx/>
                <a:uFillTx/>
                <a:latin typeface="メイリオ"/>
                <a:ea typeface="メイリオ"/>
                <a:cs typeface="+mn-cs"/>
              </a:rPr>
              <a:t>【</a:t>
            </a:r>
            <a:r>
              <a:rPr kumimoji="1" lang="ja-JP" altLang="en-US" b="1" i="0" u="none" strike="noStrike" kern="1200" cap="none" spc="0" normalizeH="0" baseline="0" noProof="0" dirty="0">
                <a:ln>
                  <a:noFill/>
                </a:ln>
                <a:solidFill>
                  <a:prstClr val="black"/>
                </a:solidFill>
                <a:effectLst/>
                <a:uLnTx/>
                <a:uFillTx/>
                <a:latin typeface="メイリオ"/>
                <a:ea typeface="メイリオ"/>
                <a:cs typeface="+mn-cs"/>
              </a:rPr>
              <a:t>適用スケジュール</a:t>
            </a:r>
            <a:r>
              <a:rPr kumimoji="1" lang="en-US" altLang="ja-JP" b="1" i="0" u="none" strike="noStrike" kern="1200" cap="none" spc="0" normalizeH="0" baseline="0" noProof="0" dirty="0">
                <a:ln>
                  <a:noFill/>
                </a:ln>
                <a:solidFill>
                  <a:prstClr val="black"/>
                </a:solidFill>
                <a:effectLst/>
                <a:uLnTx/>
                <a:uFillTx/>
                <a:latin typeface="メイリオ"/>
                <a:ea typeface="メイリオ"/>
                <a:cs typeface="+mn-cs"/>
              </a:rPr>
              <a:t>】</a:t>
            </a:r>
            <a:endParaRPr kumimoji="1" lang="en-US" altLang="ja-JP" b="0" i="0" u="none" strike="noStrike" kern="1200" cap="none" spc="0" normalizeH="0" baseline="0" noProof="0" dirty="0">
              <a:ln>
                <a:noFill/>
              </a:ln>
              <a:solidFill>
                <a:prstClr val="black"/>
              </a:solidFill>
              <a:effectLst/>
              <a:uLnTx/>
              <a:uFillTx/>
              <a:latin typeface="メイリオ"/>
              <a:ea typeface="メイリオ"/>
              <a:cs typeface="+mn-cs"/>
            </a:endParaRPr>
          </a:p>
        </p:txBody>
      </p:sp>
      <p:cxnSp>
        <p:nvCxnSpPr>
          <p:cNvPr id="9" name="直線コネクタ 8">
            <a:extLst>
              <a:ext uri="{FF2B5EF4-FFF2-40B4-BE49-F238E27FC236}">
                <a16:creationId xmlns:a16="http://schemas.microsoft.com/office/drawing/2014/main" id="{2F954B7E-6E27-BF16-7460-6021F37FE60F}"/>
              </a:ext>
            </a:extLst>
          </p:cNvPr>
          <p:cNvCxnSpPr>
            <a:cxnSpLocks/>
          </p:cNvCxnSpPr>
          <p:nvPr/>
        </p:nvCxnSpPr>
        <p:spPr>
          <a:xfrm flipV="1">
            <a:off x="5076056" y="4822690"/>
            <a:ext cx="0" cy="144016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ひし形 11">
            <a:extLst>
              <a:ext uri="{FF2B5EF4-FFF2-40B4-BE49-F238E27FC236}">
                <a16:creationId xmlns:a16="http://schemas.microsoft.com/office/drawing/2014/main" id="{1A0B00B1-0B31-9DD8-C16C-3AB4D8F90B2C}"/>
              </a:ext>
            </a:extLst>
          </p:cNvPr>
          <p:cNvSpPr/>
          <p:nvPr/>
        </p:nvSpPr>
        <p:spPr>
          <a:xfrm>
            <a:off x="5654282" y="5598384"/>
            <a:ext cx="144015" cy="288032"/>
          </a:xfrm>
          <a:prstGeom prst="diamond">
            <a:avLst/>
          </a:prstGeom>
          <a:solidFill>
            <a:srgbClr val="FFFF00"/>
          </a:solidFill>
          <a:ln w="1270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200" dirty="0">
              <a:solidFill>
                <a:schemeClr val="tx1"/>
              </a:solidFill>
              <a:latin typeface="+mn-ea"/>
            </a:endParaRPr>
          </a:p>
        </p:txBody>
      </p:sp>
      <p:sp>
        <p:nvSpPr>
          <p:cNvPr id="13" name="テキスト ボックス 12">
            <a:extLst>
              <a:ext uri="{FF2B5EF4-FFF2-40B4-BE49-F238E27FC236}">
                <a16:creationId xmlns:a16="http://schemas.microsoft.com/office/drawing/2014/main" id="{506DCBD2-9003-F82A-6A46-DAE86449D3FE}"/>
              </a:ext>
            </a:extLst>
          </p:cNvPr>
          <p:cNvSpPr txBox="1"/>
          <p:nvPr/>
        </p:nvSpPr>
        <p:spPr>
          <a:xfrm>
            <a:off x="5726289" y="5624806"/>
            <a:ext cx="648072" cy="261610"/>
          </a:xfrm>
          <a:prstGeom prst="rect">
            <a:avLst/>
          </a:prstGeom>
          <a:noFill/>
        </p:spPr>
        <p:txBody>
          <a:bodyPr wrap="square" rtlCol="0">
            <a:spAutoFit/>
          </a:bodyPr>
          <a:lstStyle/>
          <a:p>
            <a:r>
              <a:rPr lang="ja-JP" altLang="en-US" sz="1100" dirty="0"/>
              <a:t>報告</a:t>
            </a:r>
            <a:endParaRPr kumimoji="1" lang="ja-JP" altLang="en-US" sz="1100" dirty="0"/>
          </a:p>
        </p:txBody>
      </p:sp>
      <p:sp>
        <p:nvSpPr>
          <p:cNvPr id="8" name="テキスト ボックス 7">
            <a:extLst>
              <a:ext uri="{FF2B5EF4-FFF2-40B4-BE49-F238E27FC236}">
                <a16:creationId xmlns:a16="http://schemas.microsoft.com/office/drawing/2014/main" id="{89D5DBC4-17A1-53F4-2285-E1B87295844E}"/>
              </a:ext>
            </a:extLst>
          </p:cNvPr>
          <p:cNvSpPr txBox="1"/>
          <p:nvPr/>
        </p:nvSpPr>
        <p:spPr>
          <a:xfrm>
            <a:off x="20180" y="2026250"/>
            <a:ext cx="2390460" cy="369332"/>
          </a:xfrm>
          <a:prstGeom prst="rect">
            <a:avLst/>
          </a:prstGeom>
          <a:noFill/>
        </p:spPr>
        <p:txBody>
          <a:bodyPr wrap="square" rtlCol="0">
            <a:spAutoFit/>
          </a:bodyPr>
          <a:lstStyle/>
          <a:p>
            <a:r>
              <a:rPr lang="en-US" altLang="ja-JP" b="1" dirty="0"/>
              <a:t>【</a:t>
            </a:r>
            <a:r>
              <a:rPr lang="ja-JP" altLang="en-US" b="1" dirty="0"/>
              <a:t>目的</a:t>
            </a:r>
            <a:r>
              <a:rPr lang="en-US" altLang="ja-JP" b="1" dirty="0"/>
              <a:t>】</a:t>
            </a:r>
            <a:endParaRPr kumimoji="1" lang="ja-JP" altLang="en-US" b="1" dirty="0"/>
          </a:p>
        </p:txBody>
      </p:sp>
    </p:spTree>
    <p:extLst>
      <p:ext uri="{BB962C8B-B14F-4D97-AF65-F5344CB8AC3E}">
        <p14:creationId xmlns:p14="http://schemas.microsoft.com/office/powerpoint/2010/main" val="4279819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正方形/長方形 56">
            <a:extLst>
              <a:ext uri="{FF2B5EF4-FFF2-40B4-BE49-F238E27FC236}">
                <a16:creationId xmlns:a16="http://schemas.microsoft.com/office/drawing/2014/main" id="{87AB4648-F320-2927-5C63-D0AE386406AF}"/>
              </a:ext>
            </a:extLst>
          </p:cNvPr>
          <p:cNvSpPr/>
          <p:nvPr/>
        </p:nvSpPr>
        <p:spPr>
          <a:xfrm>
            <a:off x="3204063" y="2078862"/>
            <a:ext cx="1315731" cy="2906765"/>
          </a:xfrm>
          <a:prstGeom prst="rect">
            <a:avLst/>
          </a:prstGeom>
          <a:solidFill>
            <a:schemeClr val="accent5">
              <a:lumMod val="20000"/>
              <a:lumOff val="80000"/>
              <a:alpha val="50000"/>
            </a:schemeClr>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srgbClr val="000000"/>
              </a:solidFill>
              <a:effectLst/>
              <a:uLnTx/>
              <a:uFillTx/>
              <a:latin typeface="メイリオ"/>
              <a:ea typeface="メイリオ"/>
              <a:cs typeface="+mn-cs"/>
            </a:endParaRPr>
          </a:p>
        </p:txBody>
      </p:sp>
      <p:sp>
        <p:nvSpPr>
          <p:cNvPr id="58" name="正方形/長方形 57">
            <a:extLst>
              <a:ext uri="{FF2B5EF4-FFF2-40B4-BE49-F238E27FC236}">
                <a16:creationId xmlns:a16="http://schemas.microsoft.com/office/drawing/2014/main" id="{0EE239F7-E50B-0B56-0E9C-8608ACEC9B97}"/>
              </a:ext>
            </a:extLst>
          </p:cNvPr>
          <p:cNvSpPr/>
          <p:nvPr/>
        </p:nvSpPr>
        <p:spPr>
          <a:xfrm>
            <a:off x="496660" y="2063019"/>
            <a:ext cx="1295757" cy="3506953"/>
          </a:xfrm>
          <a:prstGeom prst="rect">
            <a:avLst/>
          </a:prstGeom>
          <a:solidFill>
            <a:schemeClr val="accent5">
              <a:lumMod val="20000"/>
              <a:lumOff val="80000"/>
              <a:alpha val="50000"/>
            </a:schemeClr>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srgbClr val="000000"/>
              </a:solidFill>
              <a:effectLst/>
              <a:uLnTx/>
              <a:uFillTx/>
              <a:latin typeface="メイリオ"/>
              <a:ea typeface="メイリオ"/>
              <a:cs typeface="+mn-cs"/>
            </a:endParaRPr>
          </a:p>
        </p:txBody>
      </p:sp>
      <p:sp>
        <p:nvSpPr>
          <p:cNvPr id="25" name="正方形/長方形 24">
            <a:extLst>
              <a:ext uri="{FF2B5EF4-FFF2-40B4-BE49-F238E27FC236}">
                <a16:creationId xmlns:a16="http://schemas.microsoft.com/office/drawing/2014/main" id="{402659EE-1D8D-D2E2-31A7-C78A7A852EC5}"/>
              </a:ext>
            </a:extLst>
          </p:cNvPr>
          <p:cNvSpPr/>
          <p:nvPr/>
        </p:nvSpPr>
        <p:spPr>
          <a:xfrm>
            <a:off x="4565066" y="2063019"/>
            <a:ext cx="1416634" cy="1479601"/>
          </a:xfrm>
          <a:prstGeom prst="rect">
            <a:avLst/>
          </a:prstGeom>
          <a:solidFill>
            <a:schemeClr val="accent2">
              <a:alpha val="50000"/>
            </a:schemeClr>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srgbClr val="000000"/>
              </a:solidFill>
              <a:effectLst/>
              <a:uLnTx/>
              <a:uFillTx/>
              <a:latin typeface="メイリオ"/>
              <a:ea typeface="メイリオ"/>
              <a:cs typeface="+mn-cs"/>
            </a:endParaRPr>
          </a:p>
        </p:txBody>
      </p:sp>
      <p:sp>
        <p:nvSpPr>
          <p:cNvPr id="129" name="正方形/長方形 128">
            <a:extLst>
              <a:ext uri="{FF2B5EF4-FFF2-40B4-BE49-F238E27FC236}">
                <a16:creationId xmlns:a16="http://schemas.microsoft.com/office/drawing/2014/main" id="{D95192B0-22FE-6FEA-E5C9-99E348456FFC}"/>
              </a:ext>
            </a:extLst>
          </p:cNvPr>
          <p:cNvSpPr/>
          <p:nvPr/>
        </p:nvSpPr>
        <p:spPr>
          <a:xfrm>
            <a:off x="1822708" y="5081304"/>
            <a:ext cx="5635711" cy="499818"/>
          </a:xfrm>
          <a:prstGeom prst="rect">
            <a:avLst/>
          </a:prstGeom>
          <a:solidFill>
            <a:schemeClr val="bg1">
              <a:lumMod val="85000"/>
            </a:schemeClr>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dirty="0">
                <a:ln>
                  <a:noFill/>
                </a:ln>
                <a:solidFill>
                  <a:srgbClr val="000000"/>
                </a:solidFill>
                <a:effectLst/>
                <a:uLnTx/>
                <a:uFillTx/>
                <a:latin typeface="メイリオ"/>
                <a:ea typeface="メイリオ"/>
                <a:cs typeface="+mn-cs"/>
              </a:rPr>
              <a:t>　　　　　　　　　　　</a:t>
            </a:r>
          </a:p>
        </p:txBody>
      </p:sp>
      <p:sp>
        <p:nvSpPr>
          <p:cNvPr id="89" name="正方形/長方形 88">
            <a:extLst>
              <a:ext uri="{FF2B5EF4-FFF2-40B4-BE49-F238E27FC236}">
                <a16:creationId xmlns:a16="http://schemas.microsoft.com/office/drawing/2014/main" id="{C327F371-00B4-25E5-14C3-0BB7A469DFFF}"/>
              </a:ext>
            </a:extLst>
          </p:cNvPr>
          <p:cNvSpPr/>
          <p:nvPr/>
        </p:nvSpPr>
        <p:spPr>
          <a:xfrm>
            <a:off x="6030737" y="2085089"/>
            <a:ext cx="1428536" cy="2920697"/>
          </a:xfrm>
          <a:prstGeom prst="rect">
            <a:avLst/>
          </a:prstGeom>
          <a:solidFill>
            <a:schemeClr val="accent4">
              <a:alpha val="50000"/>
            </a:schemeClr>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srgbClr val="000000"/>
              </a:solidFill>
              <a:effectLst/>
              <a:uLnTx/>
              <a:uFillTx/>
              <a:latin typeface="メイリオ"/>
              <a:ea typeface="メイリオ"/>
              <a:cs typeface="+mn-cs"/>
            </a:endParaRPr>
          </a:p>
        </p:txBody>
      </p:sp>
      <p:sp>
        <p:nvSpPr>
          <p:cNvPr id="88" name="正方形/長方形 87">
            <a:extLst>
              <a:ext uri="{FF2B5EF4-FFF2-40B4-BE49-F238E27FC236}">
                <a16:creationId xmlns:a16="http://schemas.microsoft.com/office/drawing/2014/main" id="{BA92DD29-1D78-95EE-2FD5-E774F070A09A}"/>
              </a:ext>
            </a:extLst>
          </p:cNvPr>
          <p:cNvSpPr/>
          <p:nvPr/>
        </p:nvSpPr>
        <p:spPr>
          <a:xfrm>
            <a:off x="1822709" y="2084983"/>
            <a:ext cx="1354057" cy="1479601"/>
          </a:xfrm>
          <a:prstGeom prst="rect">
            <a:avLst/>
          </a:prstGeom>
          <a:solidFill>
            <a:schemeClr val="accent2">
              <a:alpha val="50000"/>
            </a:schemeClr>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srgbClr val="000000"/>
              </a:solidFill>
              <a:effectLst/>
              <a:uLnTx/>
              <a:uFillTx/>
              <a:latin typeface="メイリオ"/>
              <a:ea typeface="メイリオ"/>
              <a:cs typeface="+mn-cs"/>
            </a:endParaRPr>
          </a:p>
        </p:txBody>
      </p:sp>
      <p:cxnSp>
        <p:nvCxnSpPr>
          <p:cNvPr id="131" name="直線コネクタ 130">
            <a:extLst>
              <a:ext uri="{FF2B5EF4-FFF2-40B4-BE49-F238E27FC236}">
                <a16:creationId xmlns:a16="http://schemas.microsoft.com/office/drawing/2014/main" id="{8796F1CD-0665-4E4C-7F33-DD8C98261ABF}"/>
              </a:ext>
            </a:extLst>
          </p:cNvPr>
          <p:cNvCxnSpPr>
            <a:cxnSpLocks/>
          </p:cNvCxnSpPr>
          <p:nvPr/>
        </p:nvCxnSpPr>
        <p:spPr>
          <a:xfrm flipH="1" flipV="1">
            <a:off x="5972846" y="2078862"/>
            <a:ext cx="49477" cy="3753456"/>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4AE55460-10B8-72D9-9A5B-1A9771F91577}"/>
              </a:ext>
            </a:extLst>
          </p:cNvPr>
          <p:cNvCxnSpPr>
            <a:cxnSpLocks/>
          </p:cNvCxnSpPr>
          <p:nvPr/>
        </p:nvCxnSpPr>
        <p:spPr>
          <a:xfrm>
            <a:off x="200478" y="3583452"/>
            <a:ext cx="7596000" cy="0"/>
          </a:xfrm>
          <a:prstGeom prst="line">
            <a:avLst/>
          </a:prstGeom>
          <a:ln w="28575">
            <a:solidFill>
              <a:schemeClr val="accent1"/>
            </a:solidFill>
            <a:prstDash val="solid"/>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E2A6F085-190E-7447-978D-9EAFE146F3B5}"/>
              </a:ext>
            </a:extLst>
          </p:cNvPr>
          <p:cNvCxnSpPr>
            <a:cxnSpLocks/>
          </p:cNvCxnSpPr>
          <p:nvPr/>
        </p:nvCxnSpPr>
        <p:spPr>
          <a:xfrm flipV="1">
            <a:off x="1788104" y="2141931"/>
            <a:ext cx="0" cy="3765316"/>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8013CC28-0017-AE37-11F4-FBCE1919E244}"/>
              </a:ext>
            </a:extLst>
          </p:cNvPr>
          <p:cNvCxnSpPr>
            <a:cxnSpLocks/>
          </p:cNvCxnSpPr>
          <p:nvPr/>
        </p:nvCxnSpPr>
        <p:spPr>
          <a:xfrm flipH="1" flipV="1">
            <a:off x="4551086" y="2029027"/>
            <a:ext cx="4212" cy="37055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0E025FFC-1A58-47DC-9690-897991CF4DB3}"/>
              </a:ext>
            </a:extLst>
          </p:cNvPr>
          <p:cNvCxnSpPr>
            <a:cxnSpLocks/>
          </p:cNvCxnSpPr>
          <p:nvPr/>
        </p:nvCxnSpPr>
        <p:spPr>
          <a:xfrm flipV="1">
            <a:off x="3177744" y="2125558"/>
            <a:ext cx="0" cy="3724525"/>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27" name="直線コネクタ 126">
            <a:extLst>
              <a:ext uri="{FF2B5EF4-FFF2-40B4-BE49-F238E27FC236}">
                <a16:creationId xmlns:a16="http://schemas.microsoft.com/office/drawing/2014/main" id="{59194074-760C-2D28-12F6-0347E284A8AC}"/>
              </a:ext>
            </a:extLst>
          </p:cNvPr>
          <p:cNvCxnSpPr>
            <a:cxnSpLocks/>
          </p:cNvCxnSpPr>
          <p:nvPr/>
        </p:nvCxnSpPr>
        <p:spPr>
          <a:xfrm>
            <a:off x="292202" y="5028157"/>
            <a:ext cx="7596000" cy="0"/>
          </a:xfrm>
          <a:prstGeom prst="line">
            <a:avLst/>
          </a:prstGeom>
          <a:ln w="28575">
            <a:prstDash val="solid"/>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84A3DCF4-8F74-FB9C-63A9-B624C8D84011}"/>
              </a:ext>
            </a:extLst>
          </p:cNvPr>
          <p:cNvSpPr/>
          <p:nvPr/>
        </p:nvSpPr>
        <p:spPr>
          <a:xfrm>
            <a:off x="1816271" y="3620000"/>
            <a:ext cx="1362479" cy="1365628"/>
          </a:xfrm>
          <a:prstGeom prst="rect">
            <a:avLst/>
          </a:prstGeom>
          <a:solidFill>
            <a:schemeClr val="accent4">
              <a:alpha val="50000"/>
            </a:schemeClr>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srgbClr val="000000"/>
              </a:solidFill>
              <a:effectLst/>
              <a:uLnTx/>
              <a:uFillTx/>
              <a:latin typeface="メイリオ"/>
              <a:ea typeface="メイリオ"/>
              <a:cs typeface="+mn-cs"/>
            </a:endParaRPr>
          </a:p>
        </p:txBody>
      </p:sp>
      <p:sp>
        <p:nvSpPr>
          <p:cNvPr id="2" name="タイトル 1">
            <a:extLst>
              <a:ext uri="{FF2B5EF4-FFF2-40B4-BE49-F238E27FC236}">
                <a16:creationId xmlns:a16="http://schemas.microsoft.com/office/drawing/2014/main" id="{61E1DDE5-4362-4942-BC4E-5EE3450E753A}"/>
              </a:ext>
            </a:extLst>
          </p:cNvPr>
          <p:cNvSpPr>
            <a:spLocks noGrp="1"/>
          </p:cNvSpPr>
          <p:nvPr>
            <p:ph type="title" idx="4294967295"/>
          </p:nvPr>
        </p:nvSpPr>
        <p:spPr>
          <a:xfrm>
            <a:off x="164350" y="121785"/>
            <a:ext cx="7134225" cy="350837"/>
          </a:xfrm>
          <a:prstGeom prst="rect">
            <a:avLst/>
          </a:prstGeom>
        </p:spPr>
        <p:txBody>
          <a:bodyPr/>
          <a:lstStyle/>
          <a:p>
            <a:r>
              <a:rPr kumimoji="1" lang="ja-JP" altLang="en-US" sz="1800" b="1" dirty="0"/>
              <a:t>４－１．顧客ランクに応じた営業活動（</a:t>
            </a:r>
            <a:r>
              <a:rPr kumimoji="1" lang="ja-JP" altLang="en-US" sz="1800" b="1" dirty="0">
                <a:solidFill>
                  <a:srgbClr val="FF0000"/>
                </a:solidFill>
              </a:rPr>
              <a:t>案</a:t>
            </a:r>
            <a:r>
              <a:rPr kumimoji="1" lang="ja-JP" altLang="en-US" sz="1800" b="1" dirty="0"/>
              <a:t>）</a:t>
            </a:r>
          </a:p>
        </p:txBody>
      </p:sp>
      <p:sp>
        <p:nvSpPr>
          <p:cNvPr id="3" name="テキスト プレースホルダー 2">
            <a:extLst>
              <a:ext uri="{FF2B5EF4-FFF2-40B4-BE49-F238E27FC236}">
                <a16:creationId xmlns:a16="http://schemas.microsoft.com/office/drawing/2014/main" id="{5D89A3AB-90E8-45B9-8434-4030E89E0586}"/>
              </a:ext>
            </a:extLst>
          </p:cNvPr>
          <p:cNvSpPr>
            <a:spLocks noGrp="1"/>
          </p:cNvSpPr>
          <p:nvPr>
            <p:ph type="body" sz="quarter" idx="4294967295"/>
          </p:nvPr>
        </p:nvSpPr>
        <p:spPr>
          <a:xfrm>
            <a:off x="227196" y="631750"/>
            <a:ext cx="8636000" cy="1403157"/>
          </a:xfrm>
          <a:prstGeom prst="rect">
            <a:avLst/>
          </a:prstGeom>
          <a:solidFill>
            <a:schemeClr val="bg2">
              <a:lumMod val="40000"/>
              <a:lumOff val="60000"/>
            </a:schemeClr>
          </a:solidFill>
        </p:spPr>
        <p:txBody>
          <a:bodyPr anchor="ctr"/>
          <a:lstStyle/>
          <a:p>
            <a:pPr marL="0" indent="0">
              <a:lnSpc>
                <a:spcPct val="100000"/>
              </a:lnSpc>
              <a:spcBef>
                <a:spcPts val="0"/>
              </a:spcBef>
              <a:buNone/>
            </a:pPr>
            <a:r>
              <a:rPr lang="ja-JP" altLang="en-US" sz="1400" b="1" dirty="0"/>
              <a:t>■発電所ライフサイクル</a:t>
            </a:r>
            <a:r>
              <a:rPr kumimoji="1" lang="ja-JP" altLang="en-US" sz="1400" b="1" dirty="0"/>
              <a:t>と累計営利率の２軸でセグメントを分類してはどうか</a:t>
            </a:r>
            <a:r>
              <a:rPr lang="ja-JP" altLang="en-US" sz="1400" b="1" dirty="0"/>
              <a:t>。</a:t>
            </a:r>
            <a:endParaRPr lang="en-US" altLang="ja-JP" sz="1400" dirty="0"/>
          </a:p>
          <a:p>
            <a:pPr marL="0" indent="0">
              <a:lnSpc>
                <a:spcPct val="100000"/>
              </a:lnSpc>
              <a:spcBef>
                <a:spcPts val="0"/>
              </a:spcBef>
              <a:buNone/>
            </a:pPr>
            <a:r>
              <a:rPr kumimoji="1" lang="ja-JP" altLang="en-US" sz="1400" dirty="0"/>
              <a:t>　（構築中の</a:t>
            </a:r>
            <a:r>
              <a:rPr lang="ja-JP" altLang="en-US" sz="1400" dirty="0"/>
              <a:t>受売利可視化ダッシュボードと紐づける）</a:t>
            </a:r>
            <a:endParaRPr kumimoji="1" lang="en-US" altLang="ja-JP" sz="1400" dirty="0"/>
          </a:p>
          <a:p>
            <a:pPr marL="0" indent="0">
              <a:lnSpc>
                <a:spcPct val="100000"/>
              </a:lnSpc>
              <a:spcBef>
                <a:spcPts val="0"/>
              </a:spcBef>
              <a:buNone/>
            </a:pPr>
            <a:r>
              <a:rPr kumimoji="1" lang="ja-JP" altLang="en-US" sz="1400" b="1" dirty="0"/>
              <a:t>■短期的に営利率の悪化を許容出来る期間（売上高に対して引合費の掛かる期間）は、①</a:t>
            </a:r>
            <a:r>
              <a:rPr kumimoji="1" lang="en-US" altLang="ja-JP" sz="1400" b="1" dirty="0"/>
              <a:t>AS</a:t>
            </a:r>
            <a:r>
              <a:rPr kumimoji="1" lang="ja-JP" altLang="en-US" sz="1400" b="1" dirty="0"/>
              <a:t>立上がり期、</a:t>
            </a:r>
            <a:endParaRPr kumimoji="1" lang="en-US" altLang="ja-JP" sz="1400" b="1" dirty="0"/>
          </a:p>
          <a:p>
            <a:pPr marL="0" indent="0">
              <a:lnSpc>
                <a:spcPct val="100000"/>
              </a:lnSpc>
              <a:spcBef>
                <a:spcPts val="0"/>
              </a:spcBef>
              <a:buNone/>
            </a:pPr>
            <a:r>
              <a:rPr lang="ja-JP" altLang="en-US" sz="1400" b="1" dirty="0"/>
              <a:t>　</a:t>
            </a:r>
            <a:r>
              <a:rPr kumimoji="1" lang="ja-JP" altLang="en-US" sz="1400" b="1" dirty="0"/>
              <a:t>③大型改造検討期に限られる</a:t>
            </a:r>
            <a:r>
              <a:rPr lang="ja-JP" altLang="en-US" sz="1400" b="1" dirty="0"/>
              <a:t>。</a:t>
            </a:r>
            <a:r>
              <a:rPr lang="en-US" altLang="ja-JP" sz="1400" b="1" dirty="0"/>
              <a:t>(</a:t>
            </a:r>
            <a:r>
              <a:rPr lang="ja-JP" altLang="en-US" sz="1400" b="1" dirty="0"/>
              <a:t>大型改造の基準金額、有無の見極めは重要</a:t>
            </a:r>
            <a:r>
              <a:rPr lang="en-US" altLang="ja-JP" sz="1400" b="1" dirty="0"/>
              <a:t>)</a:t>
            </a:r>
            <a:endParaRPr kumimoji="1" lang="en-US" altLang="ja-JP" sz="1400" b="1" dirty="0"/>
          </a:p>
          <a:p>
            <a:pPr marL="0" indent="0">
              <a:lnSpc>
                <a:spcPct val="100000"/>
              </a:lnSpc>
              <a:spcBef>
                <a:spcPts val="0"/>
              </a:spcBef>
              <a:buNone/>
            </a:pPr>
            <a:r>
              <a:rPr lang="ja-JP" altLang="en-US" sz="1400" b="1" dirty="0"/>
              <a:t>■よって②定検中心の期間における累計営利率の良否にてランク</a:t>
            </a:r>
            <a:r>
              <a:rPr lang="en-US" altLang="ja-JP" sz="1400" b="1" dirty="0"/>
              <a:t>A</a:t>
            </a:r>
            <a:r>
              <a:rPr lang="ja-JP" altLang="en-US" sz="1400" b="1" dirty="0"/>
              <a:t>～</a:t>
            </a:r>
            <a:r>
              <a:rPr lang="en-US" altLang="ja-JP" sz="1400" b="1" dirty="0"/>
              <a:t>C</a:t>
            </a:r>
            <a:r>
              <a:rPr lang="ja-JP" altLang="en-US" sz="1400" b="1" dirty="0"/>
              <a:t>を判断する</a:t>
            </a:r>
            <a:r>
              <a:rPr kumimoji="1" lang="ja-JP" altLang="en-US" sz="1400" b="1" dirty="0"/>
              <a:t>。</a:t>
            </a:r>
            <a:endParaRPr kumimoji="1" lang="en-US" altLang="ja-JP" sz="1400" b="1" dirty="0"/>
          </a:p>
          <a:p>
            <a:pPr marL="0" indent="0">
              <a:lnSpc>
                <a:spcPct val="100000"/>
              </a:lnSpc>
              <a:spcBef>
                <a:spcPts val="0"/>
              </a:spcBef>
              <a:buNone/>
            </a:pPr>
            <a:r>
              <a:rPr kumimoji="1" lang="ja-JP" altLang="en-US" sz="1400" b="1" dirty="0"/>
              <a:t>■併せてランク</a:t>
            </a:r>
            <a:r>
              <a:rPr kumimoji="1" lang="en-US" altLang="ja-JP" sz="1400" b="1" dirty="0"/>
              <a:t>(A-1~A3,B-1~B2,C)</a:t>
            </a:r>
            <a:r>
              <a:rPr kumimoji="1" lang="ja-JP" altLang="en-US" sz="1400" b="1" dirty="0"/>
              <a:t>に応じた引合管理値を設定していく。</a:t>
            </a:r>
            <a:endParaRPr kumimoji="1" lang="en-US" altLang="ja-JP" sz="1400" b="1" dirty="0"/>
          </a:p>
        </p:txBody>
      </p:sp>
      <p:cxnSp>
        <p:nvCxnSpPr>
          <p:cNvPr id="6" name="直線矢印コネクタ 5">
            <a:extLst>
              <a:ext uri="{FF2B5EF4-FFF2-40B4-BE49-F238E27FC236}">
                <a16:creationId xmlns:a16="http://schemas.microsoft.com/office/drawing/2014/main" id="{11889294-418E-3253-69C4-A176DFFF92E2}"/>
              </a:ext>
            </a:extLst>
          </p:cNvPr>
          <p:cNvCxnSpPr>
            <a:cxnSpLocks/>
          </p:cNvCxnSpPr>
          <p:nvPr/>
        </p:nvCxnSpPr>
        <p:spPr>
          <a:xfrm flipV="1">
            <a:off x="436260" y="2064788"/>
            <a:ext cx="10902" cy="35747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B6212E85-45C9-2734-4A4A-1398E0C0D3A3}"/>
              </a:ext>
            </a:extLst>
          </p:cNvPr>
          <p:cNvCxnSpPr>
            <a:cxnSpLocks/>
          </p:cNvCxnSpPr>
          <p:nvPr/>
        </p:nvCxnSpPr>
        <p:spPr>
          <a:xfrm>
            <a:off x="292202" y="5639495"/>
            <a:ext cx="7668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486B4C31-DAFB-87E1-BF41-378F1E6ADCC1}"/>
              </a:ext>
            </a:extLst>
          </p:cNvPr>
          <p:cNvSpPr/>
          <p:nvPr/>
        </p:nvSpPr>
        <p:spPr>
          <a:xfrm>
            <a:off x="3054526" y="6172730"/>
            <a:ext cx="2567311" cy="311295"/>
          </a:xfrm>
          <a:prstGeom prst="rect">
            <a:avLst/>
          </a:prstGeom>
          <a:no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dirty="0">
                <a:ln>
                  <a:noFill/>
                </a:ln>
                <a:solidFill>
                  <a:srgbClr val="000000"/>
                </a:solidFill>
                <a:effectLst/>
                <a:highlight>
                  <a:srgbClr val="CDD9DD"/>
                </a:highlight>
                <a:uLnTx/>
                <a:uFillTx/>
                <a:latin typeface="Arial" panose="020B0604020202020204" pitchFamily="34" charset="0"/>
                <a:ea typeface="メイリオ"/>
                <a:cs typeface="+mn-cs"/>
              </a:rPr>
              <a:t>発電所ライフサイクル</a:t>
            </a:r>
            <a:endParaRPr kumimoji="1" lang="ja-JP" altLang="ja-JP" sz="1200" b="1" i="0" u="none" strike="noStrike" kern="1200" cap="none" spc="0" normalizeH="0" baseline="0" noProof="0" dirty="0">
              <a:ln>
                <a:noFill/>
              </a:ln>
              <a:solidFill>
                <a:srgbClr val="000000"/>
              </a:solidFill>
              <a:effectLst/>
              <a:highlight>
                <a:srgbClr val="CDD9DD"/>
              </a:highlight>
              <a:uLnTx/>
              <a:uFillTx/>
              <a:latin typeface="Arial" panose="020B0604020202020204" pitchFamily="34" charset="0"/>
              <a:ea typeface="メイリオ"/>
              <a:cs typeface="+mn-cs"/>
            </a:endParaRPr>
          </a:p>
        </p:txBody>
      </p:sp>
      <p:sp>
        <p:nvSpPr>
          <p:cNvPr id="24" name="テキスト ボックス 23">
            <a:extLst>
              <a:ext uri="{FF2B5EF4-FFF2-40B4-BE49-F238E27FC236}">
                <a16:creationId xmlns:a16="http://schemas.microsoft.com/office/drawing/2014/main" id="{892E47DC-7A9A-D321-02B3-48E390732C77}"/>
              </a:ext>
            </a:extLst>
          </p:cNvPr>
          <p:cNvSpPr txBox="1"/>
          <p:nvPr/>
        </p:nvSpPr>
        <p:spPr>
          <a:xfrm>
            <a:off x="7519335" y="3365797"/>
            <a:ext cx="119384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srgbClr val="000000"/>
                </a:solidFill>
                <a:effectLst/>
                <a:uLnTx/>
                <a:uFillTx/>
                <a:latin typeface="Arial"/>
                <a:ea typeface="メイリオ"/>
                <a:cs typeface="+mn-cs"/>
              </a:rPr>
              <a:t>累計営利率</a:t>
            </a:r>
            <a:r>
              <a:rPr lang="en-US" altLang="ja-JP" sz="1100" b="1" dirty="0">
                <a:solidFill>
                  <a:srgbClr val="000000"/>
                </a:solidFill>
                <a:latin typeface="Arial"/>
                <a:ea typeface="メイリオ"/>
              </a:rPr>
              <a:t>10%</a:t>
            </a:r>
            <a:endParaRPr kumimoji="1" lang="ja-JP" altLang="en-US" sz="1100" b="1"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45" name="テキスト ボックス 44">
            <a:extLst>
              <a:ext uri="{FF2B5EF4-FFF2-40B4-BE49-F238E27FC236}">
                <a16:creationId xmlns:a16="http://schemas.microsoft.com/office/drawing/2014/main" id="{FCDE96D8-5B74-C5AD-0073-B75C62E6BFA2}"/>
              </a:ext>
            </a:extLst>
          </p:cNvPr>
          <p:cNvSpPr txBox="1"/>
          <p:nvPr/>
        </p:nvSpPr>
        <p:spPr>
          <a:xfrm>
            <a:off x="1503468" y="5826370"/>
            <a:ext cx="748923" cy="261610"/>
          </a:xfrm>
          <a:prstGeom prst="rect">
            <a:avLst/>
          </a:prstGeom>
          <a:noFill/>
        </p:spPr>
        <p:txBody>
          <a:bodyPr wrap="non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srgbClr val="000000"/>
                </a:solidFill>
                <a:effectLst/>
                <a:uLnTx/>
                <a:uFillTx/>
                <a:latin typeface="Arial"/>
                <a:ea typeface="メイリオ"/>
                <a:cs typeface="+mn-cs"/>
              </a:rPr>
              <a:t>初回定検</a:t>
            </a:r>
          </a:p>
        </p:txBody>
      </p:sp>
      <p:sp>
        <p:nvSpPr>
          <p:cNvPr id="47" name="テキスト ボックス 46">
            <a:extLst>
              <a:ext uri="{FF2B5EF4-FFF2-40B4-BE49-F238E27FC236}">
                <a16:creationId xmlns:a16="http://schemas.microsoft.com/office/drawing/2014/main" id="{1F625E42-E7D1-DACE-19A1-12B7B06CD59B}"/>
              </a:ext>
            </a:extLst>
          </p:cNvPr>
          <p:cNvSpPr txBox="1"/>
          <p:nvPr/>
        </p:nvSpPr>
        <p:spPr>
          <a:xfrm>
            <a:off x="2700334" y="5826370"/>
            <a:ext cx="843501" cy="261610"/>
          </a:xfrm>
          <a:prstGeom prst="rect">
            <a:avLst/>
          </a:prstGeom>
          <a:noFill/>
        </p:spPr>
        <p:txBody>
          <a:bodyPr wrap="non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srgbClr val="000000"/>
                </a:solidFill>
                <a:effectLst/>
                <a:uLnTx/>
                <a:uFillTx/>
                <a:latin typeface="Arial"/>
                <a:ea typeface="メイリオ"/>
                <a:cs typeface="+mn-cs"/>
              </a:rPr>
              <a:t>第</a:t>
            </a:r>
            <a:r>
              <a:rPr kumimoji="1" lang="en-US" altLang="ja-JP" sz="1100" b="1" i="0" u="none" strike="noStrike" kern="1200" cap="none" spc="0" normalizeH="0" baseline="0" noProof="0" dirty="0">
                <a:ln>
                  <a:noFill/>
                </a:ln>
                <a:solidFill>
                  <a:srgbClr val="000000"/>
                </a:solidFill>
                <a:effectLst/>
                <a:uLnTx/>
                <a:uFillTx/>
                <a:latin typeface="Arial"/>
                <a:ea typeface="メイリオ"/>
                <a:cs typeface="+mn-cs"/>
              </a:rPr>
              <a:t>X</a:t>
            </a:r>
            <a:r>
              <a:rPr kumimoji="1" lang="ja-JP" altLang="en-US" sz="1100" b="1" i="0" u="none" strike="noStrike" kern="1200" cap="none" spc="0" normalizeH="0" baseline="0" noProof="0" dirty="0">
                <a:ln>
                  <a:noFill/>
                </a:ln>
                <a:solidFill>
                  <a:srgbClr val="000000"/>
                </a:solidFill>
                <a:effectLst/>
                <a:uLnTx/>
                <a:uFillTx/>
                <a:latin typeface="Arial"/>
                <a:ea typeface="メイリオ"/>
                <a:cs typeface="+mn-cs"/>
              </a:rPr>
              <a:t>回定検</a:t>
            </a:r>
            <a:endParaRPr kumimoji="1" lang="en-US" altLang="ja-JP" sz="1100" b="1"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48" name="テキスト ボックス 47">
            <a:extLst>
              <a:ext uri="{FF2B5EF4-FFF2-40B4-BE49-F238E27FC236}">
                <a16:creationId xmlns:a16="http://schemas.microsoft.com/office/drawing/2014/main" id="{E78E00F2-614F-CC2D-498F-7FF5CEF3885D}"/>
              </a:ext>
            </a:extLst>
          </p:cNvPr>
          <p:cNvSpPr txBox="1"/>
          <p:nvPr/>
        </p:nvSpPr>
        <p:spPr>
          <a:xfrm>
            <a:off x="3873556" y="5826370"/>
            <a:ext cx="1595309" cy="261610"/>
          </a:xfrm>
          <a:prstGeom prst="rect">
            <a:avLst/>
          </a:prstGeom>
          <a:noFill/>
        </p:spPr>
        <p:txBody>
          <a:bodyPr wrap="non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srgbClr val="000000"/>
                </a:solidFill>
                <a:effectLst/>
                <a:uLnTx/>
                <a:uFillTx/>
                <a:latin typeface="Arial"/>
                <a:ea typeface="メイリオ"/>
                <a:cs typeface="+mn-cs"/>
              </a:rPr>
              <a:t>大型リハビリ・</a:t>
            </a:r>
            <a:r>
              <a:rPr lang="ja-JP" altLang="en-US" sz="1100" b="1" dirty="0">
                <a:solidFill>
                  <a:srgbClr val="000000"/>
                </a:solidFill>
                <a:latin typeface="Arial"/>
                <a:ea typeface="メイリオ"/>
              </a:rPr>
              <a:t>燃転等</a:t>
            </a:r>
            <a:endParaRPr kumimoji="1" lang="en-US" altLang="ja-JP" sz="1100" b="1"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64" name="テキスト ボックス 63">
            <a:extLst>
              <a:ext uri="{FF2B5EF4-FFF2-40B4-BE49-F238E27FC236}">
                <a16:creationId xmlns:a16="http://schemas.microsoft.com/office/drawing/2014/main" id="{DEB3F0CD-A9FB-4188-B3C6-FD28607041BC}"/>
              </a:ext>
            </a:extLst>
          </p:cNvPr>
          <p:cNvSpPr txBox="1"/>
          <p:nvPr/>
        </p:nvSpPr>
        <p:spPr>
          <a:xfrm>
            <a:off x="222263" y="5826370"/>
            <a:ext cx="466794" cy="261610"/>
          </a:xfrm>
          <a:prstGeom prst="rect">
            <a:avLst/>
          </a:prstGeom>
          <a:noFill/>
        </p:spPr>
        <p:txBody>
          <a:bodyPr wrap="non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srgbClr val="000000"/>
                </a:solidFill>
                <a:effectLst/>
                <a:uLnTx/>
                <a:uFillTx/>
                <a:latin typeface="Arial"/>
                <a:ea typeface="メイリオ"/>
                <a:cs typeface="+mn-cs"/>
              </a:rPr>
              <a:t>新設</a:t>
            </a:r>
          </a:p>
        </p:txBody>
      </p:sp>
      <p:sp>
        <p:nvSpPr>
          <p:cNvPr id="36" name="正方形/長方形 35">
            <a:extLst>
              <a:ext uri="{FF2B5EF4-FFF2-40B4-BE49-F238E27FC236}">
                <a16:creationId xmlns:a16="http://schemas.microsoft.com/office/drawing/2014/main" id="{911AF72D-A299-40C9-9AAF-6585AA69538E}"/>
              </a:ext>
            </a:extLst>
          </p:cNvPr>
          <p:cNvSpPr/>
          <p:nvPr/>
        </p:nvSpPr>
        <p:spPr>
          <a:xfrm>
            <a:off x="17649" y="2213900"/>
            <a:ext cx="283228" cy="3150831"/>
          </a:xfrm>
          <a:prstGeom prst="rect">
            <a:avLst/>
          </a:prstGeom>
          <a:solidFill>
            <a:schemeClr val="bg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000000"/>
                </a:solidFill>
                <a:effectLst/>
                <a:highlight>
                  <a:srgbClr val="CDD9DD"/>
                </a:highlight>
                <a:uLnTx/>
                <a:uFillTx/>
                <a:latin typeface="Arial" panose="020B0604020202020204" pitchFamily="34" charset="0"/>
                <a:ea typeface="メイリオ"/>
                <a:cs typeface="+mn-cs"/>
              </a:rPr>
              <a:t>発電所別 累計 </a:t>
            </a:r>
            <a:r>
              <a:rPr lang="ja-JP" altLang="en-US" sz="1400" b="1" dirty="0">
                <a:solidFill>
                  <a:srgbClr val="000000"/>
                </a:solidFill>
                <a:highlight>
                  <a:srgbClr val="CDD9DD"/>
                </a:highlight>
                <a:latin typeface="Arial" panose="020B0604020202020204" pitchFamily="34" charset="0"/>
                <a:ea typeface="メイリオ"/>
              </a:rPr>
              <a:t>営利率</a:t>
            </a:r>
            <a:endParaRPr kumimoji="1" lang="ja-JP" altLang="ja-JP" sz="1400" b="1" i="0" u="none" strike="noStrike" kern="1200" cap="none" spc="0" normalizeH="0" baseline="0" noProof="0" dirty="0">
              <a:ln>
                <a:noFill/>
              </a:ln>
              <a:solidFill>
                <a:srgbClr val="000000"/>
              </a:solidFill>
              <a:effectLst/>
              <a:highlight>
                <a:srgbClr val="CDD9DD"/>
              </a:highlight>
              <a:uLnTx/>
              <a:uFillTx/>
              <a:latin typeface="Arial" panose="020B0604020202020204" pitchFamily="34" charset="0"/>
              <a:ea typeface="メイリオ"/>
              <a:cs typeface="+mn-cs"/>
            </a:endParaRPr>
          </a:p>
        </p:txBody>
      </p:sp>
      <p:sp>
        <p:nvSpPr>
          <p:cNvPr id="8" name="テキスト ボックス 7">
            <a:extLst>
              <a:ext uri="{FF2B5EF4-FFF2-40B4-BE49-F238E27FC236}">
                <a16:creationId xmlns:a16="http://schemas.microsoft.com/office/drawing/2014/main" id="{C4FD8049-5FE9-53EA-2C1B-B664111439B8}"/>
              </a:ext>
            </a:extLst>
          </p:cNvPr>
          <p:cNvSpPr txBox="1"/>
          <p:nvPr/>
        </p:nvSpPr>
        <p:spPr>
          <a:xfrm>
            <a:off x="397968" y="2387934"/>
            <a:ext cx="1237073" cy="1200329"/>
          </a:xfrm>
          <a:prstGeom prst="rect">
            <a:avLst/>
          </a:prstGeom>
          <a:noFill/>
        </p:spPr>
        <p:txBody>
          <a:bodyPr wrap="square" rtlCol="0">
            <a:spAutoFit/>
          </a:bodyPr>
          <a:lstStyle/>
          <a:p>
            <a:pPr defTabSz="685800">
              <a:defRPr/>
            </a:pPr>
            <a:r>
              <a:rPr kumimoji="1" lang="ja-JP" altLang="en-US" sz="1200" b="1" dirty="0">
                <a:latin typeface="+mn-ea"/>
              </a:rPr>
              <a:t>ランク</a:t>
            </a:r>
            <a:r>
              <a:rPr lang="en-US" altLang="ja-JP" sz="1200" b="1" dirty="0">
                <a:latin typeface="+mn-ea"/>
              </a:rPr>
              <a:t>A-1</a:t>
            </a: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能動的拡販</a:t>
            </a:r>
            <a:r>
              <a:rPr kumimoji="1" lang="en-US" altLang="ja-JP" sz="1200" b="0" i="0" kern="1200" dirty="0">
                <a:solidFill>
                  <a:schemeClr val="tx1"/>
                </a:solidFill>
                <a:effectLst/>
                <a:latin typeface="+mn-lt"/>
                <a:ea typeface="+mn-ea"/>
                <a:cs typeface="+mn-cs"/>
              </a:rPr>
              <a:t>)</a:t>
            </a: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200" dirty="0"/>
              <a:t>初回定検提案</a:t>
            </a:r>
            <a:endParaRPr kumimoji="1" lang="en-US" altLang="ja-JP" sz="1200" b="0" i="0" kern="1200" dirty="0">
              <a:solidFill>
                <a:schemeClr val="tx1"/>
              </a:solidFill>
              <a:effectLst/>
              <a:latin typeface="+mn-lt"/>
              <a:ea typeface="+mn-ea"/>
              <a:cs typeface="+mn-cs"/>
            </a:endParaRP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b="0" i="0" kern="1200" dirty="0">
                <a:solidFill>
                  <a:schemeClr val="tx1"/>
                </a:solidFill>
                <a:effectLst/>
                <a:latin typeface="+mn-lt"/>
                <a:ea typeface="+mn-ea"/>
                <a:cs typeface="+mn-cs"/>
              </a:rPr>
              <a:t>ライフサイクルプラン策定</a:t>
            </a:r>
            <a:endParaRPr kumimoji="1" lang="en-US" altLang="ja-JP" sz="1200" b="0" i="0" kern="1200" dirty="0">
              <a:solidFill>
                <a:schemeClr val="tx1"/>
              </a:solidFill>
              <a:effectLst/>
              <a:latin typeface="+mn-lt"/>
              <a:ea typeface="+mn-ea"/>
              <a:cs typeface="+mn-cs"/>
            </a:endParaRP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1200" dirty="0" err="1"/>
              <a:t>Etc</a:t>
            </a:r>
            <a:r>
              <a:rPr lang="en-US" altLang="ja-JP" sz="1200" dirty="0"/>
              <a:t>…</a:t>
            </a:r>
            <a:endParaRPr kumimoji="1" lang="en-US" altLang="ja-JP" sz="1200" b="0" i="0" kern="1200" dirty="0">
              <a:solidFill>
                <a:schemeClr val="tx1"/>
              </a:solidFill>
              <a:effectLst/>
              <a:latin typeface="+mn-lt"/>
              <a:ea typeface="+mn-ea"/>
              <a:cs typeface="+mn-cs"/>
            </a:endParaRPr>
          </a:p>
        </p:txBody>
      </p:sp>
      <p:sp>
        <p:nvSpPr>
          <p:cNvPr id="11" name="テキスト ボックス 10">
            <a:extLst>
              <a:ext uri="{FF2B5EF4-FFF2-40B4-BE49-F238E27FC236}">
                <a16:creationId xmlns:a16="http://schemas.microsoft.com/office/drawing/2014/main" id="{EFC2EC6F-1DAC-7F2B-3874-AD5EE2CF2CC7}"/>
              </a:ext>
            </a:extLst>
          </p:cNvPr>
          <p:cNvSpPr txBox="1"/>
          <p:nvPr/>
        </p:nvSpPr>
        <p:spPr>
          <a:xfrm>
            <a:off x="1777726" y="2447402"/>
            <a:ext cx="1576843" cy="1015663"/>
          </a:xfrm>
          <a:prstGeom prst="rect">
            <a:avLst/>
          </a:prstGeom>
          <a:noFill/>
        </p:spPr>
        <p:txBody>
          <a:bodyPr wrap="square" rtlCol="0">
            <a:spAutoFit/>
          </a:bodyPr>
          <a:lstStyle/>
          <a:p>
            <a:r>
              <a:rPr kumimoji="1" lang="ja-JP" altLang="en-US" sz="1200" b="1" dirty="0">
                <a:latin typeface="+mn-ea"/>
              </a:rPr>
              <a:t>ランク</a:t>
            </a:r>
            <a:r>
              <a:rPr lang="en-US" altLang="ja-JP" sz="1200" b="1" dirty="0">
                <a:latin typeface="+mn-ea"/>
              </a:rPr>
              <a:t>A-2</a:t>
            </a: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能動的拡販</a:t>
            </a:r>
            <a:r>
              <a:rPr kumimoji="1" lang="en-US" altLang="ja-JP" sz="1200" b="0" i="0" kern="1200" dirty="0">
                <a:solidFill>
                  <a:schemeClr val="tx1"/>
                </a:solidFill>
                <a:effectLst/>
                <a:latin typeface="+mn-lt"/>
                <a:ea typeface="+mn-ea"/>
                <a:cs typeface="+mn-cs"/>
              </a:rPr>
              <a:t>)</a:t>
            </a:r>
          </a:p>
          <a:p>
            <a:r>
              <a:rPr kumimoji="1" lang="ja-JP" altLang="en-US" sz="1200" dirty="0">
                <a:latin typeface="+mn-ea"/>
              </a:rPr>
              <a:t>予備品拡販</a:t>
            </a:r>
            <a:endParaRPr kumimoji="1" lang="en-US" altLang="ja-JP" sz="1200" dirty="0">
              <a:latin typeface="+mn-ea"/>
            </a:endParaRPr>
          </a:p>
          <a:p>
            <a:r>
              <a:rPr kumimoji="1" lang="ja-JP" altLang="en-US" sz="1200" dirty="0">
                <a:latin typeface="+mn-ea"/>
              </a:rPr>
              <a:t>消耗品パーツ拡販</a:t>
            </a:r>
            <a:endParaRPr kumimoji="1" lang="en-US" altLang="ja-JP" sz="1200" dirty="0">
              <a:latin typeface="+mn-ea"/>
            </a:endParaRPr>
          </a:p>
          <a:p>
            <a:r>
              <a:rPr kumimoji="1" lang="en-US" altLang="ja-JP" sz="1200" dirty="0">
                <a:latin typeface="+mn-ea"/>
              </a:rPr>
              <a:t>Etc...</a:t>
            </a:r>
            <a:endParaRPr kumimoji="1" lang="ja-JP" altLang="en-US" sz="1200" dirty="0">
              <a:latin typeface="+mn-ea"/>
            </a:endParaRPr>
          </a:p>
        </p:txBody>
      </p:sp>
      <p:sp>
        <p:nvSpPr>
          <p:cNvPr id="37" name="テキスト ボックス 36">
            <a:extLst>
              <a:ext uri="{FF2B5EF4-FFF2-40B4-BE49-F238E27FC236}">
                <a16:creationId xmlns:a16="http://schemas.microsoft.com/office/drawing/2014/main" id="{47BA95F1-E5FE-610B-405D-4C41D891A504}"/>
              </a:ext>
            </a:extLst>
          </p:cNvPr>
          <p:cNvSpPr txBox="1"/>
          <p:nvPr/>
        </p:nvSpPr>
        <p:spPr>
          <a:xfrm>
            <a:off x="3153313" y="2427516"/>
            <a:ext cx="1576843" cy="1015663"/>
          </a:xfrm>
          <a:prstGeom prst="rect">
            <a:avLst/>
          </a:prstGeom>
          <a:noFill/>
        </p:spPr>
        <p:txBody>
          <a:bodyPr wrap="square" rtlCol="0">
            <a:spAutoFit/>
          </a:bodyPr>
          <a:lstStyle/>
          <a:p>
            <a:r>
              <a:rPr kumimoji="1" lang="ja-JP" altLang="en-US" sz="1200" b="1" dirty="0">
                <a:latin typeface="+mn-ea"/>
              </a:rPr>
              <a:t>ランク</a:t>
            </a:r>
            <a:r>
              <a:rPr lang="en-US" altLang="ja-JP" sz="1200" b="1" dirty="0">
                <a:latin typeface="+mn-ea"/>
              </a:rPr>
              <a:t>A-3</a:t>
            </a: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能動的拡販</a:t>
            </a:r>
            <a:r>
              <a:rPr kumimoji="1" lang="en-US" altLang="ja-JP" sz="1200" b="0" i="0" kern="1200" dirty="0">
                <a:solidFill>
                  <a:schemeClr val="tx1"/>
                </a:solidFill>
                <a:effectLst/>
                <a:latin typeface="+mn-lt"/>
                <a:ea typeface="+mn-ea"/>
                <a:cs typeface="+mn-cs"/>
              </a:rPr>
              <a:t>)</a:t>
            </a:r>
          </a:p>
          <a:p>
            <a:r>
              <a:rPr lang="ja-JP" altLang="en-US" sz="1200" dirty="0">
                <a:latin typeface="+mn-ea"/>
              </a:rPr>
              <a:t>リハビリ提案</a:t>
            </a:r>
            <a:endParaRPr lang="en-US" altLang="ja-JP" sz="1200" dirty="0">
              <a:latin typeface="+mn-ea"/>
            </a:endParaRPr>
          </a:p>
          <a:p>
            <a:r>
              <a:rPr lang="ja-JP" altLang="en-US" sz="1200" dirty="0">
                <a:latin typeface="+mn-ea"/>
              </a:rPr>
              <a:t>燃転提案</a:t>
            </a:r>
            <a:endParaRPr lang="en-US" altLang="ja-JP" sz="1200" dirty="0">
              <a:latin typeface="+mn-ea"/>
            </a:endParaRPr>
          </a:p>
          <a:p>
            <a:r>
              <a:rPr kumimoji="1" lang="en-US" altLang="ja-JP" sz="1200" dirty="0">
                <a:latin typeface="+mn-ea"/>
              </a:rPr>
              <a:t>Etc...</a:t>
            </a:r>
            <a:endParaRPr kumimoji="1" lang="ja-JP" altLang="en-US" sz="1200" dirty="0">
              <a:latin typeface="+mn-ea"/>
            </a:endParaRPr>
          </a:p>
        </p:txBody>
      </p:sp>
      <p:sp>
        <p:nvSpPr>
          <p:cNvPr id="128" name="テキスト ボックス 127">
            <a:extLst>
              <a:ext uri="{FF2B5EF4-FFF2-40B4-BE49-F238E27FC236}">
                <a16:creationId xmlns:a16="http://schemas.microsoft.com/office/drawing/2014/main" id="{316A10A5-98FA-B9A1-DD21-1529B2B772F0}"/>
              </a:ext>
            </a:extLst>
          </p:cNvPr>
          <p:cNvSpPr txBox="1"/>
          <p:nvPr/>
        </p:nvSpPr>
        <p:spPr>
          <a:xfrm>
            <a:off x="7531669" y="4792891"/>
            <a:ext cx="123147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100" b="1" dirty="0">
                <a:solidFill>
                  <a:srgbClr val="000000"/>
                </a:solidFill>
                <a:latin typeface="Arial"/>
                <a:ea typeface="メイリオ"/>
              </a:rPr>
              <a:t>累計営利率</a:t>
            </a:r>
            <a:r>
              <a:rPr lang="en-US" altLang="ja-JP" sz="1100" b="1" dirty="0">
                <a:solidFill>
                  <a:srgbClr val="000000"/>
                </a:solidFill>
                <a:latin typeface="Arial"/>
                <a:ea typeface="メイリオ"/>
              </a:rPr>
              <a:t>0%</a:t>
            </a:r>
            <a:endParaRPr kumimoji="1" lang="ja-JP" altLang="en-US" sz="1100" b="1"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136" name="テキスト ボックス 135">
            <a:extLst>
              <a:ext uri="{FF2B5EF4-FFF2-40B4-BE49-F238E27FC236}">
                <a16:creationId xmlns:a16="http://schemas.microsoft.com/office/drawing/2014/main" id="{0ADC1965-650B-38BD-9F36-D6E1803DBEF5}"/>
              </a:ext>
            </a:extLst>
          </p:cNvPr>
          <p:cNvSpPr txBox="1"/>
          <p:nvPr/>
        </p:nvSpPr>
        <p:spPr>
          <a:xfrm>
            <a:off x="5621837" y="5826370"/>
            <a:ext cx="843501" cy="261610"/>
          </a:xfrm>
          <a:prstGeom prst="rect">
            <a:avLst/>
          </a:prstGeom>
          <a:noFill/>
        </p:spPr>
        <p:txBody>
          <a:bodyPr wrap="non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srgbClr val="000000"/>
                </a:solidFill>
                <a:effectLst/>
                <a:uLnTx/>
                <a:uFillTx/>
                <a:latin typeface="Arial"/>
                <a:ea typeface="メイリオ"/>
                <a:cs typeface="+mn-cs"/>
              </a:rPr>
              <a:t>第</a:t>
            </a:r>
            <a:r>
              <a:rPr kumimoji="1" lang="en-US" altLang="ja-JP" sz="1100" b="1" i="0" u="none" strike="noStrike" kern="1200" cap="none" spc="0" normalizeH="0" baseline="0" noProof="0" dirty="0">
                <a:ln>
                  <a:noFill/>
                </a:ln>
                <a:solidFill>
                  <a:srgbClr val="000000"/>
                </a:solidFill>
                <a:effectLst/>
                <a:uLnTx/>
                <a:uFillTx/>
                <a:latin typeface="Arial"/>
                <a:ea typeface="メイリオ"/>
                <a:cs typeface="+mn-cs"/>
              </a:rPr>
              <a:t>X</a:t>
            </a:r>
            <a:r>
              <a:rPr kumimoji="1" lang="ja-JP" altLang="en-US" sz="1100" b="1" i="0" u="none" strike="noStrike" kern="1200" cap="none" spc="0" normalizeH="0" baseline="0" noProof="0" dirty="0">
                <a:ln>
                  <a:noFill/>
                </a:ln>
                <a:solidFill>
                  <a:srgbClr val="000000"/>
                </a:solidFill>
                <a:effectLst/>
                <a:uLnTx/>
                <a:uFillTx/>
                <a:latin typeface="Arial"/>
                <a:ea typeface="メイリオ"/>
                <a:cs typeface="+mn-cs"/>
              </a:rPr>
              <a:t>回定検</a:t>
            </a:r>
            <a:endParaRPr kumimoji="1" lang="en-US" altLang="ja-JP" sz="1100" b="1"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138" name="テキスト ボックス 137">
            <a:extLst>
              <a:ext uri="{FF2B5EF4-FFF2-40B4-BE49-F238E27FC236}">
                <a16:creationId xmlns:a16="http://schemas.microsoft.com/office/drawing/2014/main" id="{30E8B4A4-D85F-73A2-D4E5-AEE325B05A94}"/>
              </a:ext>
            </a:extLst>
          </p:cNvPr>
          <p:cNvSpPr txBox="1"/>
          <p:nvPr/>
        </p:nvSpPr>
        <p:spPr>
          <a:xfrm>
            <a:off x="1759223" y="3678839"/>
            <a:ext cx="1547178" cy="1384995"/>
          </a:xfrm>
          <a:prstGeom prst="rect">
            <a:avLst/>
          </a:prstGeom>
          <a:noFill/>
        </p:spPr>
        <p:txBody>
          <a:bodyPr wrap="square" rtlCol="0">
            <a:spAutoFit/>
          </a:bodyPr>
          <a:lstStyle/>
          <a:p>
            <a:r>
              <a:rPr kumimoji="1" lang="ja-JP" altLang="en-US" sz="1200" b="1" dirty="0">
                <a:latin typeface="+mn-ea"/>
              </a:rPr>
              <a:t>ランク</a:t>
            </a:r>
            <a:r>
              <a:rPr lang="en-US" altLang="ja-JP" sz="1200" b="1" dirty="0">
                <a:latin typeface="+mn-ea"/>
              </a:rPr>
              <a:t>B-1</a:t>
            </a: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b="0" i="0" kern="1200" dirty="0">
                <a:solidFill>
                  <a:schemeClr val="tx1"/>
                </a:solidFill>
                <a:effectLst/>
                <a:latin typeface="+mn-lt"/>
                <a:ea typeface="+mn-ea"/>
                <a:cs typeface="+mn-cs"/>
              </a:rPr>
              <a:t>受動的営業</a:t>
            </a:r>
            <a:r>
              <a:rPr lang="ja-JP" altLang="en-US" sz="1200" dirty="0"/>
              <a:t>活動</a:t>
            </a:r>
            <a:endParaRPr lang="en-US" altLang="ja-JP" sz="1200" dirty="0"/>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b="0" i="0" kern="1200" dirty="0">
                <a:solidFill>
                  <a:schemeClr val="tx1"/>
                </a:solidFill>
                <a:effectLst/>
                <a:latin typeface="+mn-lt"/>
                <a:ea typeface="+mn-ea"/>
                <a:cs typeface="+mn-cs"/>
              </a:rPr>
              <a:t>粗利率</a:t>
            </a:r>
            <a:r>
              <a:rPr kumimoji="1" lang="en-US" altLang="ja-JP" sz="1200" b="0" i="0" kern="1200" dirty="0">
                <a:solidFill>
                  <a:schemeClr val="tx1"/>
                </a:solidFill>
                <a:effectLst/>
                <a:latin typeface="+mn-lt"/>
                <a:ea typeface="+mn-ea"/>
                <a:cs typeface="+mn-cs"/>
              </a:rPr>
              <a:t>UP</a:t>
            </a:r>
            <a:r>
              <a:rPr kumimoji="1" lang="ja-JP" altLang="en-US" sz="1200" b="0" i="0" kern="1200" dirty="0">
                <a:solidFill>
                  <a:schemeClr val="tx1"/>
                </a:solidFill>
                <a:effectLst/>
                <a:latin typeface="+mn-lt"/>
                <a:ea typeface="+mn-ea"/>
                <a:cs typeface="+mn-cs"/>
              </a:rPr>
              <a:t>施策</a:t>
            </a:r>
            <a:endParaRPr kumimoji="1" lang="en-US" altLang="ja-JP" sz="1200" b="0" i="0" kern="1200" dirty="0">
              <a:solidFill>
                <a:schemeClr val="tx1"/>
              </a:solidFill>
              <a:effectLst/>
              <a:latin typeface="+mn-lt"/>
              <a:ea typeface="+mn-ea"/>
              <a:cs typeface="+mn-cs"/>
            </a:endParaRP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200" dirty="0"/>
              <a:t>販管費減施策</a:t>
            </a:r>
            <a:endParaRPr lang="en-US" altLang="ja-JP" sz="1200" dirty="0"/>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提案簡素化、技術照会有償化等</a:t>
            </a:r>
            <a:r>
              <a:rPr kumimoji="1" lang="en-US" altLang="ja-JP" sz="1200" b="0" i="0" kern="1200" dirty="0">
                <a:solidFill>
                  <a:schemeClr val="tx1"/>
                </a:solidFill>
                <a:effectLst/>
                <a:latin typeface="+mn-lt"/>
                <a:ea typeface="+mn-ea"/>
                <a:cs typeface="+mn-cs"/>
              </a:rPr>
              <a:t>)</a:t>
            </a: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1200" b="0" i="0" kern="1200" dirty="0">
              <a:solidFill>
                <a:schemeClr val="tx1"/>
              </a:solidFill>
              <a:effectLst/>
              <a:latin typeface="+mn-lt"/>
              <a:ea typeface="+mn-ea"/>
              <a:cs typeface="+mn-cs"/>
            </a:endParaRPr>
          </a:p>
        </p:txBody>
      </p:sp>
      <p:sp>
        <p:nvSpPr>
          <p:cNvPr id="83" name="フリーフォーム: 図形 82">
            <a:extLst>
              <a:ext uri="{FF2B5EF4-FFF2-40B4-BE49-F238E27FC236}">
                <a16:creationId xmlns:a16="http://schemas.microsoft.com/office/drawing/2014/main" id="{722888F3-C732-CF9A-8058-92F85368A485}"/>
              </a:ext>
            </a:extLst>
          </p:cNvPr>
          <p:cNvSpPr/>
          <p:nvPr/>
        </p:nvSpPr>
        <p:spPr>
          <a:xfrm>
            <a:off x="477660" y="2374014"/>
            <a:ext cx="7022236" cy="2950295"/>
          </a:xfrm>
          <a:custGeom>
            <a:avLst/>
            <a:gdLst>
              <a:gd name="connsiteX0" fmla="*/ 0 w 7359588"/>
              <a:gd name="connsiteY0" fmla="*/ 2679871 h 3013372"/>
              <a:gd name="connsiteX1" fmla="*/ 443883 w 7359588"/>
              <a:gd name="connsiteY1" fmla="*/ 2999467 h 3013372"/>
              <a:gd name="connsiteX2" fmla="*/ 1136342 w 7359588"/>
              <a:gd name="connsiteY2" fmla="*/ 2271498 h 3013372"/>
              <a:gd name="connsiteX3" fmla="*/ 2716567 w 7359588"/>
              <a:gd name="connsiteY3" fmla="*/ 495964 h 3013372"/>
              <a:gd name="connsiteX4" fmla="*/ 3195961 w 7359588"/>
              <a:gd name="connsiteY4" fmla="*/ 2067312 h 3013372"/>
              <a:gd name="connsiteX5" fmla="*/ 4279037 w 7359588"/>
              <a:gd name="connsiteY5" fmla="*/ 16570 h 3013372"/>
              <a:gd name="connsiteX6" fmla="*/ 7359588 w 7359588"/>
              <a:gd name="connsiteY6" fmla="*/ 1268322 h 3013372"/>
              <a:gd name="connsiteX0" fmla="*/ 0 w 7359588"/>
              <a:gd name="connsiteY0" fmla="*/ 2679871 h 3013372"/>
              <a:gd name="connsiteX1" fmla="*/ 443883 w 7359588"/>
              <a:gd name="connsiteY1" fmla="*/ 2999467 h 3013372"/>
              <a:gd name="connsiteX2" fmla="*/ 1136342 w 7359588"/>
              <a:gd name="connsiteY2" fmla="*/ 2271498 h 3013372"/>
              <a:gd name="connsiteX3" fmla="*/ 2716567 w 7359588"/>
              <a:gd name="connsiteY3" fmla="*/ 549230 h 3013372"/>
              <a:gd name="connsiteX4" fmla="*/ 3195961 w 7359588"/>
              <a:gd name="connsiteY4" fmla="*/ 2067312 h 3013372"/>
              <a:gd name="connsiteX5" fmla="*/ 4279037 w 7359588"/>
              <a:gd name="connsiteY5" fmla="*/ 16570 h 3013372"/>
              <a:gd name="connsiteX6" fmla="*/ 7359588 w 7359588"/>
              <a:gd name="connsiteY6" fmla="*/ 1268322 h 3013372"/>
              <a:gd name="connsiteX0" fmla="*/ 0 w 7359588"/>
              <a:gd name="connsiteY0" fmla="*/ 2679871 h 3013372"/>
              <a:gd name="connsiteX1" fmla="*/ 443883 w 7359588"/>
              <a:gd name="connsiteY1" fmla="*/ 2999467 h 3013372"/>
              <a:gd name="connsiteX2" fmla="*/ 1136342 w 7359588"/>
              <a:gd name="connsiteY2" fmla="*/ 2271498 h 3013372"/>
              <a:gd name="connsiteX3" fmla="*/ 2725445 w 7359588"/>
              <a:gd name="connsiteY3" fmla="*/ 744539 h 3013372"/>
              <a:gd name="connsiteX4" fmla="*/ 3195961 w 7359588"/>
              <a:gd name="connsiteY4" fmla="*/ 2067312 h 3013372"/>
              <a:gd name="connsiteX5" fmla="*/ 4279037 w 7359588"/>
              <a:gd name="connsiteY5" fmla="*/ 16570 h 3013372"/>
              <a:gd name="connsiteX6" fmla="*/ 7359588 w 7359588"/>
              <a:gd name="connsiteY6" fmla="*/ 1268322 h 3013372"/>
              <a:gd name="connsiteX0" fmla="*/ 0 w 6915705"/>
              <a:gd name="connsiteY0" fmla="*/ 2999467 h 2999467"/>
              <a:gd name="connsiteX1" fmla="*/ 692459 w 6915705"/>
              <a:gd name="connsiteY1" fmla="*/ 2271498 h 2999467"/>
              <a:gd name="connsiteX2" fmla="*/ 2281562 w 6915705"/>
              <a:gd name="connsiteY2" fmla="*/ 744539 h 2999467"/>
              <a:gd name="connsiteX3" fmla="*/ 2752078 w 6915705"/>
              <a:gd name="connsiteY3" fmla="*/ 2067312 h 2999467"/>
              <a:gd name="connsiteX4" fmla="*/ 3835154 w 6915705"/>
              <a:gd name="connsiteY4" fmla="*/ 16570 h 2999467"/>
              <a:gd name="connsiteX5" fmla="*/ 6915705 w 6915705"/>
              <a:gd name="connsiteY5" fmla="*/ 1268322 h 2999467"/>
              <a:gd name="connsiteX0" fmla="*/ 0 w 6915705"/>
              <a:gd name="connsiteY0" fmla="*/ 2999467 h 2999467"/>
              <a:gd name="connsiteX1" fmla="*/ 727970 w 6915705"/>
              <a:gd name="connsiteY1" fmla="*/ 1055258 h 2999467"/>
              <a:gd name="connsiteX2" fmla="*/ 2281562 w 6915705"/>
              <a:gd name="connsiteY2" fmla="*/ 744539 h 2999467"/>
              <a:gd name="connsiteX3" fmla="*/ 2752078 w 6915705"/>
              <a:gd name="connsiteY3" fmla="*/ 2067312 h 2999467"/>
              <a:gd name="connsiteX4" fmla="*/ 3835154 w 6915705"/>
              <a:gd name="connsiteY4" fmla="*/ 16570 h 2999467"/>
              <a:gd name="connsiteX5" fmla="*/ 6915705 w 6915705"/>
              <a:gd name="connsiteY5" fmla="*/ 1268322 h 2999467"/>
              <a:gd name="connsiteX0" fmla="*/ 0 w 7306322"/>
              <a:gd name="connsiteY0" fmla="*/ 2697626 h 2697626"/>
              <a:gd name="connsiteX1" fmla="*/ 1118587 w 7306322"/>
              <a:gd name="connsiteY1" fmla="*/ 1055258 h 2697626"/>
              <a:gd name="connsiteX2" fmla="*/ 2672179 w 7306322"/>
              <a:gd name="connsiteY2" fmla="*/ 744539 h 2697626"/>
              <a:gd name="connsiteX3" fmla="*/ 3142695 w 7306322"/>
              <a:gd name="connsiteY3" fmla="*/ 2067312 h 2697626"/>
              <a:gd name="connsiteX4" fmla="*/ 4225771 w 7306322"/>
              <a:gd name="connsiteY4" fmla="*/ 16570 h 2697626"/>
              <a:gd name="connsiteX5" fmla="*/ 7306322 w 7306322"/>
              <a:gd name="connsiteY5" fmla="*/ 1268322 h 2697626"/>
              <a:gd name="connsiteX0" fmla="*/ 0 w 7306322"/>
              <a:gd name="connsiteY0" fmla="*/ 2697626 h 2697626"/>
              <a:gd name="connsiteX1" fmla="*/ 506027 w 7306322"/>
              <a:gd name="connsiteY1" fmla="*/ 1854249 h 2697626"/>
              <a:gd name="connsiteX2" fmla="*/ 1118587 w 7306322"/>
              <a:gd name="connsiteY2" fmla="*/ 1055258 h 2697626"/>
              <a:gd name="connsiteX3" fmla="*/ 2672179 w 7306322"/>
              <a:gd name="connsiteY3" fmla="*/ 744539 h 2697626"/>
              <a:gd name="connsiteX4" fmla="*/ 3142695 w 7306322"/>
              <a:gd name="connsiteY4" fmla="*/ 2067312 h 2697626"/>
              <a:gd name="connsiteX5" fmla="*/ 4225771 w 7306322"/>
              <a:gd name="connsiteY5" fmla="*/ 16570 h 2697626"/>
              <a:gd name="connsiteX6" fmla="*/ 7306322 w 7306322"/>
              <a:gd name="connsiteY6" fmla="*/ 1268322 h 2697626"/>
              <a:gd name="connsiteX0" fmla="*/ 0 w 7306322"/>
              <a:gd name="connsiteY0" fmla="*/ 2697626 h 3029540"/>
              <a:gd name="connsiteX1" fmla="*/ 506027 w 7306322"/>
              <a:gd name="connsiteY1" fmla="*/ 2963958 h 3029540"/>
              <a:gd name="connsiteX2" fmla="*/ 1118587 w 7306322"/>
              <a:gd name="connsiteY2" fmla="*/ 1055258 h 3029540"/>
              <a:gd name="connsiteX3" fmla="*/ 2672179 w 7306322"/>
              <a:gd name="connsiteY3" fmla="*/ 744539 h 3029540"/>
              <a:gd name="connsiteX4" fmla="*/ 3142695 w 7306322"/>
              <a:gd name="connsiteY4" fmla="*/ 2067312 h 3029540"/>
              <a:gd name="connsiteX5" fmla="*/ 4225771 w 7306322"/>
              <a:gd name="connsiteY5" fmla="*/ 16570 h 3029540"/>
              <a:gd name="connsiteX6" fmla="*/ 7306322 w 7306322"/>
              <a:gd name="connsiteY6" fmla="*/ 1268322 h 3029540"/>
              <a:gd name="connsiteX0" fmla="*/ 0 w 7306322"/>
              <a:gd name="connsiteY0" fmla="*/ 2697626 h 3029540"/>
              <a:gd name="connsiteX1" fmla="*/ 506027 w 7306322"/>
              <a:gd name="connsiteY1" fmla="*/ 2963958 h 3029540"/>
              <a:gd name="connsiteX2" fmla="*/ 1189609 w 7306322"/>
              <a:gd name="connsiteY2" fmla="*/ 975359 h 3029540"/>
              <a:gd name="connsiteX3" fmla="*/ 2672179 w 7306322"/>
              <a:gd name="connsiteY3" fmla="*/ 744539 h 3029540"/>
              <a:gd name="connsiteX4" fmla="*/ 3142695 w 7306322"/>
              <a:gd name="connsiteY4" fmla="*/ 2067312 h 3029540"/>
              <a:gd name="connsiteX5" fmla="*/ 4225771 w 7306322"/>
              <a:gd name="connsiteY5" fmla="*/ 16570 h 3029540"/>
              <a:gd name="connsiteX6" fmla="*/ 7306322 w 7306322"/>
              <a:gd name="connsiteY6" fmla="*/ 1268322 h 3029540"/>
              <a:gd name="connsiteX0" fmla="*/ 0 w 7306322"/>
              <a:gd name="connsiteY0" fmla="*/ 2697626 h 3029540"/>
              <a:gd name="connsiteX1" fmla="*/ 506027 w 7306322"/>
              <a:gd name="connsiteY1" fmla="*/ 2963958 h 3029540"/>
              <a:gd name="connsiteX2" fmla="*/ 1189609 w 7306322"/>
              <a:gd name="connsiteY2" fmla="*/ 975359 h 3029540"/>
              <a:gd name="connsiteX3" fmla="*/ 2672179 w 7306322"/>
              <a:gd name="connsiteY3" fmla="*/ 744539 h 3029540"/>
              <a:gd name="connsiteX4" fmla="*/ 3142695 w 7306322"/>
              <a:gd name="connsiteY4" fmla="*/ 2067312 h 3029540"/>
              <a:gd name="connsiteX5" fmla="*/ 4225771 w 7306322"/>
              <a:gd name="connsiteY5" fmla="*/ 16570 h 3029540"/>
              <a:gd name="connsiteX6" fmla="*/ 7306322 w 7306322"/>
              <a:gd name="connsiteY6" fmla="*/ 1268322 h 3029540"/>
              <a:gd name="connsiteX0" fmla="*/ 0 w 7306322"/>
              <a:gd name="connsiteY0" fmla="*/ 2697626 h 3029540"/>
              <a:gd name="connsiteX1" fmla="*/ 506027 w 7306322"/>
              <a:gd name="connsiteY1" fmla="*/ 2963958 h 3029540"/>
              <a:gd name="connsiteX2" fmla="*/ 1189609 w 7306322"/>
              <a:gd name="connsiteY2" fmla="*/ 975359 h 3029540"/>
              <a:gd name="connsiteX3" fmla="*/ 2672179 w 7306322"/>
              <a:gd name="connsiteY3" fmla="*/ 744539 h 3029540"/>
              <a:gd name="connsiteX4" fmla="*/ 3142695 w 7306322"/>
              <a:gd name="connsiteY4" fmla="*/ 2067312 h 3029540"/>
              <a:gd name="connsiteX5" fmla="*/ 4225771 w 7306322"/>
              <a:gd name="connsiteY5" fmla="*/ 16570 h 3029540"/>
              <a:gd name="connsiteX6" fmla="*/ 7306322 w 7306322"/>
              <a:gd name="connsiteY6" fmla="*/ 1268322 h 3029540"/>
              <a:gd name="connsiteX0" fmla="*/ 0 w 7306322"/>
              <a:gd name="connsiteY0" fmla="*/ 2697626 h 3029540"/>
              <a:gd name="connsiteX1" fmla="*/ 506027 w 7306322"/>
              <a:gd name="connsiteY1" fmla="*/ 2963958 h 3029540"/>
              <a:gd name="connsiteX2" fmla="*/ 1189609 w 7306322"/>
              <a:gd name="connsiteY2" fmla="*/ 975359 h 3029540"/>
              <a:gd name="connsiteX3" fmla="*/ 2672179 w 7306322"/>
              <a:gd name="connsiteY3" fmla="*/ 744539 h 3029540"/>
              <a:gd name="connsiteX4" fmla="*/ 3142695 w 7306322"/>
              <a:gd name="connsiteY4" fmla="*/ 2067312 h 3029540"/>
              <a:gd name="connsiteX5" fmla="*/ 4225771 w 7306322"/>
              <a:gd name="connsiteY5" fmla="*/ 16570 h 3029540"/>
              <a:gd name="connsiteX6" fmla="*/ 7306322 w 7306322"/>
              <a:gd name="connsiteY6" fmla="*/ 1268322 h 3029540"/>
              <a:gd name="connsiteX0" fmla="*/ 0 w 7306322"/>
              <a:gd name="connsiteY0" fmla="*/ 2697626 h 3064430"/>
              <a:gd name="connsiteX1" fmla="*/ 506027 w 7306322"/>
              <a:gd name="connsiteY1" fmla="*/ 2963958 h 3064430"/>
              <a:gd name="connsiteX2" fmla="*/ 1189609 w 7306322"/>
              <a:gd name="connsiteY2" fmla="*/ 975359 h 3064430"/>
              <a:gd name="connsiteX3" fmla="*/ 2672179 w 7306322"/>
              <a:gd name="connsiteY3" fmla="*/ 744539 h 3064430"/>
              <a:gd name="connsiteX4" fmla="*/ 3142695 w 7306322"/>
              <a:gd name="connsiteY4" fmla="*/ 2067312 h 3064430"/>
              <a:gd name="connsiteX5" fmla="*/ 4225771 w 7306322"/>
              <a:gd name="connsiteY5" fmla="*/ 16570 h 3064430"/>
              <a:gd name="connsiteX6" fmla="*/ 7306322 w 7306322"/>
              <a:gd name="connsiteY6" fmla="*/ 1268322 h 3064430"/>
              <a:gd name="connsiteX0" fmla="*/ 0 w 7306322"/>
              <a:gd name="connsiteY0" fmla="*/ 2697626 h 3064430"/>
              <a:gd name="connsiteX1" fmla="*/ 506027 w 7306322"/>
              <a:gd name="connsiteY1" fmla="*/ 2963958 h 3064430"/>
              <a:gd name="connsiteX2" fmla="*/ 1189609 w 7306322"/>
              <a:gd name="connsiteY2" fmla="*/ 975359 h 3064430"/>
              <a:gd name="connsiteX3" fmla="*/ 2689935 w 7306322"/>
              <a:gd name="connsiteY3" fmla="*/ 629130 h 3064430"/>
              <a:gd name="connsiteX4" fmla="*/ 3142695 w 7306322"/>
              <a:gd name="connsiteY4" fmla="*/ 2067312 h 3064430"/>
              <a:gd name="connsiteX5" fmla="*/ 4225771 w 7306322"/>
              <a:gd name="connsiteY5" fmla="*/ 16570 h 3064430"/>
              <a:gd name="connsiteX6" fmla="*/ 7306322 w 7306322"/>
              <a:gd name="connsiteY6" fmla="*/ 1268322 h 3064430"/>
              <a:gd name="connsiteX0" fmla="*/ 0 w 7306322"/>
              <a:gd name="connsiteY0" fmla="*/ 2697626 h 3064430"/>
              <a:gd name="connsiteX1" fmla="*/ 506027 w 7306322"/>
              <a:gd name="connsiteY1" fmla="*/ 2963958 h 3064430"/>
              <a:gd name="connsiteX2" fmla="*/ 1189609 w 7306322"/>
              <a:gd name="connsiteY2" fmla="*/ 975359 h 3064430"/>
              <a:gd name="connsiteX3" fmla="*/ 2689935 w 7306322"/>
              <a:gd name="connsiteY3" fmla="*/ 629130 h 3064430"/>
              <a:gd name="connsiteX4" fmla="*/ 3142695 w 7306322"/>
              <a:gd name="connsiteY4" fmla="*/ 2067312 h 3064430"/>
              <a:gd name="connsiteX5" fmla="*/ 4225771 w 7306322"/>
              <a:gd name="connsiteY5" fmla="*/ 16570 h 3064430"/>
              <a:gd name="connsiteX6" fmla="*/ 7306322 w 7306322"/>
              <a:gd name="connsiteY6" fmla="*/ 1268322 h 3064430"/>
              <a:gd name="connsiteX0" fmla="*/ 0 w 7306322"/>
              <a:gd name="connsiteY0" fmla="*/ 2697626 h 3064430"/>
              <a:gd name="connsiteX1" fmla="*/ 506027 w 7306322"/>
              <a:gd name="connsiteY1" fmla="*/ 2963958 h 3064430"/>
              <a:gd name="connsiteX2" fmla="*/ 1189609 w 7306322"/>
              <a:gd name="connsiteY2" fmla="*/ 975359 h 3064430"/>
              <a:gd name="connsiteX3" fmla="*/ 2689935 w 7306322"/>
              <a:gd name="connsiteY3" fmla="*/ 629130 h 3064430"/>
              <a:gd name="connsiteX4" fmla="*/ 3142695 w 7306322"/>
              <a:gd name="connsiteY4" fmla="*/ 2067312 h 3064430"/>
              <a:gd name="connsiteX5" fmla="*/ 4225771 w 7306322"/>
              <a:gd name="connsiteY5" fmla="*/ 16570 h 3064430"/>
              <a:gd name="connsiteX6" fmla="*/ 7306322 w 7306322"/>
              <a:gd name="connsiteY6" fmla="*/ 1268322 h 3064430"/>
              <a:gd name="connsiteX0" fmla="*/ 0 w 7306322"/>
              <a:gd name="connsiteY0" fmla="*/ 2697626 h 3064430"/>
              <a:gd name="connsiteX1" fmla="*/ 506027 w 7306322"/>
              <a:gd name="connsiteY1" fmla="*/ 2963958 h 3064430"/>
              <a:gd name="connsiteX2" fmla="*/ 1189609 w 7306322"/>
              <a:gd name="connsiteY2" fmla="*/ 975359 h 3064430"/>
              <a:gd name="connsiteX3" fmla="*/ 2689935 w 7306322"/>
              <a:gd name="connsiteY3" fmla="*/ 629130 h 3064430"/>
              <a:gd name="connsiteX4" fmla="*/ 3204839 w 7306322"/>
              <a:gd name="connsiteY4" fmla="*/ 1650062 h 3064430"/>
              <a:gd name="connsiteX5" fmla="*/ 4225771 w 7306322"/>
              <a:gd name="connsiteY5" fmla="*/ 16570 h 3064430"/>
              <a:gd name="connsiteX6" fmla="*/ 7306322 w 7306322"/>
              <a:gd name="connsiteY6" fmla="*/ 1268322 h 3064430"/>
              <a:gd name="connsiteX0" fmla="*/ 0 w 7306322"/>
              <a:gd name="connsiteY0" fmla="*/ 2697626 h 2993152"/>
              <a:gd name="connsiteX1" fmla="*/ 674703 w 7306322"/>
              <a:gd name="connsiteY1" fmla="*/ 2875182 h 2993152"/>
              <a:gd name="connsiteX2" fmla="*/ 1189609 w 7306322"/>
              <a:gd name="connsiteY2" fmla="*/ 975359 h 2993152"/>
              <a:gd name="connsiteX3" fmla="*/ 2689935 w 7306322"/>
              <a:gd name="connsiteY3" fmla="*/ 629130 h 2993152"/>
              <a:gd name="connsiteX4" fmla="*/ 3204839 w 7306322"/>
              <a:gd name="connsiteY4" fmla="*/ 1650062 h 2993152"/>
              <a:gd name="connsiteX5" fmla="*/ 4225771 w 7306322"/>
              <a:gd name="connsiteY5" fmla="*/ 16570 h 2993152"/>
              <a:gd name="connsiteX6" fmla="*/ 7306322 w 7306322"/>
              <a:gd name="connsiteY6" fmla="*/ 1268322 h 2993152"/>
              <a:gd name="connsiteX0" fmla="*/ 0 w 7306322"/>
              <a:gd name="connsiteY0" fmla="*/ 2697626 h 2993152"/>
              <a:gd name="connsiteX1" fmla="*/ 674703 w 7306322"/>
              <a:gd name="connsiteY1" fmla="*/ 2875182 h 2993152"/>
              <a:gd name="connsiteX2" fmla="*/ 1189609 w 7306322"/>
              <a:gd name="connsiteY2" fmla="*/ 913215 h 2993152"/>
              <a:gd name="connsiteX3" fmla="*/ 2689935 w 7306322"/>
              <a:gd name="connsiteY3" fmla="*/ 629130 h 2993152"/>
              <a:gd name="connsiteX4" fmla="*/ 3204839 w 7306322"/>
              <a:gd name="connsiteY4" fmla="*/ 1650062 h 2993152"/>
              <a:gd name="connsiteX5" fmla="*/ 4225771 w 7306322"/>
              <a:gd name="connsiteY5" fmla="*/ 16570 h 2993152"/>
              <a:gd name="connsiteX6" fmla="*/ 7306322 w 7306322"/>
              <a:gd name="connsiteY6" fmla="*/ 1268322 h 2993152"/>
              <a:gd name="connsiteX0" fmla="*/ 0 w 7306322"/>
              <a:gd name="connsiteY0" fmla="*/ 2697626 h 2993152"/>
              <a:gd name="connsiteX1" fmla="*/ 674703 w 7306322"/>
              <a:gd name="connsiteY1" fmla="*/ 2875182 h 2993152"/>
              <a:gd name="connsiteX2" fmla="*/ 1189609 w 7306322"/>
              <a:gd name="connsiteY2" fmla="*/ 913215 h 2993152"/>
              <a:gd name="connsiteX3" fmla="*/ 2689935 w 7306322"/>
              <a:gd name="connsiteY3" fmla="*/ 629130 h 2993152"/>
              <a:gd name="connsiteX4" fmla="*/ 3204839 w 7306322"/>
              <a:gd name="connsiteY4" fmla="*/ 1650062 h 2993152"/>
              <a:gd name="connsiteX5" fmla="*/ 4225771 w 7306322"/>
              <a:gd name="connsiteY5" fmla="*/ 16570 h 2993152"/>
              <a:gd name="connsiteX6" fmla="*/ 7306322 w 7306322"/>
              <a:gd name="connsiteY6" fmla="*/ 1268322 h 2993152"/>
              <a:gd name="connsiteX0" fmla="*/ 0 w 7306322"/>
              <a:gd name="connsiteY0" fmla="*/ 2697626 h 2993152"/>
              <a:gd name="connsiteX1" fmla="*/ 674703 w 7306322"/>
              <a:gd name="connsiteY1" fmla="*/ 2875182 h 2993152"/>
              <a:gd name="connsiteX2" fmla="*/ 1189609 w 7306322"/>
              <a:gd name="connsiteY2" fmla="*/ 913215 h 2993152"/>
              <a:gd name="connsiteX3" fmla="*/ 1926454 w 7306322"/>
              <a:gd name="connsiteY3" fmla="*/ 602497 h 2993152"/>
              <a:gd name="connsiteX4" fmla="*/ 2689935 w 7306322"/>
              <a:gd name="connsiteY4" fmla="*/ 629130 h 2993152"/>
              <a:gd name="connsiteX5" fmla="*/ 3204839 w 7306322"/>
              <a:gd name="connsiteY5" fmla="*/ 1650062 h 2993152"/>
              <a:gd name="connsiteX6" fmla="*/ 4225771 w 7306322"/>
              <a:gd name="connsiteY6" fmla="*/ 16570 h 2993152"/>
              <a:gd name="connsiteX7" fmla="*/ 7306322 w 7306322"/>
              <a:gd name="connsiteY7" fmla="*/ 1268322 h 2993152"/>
              <a:gd name="connsiteX0" fmla="*/ 0 w 7306322"/>
              <a:gd name="connsiteY0" fmla="*/ 2697626 h 2993152"/>
              <a:gd name="connsiteX1" fmla="*/ 674703 w 7306322"/>
              <a:gd name="connsiteY1" fmla="*/ 2875182 h 2993152"/>
              <a:gd name="connsiteX2" fmla="*/ 1189609 w 7306322"/>
              <a:gd name="connsiteY2" fmla="*/ 913215 h 2993152"/>
              <a:gd name="connsiteX3" fmla="*/ 1944209 w 7306322"/>
              <a:gd name="connsiteY3" fmla="*/ 487088 h 2993152"/>
              <a:gd name="connsiteX4" fmla="*/ 2689935 w 7306322"/>
              <a:gd name="connsiteY4" fmla="*/ 629130 h 2993152"/>
              <a:gd name="connsiteX5" fmla="*/ 3204839 w 7306322"/>
              <a:gd name="connsiteY5" fmla="*/ 1650062 h 2993152"/>
              <a:gd name="connsiteX6" fmla="*/ 4225771 w 7306322"/>
              <a:gd name="connsiteY6" fmla="*/ 16570 h 2993152"/>
              <a:gd name="connsiteX7" fmla="*/ 7306322 w 7306322"/>
              <a:gd name="connsiteY7" fmla="*/ 1268322 h 2993152"/>
              <a:gd name="connsiteX0" fmla="*/ 0 w 7306322"/>
              <a:gd name="connsiteY0" fmla="*/ 2697626 h 2993152"/>
              <a:gd name="connsiteX1" fmla="*/ 674703 w 7306322"/>
              <a:gd name="connsiteY1" fmla="*/ 2875182 h 2993152"/>
              <a:gd name="connsiteX2" fmla="*/ 1189609 w 7306322"/>
              <a:gd name="connsiteY2" fmla="*/ 913215 h 2993152"/>
              <a:gd name="connsiteX3" fmla="*/ 1944209 w 7306322"/>
              <a:gd name="connsiteY3" fmla="*/ 487088 h 2993152"/>
              <a:gd name="connsiteX4" fmla="*/ 2689935 w 7306322"/>
              <a:gd name="connsiteY4" fmla="*/ 629130 h 2993152"/>
              <a:gd name="connsiteX5" fmla="*/ 3204839 w 7306322"/>
              <a:gd name="connsiteY5" fmla="*/ 1650062 h 2993152"/>
              <a:gd name="connsiteX6" fmla="*/ 4225771 w 7306322"/>
              <a:gd name="connsiteY6" fmla="*/ 16570 h 2993152"/>
              <a:gd name="connsiteX7" fmla="*/ 7306322 w 7306322"/>
              <a:gd name="connsiteY7" fmla="*/ 1268322 h 2993152"/>
              <a:gd name="connsiteX0" fmla="*/ 0 w 7306322"/>
              <a:gd name="connsiteY0" fmla="*/ 2697626 h 2993152"/>
              <a:gd name="connsiteX1" fmla="*/ 674703 w 7306322"/>
              <a:gd name="connsiteY1" fmla="*/ 2875182 h 2993152"/>
              <a:gd name="connsiteX2" fmla="*/ 1189609 w 7306322"/>
              <a:gd name="connsiteY2" fmla="*/ 913215 h 2993152"/>
              <a:gd name="connsiteX3" fmla="*/ 1944209 w 7306322"/>
              <a:gd name="connsiteY3" fmla="*/ 487088 h 2993152"/>
              <a:gd name="connsiteX4" fmla="*/ 2689935 w 7306322"/>
              <a:gd name="connsiteY4" fmla="*/ 629130 h 2993152"/>
              <a:gd name="connsiteX5" fmla="*/ 3204839 w 7306322"/>
              <a:gd name="connsiteY5" fmla="*/ 1650062 h 2993152"/>
              <a:gd name="connsiteX6" fmla="*/ 4225771 w 7306322"/>
              <a:gd name="connsiteY6" fmla="*/ 16570 h 2993152"/>
              <a:gd name="connsiteX7" fmla="*/ 7306322 w 7306322"/>
              <a:gd name="connsiteY7" fmla="*/ 1268322 h 2993152"/>
              <a:gd name="connsiteX0" fmla="*/ 0 w 7306322"/>
              <a:gd name="connsiteY0" fmla="*/ 2697626 h 2993152"/>
              <a:gd name="connsiteX1" fmla="*/ 674703 w 7306322"/>
              <a:gd name="connsiteY1" fmla="*/ 2875182 h 2993152"/>
              <a:gd name="connsiteX2" fmla="*/ 1189609 w 7306322"/>
              <a:gd name="connsiteY2" fmla="*/ 913215 h 2993152"/>
              <a:gd name="connsiteX3" fmla="*/ 1944209 w 7306322"/>
              <a:gd name="connsiteY3" fmla="*/ 433822 h 2993152"/>
              <a:gd name="connsiteX4" fmla="*/ 2689935 w 7306322"/>
              <a:gd name="connsiteY4" fmla="*/ 629130 h 2993152"/>
              <a:gd name="connsiteX5" fmla="*/ 3204839 w 7306322"/>
              <a:gd name="connsiteY5" fmla="*/ 1650062 h 2993152"/>
              <a:gd name="connsiteX6" fmla="*/ 4225771 w 7306322"/>
              <a:gd name="connsiteY6" fmla="*/ 16570 h 2993152"/>
              <a:gd name="connsiteX7" fmla="*/ 7306322 w 7306322"/>
              <a:gd name="connsiteY7" fmla="*/ 1268322 h 2993152"/>
              <a:gd name="connsiteX0" fmla="*/ 0 w 7306322"/>
              <a:gd name="connsiteY0" fmla="*/ 2697626 h 2993152"/>
              <a:gd name="connsiteX1" fmla="*/ 674703 w 7306322"/>
              <a:gd name="connsiteY1" fmla="*/ 2875182 h 2993152"/>
              <a:gd name="connsiteX2" fmla="*/ 1189609 w 7306322"/>
              <a:gd name="connsiteY2" fmla="*/ 913215 h 2993152"/>
              <a:gd name="connsiteX3" fmla="*/ 2689935 w 7306322"/>
              <a:gd name="connsiteY3" fmla="*/ 629130 h 2993152"/>
              <a:gd name="connsiteX4" fmla="*/ 3204839 w 7306322"/>
              <a:gd name="connsiteY4" fmla="*/ 1650062 h 2993152"/>
              <a:gd name="connsiteX5" fmla="*/ 4225771 w 7306322"/>
              <a:gd name="connsiteY5" fmla="*/ 16570 h 2993152"/>
              <a:gd name="connsiteX6" fmla="*/ 7306322 w 7306322"/>
              <a:gd name="connsiteY6" fmla="*/ 1268322 h 2993152"/>
              <a:gd name="connsiteX0" fmla="*/ 0 w 7306322"/>
              <a:gd name="connsiteY0" fmla="*/ 2697626 h 2993152"/>
              <a:gd name="connsiteX1" fmla="*/ 674703 w 7306322"/>
              <a:gd name="connsiteY1" fmla="*/ 2875182 h 2993152"/>
              <a:gd name="connsiteX2" fmla="*/ 1189609 w 7306322"/>
              <a:gd name="connsiteY2" fmla="*/ 913215 h 2993152"/>
              <a:gd name="connsiteX3" fmla="*/ 2689935 w 7306322"/>
              <a:gd name="connsiteY3" fmla="*/ 629130 h 2993152"/>
              <a:gd name="connsiteX4" fmla="*/ 3329127 w 7306322"/>
              <a:gd name="connsiteY4" fmla="*/ 1614551 h 2993152"/>
              <a:gd name="connsiteX5" fmla="*/ 4225771 w 7306322"/>
              <a:gd name="connsiteY5" fmla="*/ 16570 h 2993152"/>
              <a:gd name="connsiteX6" fmla="*/ 7306322 w 7306322"/>
              <a:gd name="connsiteY6" fmla="*/ 1268322 h 2993152"/>
              <a:gd name="connsiteX0" fmla="*/ 0 w 7306322"/>
              <a:gd name="connsiteY0" fmla="*/ 2697626 h 2993152"/>
              <a:gd name="connsiteX1" fmla="*/ 674703 w 7306322"/>
              <a:gd name="connsiteY1" fmla="*/ 2875182 h 2993152"/>
              <a:gd name="connsiteX2" fmla="*/ 1189609 w 7306322"/>
              <a:gd name="connsiteY2" fmla="*/ 913215 h 2993152"/>
              <a:gd name="connsiteX3" fmla="*/ 2689935 w 7306322"/>
              <a:gd name="connsiteY3" fmla="*/ 629130 h 2993152"/>
              <a:gd name="connsiteX4" fmla="*/ 3338005 w 7306322"/>
              <a:gd name="connsiteY4" fmla="*/ 1614551 h 2993152"/>
              <a:gd name="connsiteX5" fmla="*/ 4225771 w 7306322"/>
              <a:gd name="connsiteY5" fmla="*/ 16570 h 2993152"/>
              <a:gd name="connsiteX6" fmla="*/ 7306322 w 7306322"/>
              <a:gd name="connsiteY6" fmla="*/ 1268322 h 2993152"/>
              <a:gd name="connsiteX0" fmla="*/ 0 w 7306322"/>
              <a:gd name="connsiteY0" fmla="*/ 2697626 h 2993152"/>
              <a:gd name="connsiteX1" fmla="*/ 674703 w 7306322"/>
              <a:gd name="connsiteY1" fmla="*/ 2875182 h 2993152"/>
              <a:gd name="connsiteX2" fmla="*/ 1162976 w 7306322"/>
              <a:gd name="connsiteY2" fmla="*/ 1081890 h 2993152"/>
              <a:gd name="connsiteX3" fmla="*/ 2689935 w 7306322"/>
              <a:gd name="connsiteY3" fmla="*/ 629130 h 2993152"/>
              <a:gd name="connsiteX4" fmla="*/ 3338005 w 7306322"/>
              <a:gd name="connsiteY4" fmla="*/ 1614551 h 2993152"/>
              <a:gd name="connsiteX5" fmla="*/ 4225771 w 7306322"/>
              <a:gd name="connsiteY5" fmla="*/ 16570 h 2993152"/>
              <a:gd name="connsiteX6" fmla="*/ 7306322 w 7306322"/>
              <a:gd name="connsiteY6" fmla="*/ 1268322 h 2993152"/>
              <a:gd name="connsiteX0" fmla="*/ 0 w 7306322"/>
              <a:gd name="connsiteY0" fmla="*/ 2697626 h 2993152"/>
              <a:gd name="connsiteX1" fmla="*/ 674703 w 7306322"/>
              <a:gd name="connsiteY1" fmla="*/ 2875182 h 2993152"/>
              <a:gd name="connsiteX2" fmla="*/ 1162976 w 7306322"/>
              <a:gd name="connsiteY2" fmla="*/ 1081890 h 2993152"/>
              <a:gd name="connsiteX3" fmla="*/ 2698813 w 7306322"/>
              <a:gd name="connsiteY3" fmla="*/ 682396 h 2993152"/>
              <a:gd name="connsiteX4" fmla="*/ 3338005 w 7306322"/>
              <a:gd name="connsiteY4" fmla="*/ 1614551 h 2993152"/>
              <a:gd name="connsiteX5" fmla="*/ 4225771 w 7306322"/>
              <a:gd name="connsiteY5" fmla="*/ 16570 h 2993152"/>
              <a:gd name="connsiteX6" fmla="*/ 7306322 w 7306322"/>
              <a:gd name="connsiteY6" fmla="*/ 1268322 h 2993152"/>
              <a:gd name="connsiteX0" fmla="*/ 0 w 7306322"/>
              <a:gd name="connsiteY0" fmla="*/ 2550383 h 2845909"/>
              <a:gd name="connsiteX1" fmla="*/ 674703 w 7306322"/>
              <a:gd name="connsiteY1" fmla="*/ 2727939 h 2845909"/>
              <a:gd name="connsiteX2" fmla="*/ 1162976 w 7306322"/>
              <a:gd name="connsiteY2" fmla="*/ 934647 h 2845909"/>
              <a:gd name="connsiteX3" fmla="*/ 2698813 w 7306322"/>
              <a:gd name="connsiteY3" fmla="*/ 535153 h 2845909"/>
              <a:gd name="connsiteX4" fmla="*/ 3338005 w 7306322"/>
              <a:gd name="connsiteY4" fmla="*/ 1467308 h 2845909"/>
              <a:gd name="connsiteX5" fmla="*/ 4225771 w 7306322"/>
              <a:gd name="connsiteY5" fmla="*/ 20247 h 2845909"/>
              <a:gd name="connsiteX6" fmla="*/ 7306322 w 7306322"/>
              <a:gd name="connsiteY6" fmla="*/ 1121079 h 2845909"/>
              <a:gd name="connsiteX0" fmla="*/ 0 w 7306322"/>
              <a:gd name="connsiteY0" fmla="*/ 2524567 h 2820093"/>
              <a:gd name="connsiteX1" fmla="*/ 674703 w 7306322"/>
              <a:gd name="connsiteY1" fmla="*/ 2702123 h 2820093"/>
              <a:gd name="connsiteX2" fmla="*/ 1162976 w 7306322"/>
              <a:gd name="connsiteY2" fmla="*/ 908831 h 2820093"/>
              <a:gd name="connsiteX3" fmla="*/ 2698813 w 7306322"/>
              <a:gd name="connsiteY3" fmla="*/ 509337 h 2820093"/>
              <a:gd name="connsiteX4" fmla="*/ 3338005 w 7306322"/>
              <a:gd name="connsiteY4" fmla="*/ 1441492 h 2820093"/>
              <a:gd name="connsiteX5" fmla="*/ 4208016 w 7306322"/>
              <a:gd name="connsiteY5" fmla="*/ 21064 h 2820093"/>
              <a:gd name="connsiteX6" fmla="*/ 7306322 w 7306322"/>
              <a:gd name="connsiteY6" fmla="*/ 1095263 h 2820093"/>
              <a:gd name="connsiteX0" fmla="*/ 0 w 7324078"/>
              <a:gd name="connsiteY0" fmla="*/ 2578555 h 2874081"/>
              <a:gd name="connsiteX1" fmla="*/ 674703 w 7324078"/>
              <a:gd name="connsiteY1" fmla="*/ 2756111 h 2874081"/>
              <a:gd name="connsiteX2" fmla="*/ 1162976 w 7324078"/>
              <a:gd name="connsiteY2" fmla="*/ 962819 h 2874081"/>
              <a:gd name="connsiteX3" fmla="*/ 2698813 w 7324078"/>
              <a:gd name="connsiteY3" fmla="*/ 563325 h 2874081"/>
              <a:gd name="connsiteX4" fmla="*/ 3338005 w 7324078"/>
              <a:gd name="connsiteY4" fmla="*/ 1495480 h 2874081"/>
              <a:gd name="connsiteX5" fmla="*/ 4208016 w 7324078"/>
              <a:gd name="connsiteY5" fmla="*/ 75052 h 2874081"/>
              <a:gd name="connsiteX6" fmla="*/ 7324078 w 7324078"/>
              <a:gd name="connsiteY6" fmla="*/ 607713 h 2874081"/>
              <a:gd name="connsiteX0" fmla="*/ 0 w 7332955"/>
              <a:gd name="connsiteY0" fmla="*/ 2627218 h 2922744"/>
              <a:gd name="connsiteX1" fmla="*/ 674703 w 7332955"/>
              <a:gd name="connsiteY1" fmla="*/ 2804774 h 2922744"/>
              <a:gd name="connsiteX2" fmla="*/ 1162976 w 7332955"/>
              <a:gd name="connsiteY2" fmla="*/ 1011482 h 2922744"/>
              <a:gd name="connsiteX3" fmla="*/ 2698813 w 7332955"/>
              <a:gd name="connsiteY3" fmla="*/ 611988 h 2922744"/>
              <a:gd name="connsiteX4" fmla="*/ 3338005 w 7332955"/>
              <a:gd name="connsiteY4" fmla="*/ 1544143 h 2922744"/>
              <a:gd name="connsiteX5" fmla="*/ 4208016 w 7332955"/>
              <a:gd name="connsiteY5" fmla="*/ 123715 h 2922744"/>
              <a:gd name="connsiteX6" fmla="*/ 7332955 w 7332955"/>
              <a:gd name="connsiteY6" fmla="*/ 505455 h 2922744"/>
              <a:gd name="connsiteX0" fmla="*/ 0 w 7332955"/>
              <a:gd name="connsiteY0" fmla="*/ 2627218 h 2922744"/>
              <a:gd name="connsiteX1" fmla="*/ 674703 w 7332955"/>
              <a:gd name="connsiteY1" fmla="*/ 2804774 h 2922744"/>
              <a:gd name="connsiteX2" fmla="*/ 1162976 w 7332955"/>
              <a:gd name="connsiteY2" fmla="*/ 1011482 h 2922744"/>
              <a:gd name="connsiteX3" fmla="*/ 2698813 w 7332955"/>
              <a:gd name="connsiteY3" fmla="*/ 611988 h 2922744"/>
              <a:gd name="connsiteX4" fmla="*/ 3338005 w 7332955"/>
              <a:gd name="connsiteY4" fmla="*/ 1544143 h 2922744"/>
              <a:gd name="connsiteX5" fmla="*/ 4208016 w 7332955"/>
              <a:gd name="connsiteY5" fmla="*/ 123715 h 2922744"/>
              <a:gd name="connsiteX6" fmla="*/ 7332955 w 7332955"/>
              <a:gd name="connsiteY6" fmla="*/ 505455 h 2922744"/>
              <a:gd name="connsiteX0" fmla="*/ 0 w 7332955"/>
              <a:gd name="connsiteY0" fmla="*/ 2627218 h 2922744"/>
              <a:gd name="connsiteX1" fmla="*/ 674703 w 7332955"/>
              <a:gd name="connsiteY1" fmla="*/ 2804774 h 2922744"/>
              <a:gd name="connsiteX2" fmla="*/ 1162976 w 7332955"/>
              <a:gd name="connsiteY2" fmla="*/ 1011482 h 2922744"/>
              <a:gd name="connsiteX3" fmla="*/ 2698813 w 7332955"/>
              <a:gd name="connsiteY3" fmla="*/ 611988 h 2922744"/>
              <a:gd name="connsiteX4" fmla="*/ 3338005 w 7332955"/>
              <a:gd name="connsiteY4" fmla="*/ 1544143 h 2922744"/>
              <a:gd name="connsiteX5" fmla="*/ 4208016 w 7332955"/>
              <a:gd name="connsiteY5" fmla="*/ 123715 h 2922744"/>
              <a:gd name="connsiteX6" fmla="*/ 7332955 w 7332955"/>
              <a:gd name="connsiteY6" fmla="*/ 505455 h 2922744"/>
              <a:gd name="connsiteX0" fmla="*/ 0 w 7332955"/>
              <a:gd name="connsiteY0" fmla="*/ 2676208 h 2971734"/>
              <a:gd name="connsiteX1" fmla="*/ 674703 w 7332955"/>
              <a:gd name="connsiteY1" fmla="*/ 2853764 h 2971734"/>
              <a:gd name="connsiteX2" fmla="*/ 1162976 w 7332955"/>
              <a:gd name="connsiteY2" fmla="*/ 1060472 h 2971734"/>
              <a:gd name="connsiteX3" fmla="*/ 2698813 w 7332955"/>
              <a:gd name="connsiteY3" fmla="*/ 660978 h 2971734"/>
              <a:gd name="connsiteX4" fmla="*/ 3338005 w 7332955"/>
              <a:gd name="connsiteY4" fmla="*/ 1593133 h 2971734"/>
              <a:gd name="connsiteX5" fmla="*/ 4208016 w 7332955"/>
              <a:gd name="connsiteY5" fmla="*/ 172705 h 2971734"/>
              <a:gd name="connsiteX6" fmla="*/ 5779363 w 7332955"/>
              <a:gd name="connsiteY6" fmla="*/ 66175 h 2971734"/>
              <a:gd name="connsiteX7" fmla="*/ 7332955 w 7332955"/>
              <a:gd name="connsiteY7" fmla="*/ 554445 h 2971734"/>
              <a:gd name="connsiteX0" fmla="*/ 0 w 7332955"/>
              <a:gd name="connsiteY0" fmla="*/ 2696504 h 2992030"/>
              <a:gd name="connsiteX1" fmla="*/ 674703 w 7332955"/>
              <a:gd name="connsiteY1" fmla="*/ 2874060 h 2992030"/>
              <a:gd name="connsiteX2" fmla="*/ 1162976 w 7332955"/>
              <a:gd name="connsiteY2" fmla="*/ 1080768 h 2992030"/>
              <a:gd name="connsiteX3" fmla="*/ 2698813 w 7332955"/>
              <a:gd name="connsiteY3" fmla="*/ 681274 h 2992030"/>
              <a:gd name="connsiteX4" fmla="*/ 3338005 w 7332955"/>
              <a:gd name="connsiteY4" fmla="*/ 1613429 h 2992030"/>
              <a:gd name="connsiteX5" fmla="*/ 4208016 w 7332955"/>
              <a:gd name="connsiteY5" fmla="*/ 193001 h 2992030"/>
              <a:gd name="connsiteX6" fmla="*/ 5779363 w 7332955"/>
              <a:gd name="connsiteY6" fmla="*/ 50960 h 2992030"/>
              <a:gd name="connsiteX7" fmla="*/ 7332955 w 7332955"/>
              <a:gd name="connsiteY7" fmla="*/ 574741 h 2992030"/>
              <a:gd name="connsiteX0" fmla="*/ 0 w 7332955"/>
              <a:gd name="connsiteY0" fmla="*/ 2674434 h 2969960"/>
              <a:gd name="connsiteX1" fmla="*/ 674703 w 7332955"/>
              <a:gd name="connsiteY1" fmla="*/ 2851990 h 2969960"/>
              <a:gd name="connsiteX2" fmla="*/ 1162976 w 7332955"/>
              <a:gd name="connsiteY2" fmla="*/ 1058698 h 2969960"/>
              <a:gd name="connsiteX3" fmla="*/ 2698813 w 7332955"/>
              <a:gd name="connsiteY3" fmla="*/ 659204 h 2969960"/>
              <a:gd name="connsiteX4" fmla="*/ 3338005 w 7332955"/>
              <a:gd name="connsiteY4" fmla="*/ 1591359 h 2969960"/>
              <a:gd name="connsiteX5" fmla="*/ 4208016 w 7332955"/>
              <a:gd name="connsiteY5" fmla="*/ 170931 h 2969960"/>
              <a:gd name="connsiteX6" fmla="*/ 5779363 w 7332955"/>
              <a:gd name="connsiteY6" fmla="*/ 28890 h 2969960"/>
              <a:gd name="connsiteX7" fmla="*/ 7332955 w 7332955"/>
              <a:gd name="connsiteY7" fmla="*/ 552671 h 2969960"/>
              <a:gd name="connsiteX0" fmla="*/ 0 w 7332955"/>
              <a:gd name="connsiteY0" fmla="*/ 2674434 h 2969960"/>
              <a:gd name="connsiteX1" fmla="*/ 674703 w 7332955"/>
              <a:gd name="connsiteY1" fmla="*/ 2851990 h 2969960"/>
              <a:gd name="connsiteX2" fmla="*/ 1162976 w 7332955"/>
              <a:gd name="connsiteY2" fmla="*/ 1058698 h 2969960"/>
              <a:gd name="connsiteX3" fmla="*/ 2698813 w 7332955"/>
              <a:gd name="connsiteY3" fmla="*/ 659204 h 2969960"/>
              <a:gd name="connsiteX4" fmla="*/ 3338005 w 7332955"/>
              <a:gd name="connsiteY4" fmla="*/ 1591359 h 2969960"/>
              <a:gd name="connsiteX5" fmla="*/ 4208016 w 7332955"/>
              <a:gd name="connsiteY5" fmla="*/ 170931 h 2969960"/>
              <a:gd name="connsiteX6" fmla="*/ 5779363 w 7332955"/>
              <a:gd name="connsiteY6" fmla="*/ 28890 h 2969960"/>
              <a:gd name="connsiteX7" fmla="*/ 7332955 w 7332955"/>
              <a:gd name="connsiteY7" fmla="*/ 552671 h 2969960"/>
              <a:gd name="connsiteX0" fmla="*/ 0 w 7332955"/>
              <a:gd name="connsiteY0" fmla="*/ 2702795 h 2998321"/>
              <a:gd name="connsiteX1" fmla="*/ 674703 w 7332955"/>
              <a:gd name="connsiteY1" fmla="*/ 2880351 h 2998321"/>
              <a:gd name="connsiteX2" fmla="*/ 1162976 w 7332955"/>
              <a:gd name="connsiteY2" fmla="*/ 1087059 h 2998321"/>
              <a:gd name="connsiteX3" fmla="*/ 2698813 w 7332955"/>
              <a:gd name="connsiteY3" fmla="*/ 687565 h 2998321"/>
              <a:gd name="connsiteX4" fmla="*/ 3338005 w 7332955"/>
              <a:gd name="connsiteY4" fmla="*/ 1619720 h 2998321"/>
              <a:gd name="connsiteX5" fmla="*/ 4208016 w 7332955"/>
              <a:gd name="connsiteY5" fmla="*/ 199292 h 2998321"/>
              <a:gd name="connsiteX6" fmla="*/ 5779363 w 7332955"/>
              <a:gd name="connsiteY6" fmla="*/ 12863 h 2998321"/>
              <a:gd name="connsiteX7" fmla="*/ 7332955 w 7332955"/>
              <a:gd name="connsiteY7" fmla="*/ 581032 h 2998321"/>
              <a:gd name="connsiteX0" fmla="*/ 0 w 7332955"/>
              <a:gd name="connsiteY0" fmla="*/ 2702795 h 2998321"/>
              <a:gd name="connsiteX1" fmla="*/ 674703 w 7332955"/>
              <a:gd name="connsiteY1" fmla="*/ 2880351 h 2998321"/>
              <a:gd name="connsiteX2" fmla="*/ 1162976 w 7332955"/>
              <a:gd name="connsiteY2" fmla="*/ 1087059 h 2998321"/>
              <a:gd name="connsiteX3" fmla="*/ 2698813 w 7332955"/>
              <a:gd name="connsiteY3" fmla="*/ 687565 h 2998321"/>
              <a:gd name="connsiteX4" fmla="*/ 3338005 w 7332955"/>
              <a:gd name="connsiteY4" fmla="*/ 1619720 h 2998321"/>
              <a:gd name="connsiteX5" fmla="*/ 4208016 w 7332955"/>
              <a:gd name="connsiteY5" fmla="*/ 199292 h 2998321"/>
              <a:gd name="connsiteX6" fmla="*/ 5779363 w 7332955"/>
              <a:gd name="connsiteY6" fmla="*/ 12863 h 2998321"/>
              <a:gd name="connsiteX7" fmla="*/ 7332955 w 7332955"/>
              <a:gd name="connsiteY7" fmla="*/ 581032 h 2998321"/>
              <a:gd name="connsiteX0" fmla="*/ 0 w 7332955"/>
              <a:gd name="connsiteY0" fmla="*/ 2702795 h 2998321"/>
              <a:gd name="connsiteX1" fmla="*/ 674703 w 7332955"/>
              <a:gd name="connsiteY1" fmla="*/ 2880351 h 2998321"/>
              <a:gd name="connsiteX2" fmla="*/ 1162976 w 7332955"/>
              <a:gd name="connsiteY2" fmla="*/ 1087059 h 2998321"/>
              <a:gd name="connsiteX3" fmla="*/ 2636669 w 7332955"/>
              <a:gd name="connsiteY3" fmla="*/ 669810 h 2998321"/>
              <a:gd name="connsiteX4" fmla="*/ 3338005 w 7332955"/>
              <a:gd name="connsiteY4" fmla="*/ 1619720 h 2998321"/>
              <a:gd name="connsiteX5" fmla="*/ 4208016 w 7332955"/>
              <a:gd name="connsiteY5" fmla="*/ 199292 h 2998321"/>
              <a:gd name="connsiteX6" fmla="*/ 5779363 w 7332955"/>
              <a:gd name="connsiteY6" fmla="*/ 12863 h 2998321"/>
              <a:gd name="connsiteX7" fmla="*/ 7332955 w 7332955"/>
              <a:gd name="connsiteY7" fmla="*/ 581032 h 2998321"/>
              <a:gd name="connsiteX0" fmla="*/ 0 w 7332955"/>
              <a:gd name="connsiteY0" fmla="*/ 2702795 h 2998321"/>
              <a:gd name="connsiteX1" fmla="*/ 674703 w 7332955"/>
              <a:gd name="connsiteY1" fmla="*/ 2880351 h 2998321"/>
              <a:gd name="connsiteX2" fmla="*/ 1162976 w 7332955"/>
              <a:gd name="connsiteY2" fmla="*/ 1087059 h 2998321"/>
              <a:gd name="connsiteX3" fmla="*/ 2636669 w 7332955"/>
              <a:gd name="connsiteY3" fmla="*/ 669810 h 2998321"/>
              <a:gd name="connsiteX4" fmla="*/ 3994952 w 7332955"/>
              <a:gd name="connsiteY4" fmla="*/ 1557577 h 2998321"/>
              <a:gd name="connsiteX5" fmla="*/ 4208016 w 7332955"/>
              <a:gd name="connsiteY5" fmla="*/ 199292 h 2998321"/>
              <a:gd name="connsiteX6" fmla="*/ 5779363 w 7332955"/>
              <a:gd name="connsiteY6" fmla="*/ 12863 h 2998321"/>
              <a:gd name="connsiteX7" fmla="*/ 7332955 w 7332955"/>
              <a:gd name="connsiteY7" fmla="*/ 581032 h 2998321"/>
              <a:gd name="connsiteX0" fmla="*/ 0 w 7332955"/>
              <a:gd name="connsiteY0" fmla="*/ 2741221 h 3036747"/>
              <a:gd name="connsiteX1" fmla="*/ 674703 w 7332955"/>
              <a:gd name="connsiteY1" fmla="*/ 2918777 h 3036747"/>
              <a:gd name="connsiteX2" fmla="*/ 1162976 w 7332955"/>
              <a:gd name="connsiteY2" fmla="*/ 1125485 h 3036747"/>
              <a:gd name="connsiteX3" fmla="*/ 2636669 w 7332955"/>
              <a:gd name="connsiteY3" fmla="*/ 708236 h 3036747"/>
              <a:gd name="connsiteX4" fmla="*/ 3994952 w 7332955"/>
              <a:gd name="connsiteY4" fmla="*/ 1596003 h 3036747"/>
              <a:gd name="connsiteX5" fmla="*/ 4767309 w 7332955"/>
              <a:gd name="connsiteY5" fmla="*/ 148942 h 3036747"/>
              <a:gd name="connsiteX6" fmla="*/ 5779363 w 7332955"/>
              <a:gd name="connsiteY6" fmla="*/ 51289 h 3036747"/>
              <a:gd name="connsiteX7" fmla="*/ 7332955 w 7332955"/>
              <a:gd name="connsiteY7" fmla="*/ 619458 h 3036747"/>
              <a:gd name="connsiteX0" fmla="*/ 0 w 7332955"/>
              <a:gd name="connsiteY0" fmla="*/ 2696831 h 2992357"/>
              <a:gd name="connsiteX1" fmla="*/ 674703 w 7332955"/>
              <a:gd name="connsiteY1" fmla="*/ 2874387 h 2992357"/>
              <a:gd name="connsiteX2" fmla="*/ 1162976 w 7332955"/>
              <a:gd name="connsiteY2" fmla="*/ 1081095 h 2992357"/>
              <a:gd name="connsiteX3" fmla="*/ 2636669 w 7332955"/>
              <a:gd name="connsiteY3" fmla="*/ 663846 h 2992357"/>
              <a:gd name="connsiteX4" fmla="*/ 3994952 w 7332955"/>
              <a:gd name="connsiteY4" fmla="*/ 1551613 h 2992357"/>
              <a:gd name="connsiteX5" fmla="*/ 4785064 w 7332955"/>
              <a:gd name="connsiteY5" fmla="*/ 219962 h 2992357"/>
              <a:gd name="connsiteX6" fmla="*/ 5779363 w 7332955"/>
              <a:gd name="connsiteY6" fmla="*/ 6899 h 2992357"/>
              <a:gd name="connsiteX7" fmla="*/ 7332955 w 7332955"/>
              <a:gd name="connsiteY7" fmla="*/ 575068 h 2992357"/>
              <a:gd name="connsiteX0" fmla="*/ 0 w 7332955"/>
              <a:gd name="connsiteY0" fmla="*/ 2658284 h 2953810"/>
              <a:gd name="connsiteX1" fmla="*/ 674703 w 7332955"/>
              <a:gd name="connsiteY1" fmla="*/ 2835840 h 2953810"/>
              <a:gd name="connsiteX2" fmla="*/ 1162976 w 7332955"/>
              <a:gd name="connsiteY2" fmla="*/ 1042548 h 2953810"/>
              <a:gd name="connsiteX3" fmla="*/ 2636669 w 7332955"/>
              <a:gd name="connsiteY3" fmla="*/ 625299 h 2953810"/>
              <a:gd name="connsiteX4" fmla="*/ 3994952 w 7332955"/>
              <a:gd name="connsiteY4" fmla="*/ 1513066 h 2953810"/>
              <a:gd name="connsiteX5" fmla="*/ 4785064 w 7332955"/>
              <a:gd name="connsiteY5" fmla="*/ 181415 h 2953810"/>
              <a:gd name="connsiteX6" fmla="*/ 6054570 w 7332955"/>
              <a:gd name="connsiteY6" fmla="*/ 21618 h 2953810"/>
              <a:gd name="connsiteX7" fmla="*/ 7332955 w 7332955"/>
              <a:gd name="connsiteY7" fmla="*/ 536521 h 2953810"/>
              <a:gd name="connsiteX0" fmla="*/ 0 w 7332955"/>
              <a:gd name="connsiteY0" fmla="*/ 2658284 h 2953810"/>
              <a:gd name="connsiteX1" fmla="*/ 674703 w 7332955"/>
              <a:gd name="connsiteY1" fmla="*/ 2835840 h 2953810"/>
              <a:gd name="connsiteX2" fmla="*/ 1162976 w 7332955"/>
              <a:gd name="connsiteY2" fmla="*/ 1042548 h 2953810"/>
              <a:gd name="connsiteX3" fmla="*/ 2636669 w 7332955"/>
              <a:gd name="connsiteY3" fmla="*/ 625299 h 2953810"/>
              <a:gd name="connsiteX4" fmla="*/ 3994952 w 7332955"/>
              <a:gd name="connsiteY4" fmla="*/ 1513066 h 2953810"/>
              <a:gd name="connsiteX5" fmla="*/ 4785064 w 7332955"/>
              <a:gd name="connsiteY5" fmla="*/ 181415 h 2953810"/>
              <a:gd name="connsiteX6" fmla="*/ 6054570 w 7332955"/>
              <a:gd name="connsiteY6" fmla="*/ 21618 h 2953810"/>
              <a:gd name="connsiteX7" fmla="*/ 7332955 w 7332955"/>
              <a:gd name="connsiteY7" fmla="*/ 536521 h 2953810"/>
              <a:gd name="connsiteX0" fmla="*/ 0 w 7332955"/>
              <a:gd name="connsiteY0" fmla="*/ 2658284 h 2953810"/>
              <a:gd name="connsiteX1" fmla="*/ 674703 w 7332955"/>
              <a:gd name="connsiteY1" fmla="*/ 2835840 h 2953810"/>
              <a:gd name="connsiteX2" fmla="*/ 1162976 w 7332955"/>
              <a:gd name="connsiteY2" fmla="*/ 1042548 h 2953810"/>
              <a:gd name="connsiteX3" fmla="*/ 2636669 w 7332955"/>
              <a:gd name="connsiteY3" fmla="*/ 625299 h 2953810"/>
              <a:gd name="connsiteX4" fmla="*/ 3994952 w 7332955"/>
              <a:gd name="connsiteY4" fmla="*/ 1513066 h 2953810"/>
              <a:gd name="connsiteX5" fmla="*/ 4785064 w 7332955"/>
              <a:gd name="connsiteY5" fmla="*/ 181415 h 2953810"/>
              <a:gd name="connsiteX6" fmla="*/ 6054570 w 7332955"/>
              <a:gd name="connsiteY6" fmla="*/ 21618 h 2953810"/>
              <a:gd name="connsiteX7" fmla="*/ 7332955 w 7332955"/>
              <a:gd name="connsiteY7" fmla="*/ 536521 h 2953810"/>
              <a:gd name="connsiteX0" fmla="*/ 0 w 7332955"/>
              <a:gd name="connsiteY0" fmla="*/ 2646542 h 2942068"/>
              <a:gd name="connsiteX1" fmla="*/ 674703 w 7332955"/>
              <a:gd name="connsiteY1" fmla="*/ 2824098 h 2942068"/>
              <a:gd name="connsiteX2" fmla="*/ 1162976 w 7332955"/>
              <a:gd name="connsiteY2" fmla="*/ 1030806 h 2942068"/>
              <a:gd name="connsiteX3" fmla="*/ 2636669 w 7332955"/>
              <a:gd name="connsiteY3" fmla="*/ 613557 h 2942068"/>
              <a:gd name="connsiteX4" fmla="*/ 3994952 w 7332955"/>
              <a:gd name="connsiteY4" fmla="*/ 1501324 h 2942068"/>
              <a:gd name="connsiteX5" fmla="*/ 4785064 w 7332955"/>
              <a:gd name="connsiteY5" fmla="*/ 169673 h 2942068"/>
              <a:gd name="connsiteX6" fmla="*/ 6054570 w 7332955"/>
              <a:gd name="connsiteY6" fmla="*/ 9876 h 2942068"/>
              <a:gd name="connsiteX7" fmla="*/ 7332955 w 7332955"/>
              <a:gd name="connsiteY7" fmla="*/ 524779 h 2942068"/>
              <a:gd name="connsiteX0" fmla="*/ 0 w 7332955"/>
              <a:gd name="connsiteY0" fmla="*/ 2646542 h 2942068"/>
              <a:gd name="connsiteX1" fmla="*/ 674703 w 7332955"/>
              <a:gd name="connsiteY1" fmla="*/ 2824098 h 2942068"/>
              <a:gd name="connsiteX2" fmla="*/ 1162976 w 7332955"/>
              <a:gd name="connsiteY2" fmla="*/ 1030806 h 2942068"/>
              <a:gd name="connsiteX3" fmla="*/ 2636669 w 7332955"/>
              <a:gd name="connsiteY3" fmla="*/ 613557 h 2942068"/>
              <a:gd name="connsiteX4" fmla="*/ 3994952 w 7332955"/>
              <a:gd name="connsiteY4" fmla="*/ 1501324 h 2942068"/>
              <a:gd name="connsiteX5" fmla="*/ 4785064 w 7332955"/>
              <a:gd name="connsiteY5" fmla="*/ 169673 h 2942068"/>
              <a:gd name="connsiteX6" fmla="*/ 6054570 w 7332955"/>
              <a:gd name="connsiteY6" fmla="*/ 9876 h 2942068"/>
              <a:gd name="connsiteX7" fmla="*/ 7332955 w 7332955"/>
              <a:gd name="connsiteY7" fmla="*/ 524779 h 2942068"/>
              <a:gd name="connsiteX0" fmla="*/ 0 w 7332955"/>
              <a:gd name="connsiteY0" fmla="*/ 2638495 h 2934021"/>
              <a:gd name="connsiteX1" fmla="*/ 674703 w 7332955"/>
              <a:gd name="connsiteY1" fmla="*/ 2816051 h 2934021"/>
              <a:gd name="connsiteX2" fmla="*/ 1162976 w 7332955"/>
              <a:gd name="connsiteY2" fmla="*/ 1022759 h 2934021"/>
              <a:gd name="connsiteX3" fmla="*/ 2636669 w 7332955"/>
              <a:gd name="connsiteY3" fmla="*/ 605510 h 2934021"/>
              <a:gd name="connsiteX4" fmla="*/ 3994952 w 7332955"/>
              <a:gd name="connsiteY4" fmla="*/ 1493277 h 2934021"/>
              <a:gd name="connsiteX5" fmla="*/ 4785064 w 7332955"/>
              <a:gd name="connsiteY5" fmla="*/ 161626 h 2934021"/>
              <a:gd name="connsiteX6" fmla="*/ 6054570 w 7332955"/>
              <a:gd name="connsiteY6" fmla="*/ 1829 h 2934021"/>
              <a:gd name="connsiteX7" fmla="*/ 7332955 w 7332955"/>
              <a:gd name="connsiteY7" fmla="*/ 516732 h 2934021"/>
              <a:gd name="connsiteX0" fmla="*/ 0 w 7332955"/>
              <a:gd name="connsiteY0" fmla="*/ 2637619 h 2933145"/>
              <a:gd name="connsiteX1" fmla="*/ 674703 w 7332955"/>
              <a:gd name="connsiteY1" fmla="*/ 2815175 h 2933145"/>
              <a:gd name="connsiteX2" fmla="*/ 1162976 w 7332955"/>
              <a:gd name="connsiteY2" fmla="*/ 1021883 h 2933145"/>
              <a:gd name="connsiteX3" fmla="*/ 2636669 w 7332955"/>
              <a:gd name="connsiteY3" fmla="*/ 604634 h 2933145"/>
              <a:gd name="connsiteX4" fmla="*/ 3994952 w 7332955"/>
              <a:gd name="connsiteY4" fmla="*/ 1492401 h 2933145"/>
              <a:gd name="connsiteX5" fmla="*/ 4785064 w 7332955"/>
              <a:gd name="connsiteY5" fmla="*/ 160750 h 2933145"/>
              <a:gd name="connsiteX6" fmla="*/ 6054570 w 7332955"/>
              <a:gd name="connsiteY6" fmla="*/ 953 h 2933145"/>
              <a:gd name="connsiteX7" fmla="*/ 7332955 w 7332955"/>
              <a:gd name="connsiteY7" fmla="*/ 515856 h 2933145"/>
              <a:gd name="connsiteX0" fmla="*/ 0 w 7332955"/>
              <a:gd name="connsiteY0" fmla="*/ 2637619 h 2933145"/>
              <a:gd name="connsiteX1" fmla="*/ 674703 w 7332955"/>
              <a:gd name="connsiteY1" fmla="*/ 2815175 h 2933145"/>
              <a:gd name="connsiteX2" fmla="*/ 1162976 w 7332955"/>
              <a:gd name="connsiteY2" fmla="*/ 1021883 h 2933145"/>
              <a:gd name="connsiteX3" fmla="*/ 2636669 w 7332955"/>
              <a:gd name="connsiteY3" fmla="*/ 604634 h 2933145"/>
              <a:gd name="connsiteX4" fmla="*/ 3994952 w 7332955"/>
              <a:gd name="connsiteY4" fmla="*/ 1492401 h 2933145"/>
              <a:gd name="connsiteX5" fmla="*/ 4785064 w 7332955"/>
              <a:gd name="connsiteY5" fmla="*/ 160750 h 2933145"/>
              <a:gd name="connsiteX6" fmla="*/ 6054570 w 7332955"/>
              <a:gd name="connsiteY6" fmla="*/ 953 h 2933145"/>
              <a:gd name="connsiteX7" fmla="*/ 7332955 w 7332955"/>
              <a:gd name="connsiteY7" fmla="*/ 515856 h 2933145"/>
              <a:gd name="connsiteX0" fmla="*/ 0 w 7332955"/>
              <a:gd name="connsiteY0" fmla="*/ 2636666 h 2932192"/>
              <a:gd name="connsiteX1" fmla="*/ 674703 w 7332955"/>
              <a:gd name="connsiteY1" fmla="*/ 2814222 h 2932192"/>
              <a:gd name="connsiteX2" fmla="*/ 1162976 w 7332955"/>
              <a:gd name="connsiteY2" fmla="*/ 1020930 h 2932192"/>
              <a:gd name="connsiteX3" fmla="*/ 2636669 w 7332955"/>
              <a:gd name="connsiteY3" fmla="*/ 603681 h 2932192"/>
              <a:gd name="connsiteX4" fmla="*/ 3994952 w 7332955"/>
              <a:gd name="connsiteY4" fmla="*/ 1491448 h 2932192"/>
              <a:gd name="connsiteX5" fmla="*/ 4785064 w 7332955"/>
              <a:gd name="connsiteY5" fmla="*/ 159797 h 2932192"/>
              <a:gd name="connsiteX6" fmla="*/ 6054570 w 7332955"/>
              <a:gd name="connsiteY6" fmla="*/ 0 h 2932192"/>
              <a:gd name="connsiteX7" fmla="*/ 7332955 w 7332955"/>
              <a:gd name="connsiteY7" fmla="*/ 514903 h 2932192"/>
              <a:gd name="connsiteX0" fmla="*/ 0 w 7332955"/>
              <a:gd name="connsiteY0" fmla="*/ 2636666 h 2932192"/>
              <a:gd name="connsiteX1" fmla="*/ 674703 w 7332955"/>
              <a:gd name="connsiteY1" fmla="*/ 2814222 h 2932192"/>
              <a:gd name="connsiteX2" fmla="*/ 1162976 w 7332955"/>
              <a:gd name="connsiteY2" fmla="*/ 1020930 h 2932192"/>
              <a:gd name="connsiteX3" fmla="*/ 2636669 w 7332955"/>
              <a:gd name="connsiteY3" fmla="*/ 603681 h 2932192"/>
              <a:gd name="connsiteX4" fmla="*/ 3994952 w 7332955"/>
              <a:gd name="connsiteY4" fmla="*/ 1491448 h 2932192"/>
              <a:gd name="connsiteX5" fmla="*/ 4785064 w 7332955"/>
              <a:gd name="connsiteY5" fmla="*/ 159797 h 2932192"/>
              <a:gd name="connsiteX6" fmla="*/ 6054570 w 7332955"/>
              <a:gd name="connsiteY6" fmla="*/ 0 h 2932192"/>
              <a:gd name="connsiteX7" fmla="*/ 7332955 w 7332955"/>
              <a:gd name="connsiteY7" fmla="*/ 514903 h 2932192"/>
              <a:gd name="connsiteX0" fmla="*/ 0 w 7332955"/>
              <a:gd name="connsiteY0" fmla="*/ 2656987 h 2952513"/>
              <a:gd name="connsiteX1" fmla="*/ 674703 w 7332955"/>
              <a:gd name="connsiteY1" fmla="*/ 2834543 h 2952513"/>
              <a:gd name="connsiteX2" fmla="*/ 1162976 w 7332955"/>
              <a:gd name="connsiteY2" fmla="*/ 1041251 h 2952513"/>
              <a:gd name="connsiteX3" fmla="*/ 2636669 w 7332955"/>
              <a:gd name="connsiteY3" fmla="*/ 624002 h 2952513"/>
              <a:gd name="connsiteX4" fmla="*/ 3994952 w 7332955"/>
              <a:gd name="connsiteY4" fmla="*/ 1511769 h 2952513"/>
              <a:gd name="connsiteX5" fmla="*/ 4785064 w 7332955"/>
              <a:gd name="connsiteY5" fmla="*/ 180118 h 2952513"/>
              <a:gd name="connsiteX6" fmla="*/ 6054570 w 7332955"/>
              <a:gd name="connsiteY6" fmla="*/ 20321 h 2952513"/>
              <a:gd name="connsiteX7" fmla="*/ 7332955 w 7332955"/>
              <a:gd name="connsiteY7" fmla="*/ 535224 h 2952513"/>
              <a:gd name="connsiteX0" fmla="*/ 0 w 7332955"/>
              <a:gd name="connsiteY0" fmla="*/ 2656987 h 2952513"/>
              <a:gd name="connsiteX1" fmla="*/ 674703 w 7332955"/>
              <a:gd name="connsiteY1" fmla="*/ 2834543 h 2952513"/>
              <a:gd name="connsiteX2" fmla="*/ 1162976 w 7332955"/>
              <a:gd name="connsiteY2" fmla="*/ 1041251 h 2952513"/>
              <a:gd name="connsiteX3" fmla="*/ 2636669 w 7332955"/>
              <a:gd name="connsiteY3" fmla="*/ 624002 h 2952513"/>
              <a:gd name="connsiteX4" fmla="*/ 3994952 w 7332955"/>
              <a:gd name="connsiteY4" fmla="*/ 1511769 h 2952513"/>
              <a:gd name="connsiteX5" fmla="*/ 4785064 w 7332955"/>
              <a:gd name="connsiteY5" fmla="*/ 180118 h 2952513"/>
              <a:gd name="connsiteX6" fmla="*/ 6054570 w 7332955"/>
              <a:gd name="connsiteY6" fmla="*/ 20321 h 2952513"/>
              <a:gd name="connsiteX7" fmla="*/ 7332955 w 7332955"/>
              <a:gd name="connsiteY7" fmla="*/ 535224 h 2952513"/>
              <a:gd name="connsiteX0" fmla="*/ 0 w 7332955"/>
              <a:gd name="connsiteY0" fmla="*/ 2672270 h 2967796"/>
              <a:gd name="connsiteX1" fmla="*/ 674703 w 7332955"/>
              <a:gd name="connsiteY1" fmla="*/ 2849826 h 2967796"/>
              <a:gd name="connsiteX2" fmla="*/ 1162976 w 7332955"/>
              <a:gd name="connsiteY2" fmla="*/ 1056534 h 2967796"/>
              <a:gd name="connsiteX3" fmla="*/ 2636669 w 7332955"/>
              <a:gd name="connsiteY3" fmla="*/ 639285 h 2967796"/>
              <a:gd name="connsiteX4" fmla="*/ 3994952 w 7332955"/>
              <a:gd name="connsiteY4" fmla="*/ 1527052 h 2967796"/>
              <a:gd name="connsiteX5" fmla="*/ 4785064 w 7332955"/>
              <a:gd name="connsiteY5" fmla="*/ 195401 h 2967796"/>
              <a:gd name="connsiteX6" fmla="*/ 6054570 w 7332955"/>
              <a:gd name="connsiteY6" fmla="*/ 35604 h 2967796"/>
              <a:gd name="connsiteX7" fmla="*/ 7332955 w 7332955"/>
              <a:gd name="connsiteY7" fmla="*/ 550507 h 2967796"/>
              <a:gd name="connsiteX0" fmla="*/ 0 w 7332955"/>
              <a:gd name="connsiteY0" fmla="*/ 2672270 h 2967796"/>
              <a:gd name="connsiteX1" fmla="*/ 674703 w 7332955"/>
              <a:gd name="connsiteY1" fmla="*/ 2849826 h 2967796"/>
              <a:gd name="connsiteX2" fmla="*/ 1305018 w 7332955"/>
              <a:gd name="connsiteY2" fmla="*/ 994390 h 2967796"/>
              <a:gd name="connsiteX3" fmla="*/ 2636669 w 7332955"/>
              <a:gd name="connsiteY3" fmla="*/ 639285 h 2967796"/>
              <a:gd name="connsiteX4" fmla="*/ 3994952 w 7332955"/>
              <a:gd name="connsiteY4" fmla="*/ 1527052 h 2967796"/>
              <a:gd name="connsiteX5" fmla="*/ 4785064 w 7332955"/>
              <a:gd name="connsiteY5" fmla="*/ 195401 h 2967796"/>
              <a:gd name="connsiteX6" fmla="*/ 6054570 w 7332955"/>
              <a:gd name="connsiteY6" fmla="*/ 35604 h 2967796"/>
              <a:gd name="connsiteX7" fmla="*/ 7332955 w 7332955"/>
              <a:gd name="connsiteY7" fmla="*/ 550507 h 2967796"/>
              <a:gd name="connsiteX0" fmla="*/ 0 w 7332955"/>
              <a:gd name="connsiteY0" fmla="*/ 2672270 h 2967796"/>
              <a:gd name="connsiteX1" fmla="*/ 674703 w 7332955"/>
              <a:gd name="connsiteY1" fmla="*/ 2849826 h 2967796"/>
              <a:gd name="connsiteX2" fmla="*/ 1305018 w 7332955"/>
              <a:gd name="connsiteY2" fmla="*/ 994390 h 2967796"/>
              <a:gd name="connsiteX3" fmla="*/ 2698813 w 7332955"/>
              <a:gd name="connsiteY3" fmla="*/ 630408 h 2967796"/>
              <a:gd name="connsiteX4" fmla="*/ 3994952 w 7332955"/>
              <a:gd name="connsiteY4" fmla="*/ 1527052 h 2967796"/>
              <a:gd name="connsiteX5" fmla="*/ 4785064 w 7332955"/>
              <a:gd name="connsiteY5" fmla="*/ 195401 h 2967796"/>
              <a:gd name="connsiteX6" fmla="*/ 6054570 w 7332955"/>
              <a:gd name="connsiteY6" fmla="*/ 35604 h 2967796"/>
              <a:gd name="connsiteX7" fmla="*/ 7332955 w 7332955"/>
              <a:gd name="connsiteY7" fmla="*/ 550507 h 2967796"/>
              <a:gd name="connsiteX0" fmla="*/ 0 w 7332955"/>
              <a:gd name="connsiteY0" fmla="*/ 2672270 h 2967796"/>
              <a:gd name="connsiteX1" fmla="*/ 674703 w 7332955"/>
              <a:gd name="connsiteY1" fmla="*/ 2849826 h 2967796"/>
              <a:gd name="connsiteX2" fmla="*/ 1305018 w 7332955"/>
              <a:gd name="connsiteY2" fmla="*/ 994390 h 2967796"/>
              <a:gd name="connsiteX3" fmla="*/ 2698813 w 7332955"/>
              <a:gd name="connsiteY3" fmla="*/ 630408 h 2967796"/>
              <a:gd name="connsiteX4" fmla="*/ 4065973 w 7332955"/>
              <a:gd name="connsiteY4" fmla="*/ 1518175 h 2967796"/>
              <a:gd name="connsiteX5" fmla="*/ 4785064 w 7332955"/>
              <a:gd name="connsiteY5" fmla="*/ 195401 h 2967796"/>
              <a:gd name="connsiteX6" fmla="*/ 6054570 w 7332955"/>
              <a:gd name="connsiteY6" fmla="*/ 35604 h 2967796"/>
              <a:gd name="connsiteX7" fmla="*/ 7332955 w 7332955"/>
              <a:gd name="connsiteY7" fmla="*/ 550507 h 2967796"/>
              <a:gd name="connsiteX0" fmla="*/ 0 w 7332955"/>
              <a:gd name="connsiteY0" fmla="*/ 2672270 h 2967796"/>
              <a:gd name="connsiteX1" fmla="*/ 674703 w 7332955"/>
              <a:gd name="connsiteY1" fmla="*/ 2849826 h 2967796"/>
              <a:gd name="connsiteX2" fmla="*/ 1305018 w 7332955"/>
              <a:gd name="connsiteY2" fmla="*/ 994390 h 2967796"/>
              <a:gd name="connsiteX3" fmla="*/ 2698813 w 7332955"/>
              <a:gd name="connsiteY3" fmla="*/ 630408 h 2967796"/>
              <a:gd name="connsiteX4" fmla="*/ 3400148 w 7332955"/>
              <a:gd name="connsiteY4" fmla="*/ 1518175 h 2967796"/>
              <a:gd name="connsiteX5" fmla="*/ 4785064 w 7332955"/>
              <a:gd name="connsiteY5" fmla="*/ 195401 h 2967796"/>
              <a:gd name="connsiteX6" fmla="*/ 6054570 w 7332955"/>
              <a:gd name="connsiteY6" fmla="*/ 35604 h 2967796"/>
              <a:gd name="connsiteX7" fmla="*/ 7332955 w 7332955"/>
              <a:gd name="connsiteY7" fmla="*/ 550507 h 2967796"/>
              <a:gd name="connsiteX0" fmla="*/ 0 w 7332955"/>
              <a:gd name="connsiteY0" fmla="*/ 2662319 h 2957845"/>
              <a:gd name="connsiteX1" fmla="*/ 674703 w 7332955"/>
              <a:gd name="connsiteY1" fmla="*/ 2839875 h 2957845"/>
              <a:gd name="connsiteX2" fmla="*/ 1305018 w 7332955"/>
              <a:gd name="connsiteY2" fmla="*/ 984439 h 2957845"/>
              <a:gd name="connsiteX3" fmla="*/ 2698813 w 7332955"/>
              <a:gd name="connsiteY3" fmla="*/ 620457 h 2957845"/>
              <a:gd name="connsiteX4" fmla="*/ 3400148 w 7332955"/>
              <a:gd name="connsiteY4" fmla="*/ 1508224 h 2957845"/>
              <a:gd name="connsiteX5" fmla="*/ 4101483 w 7332955"/>
              <a:gd name="connsiteY5" fmla="*/ 238716 h 2957845"/>
              <a:gd name="connsiteX6" fmla="*/ 6054570 w 7332955"/>
              <a:gd name="connsiteY6" fmla="*/ 25653 h 2957845"/>
              <a:gd name="connsiteX7" fmla="*/ 7332955 w 7332955"/>
              <a:gd name="connsiteY7" fmla="*/ 540556 h 2957845"/>
              <a:gd name="connsiteX0" fmla="*/ 0 w 7332955"/>
              <a:gd name="connsiteY0" fmla="*/ 2662319 h 2957845"/>
              <a:gd name="connsiteX1" fmla="*/ 674703 w 7332955"/>
              <a:gd name="connsiteY1" fmla="*/ 2839875 h 2957845"/>
              <a:gd name="connsiteX2" fmla="*/ 1305018 w 7332955"/>
              <a:gd name="connsiteY2" fmla="*/ 984439 h 2957845"/>
              <a:gd name="connsiteX3" fmla="*/ 2698813 w 7332955"/>
              <a:gd name="connsiteY3" fmla="*/ 620457 h 2957845"/>
              <a:gd name="connsiteX4" fmla="*/ 3373515 w 7332955"/>
              <a:gd name="connsiteY4" fmla="*/ 1525979 h 2957845"/>
              <a:gd name="connsiteX5" fmla="*/ 4101483 w 7332955"/>
              <a:gd name="connsiteY5" fmla="*/ 238716 h 2957845"/>
              <a:gd name="connsiteX6" fmla="*/ 6054570 w 7332955"/>
              <a:gd name="connsiteY6" fmla="*/ 25653 h 2957845"/>
              <a:gd name="connsiteX7" fmla="*/ 7332955 w 7332955"/>
              <a:gd name="connsiteY7" fmla="*/ 540556 h 2957845"/>
              <a:gd name="connsiteX0" fmla="*/ 0 w 7332955"/>
              <a:gd name="connsiteY0" fmla="*/ 2654769 h 2950295"/>
              <a:gd name="connsiteX1" fmla="*/ 674703 w 7332955"/>
              <a:gd name="connsiteY1" fmla="*/ 2832325 h 2950295"/>
              <a:gd name="connsiteX2" fmla="*/ 1305018 w 7332955"/>
              <a:gd name="connsiteY2" fmla="*/ 976889 h 2950295"/>
              <a:gd name="connsiteX3" fmla="*/ 2698813 w 7332955"/>
              <a:gd name="connsiteY3" fmla="*/ 612907 h 2950295"/>
              <a:gd name="connsiteX4" fmla="*/ 3373515 w 7332955"/>
              <a:gd name="connsiteY4" fmla="*/ 1518429 h 2950295"/>
              <a:gd name="connsiteX5" fmla="*/ 4101483 w 7332955"/>
              <a:gd name="connsiteY5" fmla="*/ 231166 h 2950295"/>
              <a:gd name="connsiteX6" fmla="*/ 5566299 w 7332955"/>
              <a:gd name="connsiteY6" fmla="*/ 26981 h 2950295"/>
              <a:gd name="connsiteX7" fmla="*/ 7332955 w 7332955"/>
              <a:gd name="connsiteY7" fmla="*/ 533006 h 2950295"/>
              <a:gd name="connsiteX0" fmla="*/ 0 w 7022236"/>
              <a:gd name="connsiteY0" fmla="*/ 2654769 h 2950295"/>
              <a:gd name="connsiteX1" fmla="*/ 674703 w 7022236"/>
              <a:gd name="connsiteY1" fmla="*/ 2832325 h 2950295"/>
              <a:gd name="connsiteX2" fmla="*/ 1305018 w 7022236"/>
              <a:gd name="connsiteY2" fmla="*/ 976889 h 2950295"/>
              <a:gd name="connsiteX3" fmla="*/ 2698813 w 7022236"/>
              <a:gd name="connsiteY3" fmla="*/ 612907 h 2950295"/>
              <a:gd name="connsiteX4" fmla="*/ 3373515 w 7022236"/>
              <a:gd name="connsiteY4" fmla="*/ 1518429 h 2950295"/>
              <a:gd name="connsiteX5" fmla="*/ 4101483 w 7022236"/>
              <a:gd name="connsiteY5" fmla="*/ 231166 h 2950295"/>
              <a:gd name="connsiteX6" fmla="*/ 5566299 w 7022236"/>
              <a:gd name="connsiteY6" fmla="*/ 26981 h 2950295"/>
              <a:gd name="connsiteX7" fmla="*/ 7022236 w 7022236"/>
              <a:gd name="connsiteY7" fmla="*/ 497496 h 295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22236" h="2950295">
                <a:moveTo>
                  <a:pt x="0" y="2654769"/>
                </a:moveTo>
                <a:cubicBezTo>
                  <a:pt x="208625" y="2842680"/>
                  <a:pt x="488272" y="3106053"/>
                  <a:pt x="674703" y="2832325"/>
                </a:cubicBezTo>
                <a:cubicBezTo>
                  <a:pt x="861134" y="2558597"/>
                  <a:pt x="967666" y="1346792"/>
                  <a:pt x="1305018" y="976889"/>
                </a:cubicBezTo>
                <a:cubicBezTo>
                  <a:pt x="1642370" y="606986"/>
                  <a:pt x="2354064" y="522650"/>
                  <a:pt x="2698813" y="612907"/>
                </a:cubicBezTo>
                <a:cubicBezTo>
                  <a:pt x="3043562" y="703164"/>
                  <a:pt x="3139737" y="1582052"/>
                  <a:pt x="3373515" y="1518429"/>
                </a:cubicBezTo>
                <a:cubicBezTo>
                  <a:pt x="3607293" y="1454806"/>
                  <a:pt x="3721223" y="494536"/>
                  <a:pt x="4101483" y="231166"/>
                </a:cubicBezTo>
                <a:cubicBezTo>
                  <a:pt x="4748073" y="29938"/>
                  <a:pt x="5045477" y="-45520"/>
                  <a:pt x="5566299" y="26981"/>
                </a:cubicBezTo>
                <a:cubicBezTo>
                  <a:pt x="6184776" y="126116"/>
                  <a:pt x="6763304" y="416118"/>
                  <a:pt x="7022236" y="497496"/>
                </a:cubicBezTo>
              </a:path>
            </a:pathLst>
          </a:custGeom>
          <a:ln w="19050">
            <a:tailEnd type="diamond" w="lg" len="lg"/>
          </a:ln>
        </p:spPr>
        <p:style>
          <a:lnRef idx="1">
            <a:schemeClr val="accent5"/>
          </a:lnRef>
          <a:fillRef idx="0">
            <a:schemeClr val="accent5"/>
          </a:fillRef>
          <a:effectRef idx="0">
            <a:schemeClr val="accent5"/>
          </a:effectRef>
          <a:fontRef idx="minor">
            <a:schemeClr val="tx1"/>
          </a:fontRef>
        </p:style>
        <p:txBody>
          <a:bodyPr rtlCol="0" anchor="ctr"/>
          <a:lstStyle/>
          <a:p>
            <a:pPr algn="ctr"/>
            <a:endParaRPr kumimoji="1" lang="ja-JP" altLang="en-US"/>
          </a:p>
        </p:txBody>
      </p:sp>
      <p:sp>
        <p:nvSpPr>
          <p:cNvPr id="85" name="フリーフォーム: 図形 84">
            <a:extLst>
              <a:ext uri="{FF2B5EF4-FFF2-40B4-BE49-F238E27FC236}">
                <a16:creationId xmlns:a16="http://schemas.microsoft.com/office/drawing/2014/main" id="{EDA062DA-B560-15EB-7310-2F748F972615}"/>
              </a:ext>
            </a:extLst>
          </p:cNvPr>
          <p:cNvSpPr/>
          <p:nvPr/>
        </p:nvSpPr>
        <p:spPr>
          <a:xfrm>
            <a:off x="442149" y="5037662"/>
            <a:ext cx="7034555" cy="457616"/>
          </a:xfrm>
          <a:custGeom>
            <a:avLst/>
            <a:gdLst>
              <a:gd name="connsiteX0" fmla="*/ 0 w 7386221"/>
              <a:gd name="connsiteY0" fmla="*/ 781359 h 1393918"/>
              <a:gd name="connsiteX1" fmla="*/ 310718 w 7386221"/>
              <a:gd name="connsiteY1" fmla="*/ 1127588 h 1393918"/>
              <a:gd name="connsiteX2" fmla="*/ 1793289 w 7386221"/>
              <a:gd name="connsiteY2" fmla="*/ 124 h 1393918"/>
              <a:gd name="connsiteX3" fmla="*/ 5086905 w 7386221"/>
              <a:gd name="connsiteY3" fmla="*/ 1056567 h 1393918"/>
              <a:gd name="connsiteX4" fmla="*/ 7386221 w 7386221"/>
              <a:gd name="connsiteY4" fmla="*/ 1393918 h 1393918"/>
              <a:gd name="connsiteX0" fmla="*/ 0 w 7325226"/>
              <a:gd name="connsiteY0" fmla="*/ 781359 h 1251876"/>
              <a:gd name="connsiteX1" fmla="*/ 310718 w 7325226"/>
              <a:gd name="connsiteY1" fmla="*/ 1127588 h 1251876"/>
              <a:gd name="connsiteX2" fmla="*/ 1793289 w 7325226"/>
              <a:gd name="connsiteY2" fmla="*/ 124 h 1251876"/>
              <a:gd name="connsiteX3" fmla="*/ 5086905 w 7325226"/>
              <a:gd name="connsiteY3" fmla="*/ 1056567 h 1251876"/>
              <a:gd name="connsiteX4" fmla="*/ 7325226 w 7325226"/>
              <a:gd name="connsiteY4" fmla="*/ 1251876 h 1251876"/>
              <a:gd name="connsiteX0" fmla="*/ 0 w 7325226"/>
              <a:gd name="connsiteY0" fmla="*/ 782089 h 1252606"/>
              <a:gd name="connsiteX1" fmla="*/ 310718 w 7325226"/>
              <a:gd name="connsiteY1" fmla="*/ 1128318 h 1252606"/>
              <a:gd name="connsiteX2" fmla="*/ 1793289 w 7325226"/>
              <a:gd name="connsiteY2" fmla="*/ 854 h 1252606"/>
              <a:gd name="connsiteX3" fmla="*/ 5117401 w 7325226"/>
              <a:gd name="connsiteY3" fmla="*/ 950765 h 1252606"/>
              <a:gd name="connsiteX4" fmla="*/ 7325226 w 7325226"/>
              <a:gd name="connsiteY4" fmla="*/ 1252606 h 1252606"/>
              <a:gd name="connsiteX0" fmla="*/ 0 w 7325226"/>
              <a:gd name="connsiteY0" fmla="*/ 782089 h 1172707"/>
              <a:gd name="connsiteX1" fmla="*/ 310718 w 7325226"/>
              <a:gd name="connsiteY1" fmla="*/ 1128318 h 1172707"/>
              <a:gd name="connsiteX2" fmla="*/ 1793289 w 7325226"/>
              <a:gd name="connsiteY2" fmla="*/ 854 h 1172707"/>
              <a:gd name="connsiteX3" fmla="*/ 5117401 w 7325226"/>
              <a:gd name="connsiteY3" fmla="*/ 950765 h 1172707"/>
              <a:gd name="connsiteX4" fmla="*/ 7325226 w 7325226"/>
              <a:gd name="connsiteY4" fmla="*/ 1172707 h 1172707"/>
              <a:gd name="connsiteX0" fmla="*/ 0 w 7325226"/>
              <a:gd name="connsiteY0" fmla="*/ 782754 h 1173372"/>
              <a:gd name="connsiteX1" fmla="*/ 310718 w 7325226"/>
              <a:gd name="connsiteY1" fmla="*/ 1128983 h 1173372"/>
              <a:gd name="connsiteX2" fmla="*/ 1793289 w 7325226"/>
              <a:gd name="connsiteY2" fmla="*/ 1519 h 1173372"/>
              <a:gd name="connsiteX3" fmla="*/ 5117401 w 7325226"/>
              <a:gd name="connsiteY3" fmla="*/ 898164 h 1173372"/>
              <a:gd name="connsiteX4" fmla="*/ 7325226 w 7325226"/>
              <a:gd name="connsiteY4" fmla="*/ 1173372 h 1173372"/>
              <a:gd name="connsiteX0" fmla="*/ 0 w 7325226"/>
              <a:gd name="connsiteY0" fmla="*/ 782287 h 1172905"/>
              <a:gd name="connsiteX1" fmla="*/ 310718 w 7325226"/>
              <a:gd name="connsiteY1" fmla="*/ 1128516 h 1172905"/>
              <a:gd name="connsiteX2" fmla="*/ 1793289 w 7325226"/>
              <a:gd name="connsiteY2" fmla="*/ 1052 h 1172905"/>
              <a:gd name="connsiteX3" fmla="*/ 3867017 w 7325226"/>
              <a:gd name="connsiteY3" fmla="*/ 933208 h 1172905"/>
              <a:gd name="connsiteX4" fmla="*/ 7325226 w 7325226"/>
              <a:gd name="connsiteY4" fmla="*/ 1172905 h 1172905"/>
              <a:gd name="connsiteX0" fmla="*/ 0 w 7325226"/>
              <a:gd name="connsiteY0" fmla="*/ 383958 h 774576"/>
              <a:gd name="connsiteX1" fmla="*/ 310718 w 7325226"/>
              <a:gd name="connsiteY1" fmla="*/ 730187 h 774576"/>
              <a:gd name="connsiteX2" fmla="*/ 1762791 w 7325226"/>
              <a:gd name="connsiteY2" fmla="*/ 2218 h 774576"/>
              <a:gd name="connsiteX3" fmla="*/ 3867017 w 7325226"/>
              <a:gd name="connsiteY3" fmla="*/ 534879 h 774576"/>
              <a:gd name="connsiteX4" fmla="*/ 7325226 w 7325226"/>
              <a:gd name="connsiteY4" fmla="*/ 774576 h 774576"/>
              <a:gd name="connsiteX0" fmla="*/ 0 w 7325226"/>
              <a:gd name="connsiteY0" fmla="*/ 381834 h 772452"/>
              <a:gd name="connsiteX1" fmla="*/ 859667 w 7325226"/>
              <a:gd name="connsiteY1" fmla="*/ 488366 h 772452"/>
              <a:gd name="connsiteX2" fmla="*/ 1762791 w 7325226"/>
              <a:gd name="connsiteY2" fmla="*/ 94 h 772452"/>
              <a:gd name="connsiteX3" fmla="*/ 3867017 w 7325226"/>
              <a:gd name="connsiteY3" fmla="*/ 532755 h 772452"/>
              <a:gd name="connsiteX4" fmla="*/ 7325226 w 7325226"/>
              <a:gd name="connsiteY4" fmla="*/ 772452 h 772452"/>
              <a:gd name="connsiteX0" fmla="*/ 0 w 7325226"/>
              <a:gd name="connsiteY0" fmla="*/ 381877 h 772495"/>
              <a:gd name="connsiteX1" fmla="*/ 981657 w 7325226"/>
              <a:gd name="connsiteY1" fmla="*/ 479531 h 772495"/>
              <a:gd name="connsiteX2" fmla="*/ 1762791 w 7325226"/>
              <a:gd name="connsiteY2" fmla="*/ 137 h 772495"/>
              <a:gd name="connsiteX3" fmla="*/ 3867017 w 7325226"/>
              <a:gd name="connsiteY3" fmla="*/ 532798 h 772495"/>
              <a:gd name="connsiteX4" fmla="*/ 7325226 w 7325226"/>
              <a:gd name="connsiteY4" fmla="*/ 772495 h 772495"/>
              <a:gd name="connsiteX0" fmla="*/ 0 w 7264233"/>
              <a:gd name="connsiteY0" fmla="*/ 381877 h 772495"/>
              <a:gd name="connsiteX1" fmla="*/ 920664 w 7264233"/>
              <a:gd name="connsiteY1" fmla="*/ 479531 h 772495"/>
              <a:gd name="connsiteX2" fmla="*/ 1701798 w 7264233"/>
              <a:gd name="connsiteY2" fmla="*/ 137 h 772495"/>
              <a:gd name="connsiteX3" fmla="*/ 3806024 w 7264233"/>
              <a:gd name="connsiteY3" fmla="*/ 532798 h 772495"/>
              <a:gd name="connsiteX4" fmla="*/ 7264233 w 7264233"/>
              <a:gd name="connsiteY4" fmla="*/ 772495 h 772495"/>
              <a:gd name="connsiteX0" fmla="*/ 0 w 7264233"/>
              <a:gd name="connsiteY0" fmla="*/ 381877 h 772495"/>
              <a:gd name="connsiteX1" fmla="*/ 920664 w 7264233"/>
              <a:gd name="connsiteY1" fmla="*/ 479531 h 772495"/>
              <a:gd name="connsiteX2" fmla="*/ 1701798 w 7264233"/>
              <a:gd name="connsiteY2" fmla="*/ 137 h 772495"/>
              <a:gd name="connsiteX3" fmla="*/ 3806024 w 7264233"/>
              <a:gd name="connsiteY3" fmla="*/ 532798 h 772495"/>
              <a:gd name="connsiteX4" fmla="*/ 7264233 w 7264233"/>
              <a:gd name="connsiteY4" fmla="*/ 772495 h 772495"/>
              <a:gd name="connsiteX0" fmla="*/ 0 w 7264233"/>
              <a:gd name="connsiteY0" fmla="*/ 0 h 390618"/>
              <a:gd name="connsiteX1" fmla="*/ 920664 w 7264233"/>
              <a:gd name="connsiteY1" fmla="*/ 97654 h 390618"/>
              <a:gd name="connsiteX2" fmla="*/ 2372737 w 7264233"/>
              <a:gd name="connsiteY2" fmla="*/ 168675 h 390618"/>
              <a:gd name="connsiteX3" fmla="*/ 3806024 w 7264233"/>
              <a:gd name="connsiteY3" fmla="*/ 150921 h 390618"/>
              <a:gd name="connsiteX4" fmla="*/ 7264233 w 7264233"/>
              <a:gd name="connsiteY4" fmla="*/ 390618 h 390618"/>
              <a:gd name="connsiteX0" fmla="*/ 0 w 7264233"/>
              <a:gd name="connsiteY0" fmla="*/ 0 h 390618"/>
              <a:gd name="connsiteX1" fmla="*/ 1012155 w 7264233"/>
              <a:gd name="connsiteY1" fmla="*/ 133165 h 390618"/>
              <a:gd name="connsiteX2" fmla="*/ 2372737 w 7264233"/>
              <a:gd name="connsiteY2" fmla="*/ 168675 h 390618"/>
              <a:gd name="connsiteX3" fmla="*/ 3806024 w 7264233"/>
              <a:gd name="connsiteY3" fmla="*/ 150921 h 390618"/>
              <a:gd name="connsiteX4" fmla="*/ 7264233 w 7264233"/>
              <a:gd name="connsiteY4" fmla="*/ 390618 h 390618"/>
              <a:gd name="connsiteX0" fmla="*/ 0 w 7264233"/>
              <a:gd name="connsiteY0" fmla="*/ 0 h 390618"/>
              <a:gd name="connsiteX1" fmla="*/ 2372737 w 7264233"/>
              <a:gd name="connsiteY1" fmla="*/ 168675 h 390618"/>
              <a:gd name="connsiteX2" fmla="*/ 3806024 w 7264233"/>
              <a:gd name="connsiteY2" fmla="*/ 150921 h 390618"/>
              <a:gd name="connsiteX3" fmla="*/ 7264233 w 7264233"/>
              <a:gd name="connsiteY3" fmla="*/ 390618 h 390618"/>
              <a:gd name="connsiteX0" fmla="*/ 0 w 7264233"/>
              <a:gd name="connsiteY0" fmla="*/ 0 h 390618"/>
              <a:gd name="connsiteX1" fmla="*/ 2357488 w 7264233"/>
              <a:gd name="connsiteY1" fmla="*/ 292963 h 390618"/>
              <a:gd name="connsiteX2" fmla="*/ 3806024 w 7264233"/>
              <a:gd name="connsiteY2" fmla="*/ 150921 h 390618"/>
              <a:gd name="connsiteX3" fmla="*/ 7264233 w 7264233"/>
              <a:gd name="connsiteY3" fmla="*/ 390618 h 390618"/>
              <a:gd name="connsiteX0" fmla="*/ 0 w 7264233"/>
              <a:gd name="connsiteY0" fmla="*/ 0 h 390618"/>
              <a:gd name="connsiteX1" fmla="*/ 2357488 w 7264233"/>
              <a:gd name="connsiteY1" fmla="*/ 292963 h 390618"/>
              <a:gd name="connsiteX2" fmla="*/ 4644696 w 7264233"/>
              <a:gd name="connsiteY2" fmla="*/ 133166 h 390618"/>
              <a:gd name="connsiteX3" fmla="*/ 7264233 w 7264233"/>
              <a:gd name="connsiteY3" fmla="*/ 390618 h 390618"/>
              <a:gd name="connsiteX0" fmla="*/ 0 w 7264233"/>
              <a:gd name="connsiteY0" fmla="*/ 0 h 390618"/>
              <a:gd name="connsiteX1" fmla="*/ 2357488 w 7264233"/>
              <a:gd name="connsiteY1" fmla="*/ 292963 h 390618"/>
              <a:gd name="connsiteX2" fmla="*/ 4644696 w 7264233"/>
              <a:gd name="connsiteY2" fmla="*/ 133166 h 390618"/>
              <a:gd name="connsiteX3" fmla="*/ 7264233 w 7264233"/>
              <a:gd name="connsiteY3" fmla="*/ 390618 h 390618"/>
              <a:gd name="connsiteX0" fmla="*/ 0 w 7264233"/>
              <a:gd name="connsiteY0" fmla="*/ 0 h 390618"/>
              <a:gd name="connsiteX1" fmla="*/ 2357488 w 7264233"/>
              <a:gd name="connsiteY1" fmla="*/ 292963 h 390618"/>
              <a:gd name="connsiteX2" fmla="*/ 4644696 w 7264233"/>
              <a:gd name="connsiteY2" fmla="*/ 133166 h 390618"/>
              <a:gd name="connsiteX3" fmla="*/ 7264233 w 7264233"/>
              <a:gd name="connsiteY3" fmla="*/ 390618 h 390618"/>
              <a:gd name="connsiteX0" fmla="*/ 0 w 12082785"/>
              <a:gd name="connsiteY0" fmla="*/ 0 h 408374"/>
              <a:gd name="connsiteX1" fmla="*/ 2357488 w 12082785"/>
              <a:gd name="connsiteY1" fmla="*/ 292963 h 408374"/>
              <a:gd name="connsiteX2" fmla="*/ 4644696 w 12082785"/>
              <a:gd name="connsiteY2" fmla="*/ 133166 h 408374"/>
              <a:gd name="connsiteX3" fmla="*/ 12082785 w 12082785"/>
              <a:gd name="connsiteY3" fmla="*/ 408374 h 408374"/>
              <a:gd name="connsiteX0" fmla="*/ 0 w 12082785"/>
              <a:gd name="connsiteY0" fmla="*/ 0 h 408374"/>
              <a:gd name="connsiteX1" fmla="*/ 2357488 w 12082785"/>
              <a:gd name="connsiteY1" fmla="*/ 292963 h 408374"/>
              <a:gd name="connsiteX2" fmla="*/ 4644696 w 12082785"/>
              <a:gd name="connsiteY2" fmla="*/ 133166 h 408374"/>
              <a:gd name="connsiteX3" fmla="*/ 6973134 w 12082785"/>
              <a:gd name="connsiteY3" fmla="*/ 217919 h 408374"/>
              <a:gd name="connsiteX4" fmla="*/ 12082785 w 12082785"/>
              <a:gd name="connsiteY4" fmla="*/ 408374 h 408374"/>
              <a:gd name="connsiteX0" fmla="*/ 0 w 12082785"/>
              <a:gd name="connsiteY0" fmla="*/ 0 h 430983"/>
              <a:gd name="connsiteX1" fmla="*/ 2357488 w 12082785"/>
              <a:gd name="connsiteY1" fmla="*/ 292963 h 430983"/>
              <a:gd name="connsiteX2" fmla="*/ 4644696 w 12082785"/>
              <a:gd name="connsiteY2" fmla="*/ 133166 h 430983"/>
              <a:gd name="connsiteX3" fmla="*/ 5997224 w 12082785"/>
              <a:gd name="connsiteY3" fmla="*/ 430983 h 430983"/>
              <a:gd name="connsiteX4" fmla="*/ 12082785 w 12082785"/>
              <a:gd name="connsiteY4" fmla="*/ 408374 h 430983"/>
              <a:gd name="connsiteX0" fmla="*/ 0 w 12082785"/>
              <a:gd name="connsiteY0" fmla="*/ 0 h 430983"/>
              <a:gd name="connsiteX1" fmla="*/ 2357488 w 12082785"/>
              <a:gd name="connsiteY1" fmla="*/ 292963 h 430983"/>
              <a:gd name="connsiteX2" fmla="*/ 4644696 w 12082785"/>
              <a:gd name="connsiteY2" fmla="*/ 133166 h 430983"/>
              <a:gd name="connsiteX3" fmla="*/ 5997224 w 12082785"/>
              <a:gd name="connsiteY3" fmla="*/ 430983 h 430983"/>
              <a:gd name="connsiteX4" fmla="*/ 12082785 w 12082785"/>
              <a:gd name="connsiteY4" fmla="*/ 408374 h 430983"/>
              <a:gd name="connsiteX0" fmla="*/ 0 w 12082785"/>
              <a:gd name="connsiteY0" fmla="*/ 0 h 408374"/>
              <a:gd name="connsiteX1" fmla="*/ 2357488 w 12082785"/>
              <a:gd name="connsiteY1" fmla="*/ 292963 h 408374"/>
              <a:gd name="connsiteX2" fmla="*/ 4644696 w 12082785"/>
              <a:gd name="connsiteY2" fmla="*/ 133166 h 408374"/>
              <a:gd name="connsiteX3" fmla="*/ 12082785 w 12082785"/>
              <a:gd name="connsiteY3" fmla="*/ 408374 h 408374"/>
              <a:gd name="connsiteX0" fmla="*/ 0 w 12082785"/>
              <a:gd name="connsiteY0" fmla="*/ 0 h 408374"/>
              <a:gd name="connsiteX1" fmla="*/ 2357488 w 12082785"/>
              <a:gd name="connsiteY1" fmla="*/ 292963 h 408374"/>
              <a:gd name="connsiteX2" fmla="*/ 4644696 w 12082785"/>
              <a:gd name="connsiteY2" fmla="*/ 133166 h 408374"/>
              <a:gd name="connsiteX3" fmla="*/ 5966728 w 12082785"/>
              <a:gd name="connsiteY3" fmla="*/ 146897 h 408374"/>
              <a:gd name="connsiteX4" fmla="*/ 12082785 w 12082785"/>
              <a:gd name="connsiteY4" fmla="*/ 408374 h 408374"/>
              <a:gd name="connsiteX0" fmla="*/ 0 w 12082785"/>
              <a:gd name="connsiteY0" fmla="*/ 0 h 457616"/>
              <a:gd name="connsiteX1" fmla="*/ 2357488 w 12082785"/>
              <a:gd name="connsiteY1" fmla="*/ 292963 h 457616"/>
              <a:gd name="connsiteX2" fmla="*/ 4644696 w 12082785"/>
              <a:gd name="connsiteY2" fmla="*/ 133166 h 457616"/>
              <a:gd name="connsiteX3" fmla="*/ 5844740 w 12082785"/>
              <a:gd name="connsiteY3" fmla="*/ 457616 h 457616"/>
              <a:gd name="connsiteX4" fmla="*/ 12082785 w 12082785"/>
              <a:gd name="connsiteY4" fmla="*/ 408374 h 457616"/>
              <a:gd name="connsiteX0" fmla="*/ 0 w 12082785"/>
              <a:gd name="connsiteY0" fmla="*/ 0 h 457616"/>
              <a:gd name="connsiteX1" fmla="*/ 2357488 w 12082785"/>
              <a:gd name="connsiteY1" fmla="*/ 292963 h 457616"/>
              <a:gd name="connsiteX2" fmla="*/ 4644696 w 12082785"/>
              <a:gd name="connsiteY2" fmla="*/ 133166 h 457616"/>
              <a:gd name="connsiteX3" fmla="*/ 5844740 w 12082785"/>
              <a:gd name="connsiteY3" fmla="*/ 457616 h 457616"/>
              <a:gd name="connsiteX4" fmla="*/ 7064625 w 12082785"/>
              <a:gd name="connsiteY4" fmla="*/ 457616 h 457616"/>
              <a:gd name="connsiteX5" fmla="*/ 12082785 w 12082785"/>
              <a:gd name="connsiteY5" fmla="*/ 408374 h 457616"/>
              <a:gd name="connsiteX0" fmla="*/ 0 w 12082785"/>
              <a:gd name="connsiteY0" fmla="*/ 0 h 457616"/>
              <a:gd name="connsiteX1" fmla="*/ 2357488 w 12082785"/>
              <a:gd name="connsiteY1" fmla="*/ 292963 h 457616"/>
              <a:gd name="connsiteX2" fmla="*/ 4644696 w 12082785"/>
              <a:gd name="connsiteY2" fmla="*/ 133166 h 457616"/>
              <a:gd name="connsiteX3" fmla="*/ 5844740 w 12082785"/>
              <a:gd name="connsiteY3" fmla="*/ 457616 h 457616"/>
              <a:gd name="connsiteX4" fmla="*/ 7034129 w 12082785"/>
              <a:gd name="connsiteY4" fmla="*/ 182408 h 457616"/>
              <a:gd name="connsiteX5" fmla="*/ 12082785 w 12082785"/>
              <a:gd name="connsiteY5" fmla="*/ 408374 h 457616"/>
              <a:gd name="connsiteX0" fmla="*/ 0 w 12082785"/>
              <a:gd name="connsiteY0" fmla="*/ 0 h 457616"/>
              <a:gd name="connsiteX1" fmla="*/ 2357488 w 12082785"/>
              <a:gd name="connsiteY1" fmla="*/ 292963 h 457616"/>
              <a:gd name="connsiteX2" fmla="*/ 4644696 w 12082785"/>
              <a:gd name="connsiteY2" fmla="*/ 133166 h 457616"/>
              <a:gd name="connsiteX3" fmla="*/ 5844740 w 12082785"/>
              <a:gd name="connsiteY3" fmla="*/ 457616 h 457616"/>
              <a:gd name="connsiteX4" fmla="*/ 7034129 w 12082785"/>
              <a:gd name="connsiteY4" fmla="*/ 155775 h 457616"/>
              <a:gd name="connsiteX5" fmla="*/ 12082785 w 12082785"/>
              <a:gd name="connsiteY5" fmla="*/ 408374 h 457616"/>
              <a:gd name="connsiteX0" fmla="*/ 0 w 12082785"/>
              <a:gd name="connsiteY0" fmla="*/ 0 h 457616"/>
              <a:gd name="connsiteX1" fmla="*/ 2357488 w 12082785"/>
              <a:gd name="connsiteY1" fmla="*/ 292963 h 457616"/>
              <a:gd name="connsiteX2" fmla="*/ 4644696 w 12082785"/>
              <a:gd name="connsiteY2" fmla="*/ 133166 h 457616"/>
              <a:gd name="connsiteX3" fmla="*/ 5844740 w 12082785"/>
              <a:gd name="connsiteY3" fmla="*/ 457616 h 457616"/>
              <a:gd name="connsiteX4" fmla="*/ 7034129 w 12082785"/>
              <a:gd name="connsiteY4" fmla="*/ 155775 h 457616"/>
              <a:gd name="connsiteX5" fmla="*/ 12082785 w 12082785"/>
              <a:gd name="connsiteY5" fmla="*/ 408374 h 457616"/>
              <a:gd name="connsiteX0" fmla="*/ 0 w 12082785"/>
              <a:gd name="connsiteY0" fmla="*/ 0 h 457616"/>
              <a:gd name="connsiteX1" fmla="*/ 2357488 w 12082785"/>
              <a:gd name="connsiteY1" fmla="*/ 292963 h 457616"/>
              <a:gd name="connsiteX2" fmla="*/ 4644696 w 12082785"/>
              <a:gd name="connsiteY2" fmla="*/ 133166 h 457616"/>
              <a:gd name="connsiteX3" fmla="*/ 5844740 w 12082785"/>
              <a:gd name="connsiteY3" fmla="*/ 457616 h 457616"/>
              <a:gd name="connsiteX4" fmla="*/ 7034129 w 12082785"/>
              <a:gd name="connsiteY4" fmla="*/ 155775 h 457616"/>
              <a:gd name="connsiteX5" fmla="*/ 12082785 w 12082785"/>
              <a:gd name="connsiteY5" fmla="*/ 408374 h 457616"/>
              <a:gd name="connsiteX0" fmla="*/ 0 w 12082785"/>
              <a:gd name="connsiteY0" fmla="*/ 0 h 457616"/>
              <a:gd name="connsiteX1" fmla="*/ 2357488 w 12082785"/>
              <a:gd name="connsiteY1" fmla="*/ 292963 h 457616"/>
              <a:gd name="connsiteX2" fmla="*/ 4644696 w 12082785"/>
              <a:gd name="connsiteY2" fmla="*/ 133166 h 457616"/>
              <a:gd name="connsiteX3" fmla="*/ 5844740 w 12082785"/>
              <a:gd name="connsiteY3" fmla="*/ 457616 h 457616"/>
              <a:gd name="connsiteX4" fmla="*/ 7034129 w 12082785"/>
              <a:gd name="connsiteY4" fmla="*/ 155775 h 457616"/>
              <a:gd name="connsiteX5" fmla="*/ 9290918 w 12082785"/>
              <a:gd name="connsiteY5" fmla="*/ 306695 h 457616"/>
              <a:gd name="connsiteX6" fmla="*/ 12082785 w 12082785"/>
              <a:gd name="connsiteY6" fmla="*/ 408374 h 457616"/>
              <a:gd name="connsiteX0" fmla="*/ 0 w 12082785"/>
              <a:gd name="connsiteY0" fmla="*/ 0 h 457616"/>
              <a:gd name="connsiteX1" fmla="*/ 2357488 w 12082785"/>
              <a:gd name="connsiteY1" fmla="*/ 292963 h 457616"/>
              <a:gd name="connsiteX2" fmla="*/ 4644696 w 12082785"/>
              <a:gd name="connsiteY2" fmla="*/ 133166 h 457616"/>
              <a:gd name="connsiteX3" fmla="*/ 5844740 w 12082785"/>
              <a:gd name="connsiteY3" fmla="*/ 457616 h 457616"/>
              <a:gd name="connsiteX4" fmla="*/ 7034129 w 12082785"/>
              <a:gd name="connsiteY4" fmla="*/ 155775 h 457616"/>
              <a:gd name="connsiteX5" fmla="*/ 9550145 w 12082785"/>
              <a:gd name="connsiteY5" fmla="*/ 342206 h 457616"/>
              <a:gd name="connsiteX6" fmla="*/ 12082785 w 12082785"/>
              <a:gd name="connsiteY6" fmla="*/ 408374 h 457616"/>
              <a:gd name="connsiteX0" fmla="*/ 0 w 12082785"/>
              <a:gd name="connsiteY0" fmla="*/ 0 h 457616"/>
              <a:gd name="connsiteX1" fmla="*/ 2357488 w 12082785"/>
              <a:gd name="connsiteY1" fmla="*/ 292963 h 457616"/>
              <a:gd name="connsiteX2" fmla="*/ 4644696 w 12082785"/>
              <a:gd name="connsiteY2" fmla="*/ 133166 h 457616"/>
              <a:gd name="connsiteX3" fmla="*/ 5844740 w 12082785"/>
              <a:gd name="connsiteY3" fmla="*/ 457616 h 457616"/>
              <a:gd name="connsiteX4" fmla="*/ 7034129 w 12082785"/>
              <a:gd name="connsiteY4" fmla="*/ 155775 h 457616"/>
              <a:gd name="connsiteX5" fmla="*/ 9550145 w 12082785"/>
              <a:gd name="connsiteY5" fmla="*/ 351084 h 457616"/>
              <a:gd name="connsiteX6" fmla="*/ 12082785 w 12082785"/>
              <a:gd name="connsiteY6" fmla="*/ 408374 h 457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2785" h="457616">
                <a:moveTo>
                  <a:pt x="0" y="0"/>
                </a:moveTo>
                <a:cubicBezTo>
                  <a:pt x="494320" y="35141"/>
                  <a:pt x="1583372" y="270769"/>
                  <a:pt x="2357488" y="292963"/>
                </a:cubicBezTo>
                <a:cubicBezTo>
                  <a:pt x="3131604" y="315157"/>
                  <a:pt x="4043156" y="157510"/>
                  <a:pt x="4644696" y="133166"/>
                </a:cubicBezTo>
                <a:cubicBezTo>
                  <a:pt x="5246236" y="108822"/>
                  <a:pt x="5441419" y="403541"/>
                  <a:pt x="5844740" y="457616"/>
                </a:cubicBezTo>
                <a:cubicBezTo>
                  <a:pt x="6241203" y="357002"/>
                  <a:pt x="6439434" y="87713"/>
                  <a:pt x="7034129" y="155775"/>
                </a:cubicBezTo>
                <a:cubicBezTo>
                  <a:pt x="7608492" y="130622"/>
                  <a:pt x="8708702" y="308984"/>
                  <a:pt x="9550145" y="351084"/>
                </a:cubicBezTo>
                <a:cubicBezTo>
                  <a:pt x="10391588" y="393184"/>
                  <a:pt x="11617474" y="391428"/>
                  <a:pt x="12082785" y="408374"/>
                </a:cubicBezTo>
              </a:path>
            </a:pathLst>
          </a:custGeom>
          <a:ln>
            <a:tailEnd type="diamond" w="lg" len="lg"/>
          </a:ln>
        </p:spPr>
        <p:style>
          <a:lnRef idx="3">
            <a:schemeClr val="accent3"/>
          </a:lnRef>
          <a:fillRef idx="0">
            <a:schemeClr val="accent3"/>
          </a:fillRef>
          <a:effectRef idx="2">
            <a:schemeClr val="accent3"/>
          </a:effectRef>
          <a:fontRef idx="minor">
            <a:schemeClr val="tx1"/>
          </a:fontRef>
        </p:style>
        <p:txBody>
          <a:bodyPr rtlCol="0" anchor="ctr"/>
          <a:lstStyle/>
          <a:p>
            <a:pPr algn="ctr"/>
            <a:endParaRPr kumimoji="1" lang="ja-JP" altLang="en-US"/>
          </a:p>
        </p:txBody>
      </p:sp>
      <p:sp>
        <p:nvSpPr>
          <p:cNvPr id="86" name="テキスト ボックス 85">
            <a:extLst>
              <a:ext uri="{FF2B5EF4-FFF2-40B4-BE49-F238E27FC236}">
                <a16:creationId xmlns:a16="http://schemas.microsoft.com/office/drawing/2014/main" id="{9714A5D1-15AC-11A5-2795-3A76A1010971}"/>
              </a:ext>
            </a:extLst>
          </p:cNvPr>
          <p:cNvSpPr txBox="1"/>
          <p:nvPr/>
        </p:nvSpPr>
        <p:spPr>
          <a:xfrm>
            <a:off x="7196883" y="5826370"/>
            <a:ext cx="466794" cy="261610"/>
          </a:xfrm>
          <a:prstGeom prst="rect">
            <a:avLst/>
          </a:prstGeom>
          <a:noFill/>
        </p:spPr>
        <p:txBody>
          <a:bodyPr wrap="non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srgbClr val="000000"/>
                </a:solidFill>
                <a:effectLst/>
                <a:uLnTx/>
                <a:uFillTx/>
                <a:latin typeface="Arial"/>
                <a:ea typeface="メイリオ"/>
                <a:cs typeface="+mn-cs"/>
              </a:rPr>
              <a:t>廃缶</a:t>
            </a:r>
            <a:endParaRPr kumimoji="1" lang="en-US" altLang="ja-JP" sz="1100" b="1"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87" name="フリーフォーム: 図形 86">
            <a:extLst>
              <a:ext uri="{FF2B5EF4-FFF2-40B4-BE49-F238E27FC236}">
                <a16:creationId xmlns:a16="http://schemas.microsoft.com/office/drawing/2014/main" id="{21FF8BCF-4DCC-BA8A-3642-FD1F8AEB6A70}"/>
              </a:ext>
            </a:extLst>
          </p:cNvPr>
          <p:cNvSpPr/>
          <p:nvPr/>
        </p:nvSpPr>
        <p:spPr>
          <a:xfrm>
            <a:off x="451027" y="3951496"/>
            <a:ext cx="7024610" cy="1437844"/>
          </a:xfrm>
          <a:custGeom>
            <a:avLst/>
            <a:gdLst>
              <a:gd name="connsiteX0" fmla="*/ 0 w 4237022"/>
              <a:gd name="connsiteY0" fmla="*/ 818918 h 1096756"/>
              <a:gd name="connsiteX1" fmla="*/ 344032 w 4237022"/>
              <a:gd name="connsiteY1" fmla="*/ 1072415 h 1096756"/>
              <a:gd name="connsiteX2" fmla="*/ 1176950 w 4237022"/>
              <a:gd name="connsiteY2" fmla="*/ 284763 h 1096756"/>
              <a:gd name="connsiteX3" fmla="*/ 2706986 w 4237022"/>
              <a:gd name="connsiteY3" fmla="*/ 13159 h 1096756"/>
              <a:gd name="connsiteX4" fmla="*/ 4237022 w 4237022"/>
              <a:gd name="connsiteY4" fmla="*/ 67480 h 1096756"/>
              <a:gd name="connsiteX0" fmla="*/ 0 w 7024610"/>
              <a:gd name="connsiteY0" fmla="*/ 805759 h 1083597"/>
              <a:gd name="connsiteX1" fmla="*/ 344032 w 7024610"/>
              <a:gd name="connsiteY1" fmla="*/ 1059256 h 1083597"/>
              <a:gd name="connsiteX2" fmla="*/ 1176950 w 7024610"/>
              <a:gd name="connsiteY2" fmla="*/ 271604 h 1083597"/>
              <a:gd name="connsiteX3" fmla="*/ 2706986 w 7024610"/>
              <a:gd name="connsiteY3" fmla="*/ 0 h 1083597"/>
              <a:gd name="connsiteX4" fmla="*/ 7024610 w 7024610"/>
              <a:gd name="connsiteY4" fmla="*/ 276263 h 1083597"/>
              <a:gd name="connsiteX0" fmla="*/ 0 w 7024610"/>
              <a:gd name="connsiteY0" fmla="*/ 805759 h 1093791"/>
              <a:gd name="connsiteX1" fmla="*/ 344032 w 7024610"/>
              <a:gd name="connsiteY1" fmla="*/ 1059256 h 1093791"/>
              <a:gd name="connsiteX2" fmla="*/ 1372259 w 7024610"/>
              <a:gd name="connsiteY2" fmla="*/ 111806 h 1093791"/>
              <a:gd name="connsiteX3" fmla="*/ 2706986 w 7024610"/>
              <a:gd name="connsiteY3" fmla="*/ 0 h 1093791"/>
              <a:gd name="connsiteX4" fmla="*/ 7024610 w 7024610"/>
              <a:gd name="connsiteY4" fmla="*/ 276263 h 1093791"/>
              <a:gd name="connsiteX0" fmla="*/ 0 w 7024610"/>
              <a:gd name="connsiteY0" fmla="*/ 797505 h 1085537"/>
              <a:gd name="connsiteX1" fmla="*/ 344032 w 7024610"/>
              <a:gd name="connsiteY1" fmla="*/ 1051002 h 1085537"/>
              <a:gd name="connsiteX2" fmla="*/ 1372259 w 7024610"/>
              <a:gd name="connsiteY2" fmla="*/ 103552 h 1085537"/>
              <a:gd name="connsiteX3" fmla="*/ 2715864 w 7024610"/>
              <a:gd name="connsiteY3" fmla="*/ 624 h 1085537"/>
              <a:gd name="connsiteX4" fmla="*/ 7024610 w 7024610"/>
              <a:gd name="connsiteY4" fmla="*/ 268009 h 1085537"/>
              <a:gd name="connsiteX0" fmla="*/ 0 w 7024610"/>
              <a:gd name="connsiteY0" fmla="*/ 796881 h 1079755"/>
              <a:gd name="connsiteX1" fmla="*/ 344032 w 7024610"/>
              <a:gd name="connsiteY1" fmla="*/ 1050378 h 1079755"/>
              <a:gd name="connsiteX2" fmla="*/ 1372259 w 7024610"/>
              <a:gd name="connsiteY2" fmla="*/ 182827 h 1079755"/>
              <a:gd name="connsiteX3" fmla="*/ 2715864 w 7024610"/>
              <a:gd name="connsiteY3" fmla="*/ 0 h 1079755"/>
              <a:gd name="connsiteX4" fmla="*/ 7024610 w 7024610"/>
              <a:gd name="connsiteY4" fmla="*/ 267385 h 1079755"/>
              <a:gd name="connsiteX0" fmla="*/ 0 w 7024610"/>
              <a:gd name="connsiteY0" fmla="*/ 796881 h 1071819"/>
              <a:gd name="connsiteX1" fmla="*/ 557096 w 7024610"/>
              <a:gd name="connsiteY1" fmla="*/ 1041500 h 1071819"/>
              <a:gd name="connsiteX2" fmla="*/ 1372259 w 7024610"/>
              <a:gd name="connsiteY2" fmla="*/ 182827 h 1071819"/>
              <a:gd name="connsiteX3" fmla="*/ 2715864 w 7024610"/>
              <a:gd name="connsiteY3" fmla="*/ 0 h 1071819"/>
              <a:gd name="connsiteX4" fmla="*/ 7024610 w 7024610"/>
              <a:gd name="connsiteY4" fmla="*/ 267385 h 1071819"/>
              <a:gd name="connsiteX0" fmla="*/ 0 w 7024610"/>
              <a:gd name="connsiteY0" fmla="*/ 796881 h 1071819"/>
              <a:gd name="connsiteX1" fmla="*/ 610362 w 7024610"/>
              <a:gd name="connsiteY1" fmla="*/ 1041500 h 1071819"/>
              <a:gd name="connsiteX2" fmla="*/ 1372259 w 7024610"/>
              <a:gd name="connsiteY2" fmla="*/ 182827 h 1071819"/>
              <a:gd name="connsiteX3" fmla="*/ 2715864 w 7024610"/>
              <a:gd name="connsiteY3" fmla="*/ 0 h 1071819"/>
              <a:gd name="connsiteX4" fmla="*/ 7024610 w 7024610"/>
              <a:gd name="connsiteY4" fmla="*/ 267385 h 1071819"/>
              <a:gd name="connsiteX0" fmla="*/ 0 w 7024610"/>
              <a:gd name="connsiteY0" fmla="*/ 796881 h 1041698"/>
              <a:gd name="connsiteX1" fmla="*/ 610362 w 7024610"/>
              <a:gd name="connsiteY1" fmla="*/ 1041500 h 1041698"/>
              <a:gd name="connsiteX2" fmla="*/ 1372259 w 7024610"/>
              <a:gd name="connsiteY2" fmla="*/ 182827 h 1041698"/>
              <a:gd name="connsiteX3" fmla="*/ 2715864 w 7024610"/>
              <a:gd name="connsiteY3" fmla="*/ 0 h 1041698"/>
              <a:gd name="connsiteX4" fmla="*/ 7024610 w 7024610"/>
              <a:gd name="connsiteY4" fmla="*/ 267385 h 1041698"/>
              <a:gd name="connsiteX0" fmla="*/ 0 w 7024610"/>
              <a:gd name="connsiteY0" fmla="*/ 796881 h 1041698"/>
              <a:gd name="connsiteX1" fmla="*/ 610362 w 7024610"/>
              <a:gd name="connsiteY1" fmla="*/ 1041500 h 1041698"/>
              <a:gd name="connsiteX2" fmla="*/ 1372259 w 7024610"/>
              <a:gd name="connsiteY2" fmla="*/ 182827 h 1041698"/>
              <a:gd name="connsiteX3" fmla="*/ 2715864 w 7024610"/>
              <a:gd name="connsiteY3" fmla="*/ 0 h 1041698"/>
              <a:gd name="connsiteX4" fmla="*/ 7024610 w 7024610"/>
              <a:gd name="connsiteY4" fmla="*/ 267385 h 1041698"/>
              <a:gd name="connsiteX0" fmla="*/ 0 w 7024610"/>
              <a:gd name="connsiteY0" fmla="*/ 796881 h 1112629"/>
              <a:gd name="connsiteX1" fmla="*/ 548218 w 7024610"/>
              <a:gd name="connsiteY1" fmla="*/ 1112522 h 1112629"/>
              <a:gd name="connsiteX2" fmla="*/ 1372259 w 7024610"/>
              <a:gd name="connsiteY2" fmla="*/ 182827 h 1112629"/>
              <a:gd name="connsiteX3" fmla="*/ 2715864 w 7024610"/>
              <a:gd name="connsiteY3" fmla="*/ 0 h 1112629"/>
              <a:gd name="connsiteX4" fmla="*/ 7024610 w 7024610"/>
              <a:gd name="connsiteY4" fmla="*/ 267385 h 1112629"/>
              <a:gd name="connsiteX0" fmla="*/ 0 w 7024610"/>
              <a:gd name="connsiteY0" fmla="*/ 796881 h 1112629"/>
              <a:gd name="connsiteX1" fmla="*/ 574851 w 7024610"/>
              <a:gd name="connsiteY1" fmla="*/ 1112522 h 1112629"/>
              <a:gd name="connsiteX2" fmla="*/ 1372259 w 7024610"/>
              <a:gd name="connsiteY2" fmla="*/ 182827 h 1112629"/>
              <a:gd name="connsiteX3" fmla="*/ 2715864 w 7024610"/>
              <a:gd name="connsiteY3" fmla="*/ 0 h 1112629"/>
              <a:gd name="connsiteX4" fmla="*/ 7024610 w 7024610"/>
              <a:gd name="connsiteY4" fmla="*/ 267385 h 1112629"/>
              <a:gd name="connsiteX0" fmla="*/ 0 w 7024610"/>
              <a:gd name="connsiteY0" fmla="*/ 796881 h 1148119"/>
              <a:gd name="connsiteX1" fmla="*/ 521585 w 7024610"/>
              <a:gd name="connsiteY1" fmla="*/ 1148032 h 1148119"/>
              <a:gd name="connsiteX2" fmla="*/ 1372259 w 7024610"/>
              <a:gd name="connsiteY2" fmla="*/ 182827 h 1148119"/>
              <a:gd name="connsiteX3" fmla="*/ 2715864 w 7024610"/>
              <a:gd name="connsiteY3" fmla="*/ 0 h 1148119"/>
              <a:gd name="connsiteX4" fmla="*/ 7024610 w 7024610"/>
              <a:gd name="connsiteY4" fmla="*/ 267385 h 1148119"/>
              <a:gd name="connsiteX0" fmla="*/ 0 w 7024610"/>
              <a:gd name="connsiteY0" fmla="*/ 796881 h 1219117"/>
              <a:gd name="connsiteX1" fmla="*/ 344031 w 7024610"/>
              <a:gd name="connsiteY1" fmla="*/ 1219054 h 1219117"/>
              <a:gd name="connsiteX2" fmla="*/ 1372259 w 7024610"/>
              <a:gd name="connsiteY2" fmla="*/ 182827 h 1219117"/>
              <a:gd name="connsiteX3" fmla="*/ 2715864 w 7024610"/>
              <a:gd name="connsiteY3" fmla="*/ 0 h 1219117"/>
              <a:gd name="connsiteX4" fmla="*/ 7024610 w 7024610"/>
              <a:gd name="connsiteY4" fmla="*/ 267385 h 1219117"/>
              <a:gd name="connsiteX0" fmla="*/ 0 w 7024610"/>
              <a:gd name="connsiteY0" fmla="*/ 796881 h 1219117"/>
              <a:gd name="connsiteX1" fmla="*/ 344031 w 7024610"/>
              <a:gd name="connsiteY1" fmla="*/ 1219054 h 1219117"/>
              <a:gd name="connsiteX2" fmla="*/ 1372259 w 7024610"/>
              <a:gd name="connsiteY2" fmla="*/ 182827 h 1219117"/>
              <a:gd name="connsiteX3" fmla="*/ 2715864 w 7024610"/>
              <a:gd name="connsiteY3" fmla="*/ 0 h 1219117"/>
              <a:gd name="connsiteX4" fmla="*/ 7024610 w 7024610"/>
              <a:gd name="connsiteY4" fmla="*/ 267385 h 1219117"/>
              <a:gd name="connsiteX0" fmla="*/ 0 w 7024610"/>
              <a:gd name="connsiteY0" fmla="*/ 796881 h 1219117"/>
              <a:gd name="connsiteX1" fmla="*/ 344031 w 7024610"/>
              <a:gd name="connsiteY1" fmla="*/ 1219054 h 1219117"/>
              <a:gd name="connsiteX2" fmla="*/ 1372259 w 7024610"/>
              <a:gd name="connsiteY2" fmla="*/ 182827 h 1219117"/>
              <a:gd name="connsiteX3" fmla="*/ 2715864 w 7024610"/>
              <a:gd name="connsiteY3" fmla="*/ 0 h 1219117"/>
              <a:gd name="connsiteX4" fmla="*/ 7024610 w 7024610"/>
              <a:gd name="connsiteY4" fmla="*/ 267385 h 1219117"/>
              <a:gd name="connsiteX0" fmla="*/ 0 w 7024610"/>
              <a:gd name="connsiteY0" fmla="*/ 796881 h 1219117"/>
              <a:gd name="connsiteX1" fmla="*/ 344031 w 7024610"/>
              <a:gd name="connsiteY1" fmla="*/ 1219054 h 1219117"/>
              <a:gd name="connsiteX2" fmla="*/ 1372259 w 7024610"/>
              <a:gd name="connsiteY2" fmla="*/ 182827 h 1219117"/>
              <a:gd name="connsiteX3" fmla="*/ 2715864 w 7024610"/>
              <a:gd name="connsiteY3" fmla="*/ 0 h 1219117"/>
              <a:gd name="connsiteX4" fmla="*/ 7024610 w 7024610"/>
              <a:gd name="connsiteY4" fmla="*/ 267385 h 1219117"/>
              <a:gd name="connsiteX0" fmla="*/ 0 w 7024610"/>
              <a:gd name="connsiteY0" fmla="*/ 796881 h 1227993"/>
              <a:gd name="connsiteX1" fmla="*/ 361786 w 7024610"/>
              <a:gd name="connsiteY1" fmla="*/ 1227932 h 1227993"/>
              <a:gd name="connsiteX2" fmla="*/ 1372259 w 7024610"/>
              <a:gd name="connsiteY2" fmla="*/ 182827 h 1227993"/>
              <a:gd name="connsiteX3" fmla="*/ 2715864 w 7024610"/>
              <a:gd name="connsiteY3" fmla="*/ 0 h 1227993"/>
              <a:gd name="connsiteX4" fmla="*/ 7024610 w 7024610"/>
              <a:gd name="connsiteY4" fmla="*/ 267385 h 1227993"/>
              <a:gd name="connsiteX0" fmla="*/ 0 w 7024610"/>
              <a:gd name="connsiteY0" fmla="*/ 796881 h 1148120"/>
              <a:gd name="connsiteX1" fmla="*/ 326276 w 7024610"/>
              <a:gd name="connsiteY1" fmla="*/ 1148033 h 1148120"/>
              <a:gd name="connsiteX2" fmla="*/ 1372259 w 7024610"/>
              <a:gd name="connsiteY2" fmla="*/ 182827 h 1148120"/>
              <a:gd name="connsiteX3" fmla="*/ 2715864 w 7024610"/>
              <a:gd name="connsiteY3" fmla="*/ 0 h 1148120"/>
              <a:gd name="connsiteX4" fmla="*/ 7024610 w 7024610"/>
              <a:gd name="connsiteY4" fmla="*/ 267385 h 1148120"/>
              <a:gd name="connsiteX0" fmla="*/ 0 w 7024610"/>
              <a:gd name="connsiteY0" fmla="*/ 867903 h 1219142"/>
              <a:gd name="connsiteX1" fmla="*/ 326276 w 7024610"/>
              <a:gd name="connsiteY1" fmla="*/ 1219055 h 1219142"/>
              <a:gd name="connsiteX2" fmla="*/ 1372259 w 7024610"/>
              <a:gd name="connsiteY2" fmla="*/ 253849 h 1219142"/>
              <a:gd name="connsiteX3" fmla="*/ 2751375 w 7024610"/>
              <a:gd name="connsiteY3" fmla="*/ 0 h 1219142"/>
              <a:gd name="connsiteX4" fmla="*/ 7024610 w 7024610"/>
              <a:gd name="connsiteY4" fmla="*/ 338407 h 1219142"/>
              <a:gd name="connsiteX0" fmla="*/ 0 w 7024610"/>
              <a:gd name="connsiteY0" fmla="*/ 867903 h 1219142"/>
              <a:gd name="connsiteX1" fmla="*/ 326276 w 7024610"/>
              <a:gd name="connsiteY1" fmla="*/ 1219055 h 1219142"/>
              <a:gd name="connsiteX2" fmla="*/ 1372259 w 7024610"/>
              <a:gd name="connsiteY2" fmla="*/ 253849 h 1219142"/>
              <a:gd name="connsiteX3" fmla="*/ 2751375 w 7024610"/>
              <a:gd name="connsiteY3" fmla="*/ 0 h 1219142"/>
              <a:gd name="connsiteX4" fmla="*/ 3456052 w 7024610"/>
              <a:gd name="connsiteY4" fmla="*/ 73327 h 1219142"/>
              <a:gd name="connsiteX5" fmla="*/ 7024610 w 7024610"/>
              <a:gd name="connsiteY5" fmla="*/ 338407 h 1219142"/>
              <a:gd name="connsiteX0" fmla="*/ 0 w 7024610"/>
              <a:gd name="connsiteY0" fmla="*/ 867903 h 1219142"/>
              <a:gd name="connsiteX1" fmla="*/ 326276 w 7024610"/>
              <a:gd name="connsiteY1" fmla="*/ 1219055 h 1219142"/>
              <a:gd name="connsiteX2" fmla="*/ 1372259 w 7024610"/>
              <a:gd name="connsiteY2" fmla="*/ 253849 h 1219142"/>
              <a:gd name="connsiteX3" fmla="*/ 2751375 w 7024610"/>
              <a:gd name="connsiteY3" fmla="*/ 0 h 1219142"/>
              <a:gd name="connsiteX4" fmla="*/ 3393909 w 7024610"/>
              <a:gd name="connsiteY4" fmla="*/ 650375 h 1219142"/>
              <a:gd name="connsiteX5" fmla="*/ 7024610 w 7024610"/>
              <a:gd name="connsiteY5" fmla="*/ 338407 h 1219142"/>
              <a:gd name="connsiteX0" fmla="*/ 0 w 7024610"/>
              <a:gd name="connsiteY0" fmla="*/ 867903 h 1219142"/>
              <a:gd name="connsiteX1" fmla="*/ 326276 w 7024610"/>
              <a:gd name="connsiteY1" fmla="*/ 1219055 h 1219142"/>
              <a:gd name="connsiteX2" fmla="*/ 1372259 w 7024610"/>
              <a:gd name="connsiteY2" fmla="*/ 253849 h 1219142"/>
              <a:gd name="connsiteX3" fmla="*/ 2751375 w 7024610"/>
              <a:gd name="connsiteY3" fmla="*/ 0 h 1219142"/>
              <a:gd name="connsiteX4" fmla="*/ 3420542 w 7024610"/>
              <a:gd name="connsiteY4" fmla="*/ 517210 h 1219142"/>
              <a:gd name="connsiteX5" fmla="*/ 7024610 w 7024610"/>
              <a:gd name="connsiteY5" fmla="*/ 338407 h 1219142"/>
              <a:gd name="connsiteX0" fmla="*/ 0 w 7024610"/>
              <a:gd name="connsiteY0" fmla="*/ 867903 h 1219142"/>
              <a:gd name="connsiteX1" fmla="*/ 326276 w 7024610"/>
              <a:gd name="connsiteY1" fmla="*/ 1219055 h 1219142"/>
              <a:gd name="connsiteX2" fmla="*/ 1372259 w 7024610"/>
              <a:gd name="connsiteY2" fmla="*/ 253849 h 1219142"/>
              <a:gd name="connsiteX3" fmla="*/ 2751375 w 7024610"/>
              <a:gd name="connsiteY3" fmla="*/ 0 h 1219142"/>
              <a:gd name="connsiteX4" fmla="*/ 3420542 w 7024610"/>
              <a:gd name="connsiteY4" fmla="*/ 517210 h 1219142"/>
              <a:gd name="connsiteX5" fmla="*/ 7024610 w 7024610"/>
              <a:gd name="connsiteY5" fmla="*/ 338407 h 1219142"/>
              <a:gd name="connsiteX0" fmla="*/ 0 w 7024610"/>
              <a:gd name="connsiteY0" fmla="*/ 867903 h 1219142"/>
              <a:gd name="connsiteX1" fmla="*/ 326276 w 7024610"/>
              <a:gd name="connsiteY1" fmla="*/ 1219055 h 1219142"/>
              <a:gd name="connsiteX2" fmla="*/ 1372259 w 7024610"/>
              <a:gd name="connsiteY2" fmla="*/ 253849 h 1219142"/>
              <a:gd name="connsiteX3" fmla="*/ 2751375 w 7024610"/>
              <a:gd name="connsiteY3" fmla="*/ 0 h 1219142"/>
              <a:gd name="connsiteX4" fmla="*/ 3420542 w 7024610"/>
              <a:gd name="connsiteY4" fmla="*/ 517210 h 1219142"/>
              <a:gd name="connsiteX5" fmla="*/ 7024610 w 7024610"/>
              <a:gd name="connsiteY5" fmla="*/ 338407 h 1219142"/>
              <a:gd name="connsiteX0" fmla="*/ 0 w 7024610"/>
              <a:gd name="connsiteY0" fmla="*/ 867903 h 1219142"/>
              <a:gd name="connsiteX1" fmla="*/ 326276 w 7024610"/>
              <a:gd name="connsiteY1" fmla="*/ 1219055 h 1219142"/>
              <a:gd name="connsiteX2" fmla="*/ 1372259 w 7024610"/>
              <a:gd name="connsiteY2" fmla="*/ 253849 h 1219142"/>
              <a:gd name="connsiteX3" fmla="*/ 2751375 w 7024610"/>
              <a:gd name="connsiteY3" fmla="*/ 0 h 1219142"/>
              <a:gd name="connsiteX4" fmla="*/ 3420542 w 7024610"/>
              <a:gd name="connsiteY4" fmla="*/ 517210 h 1219142"/>
              <a:gd name="connsiteX5" fmla="*/ 3962080 w 7024610"/>
              <a:gd name="connsiteY5" fmla="*/ 499455 h 1219142"/>
              <a:gd name="connsiteX6" fmla="*/ 7024610 w 7024610"/>
              <a:gd name="connsiteY6" fmla="*/ 338407 h 1219142"/>
              <a:gd name="connsiteX0" fmla="*/ 0 w 7024610"/>
              <a:gd name="connsiteY0" fmla="*/ 954375 h 1305614"/>
              <a:gd name="connsiteX1" fmla="*/ 326276 w 7024610"/>
              <a:gd name="connsiteY1" fmla="*/ 1305527 h 1305614"/>
              <a:gd name="connsiteX2" fmla="*/ 1372259 w 7024610"/>
              <a:gd name="connsiteY2" fmla="*/ 340321 h 1305614"/>
              <a:gd name="connsiteX3" fmla="*/ 2751375 w 7024610"/>
              <a:gd name="connsiteY3" fmla="*/ 86472 h 1305614"/>
              <a:gd name="connsiteX4" fmla="*/ 3420542 w 7024610"/>
              <a:gd name="connsiteY4" fmla="*/ 603682 h 1305614"/>
              <a:gd name="connsiteX5" fmla="*/ 4104123 w 7024610"/>
              <a:gd name="connsiteY5" fmla="*/ 0 h 1305614"/>
              <a:gd name="connsiteX6" fmla="*/ 7024610 w 7024610"/>
              <a:gd name="connsiteY6" fmla="*/ 424879 h 1305614"/>
              <a:gd name="connsiteX0" fmla="*/ 0 w 7024610"/>
              <a:gd name="connsiteY0" fmla="*/ 957842 h 1309081"/>
              <a:gd name="connsiteX1" fmla="*/ 326276 w 7024610"/>
              <a:gd name="connsiteY1" fmla="*/ 1308994 h 1309081"/>
              <a:gd name="connsiteX2" fmla="*/ 1372259 w 7024610"/>
              <a:gd name="connsiteY2" fmla="*/ 343788 h 1309081"/>
              <a:gd name="connsiteX3" fmla="*/ 2751375 w 7024610"/>
              <a:gd name="connsiteY3" fmla="*/ 89939 h 1309081"/>
              <a:gd name="connsiteX4" fmla="*/ 3420542 w 7024610"/>
              <a:gd name="connsiteY4" fmla="*/ 607149 h 1309081"/>
              <a:gd name="connsiteX5" fmla="*/ 4104123 w 7024610"/>
              <a:gd name="connsiteY5" fmla="*/ 3467 h 1309081"/>
              <a:gd name="connsiteX6" fmla="*/ 7024610 w 7024610"/>
              <a:gd name="connsiteY6" fmla="*/ 428346 h 1309081"/>
              <a:gd name="connsiteX0" fmla="*/ 0 w 7024610"/>
              <a:gd name="connsiteY0" fmla="*/ 957061 h 1308300"/>
              <a:gd name="connsiteX1" fmla="*/ 326276 w 7024610"/>
              <a:gd name="connsiteY1" fmla="*/ 1308213 h 1308300"/>
              <a:gd name="connsiteX2" fmla="*/ 1372259 w 7024610"/>
              <a:gd name="connsiteY2" fmla="*/ 343007 h 1308300"/>
              <a:gd name="connsiteX3" fmla="*/ 2751375 w 7024610"/>
              <a:gd name="connsiteY3" fmla="*/ 89158 h 1308300"/>
              <a:gd name="connsiteX4" fmla="*/ 3420542 w 7024610"/>
              <a:gd name="connsiteY4" fmla="*/ 748411 h 1308300"/>
              <a:gd name="connsiteX5" fmla="*/ 4104123 w 7024610"/>
              <a:gd name="connsiteY5" fmla="*/ 2686 h 1308300"/>
              <a:gd name="connsiteX6" fmla="*/ 7024610 w 7024610"/>
              <a:gd name="connsiteY6" fmla="*/ 427565 h 1308300"/>
              <a:gd name="connsiteX0" fmla="*/ 0 w 7024610"/>
              <a:gd name="connsiteY0" fmla="*/ 957061 h 1308300"/>
              <a:gd name="connsiteX1" fmla="*/ 326276 w 7024610"/>
              <a:gd name="connsiteY1" fmla="*/ 1308213 h 1308300"/>
              <a:gd name="connsiteX2" fmla="*/ 1372259 w 7024610"/>
              <a:gd name="connsiteY2" fmla="*/ 343007 h 1308300"/>
              <a:gd name="connsiteX3" fmla="*/ 2751375 w 7024610"/>
              <a:gd name="connsiteY3" fmla="*/ 89158 h 1308300"/>
              <a:gd name="connsiteX4" fmla="*/ 3420542 w 7024610"/>
              <a:gd name="connsiteY4" fmla="*/ 748411 h 1308300"/>
              <a:gd name="connsiteX5" fmla="*/ 4104123 w 7024610"/>
              <a:gd name="connsiteY5" fmla="*/ 2686 h 1308300"/>
              <a:gd name="connsiteX6" fmla="*/ 7024610 w 7024610"/>
              <a:gd name="connsiteY6" fmla="*/ 427565 h 1308300"/>
              <a:gd name="connsiteX0" fmla="*/ 0 w 7024610"/>
              <a:gd name="connsiteY0" fmla="*/ 957061 h 1308300"/>
              <a:gd name="connsiteX1" fmla="*/ 326276 w 7024610"/>
              <a:gd name="connsiteY1" fmla="*/ 1308213 h 1308300"/>
              <a:gd name="connsiteX2" fmla="*/ 1372259 w 7024610"/>
              <a:gd name="connsiteY2" fmla="*/ 343007 h 1308300"/>
              <a:gd name="connsiteX3" fmla="*/ 2751375 w 7024610"/>
              <a:gd name="connsiteY3" fmla="*/ 89158 h 1308300"/>
              <a:gd name="connsiteX4" fmla="*/ 3420542 w 7024610"/>
              <a:gd name="connsiteY4" fmla="*/ 748411 h 1308300"/>
              <a:gd name="connsiteX5" fmla="*/ 4104123 w 7024610"/>
              <a:gd name="connsiteY5" fmla="*/ 2686 h 1308300"/>
              <a:gd name="connsiteX6" fmla="*/ 5657715 w 7024610"/>
              <a:gd name="connsiteY6" fmla="*/ 233507 h 1308300"/>
              <a:gd name="connsiteX7" fmla="*/ 7024610 w 7024610"/>
              <a:gd name="connsiteY7" fmla="*/ 427565 h 1308300"/>
              <a:gd name="connsiteX0" fmla="*/ 0 w 7024610"/>
              <a:gd name="connsiteY0" fmla="*/ 1043151 h 1394390"/>
              <a:gd name="connsiteX1" fmla="*/ 326276 w 7024610"/>
              <a:gd name="connsiteY1" fmla="*/ 1394303 h 1394390"/>
              <a:gd name="connsiteX2" fmla="*/ 1372259 w 7024610"/>
              <a:gd name="connsiteY2" fmla="*/ 429097 h 1394390"/>
              <a:gd name="connsiteX3" fmla="*/ 2751375 w 7024610"/>
              <a:gd name="connsiteY3" fmla="*/ 175248 h 1394390"/>
              <a:gd name="connsiteX4" fmla="*/ 3420542 w 7024610"/>
              <a:gd name="connsiteY4" fmla="*/ 834501 h 1394390"/>
              <a:gd name="connsiteX5" fmla="*/ 4104123 w 7024610"/>
              <a:gd name="connsiteY5" fmla="*/ 88776 h 1394390"/>
              <a:gd name="connsiteX6" fmla="*/ 5542305 w 7024610"/>
              <a:gd name="connsiteY6" fmla="*/ 0 h 1394390"/>
              <a:gd name="connsiteX7" fmla="*/ 7024610 w 7024610"/>
              <a:gd name="connsiteY7" fmla="*/ 513655 h 1394390"/>
              <a:gd name="connsiteX0" fmla="*/ 0 w 7024610"/>
              <a:gd name="connsiteY0" fmla="*/ 1073578 h 1424817"/>
              <a:gd name="connsiteX1" fmla="*/ 326276 w 7024610"/>
              <a:gd name="connsiteY1" fmla="*/ 1424730 h 1424817"/>
              <a:gd name="connsiteX2" fmla="*/ 1372259 w 7024610"/>
              <a:gd name="connsiteY2" fmla="*/ 459524 h 1424817"/>
              <a:gd name="connsiteX3" fmla="*/ 2751375 w 7024610"/>
              <a:gd name="connsiteY3" fmla="*/ 205675 h 1424817"/>
              <a:gd name="connsiteX4" fmla="*/ 3420542 w 7024610"/>
              <a:gd name="connsiteY4" fmla="*/ 864928 h 1424817"/>
              <a:gd name="connsiteX5" fmla="*/ 4104123 w 7024610"/>
              <a:gd name="connsiteY5" fmla="*/ 119203 h 1424817"/>
              <a:gd name="connsiteX6" fmla="*/ 5542305 w 7024610"/>
              <a:gd name="connsiteY6" fmla="*/ 30427 h 1424817"/>
              <a:gd name="connsiteX7" fmla="*/ 7024610 w 7024610"/>
              <a:gd name="connsiteY7" fmla="*/ 544082 h 1424817"/>
              <a:gd name="connsiteX0" fmla="*/ 0 w 7024610"/>
              <a:gd name="connsiteY0" fmla="*/ 1073578 h 1424817"/>
              <a:gd name="connsiteX1" fmla="*/ 326276 w 7024610"/>
              <a:gd name="connsiteY1" fmla="*/ 1424730 h 1424817"/>
              <a:gd name="connsiteX2" fmla="*/ 1372259 w 7024610"/>
              <a:gd name="connsiteY2" fmla="*/ 459524 h 1424817"/>
              <a:gd name="connsiteX3" fmla="*/ 2751375 w 7024610"/>
              <a:gd name="connsiteY3" fmla="*/ 205675 h 1424817"/>
              <a:gd name="connsiteX4" fmla="*/ 3420542 w 7024610"/>
              <a:gd name="connsiteY4" fmla="*/ 864928 h 1424817"/>
              <a:gd name="connsiteX5" fmla="*/ 4104123 w 7024610"/>
              <a:gd name="connsiteY5" fmla="*/ 119203 h 1424817"/>
              <a:gd name="connsiteX6" fmla="*/ 5542305 w 7024610"/>
              <a:gd name="connsiteY6" fmla="*/ 30427 h 1424817"/>
              <a:gd name="connsiteX7" fmla="*/ 7024610 w 7024610"/>
              <a:gd name="connsiteY7" fmla="*/ 544082 h 1424817"/>
              <a:gd name="connsiteX0" fmla="*/ 0 w 7024610"/>
              <a:gd name="connsiteY0" fmla="*/ 1084789 h 1436028"/>
              <a:gd name="connsiteX1" fmla="*/ 326276 w 7024610"/>
              <a:gd name="connsiteY1" fmla="*/ 1435941 h 1436028"/>
              <a:gd name="connsiteX2" fmla="*/ 1372259 w 7024610"/>
              <a:gd name="connsiteY2" fmla="*/ 470735 h 1436028"/>
              <a:gd name="connsiteX3" fmla="*/ 2751375 w 7024610"/>
              <a:gd name="connsiteY3" fmla="*/ 216886 h 1436028"/>
              <a:gd name="connsiteX4" fmla="*/ 3420542 w 7024610"/>
              <a:gd name="connsiteY4" fmla="*/ 876139 h 1436028"/>
              <a:gd name="connsiteX5" fmla="*/ 4104123 w 7024610"/>
              <a:gd name="connsiteY5" fmla="*/ 130414 h 1436028"/>
              <a:gd name="connsiteX6" fmla="*/ 5542305 w 7024610"/>
              <a:gd name="connsiteY6" fmla="*/ 41638 h 1436028"/>
              <a:gd name="connsiteX7" fmla="*/ 7024610 w 7024610"/>
              <a:gd name="connsiteY7" fmla="*/ 555293 h 1436028"/>
              <a:gd name="connsiteX0" fmla="*/ 0 w 7024610"/>
              <a:gd name="connsiteY0" fmla="*/ 1084789 h 1436028"/>
              <a:gd name="connsiteX1" fmla="*/ 326276 w 7024610"/>
              <a:gd name="connsiteY1" fmla="*/ 1435941 h 1436028"/>
              <a:gd name="connsiteX2" fmla="*/ 1372259 w 7024610"/>
              <a:gd name="connsiteY2" fmla="*/ 470735 h 1436028"/>
              <a:gd name="connsiteX3" fmla="*/ 2751375 w 7024610"/>
              <a:gd name="connsiteY3" fmla="*/ 216886 h 1436028"/>
              <a:gd name="connsiteX4" fmla="*/ 3420542 w 7024610"/>
              <a:gd name="connsiteY4" fmla="*/ 876139 h 1436028"/>
              <a:gd name="connsiteX5" fmla="*/ 4104123 w 7024610"/>
              <a:gd name="connsiteY5" fmla="*/ 130414 h 1436028"/>
              <a:gd name="connsiteX6" fmla="*/ 5542305 w 7024610"/>
              <a:gd name="connsiteY6" fmla="*/ 41638 h 1436028"/>
              <a:gd name="connsiteX7" fmla="*/ 7024610 w 7024610"/>
              <a:gd name="connsiteY7" fmla="*/ 555293 h 1436028"/>
              <a:gd name="connsiteX0" fmla="*/ 0 w 7024610"/>
              <a:gd name="connsiteY0" fmla="*/ 1086605 h 1437844"/>
              <a:gd name="connsiteX1" fmla="*/ 326276 w 7024610"/>
              <a:gd name="connsiteY1" fmla="*/ 1437757 h 1437844"/>
              <a:gd name="connsiteX2" fmla="*/ 1372259 w 7024610"/>
              <a:gd name="connsiteY2" fmla="*/ 472551 h 1437844"/>
              <a:gd name="connsiteX3" fmla="*/ 2751375 w 7024610"/>
              <a:gd name="connsiteY3" fmla="*/ 218702 h 1437844"/>
              <a:gd name="connsiteX4" fmla="*/ 3420542 w 7024610"/>
              <a:gd name="connsiteY4" fmla="*/ 877955 h 1437844"/>
              <a:gd name="connsiteX5" fmla="*/ 4104123 w 7024610"/>
              <a:gd name="connsiteY5" fmla="*/ 132230 h 1437844"/>
              <a:gd name="connsiteX6" fmla="*/ 5542305 w 7024610"/>
              <a:gd name="connsiteY6" fmla="*/ 43454 h 1437844"/>
              <a:gd name="connsiteX7" fmla="*/ 7024610 w 7024610"/>
              <a:gd name="connsiteY7" fmla="*/ 557109 h 1437844"/>
              <a:gd name="connsiteX0" fmla="*/ 0 w 7024610"/>
              <a:gd name="connsiteY0" fmla="*/ 1086605 h 1437844"/>
              <a:gd name="connsiteX1" fmla="*/ 326276 w 7024610"/>
              <a:gd name="connsiteY1" fmla="*/ 1437757 h 1437844"/>
              <a:gd name="connsiteX2" fmla="*/ 1372259 w 7024610"/>
              <a:gd name="connsiteY2" fmla="*/ 472551 h 1437844"/>
              <a:gd name="connsiteX3" fmla="*/ 2751375 w 7024610"/>
              <a:gd name="connsiteY3" fmla="*/ 218702 h 1437844"/>
              <a:gd name="connsiteX4" fmla="*/ 3420542 w 7024610"/>
              <a:gd name="connsiteY4" fmla="*/ 877955 h 1437844"/>
              <a:gd name="connsiteX5" fmla="*/ 4104123 w 7024610"/>
              <a:gd name="connsiteY5" fmla="*/ 132230 h 1437844"/>
              <a:gd name="connsiteX6" fmla="*/ 5542305 w 7024610"/>
              <a:gd name="connsiteY6" fmla="*/ 43454 h 1437844"/>
              <a:gd name="connsiteX7" fmla="*/ 7024610 w 7024610"/>
              <a:gd name="connsiteY7" fmla="*/ 557109 h 1437844"/>
              <a:gd name="connsiteX0" fmla="*/ 0 w 7024610"/>
              <a:gd name="connsiteY0" fmla="*/ 1086605 h 1437844"/>
              <a:gd name="connsiteX1" fmla="*/ 326276 w 7024610"/>
              <a:gd name="connsiteY1" fmla="*/ 1437757 h 1437844"/>
              <a:gd name="connsiteX2" fmla="*/ 1372259 w 7024610"/>
              <a:gd name="connsiteY2" fmla="*/ 472551 h 1437844"/>
              <a:gd name="connsiteX3" fmla="*/ 2751375 w 7024610"/>
              <a:gd name="connsiteY3" fmla="*/ 218702 h 1437844"/>
              <a:gd name="connsiteX4" fmla="*/ 3420542 w 7024610"/>
              <a:gd name="connsiteY4" fmla="*/ 877955 h 1437844"/>
              <a:gd name="connsiteX5" fmla="*/ 4104123 w 7024610"/>
              <a:gd name="connsiteY5" fmla="*/ 132230 h 1437844"/>
              <a:gd name="connsiteX6" fmla="*/ 5542305 w 7024610"/>
              <a:gd name="connsiteY6" fmla="*/ 43454 h 1437844"/>
              <a:gd name="connsiteX7" fmla="*/ 7024610 w 7024610"/>
              <a:gd name="connsiteY7" fmla="*/ 557109 h 1437844"/>
              <a:gd name="connsiteX0" fmla="*/ 0 w 7024610"/>
              <a:gd name="connsiteY0" fmla="*/ 1086605 h 1437844"/>
              <a:gd name="connsiteX1" fmla="*/ 326276 w 7024610"/>
              <a:gd name="connsiteY1" fmla="*/ 1437757 h 1437844"/>
              <a:gd name="connsiteX2" fmla="*/ 1372259 w 7024610"/>
              <a:gd name="connsiteY2" fmla="*/ 472551 h 1437844"/>
              <a:gd name="connsiteX3" fmla="*/ 2751375 w 7024610"/>
              <a:gd name="connsiteY3" fmla="*/ 218702 h 1437844"/>
              <a:gd name="connsiteX4" fmla="*/ 3420542 w 7024610"/>
              <a:gd name="connsiteY4" fmla="*/ 877955 h 1437844"/>
              <a:gd name="connsiteX5" fmla="*/ 4104123 w 7024610"/>
              <a:gd name="connsiteY5" fmla="*/ 132230 h 1437844"/>
              <a:gd name="connsiteX6" fmla="*/ 5542305 w 7024610"/>
              <a:gd name="connsiteY6" fmla="*/ 43454 h 1437844"/>
              <a:gd name="connsiteX7" fmla="*/ 7024610 w 7024610"/>
              <a:gd name="connsiteY7" fmla="*/ 557109 h 1437844"/>
              <a:gd name="connsiteX0" fmla="*/ 0 w 7024610"/>
              <a:gd name="connsiteY0" fmla="*/ 1086605 h 1437844"/>
              <a:gd name="connsiteX1" fmla="*/ 326276 w 7024610"/>
              <a:gd name="connsiteY1" fmla="*/ 1437757 h 1437844"/>
              <a:gd name="connsiteX2" fmla="*/ 1372259 w 7024610"/>
              <a:gd name="connsiteY2" fmla="*/ 472551 h 1437844"/>
              <a:gd name="connsiteX3" fmla="*/ 2751375 w 7024610"/>
              <a:gd name="connsiteY3" fmla="*/ 218702 h 1437844"/>
              <a:gd name="connsiteX4" fmla="*/ 3385031 w 7024610"/>
              <a:gd name="connsiteY4" fmla="*/ 904588 h 1437844"/>
              <a:gd name="connsiteX5" fmla="*/ 4104123 w 7024610"/>
              <a:gd name="connsiteY5" fmla="*/ 132230 h 1437844"/>
              <a:gd name="connsiteX6" fmla="*/ 5542305 w 7024610"/>
              <a:gd name="connsiteY6" fmla="*/ 43454 h 1437844"/>
              <a:gd name="connsiteX7" fmla="*/ 7024610 w 7024610"/>
              <a:gd name="connsiteY7" fmla="*/ 557109 h 1437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24610" h="1437844">
                <a:moveTo>
                  <a:pt x="0" y="1086605"/>
                </a:moveTo>
                <a:cubicBezTo>
                  <a:pt x="207102" y="1257866"/>
                  <a:pt x="141955" y="1442445"/>
                  <a:pt x="326276" y="1437757"/>
                </a:cubicBezTo>
                <a:cubicBezTo>
                  <a:pt x="510597" y="1433069"/>
                  <a:pt x="968076" y="675727"/>
                  <a:pt x="1372259" y="472551"/>
                </a:cubicBezTo>
                <a:cubicBezTo>
                  <a:pt x="1776442" y="269375"/>
                  <a:pt x="2404076" y="248789"/>
                  <a:pt x="2751375" y="218702"/>
                </a:cubicBezTo>
                <a:cubicBezTo>
                  <a:pt x="3151985" y="222429"/>
                  <a:pt x="2993299" y="803206"/>
                  <a:pt x="3385031" y="904588"/>
                </a:cubicBezTo>
                <a:cubicBezTo>
                  <a:pt x="3701669" y="694483"/>
                  <a:pt x="3689831" y="244680"/>
                  <a:pt x="4104123" y="132230"/>
                </a:cubicBezTo>
                <a:cubicBezTo>
                  <a:pt x="4610150" y="22739"/>
                  <a:pt x="5098421" y="-51241"/>
                  <a:pt x="5542305" y="43454"/>
                </a:cubicBezTo>
                <a:lnTo>
                  <a:pt x="7024610" y="557109"/>
                </a:lnTo>
              </a:path>
            </a:pathLst>
          </a:custGeom>
          <a:ln w="28575">
            <a:tailEnd type="diamond" w="lg" len="lg"/>
          </a:ln>
        </p:spPr>
        <p:style>
          <a:lnRef idx="1">
            <a:schemeClr val="accent4"/>
          </a:lnRef>
          <a:fillRef idx="0">
            <a:schemeClr val="accent4"/>
          </a:fillRef>
          <a:effectRef idx="0">
            <a:schemeClr val="accent4"/>
          </a:effectRef>
          <a:fontRef idx="minor">
            <a:schemeClr val="tx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02CCD5A1-C33E-3D82-8097-810B1E9E5B54}"/>
              </a:ext>
            </a:extLst>
          </p:cNvPr>
          <p:cNvSpPr txBox="1"/>
          <p:nvPr/>
        </p:nvSpPr>
        <p:spPr>
          <a:xfrm>
            <a:off x="5292080" y="260648"/>
            <a:ext cx="2304256" cy="276999"/>
          </a:xfrm>
          <a:prstGeom prst="rect">
            <a:avLst/>
          </a:prstGeom>
          <a:noFill/>
        </p:spPr>
        <p:txBody>
          <a:bodyPr wrap="square" rtlCol="0">
            <a:spAutoFit/>
          </a:bodyPr>
          <a:lstStyle/>
          <a:p>
            <a:pPr algn="ctr"/>
            <a:r>
              <a:rPr kumimoji="1" lang="en-US" altLang="ja-JP" sz="1200" b="1" dirty="0">
                <a:highlight>
                  <a:srgbClr val="FFFF00"/>
                </a:highlight>
                <a:latin typeface="+mn-ea"/>
              </a:rPr>
              <a:t>※</a:t>
            </a:r>
            <a:r>
              <a:rPr kumimoji="1" lang="ja-JP" altLang="en-US" sz="1200" b="1" dirty="0">
                <a:highlight>
                  <a:srgbClr val="FFFF00"/>
                </a:highlight>
                <a:latin typeface="+mn-ea"/>
              </a:rPr>
              <a:t>今後ブラッシュアップ</a:t>
            </a:r>
          </a:p>
        </p:txBody>
      </p:sp>
      <p:sp>
        <p:nvSpPr>
          <p:cNvPr id="12" name="テキスト ボックス 11">
            <a:extLst>
              <a:ext uri="{FF2B5EF4-FFF2-40B4-BE49-F238E27FC236}">
                <a16:creationId xmlns:a16="http://schemas.microsoft.com/office/drawing/2014/main" id="{6495CCD4-0420-5CC8-8FB7-3AB798AEB0CA}"/>
              </a:ext>
            </a:extLst>
          </p:cNvPr>
          <p:cNvSpPr txBox="1"/>
          <p:nvPr/>
        </p:nvSpPr>
        <p:spPr>
          <a:xfrm>
            <a:off x="4552065" y="2419422"/>
            <a:ext cx="1576843" cy="1015663"/>
          </a:xfrm>
          <a:prstGeom prst="rect">
            <a:avLst/>
          </a:prstGeom>
          <a:noFill/>
        </p:spPr>
        <p:txBody>
          <a:bodyPr wrap="square" rtlCol="0">
            <a:spAutoFit/>
          </a:bodyPr>
          <a:lstStyle/>
          <a:p>
            <a:r>
              <a:rPr kumimoji="1" lang="ja-JP" altLang="en-US" sz="1200" b="1" dirty="0">
                <a:latin typeface="+mn-ea"/>
              </a:rPr>
              <a:t>ランク</a:t>
            </a:r>
            <a:r>
              <a:rPr lang="en-US" altLang="ja-JP" sz="1200" b="1" dirty="0">
                <a:latin typeface="+mn-ea"/>
              </a:rPr>
              <a:t>A-2</a:t>
            </a: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能動的拡販</a:t>
            </a:r>
            <a:r>
              <a:rPr kumimoji="1" lang="en-US" altLang="ja-JP" sz="1200" b="0" i="0" kern="1200" dirty="0">
                <a:solidFill>
                  <a:schemeClr val="tx1"/>
                </a:solidFill>
                <a:effectLst/>
                <a:latin typeface="+mn-lt"/>
                <a:ea typeface="+mn-ea"/>
                <a:cs typeface="+mn-cs"/>
              </a:rPr>
              <a:t>)</a:t>
            </a:r>
          </a:p>
          <a:p>
            <a:r>
              <a:rPr kumimoji="1" lang="ja-JP" altLang="en-US" sz="1200" dirty="0">
                <a:latin typeface="+mn-ea"/>
              </a:rPr>
              <a:t>予備品拡販</a:t>
            </a:r>
            <a:endParaRPr kumimoji="1" lang="en-US" altLang="ja-JP" sz="1200" dirty="0">
              <a:latin typeface="+mn-ea"/>
            </a:endParaRPr>
          </a:p>
          <a:p>
            <a:r>
              <a:rPr kumimoji="1" lang="ja-JP" altLang="en-US" sz="1200" dirty="0">
                <a:latin typeface="+mn-ea"/>
              </a:rPr>
              <a:t>消耗品パーツ拡販</a:t>
            </a:r>
            <a:endParaRPr kumimoji="1" lang="en-US" altLang="ja-JP" sz="1200" dirty="0">
              <a:latin typeface="+mn-ea"/>
            </a:endParaRPr>
          </a:p>
          <a:p>
            <a:r>
              <a:rPr kumimoji="1" lang="en-US" altLang="ja-JP" sz="1200" dirty="0">
                <a:latin typeface="+mn-ea"/>
              </a:rPr>
              <a:t>Etc...</a:t>
            </a:r>
            <a:endParaRPr kumimoji="1" lang="ja-JP" altLang="en-US" sz="1200" dirty="0">
              <a:latin typeface="+mn-ea"/>
            </a:endParaRPr>
          </a:p>
        </p:txBody>
      </p:sp>
      <p:sp>
        <p:nvSpPr>
          <p:cNvPr id="14" name="テキスト ボックス 13">
            <a:extLst>
              <a:ext uri="{FF2B5EF4-FFF2-40B4-BE49-F238E27FC236}">
                <a16:creationId xmlns:a16="http://schemas.microsoft.com/office/drawing/2014/main" id="{FD4DDFDB-BC27-1C44-95FB-7108E04B9B97}"/>
              </a:ext>
            </a:extLst>
          </p:cNvPr>
          <p:cNvSpPr txBox="1"/>
          <p:nvPr/>
        </p:nvSpPr>
        <p:spPr>
          <a:xfrm>
            <a:off x="6019518" y="2418843"/>
            <a:ext cx="1453712" cy="1200329"/>
          </a:xfrm>
          <a:prstGeom prst="rect">
            <a:avLst/>
          </a:prstGeom>
          <a:noFill/>
        </p:spPr>
        <p:txBody>
          <a:bodyPr wrap="square" rtlCol="0">
            <a:spAutoFit/>
          </a:bodyPr>
          <a:lstStyle/>
          <a:p>
            <a:r>
              <a:rPr kumimoji="1" lang="ja-JP" altLang="en-US" sz="1200" b="1" dirty="0">
                <a:latin typeface="+mn-ea"/>
              </a:rPr>
              <a:t>ランク</a:t>
            </a:r>
            <a:r>
              <a:rPr lang="en-US" altLang="ja-JP" sz="1200" b="1" dirty="0">
                <a:latin typeface="+mn-ea"/>
              </a:rPr>
              <a:t>B-2</a:t>
            </a: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b="0" i="0" kern="1200" dirty="0">
                <a:solidFill>
                  <a:schemeClr val="tx1"/>
                </a:solidFill>
                <a:effectLst/>
                <a:latin typeface="+mn-lt"/>
                <a:ea typeface="+mn-ea"/>
                <a:cs typeface="+mn-cs"/>
              </a:rPr>
              <a:t>受動的営業活動</a:t>
            </a:r>
            <a:endParaRPr kumimoji="1" lang="en-US" altLang="ja-JP" sz="1200" b="0" i="0" kern="1200" dirty="0">
              <a:solidFill>
                <a:schemeClr val="tx1"/>
              </a:solidFill>
              <a:effectLst/>
              <a:latin typeface="+mn-lt"/>
              <a:ea typeface="+mn-ea"/>
              <a:cs typeface="+mn-cs"/>
            </a:endParaRP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b="0" i="0" kern="1200" dirty="0">
                <a:solidFill>
                  <a:schemeClr val="tx1"/>
                </a:solidFill>
                <a:effectLst/>
                <a:latin typeface="+mn-lt"/>
                <a:ea typeface="+mn-ea"/>
                <a:cs typeface="+mn-cs"/>
              </a:rPr>
              <a:t>粗利率</a:t>
            </a:r>
            <a:r>
              <a:rPr kumimoji="1" lang="en-US" altLang="ja-JP" sz="1200" b="0" i="0" kern="1200" dirty="0">
                <a:solidFill>
                  <a:schemeClr val="tx1"/>
                </a:solidFill>
                <a:effectLst/>
                <a:latin typeface="+mn-lt"/>
                <a:ea typeface="+mn-ea"/>
                <a:cs typeface="+mn-cs"/>
              </a:rPr>
              <a:t>UP</a:t>
            </a:r>
            <a:r>
              <a:rPr kumimoji="1" lang="ja-JP" altLang="en-US" sz="1200" b="0" i="0" kern="1200" dirty="0">
                <a:solidFill>
                  <a:schemeClr val="tx1"/>
                </a:solidFill>
                <a:effectLst/>
                <a:latin typeface="+mn-lt"/>
                <a:ea typeface="+mn-ea"/>
                <a:cs typeface="+mn-cs"/>
              </a:rPr>
              <a:t>施策</a:t>
            </a:r>
            <a:endParaRPr kumimoji="1" lang="en-US" altLang="ja-JP" sz="1200" b="0" i="0" kern="1200" dirty="0">
              <a:solidFill>
                <a:schemeClr val="tx1"/>
              </a:solidFill>
              <a:effectLst/>
              <a:latin typeface="+mn-lt"/>
              <a:ea typeface="+mn-ea"/>
              <a:cs typeface="+mn-cs"/>
            </a:endParaRP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200" dirty="0"/>
              <a:t>販管費減施策</a:t>
            </a:r>
            <a:endParaRPr lang="en-US" altLang="ja-JP" sz="1200" dirty="0"/>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提案簡素化、技術照会有償化等</a:t>
            </a:r>
            <a:r>
              <a:rPr kumimoji="1" lang="en-US" altLang="ja-JP" sz="1200" b="0" i="0" kern="1200" dirty="0">
                <a:solidFill>
                  <a:schemeClr val="tx1"/>
                </a:solidFill>
                <a:effectLst/>
                <a:latin typeface="+mn-lt"/>
                <a:ea typeface="+mn-ea"/>
                <a:cs typeface="+mn-cs"/>
              </a:rPr>
              <a:t>)</a:t>
            </a:r>
          </a:p>
        </p:txBody>
      </p:sp>
      <p:sp>
        <p:nvSpPr>
          <p:cNvPr id="16" name="テキスト ボックス 15">
            <a:extLst>
              <a:ext uri="{FF2B5EF4-FFF2-40B4-BE49-F238E27FC236}">
                <a16:creationId xmlns:a16="http://schemas.microsoft.com/office/drawing/2014/main" id="{361EE787-D4B2-5EAA-402A-56C497599BB0}"/>
              </a:ext>
            </a:extLst>
          </p:cNvPr>
          <p:cNvSpPr txBox="1"/>
          <p:nvPr/>
        </p:nvSpPr>
        <p:spPr>
          <a:xfrm>
            <a:off x="422801" y="2132149"/>
            <a:ext cx="1337395" cy="276999"/>
          </a:xfrm>
          <a:prstGeom prst="rect">
            <a:avLst/>
          </a:prstGeom>
          <a:noFill/>
        </p:spPr>
        <p:txBody>
          <a:bodyPr wrap="square">
            <a:spAutoFit/>
          </a:bodyPr>
          <a:lstStyle/>
          <a:p>
            <a:r>
              <a:rPr lang="ja-JP" altLang="en-US" sz="1200" b="1" dirty="0">
                <a:highlight>
                  <a:srgbClr val="FFFF00"/>
                </a:highlight>
                <a:latin typeface="+mn-ea"/>
              </a:rPr>
              <a:t>①</a:t>
            </a:r>
            <a:r>
              <a:rPr lang="en-US" altLang="ja-JP" sz="1200" b="1" dirty="0">
                <a:highlight>
                  <a:srgbClr val="FFFF00"/>
                </a:highlight>
                <a:latin typeface="+mn-ea"/>
              </a:rPr>
              <a:t>AS</a:t>
            </a:r>
            <a:r>
              <a:rPr lang="ja-JP" altLang="en-US" sz="1200" b="1" dirty="0">
                <a:highlight>
                  <a:srgbClr val="FFFF00"/>
                </a:highlight>
                <a:latin typeface="+mn-ea"/>
              </a:rPr>
              <a:t>立上り期</a:t>
            </a:r>
            <a:endParaRPr lang="en-US" altLang="ja-JP" sz="1200" b="1" dirty="0">
              <a:highlight>
                <a:srgbClr val="FFFF00"/>
              </a:highlight>
              <a:latin typeface="+mn-ea"/>
            </a:endParaRPr>
          </a:p>
        </p:txBody>
      </p:sp>
      <p:sp>
        <p:nvSpPr>
          <p:cNvPr id="17" name="テキスト ボックス 16">
            <a:extLst>
              <a:ext uri="{FF2B5EF4-FFF2-40B4-BE49-F238E27FC236}">
                <a16:creationId xmlns:a16="http://schemas.microsoft.com/office/drawing/2014/main" id="{1A164841-5014-FD09-03AC-4C00DD00D857}"/>
              </a:ext>
            </a:extLst>
          </p:cNvPr>
          <p:cNvSpPr txBox="1"/>
          <p:nvPr/>
        </p:nvSpPr>
        <p:spPr>
          <a:xfrm>
            <a:off x="1781553" y="2133562"/>
            <a:ext cx="1368518" cy="276999"/>
          </a:xfrm>
          <a:prstGeom prst="rect">
            <a:avLst/>
          </a:prstGeom>
          <a:noFill/>
        </p:spPr>
        <p:txBody>
          <a:bodyPr wrap="square">
            <a:spAutoFit/>
          </a:bodyPr>
          <a:lstStyle/>
          <a:p>
            <a:r>
              <a:rPr lang="ja-JP" altLang="en-US" sz="1200" b="1" dirty="0">
                <a:highlight>
                  <a:srgbClr val="FFFF00"/>
                </a:highlight>
                <a:latin typeface="+mn-ea"/>
              </a:rPr>
              <a:t>②定検中心期</a:t>
            </a:r>
            <a:endParaRPr lang="en-US" altLang="ja-JP" sz="1200" b="1" dirty="0">
              <a:highlight>
                <a:srgbClr val="FFFF00"/>
              </a:highlight>
              <a:latin typeface="+mn-ea"/>
            </a:endParaRPr>
          </a:p>
        </p:txBody>
      </p:sp>
      <p:sp>
        <p:nvSpPr>
          <p:cNvPr id="20" name="テキスト ボックス 19">
            <a:extLst>
              <a:ext uri="{FF2B5EF4-FFF2-40B4-BE49-F238E27FC236}">
                <a16:creationId xmlns:a16="http://schemas.microsoft.com/office/drawing/2014/main" id="{C4FD6EF6-F205-4BB4-E4A8-9BCC589065E2}"/>
              </a:ext>
            </a:extLst>
          </p:cNvPr>
          <p:cNvSpPr txBox="1"/>
          <p:nvPr/>
        </p:nvSpPr>
        <p:spPr>
          <a:xfrm>
            <a:off x="4532836" y="2106917"/>
            <a:ext cx="1238541" cy="276999"/>
          </a:xfrm>
          <a:prstGeom prst="rect">
            <a:avLst/>
          </a:prstGeom>
          <a:noFill/>
        </p:spPr>
        <p:txBody>
          <a:bodyPr wrap="square">
            <a:spAutoFit/>
          </a:bodyPr>
          <a:lstStyle/>
          <a:p>
            <a:r>
              <a:rPr lang="ja-JP" altLang="en-US" sz="1200" b="1" dirty="0">
                <a:highlight>
                  <a:srgbClr val="FFFF00"/>
                </a:highlight>
                <a:latin typeface="+mn-ea"/>
              </a:rPr>
              <a:t>②定検中心期</a:t>
            </a:r>
            <a:endParaRPr lang="en-US" altLang="ja-JP" sz="1200" b="1" dirty="0">
              <a:highlight>
                <a:srgbClr val="FFFF00"/>
              </a:highlight>
              <a:latin typeface="+mn-ea"/>
            </a:endParaRPr>
          </a:p>
        </p:txBody>
      </p:sp>
      <p:sp>
        <p:nvSpPr>
          <p:cNvPr id="21" name="テキスト ボックス 20">
            <a:extLst>
              <a:ext uri="{FF2B5EF4-FFF2-40B4-BE49-F238E27FC236}">
                <a16:creationId xmlns:a16="http://schemas.microsoft.com/office/drawing/2014/main" id="{08FFDCEC-3A97-C18F-468D-1D8761DF3FC6}"/>
              </a:ext>
            </a:extLst>
          </p:cNvPr>
          <p:cNvSpPr txBox="1"/>
          <p:nvPr/>
        </p:nvSpPr>
        <p:spPr>
          <a:xfrm>
            <a:off x="5981700" y="2119473"/>
            <a:ext cx="1211482" cy="276999"/>
          </a:xfrm>
          <a:prstGeom prst="rect">
            <a:avLst/>
          </a:prstGeom>
          <a:noFill/>
        </p:spPr>
        <p:txBody>
          <a:bodyPr wrap="square">
            <a:spAutoFit/>
          </a:bodyPr>
          <a:lstStyle/>
          <a:p>
            <a:r>
              <a:rPr lang="ja-JP" altLang="en-US" sz="1200" b="1" dirty="0">
                <a:highlight>
                  <a:srgbClr val="FFFF00"/>
                </a:highlight>
                <a:latin typeface="+mn-ea"/>
              </a:rPr>
              <a:t>④廃缶決定後</a:t>
            </a:r>
            <a:endParaRPr lang="en-US" altLang="ja-JP" sz="1200" b="1" dirty="0">
              <a:highlight>
                <a:srgbClr val="FFFF00"/>
              </a:highlight>
              <a:latin typeface="+mn-ea"/>
            </a:endParaRPr>
          </a:p>
        </p:txBody>
      </p:sp>
      <p:sp>
        <p:nvSpPr>
          <p:cNvPr id="23" name="テキスト ボックス 22">
            <a:extLst>
              <a:ext uri="{FF2B5EF4-FFF2-40B4-BE49-F238E27FC236}">
                <a16:creationId xmlns:a16="http://schemas.microsoft.com/office/drawing/2014/main" id="{4E8A8D91-34D5-4D33-6729-341CF0DF1AD4}"/>
              </a:ext>
            </a:extLst>
          </p:cNvPr>
          <p:cNvSpPr txBox="1"/>
          <p:nvPr/>
        </p:nvSpPr>
        <p:spPr>
          <a:xfrm>
            <a:off x="7545530" y="2374014"/>
            <a:ext cx="1542026" cy="738664"/>
          </a:xfrm>
          <a:prstGeom prst="rect">
            <a:avLst/>
          </a:prstGeom>
          <a:solidFill>
            <a:srgbClr val="FFFF00"/>
          </a:solidFill>
          <a:ln>
            <a:solidFill>
              <a:schemeClr val="tx1"/>
            </a:solidFill>
          </a:ln>
        </p:spPr>
        <p:txBody>
          <a:bodyPr wrap="square" rtlCol="0">
            <a:spAutoFit/>
          </a:bodyPr>
          <a:lstStyle/>
          <a:p>
            <a:r>
              <a:rPr kumimoji="1" lang="ja-JP" altLang="en-US" sz="1050" b="1" dirty="0"/>
              <a:t>〇〇発電所</a:t>
            </a:r>
            <a:endParaRPr kumimoji="1" lang="en-US" altLang="ja-JP" sz="1050" b="1" dirty="0"/>
          </a:p>
          <a:p>
            <a:r>
              <a:rPr kumimoji="1" lang="ja-JP" altLang="en-US" sz="1050" b="1" dirty="0"/>
              <a:t>営利率高い発電所は</a:t>
            </a:r>
            <a:endParaRPr kumimoji="1" lang="en-US" altLang="ja-JP" sz="1050" b="1" dirty="0"/>
          </a:p>
          <a:p>
            <a:r>
              <a:rPr kumimoji="1" lang="ja-JP" altLang="en-US" sz="1050" b="1" dirty="0"/>
              <a:t>能動的拡販を継続し、</a:t>
            </a:r>
            <a:endParaRPr kumimoji="1" lang="en-US" altLang="ja-JP" sz="1050" b="1" dirty="0"/>
          </a:p>
          <a:p>
            <a:r>
              <a:rPr lang="ja-JP" altLang="en-US" sz="1050" b="1" dirty="0">
                <a:solidFill>
                  <a:srgbClr val="FF0000"/>
                </a:solidFill>
              </a:rPr>
              <a:t>売上高拡大に努める</a:t>
            </a:r>
            <a:endParaRPr kumimoji="1" lang="ja-JP" altLang="en-US" sz="1050" b="1" dirty="0">
              <a:solidFill>
                <a:srgbClr val="FF0000"/>
              </a:solidFill>
            </a:endParaRPr>
          </a:p>
        </p:txBody>
      </p:sp>
      <p:sp>
        <p:nvSpPr>
          <p:cNvPr id="27" name="正方形/長方形 26">
            <a:extLst>
              <a:ext uri="{FF2B5EF4-FFF2-40B4-BE49-F238E27FC236}">
                <a16:creationId xmlns:a16="http://schemas.microsoft.com/office/drawing/2014/main" id="{1D720671-76F4-DD8E-7F24-9BB2B00F46EE}"/>
              </a:ext>
            </a:extLst>
          </p:cNvPr>
          <p:cNvSpPr/>
          <p:nvPr/>
        </p:nvSpPr>
        <p:spPr>
          <a:xfrm>
            <a:off x="4559919" y="3620511"/>
            <a:ext cx="1421781" cy="1377606"/>
          </a:xfrm>
          <a:prstGeom prst="rect">
            <a:avLst/>
          </a:prstGeom>
          <a:solidFill>
            <a:schemeClr val="accent4">
              <a:alpha val="50000"/>
            </a:schemeClr>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srgbClr val="000000"/>
              </a:solidFill>
              <a:effectLst/>
              <a:uLnTx/>
              <a:uFillTx/>
              <a:latin typeface="メイリオ"/>
              <a:ea typeface="メイリオ"/>
              <a:cs typeface="+mn-cs"/>
            </a:endParaRPr>
          </a:p>
        </p:txBody>
      </p:sp>
      <p:cxnSp>
        <p:nvCxnSpPr>
          <p:cNvPr id="28" name="直線コネクタ 27">
            <a:extLst>
              <a:ext uri="{FF2B5EF4-FFF2-40B4-BE49-F238E27FC236}">
                <a16:creationId xmlns:a16="http://schemas.microsoft.com/office/drawing/2014/main" id="{F929651B-9824-D5D6-7319-77C1BC663BB2}"/>
              </a:ext>
            </a:extLst>
          </p:cNvPr>
          <p:cNvCxnSpPr>
            <a:cxnSpLocks/>
          </p:cNvCxnSpPr>
          <p:nvPr/>
        </p:nvCxnSpPr>
        <p:spPr>
          <a:xfrm flipH="1" flipV="1">
            <a:off x="7499896" y="1963944"/>
            <a:ext cx="854" cy="3805343"/>
          </a:xfrm>
          <a:prstGeom prst="line">
            <a:avLst/>
          </a:prstGeom>
          <a:ln w="19050">
            <a:prstDash val="solid"/>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05DB86A2-3412-DDDF-6CBD-80D0856C158F}"/>
              </a:ext>
            </a:extLst>
          </p:cNvPr>
          <p:cNvSpPr txBox="1"/>
          <p:nvPr/>
        </p:nvSpPr>
        <p:spPr>
          <a:xfrm>
            <a:off x="3158269" y="2113282"/>
            <a:ext cx="1676952" cy="276999"/>
          </a:xfrm>
          <a:prstGeom prst="rect">
            <a:avLst/>
          </a:prstGeom>
          <a:noFill/>
        </p:spPr>
        <p:txBody>
          <a:bodyPr wrap="square">
            <a:spAutoFit/>
          </a:bodyPr>
          <a:lstStyle/>
          <a:p>
            <a:r>
              <a:rPr lang="ja-JP" altLang="en-US" sz="1200" b="1" dirty="0">
                <a:highlight>
                  <a:srgbClr val="FFFF00"/>
                </a:highlight>
                <a:latin typeface="+mn-ea"/>
              </a:rPr>
              <a:t>③大型改造検討期</a:t>
            </a:r>
            <a:endParaRPr lang="en-US" altLang="ja-JP" sz="1200" b="1" dirty="0">
              <a:highlight>
                <a:srgbClr val="FFFF00"/>
              </a:highlight>
              <a:latin typeface="+mn-ea"/>
            </a:endParaRPr>
          </a:p>
        </p:txBody>
      </p:sp>
      <p:sp>
        <p:nvSpPr>
          <p:cNvPr id="38" name="テキスト ボックス 37">
            <a:extLst>
              <a:ext uri="{FF2B5EF4-FFF2-40B4-BE49-F238E27FC236}">
                <a16:creationId xmlns:a16="http://schemas.microsoft.com/office/drawing/2014/main" id="{8D03E485-5C42-822A-EAC3-3870D509816B}"/>
              </a:ext>
            </a:extLst>
          </p:cNvPr>
          <p:cNvSpPr txBox="1"/>
          <p:nvPr/>
        </p:nvSpPr>
        <p:spPr>
          <a:xfrm>
            <a:off x="1770654" y="5081014"/>
            <a:ext cx="1453712" cy="461665"/>
          </a:xfrm>
          <a:prstGeom prst="rect">
            <a:avLst/>
          </a:prstGeom>
          <a:noFill/>
        </p:spPr>
        <p:txBody>
          <a:bodyPr wrap="square" rtlCol="0">
            <a:spAutoFit/>
          </a:bodyPr>
          <a:lstStyle/>
          <a:p>
            <a:r>
              <a:rPr kumimoji="1" lang="ja-JP" altLang="en-US" sz="1200" b="1" dirty="0">
                <a:latin typeface="+mn-ea"/>
              </a:rPr>
              <a:t>ランク</a:t>
            </a:r>
            <a:r>
              <a:rPr lang="en-US" altLang="ja-JP" sz="1200" b="1" dirty="0">
                <a:latin typeface="+mn-ea"/>
              </a:rPr>
              <a:t>C</a:t>
            </a:r>
          </a:p>
          <a:p>
            <a:r>
              <a:rPr lang="ja-JP" altLang="en-US" sz="1200" b="1" dirty="0">
                <a:latin typeface="+mn-ea"/>
              </a:rPr>
              <a:t>突発対応のみ</a:t>
            </a:r>
            <a:endParaRPr lang="en-US" altLang="ja-JP" sz="1200" b="1" dirty="0">
              <a:latin typeface="+mn-ea"/>
            </a:endParaRPr>
          </a:p>
        </p:txBody>
      </p:sp>
      <p:sp>
        <p:nvSpPr>
          <p:cNvPr id="39" name="テキスト ボックス 38">
            <a:extLst>
              <a:ext uri="{FF2B5EF4-FFF2-40B4-BE49-F238E27FC236}">
                <a16:creationId xmlns:a16="http://schemas.microsoft.com/office/drawing/2014/main" id="{461BBBC5-AC1D-4D76-6BBA-BB8C090D73CA}"/>
              </a:ext>
            </a:extLst>
          </p:cNvPr>
          <p:cNvSpPr txBox="1"/>
          <p:nvPr/>
        </p:nvSpPr>
        <p:spPr>
          <a:xfrm>
            <a:off x="7540519" y="3933709"/>
            <a:ext cx="1547892" cy="738664"/>
          </a:xfrm>
          <a:prstGeom prst="rect">
            <a:avLst/>
          </a:prstGeom>
          <a:solidFill>
            <a:srgbClr val="FFFF00"/>
          </a:solidFill>
          <a:ln>
            <a:solidFill>
              <a:schemeClr val="tx1"/>
            </a:solidFill>
          </a:ln>
        </p:spPr>
        <p:txBody>
          <a:bodyPr wrap="square" rtlCol="0">
            <a:spAutoFit/>
          </a:bodyPr>
          <a:lstStyle/>
          <a:p>
            <a:r>
              <a:rPr kumimoji="1" lang="ja-JP" altLang="en-US" sz="1050" b="1" dirty="0"/>
              <a:t>▲▲発電所</a:t>
            </a:r>
            <a:endParaRPr kumimoji="1" lang="en-US" altLang="ja-JP" sz="1050" b="1" dirty="0"/>
          </a:p>
          <a:p>
            <a:r>
              <a:rPr kumimoji="1" lang="ja-JP" altLang="en-US" sz="1050" b="1" dirty="0"/>
              <a:t>営利率の低い発電所は</a:t>
            </a:r>
            <a:endParaRPr kumimoji="1" lang="en-US" altLang="ja-JP" sz="1050" b="1" dirty="0"/>
          </a:p>
          <a:p>
            <a:r>
              <a:rPr lang="ja-JP" altLang="en-US" sz="1050" b="1" dirty="0"/>
              <a:t>能動的営業活動は控え、</a:t>
            </a:r>
            <a:endParaRPr lang="en-US" altLang="ja-JP" sz="1050" b="1" dirty="0"/>
          </a:p>
          <a:p>
            <a:r>
              <a:rPr kumimoji="1" lang="en-US" altLang="ja-JP" sz="1050" b="1" dirty="0">
                <a:solidFill>
                  <a:srgbClr val="FF0000"/>
                </a:solidFill>
              </a:rPr>
              <a:t>A</a:t>
            </a:r>
            <a:r>
              <a:rPr kumimoji="1" lang="ja-JP" altLang="en-US" sz="1050" b="1" dirty="0">
                <a:solidFill>
                  <a:srgbClr val="FF0000"/>
                </a:solidFill>
              </a:rPr>
              <a:t>ランク格上げを狙う</a:t>
            </a:r>
          </a:p>
        </p:txBody>
      </p:sp>
      <p:sp>
        <p:nvSpPr>
          <p:cNvPr id="46" name="テキスト ボックス 45">
            <a:extLst>
              <a:ext uri="{FF2B5EF4-FFF2-40B4-BE49-F238E27FC236}">
                <a16:creationId xmlns:a16="http://schemas.microsoft.com/office/drawing/2014/main" id="{3A14F54C-8717-ED2E-88B7-E22B8A63CC90}"/>
              </a:ext>
            </a:extLst>
          </p:cNvPr>
          <p:cNvSpPr txBox="1"/>
          <p:nvPr/>
        </p:nvSpPr>
        <p:spPr>
          <a:xfrm>
            <a:off x="7678446" y="5140728"/>
            <a:ext cx="1458050" cy="1061829"/>
          </a:xfrm>
          <a:prstGeom prst="rect">
            <a:avLst/>
          </a:prstGeom>
          <a:solidFill>
            <a:srgbClr val="FFFF00"/>
          </a:solidFill>
          <a:ln>
            <a:solidFill>
              <a:schemeClr val="tx1"/>
            </a:solidFill>
          </a:ln>
        </p:spPr>
        <p:txBody>
          <a:bodyPr wrap="square" rtlCol="0">
            <a:spAutoFit/>
          </a:bodyPr>
          <a:lstStyle/>
          <a:p>
            <a:r>
              <a:rPr lang="ja-JP" altLang="en-US" sz="1050" b="1" dirty="0"/>
              <a:t>□□発電所</a:t>
            </a:r>
            <a:endParaRPr kumimoji="1" lang="en-US" altLang="ja-JP" sz="1050" b="1" dirty="0"/>
          </a:p>
          <a:p>
            <a:r>
              <a:rPr kumimoji="1" lang="ja-JP" altLang="en-US" sz="1050" b="1" dirty="0"/>
              <a:t>①③④以外の期間で</a:t>
            </a:r>
            <a:endParaRPr kumimoji="1" lang="en-US" altLang="ja-JP" sz="1050" b="1" dirty="0"/>
          </a:p>
          <a:p>
            <a:r>
              <a:rPr kumimoji="1" lang="ja-JP" altLang="en-US" sz="1050" b="1" dirty="0"/>
              <a:t>営利率マイナスの発電所は突発対応のみ、</a:t>
            </a:r>
            <a:r>
              <a:rPr kumimoji="1" lang="ja-JP" altLang="en-US" sz="1050" b="1" dirty="0">
                <a:solidFill>
                  <a:srgbClr val="FF0000"/>
                </a:solidFill>
              </a:rPr>
              <a:t>無償対応は最小限</a:t>
            </a:r>
            <a:r>
              <a:rPr kumimoji="1" lang="ja-JP" altLang="en-US" sz="1050" b="1" dirty="0"/>
              <a:t>とする</a:t>
            </a:r>
          </a:p>
        </p:txBody>
      </p:sp>
      <p:sp>
        <p:nvSpPr>
          <p:cNvPr id="5" name="テキスト ボックス 4">
            <a:extLst>
              <a:ext uri="{FF2B5EF4-FFF2-40B4-BE49-F238E27FC236}">
                <a16:creationId xmlns:a16="http://schemas.microsoft.com/office/drawing/2014/main" id="{67A86BDF-C32C-6C55-C15B-FFF8A9F43AA9}"/>
              </a:ext>
            </a:extLst>
          </p:cNvPr>
          <p:cNvSpPr txBox="1"/>
          <p:nvPr/>
        </p:nvSpPr>
        <p:spPr>
          <a:xfrm>
            <a:off x="4496706" y="3697720"/>
            <a:ext cx="1547178" cy="1384995"/>
          </a:xfrm>
          <a:prstGeom prst="rect">
            <a:avLst/>
          </a:prstGeom>
          <a:noFill/>
        </p:spPr>
        <p:txBody>
          <a:bodyPr wrap="square" rtlCol="0">
            <a:spAutoFit/>
          </a:bodyPr>
          <a:lstStyle/>
          <a:p>
            <a:r>
              <a:rPr kumimoji="1" lang="ja-JP" altLang="en-US" sz="1200" b="1" dirty="0">
                <a:latin typeface="+mn-ea"/>
              </a:rPr>
              <a:t>ランク</a:t>
            </a:r>
            <a:r>
              <a:rPr lang="en-US" altLang="ja-JP" sz="1200" b="1" dirty="0">
                <a:latin typeface="+mn-ea"/>
              </a:rPr>
              <a:t>B-1</a:t>
            </a: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b="0" i="0" kern="1200" dirty="0">
                <a:solidFill>
                  <a:schemeClr val="tx1"/>
                </a:solidFill>
                <a:effectLst/>
                <a:latin typeface="+mn-lt"/>
                <a:ea typeface="+mn-ea"/>
                <a:cs typeface="+mn-cs"/>
              </a:rPr>
              <a:t>受動的営業</a:t>
            </a:r>
            <a:r>
              <a:rPr lang="ja-JP" altLang="en-US" sz="1200" dirty="0"/>
              <a:t>活動</a:t>
            </a:r>
            <a:endParaRPr lang="en-US" altLang="ja-JP" sz="1200" dirty="0"/>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b="0" i="0" kern="1200" dirty="0">
                <a:solidFill>
                  <a:schemeClr val="tx1"/>
                </a:solidFill>
                <a:effectLst/>
                <a:latin typeface="+mn-lt"/>
                <a:ea typeface="+mn-ea"/>
                <a:cs typeface="+mn-cs"/>
              </a:rPr>
              <a:t>粗利率</a:t>
            </a:r>
            <a:r>
              <a:rPr kumimoji="1" lang="en-US" altLang="ja-JP" sz="1200" b="0" i="0" kern="1200" dirty="0">
                <a:solidFill>
                  <a:schemeClr val="tx1"/>
                </a:solidFill>
                <a:effectLst/>
                <a:latin typeface="+mn-lt"/>
                <a:ea typeface="+mn-ea"/>
                <a:cs typeface="+mn-cs"/>
              </a:rPr>
              <a:t>UP</a:t>
            </a:r>
            <a:r>
              <a:rPr kumimoji="1" lang="ja-JP" altLang="en-US" sz="1200" b="0" i="0" kern="1200" dirty="0">
                <a:solidFill>
                  <a:schemeClr val="tx1"/>
                </a:solidFill>
                <a:effectLst/>
                <a:latin typeface="+mn-lt"/>
                <a:ea typeface="+mn-ea"/>
                <a:cs typeface="+mn-cs"/>
              </a:rPr>
              <a:t>施策</a:t>
            </a:r>
            <a:endParaRPr kumimoji="1" lang="en-US" altLang="ja-JP" sz="1200" b="0" i="0" kern="1200" dirty="0">
              <a:solidFill>
                <a:schemeClr val="tx1"/>
              </a:solidFill>
              <a:effectLst/>
              <a:latin typeface="+mn-lt"/>
              <a:ea typeface="+mn-ea"/>
              <a:cs typeface="+mn-cs"/>
            </a:endParaRP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200" dirty="0"/>
              <a:t>販管費減施策</a:t>
            </a:r>
            <a:endParaRPr lang="en-US" altLang="ja-JP" sz="1200" dirty="0"/>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提案簡素化、技術照会有償化等</a:t>
            </a:r>
            <a:r>
              <a:rPr kumimoji="1" lang="en-US" altLang="ja-JP" sz="1200" b="0" i="0" kern="1200" dirty="0">
                <a:solidFill>
                  <a:schemeClr val="tx1"/>
                </a:solidFill>
                <a:effectLst/>
                <a:latin typeface="+mn-lt"/>
                <a:ea typeface="+mn-ea"/>
                <a:cs typeface="+mn-cs"/>
              </a:rPr>
              <a:t>)</a:t>
            </a:r>
          </a:p>
          <a:p>
            <a:pPr marL="0" marR="0" lvl="0" indent="0"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486006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59F29D48-BA55-E2FC-4B6C-D775F774D285}"/>
              </a:ext>
            </a:extLst>
          </p:cNvPr>
          <p:cNvSpPr/>
          <p:nvPr/>
        </p:nvSpPr>
        <p:spPr>
          <a:xfrm>
            <a:off x="468431" y="3014367"/>
            <a:ext cx="318783" cy="3261719"/>
          </a:xfrm>
          <a:prstGeom prst="roundRect">
            <a:avLst/>
          </a:prstGeom>
          <a:solidFill>
            <a:srgbClr val="006487">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Arial"/>
              <a:ea typeface="メイリオ"/>
              <a:cs typeface="+mn-cs"/>
            </a:endParaRPr>
          </a:p>
        </p:txBody>
      </p:sp>
      <p:sp>
        <p:nvSpPr>
          <p:cNvPr id="4" name="四角形: 角を丸くする 3">
            <a:extLst>
              <a:ext uri="{FF2B5EF4-FFF2-40B4-BE49-F238E27FC236}">
                <a16:creationId xmlns:a16="http://schemas.microsoft.com/office/drawing/2014/main" id="{2BA75102-2838-66A6-F463-1E2E4EE43861}"/>
              </a:ext>
            </a:extLst>
          </p:cNvPr>
          <p:cNvSpPr/>
          <p:nvPr/>
        </p:nvSpPr>
        <p:spPr>
          <a:xfrm>
            <a:off x="971446" y="3022757"/>
            <a:ext cx="318783" cy="3261719"/>
          </a:xfrm>
          <a:prstGeom prst="roundRect">
            <a:avLst/>
          </a:prstGeom>
          <a:solidFill>
            <a:srgbClr val="DC6914">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Arial"/>
              <a:ea typeface="メイリオ"/>
              <a:cs typeface="+mn-cs"/>
            </a:endParaRPr>
          </a:p>
        </p:txBody>
      </p:sp>
      <p:sp>
        <p:nvSpPr>
          <p:cNvPr id="5" name="四角形: 角を丸くする 4">
            <a:extLst>
              <a:ext uri="{FF2B5EF4-FFF2-40B4-BE49-F238E27FC236}">
                <a16:creationId xmlns:a16="http://schemas.microsoft.com/office/drawing/2014/main" id="{16268B2F-F59F-14FC-6D33-2BE2E0D0591E}"/>
              </a:ext>
            </a:extLst>
          </p:cNvPr>
          <p:cNvSpPr/>
          <p:nvPr/>
        </p:nvSpPr>
        <p:spPr>
          <a:xfrm>
            <a:off x="1717787" y="3039535"/>
            <a:ext cx="318783" cy="3261719"/>
          </a:xfrm>
          <a:prstGeom prst="roundRect">
            <a:avLst/>
          </a:prstGeom>
          <a:solidFill>
            <a:srgbClr val="006487">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Arial"/>
              <a:ea typeface="メイリオ"/>
              <a:cs typeface="+mn-cs"/>
            </a:endParaRPr>
          </a:p>
        </p:txBody>
      </p:sp>
      <p:sp>
        <p:nvSpPr>
          <p:cNvPr id="6" name="四角形: 角を丸くする 5">
            <a:extLst>
              <a:ext uri="{FF2B5EF4-FFF2-40B4-BE49-F238E27FC236}">
                <a16:creationId xmlns:a16="http://schemas.microsoft.com/office/drawing/2014/main" id="{36B467B5-940D-3A4A-7142-7041637260F4}"/>
              </a:ext>
            </a:extLst>
          </p:cNvPr>
          <p:cNvSpPr/>
          <p:nvPr/>
        </p:nvSpPr>
        <p:spPr>
          <a:xfrm>
            <a:off x="2228472" y="3031146"/>
            <a:ext cx="318783" cy="3261719"/>
          </a:xfrm>
          <a:prstGeom prst="roundRect">
            <a:avLst/>
          </a:prstGeom>
          <a:solidFill>
            <a:srgbClr val="DC6914">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Arial"/>
              <a:ea typeface="メイリオ"/>
              <a:cs typeface="+mn-cs"/>
            </a:endParaRPr>
          </a:p>
        </p:txBody>
      </p:sp>
      <p:sp>
        <p:nvSpPr>
          <p:cNvPr id="7" name="四角形: 角を丸くする 6">
            <a:extLst>
              <a:ext uri="{FF2B5EF4-FFF2-40B4-BE49-F238E27FC236}">
                <a16:creationId xmlns:a16="http://schemas.microsoft.com/office/drawing/2014/main" id="{7781B0DB-E02F-11F3-A297-7D1CB2BC21C5}"/>
              </a:ext>
            </a:extLst>
          </p:cNvPr>
          <p:cNvSpPr/>
          <p:nvPr/>
        </p:nvSpPr>
        <p:spPr>
          <a:xfrm>
            <a:off x="2982912" y="3031146"/>
            <a:ext cx="318783" cy="3261719"/>
          </a:xfrm>
          <a:prstGeom prst="roundRect">
            <a:avLst/>
          </a:prstGeom>
          <a:solidFill>
            <a:srgbClr val="006487">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Arial"/>
              <a:ea typeface="メイリオ"/>
              <a:cs typeface="+mn-cs"/>
            </a:endParaRPr>
          </a:p>
        </p:txBody>
      </p:sp>
      <p:sp>
        <p:nvSpPr>
          <p:cNvPr id="8" name="四角形: 角を丸くする 7">
            <a:extLst>
              <a:ext uri="{FF2B5EF4-FFF2-40B4-BE49-F238E27FC236}">
                <a16:creationId xmlns:a16="http://schemas.microsoft.com/office/drawing/2014/main" id="{E120CE63-9D6B-2F1A-95AC-23FECA9AA641}"/>
              </a:ext>
            </a:extLst>
          </p:cNvPr>
          <p:cNvSpPr/>
          <p:nvPr/>
        </p:nvSpPr>
        <p:spPr>
          <a:xfrm>
            <a:off x="3496199" y="3022757"/>
            <a:ext cx="318783" cy="3261719"/>
          </a:xfrm>
          <a:prstGeom prst="roundRect">
            <a:avLst/>
          </a:prstGeom>
          <a:solidFill>
            <a:srgbClr val="DC6914">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Arial"/>
              <a:ea typeface="メイリオ"/>
              <a:cs typeface="+mn-cs"/>
            </a:endParaRPr>
          </a:p>
        </p:txBody>
      </p:sp>
      <p:sp>
        <p:nvSpPr>
          <p:cNvPr id="9" name="四角形: 角を丸くする 8">
            <a:extLst>
              <a:ext uri="{FF2B5EF4-FFF2-40B4-BE49-F238E27FC236}">
                <a16:creationId xmlns:a16="http://schemas.microsoft.com/office/drawing/2014/main" id="{4847A86A-B913-1518-E47C-E2EDE1FC861E}"/>
              </a:ext>
            </a:extLst>
          </p:cNvPr>
          <p:cNvSpPr/>
          <p:nvPr/>
        </p:nvSpPr>
        <p:spPr>
          <a:xfrm>
            <a:off x="4232734" y="3022757"/>
            <a:ext cx="318783" cy="3261719"/>
          </a:xfrm>
          <a:prstGeom prst="roundRect">
            <a:avLst/>
          </a:prstGeom>
          <a:solidFill>
            <a:srgbClr val="006487">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Arial"/>
              <a:ea typeface="メイリオ"/>
              <a:cs typeface="+mn-cs"/>
            </a:endParaRPr>
          </a:p>
        </p:txBody>
      </p:sp>
      <p:sp>
        <p:nvSpPr>
          <p:cNvPr id="10" name="四角形: 角を丸くする 9">
            <a:extLst>
              <a:ext uri="{FF2B5EF4-FFF2-40B4-BE49-F238E27FC236}">
                <a16:creationId xmlns:a16="http://schemas.microsoft.com/office/drawing/2014/main" id="{CF5B81C1-7571-DEDD-71A1-3B08E5825F79}"/>
              </a:ext>
            </a:extLst>
          </p:cNvPr>
          <p:cNvSpPr/>
          <p:nvPr/>
        </p:nvSpPr>
        <p:spPr>
          <a:xfrm>
            <a:off x="4769928" y="3031146"/>
            <a:ext cx="318783" cy="3261719"/>
          </a:xfrm>
          <a:prstGeom prst="roundRect">
            <a:avLst/>
          </a:prstGeom>
          <a:solidFill>
            <a:srgbClr val="DC6914">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Arial"/>
              <a:ea typeface="メイリオ"/>
              <a:cs typeface="+mn-cs"/>
            </a:endParaRPr>
          </a:p>
        </p:txBody>
      </p:sp>
      <p:sp>
        <p:nvSpPr>
          <p:cNvPr id="11" name="四角形: 角を丸くする 10">
            <a:extLst>
              <a:ext uri="{FF2B5EF4-FFF2-40B4-BE49-F238E27FC236}">
                <a16:creationId xmlns:a16="http://schemas.microsoft.com/office/drawing/2014/main" id="{C725D107-505A-69C9-939F-675F3D1AD2D3}"/>
              </a:ext>
            </a:extLst>
          </p:cNvPr>
          <p:cNvSpPr/>
          <p:nvPr/>
        </p:nvSpPr>
        <p:spPr>
          <a:xfrm>
            <a:off x="5466513" y="3039535"/>
            <a:ext cx="318783" cy="3261719"/>
          </a:xfrm>
          <a:prstGeom prst="roundRect">
            <a:avLst/>
          </a:prstGeom>
          <a:solidFill>
            <a:srgbClr val="006487">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Arial"/>
              <a:ea typeface="メイリオ"/>
              <a:cs typeface="+mn-cs"/>
            </a:endParaRPr>
          </a:p>
        </p:txBody>
      </p:sp>
      <p:sp>
        <p:nvSpPr>
          <p:cNvPr id="12" name="四角形: 角を丸くする 11">
            <a:extLst>
              <a:ext uri="{FF2B5EF4-FFF2-40B4-BE49-F238E27FC236}">
                <a16:creationId xmlns:a16="http://schemas.microsoft.com/office/drawing/2014/main" id="{71DFC580-2A0E-256B-1E09-EB98AB3D59E7}"/>
              </a:ext>
            </a:extLst>
          </p:cNvPr>
          <p:cNvSpPr/>
          <p:nvPr/>
        </p:nvSpPr>
        <p:spPr>
          <a:xfrm>
            <a:off x="6028857" y="3039535"/>
            <a:ext cx="318783" cy="3261719"/>
          </a:xfrm>
          <a:prstGeom prst="roundRect">
            <a:avLst/>
          </a:prstGeom>
          <a:solidFill>
            <a:srgbClr val="DC6914">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Arial"/>
              <a:ea typeface="メイリオ"/>
              <a:cs typeface="+mn-cs"/>
            </a:endParaRPr>
          </a:p>
        </p:txBody>
      </p:sp>
      <p:sp>
        <p:nvSpPr>
          <p:cNvPr id="13" name="四角形: 角を丸くする 12">
            <a:extLst>
              <a:ext uri="{FF2B5EF4-FFF2-40B4-BE49-F238E27FC236}">
                <a16:creationId xmlns:a16="http://schemas.microsoft.com/office/drawing/2014/main" id="{092798B2-969A-3F9A-FF57-F9C2D4E1C8A5}"/>
              </a:ext>
            </a:extLst>
          </p:cNvPr>
          <p:cNvSpPr/>
          <p:nvPr/>
        </p:nvSpPr>
        <p:spPr>
          <a:xfrm>
            <a:off x="6757157" y="3039535"/>
            <a:ext cx="318783" cy="3261719"/>
          </a:xfrm>
          <a:prstGeom prst="roundRect">
            <a:avLst/>
          </a:prstGeom>
          <a:solidFill>
            <a:srgbClr val="006487">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Arial"/>
              <a:ea typeface="メイリオ"/>
              <a:cs typeface="+mn-cs"/>
            </a:endParaRPr>
          </a:p>
        </p:txBody>
      </p:sp>
      <p:sp>
        <p:nvSpPr>
          <p:cNvPr id="14" name="四角形: 角を丸くする 13">
            <a:extLst>
              <a:ext uri="{FF2B5EF4-FFF2-40B4-BE49-F238E27FC236}">
                <a16:creationId xmlns:a16="http://schemas.microsoft.com/office/drawing/2014/main" id="{7C44C140-FFB9-A026-9A8D-534D57D853A5}"/>
              </a:ext>
            </a:extLst>
          </p:cNvPr>
          <p:cNvSpPr/>
          <p:nvPr/>
        </p:nvSpPr>
        <p:spPr>
          <a:xfrm>
            <a:off x="7283981" y="3022757"/>
            <a:ext cx="318783" cy="3261719"/>
          </a:xfrm>
          <a:prstGeom prst="roundRect">
            <a:avLst/>
          </a:prstGeom>
          <a:solidFill>
            <a:srgbClr val="DC6914">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Arial"/>
              <a:ea typeface="メイリオ"/>
              <a:cs typeface="+mn-cs"/>
            </a:endParaRPr>
          </a:p>
        </p:txBody>
      </p:sp>
      <p:sp>
        <p:nvSpPr>
          <p:cNvPr id="15" name="四角形: 角を丸くする 14">
            <a:extLst>
              <a:ext uri="{FF2B5EF4-FFF2-40B4-BE49-F238E27FC236}">
                <a16:creationId xmlns:a16="http://schemas.microsoft.com/office/drawing/2014/main" id="{1A623827-D528-D6EE-01DF-BCA2534B7D67}"/>
              </a:ext>
            </a:extLst>
          </p:cNvPr>
          <p:cNvSpPr/>
          <p:nvPr/>
        </p:nvSpPr>
        <p:spPr>
          <a:xfrm>
            <a:off x="8012281" y="3031146"/>
            <a:ext cx="318783" cy="3261719"/>
          </a:xfrm>
          <a:prstGeom prst="roundRect">
            <a:avLst/>
          </a:prstGeom>
          <a:solidFill>
            <a:srgbClr val="006487">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Arial"/>
              <a:ea typeface="メイリオ"/>
              <a:cs typeface="+mn-cs"/>
            </a:endParaRPr>
          </a:p>
        </p:txBody>
      </p:sp>
      <p:pic>
        <p:nvPicPr>
          <p:cNvPr id="16" name="図 1">
            <a:extLst>
              <a:ext uri="{FF2B5EF4-FFF2-40B4-BE49-F238E27FC236}">
                <a16:creationId xmlns:a16="http://schemas.microsoft.com/office/drawing/2014/main" id="{88D4D46B-23D2-1258-F8E5-FDE091C712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35145" y="2537795"/>
            <a:ext cx="9130542" cy="3797015"/>
          </a:xfrm>
          <a:prstGeom prst="rect">
            <a:avLst/>
          </a:prstGeom>
        </p:spPr>
      </p:pic>
      <p:cxnSp>
        <p:nvCxnSpPr>
          <p:cNvPr id="17" name="コネクタ: カギ線 16">
            <a:extLst>
              <a:ext uri="{FF2B5EF4-FFF2-40B4-BE49-F238E27FC236}">
                <a16:creationId xmlns:a16="http://schemas.microsoft.com/office/drawing/2014/main" id="{6EBCAC8D-CDF5-FC18-5E59-35BA66A7FB21}"/>
              </a:ext>
            </a:extLst>
          </p:cNvPr>
          <p:cNvCxnSpPr>
            <a:cxnSpLocks/>
          </p:cNvCxnSpPr>
          <p:nvPr/>
        </p:nvCxnSpPr>
        <p:spPr>
          <a:xfrm rot="16200000" flipH="1">
            <a:off x="5064949" y="3888655"/>
            <a:ext cx="1548764" cy="308011"/>
          </a:xfrm>
          <a:prstGeom prst="bentConnector3">
            <a:avLst>
              <a:gd name="adj1" fmla="val 50000"/>
            </a:avLst>
          </a:prstGeom>
          <a:noFill/>
          <a:ln w="6350" cap="flat" cmpd="sng" algn="ctr">
            <a:solidFill>
              <a:srgbClr val="223F4B"/>
            </a:solidFill>
            <a:prstDash val="solid"/>
            <a:miter lim="800000"/>
            <a:tailEnd type="triangle"/>
          </a:ln>
          <a:effectLst/>
        </p:spPr>
      </p:cxnSp>
      <p:cxnSp>
        <p:nvCxnSpPr>
          <p:cNvPr id="19" name="コネクタ: カギ線 18">
            <a:extLst>
              <a:ext uri="{FF2B5EF4-FFF2-40B4-BE49-F238E27FC236}">
                <a16:creationId xmlns:a16="http://schemas.microsoft.com/office/drawing/2014/main" id="{D87220E1-8CD7-E0F0-B730-0A23E699C909}"/>
              </a:ext>
            </a:extLst>
          </p:cNvPr>
          <p:cNvCxnSpPr>
            <a:cxnSpLocks/>
          </p:cNvCxnSpPr>
          <p:nvPr/>
        </p:nvCxnSpPr>
        <p:spPr>
          <a:xfrm rot="16200000" flipH="1">
            <a:off x="836310" y="4304004"/>
            <a:ext cx="2419741" cy="348288"/>
          </a:xfrm>
          <a:prstGeom prst="bentConnector3">
            <a:avLst>
              <a:gd name="adj1" fmla="val 50000"/>
            </a:avLst>
          </a:prstGeom>
          <a:noFill/>
          <a:ln w="6350" cap="flat" cmpd="sng" algn="ctr">
            <a:solidFill>
              <a:srgbClr val="223F4B"/>
            </a:solidFill>
            <a:prstDash val="solid"/>
            <a:miter lim="800000"/>
            <a:tailEnd type="triangle"/>
          </a:ln>
          <a:effectLst/>
        </p:spPr>
      </p:cxnSp>
      <p:sp>
        <p:nvSpPr>
          <p:cNvPr id="23" name="テキスト ボックス 22">
            <a:extLst>
              <a:ext uri="{FF2B5EF4-FFF2-40B4-BE49-F238E27FC236}">
                <a16:creationId xmlns:a16="http://schemas.microsoft.com/office/drawing/2014/main" id="{5210DA37-2809-358D-8800-3D7A46491E8E}"/>
              </a:ext>
            </a:extLst>
          </p:cNvPr>
          <p:cNvSpPr txBox="1"/>
          <p:nvPr/>
        </p:nvSpPr>
        <p:spPr>
          <a:xfrm>
            <a:off x="167715" y="708511"/>
            <a:ext cx="8724822" cy="1354217"/>
          </a:xfrm>
          <a:prstGeom prst="rect">
            <a:avLst/>
          </a:prstGeom>
          <a:solidFill>
            <a:srgbClr val="CDD9DD"/>
          </a:solidFill>
        </p:spPr>
        <p:txBody>
          <a:bodyPr wrap="square" rtlCol="0">
            <a:spAutoFit/>
          </a:bodyPr>
          <a:lstStyle/>
          <a:p>
            <a:r>
              <a:rPr lang="ja-JP" altLang="en-US" sz="1600" dirty="0"/>
              <a:t>■九電</a:t>
            </a:r>
            <a:r>
              <a:rPr lang="en-US" altLang="ja-JP" sz="1600" dirty="0"/>
              <a:t>/</a:t>
            </a:r>
            <a:r>
              <a:rPr lang="ja-JP" altLang="en-US" sz="1600" dirty="0"/>
              <a:t>苓北は現状</a:t>
            </a:r>
            <a:r>
              <a:rPr lang="en-US" altLang="ja-JP" sz="1600" dirty="0"/>
              <a:t>A</a:t>
            </a:r>
            <a:r>
              <a:rPr lang="ja-JP" altLang="en-US" sz="1600" dirty="0"/>
              <a:t>ランクに分類されている。</a:t>
            </a:r>
            <a:endParaRPr lang="en-US" altLang="ja-JP" sz="1600" dirty="0"/>
          </a:p>
          <a:p>
            <a:r>
              <a:rPr lang="ja-JP" altLang="en-US" sz="1600" dirty="0"/>
              <a:t>■累計営利率</a:t>
            </a:r>
            <a:r>
              <a:rPr lang="en-US" altLang="ja-JP" sz="1600" dirty="0"/>
              <a:t>10%</a:t>
            </a:r>
            <a:r>
              <a:rPr lang="ja-JP" altLang="en-US" sz="1600" dirty="0"/>
              <a:t>未満</a:t>
            </a:r>
            <a:r>
              <a:rPr lang="en-US" altLang="ja-JP" sz="1600" dirty="0"/>
              <a:t>(3.4%)</a:t>
            </a:r>
            <a:r>
              <a:rPr lang="ja-JP" altLang="en-US" sz="1600" dirty="0"/>
              <a:t>である事から、前頁の再定義に当てはめると「ランク</a:t>
            </a:r>
            <a:r>
              <a:rPr lang="en-US" altLang="ja-JP" sz="1600" dirty="0"/>
              <a:t>B-1</a:t>
            </a:r>
            <a:r>
              <a:rPr lang="ja-JP" altLang="en-US" sz="1600" dirty="0"/>
              <a:t>」。</a:t>
            </a:r>
            <a:endParaRPr lang="en-US" altLang="ja-JP" sz="1600" dirty="0"/>
          </a:p>
          <a:p>
            <a:r>
              <a:rPr lang="ja-JP" altLang="en-US" sz="1600" dirty="0"/>
              <a:t> ⇒つまり粗利率向上、及び引合費低減の施策を取る必要があり、「ランク</a:t>
            </a:r>
            <a:r>
              <a:rPr lang="en-US" altLang="ja-JP" sz="1600" dirty="0"/>
              <a:t>A-2</a:t>
            </a:r>
            <a:r>
              <a:rPr lang="ja-JP" altLang="en-US" sz="1600" dirty="0"/>
              <a:t>」へ上げる施策を</a:t>
            </a:r>
            <a:endParaRPr lang="en-US" altLang="ja-JP" sz="1600" dirty="0"/>
          </a:p>
          <a:p>
            <a:r>
              <a:rPr lang="ja-JP" altLang="en-US" sz="1600" dirty="0"/>
              <a:t>　　</a:t>
            </a:r>
            <a:r>
              <a:rPr lang="en-US" altLang="ja-JP" sz="1600" dirty="0"/>
              <a:t>PM</a:t>
            </a:r>
            <a:r>
              <a:rPr lang="ja-JP" altLang="en-US" sz="1600" dirty="0"/>
              <a:t>が推進する。</a:t>
            </a:r>
            <a:endParaRPr lang="en-US" altLang="ja-JP" sz="1600" dirty="0"/>
          </a:p>
          <a:p>
            <a:r>
              <a:rPr lang="ja-JP" altLang="en-US" sz="1600" dirty="0"/>
              <a:t>　</a:t>
            </a:r>
            <a:r>
              <a:rPr lang="en-US" altLang="ja-JP" sz="1600" dirty="0"/>
              <a:t>※</a:t>
            </a:r>
            <a:r>
              <a:rPr lang="ja-JP" altLang="en-US" sz="1600" dirty="0"/>
              <a:t>事業戦は引合費管理値をランクに応じて設定し、掛けられる費用の目安として提示する。</a:t>
            </a:r>
            <a:endParaRPr lang="en-US" altLang="ja-JP" sz="1600" dirty="0"/>
          </a:p>
        </p:txBody>
      </p:sp>
      <p:sp>
        <p:nvSpPr>
          <p:cNvPr id="25" name="テキスト ボックス 24">
            <a:extLst>
              <a:ext uri="{FF2B5EF4-FFF2-40B4-BE49-F238E27FC236}">
                <a16:creationId xmlns:a16="http://schemas.microsoft.com/office/drawing/2014/main" id="{71E5E457-4243-56BA-058A-52C6A2B3658B}"/>
              </a:ext>
            </a:extLst>
          </p:cNvPr>
          <p:cNvSpPr txBox="1"/>
          <p:nvPr/>
        </p:nvSpPr>
        <p:spPr>
          <a:xfrm>
            <a:off x="0" y="2226278"/>
            <a:ext cx="4283968" cy="369332"/>
          </a:xfrm>
          <a:prstGeom prst="rect">
            <a:avLst/>
          </a:prstGeom>
          <a:noFill/>
        </p:spPr>
        <p:txBody>
          <a:bodyPr wrap="square" rtlCol="0">
            <a:spAutoFit/>
          </a:bodyPr>
          <a:lstStyle/>
          <a:p>
            <a:r>
              <a:rPr kumimoji="1" lang="en-US" altLang="ja-JP" b="1" dirty="0"/>
              <a:t>【</a:t>
            </a:r>
            <a:r>
              <a:rPr kumimoji="1" lang="ja-JP" altLang="en-US" b="1" dirty="0"/>
              <a:t>九電</a:t>
            </a:r>
            <a:r>
              <a:rPr kumimoji="1" lang="en-US" altLang="ja-JP" b="1" dirty="0"/>
              <a:t>/</a:t>
            </a:r>
            <a:r>
              <a:rPr kumimoji="1" lang="ja-JP" altLang="en-US" b="1" dirty="0"/>
              <a:t>苓北の例</a:t>
            </a:r>
            <a:r>
              <a:rPr kumimoji="1" lang="en-US" altLang="ja-JP" b="1" dirty="0"/>
              <a:t>】</a:t>
            </a:r>
            <a:endParaRPr kumimoji="1" lang="ja-JP" altLang="en-US" b="1" dirty="0"/>
          </a:p>
        </p:txBody>
      </p:sp>
      <p:sp>
        <p:nvSpPr>
          <p:cNvPr id="27" name="吹き出し: 四角形 26">
            <a:extLst>
              <a:ext uri="{FF2B5EF4-FFF2-40B4-BE49-F238E27FC236}">
                <a16:creationId xmlns:a16="http://schemas.microsoft.com/office/drawing/2014/main" id="{3A75CE5E-CB69-D0B0-58E4-930EAA53C530}"/>
              </a:ext>
            </a:extLst>
          </p:cNvPr>
          <p:cNvSpPr/>
          <p:nvPr/>
        </p:nvSpPr>
        <p:spPr>
          <a:xfrm>
            <a:off x="6673999" y="4645226"/>
            <a:ext cx="1857529" cy="360040"/>
          </a:xfrm>
          <a:prstGeom prst="wedgeRectCallout">
            <a:avLst>
              <a:gd name="adj1" fmla="val 45493"/>
              <a:gd name="adj2" fmla="val -291395"/>
            </a:avLst>
          </a:pr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累計営利率</a:t>
            </a:r>
            <a:r>
              <a:rPr kumimoji="1" lang="en-US" altLang="ja-JP" sz="16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3.4%</a:t>
            </a:r>
            <a:endParaRPr kumimoji="1" lang="ja-JP" altLang="en-US" sz="16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8" name="タイトル 1">
            <a:extLst>
              <a:ext uri="{FF2B5EF4-FFF2-40B4-BE49-F238E27FC236}">
                <a16:creationId xmlns:a16="http://schemas.microsoft.com/office/drawing/2014/main" id="{5AB9856E-F825-81BC-4F40-6A5246D843C1}"/>
              </a:ext>
            </a:extLst>
          </p:cNvPr>
          <p:cNvSpPr txBox="1">
            <a:spLocks/>
          </p:cNvSpPr>
          <p:nvPr/>
        </p:nvSpPr>
        <p:spPr>
          <a:xfrm>
            <a:off x="164350" y="121785"/>
            <a:ext cx="7134225" cy="350837"/>
          </a:xfrm>
          <a:prstGeom prst="rect">
            <a:avLst/>
          </a:prstGeom>
        </p:spPr>
        <p:txBody>
          <a:bodyPr/>
          <a:lstStyle>
            <a:lvl1pPr algn="l" defTabSz="662761" rtl="0" eaLnBrk="1" latinLnBrk="0" hangingPunct="1">
              <a:lnSpc>
                <a:spcPct val="90000"/>
              </a:lnSpc>
              <a:spcBef>
                <a:spcPct val="0"/>
              </a:spcBef>
              <a:buNone/>
              <a:defRPr kumimoji="1" sz="3139" kern="1200">
                <a:solidFill>
                  <a:schemeClr val="tx1"/>
                </a:solidFill>
                <a:latin typeface="+mj-lt"/>
                <a:ea typeface="+mj-ea"/>
                <a:cs typeface="+mj-cs"/>
              </a:defRPr>
            </a:lvl1pPr>
          </a:lstStyle>
          <a:p>
            <a:r>
              <a:rPr lang="ja-JP" altLang="en-US" sz="1800" b="1" dirty="0"/>
              <a:t>４－１．顧客ランクに応じた営業活動：具体例</a:t>
            </a:r>
          </a:p>
        </p:txBody>
      </p:sp>
    </p:spTree>
    <p:extLst>
      <p:ext uri="{BB962C8B-B14F-4D97-AF65-F5344CB8AC3E}">
        <p14:creationId xmlns:p14="http://schemas.microsoft.com/office/powerpoint/2010/main" val="2762391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8F1F7DC-D8BF-3813-9388-C3BF293B42EA}"/>
              </a:ext>
            </a:extLst>
          </p:cNvPr>
          <p:cNvSpPr>
            <a:spLocks noGrp="1"/>
          </p:cNvSpPr>
          <p:nvPr>
            <p:ph type="title"/>
          </p:nvPr>
        </p:nvSpPr>
        <p:spPr>
          <a:prstGeom prst="rect">
            <a:avLst/>
          </a:prstGeom>
        </p:spPr>
        <p:txBody>
          <a:bodyPr lIns="91440" tIns="45720" rIns="91440" bIns="45720" anchor="t"/>
          <a:lstStyle/>
          <a:p>
            <a:pPr>
              <a:defRPr/>
            </a:pPr>
            <a:r>
              <a:rPr lang="ja-JP" altLang="en-US" sz="2400" dirty="0"/>
              <a:t>４．フェーズ２からの継続活動事項</a:t>
            </a:r>
            <a:br>
              <a:rPr lang="en-US" altLang="ja-JP" sz="2400" b="0" dirty="0"/>
            </a:br>
            <a:r>
              <a:rPr lang="ja-JP" altLang="en-US" sz="2400" b="0" dirty="0"/>
              <a:t>　　</a:t>
            </a:r>
            <a:r>
              <a:rPr lang="ja-JP" altLang="en-US" sz="2000" b="0" dirty="0"/>
              <a:t>４－２．</a:t>
            </a:r>
            <a:r>
              <a:rPr kumimoji="1" lang="ja-JP" altLang="en-US" sz="2000" b="0" i="0" u="none" strike="noStrike" kern="1200" cap="none" spc="0" normalizeH="0" baseline="0" noProof="0" dirty="0">
                <a:ln>
                  <a:noFill/>
                </a:ln>
                <a:solidFill>
                  <a:srgbClr val="000000"/>
                </a:solidFill>
                <a:effectLst/>
                <a:uLnTx/>
                <a:uFillTx/>
                <a:latin typeface="+mn-ea"/>
                <a:cs typeface="+mn-cs"/>
              </a:rPr>
              <a:t>経営数値のダッシュボード</a:t>
            </a:r>
            <a:r>
              <a:rPr lang="ja-JP" altLang="en-US" sz="2000" b="0" dirty="0">
                <a:solidFill>
                  <a:srgbClr val="000000"/>
                </a:solidFill>
                <a:latin typeface="+mn-ea"/>
              </a:rPr>
              <a:t>構築</a:t>
            </a:r>
            <a:r>
              <a:rPr lang="ja-JP" altLang="en-US" sz="2000" b="0" dirty="0">
                <a:solidFill>
                  <a:srgbClr val="000000"/>
                </a:solidFill>
                <a:latin typeface="+mn-ea"/>
                <a:cs typeface="+mn-cs"/>
              </a:rPr>
              <a:t>について</a:t>
            </a:r>
            <a:endParaRPr lang="ja-JP" altLang="en-US" sz="2000" b="0" dirty="0"/>
          </a:p>
        </p:txBody>
      </p:sp>
    </p:spTree>
    <p:extLst>
      <p:ext uri="{BB962C8B-B14F-4D97-AF65-F5344CB8AC3E}">
        <p14:creationId xmlns:p14="http://schemas.microsoft.com/office/powerpoint/2010/main" val="4276124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66529423-289B-A8F1-ECE1-D12379ABE523}"/>
              </a:ext>
            </a:extLst>
          </p:cNvPr>
          <p:cNvSpPr txBox="1">
            <a:spLocks/>
          </p:cNvSpPr>
          <p:nvPr/>
        </p:nvSpPr>
        <p:spPr>
          <a:xfrm>
            <a:off x="248234" y="135110"/>
            <a:ext cx="7439508" cy="349961"/>
          </a:xfrm>
          <a:prstGeom prst="rect">
            <a:avLst/>
          </a:prstGeom>
        </p:spPr>
        <p:txBody>
          <a:bodyPr/>
          <a:lst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lang="ja-JP" altLang="en-US" sz="2000" b="1" dirty="0">
                <a:solidFill>
                  <a:srgbClr val="000000"/>
                </a:solidFill>
                <a:latin typeface="Arial"/>
                <a:ea typeface="メイリオ"/>
              </a:rPr>
              <a:t>４</a:t>
            </a:r>
            <a:r>
              <a:rPr kumimoji="1" lang="ja-JP" altLang="en-US" sz="2000" b="1" i="0" u="none" strike="noStrike" kern="1200" cap="none" spc="0" normalizeH="0" baseline="0" noProof="0" dirty="0">
                <a:ln>
                  <a:noFill/>
                </a:ln>
                <a:solidFill>
                  <a:srgbClr val="000000"/>
                </a:solidFill>
                <a:effectLst/>
                <a:uLnTx/>
                <a:uFillTx/>
                <a:latin typeface="Arial"/>
                <a:ea typeface="メイリオ"/>
                <a:cs typeface="+mj-cs"/>
              </a:rPr>
              <a:t>－２．経営数値のダッシュボード</a:t>
            </a:r>
            <a:r>
              <a:rPr lang="ja-JP" altLang="en-US" sz="2000" b="1" dirty="0">
                <a:solidFill>
                  <a:srgbClr val="000000"/>
                </a:solidFill>
                <a:latin typeface="Arial"/>
                <a:ea typeface="メイリオ"/>
              </a:rPr>
              <a:t>構築について</a:t>
            </a:r>
            <a:endParaRPr kumimoji="1" lang="ja-JP" altLang="en-US" sz="2000" b="1" i="0" u="none" strike="noStrike" kern="1200" cap="none" spc="0" normalizeH="0" baseline="0" noProof="0" dirty="0">
              <a:ln>
                <a:noFill/>
              </a:ln>
              <a:solidFill>
                <a:srgbClr val="000000"/>
              </a:solidFill>
              <a:effectLst/>
              <a:uLnTx/>
              <a:uFillTx/>
              <a:latin typeface="Arial"/>
              <a:ea typeface="メイリオ"/>
              <a:cs typeface="+mj-cs"/>
            </a:endParaRPr>
          </a:p>
          <a:p>
            <a:pPr marL="0" marR="0" lvl="0" indent="0" algn="l" defTabSz="685800" rtl="0" eaLnBrk="1" fontAlgn="auto" latinLnBrk="0" hangingPunct="1">
              <a:lnSpc>
                <a:spcPct val="90000"/>
              </a:lnSpc>
              <a:spcBef>
                <a:spcPct val="0"/>
              </a:spcBef>
              <a:spcAft>
                <a:spcPts val="0"/>
              </a:spcAft>
              <a:buClrTx/>
              <a:buSzTx/>
              <a:buFontTx/>
              <a:buNone/>
              <a:tabLst/>
              <a:defRPr/>
            </a:pPr>
            <a:endParaRPr kumimoji="1" lang="en-US" altLang="ja-JP" sz="2000" b="1" i="0" u="none" strike="noStrike" kern="1200" cap="none" spc="0" normalizeH="0" baseline="0" noProof="0" dirty="0">
              <a:ln>
                <a:noFill/>
              </a:ln>
              <a:solidFill>
                <a:srgbClr val="000000"/>
              </a:solidFill>
              <a:effectLst/>
              <a:uLnTx/>
              <a:uFillTx/>
              <a:latin typeface="Arial"/>
              <a:ea typeface="メイリオ"/>
              <a:cs typeface="+mj-cs"/>
            </a:endParaRPr>
          </a:p>
        </p:txBody>
      </p:sp>
      <p:graphicFrame>
        <p:nvGraphicFramePr>
          <p:cNvPr id="5" name="表 4">
            <a:extLst>
              <a:ext uri="{FF2B5EF4-FFF2-40B4-BE49-F238E27FC236}">
                <a16:creationId xmlns:a16="http://schemas.microsoft.com/office/drawing/2014/main" id="{7380BB39-AE41-0AF4-02D4-F2BDF3C9F8F2}"/>
              </a:ext>
            </a:extLst>
          </p:cNvPr>
          <p:cNvGraphicFramePr>
            <a:graphicFrameLocks noGrp="1"/>
          </p:cNvGraphicFramePr>
          <p:nvPr>
            <p:extLst>
              <p:ext uri="{D42A27DB-BD31-4B8C-83A1-F6EECF244321}">
                <p14:modId xmlns:p14="http://schemas.microsoft.com/office/powerpoint/2010/main" val="458668449"/>
              </p:ext>
            </p:extLst>
          </p:nvPr>
        </p:nvGraphicFramePr>
        <p:xfrm>
          <a:off x="192989" y="3604655"/>
          <a:ext cx="8758021" cy="2758980"/>
        </p:xfrm>
        <a:graphic>
          <a:graphicData uri="http://schemas.openxmlformats.org/drawingml/2006/table">
            <a:tbl>
              <a:tblPr/>
              <a:tblGrid>
                <a:gridCol w="1846021">
                  <a:extLst>
                    <a:ext uri="{9D8B030D-6E8A-4147-A177-3AD203B41FA5}">
                      <a16:colId xmlns:a16="http://schemas.microsoft.com/office/drawing/2014/main" val="1674594136"/>
                    </a:ext>
                  </a:extLst>
                </a:gridCol>
                <a:gridCol w="108000">
                  <a:extLst>
                    <a:ext uri="{9D8B030D-6E8A-4147-A177-3AD203B41FA5}">
                      <a16:colId xmlns:a16="http://schemas.microsoft.com/office/drawing/2014/main" val="1322037401"/>
                    </a:ext>
                  </a:extLst>
                </a:gridCol>
                <a:gridCol w="108000">
                  <a:extLst>
                    <a:ext uri="{9D8B030D-6E8A-4147-A177-3AD203B41FA5}">
                      <a16:colId xmlns:a16="http://schemas.microsoft.com/office/drawing/2014/main" val="1344775027"/>
                    </a:ext>
                  </a:extLst>
                </a:gridCol>
                <a:gridCol w="108000">
                  <a:extLst>
                    <a:ext uri="{9D8B030D-6E8A-4147-A177-3AD203B41FA5}">
                      <a16:colId xmlns:a16="http://schemas.microsoft.com/office/drawing/2014/main" val="3496579355"/>
                    </a:ext>
                  </a:extLst>
                </a:gridCol>
                <a:gridCol w="108000">
                  <a:extLst>
                    <a:ext uri="{9D8B030D-6E8A-4147-A177-3AD203B41FA5}">
                      <a16:colId xmlns:a16="http://schemas.microsoft.com/office/drawing/2014/main" val="3302894154"/>
                    </a:ext>
                  </a:extLst>
                </a:gridCol>
                <a:gridCol w="108000">
                  <a:extLst>
                    <a:ext uri="{9D8B030D-6E8A-4147-A177-3AD203B41FA5}">
                      <a16:colId xmlns:a16="http://schemas.microsoft.com/office/drawing/2014/main" val="3480873156"/>
                    </a:ext>
                  </a:extLst>
                </a:gridCol>
                <a:gridCol w="108000">
                  <a:extLst>
                    <a:ext uri="{9D8B030D-6E8A-4147-A177-3AD203B41FA5}">
                      <a16:colId xmlns:a16="http://schemas.microsoft.com/office/drawing/2014/main" val="693673314"/>
                    </a:ext>
                  </a:extLst>
                </a:gridCol>
                <a:gridCol w="108000">
                  <a:extLst>
                    <a:ext uri="{9D8B030D-6E8A-4147-A177-3AD203B41FA5}">
                      <a16:colId xmlns:a16="http://schemas.microsoft.com/office/drawing/2014/main" val="3846419462"/>
                    </a:ext>
                  </a:extLst>
                </a:gridCol>
                <a:gridCol w="108000">
                  <a:extLst>
                    <a:ext uri="{9D8B030D-6E8A-4147-A177-3AD203B41FA5}">
                      <a16:colId xmlns:a16="http://schemas.microsoft.com/office/drawing/2014/main" val="2463522820"/>
                    </a:ext>
                  </a:extLst>
                </a:gridCol>
                <a:gridCol w="108000">
                  <a:extLst>
                    <a:ext uri="{9D8B030D-6E8A-4147-A177-3AD203B41FA5}">
                      <a16:colId xmlns:a16="http://schemas.microsoft.com/office/drawing/2014/main" val="2200829142"/>
                    </a:ext>
                  </a:extLst>
                </a:gridCol>
                <a:gridCol w="108000">
                  <a:extLst>
                    <a:ext uri="{9D8B030D-6E8A-4147-A177-3AD203B41FA5}">
                      <a16:colId xmlns:a16="http://schemas.microsoft.com/office/drawing/2014/main" val="3758009939"/>
                    </a:ext>
                  </a:extLst>
                </a:gridCol>
                <a:gridCol w="108000">
                  <a:extLst>
                    <a:ext uri="{9D8B030D-6E8A-4147-A177-3AD203B41FA5}">
                      <a16:colId xmlns:a16="http://schemas.microsoft.com/office/drawing/2014/main" val="3068192484"/>
                    </a:ext>
                  </a:extLst>
                </a:gridCol>
                <a:gridCol w="108000">
                  <a:extLst>
                    <a:ext uri="{9D8B030D-6E8A-4147-A177-3AD203B41FA5}">
                      <a16:colId xmlns:a16="http://schemas.microsoft.com/office/drawing/2014/main" val="4266744394"/>
                    </a:ext>
                  </a:extLst>
                </a:gridCol>
                <a:gridCol w="432000">
                  <a:extLst>
                    <a:ext uri="{9D8B030D-6E8A-4147-A177-3AD203B41FA5}">
                      <a16:colId xmlns:a16="http://schemas.microsoft.com/office/drawing/2014/main" val="3907589115"/>
                    </a:ext>
                  </a:extLst>
                </a:gridCol>
                <a:gridCol w="432000">
                  <a:extLst>
                    <a:ext uri="{9D8B030D-6E8A-4147-A177-3AD203B41FA5}">
                      <a16:colId xmlns:a16="http://schemas.microsoft.com/office/drawing/2014/main" val="3129449765"/>
                    </a:ext>
                  </a:extLst>
                </a:gridCol>
                <a:gridCol w="432000">
                  <a:extLst>
                    <a:ext uri="{9D8B030D-6E8A-4147-A177-3AD203B41FA5}">
                      <a16:colId xmlns:a16="http://schemas.microsoft.com/office/drawing/2014/main" val="1884475334"/>
                    </a:ext>
                  </a:extLst>
                </a:gridCol>
                <a:gridCol w="432000">
                  <a:extLst>
                    <a:ext uri="{9D8B030D-6E8A-4147-A177-3AD203B41FA5}">
                      <a16:colId xmlns:a16="http://schemas.microsoft.com/office/drawing/2014/main" val="2197387374"/>
                    </a:ext>
                  </a:extLst>
                </a:gridCol>
                <a:gridCol w="432000">
                  <a:extLst>
                    <a:ext uri="{9D8B030D-6E8A-4147-A177-3AD203B41FA5}">
                      <a16:colId xmlns:a16="http://schemas.microsoft.com/office/drawing/2014/main" val="202505898"/>
                    </a:ext>
                  </a:extLst>
                </a:gridCol>
                <a:gridCol w="432000">
                  <a:extLst>
                    <a:ext uri="{9D8B030D-6E8A-4147-A177-3AD203B41FA5}">
                      <a16:colId xmlns:a16="http://schemas.microsoft.com/office/drawing/2014/main" val="1995160970"/>
                    </a:ext>
                  </a:extLst>
                </a:gridCol>
                <a:gridCol w="3024000">
                  <a:extLst>
                    <a:ext uri="{9D8B030D-6E8A-4147-A177-3AD203B41FA5}">
                      <a16:colId xmlns:a16="http://schemas.microsoft.com/office/drawing/2014/main" val="1039121085"/>
                    </a:ext>
                  </a:extLst>
                </a:gridCol>
              </a:tblGrid>
              <a:tr h="167646">
                <a:tc rowSpan="2">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12">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en-US" sz="1100" b="1" i="0" u="none" strike="noStrike" dirty="0">
                          <a:solidFill>
                            <a:srgbClr val="000000"/>
                          </a:solidFill>
                          <a:effectLst/>
                          <a:latin typeface="メイリオ" panose="020B0604030504040204" pitchFamily="50" charset="-128"/>
                          <a:ea typeface="メイリオ" panose="020B0604030504040204" pitchFamily="50" charset="-128"/>
                        </a:rPr>
                        <a:t>FY23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6">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en-US" sz="1100" b="1" i="0" u="none" strike="noStrike" dirty="0">
                          <a:solidFill>
                            <a:srgbClr val="000000"/>
                          </a:solidFill>
                          <a:effectLst/>
                          <a:latin typeface="メイリオ" panose="020B0604030504040204" pitchFamily="50" charset="-128"/>
                          <a:ea typeface="メイリオ" panose="020B0604030504040204" pitchFamily="50" charset="-128"/>
                        </a:rPr>
                        <a:t>FY24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rowSpan="2">
                  <a:txBody>
                    <a:bodyPr/>
                    <a:lstStyle/>
                    <a:p>
                      <a:pPr algn="ctr"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進捗状況</a:t>
                      </a:r>
                      <a:endParaRPr 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522613225"/>
                  </a:ext>
                </a:extLst>
              </a:tr>
              <a:tr h="167646">
                <a:tc vMerge="1">
                  <a:txBody>
                    <a:bodyPr/>
                    <a:lstStyle/>
                    <a:p>
                      <a:endParaRPr kumimoji="1" lang="ja-JP" altLang="en-US"/>
                    </a:p>
                  </a:txBody>
                  <a:tcPr/>
                </a:tc>
                <a:tc gridSpan="3">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1Q</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5</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6</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3">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2Q</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8</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9</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3">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3Q</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11</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12</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3">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4Q</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2</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3</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4</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5</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6</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7</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8</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9</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vMerge="1">
                  <a:txBody>
                    <a:bodyPr/>
                    <a:lstStyle/>
                    <a:p>
                      <a:pPr algn="ctr" fontAlgn="ct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55382474"/>
                  </a:ext>
                </a:extLst>
              </a:tr>
              <a:tr h="240846">
                <a:tc>
                  <a:txBody>
                    <a:bodyPr/>
                    <a:lstStyle/>
                    <a:p>
                      <a:pPr algn="l"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 </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改革テーマ選定</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chemeClr val="bg1"/>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chemeClr val="bg1"/>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chemeClr val="bg1"/>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chemeClr val="bg1"/>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0316483"/>
                  </a:ext>
                </a:extLst>
              </a:tr>
              <a:tr h="240846">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l"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2. </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可視化項目選定</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916301"/>
                  </a:ext>
                </a:extLst>
              </a:tr>
              <a:tr h="240846">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l"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3. </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可視化モデル作成</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調整</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9447901"/>
                  </a:ext>
                </a:extLst>
              </a:tr>
              <a:tr h="240846">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l"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4. </a:t>
                      </a:r>
                      <a:r>
                        <a:rPr lang="en-US" altLang="ja-JP" sz="1100" b="1" i="0" u="none" strike="noStrike" dirty="0" err="1">
                          <a:solidFill>
                            <a:srgbClr val="000000"/>
                          </a:solidFill>
                          <a:effectLst/>
                          <a:latin typeface="メイリオ" panose="020B0604030504040204" pitchFamily="50" charset="-128"/>
                          <a:ea typeface="メイリオ" panose="020B0604030504040204" pitchFamily="50" charset="-128"/>
                        </a:rPr>
                        <a:t>PowerBI</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化</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ソフ４</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08078"/>
                  </a:ext>
                </a:extLst>
              </a:tr>
              <a:tr h="240846">
                <a:tc>
                  <a:txBody>
                    <a:bodyPr/>
                    <a:lstStyle/>
                    <a:p>
                      <a:pPr algn="l"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5. </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実運用への調整</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事業戦</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7278764"/>
                  </a:ext>
                </a:extLst>
              </a:tr>
              <a:tr h="240846">
                <a:tc>
                  <a:txBody>
                    <a:bodyPr/>
                    <a:lstStyle/>
                    <a:p>
                      <a:pPr algn="l"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6. </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運用開始</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490253"/>
                  </a:ext>
                </a:extLst>
              </a:tr>
              <a:tr h="240846">
                <a:tc>
                  <a:txBody>
                    <a:body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①受売利実績</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7797708"/>
                  </a:ext>
                </a:extLst>
              </a:tr>
              <a:tr h="240846">
                <a:tc>
                  <a:txBody>
                    <a:body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②引合費実績</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1333606"/>
                  </a:ext>
                </a:extLst>
              </a:tr>
              <a:tr h="240846">
                <a:tc>
                  <a:txBody>
                    <a:body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③</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AS</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従事実績比率</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ysDash"/>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ysDash"/>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2792400"/>
                  </a:ext>
                </a:extLst>
              </a:tr>
              <a:tr h="240846">
                <a:tc>
                  <a:txBody>
                    <a:body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④直接作業実績比率</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7210206"/>
                  </a:ext>
                </a:extLst>
              </a:tr>
            </a:tbl>
          </a:graphicData>
        </a:graphic>
      </p:graphicFrame>
      <p:sp>
        <p:nvSpPr>
          <p:cNvPr id="15" name="左中かっこ 14">
            <a:extLst>
              <a:ext uri="{FF2B5EF4-FFF2-40B4-BE49-F238E27FC236}">
                <a16:creationId xmlns:a16="http://schemas.microsoft.com/office/drawing/2014/main" id="{9C65F508-D609-6D17-1371-C19E103A125E}"/>
              </a:ext>
            </a:extLst>
          </p:cNvPr>
          <p:cNvSpPr/>
          <p:nvPr/>
        </p:nvSpPr>
        <p:spPr>
          <a:xfrm rot="10800000">
            <a:off x="5934200" y="5443718"/>
            <a:ext cx="108000" cy="399227"/>
          </a:xfrm>
          <a:prstGeom prst="leftBrace">
            <a:avLst/>
          </a:prstGeom>
          <a:ln w="1905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メイリオ"/>
              <a:cs typeface="+mn-cs"/>
            </a:endParaRPr>
          </a:p>
        </p:txBody>
      </p:sp>
      <p:sp>
        <p:nvSpPr>
          <p:cNvPr id="16" name="左中かっこ 15">
            <a:extLst>
              <a:ext uri="{FF2B5EF4-FFF2-40B4-BE49-F238E27FC236}">
                <a16:creationId xmlns:a16="http://schemas.microsoft.com/office/drawing/2014/main" id="{0F2972C2-6BB2-7050-C215-B00931C3A9B2}"/>
              </a:ext>
            </a:extLst>
          </p:cNvPr>
          <p:cNvSpPr/>
          <p:nvPr/>
        </p:nvSpPr>
        <p:spPr>
          <a:xfrm rot="10800000">
            <a:off x="5934201" y="5928858"/>
            <a:ext cx="108000" cy="399227"/>
          </a:xfrm>
          <a:prstGeom prst="leftBrace">
            <a:avLst/>
          </a:prstGeom>
          <a:ln w="1905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メイリオ"/>
              <a:cs typeface="+mn-cs"/>
            </a:endParaRPr>
          </a:p>
        </p:txBody>
      </p:sp>
      <p:sp>
        <p:nvSpPr>
          <p:cNvPr id="17" name="テキスト ボックス 16">
            <a:extLst>
              <a:ext uri="{FF2B5EF4-FFF2-40B4-BE49-F238E27FC236}">
                <a16:creationId xmlns:a16="http://schemas.microsoft.com/office/drawing/2014/main" id="{7F99FF5C-E6E1-392A-5432-D02FE1EE380B}"/>
              </a:ext>
            </a:extLst>
          </p:cNvPr>
          <p:cNvSpPr txBox="1"/>
          <p:nvPr/>
        </p:nvSpPr>
        <p:spPr>
          <a:xfrm>
            <a:off x="6042200" y="5985716"/>
            <a:ext cx="252563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1" dirty="0">
                <a:solidFill>
                  <a:srgbClr val="FF0000"/>
                </a:solidFill>
                <a:highlight>
                  <a:srgbClr val="FFFFFF"/>
                </a:highlight>
                <a:latin typeface="メイリオ"/>
                <a:ea typeface="メイリオ"/>
              </a:rPr>
              <a:t>③④</a:t>
            </a:r>
            <a:r>
              <a:rPr kumimoji="1" lang="ja-JP" altLang="en-US" sz="1000" b="1" i="0" u="none" strike="noStrike" kern="1200" cap="none" spc="0" normalizeH="0" baseline="0" noProof="0" dirty="0">
                <a:ln>
                  <a:noFill/>
                </a:ln>
                <a:solidFill>
                  <a:srgbClr val="FF0000"/>
                </a:solidFill>
                <a:effectLst/>
                <a:highlight>
                  <a:srgbClr val="FFFFFF"/>
                </a:highlight>
                <a:uLnTx/>
                <a:uFillTx/>
                <a:latin typeface="メイリオ"/>
                <a:ea typeface="メイリオ"/>
                <a:cs typeface="+mn-cs"/>
              </a:rPr>
              <a:t>各部課長以上向けに公開開始する</a:t>
            </a:r>
          </a:p>
        </p:txBody>
      </p:sp>
      <p:sp>
        <p:nvSpPr>
          <p:cNvPr id="19" name="左中かっこ 18">
            <a:extLst>
              <a:ext uri="{FF2B5EF4-FFF2-40B4-BE49-F238E27FC236}">
                <a16:creationId xmlns:a16="http://schemas.microsoft.com/office/drawing/2014/main" id="{82E8AE44-A8C1-41F7-900C-1CDED34B64B1}"/>
              </a:ext>
            </a:extLst>
          </p:cNvPr>
          <p:cNvSpPr/>
          <p:nvPr/>
        </p:nvSpPr>
        <p:spPr>
          <a:xfrm rot="10800000">
            <a:off x="5934200" y="3976908"/>
            <a:ext cx="108000" cy="669867"/>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メイリオ"/>
              <a:cs typeface="+mn-cs"/>
            </a:endParaRPr>
          </a:p>
        </p:txBody>
      </p:sp>
      <p:sp>
        <p:nvSpPr>
          <p:cNvPr id="20" name="テキスト ボックス 19">
            <a:extLst>
              <a:ext uri="{FF2B5EF4-FFF2-40B4-BE49-F238E27FC236}">
                <a16:creationId xmlns:a16="http://schemas.microsoft.com/office/drawing/2014/main" id="{72AB4F7F-8692-27D2-D481-21DF7CB6403A}"/>
              </a:ext>
            </a:extLst>
          </p:cNvPr>
          <p:cNvSpPr txBox="1"/>
          <p:nvPr/>
        </p:nvSpPr>
        <p:spPr>
          <a:xfrm>
            <a:off x="6006805" y="3995548"/>
            <a:ext cx="2907126"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a:t>
            </a:r>
            <a:r>
              <a:rPr kumimoji="1" lang="en-US" altLang="ja-JP" sz="1000" b="1"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PM</a:t>
            </a:r>
            <a:r>
              <a:rPr kumimoji="1" lang="ja-JP" altLang="en-US" sz="1000" b="1"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中心に採算管理していく方針策定</a:t>
            </a:r>
            <a:r>
              <a:rPr kumimoji="1" lang="en-US" altLang="ja-JP" sz="1000" b="1"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_</a:t>
            </a:r>
            <a:r>
              <a:rPr kumimoji="1" lang="ja-JP" altLang="en-US" sz="1000" b="1"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済</a:t>
            </a:r>
            <a:endParaRPr kumimoji="1" lang="en-US" altLang="ja-JP" sz="1000" b="1"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　（受売利、引合費の可視化）</a:t>
            </a:r>
            <a:endParaRPr kumimoji="1" lang="en-US" altLang="ja-JP" sz="1000" b="0"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a:t>
            </a:r>
            <a:r>
              <a:rPr kumimoji="1" lang="en-US" altLang="ja-JP" sz="1000" b="1"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AS</a:t>
            </a:r>
            <a:r>
              <a:rPr kumimoji="1" lang="ja-JP" altLang="en-US" sz="1000" b="1"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シフト、多能工化促進の為の</a:t>
            </a:r>
            <a:r>
              <a:rPr kumimoji="1" lang="en-US" altLang="ja-JP" sz="1000" b="1"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KPI</a:t>
            </a:r>
            <a:r>
              <a:rPr kumimoji="1" lang="ja-JP" altLang="en-US" sz="1000" b="1"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策定</a:t>
            </a:r>
            <a:r>
              <a:rPr kumimoji="1" lang="en-US" altLang="ja-JP" sz="1000" b="1"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_</a:t>
            </a:r>
            <a:r>
              <a:rPr kumimoji="1" lang="ja-JP" altLang="en-US" sz="1000" b="1"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済</a:t>
            </a:r>
            <a:endParaRPr kumimoji="1" lang="en-US" altLang="ja-JP" sz="1000" b="1"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　（</a:t>
            </a:r>
            <a:r>
              <a:rPr kumimoji="1" lang="en-US" altLang="ja-JP" sz="1000" b="0"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AS</a:t>
            </a:r>
            <a:r>
              <a:rPr kumimoji="1" lang="ja-JP" altLang="en-US" sz="1000" b="0" i="0" u="none" strike="noStrike" kern="1200" cap="none" spc="0" normalizeH="0" baseline="0" noProof="0" dirty="0">
                <a:ln>
                  <a:noFill/>
                </a:ln>
                <a:solidFill>
                  <a:srgbClr val="000000"/>
                </a:solidFill>
                <a:effectLst/>
                <a:highlight>
                  <a:srgbClr val="FFFFFF"/>
                </a:highlight>
                <a:uLnTx/>
                <a:uFillTx/>
                <a:latin typeface="メイリオ"/>
                <a:ea typeface="メイリオ"/>
                <a:cs typeface="+mn-cs"/>
              </a:rPr>
              <a:t>従事比率、直接作業比率）</a:t>
            </a:r>
          </a:p>
        </p:txBody>
      </p:sp>
      <p:sp>
        <p:nvSpPr>
          <p:cNvPr id="22" name="正方形/長方形 21">
            <a:extLst>
              <a:ext uri="{FF2B5EF4-FFF2-40B4-BE49-F238E27FC236}">
                <a16:creationId xmlns:a16="http://schemas.microsoft.com/office/drawing/2014/main" id="{FA3BDD09-282C-8FA9-5303-ABAFD37FE44C}"/>
              </a:ext>
            </a:extLst>
          </p:cNvPr>
          <p:cNvSpPr/>
          <p:nvPr/>
        </p:nvSpPr>
        <p:spPr>
          <a:xfrm>
            <a:off x="3108734" y="5657540"/>
            <a:ext cx="1137014" cy="236672"/>
          </a:xfrm>
          <a:prstGeom prst="rect">
            <a:avLst/>
          </a:prstGeom>
          <a:noFill/>
          <a:ln w="19050" cmpd="sng">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dirty="0">
              <a:ln>
                <a:noFill/>
              </a:ln>
              <a:solidFill>
                <a:sysClr val="windowText" lastClr="000000"/>
              </a:solidFill>
              <a:effectLst/>
              <a:uLnTx/>
              <a:uFillTx/>
              <a:latin typeface="メイリオ"/>
              <a:ea typeface="メイリオ"/>
              <a:cs typeface="+mn-cs"/>
            </a:endParaRPr>
          </a:p>
        </p:txBody>
      </p:sp>
      <p:sp>
        <p:nvSpPr>
          <p:cNvPr id="7" name="テキスト ボックス 6">
            <a:extLst>
              <a:ext uri="{FF2B5EF4-FFF2-40B4-BE49-F238E27FC236}">
                <a16:creationId xmlns:a16="http://schemas.microsoft.com/office/drawing/2014/main" id="{AA9FDF72-56F7-1C05-803B-CA5D6AB108AD}"/>
              </a:ext>
            </a:extLst>
          </p:cNvPr>
          <p:cNvSpPr txBox="1"/>
          <p:nvPr/>
        </p:nvSpPr>
        <p:spPr>
          <a:xfrm>
            <a:off x="2683052" y="5936544"/>
            <a:ext cx="156269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1" i="0" u="none" strike="noStrike" kern="1200" cap="none" spc="0" normalizeH="0" baseline="0" noProof="0" dirty="0">
                <a:ln>
                  <a:noFill/>
                </a:ln>
                <a:solidFill>
                  <a:srgbClr val="FF0000"/>
                </a:solidFill>
                <a:effectLst/>
                <a:highlight>
                  <a:srgbClr val="FFFFFF"/>
                </a:highlight>
                <a:uLnTx/>
                <a:uFillTx/>
                <a:latin typeface="メイリオ"/>
                <a:ea typeface="メイリオ"/>
                <a:cs typeface="+mn-cs"/>
              </a:rPr>
              <a:t>引合費例月</a:t>
            </a:r>
            <a:r>
              <a:rPr kumimoji="1" lang="en-US" altLang="ja-JP" sz="900" b="1" i="0" u="none" strike="noStrike" kern="1200" cap="none" spc="0" normalizeH="0" baseline="0" noProof="0" dirty="0">
                <a:ln>
                  <a:noFill/>
                </a:ln>
                <a:solidFill>
                  <a:srgbClr val="FF0000"/>
                </a:solidFill>
                <a:effectLst/>
                <a:highlight>
                  <a:srgbClr val="FFFFFF"/>
                </a:highlight>
                <a:uLnTx/>
                <a:uFillTx/>
                <a:latin typeface="メイリオ"/>
                <a:ea typeface="メイリオ"/>
                <a:cs typeface="+mn-cs"/>
              </a:rPr>
              <a:t>F</a:t>
            </a:r>
            <a:r>
              <a:rPr kumimoji="1" lang="ja-JP" altLang="en-US" sz="900" b="1" i="0" u="none" strike="noStrike" kern="1200" cap="none" spc="0" normalizeH="0" baseline="0" noProof="0" dirty="0">
                <a:ln>
                  <a:noFill/>
                </a:ln>
                <a:solidFill>
                  <a:srgbClr val="FF0000"/>
                </a:solidFill>
                <a:effectLst/>
                <a:highlight>
                  <a:srgbClr val="FFFFFF"/>
                </a:highlight>
                <a:uLnTx/>
                <a:uFillTx/>
                <a:latin typeface="メイリオ"/>
                <a:ea typeface="メイリオ"/>
                <a:cs typeface="+mn-cs"/>
              </a:rPr>
              <a:t>にて</a:t>
            </a:r>
            <a:endParaRPr kumimoji="1" lang="en-US" altLang="ja-JP" sz="900" b="1" i="0" u="none" strike="noStrike" kern="1200" cap="none" spc="0" normalizeH="0" baseline="0" noProof="0" dirty="0">
              <a:ln>
                <a:noFill/>
              </a:ln>
              <a:solidFill>
                <a:srgbClr val="FF0000"/>
              </a:solidFill>
              <a:effectLst/>
              <a:highlight>
                <a:srgbClr val="FFFFFF"/>
              </a:highlight>
              <a:uLnTx/>
              <a:uFillTx/>
              <a:latin typeface="メイリオ"/>
              <a:ea typeface="メイリオ"/>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1" i="0" u="none" strike="noStrike" kern="1200" cap="none" spc="0" normalizeH="0" baseline="0" noProof="0" dirty="0">
                <a:ln>
                  <a:noFill/>
                </a:ln>
                <a:solidFill>
                  <a:srgbClr val="FF0000"/>
                </a:solidFill>
                <a:effectLst/>
                <a:highlight>
                  <a:srgbClr val="FFFFFF"/>
                </a:highlight>
                <a:uLnTx/>
                <a:uFillTx/>
                <a:latin typeface="メイリオ"/>
                <a:ea typeface="メイリオ"/>
                <a:cs typeface="+mn-cs"/>
              </a:rPr>
              <a:t>エクセルベースで仮運用中</a:t>
            </a:r>
          </a:p>
        </p:txBody>
      </p:sp>
      <p:sp>
        <p:nvSpPr>
          <p:cNvPr id="25" name="正方形/長方形 24">
            <a:extLst>
              <a:ext uri="{FF2B5EF4-FFF2-40B4-BE49-F238E27FC236}">
                <a16:creationId xmlns:a16="http://schemas.microsoft.com/office/drawing/2014/main" id="{44E6E220-72DB-4CF6-AF64-DFD41EB6D74A}"/>
              </a:ext>
            </a:extLst>
          </p:cNvPr>
          <p:cNvSpPr/>
          <p:nvPr/>
        </p:nvSpPr>
        <p:spPr>
          <a:xfrm>
            <a:off x="0" y="3336846"/>
            <a:ext cx="1982943" cy="298549"/>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prstClr val="black"/>
                </a:solidFill>
                <a:effectLst/>
                <a:uLnTx/>
                <a:uFillTx/>
                <a:latin typeface="メイリオ"/>
                <a:ea typeface="メイリオ"/>
                <a:cs typeface="+mn-cs"/>
              </a:rPr>
              <a:t>【</a:t>
            </a:r>
            <a:r>
              <a:rPr kumimoji="1" lang="ja-JP" altLang="en-US" sz="1400" b="1" i="0" u="none" strike="noStrike" kern="1200" cap="none" spc="0" normalizeH="0" baseline="0" noProof="0" dirty="0">
                <a:ln>
                  <a:noFill/>
                </a:ln>
                <a:solidFill>
                  <a:prstClr val="black"/>
                </a:solidFill>
                <a:effectLst/>
                <a:uLnTx/>
                <a:uFillTx/>
                <a:latin typeface="メイリオ"/>
                <a:ea typeface="メイリオ"/>
                <a:cs typeface="+mn-cs"/>
              </a:rPr>
              <a:t>適用スケジュール</a:t>
            </a:r>
            <a:r>
              <a:rPr kumimoji="1" lang="en-US" altLang="ja-JP" sz="1400" b="1" i="0" u="none" strike="noStrike" kern="1200" cap="none" spc="0" normalizeH="0" baseline="0" noProof="0" dirty="0">
                <a:ln>
                  <a:noFill/>
                </a:ln>
                <a:solidFill>
                  <a:prstClr val="black"/>
                </a:solidFill>
                <a:effectLst/>
                <a:uLnTx/>
                <a:uFillTx/>
                <a:latin typeface="メイリオ"/>
                <a:ea typeface="メイリオ"/>
                <a:cs typeface="+mn-cs"/>
              </a:rPr>
              <a:t>】</a:t>
            </a:r>
            <a:endParaRPr kumimoji="1" lang="en-US" altLang="ja-JP" sz="1400" b="0" i="0" u="none" strike="noStrike" kern="1200" cap="none" spc="0" normalizeH="0" baseline="0" noProof="0" dirty="0">
              <a:ln>
                <a:noFill/>
              </a:ln>
              <a:solidFill>
                <a:prstClr val="black"/>
              </a:solidFill>
              <a:effectLst/>
              <a:uLnTx/>
              <a:uFillTx/>
              <a:latin typeface="メイリオ"/>
              <a:ea typeface="メイリオ"/>
              <a:cs typeface="+mn-cs"/>
            </a:endParaRPr>
          </a:p>
        </p:txBody>
      </p:sp>
      <p:sp>
        <p:nvSpPr>
          <p:cNvPr id="26" name="テキスト プレースホルダー 5">
            <a:extLst>
              <a:ext uri="{FF2B5EF4-FFF2-40B4-BE49-F238E27FC236}">
                <a16:creationId xmlns:a16="http://schemas.microsoft.com/office/drawing/2014/main" id="{9D956649-C882-556D-3CE0-3E5CE53F24AB}"/>
              </a:ext>
            </a:extLst>
          </p:cNvPr>
          <p:cNvSpPr txBox="1">
            <a:spLocks/>
          </p:cNvSpPr>
          <p:nvPr/>
        </p:nvSpPr>
        <p:spPr>
          <a:xfrm>
            <a:off x="130764" y="652214"/>
            <a:ext cx="8882470" cy="680293"/>
          </a:xfrm>
          <a:prstGeom prst="rect">
            <a:avLst/>
          </a:prstGeom>
          <a:solidFill>
            <a:schemeClr val="bg2">
              <a:lumMod val="40000"/>
              <a:lumOff val="60000"/>
            </a:schemeClr>
          </a:solidFill>
        </p:spPr>
        <p:txBody>
          <a:bodyPr anchor="ctr"/>
          <a:lst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400" b="0" i="0" u="none" strike="noStrike" kern="1200" cap="none" spc="0" normalizeH="0" baseline="0" noProof="0" dirty="0">
                <a:ln>
                  <a:noFill/>
                </a:ln>
                <a:solidFill>
                  <a:srgbClr val="000000"/>
                </a:solidFill>
                <a:effectLst/>
                <a:uLnTx/>
                <a:uFillTx/>
                <a:latin typeface="メイリオ"/>
                <a:ea typeface="メイリオ"/>
                <a:cs typeface="+mn-cs"/>
              </a:rPr>
              <a:t>■</a:t>
            </a:r>
            <a:r>
              <a:rPr kumimoji="1" lang="en-US" altLang="ja-JP" sz="1400" b="0" i="0" u="none" strike="noStrike" kern="1200" cap="none" spc="0" normalizeH="0" baseline="0" noProof="0" dirty="0">
                <a:ln>
                  <a:noFill/>
                </a:ln>
                <a:solidFill>
                  <a:srgbClr val="000000"/>
                </a:solidFill>
                <a:effectLst/>
                <a:uLnTx/>
                <a:uFillTx/>
                <a:latin typeface="メイリオ"/>
                <a:ea typeface="メイリオ"/>
                <a:cs typeface="+mn-cs"/>
              </a:rPr>
              <a:t>PM</a:t>
            </a:r>
            <a:r>
              <a:rPr kumimoji="1" lang="ja-JP" altLang="en-US" sz="1400" b="0" i="0" u="none" strike="noStrike" kern="1200" cap="none" spc="0" normalizeH="0" baseline="0" noProof="0" dirty="0">
                <a:ln>
                  <a:noFill/>
                </a:ln>
                <a:solidFill>
                  <a:srgbClr val="000000"/>
                </a:solidFill>
                <a:effectLst/>
                <a:uLnTx/>
                <a:uFillTx/>
                <a:latin typeface="メイリオ"/>
                <a:ea typeface="メイリオ"/>
                <a:cs typeface="+mn-cs"/>
              </a:rPr>
              <a:t>中心のマネジメントサイクルを構築するうえで、発電所単位で採算状況把握する為の仕組み。</a:t>
            </a:r>
            <a:endParaRPr kumimoji="1" lang="en-US" altLang="ja-JP" sz="1400" b="0" i="0" u="none" strike="noStrike" kern="1200" cap="none" spc="0" normalizeH="0" baseline="0" noProof="0" dirty="0">
              <a:ln>
                <a:noFill/>
              </a:ln>
              <a:solidFill>
                <a:srgbClr val="000000"/>
              </a:solidFill>
              <a:effectLst/>
              <a:uLnTx/>
              <a:uFillTx/>
              <a:latin typeface="メイリオ"/>
              <a:ea typeface="メイリオ"/>
              <a:cs typeface="+mn-cs"/>
            </a:endParaRP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400" b="1" i="0" u="none" strike="noStrike" kern="1200" cap="none" spc="0" normalizeH="0" baseline="0" noProof="0" dirty="0">
                <a:ln>
                  <a:noFill/>
                </a:ln>
                <a:solidFill>
                  <a:srgbClr val="FF0000"/>
                </a:solidFill>
                <a:effectLst/>
                <a:uLnTx/>
                <a:uFillTx/>
                <a:latin typeface="メイリオ"/>
                <a:ea typeface="メイリオ"/>
                <a:cs typeface="+mn-cs"/>
              </a:rPr>
              <a:t>■下表①受売利はまだ構築途中。各</a:t>
            </a:r>
            <a:r>
              <a:rPr kumimoji="1" lang="en-US" altLang="ja-JP" sz="1400" b="1" i="0" u="none" strike="noStrike" kern="1200" cap="none" spc="0" normalizeH="0" baseline="0" noProof="0" dirty="0">
                <a:ln>
                  <a:noFill/>
                </a:ln>
                <a:solidFill>
                  <a:srgbClr val="FF0000"/>
                </a:solidFill>
                <a:effectLst/>
                <a:uLnTx/>
                <a:uFillTx/>
                <a:latin typeface="メイリオ"/>
                <a:ea typeface="メイリオ"/>
                <a:cs typeface="+mn-cs"/>
              </a:rPr>
              <a:t>PM</a:t>
            </a:r>
            <a:r>
              <a:rPr kumimoji="1" lang="ja-JP" altLang="en-US" sz="1400" b="1" i="0" u="none" strike="noStrike" kern="1200" cap="none" spc="0" normalizeH="0" baseline="0" noProof="0" dirty="0">
                <a:ln>
                  <a:noFill/>
                </a:ln>
                <a:solidFill>
                  <a:srgbClr val="FF0000"/>
                </a:solidFill>
                <a:effectLst/>
                <a:uLnTx/>
                <a:uFillTx/>
                <a:latin typeface="メイリオ"/>
                <a:ea typeface="メイリオ"/>
                <a:cs typeface="+mn-cs"/>
              </a:rPr>
              <a:t>におかれては発電所別採算把握が開始出来</a:t>
            </a:r>
            <a:r>
              <a:rPr lang="ja-JP" altLang="en-US" sz="1400" b="1" dirty="0">
                <a:solidFill>
                  <a:srgbClr val="FF0000"/>
                </a:solidFill>
                <a:latin typeface="メイリオ"/>
                <a:ea typeface="メイリオ"/>
              </a:rPr>
              <a:t>ていない</a:t>
            </a:r>
            <a:r>
              <a:rPr kumimoji="1" lang="ja-JP" altLang="en-US" sz="1400" b="1" i="0" u="none" strike="noStrike" kern="1200" cap="none" spc="0" normalizeH="0" baseline="0" noProof="0" dirty="0">
                <a:ln>
                  <a:noFill/>
                </a:ln>
                <a:solidFill>
                  <a:srgbClr val="FF0000"/>
                </a:solidFill>
                <a:effectLst/>
                <a:uLnTx/>
                <a:uFillTx/>
                <a:latin typeface="メイリオ"/>
                <a:ea typeface="メイリオ"/>
                <a:cs typeface="+mn-cs"/>
              </a:rPr>
              <a:t>。</a:t>
            </a:r>
            <a:endParaRPr kumimoji="1" lang="en-US" altLang="ja-JP" sz="1400" b="1" i="0" u="none" strike="noStrike" kern="1200" cap="none" spc="0" normalizeH="0" baseline="0" noProof="0" dirty="0">
              <a:ln>
                <a:noFill/>
              </a:ln>
              <a:solidFill>
                <a:srgbClr val="FF0000"/>
              </a:solidFill>
              <a:effectLst/>
              <a:uLnTx/>
              <a:uFillTx/>
              <a:latin typeface="メイリオ"/>
              <a:ea typeface="メイリオ"/>
              <a:cs typeface="+mn-cs"/>
            </a:endParaRP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400" b="0" i="0" u="none" strike="noStrike" kern="1200" cap="none" spc="0" normalizeH="0" baseline="0" noProof="0" dirty="0">
                <a:ln>
                  <a:noFill/>
                </a:ln>
                <a:solidFill>
                  <a:srgbClr val="FF0000"/>
                </a:solidFill>
                <a:effectLst/>
                <a:uLnTx/>
                <a:uFillTx/>
                <a:latin typeface="メイリオ"/>
                <a:ea typeface="メイリオ"/>
                <a:cs typeface="+mn-cs"/>
              </a:rPr>
              <a:t>■</a:t>
            </a:r>
            <a:r>
              <a:rPr kumimoji="1" lang="ja-JP" altLang="en-US" sz="1400" b="1" i="0" u="none" strike="noStrike" kern="1200" cap="none" spc="0" normalizeH="0" baseline="0" noProof="0" dirty="0">
                <a:ln>
                  <a:noFill/>
                </a:ln>
                <a:solidFill>
                  <a:srgbClr val="FF0000"/>
                </a:solidFill>
                <a:effectLst/>
                <a:uLnTx/>
                <a:uFillTx/>
                <a:latin typeface="メイリオ"/>
                <a:ea typeface="メイリオ"/>
                <a:cs typeface="+mn-cs"/>
              </a:rPr>
              <a:t>下表②③④は本日以降、公開開始する。</a:t>
            </a:r>
            <a:endParaRPr kumimoji="1" lang="en-US" altLang="ja-JP" sz="1400" b="1" i="0" u="none" strike="noStrike" kern="1200" cap="none" spc="0" normalizeH="0" baseline="0" noProof="0" dirty="0">
              <a:ln>
                <a:noFill/>
              </a:ln>
              <a:solidFill>
                <a:srgbClr val="FF0000"/>
              </a:solidFill>
              <a:effectLst/>
              <a:uLnTx/>
              <a:uFillTx/>
              <a:latin typeface="メイリオ"/>
              <a:ea typeface="メイリオ"/>
              <a:cs typeface="+mn-cs"/>
            </a:endParaRPr>
          </a:p>
        </p:txBody>
      </p:sp>
      <p:sp>
        <p:nvSpPr>
          <p:cNvPr id="27" name="正方形/長方形 26">
            <a:extLst>
              <a:ext uri="{FF2B5EF4-FFF2-40B4-BE49-F238E27FC236}">
                <a16:creationId xmlns:a16="http://schemas.microsoft.com/office/drawing/2014/main" id="{0F6538AE-D3C0-D6C5-9BE0-97470F4DF5DC}"/>
              </a:ext>
            </a:extLst>
          </p:cNvPr>
          <p:cNvSpPr/>
          <p:nvPr/>
        </p:nvSpPr>
        <p:spPr>
          <a:xfrm>
            <a:off x="-982" y="1442045"/>
            <a:ext cx="2929468" cy="298549"/>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prstClr val="black"/>
                </a:solidFill>
                <a:effectLst/>
                <a:uLnTx/>
                <a:uFillTx/>
                <a:latin typeface="メイリオ"/>
                <a:ea typeface="メイリオ"/>
                <a:cs typeface="+mn-cs"/>
              </a:rPr>
              <a:t>【</a:t>
            </a:r>
            <a:r>
              <a:rPr kumimoji="1" lang="ja-JP" altLang="en-US" sz="1400" b="1" i="0" u="none" strike="noStrike" kern="1200" cap="none" spc="0" normalizeH="0" baseline="0" noProof="0" dirty="0">
                <a:ln>
                  <a:noFill/>
                </a:ln>
                <a:solidFill>
                  <a:prstClr val="black"/>
                </a:solidFill>
                <a:effectLst/>
                <a:uLnTx/>
                <a:uFillTx/>
                <a:latin typeface="メイリオ"/>
                <a:ea typeface="メイリオ"/>
                <a:cs typeface="+mn-cs"/>
              </a:rPr>
              <a:t>可視化モデル運用の位置づけ</a:t>
            </a:r>
            <a:r>
              <a:rPr kumimoji="1" lang="en-US" altLang="ja-JP" sz="1400" b="1" i="0" u="none" strike="noStrike" kern="1200" cap="none" spc="0" normalizeH="0" baseline="0" noProof="0" dirty="0">
                <a:ln>
                  <a:noFill/>
                </a:ln>
                <a:solidFill>
                  <a:prstClr val="black"/>
                </a:solidFill>
                <a:effectLst/>
                <a:uLnTx/>
                <a:uFillTx/>
                <a:latin typeface="メイリオ"/>
                <a:ea typeface="メイリオ"/>
                <a:cs typeface="+mn-cs"/>
              </a:rPr>
              <a:t>】</a:t>
            </a:r>
            <a:endParaRPr kumimoji="1" lang="en-US" altLang="ja-JP" sz="1400" b="0" i="0" u="none" strike="noStrike" kern="1200" cap="none" spc="0" normalizeH="0" baseline="0" noProof="0" dirty="0">
              <a:ln>
                <a:noFill/>
              </a:ln>
              <a:solidFill>
                <a:prstClr val="black"/>
              </a:solidFill>
              <a:effectLst/>
              <a:uLnTx/>
              <a:uFillTx/>
              <a:latin typeface="メイリオ"/>
              <a:ea typeface="メイリオ"/>
              <a:cs typeface="+mn-cs"/>
            </a:endParaRPr>
          </a:p>
        </p:txBody>
      </p:sp>
      <p:sp>
        <p:nvSpPr>
          <p:cNvPr id="40" name="正方形/長方形 39">
            <a:extLst>
              <a:ext uri="{FF2B5EF4-FFF2-40B4-BE49-F238E27FC236}">
                <a16:creationId xmlns:a16="http://schemas.microsoft.com/office/drawing/2014/main" id="{32C47DD6-901E-E992-0E2B-5D856048043B}"/>
              </a:ext>
            </a:extLst>
          </p:cNvPr>
          <p:cNvSpPr/>
          <p:nvPr/>
        </p:nvSpPr>
        <p:spPr>
          <a:xfrm>
            <a:off x="4618339" y="2240782"/>
            <a:ext cx="493260" cy="1024212"/>
          </a:xfrm>
          <a:prstGeom prst="rect">
            <a:avLst/>
          </a:prstGeom>
          <a:noFill/>
          <a:ln w="19050" cmpd="sng">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dirty="0">
              <a:ln>
                <a:noFill/>
              </a:ln>
              <a:solidFill>
                <a:srgbClr val="000000"/>
              </a:solidFill>
              <a:effectLst/>
              <a:uLnTx/>
              <a:uFillTx/>
              <a:latin typeface="メイリオ"/>
              <a:ea typeface="メイリオ"/>
              <a:cs typeface="+mn-cs"/>
            </a:endParaRPr>
          </a:p>
        </p:txBody>
      </p:sp>
      <p:sp>
        <p:nvSpPr>
          <p:cNvPr id="67" name="テキスト ボックス 66">
            <a:extLst>
              <a:ext uri="{FF2B5EF4-FFF2-40B4-BE49-F238E27FC236}">
                <a16:creationId xmlns:a16="http://schemas.microsoft.com/office/drawing/2014/main" id="{7A3A7497-1C63-953F-48B9-56DC852AA1D6}"/>
              </a:ext>
            </a:extLst>
          </p:cNvPr>
          <p:cNvSpPr txBox="1"/>
          <p:nvPr/>
        </p:nvSpPr>
        <p:spPr>
          <a:xfrm>
            <a:off x="4523699" y="3240866"/>
            <a:ext cx="419066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i="0" u="sng" strike="noStrike" kern="1200" cap="none" spc="0" normalizeH="0" baseline="0" noProof="0" dirty="0">
                <a:ln>
                  <a:noFill/>
                </a:ln>
                <a:solidFill>
                  <a:srgbClr val="FF0000"/>
                </a:solidFill>
                <a:effectLst/>
                <a:uLnTx/>
                <a:uFillTx/>
                <a:latin typeface="Arial"/>
                <a:ea typeface="メイリオ"/>
                <a:cs typeface="+mn-cs"/>
              </a:rPr>
              <a:t>■発電所単位で営利状況が把握出来る様にする取組み</a:t>
            </a:r>
          </a:p>
        </p:txBody>
      </p:sp>
      <p:sp>
        <p:nvSpPr>
          <p:cNvPr id="2" name="四角形: 角を丸くする 1">
            <a:extLst>
              <a:ext uri="{FF2B5EF4-FFF2-40B4-BE49-F238E27FC236}">
                <a16:creationId xmlns:a16="http://schemas.microsoft.com/office/drawing/2014/main" id="{0495B34F-21CC-0324-F2EB-20089655A9E0}"/>
              </a:ext>
            </a:extLst>
          </p:cNvPr>
          <p:cNvSpPr/>
          <p:nvPr/>
        </p:nvSpPr>
        <p:spPr>
          <a:xfrm>
            <a:off x="593076" y="1754139"/>
            <a:ext cx="7471801" cy="183422"/>
          </a:xfrm>
          <a:prstGeom prst="roundRect">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PM</a:t>
            </a:r>
            <a:r>
              <a:rPr kumimoji="1" lang="ja-JP" altLang="en-US" sz="1100" b="1" i="0" u="none" strike="noStrike" kern="1200" cap="none" spc="0" normalizeH="0" baseline="0" noProof="0" dirty="0">
                <a:ln>
                  <a:noFill/>
                </a:ln>
                <a:solidFill>
                  <a:prstClr val="white"/>
                </a:solidFill>
                <a:effectLst/>
                <a:uLnTx/>
                <a:uFillTx/>
                <a:latin typeface="Meiryo UI"/>
                <a:ea typeface="Meiryo UI"/>
                <a:cs typeface="+mn-cs"/>
              </a:rPr>
              <a:t>中心の発電所単位でのマネジメントサイクル</a:t>
            </a: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a:t>
            </a:r>
            <a:r>
              <a:rPr kumimoji="1" lang="ja-JP" altLang="en-US" sz="1100" b="1" i="0" u="none" strike="noStrike" kern="1200" cap="none" spc="0" normalizeH="0" baseline="0" noProof="0" dirty="0">
                <a:ln>
                  <a:noFill/>
                </a:ln>
                <a:solidFill>
                  <a:prstClr val="white"/>
                </a:solidFill>
                <a:effectLst/>
                <a:uLnTx/>
                <a:uFillTx/>
                <a:latin typeface="Meiryo UI"/>
                <a:ea typeface="Meiryo UI"/>
                <a:cs typeface="+mn-cs"/>
              </a:rPr>
              <a:t>受売利</a:t>
            </a: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a:t>
            </a:r>
            <a:endParaRPr kumimoji="1" lang="ja-JP" altLang="en-US" sz="11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4" name="正方形/長方形 3">
            <a:extLst>
              <a:ext uri="{FF2B5EF4-FFF2-40B4-BE49-F238E27FC236}">
                <a16:creationId xmlns:a16="http://schemas.microsoft.com/office/drawing/2014/main" id="{5B74000A-E965-31D4-3311-7B0363845224}"/>
              </a:ext>
            </a:extLst>
          </p:cNvPr>
          <p:cNvSpPr/>
          <p:nvPr/>
        </p:nvSpPr>
        <p:spPr>
          <a:xfrm>
            <a:off x="3347864" y="4917348"/>
            <a:ext cx="864096" cy="236672"/>
          </a:xfrm>
          <a:prstGeom prst="rect">
            <a:avLst/>
          </a:prstGeom>
          <a:noFill/>
          <a:ln w="19050" cmpd="sng">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dirty="0">
              <a:ln>
                <a:noFill/>
              </a:ln>
              <a:solidFill>
                <a:sysClr val="windowText" lastClr="000000"/>
              </a:solidFill>
              <a:effectLst/>
              <a:uLnTx/>
              <a:uFillTx/>
              <a:latin typeface="メイリオ"/>
              <a:ea typeface="メイリオ"/>
              <a:cs typeface="+mn-cs"/>
            </a:endParaRPr>
          </a:p>
        </p:txBody>
      </p:sp>
      <p:grpSp>
        <p:nvGrpSpPr>
          <p:cNvPr id="6" name="グループ化 5">
            <a:extLst>
              <a:ext uri="{FF2B5EF4-FFF2-40B4-BE49-F238E27FC236}">
                <a16:creationId xmlns:a16="http://schemas.microsoft.com/office/drawing/2014/main" id="{C898BB40-AB41-B658-C478-FFBF42E48CC5}"/>
              </a:ext>
            </a:extLst>
          </p:cNvPr>
          <p:cNvGrpSpPr/>
          <p:nvPr/>
        </p:nvGrpSpPr>
        <p:grpSpPr>
          <a:xfrm>
            <a:off x="574899" y="1985829"/>
            <a:ext cx="7495459" cy="1244889"/>
            <a:chOff x="510139" y="1820552"/>
            <a:chExt cx="7495459" cy="1244889"/>
          </a:xfrm>
        </p:grpSpPr>
        <p:sp>
          <p:nvSpPr>
            <p:cNvPr id="8" name="四角形: 角を丸くする 7">
              <a:extLst>
                <a:ext uri="{FF2B5EF4-FFF2-40B4-BE49-F238E27FC236}">
                  <a16:creationId xmlns:a16="http://schemas.microsoft.com/office/drawing/2014/main" id="{32ADDBD8-8930-62D0-601E-26029871D296}"/>
                </a:ext>
              </a:extLst>
            </p:cNvPr>
            <p:cNvSpPr/>
            <p:nvPr/>
          </p:nvSpPr>
          <p:spPr>
            <a:xfrm>
              <a:off x="510139" y="1823860"/>
              <a:ext cx="2658389" cy="169004"/>
            </a:xfrm>
            <a:prstGeom prst="roundRect">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Plan</a:t>
              </a:r>
              <a:endParaRPr kumimoji="1" lang="ja-JP" altLang="en-US" sz="11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11" name="四角形: 角を丸くする 10">
              <a:extLst>
                <a:ext uri="{FF2B5EF4-FFF2-40B4-BE49-F238E27FC236}">
                  <a16:creationId xmlns:a16="http://schemas.microsoft.com/office/drawing/2014/main" id="{37EC6C93-0291-6733-28DC-657AC7C4C055}"/>
                </a:ext>
              </a:extLst>
            </p:cNvPr>
            <p:cNvSpPr/>
            <p:nvPr/>
          </p:nvSpPr>
          <p:spPr>
            <a:xfrm>
              <a:off x="4607209" y="1820553"/>
              <a:ext cx="1939292" cy="171758"/>
            </a:xfrm>
            <a:prstGeom prst="roundRect">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Check</a:t>
              </a:r>
              <a:endParaRPr kumimoji="1" lang="ja-JP" altLang="en-US" sz="11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12" name="四角形: 角を丸くする 11">
              <a:extLst>
                <a:ext uri="{FF2B5EF4-FFF2-40B4-BE49-F238E27FC236}">
                  <a16:creationId xmlns:a16="http://schemas.microsoft.com/office/drawing/2014/main" id="{A763A458-1562-1246-ABDF-334A21741733}"/>
                </a:ext>
              </a:extLst>
            </p:cNvPr>
            <p:cNvSpPr/>
            <p:nvPr/>
          </p:nvSpPr>
          <p:spPr>
            <a:xfrm>
              <a:off x="6715292" y="1820552"/>
              <a:ext cx="1266649" cy="171758"/>
            </a:xfrm>
            <a:prstGeom prst="roundRect">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Action</a:t>
              </a:r>
              <a:endParaRPr kumimoji="1" lang="ja-JP" altLang="en-US" sz="11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13" name="四角形: 角を丸くする 12">
              <a:extLst>
                <a:ext uri="{FF2B5EF4-FFF2-40B4-BE49-F238E27FC236}">
                  <a16:creationId xmlns:a16="http://schemas.microsoft.com/office/drawing/2014/main" id="{91269571-EAA8-CB1D-54F8-F5C2781D0522}"/>
                </a:ext>
              </a:extLst>
            </p:cNvPr>
            <p:cNvSpPr/>
            <p:nvPr/>
          </p:nvSpPr>
          <p:spPr>
            <a:xfrm>
              <a:off x="3240537" y="1823858"/>
              <a:ext cx="1197879" cy="169005"/>
            </a:xfrm>
            <a:prstGeom prst="roundRect">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Do</a:t>
              </a:r>
              <a:endParaRPr kumimoji="1" lang="ja-JP" altLang="en-US" sz="11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23" name="矢印: 五方向 22">
              <a:extLst>
                <a:ext uri="{FF2B5EF4-FFF2-40B4-BE49-F238E27FC236}">
                  <a16:creationId xmlns:a16="http://schemas.microsoft.com/office/drawing/2014/main" id="{232CFFA2-0155-5342-20F6-79252C1BE4C7}"/>
                </a:ext>
              </a:extLst>
            </p:cNvPr>
            <p:cNvSpPr/>
            <p:nvPr/>
          </p:nvSpPr>
          <p:spPr>
            <a:xfrm>
              <a:off x="528316" y="2606896"/>
              <a:ext cx="1157322" cy="437141"/>
            </a:xfrm>
            <a:prstGeom prst="homePlate">
              <a:avLst>
                <a:gd name="adj" fmla="val 17297"/>
              </a:avLst>
            </a:prstGeom>
            <a:solidFill>
              <a:schemeClr val="bg2">
                <a:lumMod val="75000"/>
              </a:schemeClr>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引合費計画</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p>
          </p:txBody>
        </p:sp>
        <p:sp>
          <p:nvSpPr>
            <p:cNvPr id="24" name="矢印: 五方向 23">
              <a:extLst>
                <a:ext uri="{FF2B5EF4-FFF2-40B4-BE49-F238E27FC236}">
                  <a16:creationId xmlns:a16="http://schemas.microsoft.com/office/drawing/2014/main" id="{8C25DA0B-5520-8716-3E72-C24E639E9B49}"/>
                </a:ext>
              </a:extLst>
            </p:cNvPr>
            <p:cNvSpPr/>
            <p:nvPr/>
          </p:nvSpPr>
          <p:spPr>
            <a:xfrm>
              <a:off x="3246019" y="2107632"/>
              <a:ext cx="1212920" cy="437141"/>
            </a:xfrm>
            <a:prstGeom prst="homePlate">
              <a:avLst>
                <a:gd name="adj" fmla="val 19018"/>
              </a:avLst>
            </a:prstGeom>
            <a:solidFill>
              <a:srgbClr val="567783"/>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生</a:t>
              </a:r>
              <a:r>
                <a:rPr kumimoji="1" lang="ja-JP" altLang="en-US" sz="1000" b="1" i="0" u="none" strike="noStrike" kern="1200" cap="none" spc="0" normalizeH="0" baseline="0" noProof="0" dirty="0">
                  <a:ln>
                    <a:noFill/>
                  </a:ln>
                  <a:solidFill>
                    <a:schemeClr val="bg1"/>
                  </a:solidFill>
                  <a:effectLst/>
                  <a:uLnTx/>
                  <a:uFillTx/>
                  <a:latin typeface="メイリオ"/>
                  <a:ea typeface="メイリオ"/>
                  <a:cs typeface="+mn-cs"/>
                </a:rPr>
                <a:t>産工事遂行</a:t>
              </a:r>
              <a:endParaRPr kumimoji="1" lang="en-US" altLang="ja-JP" sz="1000" b="1" i="0" u="none" strike="noStrike" kern="1200" cap="none" spc="0" normalizeH="0" baseline="0" noProof="0" dirty="0">
                <a:ln>
                  <a:noFill/>
                </a:ln>
                <a:solidFill>
                  <a:schemeClr val="bg1"/>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chemeClr val="bg1"/>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chemeClr val="bg1"/>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chemeClr val="bg1"/>
                  </a:solidFill>
                  <a:effectLst/>
                  <a:uLnTx/>
                  <a:uFillTx/>
                  <a:latin typeface="メイリオ"/>
                  <a:ea typeface="メイリオ"/>
                  <a:cs typeface="+mn-cs"/>
                </a:rPr>
                <a:t>)</a:t>
              </a:r>
            </a:p>
          </p:txBody>
        </p:sp>
        <p:sp>
          <p:nvSpPr>
            <p:cNvPr id="36" name="矢印: 五方向 35">
              <a:extLst>
                <a:ext uri="{FF2B5EF4-FFF2-40B4-BE49-F238E27FC236}">
                  <a16:creationId xmlns:a16="http://schemas.microsoft.com/office/drawing/2014/main" id="{39DF32CA-9ADC-39EE-81D0-F2D34DCD17CB}"/>
                </a:ext>
              </a:extLst>
            </p:cNvPr>
            <p:cNvSpPr/>
            <p:nvPr/>
          </p:nvSpPr>
          <p:spPr>
            <a:xfrm>
              <a:off x="5121931" y="2107632"/>
              <a:ext cx="1448226" cy="437141"/>
            </a:xfrm>
            <a:prstGeom prst="homePlate">
              <a:avLst>
                <a:gd name="adj" fmla="val 18158"/>
              </a:avLst>
            </a:prstGeom>
            <a:solidFill>
              <a:schemeClr val="bg2">
                <a:lumMod val="75000"/>
              </a:schemeClr>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生産工事コストフォロ</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p>
          </p:txBody>
        </p:sp>
        <p:sp>
          <p:nvSpPr>
            <p:cNvPr id="38" name="矢印: 五方向 37">
              <a:extLst>
                <a:ext uri="{FF2B5EF4-FFF2-40B4-BE49-F238E27FC236}">
                  <a16:creationId xmlns:a16="http://schemas.microsoft.com/office/drawing/2014/main" id="{6A8D456A-97A5-B62C-A99D-B9F6357106D1}"/>
                </a:ext>
              </a:extLst>
            </p:cNvPr>
            <p:cNvSpPr/>
            <p:nvPr/>
          </p:nvSpPr>
          <p:spPr>
            <a:xfrm>
              <a:off x="6738949" y="2107632"/>
              <a:ext cx="1266649" cy="437141"/>
            </a:xfrm>
            <a:prstGeom prst="homePlate">
              <a:avLst>
                <a:gd name="adj" fmla="val 19879"/>
              </a:avLst>
            </a:prstGeom>
            <a:solidFill>
              <a:schemeClr val="bg2">
                <a:lumMod val="75000"/>
              </a:schemeClr>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rPr>
                <a:t>コスト低減活動</a:t>
              </a:r>
              <a:endParaRPr kumimoji="1" lang="en-US" altLang="ja-JP"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rPr>
                <a:t>次回案件への反映</a:t>
              </a:r>
              <a:endParaRPr kumimoji="1" lang="en-US" altLang="ja-JP"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endParaRPr>
            </a:p>
          </p:txBody>
        </p:sp>
        <p:cxnSp>
          <p:nvCxnSpPr>
            <p:cNvPr id="39" name="コネクタ: カギ線 38">
              <a:extLst>
                <a:ext uri="{FF2B5EF4-FFF2-40B4-BE49-F238E27FC236}">
                  <a16:creationId xmlns:a16="http://schemas.microsoft.com/office/drawing/2014/main" id="{3126BB10-1818-ECDE-DA15-1DABB44F6713}"/>
                </a:ext>
              </a:extLst>
            </p:cNvPr>
            <p:cNvCxnSpPr>
              <a:cxnSpLocks/>
              <a:stCxn id="12" idx="3"/>
              <a:endCxn id="8" idx="1"/>
            </p:cNvCxnSpPr>
            <p:nvPr/>
          </p:nvCxnSpPr>
          <p:spPr>
            <a:xfrm flipH="1">
              <a:off x="510139" y="1906431"/>
              <a:ext cx="7471802" cy="1931"/>
            </a:xfrm>
            <a:prstGeom prst="bentConnector5">
              <a:avLst>
                <a:gd name="adj1" fmla="val -3060"/>
                <a:gd name="adj2" fmla="val 6999016"/>
                <a:gd name="adj3" fmla="val 10306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矢印: 五方向 40">
              <a:extLst>
                <a:ext uri="{FF2B5EF4-FFF2-40B4-BE49-F238E27FC236}">
                  <a16:creationId xmlns:a16="http://schemas.microsoft.com/office/drawing/2014/main" id="{B214FE43-B143-BC9B-8181-C78780B1A2DA}"/>
                </a:ext>
              </a:extLst>
            </p:cNvPr>
            <p:cNvSpPr/>
            <p:nvPr/>
          </p:nvSpPr>
          <p:spPr>
            <a:xfrm>
              <a:off x="533795" y="2107632"/>
              <a:ext cx="1158756" cy="437141"/>
            </a:xfrm>
            <a:prstGeom prst="homePlate">
              <a:avLst>
                <a:gd name="adj" fmla="val 17297"/>
              </a:avLst>
            </a:prstGeom>
            <a:solidFill>
              <a:schemeClr val="bg2">
                <a:lumMod val="75000"/>
              </a:schemeClr>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AS</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受売利計画</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p>
          </p:txBody>
        </p:sp>
        <p:sp>
          <p:nvSpPr>
            <p:cNvPr id="43" name="矢印: 五方向 42">
              <a:extLst>
                <a:ext uri="{FF2B5EF4-FFF2-40B4-BE49-F238E27FC236}">
                  <a16:creationId xmlns:a16="http://schemas.microsoft.com/office/drawing/2014/main" id="{92E29CAF-1E15-292E-360B-364DEBB18527}"/>
                </a:ext>
              </a:extLst>
            </p:cNvPr>
            <p:cNvSpPr/>
            <p:nvPr/>
          </p:nvSpPr>
          <p:spPr>
            <a:xfrm>
              <a:off x="5121931" y="2628300"/>
              <a:ext cx="1448226" cy="437141"/>
            </a:xfrm>
            <a:prstGeom prst="homePlate">
              <a:avLst>
                <a:gd name="adj" fmla="val 18158"/>
              </a:avLst>
            </a:prstGeom>
            <a:solidFill>
              <a:schemeClr val="bg2">
                <a:lumMod val="75000"/>
              </a:schemeClr>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引合費例月フォロ</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p>
          </p:txBody>
        </p:sp>
        <p:sp>
          <p:nvSpPr>
            <p:cNvPr id="44" name="矢印: 五方向 43">
              <a:extLst>
                <a:ext uri="{FF2B5EF4-FFF2-40B4-BE49-F238E27FC236}">
                  <a16:creationId xmlns:a16="http://schemas.microsoft.com/office/drawing/2014/main" id="{99A15298-AA10-3538-7020-BAC29E01AD36}"/>
                </a:ext>
              </a:extLst>
            </p:cNvPr>
            <p:cNvSpPr/>
            <p:nvPr/>
          </p:nvSpPr>
          <p:spPr>
            <a:xfrm>
              <a:off x="6738949" y="2628300"/>
              <a:ext cx="1266649" cy="437141"/>
            </a:xfrm>
            <a:prstGeom prst="homePlate">
              <a:avLst>
                <a:gd name="adj" fmla="val 19879"/>
              </a:avLst>
            </a:prstGeom>
            <a:solidFill>
              <a:schemeClr val="bg2">
                <a:lumMod val="75000"/>
              </a:schemeClr>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rPr>
                <a:t>引合効率化の活動</a:t>
              </a:r>
              <a:endParaRPr kumimoji="1" lang="en-US" altLang="ja-JP"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endParaRPr>
            </a:p>
          </p:txBody>
        </p:sp>
        <p:sp>
          <p:nvSpPr>
            <p:cNvPr id="46" name="矢印: 五方向 45">
              <a:extLst>
                <a:ext uri="{FF2B5EF4-FFF2-40B4-BE49-F238E27FC236}">
                  <a16:creationId xmlns:a16="http://schemas.microsoft.com/office/drawing/2014/main" id="{34CF9CDB-E817-E531-790A-27C327832D74}"/>
                </a:ext>
              </a:extLst>
            </p:cNvPr>
            <p:cNvSpPr/>
            <p:nvPr/>
          </p:nvSpPr>
          <p:spPr>
            <a:xfrm>
              <a:off x="2215520" y="2606896"/>
              <a:ext cx="1047481" cy="437141"/>
            </a:xfrm>
            <a:prstGeom prst="homePlate">
              <a:avLst>
                <a:gd name="adj" fmla="val 19018"/>
              </a:avLst>
            </a:prstGeom>
            <a:solidFill>
              <a:srgbClr val="567783"/>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引合活動遂行</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p:txBody>
        </p:sp>
        <p:sp>
          <p:nvSpPr>
            <p:cNvPr id="47" name="矢印: 五方向 46">
              <a:extLst>
                <a:ext uri="{FF2B5EF4-FFF2-40B4-BE49-F238E27FC236}">
                  <a16:creationId xmlns:a16="http://schemas.microsoft.com/office/drawing/2014/main" id="{CCEE097A-FCB4-D73E-E5D9-0D7DDD71811A}"/>
                </a:ext>
              </a:extLst>
            </p:cNvPr>
            <p:cNvSpPr/>
            <p:nvPr/>
          </p:nvSpPr>
          <p:spPr>
            <a:xfrm>
              <a:off x="4612690" y="2107632"/>
              <a:ext cx="434149" cy="957809"/>
            </a:xfrm>
            <a:prstGeom prst="homePlate">
              <a:avLst>
                <a:gd name="adj" fmla="val 18158"/>
              </a:avLst>
            </a:prstGeom>
            <a:solidFill>
              <a:schemeClr val="bg2">
                <a:lumMod val="75000"/>
              </a:schemeClr>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採算</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状況</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把握</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p:txBody>
        </p:sp>
      </p:grpSp>
      <p:grpSp>
        <p:nvGrpSpPr>
          <p:cNvPr id="83" name="グループ化 82">
            <a:extLst>
              <a:ext uri="{FF2B5EF4-FFF2-40B4-BE49-F238E27FC236}">
                <a16:creationId xmlns:a16="http://schemas.microsoft.com/office/drawing/2014/main" id="{5BC80D0B-05E2-D526-0E12-D09BD3D1FA44}"/>
              </a:ext>
            </a:extLst>
          </p:cNvPr>
          <p:cNvGrpSpPr/>
          <p:nvPr/>
        </p:nvGrpSpPr>
        <p:grpSpPr>
          <a:xfrm>
            <a:off x="3776448" y="3604654"/>
            <a:ext cx="727710" cy="2761740"/>
            <a:chOff x="3785718" y="3613652"/>
            <a:chExt cx="727710" cy="2761740"/>
          </a:xfrm>
        </p:grpSpPr>
        <p:cxnSp>
          <p:nvCxnSpPr>
            <p:cNvPr id="63" name="直線コネクタ 62">
              <a:extLst>
                <a:ext uri="{FF2B5EF4-FFF2-40B4-BE49-F238E27FC236}">
                  <a16:creationId xmlns:a16="http://schemas.microsoft.com/office/drawing/2014/main" id="{B6B02A98-EF5F-F1CF-7BF4-AA2C88B6037E}"/>
                </a:ext>
              </a:extLst>
            </p:cNvPr>
            <p:cNvCxnSpPr>
              <a:cxnSpLocks/>
            </p:cNvCxnSpPr>
            <p:nvPr/>
          </p:nvCxnSpPr>
          <p:spPr>
            <a:xfrm>
              <a:off x="4504158" y="3613652"/>
              <a:ext cx="0" cy="12584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092674BE-3EFC-0EBB-2E72-408A22E75387}"/>
                </a:ext>
              </a:extLst>
            </p:cNvPr>
            <p:cNvCxnSpPr>
              <a:cxnSpLocks/>
            </p:cNvCxnSpPr>
            <p:nvPr/>
          </p:nvCxnSpPr>
          <p:spPr>
            <a:xfrm flipH="1">
              <a:off x="3785718" y="4867136"/>
              <a:ext cx="727710" cy="18669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78F19D92-99F7-8956-7499-2E9B4F4D1C85}"/>
                </a:ext>
              </a:extLst>
            </p:cNvPr>
            <p:cNvCxnSpPr>
              <a:cxnSpLocks/>
            </p:cNvCxnSpPr>
            <p:nvPr/>
          </p:nvCxnSpPr>
          <p:spPr>
            <a:xfrm flipV="1">
              <a:off x="3793338" y="5050016"/>
              <a:ext cx="0" cy="46691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6EAF75EB-C37F-0B65-065F-811A46DD71D7}"/>
                </a:ext>
              </a:extLst>
            </p:cNvPr>
            <p:cNvCxnSpPr>
              <a:cxnSpLocks/>
            </p:cNvCxnSpPr>
            <p:nvPr/>
          </p:nvCxnSpPr>
          <p:spPr>
            <a:xfrm flipV="1">
              <a:off x="4437254" y="5577449"/>
              <a:ext cx="0" cy="79794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3" name="テキスト ボックス 92">
            <a:extLst>
              <a:ext uri="{FF2B5EF4-FFF2-40B4-BE49-F238E27FC236}">
                <a16:creationId xmlns:a16="http://schemas.microsoft.com/office/drawing/2014/main" id="{EA3DBDB0-3752-6DE9-1085-1FB640F4CFA7}"/>
              </a:ext>
            </a:extLst>
          </p:cNvPr>
          <p:cNvSpPr txBox="1"/>
          <p:nvPr/>
        </p:nvSpPr>
        <p:spPr>
          <a:xfrm>
            <a:off x="6024502" y="5239514"/>
            <a:ext cx="290712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1" dirty="0">
                <a:solidFill>
                  <a:srgbClr val="FF0000"/>
                </a:solidFill>
                <a:highlight>
                  <a:srgbClr val="FFFFFF"/>
                </a:highlight>
                <a:latin typeface="メイリオ"/>
                <a:ea typeface="メイリオ"/>
              </a:rPr>
              <a:t>①受売利実績：システム構築中</a:t>
            </a:r>
            <a:endParaRPr lang="en-US" altLang="ja-JP" sz="1000" b="1" dirty="0">
              <a:solidFill>
                <a:srgbClr val="FF0000"/>
              </a:solidFill>
              <a:highlight>
                <a:srgbClr val="FFFFFF"/>
              </a:highlight>
              <a:latin typeface="メイリオ"/>
              <a:ea typeface="メイリオ"/>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1" dirty="0">
                <a:solidFill>
                  <a:srgbClr val="FF0000"/>
                </a:solidFill>
                <a:highlight>
                  <a:srgbClr val="FFFFFF"/>
                </a:highlight>
                <a:latin typeface="メイリオ"/>
                <a:ea typeface="メイリオ"/>
              </a:rPr>
              <a:t>②引合費実績：</a:t>
            </a:r>
            <a:endParaRPr lang="en-US" altLang="ja-JP" sz="1000" b="1" dirty="0">
              <a:solidFill>
                <a:srgbClr val="FF0000"/>
              </a:solidFill>
              <a:highlight>
                <a:srgbClr val="FFFFFF"/>
              </a:highlight>
              <a:latin typeface="メイリオ"/>
              <a:ea typeface="メイリオ"/>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1" dirty="0">
                <a:solidFill>
                  <a:srgbClr val="FF0000"/>
                </a:solidFill>
                <a:highlight>
                  <a:srgbClr val="FFFFFF"/>
                </a:highlight>
                <a:latin typeface="メイリオ"/>
                <a:ea typeface="メイリオ"/>
              </a:rPr>
              <a:t> ・</a:t>
            </a:r>
            <a:r>
              <a:rPr lang="en-US" altLang="ja-JP" sz="1000" b="1" dirty="0">
                <a:solidFill>
                  <a:srgbClr val="FF0000"/>
                </a:solidFill>
                <a:highlight>
                  <a:srgbClr val="FFFFFF"/>
                </a:highlight>
                <a:latin typeface="メイリオ"/>
                <a:ea typeface="メイリオ"/>
              </a:rPr>
              <a:t>PM/AM</a:t>
            </a:r>
            <a:r>
              <a:rPr lang="ja-JP" altLang="en-US" sz="1000" b="1" dirty="0">
                <a:solidFill>
                  <a:srgbClr val="FF0000"/>
                </a:solidFill>
                <a:highlight>
                  <a:srgbClr val="FFFFFF"/>
                </a:highlight>
                <a:latin typeface="メイリオ"/>
                <a:ea typeface="メイリオ"/>
              </a:rPr>
              <a:t>及び</a:t>
            </a:r>
            <a:r>
              <a:rPr kumimoji="1" lang="ja-JP" altLang="en-US" sz="1000" b="1" i="0" u="none" strike="noStrike" kern="1200" cap="none" spc="0" normalizeH="0" baseline="0" noProof="0" dirty="0">
                <a:ln>
                  <a:noFill/>
                </a:ln>
                <a:solidFill>
                  <a:srgbClr val="FF0000"/>
                </a:solidFill>
                <a:effectLst/>
                <a:highlight>
                  <a:srgbClr val="FFFFFF"/>
                </a:highlight>
                <a:uLnTx/>
                <a:uFillTx/>
                <a:latin typeface="メイリオ"/>
                <a:ea typeface="メイリオ"/>
                <a:cs typeface="+mn-cs"/>
              </a:rPr>
              <a:t>各部課長以上向けに公開開始</a:t>
            </a:r>
            <a:endParaRPr kumimoji="1" lang="en-US" altLang="ja-JP" sz="1000" b="1" i="0" u="none" strike="noStrike" kern="1200" cap="none" spc="0" normalizeH="0" baseline="0" noProof="0" dirty="0">
              <a:ln>
                <a:noFill/>
              </a:ln>
              <a:solidFill>
                <a:srgbClr val="FF0000"/>
              </a:solidFill>
              <a:effectLst/>
              <a:highlight>
                <a:srgbClr val="FFFFFF"/>
              </a:highlight>
              <a:uLnTx/>
              <a:uFillTx/>
              <a:latin typeface="メイリオ"/>
              <a:ea typeface="メイリオ"/>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1" dirty="0">
                <a:solidFill>
                  <a:srgbClr val="FF0000"/>
                </a:solidFill>
                <a:highlight>
                  <a:srgbClr val="FFFFFF"/>
                </a:highlight>
                <a:latin typeface="メイリオ"/>
                <a:ea typeface="メイリオ"/>
              </a:rPr>
              <a:t>    </a:t>
            </a:r>
            <a:r>
              <a:rPr lang="en-US" altLang="ja-JP" sz="1000" b="1" dirty="0">
                <a:solidFill>
                  <a:srgbClr val="FF0000"/>
                </a:solidFill>
                <a:highlight>
                  <a:srgbClr val="FFFFFF"/>
                </a:highlight>
                <a:latin typeface="メイリオ"/>
                <a:ea typeface="メイリオ"/>
              </a:rPr>
              <a:t>※</a:t>
            </a:r>
            <a:r>
              <a:rPr lang="ja-JP" altLang="en-US" sz="1000" b="1" dirty="0">
                <a:solidFill>
                  <a:srgbClr val="FF0000"/>
                </a:solidFill>
                <a:highlight>
                  <a:srgbClr val="FFFFFF"/>
                </a:highlight>
                <a:latin typeface="メイリオ"/>
                <a:ea typeface="メイリオ"/>
              </a:rPr>
              <a:t>引合管理値は未だ表示できず。</a:t>
            </a:r>
            <a:endParaRPr kumimoji="1" lang="ja-JP" altLang="en-US" sz="1000" b="1" i="0" u="none" strike="noStrike" kern="1200" cap="none" spc="0" normalizeH="0" baseline="0" noProof="0" dirty="0">
              <a:ln>
                <a:noFill/>
              </a:ln>
              <a:solidFill>
                <a:srgbClr val="FF0000"/>
              </a:solidFill>
              <a:effectLst/>
              <a:highlight>
                <a:srgbClr val="FFFFFF"/>
              </a:highlight>
              <a:uLnTx/>
              <a:uFillTx/>
              <a:latin typeface="メイリオ"/>
              <a:ea typeface="メイリオ"/>
              <a:cs typeface="+mn-cs"/>
            </a:endParaRPr>
          </a:p>
        </p:txBody>
      </p:sp>
      <p:sp>
        <p:nvSpPr>
          <p:cNvPr id="9" name="テキスト ボックス 8">
            <a:extLst>
              <a:ext uri="{FF2B5EF4-FFF2-40B4-BE49-F238E27FC236}">
                <a16:creationId xmlns:a16="http://schemas.microsoft.com/office/drawing/2014/main" id="{DF30693D-5C53-00A0-27E6-D56FB85477D6}"/>
              </a:ext>
            </a:extLst>
          </p:cNvPr>
          <p:cNvSpPr txBox="1"/>
          <p:nvPr/>
        </p:nvSpPr>
        <p:spPr>
          <a:xfrm>
            <a:off x="4494888" y="4730596"/>
            <a:ext cx="2907125" cy="523220"/>
          </a:xfrm>
          <a:prstGeom prst="rect">
            <a:avLst/>
          </a:prstGeom>
          <a:noFill/>
        </p:spPr>
        <p:txBody>
          <a:bodyPr wrap="square" rtlCol="0">
            <a:spAutoFit/>
          </a:bodyPr>
          <a:lstStyle/>
          <a:p>
            <a:r>
              <a:rPr lang="ja-JP" altLang="en-US" sz="1400" dirty="0">
                <a:highlight>
                  <a:srgbClr val="FFFF00"/>
                </a:highlight>
              </a:rPr>
              <a:t>①受売利実績の</a:t>
            </a:r>
            <a:r>
              <a:rPr kumimoji="1" lang="ja-JP" altLang="en-US" sz="1400" dirty="0">
                <a:highlight>
                  <a:srgbClr val="FFFF00"/>
                </a:highlight>
              </a:rPr>
              <a:t>構築に遅れあるが②～④は計画通りリリース</a:t>
            </a:r>
          </a:p>
        </p:txBody>
      </p:sp>
      <p:cxnSp>
        <p:nvCxnSpPr>
          <p:cNvPr id="18" name="直線コネクタ 17">
            <a:extLst>
              <a:ext uri="{FF2B5EF4-FFF2-40B4-BE49-F238E27FC236}">
                <a16:creationId xmlns:a16="http://schemas.microsoft.com/office/drawing/2014/main" id="{A9563445-A49F-FCEE-2F91-12FE2B8F4B1F}"/>
              </a:ext>
            </a:extLst>
          </p:cNvPr>
          <p:cNvCxnSpPr>
            <a:cxnSpLocks/>
          </p:cNvCxnSpPr>
          <p:nvPr/>
        </p:nvCxnSpPr>
        <p:spPr>
          <a:xfrm flipH="1" flipV="1">
            <a:off x="3784068" y="5507933"/>
            <a:ext cx="643916" cy="85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2367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グループ化 21">
            <a:extLst>
              <a:ext uri="{FF2B5EF4-FFF2-40B4-BE49-F238E27FC236}">
                <a16:creationId xmlns:a16="http://schemas.microsoft.com/office/drawing/2014/main" id="{25288A77-4DE6-34E7-13AD-62A3DA5130FF}"/>
              </a:ext>
            </a:extLst>
          </p:cNvPr>
          <p:cNvGrpSpPr/>
          <p:nvPr/>
        </p:nvGrpSpPr>
        <p:grpSpPr>
          <a:xfrm>
            <a:off x="202167" y="1167244"/>
            <a:ext cx="4901002" cy="2094912"/>
            <a:chOff x="20829" y="2367018"/>
            <a:chExt cx="4901002" cy="2094912"/>
          </a:xfrm>
        </p:grpSpPr>
        <p:pic>
          <p:nvPicPr>
            <p:cNvPr id="13" name="図 12">
              <a:extLst>
                <a:ext uri="{FF2B5EF4-FFF2-40B4-BE49-F238E27FC236}">
                  <a16:creationId xmlns:a16="http://schemas.microsoft.com/office/drawing/2014/main" id="{7BB76DF3-941A-3E63-D70C-F81C53256031}"/>
                </a:ext>
              </a:extLst>
            </p:cNvPr>
            <p:cNvPicPr>
              <a:picLocks noChangeAspect="1"/>
            </p:cNvPicPr>
            <p:nvPr/>
          </p:nvPicPr>
          <p:blipFill rotWithShape="1">
            <a:blip r:embed="rId2"/>
            <a:srcRect r="10436" b="45153"/>
            <a:stretch/>
          </p:blipFill>
          <p:spPr>
            <a:xfrm>
              <a:off x="20829" y="2367018"/>
              <a:ext cx="4901002" cy="2094912"/>
            </a:xfrm>
            <a:prstGeom prst="rect">
              <a:avLst/>
            </a:prstGeom>
            <a:ln>
              <a:noFill/>
            </a:ln>
            <a:effectLst>
              <a:outerShdw blurRad="50800" dist="38100" dir="2700000" algn="tl" rotWithShape="0">
                <a:prstClr val="black">
                  <a:alpha val="40000"/>
                </a:prstClr>
              </a:outerShdw>
            </a:effectLst>
          </p:spPr>
        </p:pic>
        <p:sp>
          <p:nvSpPr>
            <p:cNvPr id="21" name="正方形/長方形 20">
              <a:extLst>
                <a:ext uri="{FF2B5EF4-FFF2-40B4-BE49-F238E27FC236}">
                  <a16:creationId xmlns:a16="http://schemas.microsoft.com/office/drawing/2014/main" id="{E5B888CC-DB41-BB42-9EE8-07F339CE4A17}"/>
                </a:ext>
              </a:extLst>
            </p:cNvPr>
            <p:cNvSpPr/>
            <p:nvPr/>
          </p:nvSpPr>
          <p:spPr>
            <a:xfrm>
              <a:off x="2181069" y="2845350"/>
              <a:ext cx="2740762" cy="1616580"/>
            </a:xfrm>
            <a:prstGeom prst="rect">
              <a:avLst/>
            </a:prstGeom>
            <a:solidFill>
              <a:schemeClr val="bg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ysClr val="windowText" lastClr="000000"/>
                </a:solidFill>
                <a:latin typeface="+mn-ea"/>
              </a:endParaRPr>
            </a:p>
          </p:txBody>
        </p:sp>
      </p:grpSp>
      <p:sp>
        <p:nvSpPr>
          <p:cNvPr id="11" name="タイトル 4">
            <a:extLst>
              <a:ext uri="{FF2B5EF4-FFF2-40B4-BE49-F238E27FC236}">
                <a16:creationId xmlns:a16="http://schemas.microsoft.com/office/drawing/2014/main" id="{0032E6D5-3DD9-404A-0B8F-12CF6602C31D}"/>
              </a:ext>
            </a:extLst>
          </p:cNvPr>
          <p:cNvSpPr txBox="1">
            <a:spLocks/>
          </p:cNvSpPr>
          <p:nvPr/>
        </p:nvSpPr>
        <p:spPr>
          <a:xfrm>
            <a:off x="248234" y="135110"/>
            <a:ext cx="7439508" cy="349961"/>
          </a:xfrm>
          <a:prstGeom prst="rect">
            <a:avLst/>
          </a:prstGeom>
        </p:spPr>
        <p:txBody>
          <a:bodyPr/>
          <a:lst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lang="ja-JP" altLang="en-US" sz="2000" b="1" dirty="0">
                <a:solidFill>
                  <a:srgbClr val="000000"/>
                </a:solidFill>
                <a:latin typeface="Arial"/>
                <a:ea typeface="メイリオ"/>
              </a:rPr>
              <a:t>４</a:t>
            </a:r>
            <a:r>
              <a:rPr kumimoji="1" lang="ja-JP" altLang="en-US" sz="2000" b="1" i="0" u="none" strike="noStrike" kern="1200" cap="none" spc="0" normalizeH="0" baseline="0" noProof="0" dirty="0">
                <a:ln>
                  <a:noFill/>
                </a:ln>
                <a:solidFill>
                  <a:srgbClr val="000000"/>
                </a:solidFill>
                <a:effectLst/>
                <a:uLnTx/>
                <a:uFillTx/>
                <a:latin typeface="Arial"/>
                <a:ea typeface="メイリオ"/>
                <a:cs typeface="+mj-cs"/>
              </a:rPr>
              <a:t>－２．アクセス方法・アクセス権</a:t>
            </a:r>
            <a:endParaRPr kumimoji="1" lang="en-US" altLang="ja-JP" sz="2000" b="1" i="0" u="none" strike="noStrike" kern="1200" cap="none" spc="0" normalizeH="0" baseline="0" noProof="0" dirty="0">
              <a:ln>
                <a:noFill/>
              </a:ln>
              <a:solidFill>
                <a:srgbClr val="000000"/>
              </a:solidFill>
              <a:effectLst/>
              <a:uLnTx/>
              <a:uFillTx/>
              <a:latin typeface="Arial"/>
              <a:ea typeface="メイリオ"/>
              <a:cs typeface="+mj-cs"/>
            </a:endParaRPr>
          </a:p>
        </p:txBody>
      </p:sp>
      <p:sp>
        <p:nvSpPr>
          <p:cNvPr id="14" name="矢印: 下 13">
            <a:extLst>
              <a:ext uri="{FF2B5EF4-FFF2-40B4-BE49-F238E27FC236}">
                <a16:creationId xmlns:a16="http://schemas.microsoft.com/office/drawing/2014/main" id="{A8A26E93-C2BA-F760-4111-EE3BD352DFCB}"/>
              </a:ext>
            </a:extLst>
          </p:cNvPr>
          <p:cNvSpPr/>
          <p:nvPr/>
        </p:nvSpPr>
        <p:spPr>
          <a:xfrm rot="10800000">
            <a:off x="4367471" y="1649517"/>
            <a:ext cx="432048" cy="349961"/>
          </a:xfrm>
          <a:prstGeom prst="downArrow">
            <a:avLst/>
          </a:prstGeom>
          <a:solidFill>
            <a:srgbClr val="FFFF00"/>
          </a:solidFill>
          <a:ln w="285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ysClr val="windowText" lastClr="000000"/>
              </a:solidFill>
              <a:latin typeface="+mn-ea"/>
            </a:endParaRPr>
          </a:p>
        </p:txBody>
      </p:sp>
      <p:sp>
        <p:nvSpPr>
          <p:cNvPr id="15" name="矢印: 下 14">
            <a:extLst>
              <a:ext uri="{FF2B5EF4-FFF2-40B4-BE49-F238E27FC236}">
                <a16:creationId xmlns:a16="http://schemas.microsoft.com/office/drawing/2014/main" id="{169EDD17-8EDB-C69E-95F1-50BF09A14F9D}"/>
              </a:ext>
            </a:extLst>
          </p:cNvPr>
          <p:cNvSpPr/>
          <p:nvPr/>
        </p:nvSpPr>
        <p:spPr>
          <a:xfrm rot="5400000">
            <a:off x="1570809" y="2618991"/>
            <a:ext cx="432048" cy="349961"/>
          </a:xfrm>
          <a:prstGeom prst="downArrow">
            <a:avLst/>
          </a:prstGeom>
          <a:solidFill>
            <a:srgbClr val="FFFF00"/>
          </a:solidFill>
          <a:ln w="285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ysClr val="windowText" lastClr="000000"/>
              </a:solidFill>
              <a:latin typeface="+mn-ea"/>
            </a:endParaRPr>
          </a:p>
        </p:txBody>
      </p:sp>
      <p:grpSp>
        <p:nvGrpSpPr>
          <p:cNvPr id="24" name="グループ化 23">
            <a:extLst>
              <a:ext uri="{FF2B5EF4-FFF2-40B4-BE49-F238E27FC236}">
                <a16:creationId xmlns:a16="http://schemas.microsoft.com/office/drawing/2014/main" id="{A0BF86EE-D0BA-0265-C18C-B5C836A25551}"/>
              </a:ext>
            </a:extLst>
          </p:cNvPr>
          <p:cNvGrpSpPr/>
          <p:nvPr/>
        </p:nvGrpSpPr>
        <p:grpSpPr>
          <a:xfrm>
            <a:off x="202168" y="3928988"/>
            <a:ext cx="4901002" cy="2094912"/>
            <a:chOff x="3121761" y="3460889"/>
            <a:chExt cx="5665371" cy="2403682"/>
          </a:xfrm>
          <a:effectLst>
            <a:outerShdw blurRad="50800" dist="38100" dir="2700000" algn="tl" rotWithShape="0">
              <a:prstClr val="black">
                <a:alpha val="40000"/>
              </a:prstClr>
            </a:outerShdw>
          </a:effectLst>
        </p:grpSpPr>
        <p:pic>
          <p:nvPicPr>
            <p:cNvPr id="20" name="図 19">
              <a:extLst>
                <a:ext uri="{FF2B5EF4-FFF2-40B4-BE49-F238E27FC236}">
                  <a16:creationId xmlns:a16="http://schemas.microsoft.com/office/drawing/2014/main" id="{483B2D68-ACA1-3300-0E24-B882158A2FB0}"/>
                </a:ext>
              </a:extLst>
            </p:cNvPr>
            <p:cNvPicPr>
              <a:picLocks noChangeAspect="1"/>
            </p:cNvPicPr>
            <p:nvPr/>
          </p:nvPicPr>
          <p:blipFill>
            <a:blip r:embed="rId3"/>
            <a:stretch>
              <a:fillRect/>
            </a:stretch>
          </p:blipFill>
          <p:spPr>
            <a:xfrm>
              <a:off x="3121761" y="3460889"/>
              <a:ext cx="5665370" cy="2403682"/>
            </a:xfrm>
            <a:prstGeom prst="rect">
              <a:avLst/>
            </a:prstGeom>
          </p:spPr>
        </p:pic>
        <p:sp>
          <p:nvSpPr>
            <p:cNvPr id="23" name="正方形/長方形 22">
              <a:extLst>
                <a:ext uri="{FF2B5EF4-FFF2-40B4-BE49-F238E27FC236}">
                  <a16:creationId xmlns:a16="http://schemas.microsoft.com/office/drawing/2014/main" id="{05581CA8-3F0A-EC3E-1D76-6B7E79C9DB89}"/>
                </a:ext>
              </a:extLst>
            </p:cNvPr>
            <p:cNvSpPr/>
            <p:nvPr/>
          </p:nvSpPr>
          <p:spPr>
            <a:xfrm>
              <a:off x="5750028" y="4025766"/>
              <a:ext cx="3037104" cy="1838805"/>
            </a:xfrm>
            <a:prstGeom prst="rect">
              <a:avLst/>
            </a:prstGeom>
            <a:solidFill>
              <a:schemeClr val="bg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ysClr val="windowText" lastClr="000000"/>
                </a:solidFill>
                <a:latin typeface="+mn-ea"/>
              </a:endParaRPr>
            </a:p>
          </p:txBody>
        </p:sp>
      </p:grpSp>
      <p:sp>
        <p:nvSpPr>
          <p:cNvPr id="27" name="矢印: 下 26">
            <a:extLst>
              <a:ext uri="{FF2B5EF4-FFF2-40B4-BE49-F238E27FC236}">
                <a16:creationId xmlns:a16="http://schemas.microsoft.com/office/drawing/2014/main" id="{AF214241-5DF9-67EF-E09B-07E250809D16}"/>
              </a:ext>
            </a:extLst>
          </p:cNvPr>
          <p:cNvSpPr/>
          <p:nvPr/>
        </p:nvSpPr>
        <p:spPr>
          <a:xfrm rot="5240148">
            <a:off x="2049281" y="5543807"/>
            <a:ext cx="432048" cy="349961"/>
          </a:xfrm>
          <a:prstGeom prst="downArrow">
            <a:avLst/>
          </a:prstGeom>
          <a:solidFill>
            <a:srgbClr val="FFFF00"/>
          </a:solidFill>
          <a:ln w="285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ysClr val="windowText" lastClr="000000"/>
              </a:solidFill>
              <a:latin typeface="+mn-ea"/>
            </a:endParaRPr>
          </a:p>
        </p:txBody>
      </p:sp>
      <p:sp>
        <p:nvSpPr>
          <p:cNvPr id="28" name="矢印: 下 27">
            <a:extLst>
              <a:ext uri="{FF2B5EF4-FFF2-40B4-BE49-F238E27FC236}">
                <a16:creationId xmlns:a16="http://schemas.microsoft.com/office/drawing/2014/main" id="{9660FBF9-70A9-4244-2CD4-9D6A4B3BEEC0}"/>
              </a:ext>
            </a:extLst>
          </p:cNvPr>
          <p:cNvSpPr/>
          <p:nvPr/>
        </p:nvSpPr>
        <p:spPr>
          <a:xfrm rot="10800000">
            <a:off x="4344501" y="4516390"/>
            <a:ext cx="432048" cy="349961"/>
          </a:xfrm>
          <a:prstGeom prst="downArrow">
            <a:avLst/>
          </a:prstGeom>
          <a:solidFill>
            <a:srgbClr val="FFFF00"/>
          </a:solidFill>
          <a:ln w="285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ysClr val="windowText" lastClr="000000"/>
              </a:solidFill>
              <a:latin typeface="+mn-ea"/>
            </a:endParaRPr>
          </a:p>
        </p:txBody>
      </p:sp>
      <p:sp>
        <p:nvSpPr>
          <p:cNvPr id="29" name="四角形: 角を丸くする 28">
            <a:extLst>
              <a:ext uri="{FF2B5EF4-FFF2-40B4-BE49-F238E27FC236}">
                <a16:creationId xmlns:a16="http://schemas.microsoft.com/office/drawing/2014/main" id="{BC49A3CA-BD25-E28B-7D7E-68AF3325582C}"/>
              </a:ext>
            </a:extLst>
          </p:cNvPr>
          <p:cNvSpPr/>
          <p:nvPr/>
        </p:nvSpPr>
        <p:spPr>
          <a:xfrm>
            <a:off x="4296656" y="1430433"/>
            <a:ext cx="720080" cy="166900"/>
          </a:xfrm>
          <a:prstGeom prst="roundRect">
            <a:avLst/>
          </a:prstGeom>
          <a:noFill/>
          <a:ln w="2857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ysClr val="windowText" lastClr="000000"/>
              </a:solidFill>
              <a:latin typeface="+mn-ea"/>
            </a:endParaRPr>
          </a:p>
        </p:txBody>
      </p:sp>
      <p:sp>
        <p:nvSpPr>
          <p:cNvPr id="30" name="四角形: 角を丸くする 29">
            <a:extLst>
              <a:ext uri="{FF2B5EF4-FFF2-40B4-BE49-F238E27FC236}">
                <a16:creationId xmlns:a16="http://schemas.microsoft.com/office/drawing/2014/main" id="{08A4D7AE-B06D-1353-AA19-073C326DE62F}"/>
              </a:ext>
            </a:extLst>
          </p:cNvPr>
          <p:cNvSpPr/>
          <p:nvPr/>
        </p:nvSpPr>
        <p:spPr>
          <a:xfrm>
            <a:off x="583370" y="2528125"/>
            <a:ext cx="939534" cy="462955"/>
          </a:xfrm>
          <a:prstGeom prst="roundRect">
            <a:avLst/>
          </a:prstGeom>
          <a:noFill/>
          <a:ln w="2857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ysClr val="windowText" lastClr="000000"/>
              </a:solidFill>
              <a:latin typeface="+mn-ea"/>
            </a:endParaRPr>
          </a:p>
        </p:txBody>
      </p:sp>
      <p:sp>
        <p:nvSpPr>
          <p:cNvPr id="32" name="四角形: 角を丸くする 31">
            <a:extLst>
              <a:ext uri="{FF2B5EF4-FFF2-40B4-BE49-F238E27FC236}">
                <a16:creationId xmlns:a16="http://schemas.microsoft.com/office/drawing/2014/main" id="{E8E407DF-E59F-BC3A-BE46-C87EE9359CBF}"/>
              </a:ext>
            </a:extLst>
          </p:cNvPr>
          <p:cNvSpPr/>
          <p:nvPr/>
        </p:nvSpPr>
        <p:spPr>
          <a:xfrm>
            <a:off x="549087" y="5523091"/>
            <a:ext cx="1505692" cy="412192"/>
          </a:xfrm>
          <a:prstGeom prst="roundRect">
            <a:avLst/>
          </a:prstGeom>
          <a:noFill/>
          <a:ln w="2857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ysClr val="windowText" lastClr="000000"/>
              </a:solidFill>
              <a:latin typeface="+mn-ea"/>
            </a:endParaRPr>
          </a:p>
        </p:txBody>
      </p:sp>
      <p:sp>
        <p:nvSpPr>
          <p:cNvPr id="33" name="四角形: 角を丸くする 32">
            <a:extLst>
              <a:ext uri="{FF2B5EF4-FFF2-40B4-BE49-F238E27FC236}">
                <a16:creationId xmlns:a16="http://schemas.microsoft.com/office/drawing/2014/main" id="{A130FD0F-7C5C-11D8-1D6A-A856B8CEF29F}"/>
              </a:ext>
            </a:extLst>
          </p:cNvPr>
          <p:cNvSpPr/>
          <p:nvPr/>
        </p:nvSpPr>
        <p:spPr>
          <a:xfrm>
            <a:off x="3927554" y="4191640"/>
            <a:ext cx="1265943" cy="182396"/>
          </a:xfrm>
          <a:prstGeom prst="roundRect">
            <a:avLst/>
          </a:prstGeom>
          <a:noFill/>
          <a:ln w="2857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ysClr val="windowText" lastClr="000000"/>
              </a:solidFill>
              <a:latin typeface="+mn-ea"/>
            </a:endParaRPr>
          </a:p>
        </p:txBody>
      </p:sp>
      <p:sp>
        <p:nvSpPr>
          <p:cNvPr id="34" name="テキスト ボックス 33">
            <a:extLst>
              <a:ext uri="{FF2B5EF4-FFF2-40B4-BE49-F238E27FC236}">
                <a16:creationId xmlns:a16="http://schemas.microsoft.com/office/drawing/2014/main" id="{43393AE4-2D36-8956-5BEF-1972FD02DE47}"/>
              </a:ext>
            </a:extLst>
          </p:cNvPr>
          <p:cNvSpPr txBox="1"/>
          <p:nvPr/>
        </p:nvSpPr>
        <p:spPr>
          <a:xfrm>
            <a:off x="-35669" y="797912"/>
            <a:ext cx="2740762" cy="369332"/>
          </a:xfrm>
          <a:prstGeom prst="rect">
            <a:avLst/>
          </a:prstGeom>
          <a:noFill/>
        </p:spPr>
        <p:txBody>
          <a:bodyPr wrap="square" rtlCol="0">
            <a:spAutoFit/>
          </a:bodyPr>
          <a:lstStyle/>
          <a:p>
            <a:r>
              <a:rPr kumimoji="1" lang="en-US" altLang="ja-JP" b="1" dirty="0"/>
              <a:t>【</a:t>
            </a:r>
            <a:r>
              <a:rPr kumimoji="1" lang="ja-JP" altLang="en-US" b="1" dirty="0"/>
              <a:t>引合費使用状況</a:t>
            </a:r>
            <a:r>
              <a:rPr kumimoji="1" lang="en-US" altLang="ja-JP" b="1" dirty="0"/>
              <a:t>】</a:t>
            </a:r>
            <a:endParaRPr kumimoji="1" lang="ja-JP" altLang="en-US" b="1" dirty="0"/>
          </a:p>
        </p:txBody>
      </p:sp>
      <p:sp>
        <p:nvSpPr>
          <p:cNvPr id="35" name="テキスト ボックス 34">
            <a:extLst>
              <a:ext uri="{FF2B5EF4-FFF2-40B4-BE49-F238E27FC236}">
                <a16:creationId xmlns:a16="http://schemas.microsoft.com/office/drawing/2014/main" id="{F80D94D6-0CE4-476B-80E2-D513FB40C889}"/>
              </a:ext>
            </a:extLst>
          </p:cNvPr>
          <p:cNvSpPr txBox="1"/>
          <p:nvPr/>
        </p:nvSpPr>
        <p:spPr>
          <a:xfrm>
            <a:off x="0" y="3576782"/>
            <a:ext cx="3470637" cy="369332"/>
          </a:xfrm>
          <a:prstGeom prst="rect">
            <a:avLst/>
          </a:prstGeom>
          <a:noFill/>
        </p:spPr>
        <p:txBody>
          <a:bodyPr wrap="square" rtlCol="0">
            <a:spAutoFit/>
          </a:bodyPr>
          <a:lstStyle/>
          <a:p>
            <a:r>
              <a:rPr kumimoji="1" lang="en-US" altLang="ja-JP" b="1" dirty="0"/>
              <a:t>【AS</a:t>
            </a:r>
            <a:r>
              <a:rPr kumimoji="1" lang="ja-JP" altLang="en-US" b="1" dirty="0"/>
              <a:t>従事比率・直工率</a:t>
            </a:r>
            <a:r>
              <a:rPr kumimoji="1" lang="en-US" altLang="ja-JP" b="1" dirty="0"/>
              <a:t>】</a:t>
            </a:r>
            <a:endParaRPr kumimoji="1" lang="ja-JP" altLang="en-US" b="1" dirty="0"/>
          </a:p>
        </p:txBody>
      </p:sp>
      <p:sp>
        <p:nvSpPr>
          <p:cNvPr id="36" name="テキスト ボックス 35">
            <a:extLst>
              <a:ext uri="{FF2B5EF4-FFF2-40B4-BE49-F238E27FC236}">
                <a16:creationId xmlns:a16="http://schemas.microsoft.com/office/drawing/2014/main" id="{DB09E1BA-FE7D-C5D5-AA55-BDB03E54F9C0}"/>
              </a:ext>
            </a:extLst>
          </p:cNvPr>
          <p:cNvSpPr txBox="1"/>
          <p:nvPr/>
        </p:nvSpPr>
        <p:spPr>
          <a:xfrm>
            <a:off x="5192117" y="1158668"/>
            <a:ext cx="3977587" cy="2062103"/>
          </a:xfrm>
          <a:prstGeom prst="rect">
            <a:avLst/>
          </a:prstGeom>
          <a:noFill/>
        </p:spPr>
        <p:txBody>
          <a:bodyPr wrap="square" rtlCol="0">
            <a:spAutoFit/>
          </a:bodyPr>
          <a:lstStyle/>
          <a:p>
            <a:r>
              <a:rPr lang="ja-JP" altLang="en-US" sz="1600" b="1" dirty="0">
                <a:latin typeface="+mn-ea"/>
              </a:rPr>
              <a:t>■保管場所</a:t>
            </a:r>
            <a:endParaRPr lang="en-US" altLang="ja-JP" sz="1600" b="1" dirty="0">
              <a:latin typeface="+mn-ea"/>
            </a:endParaRPr>
          </a:p>
          <a:p>
            <a:r>
              <a:rPr lang="ja-JP" altLang="en-US" sz="1600" dirty="0">
                <a:latin typeface="+mn-ea"/>
              </a:rPr>
              <a:t>・</a:t>
            </a:r>
            <a:r>
              <a:rPr lang="en-US" altLang="ja-JP" sz="1600" dirty="0" err="1">
                <a:latin typeface="+mn-ea"/>
              </a:rPr>
              <a:t>Teams_WP</a:t>
            </a:r>
            <a:r>
              <a:rPr lang="ja-JP" altLang="en-US" sz="1600" dirty="0">
                <a:latin typeface="+mn-ea"/>
              </a:rPr>
              <a:t>プロジェクトの</a:t>
            </a:r>
            <a:r>
              <a:rPr kumimoji="1" lang="ja-JP" altLang="en-US" sz="1600" dirty="0">
                <a:latin typeface="+mn-ea"/>
              </a:rPr>
              <a:t>チャンネル</a:t>
            </a:r>
            <a:endParaRPr kumimoji="1" lang="en-US" altLang="ja-JP" sz="1600" dirty="0">
              <a:latin typeface="+mn-ea"/>
            </a:endParaRPr>
          </a:p>
          <a:p>
            <a:r>
              <a:rPr kumimoji="1" lang="ja-JP" altLang="en-US" sz="1600" dirty="0">
                <a:latin typeface="+mn-ea"/>
              </a:rPr>
              <a:t> 「引合費実績レポート」</a:t>
            </a:r>
            <a:r>
              <a:rPr lang="ja-JP" altLang="en-US" sz="1600" dirty="0">
                <a:latin typeface="+mn-ea"/>
              </a:rPr>
              <a:t>上部タブ</a:t>
            </a:r>
            <a:endParaRPr lang="en-US" altLang="ja-JP" sz="1600" dirty="0">
              <a:latin typeface="+mn-ea"/>
            </a:endParaRPr>
          </a:p>
          <a:p>
            <a:endParaRPr kumimoji="1" lang="en-US" altLang="ja-JP" sz="1600" dirty="0">
              <a:latin typeface="+mn-ea"/>
            </a:endParaRPr>
          </a:p>
          <a:p>
            <a:r>
              <a:rPr kumimoji="1" lang="ja-JP" altLang="en-US" sz="1600" b="1" dirty="0">
                <a:latin typeface="+mn-ea"/>
              </a:rPr>
              <a:t>■アクセス権</a:t>
            </a:r>
            <a:endParaRPr kumimoji="1" lang="en-US" altLang="ja-JP" sz="1600" b="1" dirty="0">
              <a:latin typeface="+mn-ea"/>
            </a:endParaRPr>
          </a:p>
          <a:p>
            <a:r>
              <a:rPr kumimoji="1" lang="ja-JP" altLang="en-US" sz="1600" dirty="0">
                <a:solidFill>
                  <a:srgbClr val="FF0000"/>
                </a:solidFill>
                <a:latin typeface="+mn-ea"/>
              </a:rPr>
              <a:t>・</a:t>
            </a:r>
            <a:r>
              <a:rPr kumimoji="1" lang="en-US" altLang="ja-JP" sz="1600" dirty="0">
                <a:solidFill>
                  <a:srgbClr val="FF0000"/>
                </a:solidFill>
                <a:latin typeface="+mn-ea"/>
              </a:rPr>
              <a:t>WP</a:t>
            </a:r>
            <a:r>
              <a:rPr kumimoji="1" lang="ja-JP" altLang="en-US" sz="1600" dirty="0">
                <a:solidFill>
                  <a:srgbClr val="FF0000"/>
                </a:solidFill>
                <a:latin typeface="+mn-ea"/>
              </a:rPr>
              <a:t>プロジェクトメンバー</a:t>
            </a:r>
            <a:endParaRPr lang="en-US" altLang="ja-JP" sz="1600" dirty="0">
              <a:solidFill>
                <a:srgbClr val="FF0000"/>
              </a:solidFill>
              <a:latin typeface="+mn-ea"/>
            </a:endParaRPr>
          </a:p>
          <a:p>
            <a:r>
              <a:rPr kumimoji="1" lang="ja-JP" altLang="en-US" sz="1600" dirty="0">
                <a:solidFill>
                  <a:srgbClr val="FF0000"/>
                </a:solidFill>
                <a:latin typeface="+mn-ea"/>
              </a:rPr>
              <a:t>・引合費例月フォロ関係者</a:t>
            </a:r>
            <a:endParaRPr kumimoji="1" lang="en-US" altLang="ja-JP" sz="1600" dirty="0">
              <a:solidFill>
                <a:srgbClr val="FF0000"/>
              </a:solidFill>
              <a:latin typeface="+mn-ea"/>
            </a:endParaRPr>
          </a:p>
          <a:p>
            <a:r>
              <a:rPr lang="ja-JP" altLang="en-US" sz="1600" dirty="0">
                <a:solidFill>
                  <a:srgbClr val="FF0000"/>
                </a:solidFill>
                <a:latin typeface="+mn-ea"/>
              </a:rPr>
              <a:t>　</a:t>
            </a:r>
            <a:r>
              <a:rPr lang="en-US" altLang="ja-JP" sz="1600" dirty="0">
                <a:solidFill>
                  <a:srgbClr val="FF0000"/>
                </a:solidFill>
                <a:latin typeface="+mn-ea"/>
              </a:rPr>
              <a:t>(PM/AM</a:t>
            </a:r>
            <a:r>
              <a:rPr lang="ja-JP" altLang="en-US" sz="1600" dirty="0">
                <a:solidFill>
                  <a:srgbClr val="FF0000"/>
                </a:solidFill>
                <a:latin typeface="+mn-ea"/>
              </a:rPr>
              <a:t>、</a:t>
            </a:r>
            <a:r>
              <a:rPr kumimoji="1" lang="ja-JP" altLang="en-US" sz="1600" dirty="0">
                <a:solidFill>
                  <a:srgbClr val="FF0000"/>
                </a:solidFill>
                <a:latin typeface="+mn-ea"/>
              </a:rPr>
              <a:t>各部課引合費フォロ担当）</a:t>
            </a:r>
            <a:endParaRPr kumimoji="1" lang="en-US" altLang="ja-JP" sz="1600" dirty="0">
              <a:solidFill>
                <a:srgbClr val="FF0000"/>
              </a:solidFill>
              <a:latin typeface="+mn-ea"/>
            </a:endParaRPr>
          </a:p>
        </p:txBody>
      </p:sp>
      <p:sp>
        <p:nvSpPr>
          <p:cNvPr id="37" name="テキスト ボックス 36">
            <a:extLst>
              <a:ext uri="{FF2B5EF4-FFF2-40B4-BE49-F238E27FC236}">
                <a16:creationId xmlns:a16="http://schemas.microsoft.com/office/drawing/2014/main" id="{BAF862F8-50E6-CB52-40D4-9E488962B87D}"/>
              </a:ext>
            </a:extLst>
          </p:cNvPr>
          <p:cNvSpPr txBox="1"/>
          <p:nvPr/>
        </p:nvSpPr>
        <p:spPr>
          <a:xfrm>
            <a:off x="5166413" y="3928988"/>
            <a:ext cx="3977587" cy="2308324"/>
          </a:xfrm>
          <a:prstGeom prst="rect">
            <a:avLst/>
          </a:prstGeom>
          <a:noFill/>
        </p:spPr>
        <p:txBody>
          <a:bodyPr wrap="square" rtlCol="0">
            <a:spAutoFit/>
          </a:bodyPr>
          <a:lstStyle/>
          <a:p>
            <a:r>
              <a:rPr lang="ja-JP" altLang="en-US" sz="1600" b="1" dirty="0">
                <a:latin typeface="+mn-ea"/>
              </a:rPr>
              <a:t>■保管場所</a:t>
            </a:r>
            <a:endParaRPr lang="en-US" altLang="ja-JP" sz="1600" b="1" dirty="0">
              <a:latin typeface="+mn-ea"/>
            </a:endParaRPr>
          </a:p>
          <a:p>
            <a:r>
              <a:rPr lang="ja-JP" altLang="en-US" sz="1600" dirty="0">
                <a:latin typeface="+mn-ea"/>
              </a:rPr>
              <a:t>・</a:t>
            </a:r>
            <a:r>
              <a:rPr lang="en-US" altLang="ja-JP" sz="1600" dirty="0" err="1">
                <a:latin typeface="+mn-ea"/>
              </a:rPr>
              <a:t>Teams_WP</a:t>
            </a:r>
            <a:r>
              <a:rPr lang="ja-JP" altLang="en-US" sz="1600" dirty="0">
                <a:latin typeface="+mn-ea"/>
              </a:rPr>
              <a:t>プロジェクトの</a:t>
            </a:r>
            <a:r>
              <a:rPr kumimoji="1" lang="ja-JP" altLang="en-US" sz="1600" dirty="0">
                <a:latin typeface="+mn-ea"/>
              </a:rPr>
              <a:t>チャンネル</a:t>
            </a:r>
            <a:endParaRPr kumimoji="1" lang="en-US" altLang="ja-JP" sz="1600" dirty="0">
              <a:latin typeface="+mn-ea"/>
            </a:endParaRPr>
          </a:p>
          <a:p>
            <a:r>
              <a:rPr kumimoji="1" lang="ja-JP" altLang="en-US" sz="1600" dirty="0">
                <a:latin typeface="+mn-ea"/>
              </a:rPr>
              <a:t> 「</a:t>
            </a:r>
            <a:r>
              <a:rPr kumimoji="1" lang="en-US" altLang="ja-JP" sz="1600" dirty="0">
                <a:latin typeface="+mn-ea"/>
              </a:rPr>
              <a:t>AS</a:t>
            </a:r>
            <a:r>
              <a:rPr kumimoji="1" lang="ja-JP" altLang="en-US" sz="1600" dirty="0">
                <a:latin typeface="+mn-ea"/>
              </a:rPr>
              <a:t>従事比率直接作業比率」</a:t>
            </a:r>
            <a:r>
              <a:rPr lang="ja-JP" altLang="en-US" sz="1600" dirty="0">
                <a:latin typeface="+mn-ea"/>
              </a:rPr>
              <a:t>上部タブ</a:t>
            </a:r>
            <a:endParaRPr lang="en-US" altLang="ja-JP" sz="1600" dirty="0">
              <a:latin typeface="+mn-ea"/>
            </a:endParaRPr>
          </a:p>
          <a:p>
            <a:endParaRPr kumimoji="1" lang="en-US" altLang="ja-JP" sz="1600" dirty="0">
              <a:latin typeface="+mn-ea"/>
            </a:endParaRPr>
          </a:p>
          <a:p>
            <a:r>
              <a:rPr kumimoji="1" lang="ja-JP" altLang="en-US" sz="1600" b="1" dirty="0">
                <a:latin typeface="+mn-ea"/>
              </a:rPr>
              <a:t>■アクセス権</a:t>
            </a:r>
            <a:endParaRPr kumimoji="1" lang="en-US" altLang="ja-JP" sz="1600" b="1" dirty="0">
              <a:latin typeface="+mn-ea"/>
            </a:endParaRPr>
          </a:p>
          <a:p>
            <a:r>
              <a:rPr kumimoji="1" lang="ja-JP" altLang="en-US" sz="1600" dirty="0">
                <a:solidFill>
                  <a:srgbClr val="FF0000"/>
                </a:solidFill>
                <a:latin typeface="+mn-ea"/>
              </a:rPr>
              <a:t>・課長以上職制</a:t>
            </a:r>
            <a:endParaRPr kumimoji="1" lang="en-US" altLang="ja-JP" sz="1600" dirty="0">
              <a:solidFill>
                <a:srgbClr val="FF0000"/>
              </a:solidFill>
              <a:latin typeface="+mn-ea"/>
            </a:endParaRPr>
          </a:p>
          <a:p>
            <a:r>
              <a:rPr lang="ja-JP" altLang="en-US" sz="1600" dirty="0">
                <a:solidFill>
                  <a:srgbClr val="FF0000"/>
                </a:solidFill>
                <a:latin typeface="+mn-ea"/>
              </a:rPr>
              <a:t>・課長以上職制が閲覧を認めた</a:t>
            </a:r>
            <a:endParaRPr lang="en-US" altLang="ja-JP" sz="1600" dirty="0">
              <a:solidFill>
                <a:srgbClr val="FF0000"/>
              </a:solidFill>
              <a:latin typeface="+mn-ea"/>
            </a:endParaRPr>
          </a:p>
          <a:p>
            <a:r>
              <a:rPr lang="ja-JP" altLang="en-US" sz="1600" dirty="0">
                <a:solidFill>
                  <a:srgbClr val="FF0000"/>
                </a:solidFill>
                <a:latin typeface="+mn-ea"/>
              </a:rPr>
              <a:t>　部門費管理担当</a:t>
            </a:r>
            <a:endParaRPr lang="en-US" altLang="ja-JP" sz="1600" dirty="0">
              <a:solidFill>
                <a:srgbClr val="FF0000"/>
              </a:solidFill>
              <a:latin typeface="+mn-ea"/>
            </a:endParaRPr>
          </a:p>
          <a:p>
            <a:r>
              <a:rPr kumimoji="1" lang="ja-JP" altLang="en-US" sz="1600" dirty="0">
                <a:latin typeface="+mn-ea"/>
              </a:rPr>
              <a:t>　</a:t>
            </a:r>
            <a:r>
              <a:rPr kumimoji="1" lang="en-US" altLang="ja-JP" sz="1100" dirty="0">
                <a:latin typeface="+mn-ea"/>
              </a:rPr>
              <a:t>※</a:t>
            </a:r>
            <a:r>
              <a:rPr kumimoji="1" lang="ja-JP" altLang="en-US" sz="1100" dirty="0">
                <a:latin typeface="+mn-ea"/>
              </a:rPr>
              <a:t>必要な場合事業戦</a:t>
            </a:r>
            <a:r>
              <a:rPr lang="ja-JP" altLang="en-US" sz="1100" dirty="0">
                <a:latin typeface="+mn-ea"/>
              </a:rPr>
              <a:t>山内まで連絡願います。</a:t>
            </a:r>
            <a:endParaRPr kumimoji="1" lang="en-US" altLang="ja-JP" sz="1100" dirty="0">
              <a:latin typeface="+mn-ea"/>
            </a:endParaRPr>
          </a:p>
        </p:txBody>
      </p:sp>
      <p:sp>
        <p:nvSpPr>
          <p:cNvPr id="39" name="正方形/長方形 38">
            <a:hlinkClick r:id="rId4"/>
            <a:extLst>
              <a:ext uri="{FF2B5EF4-FFF2-40B4-BE49-F238E27FC236}">
                <a16:creationId xmlns:a16="http://schemas.microsoft.com/office/drawing/2014/main" id="{EE8D4406-90A2-B702-E582-1D232C1E5852}"/>
              </a:ext>
            </a:extLst>
          </p:cNvPr>
          <p:cNvSpPr/>
          <p:nvPr/>
        </p:nvSpPr>
        <p:spPr>
          <a:xfrm>
            <a:off x="6440915" y="1041250"/>
            <a:ext cx="1224136" cy="349961"/>
          </a:xfrm>
          <a:prstGeom prst="rect">
            <a:avLst/>
          </a:prstGeom>
          <a:solidFill>
            <a:schemeClr val="bg2">
              <a:lumMod val="75000"/>
            </a:schemeClr>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mn-ea"/>
              </a:rPr>
              <a:t>Teams</a:t>
            </a:r>
            <a:r>
              <a:rPr kumimoji="1" lang="ja-JP" altLang="en-US" sz="1200" b="1" dirty="0">
                <a:solidFill>
                  <a:schemeClr val="bg1"/>
                </a:solidFill>
                <a:latin typeface="+mn-ea"/>
              </a:rPr>
              <a:t>リンク</a:t>
            </a:r>
          </a:p>
        </p:txBody>
      </p:sp>
      <p:sp>
        <p:nvSpPr>
          <p:cNvPr id="40" name="正方形/長方形 39">
            <a:hlinkClick r:id="rId5"/>
            <a:extLst>
              <a:ext uri="{FF2B5EF4-FFF2-40B4-BE49-F238E27FC236}">
                <a16:creationId xmlns:a16="http://schemas.microsoft.com/office/drawing/2014/main" id="{59A4802A-C785-A1F3-FE08-0068B4033062}"/>
              </a:ext>
            </a:extLst>
          </p:cNvPr>
          <p:cNvSpPr/>
          <p:nvPr/>
        </p:nvSpPr>
        <p:spPr>
          <a:xfrm>
            <a:off x="6440915" y="3771133"/>
            <a:ext cx="1224136" cy="349961"/>
          </a:xfrm>
          <a:prstGeom prst="rect">
            <a:avLst/>
          </a:prstGeom>
          <a:solidFill>
            <a:schemeClr val="bg2">
              <a:lumMod val="75000"/>
            </a:schemeClr>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mn-ea"/>
              </a:rPr>
              <a:t>Teams</a:t>
            </a:r>
            <a:r>
              <a:rPr kumimoji="1" lang="ja-JP" altLang="en-US" sz="1200" b="1" dirty="0">
                <a:solidFill>
                  <a:schemeClr val="bg1"/>
                </a:solidFill>
                <a:latin typeface="+mn-ea"/>
              </a:rPr>
              <a:t>リンク</a:t>
            </a:r>
          </a:p>
        </p:txBody>
      </p:sp>
    </p:spTree>
    <p:extLst>
      <p:ext uri="{BB962C8B-B14F-4D97-AF65-F5344CB8AC3E}">
        <p14:creationId xmlns:p14="http://schemas.microsoft.com/office/powerpoint/2010/main" val="1245247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8F1F7DC-D8BF-3813-9388-C3BF293B42EA}"/>
              </a:ext>
            </a:extLst>
          </p:cNvPr>
          <p:cNvSpPr>
            <a:spLocks noGrp="1"/>
          </p:cNvSpPr>
          <p:nvPr>
            <p:ph type="title"/>
          </p:nvPr>
        </p:nvSpPr>
        <p:spPr/>
        <p:txBody>
          <a:bodyPr/>
          <a:lstStyle/>
          <a:p>
            <a:r>
              <a:rPr lang="ja-JP" altLang="en-US" sz="2400" dirty="0"/>
              <a:t>４．フェーズ２からの継続活動事項</a:t>
            </a:r>
            <a:br>
              <a:rPr lang="en-US" altLang="ja-JP" sz="2400" b="0" dirty="0"/>
            </a:br>
            <a:r>
              <a:rPr lang="ja-JP" altLang="en-US" sz="2400" b="0" dirty="0"/>
              <a:t>　　</a:t>
            </a:r>
            <a:r>
              <a:rPr lang="ja-JP" altLang="en-US" sz="2000" b="0" dirty="0"/>
              <a:t>　　４－３．見積作業の効率化について</a:t>
            </a:r>
            <a:r>
              <a:rPr lang="en-US" altLang="ja-JP" sz="2400" b="0" dirty="0"/>
              <a:t>(</a:t>
            </a:r>
            <a:r>
              <a:rPr lang="ja-JP" altLang="en-US" sz="2400" b="0" dirty="0"/>
              <a:t>簡略化</a:t>
            </a:r>
            <a:r>
              <a:rPr lang="en-US" altLang="ja-JP" sz="2400" b="0" dirty="0"/>
              <a:t>TT,CATS+)</a:t>
            </a:r>
            <a:endParaRPr lang="ja-JP" altLang="en-US" sz="2400" dirty="0"/>
          </a:p>
        </p:txBody>
      </p:sp>
    </p:spTree>
    <p:extLst>
      <p:ext uri="{BB962C8B-B14F-4D97-AF65-F5344CB8AC3E}">
        <p14:creationId xmlns:p14="http://schemas.microsoft.com/office/powerpoint/2010/main" val="3662888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4">
            <a:extLst>
              <a:ext uri="{FF2B5EF4-FFF2-40B4-BE49-F238E27FC236}">
                <a16:creationId xmlns:a16="http://schemas.microsoft.com/office/drawing/2014/main" id="{7380BB39-AE41-0AF4-02D4-F2BDF3C9F8F2}"/>
              </a:ext>
            </a:extLst>
          </p:cNvPr>
          <p:cNvGraphicFramePr>
            <a:graphicFrameLocks noGrp="1"/>
          </p:cNvGraphicFramePr>
          <p:nvPr>
            <p:extLst>
              <p:ext uri="{D42A27DB-BD31-4B8C-83A1-F6EECF244321}">
                <p14:modId xmlns:p14="http://schemas.microsoft.com/office/powerpoint/2010/main" val="3250622695"/>
              </p:ext>
            </p:extLst>
          </p:nvPr>
        </p:nvGraphicFramePr>
        <p:xfrm>
          <a:off x="130764" y="3212976"/>
          <a:ext cx="8945501" cy="3173454"/>
        </p:xfrm>
        <a:graphic>
          <a:graphicData uri="http://schemas.openxmlformats.org/drawingml/2006/table">
            <a:tbl>
              <a:tblPr/>
              <a:tblGrid>
                <a:gridCol w="2187644">
                  <a:extLst>
                    <a:ext uri="{9D8B030D-6E8A-4147-A177-3AD203B41FA5}">
                      <a16:colId xmlns:a16="http://schemas.microsoft.com/office/drawing/2014/main" val="1674594136"/>
                    </a:ext>
                  </a:extLst>
                </a:gridCol>
                <a:gridCol w="108000">
                  <a:extLst>
                    <a:ext uri="{9D8B030D-6E8A-4147-A177-3AD203B41FA5}">
                      <a16:colId xmlns:a16="http://schemas.microsoft.com/office/drawing/2014/main" val="1322037401"/>
                    </a:ext>
                  </a:extLst>
                </a:gridCol>
                <a:gridCol w="108000">
                  <a:extLst>
                    <a:ext uri="{9D8B030D-6E8A-4147-A177-3AD203B41FA5}">
                      <a16:colId xmlns:a16="http://schemas.microsoft.com/office/drawing/2014/main" val="1344775027"/>
                    </a:ext>
                  </a:extLst>
                </a:gridCol>
                <a:gridCol w="108000">
                  <a:extLst>
                    <a:ext uri="{9D8B030D-6E8A-4147-A177-3AD203B41FA5}">
                      <a16:colId xmlns:a16="http://schemas.microsoft.com/office/drawing/2014/main" val="3496579355"/>
                    </a:ext>
                  </a:extLst>
                </a:gridCol>
                <a:gridCol w="108000">
                  <a:extLst>
                    <a:ext uri="{9D8B030D-6E8A-4147-A177-3AD203B41FA5}">
                      <a16:colId xmlns:a16="http://schemas.microsoft.com/office/drawing/2014/main" val="3302894154"/>
                    </a:ext>
                  </a:extLst>
                </a:gridCol>
                <a:gridCol w="108000">
                  <a:extLst>
                    <a:ext uri="{9D8B030D-6E8A-4147-A177-3AD203B41FA5}">
                      <a16:colId xmlns:a16="http://schemas.microsoft.com/office/drawing/2014/main" val="3480873156"/>
                    </a:ext>
                  </a:extLst>
                </a:gridCol>
                <a:gridCol w="108000">
                  <a:extLst>
                    <a:ext uri="{9D8B030D-6E8A-4147-A177-3AD203B41FA5}">
                      <a16:colId xmlns:a16="http://schemas.microsoft.com/office/drawing/2014/main" val="693673314"/>
                    </a:ext>
                  </a:extLst>
                </a:gridCol>
                <a:gridCol w="108000">
                  <a:extLst>
                    <a:ext uri="{9D8B030D-6E8A-4147-A177-3AD203B41FA5}">
                      <a16:colId xmlns:a16="http://schemas.microsoft.com/office/drawing/2014/main" val="3846419462"/>
                    </a:ext>
                  </a:extLst>
                </a:gridCol>
                <a:gridCol w="108000">
                  <a:extLst>
                    <a:ext uri="{9D8B030D-6E8A-4147-A177-3AD203B41FA5}">
                      <a16:colId xmlns:a16="http://schemas.microsoft.com/office/drawing/2014/main" val="2463522820"/>
                    </a:ext>
                  </a:extLst>
                </a:gridCol>
                <a:gridCol w="108000">
                  <a:extLst>
                    <a:ext uri="{9D8B030D-6E8A-4147-A177-3AD203B41FA5}">
                      <a16:colId xmlns:a16="http://schemas.microsoft.com/office/drawing/2014/main" val="2200829142"/>
                    </a:ext>
                  </a:extLst>
                </a:gridCol>
                <a:gridCol w="108000">
                  <a:extLst>
                    <a:ext uri="{9D8B030D-6E8A-4147-A177-3AD203B41FA5}">
                      <a16:colId xmlns:a16="http://schemas.microsoft.com/office/drawing/2014/main" val="3758009939"/>
                    </a:ext>
                  </a:extLst>
                </a:gridCol>
                <a:gridCol w="108000">
                  <a:extLst>
                    <a:ext uri="{9D8B030D-6E8A-4147-A177-3AD203B41FA5}">
                      <a16:colId xmlns:a16="http://schemas.microsoft.com/office/drawing/2014/main" val="3068192484"/>
                    </a:ext>
                  </a:extLst>
                </a:gridCol>
                <a:gridCol w="108000">
                  <a:extLst>
                    <a:ext uri="{9D8B030D-6E8A-4147-A177-3AD203B41FA5}">
                      <a16:colId xmlns:a16="http://schemas.microsoft.com/office/drawing/2014/main" val="4266744394"/>
                    </a:ext>
                  </a:extLst>
                </a:gridCol>
                <a:gridCol w="432000">
                  <a:extLst>
                    <a:ext uri="{9D8B030D-6E8A-4147-A177-3AD203B41FA5}">
                      <a16:colId xmlns:a16="http://schemas.microsoft.com/office/drawing/2014/main" val="3907589115"/>
                    </a:ext>
                  </a:extLst>
                </a:gridCol>
                <a:gridCol w="432000">
                  <a:extLst>
                    <a:ext uri="{9D8B030D-6E8A-4147-A177-3AD203B41FA5}">
                      <a16:colId xmlns:a16="http://schemas.microsoft.com/office/drawing/2014/main" val="3129449765"/>
                    </a:ext>
                  </a:extLst>
                </a:gridCol>
                <a:gridCol w="432000">
                  <a:extLst>
                    <a:ext uri="{9D8B030D-6E8A-4147-A177-3AD203B41FA5}">
                      <a16:colId xmlns:a16="http://schemas.microsoft.com/office/drawing/2014/main" val="1884475334"/>
                    </a:ext>
                  </a:extLst>
                </a:gridCol>
                <a:gridCol w="432000">
                  <a:extLst>
                    <a:ext uri="{9D8B030D-6E8A-4147-A177-3AD203B41FA5}">
                      <a16:colId xmlns:a16="http://schemas.microsoft.com/office/drawing/2014/main" val="2197387374"/>
                    </a:ext>
                  </a:extLst>
                </a:gridCol>
                <a:gridCol w="432000">
                  <a:extLst>
                    <a:ext uri="{9D8B030D-6E8A-4147-A177-3AD203B41FA5}">
                      <a16:colId xmlns:a16="http://schemas.microsoft.com/office/drawing/2014/main" val="202505898"/>
                    </a:ext>
                  </a:extLst>
                </a:gridCol>
                <a:gridCol w="432000">
                  <a:extLst>
                    <a:ext uri="{9D8B030D-6E8A-4147-A177-3AD203B41FA5}">
                      <a16:colId xmlns:a16="http://schemas.microsoft.com/office/drawing/2014/main" val="1995160970"/>
                    </a:ext>
                  </a:extLst>
                </a:gridCol>
                <a:gridCol w="2869857">
                  <a:extLst>
                    <a:ext uri="{9D8B030D-6E8A-4147-A177-3AD203B41FA5}">
                      <a16:colId xmlns:a16="http://schemas.microsoft.com/office/drawing/2014/main" val="1039121085"/>
                    </a:ext>
                  </a:extLst>
                </a:gridCol>
              </a:tblGrid>
              <a:tr h="167646">
                <a:tc rowSpan="2">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12">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en-US" sz="1100" b="1" i="0" u="none" strike="noStrike" dirty="0">
                          <a:solidFill>
                            <a:srgbClr val="000000"/>
                          </a:solidFill>
                          <a:effectLst/>
                          <a:latin typeface="メイリオ" panose="020B0604030504040204" pitchFamily="50" charset="-128"/>
                          <a:ea typeface="メイリオ" panose="020B0604030504040204" pitchFamily="50" charset="-128"/>
                        </a:rPr>
                        <a:t>FY23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6">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en-US" sz="1100" b="1" i="0" u="none" strike="noStrike" dirty="0">
                          <a:solidFill>
                            <a:srgbClr val="000000"/>
                          </a:solidFill>
                          <a:effectLst/>
                          <a:latin typeface="メイリオ" panose="020B0604030504040204" pitchFamily="50" charset="-128"/>
                          <a:ea typeface="メイリオ" panose="020B0604030504040204" pitchFamily="50" charset="-128"/>
                        </a:rPr>
                        <a:t>FY24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rowSpan="2">
                  <a:txBody>
                    <a:bodyPr/>
                    <a:lstStyle/>
                    <a:p>
                      <a:pPr algn="ctr"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進捗状況</a:t>
                      </a:r>
                      <a:endParaRPr 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522613225"/>
                  </a:ext>
                </a:extLst>
              </a:tr>
              <a:tr h="167646">
                <a:tc vMerge="1">
                  <a:txBody>
                    <a:bodyPr/>
                    <a:lstStyle/>
                    <a:p>
                      <a:endParaRPr kumimoji="1" lang="ja-JP" altLang="en-US"/>
                    </a:p>
                  </a:txBody>
                  <a:tcPr/>
                </a:tc>
                <a:tc gridSpan="3">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1Q</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5</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6</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3">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2Q</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8</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9</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3">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3Q</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11</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12</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3">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4Q</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2</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3</a:t>
                      </a: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4</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5</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6</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7</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8</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9</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vMerge="1">
                  <a:txBody>
                    <a:bodyPr/>
                    <a:lstStyle/>
                    <a:p>
                      <a:pPr algn="ctr" fontAlgn="ctr"/>
                      <a:endParaRPr lang="ja-JP" altLang="en-US"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55382474"/>
                  </a:ext>
                </a:extLst>
              </a:tr>
              <a:tr h="240846">
                <a:tc>
                  <a:txBody>
                    <a:bodyPr/>
                    <a:lstStyle/>
                    <a:p>
                      <a:pPr marL="228600" indent="-228600" algn="l" fontAlgn="ctr">
                        <a:buAutoNum type="arabicPeriod"/>
                      </a:pP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簡略化</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TT</a:t>
                      </a:r>
                    </a:p>
                    <a:p>
                      <a:pPr marL="0" indent="0" algn="l" fontAlgn="ctr">
                        <a:buNone/>
                      </a:pP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r>
                        <a:rPr lang="ja-JP" altLang="en-US" sz="800" b="1" i="0" u="none" strike="noStrike" dirty="0">
                          <a:solidFill>
                            <a:schemeClr val="tx1"/>
                          </a:solidFill>
                          <a:effectLst/>
                          <a:latin typeface="メイリオ" panose="020B0604030504040204" pitchFamily="50" charset="-128"/>
                          <a:ea typeface="メイリオ" panose="020B0604030504040204" pitchFamily="50" charset="-128"/>
                        </a:rPr>
                        <a:t>（簡易見積可否を情報共有する仕組み）</a:t>
                      </a:r>
                      <a:endParaRPr lang="ja-JP" altLang="en-US" sz="1100" b="1" i="0" u="none" strike="noStrike" dirty="0">
                        <a:solidFill>
                          <a:schemeClr val="tx1"/>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chemeClr val="bg1"/>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chemeClr val="bg1"/>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chemeClr val="bg1"/>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chemeClr val="bg1"/>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0316483"/>
                  </a:ext>
                </a:extLst>
              </a:tr>
              <a:tr h="240846">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①活動内容の検討</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916301"/>
                  </a:ext>
                </a:extLst>
              </a:tr>
              <a:tr h="240846">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②国内ボイラでの活動</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■活動浸透し件数増加中。</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9447901"/>
                  </a:ext>
                </a:extLst>
              </a:tr>
              <a:tr h="240846">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③国内空設・燃技へ水平展開</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kumimoji="1" sz="1350" kern="1200">
                          <a:solidFill>
                            <a:schemeClr val="tx1"/>
                          </a:solidFill>
                          <a:latin typeface="Meiryo UI"/>
                          <a:ea typeface="Meiryo UI"/>
                        </a:defRPr>
                      </a:lvl1pPr>
                      <a:lvl2pPr marL="342900" algn="l" defTabSz="685800" rtl="0" eaLnBrk="1" latinLnBrk="0" hangingPunct="1">
                        <a:defRPr kumimoji="1" sz="1350" kern="1200">
                          <a:solidFill>
                            <a:schemeClr val="tx1"/>
                          </a:solidFill>
                          <a:latin typeface="Meiryo UI"/>
                          <a:ea typeface="Meiryo UI"/>
                        </a:defRPr>
                      </a:lvl2pPr>
                      <a:lvl3pPr marL="685800" algn="l" defTabSz="685800" rtl="0" eaLnBrk="1" latinLnBrk="0" hangingPunct="1">
                        <a:defRPr kumimoji="1" sz="1350" kern="1200">
                          <a:solidFill>
                            <a:schemeClr val="tx1"/>
                          </a:solidFill>
                          <a:latin typeface="Meiryo UI"/>
                          <a:ea typeface="Meiryo UI"/>
                        </a:defRPr>
                      </a:lvl3pPr>
                      <a:lvl4pPr marL="1028700" algn="l" defTabSz="685800" rtl="0" eaLnBrk="1" latinLnBrk="0" hangingPunct="1">
                        <a:defRPr kumimoji="1" sz="1350" kern="1200">
                          <a:solidFill>
                            <a:schemeClr val="tx1"/>
                          </a:solidFill>
                          <a:latin typeface="Meiryo UI"/>
                          <a:ea typeface="Meiryo UI"/>
                        </a:defRPr>
                      </a:lvl4pPr>
                      <a:lvl5pPr marL="1371600" algn="l" defTabSz="685800" rtl="0" eaLnBrk="1" latinLnBrk="0" hangingPunct="1">
                        <a:defRPr kumimoji="1" sz="1350" kern="1200">
                          <a:solidFill>
                            <a:schemeClr val="tx1"/>
                          </a:solidFill>
                          <a:latin typeface="Meiryo UI"/>
                          <a:ea typeface="Meiryo UI"/>
                        </a:defRPr>
                      </a:lvl5pPr>
                      <a:lvl6pPr marL="1714500" algn="l" defTabSz="685800" rtl="0" eaLnBrk="1" latinLnBrk="0" hangingPunct="1">
                        <a:defRPr kumimoji="1" sz="1350" kern="1200">
                          <a:solidFill>
                            <a:schemeClr val="tx1"/>
                          </a:solidFill>
                          <a:latin typeface="Meiryo UI"/>
                          <a:ea typeface="Meiryo UI"/>
                        </a:defRPr>
                      </a:lvl6pPr>
                      <a:lvl7pPr marL="2057400" algn="l" defTabSz="685800" rtl="0" eaLnBrk="1" latinLnBrk="0" hangingPunct="1">
                        <a:defRPr kumimoji="1" sz="1350" kern="1200">
                          <a:solidFill>
                            <a:schemeClr val="tx1"/>
                          </a:solidFill>
                          <a:latin typeface="Meiryo UI"/>
                          <a:ea typeface="Meiryo UI"/>
                        </a:defRPr>
                      </a:lvl7pPr>
                      <a:lvl8pPr marL="2400300" algn="l" defTabSz="685800" rtl="0" eaLnBrk="1" latinLnBrk="0" hangingPunct="1">
                        <a:defRPr kumimoji="1" sz="1350" kern="1200">
                          <a:solidFill>
                            <a:schemeClr val="tx1"/>
                          </a:solidFill>
                          <a:latin typeface="Meiryo UI"/>
                          <a:ea typeface="Meiryo UI"/>
                        </a:defRPr>
                      </a:lvl8pPr>
                      <a:lvl9pPr marL="2743200" algn="l" defTabSz="685800" rtl="0" eaLnBrk="1" latinLnBrk="0" hangingPunct="1">
                        <a:defRPr kumimoji="1" sz="1350" kern="1200">
                          <a:solidFill>
                            <a:schemeClr val="tx1"/>
                          </a:solidFill>
                          <a:latin typeface="Meiryo UI"/>
                          <a:ea typeface="Meiryo UI"/>
                        </a:defRPr>
                      </a:lvl9p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■空設は</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3</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件、燃技は</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4</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件実施し徐々に拡大。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08078"/>
                  </a:ext>
                </a:extLst>
              </a:tr>
              <a:tr h="240846">
                <a:tc>
                  <a:txBody>
                    <a:body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④海外案件への展開検討</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l"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■③の状況を鑑み、展開検討していく。</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7278764"/>
                  </a:ext>
                </a:extLst>
              </a:tr>
              <a:tr h="240846">
                <a:tc>
                  <a:txBody>
                    <a:bodyPr/>
                    <a:lstStyle/>
                    <a:p>
                      <a:pPr marL="0" marR="0" lvl="0" indent="0" algn="l" defTabSz="662761" rtl="0" eaLnBrk="1" fontAlgn="ctr" latinLnBrk="0" hangingPunct="1">
                        <a:lnSpc>
                          <a:spcPct val="100000"/>
                        </a:lnSpc>
                        <a:spcBef>
                          <a:spcPts val="0"/>
                        </a:spcBef>
                        <a:spcAft>
                          <a:spcPts val="0"/>
                        </a:spcAft>
                        <a:buClrTx/>
                        <a:buSzTx/>
                        <a:buFontTx/>
                        <a:buNone/>
                        <a:tabLst/>
                        <a:defRPr/>
                      </a:pP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⑤旧呉</a:t>
                      </a:r>
                      <a:r>
                        <a:rPr lang="ja-JP" altLang="en-US" sz="1100" b="1" i="0" u="none" strike="noStrike" dirty="0">
                          <a:solidFill>
                            <a:schemeClr val="tx1"/>
                          </a:solidFill>
                          <a:effectLst/>
                          <a:latin typeface="メイリオ" panose="020B0604030504040204" pitchFamily="50" charset="-128"/>
                          <a:ea typeface="メイリオ" panose="020B0604030504040204" pitchFamily="50" charset="-128"/>
                        </a:rPr>
                        <a:t>案件</a:t>
                      </a:r>
                      <a:r>
                        <a:rPr lang="en-US" altLang="ja-JP" sz="1100" b="1" i="0" u="none" strike="noStrike" dirty="0">
                          <a:solidFill>
                            <a:schemeClr val="tx1"/>
                          </a:solidFill>
                          <a:effectLst/>
                          <a:latin typeface="メイリオ" panose="020B0604030504040204" pitchFamily="50" charset="-128"/>
                          <a:ea typeface="メイリオ" panose="020B0604030504040204" pitchFamily="50" charset="-128"/>
                        </a:rPr>
                        <a:t>(</a:t>
                      </a:r>
                      <a:r>
                        <a:rPr lang="ja-JP" altLang="en-US" sz="1100" b="1" i="0" u="none" strike="noStrike" dirty="0">
                          <a:solidFill>
                            <a:schemeClr val="tx1"/>
                          </a:solidFill>
                          <a:effectLst/>
                          <a:latin typeface="メイリオ" panose="020B0604030504040204" pitchFamily="50" charset="-128"/>
                          <a:ea typeface="メイリオ" panose="020B0604030504040204" pitchFamily="50" charset="-128"/>
                        </a:rPr>
                        <a:t>国内ボイラ</a:t>
                      </a:r>
                      <a:r>
                        <a:rPr lang="en-US" altLang="ja-JP" sz="1100" b="1" i="0" u="none" strike="noStrike" dirty="0">
                          <a:solidFill>
                            <a:schemeClr val="tx1"/>
                          </a:solidFill>
                          <a:effectLst/>
                          <a:latin typeface="メイリオ" panose="020B0604030504040204" pitchFamily="50" charset="-128"/>
                          <a:ea typeface="メイリオ" panose="020B0604030504040204" pitchFamily="50" charset="-128"/>
                        </a:rPr>
                        <a:t>)</a:t>
                      </a:r>
                      <a:endParaRPr lang="ja-JP" altLang="en-US" sz="1100" b="1" i="0" u="none" strike="noStrike" dirty="0">
                        <a:solidFill>
                          <a:schemeClr val="tx1"/>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■１件実施済。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159893"/>
                  </a:ext>
                </a:extLst>
              </a:tr>
              <a:tr h="240846">
                <a:tc>
                  <a:txBody>
                    <a:bodyPr/>
                    <a:lstStyle/>
                    <a:p>
                      <a:pPr algn="l" fontAlgn="ct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2. CATS+</a:t>
                      </a:r>
                    </a:p>
                    <a:p>
                      <a:pPr algn="l" fontAlgn="ct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　（過去実績を流用する仕組み）</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490253"/>
                  </a:ext>
                </a:extLst>
              </a:tr>
              <a:tr h="240846">
                <a:tc>
                  <a:txBody>
                    <a:body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①システム構築</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7797708"/>
                  </a:ext>
                </a:extLst>
              </a:tr>
              <a:tr h="240846">
                <a:tc>
                  <a:txBody>
                    <a:body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②海外</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ST</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運用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■運用性向上等、適用率向上施策実施中。</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1333606"/>
                  </a:ext>
                </a:extLst>
              </a:tr>
              <a:tr h="240846">
                <a:tc>
                  <a:txBody>
                    <a:body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③海外ミル・制御装置展開</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pattFill prst="dkUpDiag">
                      <a:fgClr>
                        <a:schemeClr val="accent2"/>
                      </a:fgClr>
                      <a:bgClr>
                        <a:schemeClr val="bg1"/>
                      </a:bgClr>
                    </a:patt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pattFill prst="dkUpDiag">
                      <a:fgClr>
                        <a:schemeClr val="accent2"/>
                      </a:fgClr>
                      <a:bgClr>
                        <a:schemeClr val="bg1"/>
                      </a:bgClr>
                    </a:patt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3175"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7</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月稼働開始予定。</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2792400"/>
                  </a:ext>
                </a:extLst>
              </a:tr>
              <a:tr h="240846">
                <a:tc>
                  <a:txBody>
                    <a:body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④国内・海外ファン展開</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l" fontAlgn="ct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■展開へ向け、システム構築中</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7210206"/>
                  </a:ext>
                </a:extLst>
              </a:tr>
            </a:tbl>
          </a:graphicData>
        </a:graphic>
      </p:graphicFrame>
      <p:cxnSp>
        <p:nvCxnSpPr>
          <p:cNvPr id="9" name="直線コネクタ 8">
            <a:extLst>
              <a:ext uri="{FF2B5EF4-FFF2-40B4-BE49-F238E27FC236}">
                <a16:creationId xmlns:a16="http://schemas.microsoft.com/office/drawing/2014/main" id="{6AB7B90F-E115-4983-D851-11CEABDE9806}"/>
              </a:ext>
            </a:extLst>
          </p:cNvPr>
          <p:cNvCxnSpPr>
            <a:cxnSpLocks/>
          </p:cNvCxnSpPr>
          <p:nvPr/>
        </p:nvCxnSpPr>
        <p:spPr>
          <a:xfrm>
            <a:off x="4719634" y="3209942"/>
            <a:ext cx="0" cy="3334621"/>
          </a:xfrm>
          <a:prstGeom prst="line">
            <a:avLst/>
          </a:prstGeom>
          <a:ln w="28575">
            <a:solidFill>
              <a:srgbClr val="FF0000"/>
            </a:solidFill>
          </a:ln>
        </p:spPr>
        <p:style>
          <a:lnRef idx="1">
            <a:schemeClr val="accent5"/>
          </a:lnRef>
          <a:fillRef idx="0">
            <a:schemeClr val="accent5"/>
          </a:fillRef>
          <a:effectRef idx="0">
            <a:schemeClr val="accent5"/>
          </a:effectRef>
          <a:fontRef idx="minor">
            <a:schemeClr val="tx1"/>
          </a:fontRef>
        </p:style>
      </p:cxnSp>
      <p:sp>
        <p:nvSpPr>
          <p:cNvPr id="25" name="正方形/長方形 24">
            <a:extLst>
              <a:ext uri="{FF2B5EF4-FFF2-40B4-BE49-F238E27FC236}">
                <a16:creationId xmlns:a16="http://schemas.microsoft.com/office/drawing/2014/main" id="{44E6E220-72DB-4CF6-AF64-DFD41EB6D74A}"/>
              </a:ext>
            </a:extLst>
          </p:cNvPr>
          <p:cNvSpPr/>
          <p:nvPr/>
        </p:nvSpPr>
        <p:spPr>
          <a:xfrm>
            <a:off x="0" y="2911393"/>
            <a:ext cx="1982943" cy="298549"/>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prstClr val="black"/>
                </a:solidFill>
                <a:effectLst/>
                <a:uLnTx/>
                <a:uFillTx/>
                <a:latin typeface="メイリオ"/>
                <a:ea typeface="メイリオ"/>
                <a:cs typeface="+mn-cs"/>
              </a:rPr>
              <a:t>【</a:t>
            </a:r>
            <a:r>
              <a:rPr kumimoji="1" lang="ja-JP" altLang="en-US" sz="1400" b="1" i="0" u="none" strike="noStrike" kern="1200" cap="none" spc="0" normalizeH="0" baseline="0" noProof="0" dirty="0">
                <a:ln>
                  <a:noFill/>
                </a:ln>
                <a:solidFill>
                  <a:prstClr val="black"/>
                </a:solidFill>
                <a:effectLst/>
                <a:uLnTx/>
                <a:uFillTx/>
                <a:latin typeface="メイリオ"/>
                <a:ea typeface="メイリオ"/>
                <a:cs typeface="+mn-cs"/>
              </a:rPr>
              <a:t>適用スケジュール</a:t>
            </a:r>
            <a:r>
              <a:rPr kumimoji="1" lang="en-US" altLang="ja-JP" sz="1400" b="1" i="0" u="none" strike="noStrike" kern="1200" cap="none" spc="0" normalizeH="0" baseline="0" noProof="0" dirty="0">
                <a:ln>
                  <a:noFill/>
                </a:ln>
                <a:solidFill>
                  <a:prstClr val="black"/>
                </a:solidFill>
                <a:effectLst/>
                <a:uLnTx/>
                <a:uFillTx/>
                <a:latin typeface="メイリオ"/>
                <a:ea typeface="メイリオ"/>
                <a:cs typeface="+mn-cs"/>
              </a:rPr>
              <a:t>】</a:t>
            </a:r>
            <a:endParaRPr kumimoji="1" lang="en-US" altLang="ja-JP" sz="1400" b="0" i="0" u="none" strike="noStrike" kern="1200" cap="none" spc="0" normalizeH="0" baseline="0" noProof="0" dirty="0">
              <a:ln>
                <a:noFill/>
              </a:ln>
              <a:solidFill>
                <a:prstClr val="black"/>
              </a:solidFill>
              <a:effectLst/>
              <a:uLnTx/>
              <a:uFillTx/>
              <a:latin typeface="メイリオ"/>
              <a:ea typeface="メイリオ"/>
              <a:cs typeface="+mn-cs"/>
            </a:endParaRPr>
          </a:p>
        </p:txBody>
      </p:sp>
      <p:sp>
        <p:nvSpPr>
          <p:cNvPr id="26" name="テキスト プレースホルダー 5">
            <a:extLst>
              <a:ext uri="{FF2B5EF4-FFF2-40B4-BE49-F238E27FC236}">
                <a16:creationId xmlns:a16="http://schemas.microsoft.com/office/drawing/2014/main" id="{9D956649-C882-556D-3CE0-3E5CE53F24AB}"/>
              </a:ext>
            </a:extLst>
          </p:cNvPr>
          <p:cNvSpPr txBox="1">
            <a:spLocks/>
          </p:cNvSpPr>
          <p:nvPr/>
        </p:nvSpPr>
        <p:spPr>
          <a:xfrm>
            <a:off x="130764" y="637151"/>
            <a:ext cx="8882470" cy="322438"/>
          </a:xfrm>
          <a:prstGeom prst="rect">
            <a:avLst/>
          </a:prstGeom>
          <a:solidFill>
            <a:schemeClr val="bg2">
              <a:lumMod val="40000"/>
              <a:lumOff val="60000"/>
            </a:schemeClr>
          </a:solidFill>
        </p:spPr>
        <p:txBody>
          <a:bodyPr anchor="ctr"/>
          <a:lst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a:t>
            </a:r>
            <a:r>
              <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PM</a:t>
            </a:r>
            <a:r>
              <a:rPr kumimoji="1" lang="ja-JP" altLang="en-US"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中心のマネジメントサイクルを構築するうえで、引合効率化の活動として実施中。</a:t>
            </a:r>
            <a:endPar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0F6538AE-D3C0-D6C5-9BE0-97470F4DF5DC}"/>
              </a:ext>
            </a:extLst>
          </p:cNvPr>
          <p:cNvSpPr/>
          <p:nvPr/>
        </p:nvSpPr>
        <p:spPr>
          <a:xfrm>
            <a:off x="0" y="980728"/>
            <a:ext cx="2929468" cy="298549"/>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prstClr val="black"/>
                </a:solidFill>
                <a:effectLst/>
                <a:uLnTx/>
                <a:uFillTx/>
                <a:latin typeface="メイリオ"/>
                <a:ea typeface="メイリオ"/>
                <a:cs typeface="+mn-cs"/>
              </a:rPr>
              <a:t>【</a:t>
            </a:r>
            <a:r>
              <a:rPr kumimoji="1" lang="ja-JP" altLang="en-US" sz="1400" b="1" i="0" u="none" strike="noStrike" kern="1200" cap="none" spc="0" normalizeH="0" baseline="0" noProof="0" dirty="0">
                <a:ln>
                  <a:noFill/>
                </a:ln>
                <a:solidFill>
                  <a:prstClr val="black"/>
                </a:solidFill>
                <a:effectLst/>
                <a:uLnTx/>
                <a:uFillTx/>
                <a:latin typeface="メイリオ"/>
                <a:ea typeface="メイリオ"/>
                <a:cs typeface="+mn-cs"/>
              </a:rPr>
              <a:t>見積作業効率化の位置づけ</a:t>
            </a:r>
            <a:r>
              <a:rPr kumimoji="1" lang="en-US" altLang="ja-JP" sz="1400" b="1" i="0" u="none" strike="noStrike" kern="1200" cap="none" spc="0" normalizeH="0" baseline="0" noProof="0" dirty="0">
                <a:ln>
                  <a:noFill/>
                </a:ln>
                <a:solidFill>
                  <a:prstClr val="black"/>
                </a:solidFill>
                <a:effectLst/>
                <a:uLnTx/>
                <a:uFillTx/>
                <a:latin typeface="メイリオ"/>
                <a:ea typeface="メイリオ"/>
                <a:cs typeface="+mn-cs"/>
              </a:rPr>
              <a:t>】</a:t>
            </a:r>
            <a:endParaRPr kumimoji="1" lang="en-US" altLang="ja-JP" sz="1400" b="0" i="0" u="none" strike="noStrike" kern="1200" cap="none" spc="0" normalizeH="0" baseline="0" noProof="0" dirty="0">
              <a:ln>
                <a:noFill/>
              </a:ln>
              <a:solidFill>
                <a:prstClr val="black"/>
              </a:solidFill>
              <a:effectLst/>
              <a:uLnTx/>
              <a:uFillTx/>
              <a:latin typeface="メイリオ"/>
              <a:ea typeface="メイリオ"/>
              <a:cs typeface="+mn-cs"/>
            </a:endParaRPr>
          </a:p>
        </p:txBody>
      </p:sp>
      <p:sp>
        <p:nvSpPr>
          <p:cNvPr id="40" name="正方形/長方形 39">
            <a:extLst>
              <a:ext uri="{FF2B5EF4-FFF2-40B4-BE49-F238E27FC236}">
                <a16:creationId xmlns:a16="http://schemas.microsoft.com/office/drawing/2014/main" id="{32C47DD6-901E-E992-0E2B-5D856048043B}"/>
              </a:ext>
            </a:extLst>
          </p:cNvPr>
          <p:cNvSpPr/>
          <p:nvPr/>
        </p:nvSpPr>
        <p:spPr>
          <a:xfrm>
            <a:off x="6678587" y="2286965"/>
            <a:ext cx="1448225" cy="526006"/>
          </a:xfrm>
          <a:prstGeom prst="rect">
            <a:avLst/>
          </a:prstGeom>
          <a:noFill/>
          <a:ln w="19050" cmpd="sng">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4" name="テキスト ボックス 3">
            <a:extLst>
              <a:ext uri="{FF2B5EF4-FFF2-40B4-BE49-F238E27FC236}">
                <a16:creationId xmlns:a16="http://schemas.microsoft.com/office/drawing/2014/main" id="{F74E90AF-DA8C-4B55-FD49-7D6662187A29}"/>
              </a:ext>
            </a:extLst>
          </p:cNvPr>
          <p:cNvSpPr txBox="1"/>
          <p:nvPr/>
        </p:nvSpPr>
        <p:spPr>
          <a:xfrm>
            <a:off x="246720" y="113188"/>
            <a:ext cx="735874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1" dirty="0">
                <a:solidFill>
                  <a:srgbClr val="000000"/>
                </a:solidFill>
                <a:latin typeface="メイリオ" panose="020B0604030504040204" pitchFamily="50" charset="-128"/>
                <a:ea typeface="メイリオ" panose="020B0604030504040204" pitchFamily="50" charset="-128"/>
              </a:rPr>
              <a:t>４－３</a:t>
            </a:r>
            <a:r>
              <a:rPr kumimoji="1" lang="ja-JP" altLang="en-US" sz="1800" b="1"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rPr>
              <a:t>．見積作業の効率化</a:t>
            </a:r>
            <a:r>
              <a:rPr lang="ja-JP" altLang="en-US" b="1" dirty="0">
                <a:solidFill>
                  <a:srgbClr val="000000"/>
                </a:solidFill>
                <a:latin typeface="メイリオ" panose="020B0604030504040204" pitchFamily="50" charset="-128"/>
                <a:ea typeface="メイリオ" panose="020B0604030504040204" pitchFamily="50" charset="-128"/>
              </a:rPr>
              <a:t>について</a:t>
            </a:r>
            <a:r>
              <a:rPr kumimoji="1" lang="ja-JP" altLang="en-US" sz="1800" b="1"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rPr>
              <a:t>（見積簡略化</a:t>
            </a:r>
            <a:r>
              <a:rPr kumimoji="1" lang="en-US" altLang="ja-JP" sz="1800" b="1"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rPr>
              <a:t>TT</a:t>
            </a:r>
            <a:r>
              <a:rPr kumimoji="1" lang="ja-JP" altLang="en-US" sz="1800" b="1"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rPr>
              <a:t>、</a:t>
            </a:r>
            <a:r>
              <a:rPr kumimoji="1" lang="en-US" altLang="ja-JP" sz="1800" b="1"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rPr>
              <a:t>CATS+</a:t>
            </a:r>
            <a:r>
              <a:rPr kumimoji="1" lang="ja-JP" altLang="en-US" sz="1800" b="1"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rPr>
              <a:t>）</a:t>
            </a:r>
          </a:p>
        </p:txBody>
      </p:sp>
      <p:sp>
        <p:nvSpPr>
          <p:cNvPr id="6" name="テキスト ボックス 5">
            <a:extLst>
              <a:ext uri="{FF2B5EF4-FFF2-40B4-BE49-F238E27FC236}">
                <a16:creationId xmlns:a16="http://schemas.microsoft.com/office/drawing/2014/main" id="{FCB8C448-235D-62C6-039F-4E196B1C0BF8}"/>
              </a:ext>
            </a:extLst>
          </p:cNvPr>
          <p:cNvSpPr txBox="1"/>
          <p:nvPr/>
        </p:nvSpPr>
        <p:spPr>
          <a:xfrm>
            <a:off x="2822497" y="4149080"/>
            <a:ext cx="113701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Meiryo UI"/>
                <a:ea typeface="Meiryo UI"/>
                <a:cs typeface="+mn-cs"/>
              </a:rPr>
              <a:t>⇒適用顧客拡大</a:t>
            </a:r>
            <a:endParaRPr kumimoji="1" lang="ja-JP" altLang="en-US" sz="1000" b="0" i="0" u="none" strike="noStrike" kern="1200" cap="none" spc="0" normalizeH="0" baseline="0" noProof="0" dirty="0">
              <a:ln>
                <a:noFill/>
              </a:ln>
              <a:solidFill>
                <a:srgbClr val="FFFFFF"/>
              </a:solidFill>
              <a:effectLst/>
              <a:uLnTx/>
              <a:uFillTx/>
              <a:latin typeface="Meiryo UI"/>
              <a:ea typeface="Meiryo UI"/>
              <a:cs typeface="+mn-cs"/>
            </a:endParaRPr>
          </a:p>
        </p:txBody>
      </p:sp>
      <p:sp>
        <p:nvSpPr>
          <p:cNvPr id="8" name="テキスト ボックス 7">
            <a:extLst>
              <a:ext uri="{FF2B5EF4-FFF2-40B4-BE49-F238E27FC236}">
                <a16:creationId xmlns:a16="http://schemas.microsoft.com/office/drawing/2014/main" id="{F0CCB7E4-2A26-0440-41F6-A83042ABCFCD}"/>
              </a:ext>
            </a:extLst>
          </p:cNvPr>
          <p:cNvSpPr txBox="1"/>
          <p:nvPr/>
        </p:nvSpPr>
        <p:spPr>
          <a:xfrm>
            <a:off x="3767185" y="4149080"/>
            <a:ext cx="113701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Meiryo UI"/>
                <a:ea typeface="Meiryo UI"/>
                <a:cs typeface="+mn-cs"/>
              </a:rPr>
              <a:t>⇒活動の浸透</a:t>
            </a:r>
            <a:endParaRPr kumimoji="1" lang="ja-JP" altLang="en-US" sz="1000" b="0" i="0" u="none" strike="noStrike" kern="1200" cap="none" spc="0" normalizeH="0" baseline="0" noProof="0" dirty="0">
              <a:ln>
                <a:noFill/>
              </a:ln>
              <a:solidFill>
                <a:srgbClr val="FFFFFF"/>
              </a:solidFill>
              <a:effectLst/>
              <a:uLnTx/>
              <a:uFillTx/>
              <a:latin typeface="Meiryo UI"/>
              <a:ea typeface="Meiryo UI"/>
              <a:cs typeface="+mn-cs"/>
            </a:endParaRPr>
          </a:p>
        </p:txBody>
      </p:sp>
      <p:sp>
        <p:nvSpPr>
          <p:cNvPr id="11" name="テキスト ボックス 10">
            <a:extLst>
              <a:ext uri="{FF2B5EF4-FFF2-40B4-BE49-F238E27FC236}">
                <a16:creationId xmlns:a16="http://schemas.microsoft.com/office/drawing/2014/main" id="{2A7F6CDC-5A68-25E4-7E22-AF93AC598A0B}"/>
              </a:ext>
            </a:extLst>
          </p:cNvPr>
          <p:cNvSpPr txBox="1"/>
          <p:nvPr/>
        </p:nvSpPr>
        <p:spPr>
          <a:xfrm>
            <a:off x="3464399" y="4394388"/>
            <a:ext cx="113701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Meiryo UI"/>
                <a:ea typeface="Meiryo UI"/>
                <a:cs typeface="+mn-cs"/>
              </a:rPr>
              <a:t>⇒活動開始</a:t>
            </a:r>
            <a:endParaRPr kumimoji="1" lang="ja-JP" altLang="en-US" sz="1000" b="0" i="0" u="none" strike="noStrike" kern="1200" cap="none" spc="0" normalizeH="0" baseline="0" noProof="0" dirty="0">
              <a:ln>
                <a:noFill/>
              </a:ln>
              <a:solidFill>
                <a:srgbClr val="FFFFFF"/>
              </a:solidFill>
              <a:effectLst/>
              <a:uLnTx/>
              <a:uFillTx/>
              <a:latin typeface="Meiryo UI"/>
              <a:ea typeface="Meiryo UI"/>
              <a:cs typeface="+mn-cs"/>
            </a:endParaRPr>
          </a:p>
        </p:txBody>
      </p:sp>
      <p:sp>
        <p:nvSpPr>
          <p:cNvPr id="12" name="テキスト ボックス 11">
            <a:extLst>
              <a:ext uri="{FF2B5EF4-FFF2-40B4-BE49-F238E27FC236}">
                <a16:creationId xmlns:a16="http://schemas.microsoft.com/office/drawing/2014/main" id="{6B5030DA-E185-209B-BC04-38BE9007272C}"/>
              </a:ext>
            </a:extLst>
          </p:cNvPr>
          <p:cNvSpPr txBox="1"/>
          <p:nvPr/>
        </p:nvSpPr>
        <p:spPr>
          <a:xfrm>
            <a:off x="4155093" y="4394388"/>
            <a:ext cx="113701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Meiryo UI"/>
                <a:ea typeface="Meiryo UI"/>
                <a:cs typeface="+mn-cs"/>
              </a:rPr>
              <a:t>⇒活動の浸透</a:t>
            </a:r>
            <a:endParaRPr kumimoji="1" lang="ja-JP" altLang="en-US" sz="1000" b="0" i="0" u="none" strike="noStrike" kern="1200" cap="none" spc="0" normalizeH="0" baseline="0" noProof="0" dirty="0">
              <a:ln>
                <a:noFill/>
              </a:ln>
              <a:solidFill>
                <a:srgbClr val="FFFFFF"/>
              </a:solidFill>
              <a:effectLst/>
              <a:uLnTx/>
              <a:uFillTx/>
              <a:latin typeface="Meiryo UI"/>
              <a:ea typeface="Meiryo UI"/>
              <a:cs typeface="+mn-cs"/>
            </a:endParaRPr>
          </a:p>
        </p:txBody>
      </p:sp>
      <p:sp>
        <p:nvSpPr>
          <p:cNvPr id="13" name="テキスト ボックス 12">
            <a:extLst>
              <a:ext uri="{FF2B5EF4-FFF2-40B4-BE49-F238E27FC236}">
                <a16:creationId xmlns:a16="http://schemas.microsoft.com/office/drawing/2014/main" id="{4F71767D-E2FE-4A3E-F379-20606085575A}"/>
              </a:ext>
            </a:extLst>
          </p:cNvPr>
          <p:cNvSpPr txBox="1"/>
          <p:nvPr/>
        </p:nvSpPr>
        <p:spPr>
          <a:xfrm>
            <a:off x="5715645" y="2830572"/>
            <a:ext cx="339680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i="0" u="sng" strike="noStrike" kern="1200" cap="none" spc="0" normalizeH="0" baseline="0" noProof="0" dirty="0">
                <a:ln>
                  <a:noFill/>
                </a:ln>
                <a:solidFill>
                  <a:srgbClr val="FF0000"/>
                </a:solidFill>
                <a:effectLst/>
                <a:uLnTx/>
                <a:uFillTx/>
                <a:latin typeface="Meiryo UI"/>
                <a:ea typeface="Meiryo UI"/>
                <a:cs typeface="+mn-cs"/>
              </a:rPr>
              <a:t>■見積作業、技術照会、顧客提案それぞれで活動</a:t>
            </a:r>
          </a:p>
        </p:txBody>
      </p:sp>
      <p:sp>
        <p:nvSpPr>
          <p:cNvPr id="23" name="テキスト ボックス 22">
            <a:extLst>
              <a:ext uri="{FF2B5EF4-FFF2-40B4-BE49-F238E27FC236}">
                <a16:creationId xmlns:a16="http://schemas.microsoft.com/office/drawing/2014/main" id="{9DEF7488-80C4-3A52-25C4-7A0F4F436645}"/>
              </a:ext>
            </a:extLst>
          </p:cNvPr>
          <p:cNvSpPr txBox="1"/>
          <p:nvPr/>
        </p:nvSpPr>
        <p:spPr>
          <a:xfrm>
            <a:off x="3586585" y="4860174"/>
            <a:ext cx="113701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Meiryo UI"/>
                <a:ea typeface="Meiryo UI"/>
                <a:cs typeface="+mn-cs"/>
              </a:rPr>
              <a:t>⇒活動開始</a:t>
            </a:r>
            <a:endParaRPr kumimoji="1" lang="ja-JP" altLang="en-US" sz="1000" b="0" i="0" u="none" strike="noStrike" kern="1200" cap="none" spc="0" normalizeH="0" baseline="0" noProof="0" dirty="0">
              <a:ln>
                <a:noFill/>
              </a:ln>
              <a:solidFill>
                <a:srgbClr val="FFFFFF"/>
              </a:solidFill>
              <a:effectLst/>
              <a:uLnTx/>
              <a:uFillTx/>
              <a:latin typeface="Meiryo UI"/>
              <a:ea typeface="Meiryo UI"/>
              <a:cs typeface="+mn-cs"/>
            </a:endParaRPr>
          </a:p>
        </p:txBody>
      </p:sp>
      <p:sp>
        <p:nvSpPr>
          <p:cNvPr id="36" name="テキスト ボックス 35">
            <a:extLst>
              <a:ext uri="{FF2B5EF4-FFF2-40B4-BE49-F238E27FC236}">
                <a16:creationId xmlns:a16="http://schemas.microsoft.com/office/drawing/2014/main" id="{37716BEC-EEC0-284C-9F0C-5A4CC37A6F3E}"/>
              </a:ext>
            </a:extLst>
          </p:cNvPr>
          <p:cNvSpPr txBox="1"/>
          <p:nvPr/>
        </p:nvSpPr>
        <p:spPr>
          <a:xfrm>
            <a:off x="3561879" y="5680850"/>
            <a:ext cx="112684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Meiryo UI"/>
                <a:ea typeface="Meiryo UI"/>
                <a:cs typeface="+mn-cs"/>
              </a:rPr>
              <a:t>⇒活動の浸透</a:t>
            </a:r>
            <a:endParaRPr kumimoji="1" lang="ja-JP" altLang="en-US" sz="1000" b="0" i="0" u="none" strike="noStrike" kern="1200" cap="none" spc="0" normalizeH="0" baseline="0" noProof="0" dirty="0">
              <a:ln>
                <a:noFill/>
              </a:ln>
              <a:solidFill>
                <a:srgbClr val="FFFFFF"/>
              </a:solidFill>
              <a:effectLst/>
              <a:uLnTx/>
              <a:uFillTx/>
              <a:latin typeface="Meiryo UI"/>
              <a:ea typeface="Meiryo UI"/>
              <a:cs typeface="+mn-cs"/>
            </a:endParaRPr>
          </a:p>
        </p:txBody>
      </p:sp>
      <p:sp>
        <p:nvSpPr>
          <p:cNvPr id="38" name="テキスト ボックス 37">
            <a:extLst>
              <a:ext uri="{FF2B5EF4-FFF2-40B4-BE49-F238E27FC236}">
                <a16:creationId xmlns:a16="http://schemas.microsoft.com/office/drawing/2014/main" id="{E95CB62E-6C78-4EA4-E533-0D9B7EFCADBC}"/>
              </a:ext>
            </a:extLst>
          </p:cNvPr>
          <p:cNvSpPr txBox="1"/>
          <p:nvPr/>
        </p:nvSpPr>
        <p:spPr>
          <a:xfrm>
            <a:off x="2828389" y="5661248"/>
            <a:ext cx="113701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Meiryo UI"/>
                <a:ea typeface="Meiryo UI"/>
                <a:cs typeface="+mn-cs"/>
              </a:rPr>
              <a:t>⇒活動開始</a:t>
            </a:r>
            <a:endParaRPr kumimoji="1" lang="ja-JP" altLang="en-US" sz="1000" b="0" i="0" u="none" strike="noStrike" kern="1200" cap="none" spc="0" normalizeH="0" baseline="0" noProof="0" dirty="0">
              <a:ln>
                <a:noFill/>
              </a:ln>
              <a:solidFill>
                <a:srgbClr val="FFFFFF"/>
              </a:solidFill>
              <a:effectLst/>
              <a:uLnTx/>
              <a:uFillTx/>
              <a:latin typeface="Meiryo UI"/>
              <a:ea typeface="Meiryo UI"/>
              <a:cs typeface="+mn-cs"/>
            </a:endParaRPr>
          </a:p>
        </p:txBody>
      </p:sp>
      <p:sp>
        <p:nvSpPr>
          <p:cNvPr id="39" name="テキスト ボックス 38">
            <a:extLst>
              <a:ext uri="{FF2B5EF4-FFF2-40B4-BE49-F238E27FC236}">
                <a16:creationId xmlns:a16="http://schemas.microsoft.com/office/drawing/2014/main" id="{F65AD7A6-EE65-F009-3C8C-657B40B72F4E}"/>
              </a:ext>
            </a:extLst>
          </p:cNvPr>
          <p:cNvSpPr txBox="1"/>
          <p:nvPr/>
        </p:nvSpPr>
        <p:spPr>
          <a:xfrm>
            <a:off x="4871394" y="5902184"/>
            <a:ext cx="113701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Meiryo UI"/>
                <a:ea typeface="Meiryo UI"/>
                <a:cs typeface="+mn-cs"/>
              </a:rPr>
              <a:t>⇒活動開始</a:t>
            </a:r>
            <a:endParaRPr kumimoji="1" lang="ja-JP" altLang="en-US" sz="1000" b="0" i="0" u="none" strike="noStrike" kern="1200" cap="none" spc="0" normalizeH="0" baseline="0" noProof="0" dirty="0">
              <a:ln>
                <a:noFill/>
              </a:ln>
              <a:solidFill>
                <a:srgbClr val="FFFFFF"/>
              </a:solidFill>
              <a:effectLst/>
              <a:uLnTx/>
              <a:uFillTx/>
              <a:latin typeface="Meiryo UI"/>
              <a:ea typeface="Meiryo UI"/>
              <a:cs typeface="+mn-cs"/>
            </a:endParaRPr>
          </a:p>
        </p:txBody>
      </p:sp>
      <p:sp>
        <p:nvSpPr>
          <p:cNvPr id="10" name="四角形: 角を丸くする 9">
            <a:extLst>
              <a:ext uri="{FF2B5EF4-FFF2-40B4-BE49-F238E27FC236}">
                <a16:creationId xmlns:a16="http://schemas.microsoft.com/office/drawing/2014/main" id="{E0660E13-E42A-9BBE-BF79-DD580B88FD8A}"/>
              </a:ext>
            </a:extLst>
          </p:cNvPr>
          <p:cNvSpPr/>
          <p:nvPr/>
        </p:nvSpPr>
        <p:spPr>
          <a:xfrm>
            <a:off x="592574" y="1279277"/>
            <a:ext cx="7471801" cy="183422"/>
          </a:xfrm>
          <a:prstGeom prst="roundRect">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PM</a:t>
            </a:r>
            <a:r>
              <a:rPr kumimoji="1" lang="ja-JP" altLang="en-US" sz="1100" b="1" i="0" u="none" strike="noStrike" kern="1200" cap="none" spc="0" normalizeH="0" baseline="0" noProof="0" dirty="0">
                <a:ln>
                  <a:noFill/>
                </a:ln>
                <a:solidFill>
                  <a:prstClr val="white"/>
                </a:solidFill>
                <a:effectLst/>
                <a:uLnTx/>
                <a:uFillTx/>
                <a:latin typeface="Meiryo UI"/>
                <a:ea typeface="Meiryo UI"/>
                <a:cs typeface="+mn-cs"/>
              </a:rPr>
              <a:t>中心の発電所単位でのマネジメントサイクル</a:t>
            </a: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a:t>
            </a:r>
            <a:r>
              <a:rPr kumimoji="1" lang="ja-JP" altLang="en-US" sz="1100" b="1" i="0" u="none" strike="noStrike" kern="1200" cap="none" spc="0" normalizeH="0" baseline="0" noProof="0" dirty="0">
                <a:ln>
                  <a:noFill/>
                </a:ln>
                <a:solidFill>
                  <a:prstClr val="white"/>
                </a:solidFill>
                <a:effectLst/>
                <a:uLnTx/>
                <a:uFillTx/>
                <a:latin typeface="Meiryo UI"/>
                <a:ea typeface="Meiryo UI"/>
                <a:cs typeface="+mn-cs"/>
              </a:rPr>
              <a:t>受売利</a:t>
            </a: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a:t>
            </a:r>
            <a:endParaRPr kumimoji="1" lang="ja-JP" altLang="en-US" sz="1100" b="1" i="0" u="none" strike="noStrike" kern="1200" cap="none" spc="0" normalizeH="0" baseline="0" noProof="0" dirty="0">
              <a:ln>
                <a:noFill/>
              </a:ln>
              <a:solidFill>
                <a:prstClr val="white"/>
              </a:solidFill>
              <a:effectLst/>
              <a:uLnTx/>
              <a:uFillTx/>
              <a:latin typeface="Meiryo UI"/>
              <a:ea typeface="Meiryo UI"/>
              <a:cs typeface="+mn-cs"/>
            </a:endParaRPr>
          </a:p>
        </p:txBody>
      </p:sp>
      <p:grpSp>
        <p:nvGrpSpPr>
          <p:cNvPr id="14" name="グループ化 13">
            <a:extLst>
              <a:ext uri="{FF2B5EF4-FFF2-40B4-BE49-F238E27FC236}">
                <a16:creationId xmlns:a16="http://schemas.microsoft.com/office/drawing/2014/main" id="{9690FCFC-33B8-75E1-A6BF-38472978C5F3}"/>
              </a:ext>
            </a:extLst>
          </p:cNvPr>
          <p:cNvGrpSpPr/>
          <p:nvPr/>
        </p:nvGrpSpPr>
        <p:grpSpPr>
          <a:xfrm>
            <a:off x="574397" y="1510967"/>
            <a:ext cx="7495459" cy="1244889"/>
            <a:chOff x="510139" y="1820552"/>
            <a:chExt cx="7495459" cy="1244889"/>
          </a:xfrm>
        </p:grpSpPr>
        <p:sp>
          <p:nvSpPr>
            <p:cNvPr id="15" name="四角形: 角を丸くする 14">
              <a:extLst>
                <a:ext uri="{FF2B5EF4-FFF2-40B4-BE49-F238E27FC236}">
                  <a16:creationId xmlns:a16="http://schemas.microsoft.com/office/drawing/2014/main" id="{3DA26324-C00A-EA4F-91B5-D2F3986F1253}"/>
                </a:ext>
              </a:extLst>
            </p:cNvPr>
            <p:cNvSpPr/>
            <p:nvPr/>
          </p:nvSpPr>
          <p:spPr>
            <a:xfrm>
              <a:off x="510139" y="1823860"/>
              <a:ext cx="2658389" cy="169004"/>
            </a:xfrm>
            <a:prstGeom prst="roundRect">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Plan</a:t>
              </a:r>
              <a:endParaRPr kumimoji="1" lang="ja-JP" altLang="en-US" sz="11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16" name="四角形: 角を丸くする 15">
              <a:extLst>
                <a:ext uri="{FF2B5EF4-FFF2-40B4-BE49-F238E27FC236}">
                  <a16:creationId xmlns:a16="http://schemas.microsoft.com/office/drawing/2014/main" id="{C9E9ECF6-19C3-24E6-76FA-25BB0E2CEBF7}"/>
                </a:ext>
              </a:extLst>
            </p:cNvPr>
            <p:cNvSpPr/>
            <p:nvPr/>
          </p:nvSpPr>
          <p:spPr>
            <a:xfrm>
              <a:off x="4607209" y="1820553"/>
              <a:ext cx="1939292" cy="171758"/>
            </a:xfrm>
            <a:prstGeom prst="roundRect">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Check</a:t>
              </a:r>
              <a:endParaRPr kumimoji="1" lang="ja-JP" altLang="en-US" sz="11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17" name="四角形: 角を丸くする 16">
              <a:extLst>
                <a:ext uri="{FF2B5EF4-FFF2-40B4-BE49-F238E27FC236}">
                  <a16:creationId xmlns:a16="http://schemas.microsoft.com/office/drawing/2014/main" id="{18B702F9-5A5A-B140-B55B-D95009AD383A}"/>
                </a:ext>
              </a:extLst>
            </p:cNvPr>
            <p:cNvSpPr/>
            <p:nvPr/>
          </p:nvSpPr>
          <p:spPr>
            <a:xfrm>
              <a:off x="6715292" y="1820552"/>
              <a:ext cx="1266649" cy="171758"/>
            </a:xfrm>
            <a:prstGeom prst="roundRect">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Action</a:t>
              </a:r>
              <a:endParaRPr kumimoji="1" lang="ja-JP" altLang="en-US" sz="11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18" name="四角形: 角を丸くする 17">
              <a:extLst>
                <a:ext uri="{FF2B5EF4-FFF2-40B4-BE49-F238E27FC236}">
                  <a16:creationId xmlns:a16="http://schemas.microsoft.com/office/drawing/2014/main" id="{036C06FA-6D47-7D3F-BE8F-33F24F84D55D}"/>
                </a:ext>
              </a:extLst>
            </p:cNvPr>
            <p:cNvSpPr/>
            <p:nvPr/>
          </p:nvSpPr>
          <p:spPr>
            <a:xfrm>
              <a:off x="3240537" y="1823858"/>
              <a:ext cx="1197879" cy="169005"/>
            </a:xfrm>
            <a:prstGeom prst="roundRect">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white"/>
                  </a:solidFill>
                  <a:effectLst/>
                  <a:uLnTx/>
                  <a:uFillTx/>
                  <a:latin typeface="Meiryo UI"/>
                  <a:ea typeface="Meiryo UI"/>
                  <a:cs typeface="+mn-cs"/>
                </a:rPr>
                <a:t>Do</a:t>
              </a:r>
              <a:endParaRPr kumimoji="1" lang="ja-JP" altLang="en-US" sz="11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19" name="矢印: 五方向 18">
              <a:extLst>
                <a:ext uri="{FF2B5EF4-FFF2-40B4-BE49-F238E27FC236}">
                  <a16:creationId xmlns:a16="http://schemas.microsoft.com/office/drawing/2014/main" id="{B3A53EB9-DB6D-1A5B-BB5F-58C7FC6B763C}"/>
                </a:ext>
              </a:extLst>
            </p:cNvPr>
            <p:cNvSpPr/>
            <p:nvPr/>
          </p:nvSpPr>
          <p:spPr>
            <a:xfrm>
              <a:off x="528316" y="2606896"/>
              <a:ext cx="1157322" cy="437141"/>
            </a:xfrm>
            <a:prstGeom prst="homePlate">
              <a:avLst>
                <a:gd name="adj" fmla="val 17297"/>
              </a:avLst>
            </a:prstGeom>
            <a:solidFill>
              <a:schemeClr val="accent2">
                <a:lumMod val="75000"/>
              </a:schemeClr>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引合費計画</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p>
          </p:txBody>
        </p:sp>
        <p:sp>
          <p:nvSpPr>
            <p:cNvPr id="20" name="矢印: 五方向 19">
              <a:extLst>
                <a:ext uri="{FF2B5EF4-FFF2-40B4-BE49-F238E27FC236}">
                  <a16:creationId xmlns:a16="http://schemas.microsoft.com/office/drawing/2014/main" id="{F2EE2384-0F3A-5886-E23D-69F0399F1FD5}"/>
                </a:ext>
              </a:extLst>
            </p:cNvPr>
            <p:cNvSpPr/>
            <p:nvPr/>
          </p:nvSpPr>
          <p:spPr>
            <a:xfrm>
              <a:off x="3246019" y="2107632"/>
              <a:ext cx="1212920" cy="437141"/>
            </a:xfrm>
            <a:prstGeom prst="homePlate">
              <a:avLst>
                <a:gd name="adj" fmla="val 19018"/>
              </a:avLst>
            </a:prstGeom>
            <a:solidFill>
              <a:srgbClr val="567783"/>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生</a:t>
              </a:r>
              <a:r>
                <a:rPr kumimoji="1" lang="ja-JP" altLang="en-US" sz="1000" b="1" i="0" u="none" strike="noStrike" kern="1200" cap="none" spc="0" normalizeH="0" baseline="0" noProof="0" dirty="0">
                  <a:ln>
                    <a:noFill/>
                  </a:ln>
                  <a:solidFill>
                    <a:schemeClr val="bg1"/>
                  </a:solidFill>
                  <a:effectLst/>
                  <a:uLnTx/>
                  <a:uFillTx/>
                  <a:latin typeface="メイリオ"/>
                  <a:ea typeface="メイリオ"/>
                  <a:cs typeface="+mn-cs"/>
                </a:rPr>
                <a:t>産工事遂行</a:t>
              </a:r>
              <a:endParaRPr kumimoji="1" lang="en-US" altLang="ja-JP" sz="1000" b="1" i="0" u="none" strike="noStrike" kern="1200" cap="none" spc="0" normalizeH="0" baseline="0" noProof="0" dirty="0">
                <a:ln>
                  <a:noFill/>
                </a:ln>
                <a:solidFill>
                  <a:schemeClr val="bg1"/>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chemeClr val="bg1"/>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chemeClr val="bg1"/>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chemeClr val="bg1"/>
                  </a:solidFill>
                  <a:effectLst/>
                  <a:uLnTx/>
                  <a:uFillTx/>
                  <a:latin typeface="メイリオ"/>
                  <a:ea typeface="メイリオ"/>
                  <a:cs typeface="+mn-cs"/>
                </a:rPr>
                <a:t>)</a:t>
              </a:r>
            </a:p>
          </p:txBody>
        </p:sp>
        <p:sp>
          <p:nvSpPr>
            <p:cNvPr id="21" name="矢印: 五方向 20">
              <a:extLst>
                <a:ext uri="{FF2B5EF4-FFF2-40B4-BE49-F238E27FC236}">
                  <a16:creationId xmlns:a16="http://schemas.microsoft.com/office/drawing/2014/main" id="{3E886B0A-9299-5CD3-7981-4CC51D238245}"/>
                </a:ext>
              </a:extLst>
            </p:cNvPr>
            <p:cNvSpPr/>
            <p:nvPr/>
          </p:nvSpPr>
          <p:spPr>
            <a:xfrm>
              <a:off x="5121931" y="2107632"/>
              <a:ext cx="1448226" cy="437141"/>
            </a:xfrm>
            <a:prstGeom prst="homePlate">
              <a:avLst>
                <a:gd name="adj" fmla="val 18158"/>
              </a:avLst>
            </a:prstGeom>
            <a:solidFill>
              <a:schemeClr val="accent2">
                <a:lumMod val="75000"/>
              </a:schemeClr>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生産工事コストフォロ</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p>
          </p:txBody>
        </p:sp>
        <p:sp>
          <p:nvSpPr>
            <p:cNvPr id="22" name="矢印: 五方向 21">
              <a:extLst>
                <a:ext uri="{FF2B5EF4-FFF2-40B4-BE49-F238E27FC236}">
                  <a16:creationId xmlns:a16="http://schemas.microsoft.com/office/drawing/2014/main" id="{1CE8E0ED-31CC-A43B-92F4-90B739411AB9}"/>
                </a:ext>
              </a:extLst>
            </p:cNvPr>
            <p:cNvSpPr/>
            <p:nvPr/>
          </p:nvSpPr>
          <p:spPr>
            <a:xfrm>
              <a:off x="6738949" y="2107632"/>
              <a:ext cx="1266649" cy="437141"/>
            </a:xfrm>
            <a:prstGeom prst="homePlate">
              <a:avLst>
                <a:gd name="adj" fmla="val 19879"/>
              </a:avLst>
            </a:prstGeom>
            <a:solidFill>
              <a:schemeClr val="accent2">
                <a:lumMod val="75000"/>
              </a:schemeClr>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rPr>
                <a:t>コスト低減活動</a:t>
              </a:r>
              <a:endParaRPr kumimoji="1" lang="en-US" altLang="ja-JP"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rPr>
                <a:t>次回案件への反映</a:t>
              </a:r>
              <a:endParaRPr kumimoji="1" lang="en-US" altLang="ja-JP"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endParaRPr>
            </a:p>
          </p:txBody>
        </p:sp>
        <p:cxnSp>
          <p:nvCxnSpPr>
            <p:cNvPr id="24" name="コネクタ: カギ線 23">
              <a:extLst>
                <a:ext uri="{FF2B5EF4-FFF2-40B4-BE49-F238E27FC236}">
                  <a16:creationId xmlns:a16="http://schemas.microsoft.com/office/drawing/2014/main" id="{08604BB7-4F0B-83CC-D8B7-240EB95F0F8A}"/>
                </a:ext>
              </a:extLst>
            </p:cNvPr>
            <p:cNvCxnSpPr>
              <a:cxnSpLocks/>
              <a:stCxn id="17" idx="3"/>
              <a:endCxn id="15" idx="1"/>
            </p:cNvCxnSpPr>
            <p:nvPr/>
          </p:nvCxnSpPr>
          <p:spPr>
            <a:xfrm flipH="1">
              <a:off x="510139" y="1906431"/>
              <a:ext cx="7471802" cy="1931"/>
            </a:xfrm>
            <a:prstGeom prst="bentConnector5">
              <a:avLst>
                <a:gd name="adj1" fmla="val -3060"/>
                <a:gd name="adj2" fmla="val 6999016"/>
                <a:gd name="adj3" fmla="val 10306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矢印: 五方向 40">
              <a:extLst>
                <a:ext uri="{FF2B5EF4-FFF2-40B4-BE49-F238E27FC236}">
                  <a16:creationId xmlns:a16="http://schemas.microsoft.com/office/drawing/2014/main" id="{E206E85E-52E9-D34A-D864-81B5541FD2C0}"/>
                </a:ext>
              </a:extLst>
            </p:cNvPr>
            <p:cNvSpPr/>
            <p:nvPr/>
          </p:nvSpPr>
          <p:spPr>
            <a:xfrm>
              <a:off x="533795" y="2107632"/>
              <a:ext cx="1158756" cy="437141"/>
            </a:xfrm>
            <a:prstGeom prst="homePlate">
              <a:avLst>
                <a:gd name="adj" fmla="val 17297"/>
              </a:avLst>
            </a:prstGeom>
            <a:solidFill>
              <a:schemeClr val="accent2">
                <a:lumMod val="75000"/>
              </a:schemeClr>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AS</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受売利計画</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p>
          </p:txBody>
        </p:sp>
        <p:sp>
          <p:nvSpPr>
            <p:cNvPr id="43" name="矢印: 五方向 42">
              <a:extLst>
                <a:ext uri="{FF2B5EF4-FFF2-40B4-BE49-F238E27FC236}">
                  <a16:creationId xmlns:a16="http://schemas.microsoft.com/office/drawing/2014/main" id="{47195ED0-3A2D-1536-98C0-FCFECFEC0E69}"/>
                </a:ext>
              </a:extLst>
            </p:cNvPr>
            <p:cNvSpPr/>
            <p:nvPr/>
          </p:nvSpPr>
          <p:spPr>
            <a:xfrm>
              <a:off x="5121931" y="2628300"/>
              <a:ext cx="1448226" cy="437141"/>
            </a:xfrm>
            <a:prstGeom prst="homePlate">
              <a:avLst>
                <a:gd name="adj" fmla="val 18158"/>
              </a:avLst>
            </a:prstGeom>
            <a:solidFill>
              <a:schemeClr val="accent2">
                <a:lumMod val="75000"/>
              </a:schemeClr>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引合費例月フォロ</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発電所単位</a:t>
              </a:r>
              <a:r>
                <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rPr>
                <a:t>)</a:t>
              </a:r>
            </a:p>
          </p:txBody>
        </p:sp>
        <p:sp>
          <p:nvSpPr>
            <p:cNvPr id="44" name="矢印: 五方向 43">
              <a:extLst>
                <a:ext uri="{FF2B5EF4-FFF2-40B4-BE49-F238E27FC236}">
                  <a16:creationId xmlns:a16="http://schemas.microsoft.com/office/drawing/2014/main" id="{CD0BACAE-FC82-28A7-A47F-20CE1DCABCD8}"/>
                </a:ext>
              </a:extLst>
            </p:cNvPr>
            <p:cNvSpPr/>
            <p:nvPr/>
          </p:nvSpPr>
          <p:spPr>
            <a:xfrm>
              <a:off x="6738949" y="2628300"/>
              <a:ext cx="1266649" cy="437141"/>
            </a:xfrm>
            <a:prstGeom prst="homePlate">
              <a:avLst>
                <a:gd name="adj" fmla="val 19879"/>
              </a:avLst>
            </a:prstGeom>
            <a:solidFill>
              <a:schemeClr val="accent2">
                <a:lumMod val="75000"/>
              </a:schemeClr>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rPr>
                <a:t>引合効率化の活動</a:t>
              </a:r>
              <a:endParaRPr kumimoji="1" lang="en-US" altLang="ja-JP" sz="1000" b="1" i="0" u="none" strike="noStrike" kern="120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mn-cs"/>
              </a:endParaRPr>
            </a:p>
          </p:txBody>
        </p:sp>
        <p:sp>
          <p:nvSpPr>
            <p:cNvPr id="46" name="矢印: 五方向 45">
              <a:extLst>
                <a:ext uri="{FF2B5EF4-FFF2-40B4-BE49-F238E27FC236}">
                  <a16:creationId xmlns:a16="http://schemas.microsoft.com/office/drawing/2014/main" id="{2543878B-F800-E889-DE11-C393029DD1CB}"/>
                </a:ext>
              </a:extLst>
            </p:cNvPr>
            <p:cNvSpPr/>
            <p:nvPr/>
          </p:nvSpPr>
          <p:spPr>
            <a:xfrm>
              <a:off x="2215520" y="2606896"/>
              <a:ext cx="1047481" cy="437141"/>
            </a:xfrm>
            <a:prstGeom prst="homePlate">
              <a:avLst>
                <a:gd name="adj" fmla="val 19018"/>
              </a:avLst>
            </a:prstGeom>
            <a:solidFill>
              <a:srgbClr val="567783"/>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引合活動遂行</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p:txBody>
        </p:sp>
        <p:sp>
          <p:nvSpPr>
            <p:cNvPr id="47" name="矢印: 五方向 46">
              <a:extLst>
                <a:ext uri="{FF2B5EF4-FFF2-40B4-BE49-F238E27FC236}">
                  <a16:creationId xmlns:a16="http://schemas.microsoft.com/office/drawing/2014/main" id="{F3DDC9D7-D18F-EEB3-4847-140883EF1A6B}"/>
                </a:ext>
              </a:extLst>
            </p:cNvPr>
            <p:cNvSpPr/>
            <p:nvPr/>
          </p:nvSpPr>
          <p:spPr>
            <a:xfrm>
              <a:off x="4612690" y="2107632"/>
              <a:ext cx="434149" cy="957809"/>
            </a:xfrm>
            <a:prstGeom prst="homePlate">
              <a:avLst>
                <a:gd name="adj" fmla="val 18158"/>
              </a:avLst>
            </a:prstGeom>
            <a:solidFill>
              <a:schemeClr val="accent2">
                <a:lumMod val="75000"/>
              </a:schemeClr>
            </a:solidFill>
            <a:ln w="317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採算</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状況</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FFFFFF"/>
                  </a:solidFill>
                  <a:effectLst/>
                  <a:uLnTx/>
                  <a:uFillTx/>
                  <a:latin typeface="メイリオ"/>
                  <a:ea typeface="メイリオ"/>
                  <a:cs typeface="+mn-cs"/>
                </a:rPr>
                <a:t>把握</a:t>
              </a:r>
              <a:endParaRPr kumimoji="1" lang="en-US" altLang="ja-JP" sz="1000" b="1" i="0" u="none" strike="noStrike" kern="1200" cap="none" spc="0" normalizeH="0" baseline="0" noProof="0" dirty="0">
                <a:ln>
                  <a:noFill/>
                </a:ln>
                <a:solidFill>
                  <a:srgbClr val="FFFFFF"/>
                </a:solidFill>
                <a:effectLst/>
                <a:uLnTx/>
                <a:uFillTx/>
                <a:latin typeface="メイリオ"/>
                <a:ea typeface="メイリオ"/>
                <a:cs typeface="+mn-cs"/>
              </a:endParaRPr>
            </a:p>
          </p:txBody>
        </p:sp>
      </p:grpSp>
      <p:sp>
        <p:nvSpPr>
          <p:cNvPr id="2" name="テキスト ボックス 1">
            <a:extLst>
              <a:ext uri="{FF2B5EF4-FFF2-40B4-BE49-F238E27FC236}">
                <a16:creationId xmlns:a16="http://schemas.microsoft.com/office/drawing/2014/main" id="{CFBCE1E2-DA16-C4C4-3952-CD63FDA7AC5C}"/>
              </a:ext>
            </a:extLst>
          </p:cNvPr>
          <p:cNvSpPr txBox="1"/>
          <p:nvPr/>
        </p:nvSpPr>
        <p:spPr>
          <a:xfrm>
            <a:off x="4648201" y="3717032"/>
            <a:ext cx="1508550" cy="276999"/>
          </a:xfrm>
          <a:prstGeom prst="rect">
            <a:avLst/>
          </a:prstGeom>
          <a:noFill/>
        </p:spPr>
        <p:txBody>
          <a:bodyPr wrap="square" rtlCol="0">
            <a:spAutoFit/>
          </a:bodyPr>
          <a:lstStyle/>
          <a:p>
            <a:r>
              <a:rPr lang="ja-JP" altLang="en-US" sz="1200" b="1" dirty="0">
                <a:highlight>
                  <a:srgbClr val="FFFF00"/>
                </a:highlight>
              </a:rPr>
              <a:t>計画通り進捗中</a:t>
            </a:r>
            <a:endParaRPr kumimoji="1" lang="ja-JP" altLang="en-US" sz="1200" b="1" dirty="0">
              <a:highlight>
                <a:srgbClr val="FFFF00"/>
              </a:highlight>
            </a:endParaRPr>
          </a:p>
        </p:txBody>
      </p:sp>
    </p:spTree>
    <p:extLst>
      <p:ext uri="{BB962C8B-B14F-4D97-AF65-F5344CB8AC3E}">
        <p14:creationId xmlns:p14="http://schemas.microsoft.com/office/powerpoint/2010/main" val="230240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85662F67-D9FB-FCB4-2852-19D47F35F124}"/>
              </a:ext>
            </a:extLst>
          </p:cNvPr>
          <p:cNvPicPr>
            <a:picLocks noChangeAspect="1"/>
          </p:cNvPicPr>
          <p:nvPr/>
        </p:nvPicPr>
        <p:blipFill>
          <a:blip r:embed="rId3"/>
          <a:stretch>
            <a:fillRect/>
          </a:stretch>
        </p:blipFill>
        <p:spPr>
          <a:xfrm>
            <a:off x="130764" y="1351381"/>
            <a:ext cx="8882470" cy="5157008"/>
          </a:xfrm>
          <a:prstGeom prst="rect">
            <a:avLst/>
          </a:prstGeom>
        </p:spPr>
      </p:pic>
      <p:sp>
        <p:nvSpPr>
          <p:cNvPr id="15" name="テキスト ボックス 14">
            <a:extLst>
              <a:ext uri="{FF2B5EF4-FFF2-40B4-BE49-F238E27FC236}">
                <a16:creationId xmlns:a16="http://schemas.microsoft.com/office/drawing/2014/main" id="{E0BBA539-7EE1-DA63-3C67-05E482049C8A}"/>
              </a:ext>
            </a:extLst>
          </p:cNvPr>
          <p:cNvSpPr txBox="1"/>
          <p:nvPr/>
        </p:nvSpPr>
        <p:spPr>
          <a:xfrm>
            <a:off x="246720" y="113188"/>
            <a:ext cx="735874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1" dirty="0">
                <a:solidFill>
                  <a:srgbClr val="000000"/>
                </a:solidFill>
                <a:latin typeface="メイリオ"/>
                <a:ea typeface="メイリオ"/>
              </a:rPr>
              <a:t>４－３</a:t>
            </a:r>
            <a:r>
              <a:rPr kumimoji="1" lang="ja-JP" altLang="en-US" sz="1800" b="1" i="0" u="none" strike="noStrike" kern="1200" cap="none" spc="0" normalizeH="0" baseline="0" noProof="0" dirty="0">
                <a:ln>
                  <a:noFill/>
                </a:ln>
                <a:solidFill>
                  <a:srgbClr val="000000"/>
                </a:solidFill>
                <a:effectLst/>
                <a:uLnTx/>
                <a:uFillTx/>
                <a:latin typeface="メイリオ"/>
                <a:ea typeface="メイリオ"/>
                <a:cs typeface="+mn-cs"/>
              </a:rPr>
              <a:t>．見積簡略化</a:t>
            </a:r>
            <a:r>
              <a:rPr kumimoji="1" lang="en-US" altLang="ja-JP" sz="1800" b="1" i="0" u="none" strike="noStrike" kern="1200" cap="none" spc="0" normalizeH="0" baseline="0" noProof="0" dirty="0">
                <a:ln>
                  <a:noFill/>
                </a:ln>
                <a:solidFill>
                  <a:srgbClr val="000000"/>
                </a:solidFill>
                <a:effectLst/>
                <a:uLnTx/>
                <a:uFillTx/>
                <a:latin typeface="メイリオ"/>
                <a:ea typeface="メイリオ"/>
                <a:cs typeface="+mn-cs"/>
              </a:rPr>
              <a:t>TT</a:t>
            </a:r>
            <a:r>
              <a:rPr kumimoji="1" lang="ja-JP" altLang="en-US" sz="1800" b="1" i="0" u="none" strike="noStrike" kern="1200" cap="none" spc="0" normalizeH="0" baseline="0" noProof="0" dirty="0">
                <a:ln>
                  <a:noFill/>
                </a:ln>
                <a:solidFill>
                  <a:srgbClr val="000000"/>
                </a:solidFill>
                <a:effectLst/>
                <a:uLnTx/>
                <a:uFillTx/>
                <a:latin typeface="メイリオ"/>
                <a:ea typeface="メイリオ"/>
                <a:cs typeface="+mn-cs"/>
              </a:rPr>
              <a:t>、</a:t>
            </a:r>
            <a:r>
              <a:rPr kumimoji="1" lang="en-US" altLang="ja-JP" sz="1800" b="1" i="0" u="none" strike="noStrike" kern="1200" cap="none" spc="0" normalizeH="0" baseline="0" noProof="0" dirty="0">
                <a:ln>
                  <a:noFill/>
                </a:ln>
                <a:solidFill>
                  <a:srgbClr val="000000"/>
                </a:solidFill>
                <a:effectLst/>
                <a:uLnTx/>
                <a:uFillTx/>
                <a:latin typeface="メイリオ"/>
                <a:ea typeface="メイリオ"/>
                <a:cs typeface="+mn-cs"/>
              </a:rPr>
              <a:t>CATS+</a:t>
            </a:r>
            <a:r>
              <a:rPr kumimoji="1" lang="ja-JP" altLang="en-US" sz="1800" b="1" i="0" u="none" strike="noStrike" kern="1200" cap="none" spc="0" normalizeH="0" baseline="0" noProof="0" dirty="0">
                <a:ln>
                  <a:noFill/>
                </a:ln>
                <a:solidFill>
                  <a:srgbClr val="000000"/>
                </a:solidFill>
                <a:effectLst/>
                <a:uLnTx/>
                <a:uFillTx/>
                <a:latin typeface="メイリオ"/>
                <a:ea typeface="メイリオ"/>
                <a:cs typeface="+mn-cs"/>
              </a:rPr>
              <a:t>の適用件数</a:t>
            </a:r>
          </a:p>
        </p:txBody>
      </p:sp>
      <p:sp>
        <p:nvSpPr>
          <p:cNvPr id="6" name="四角形: 角を丸くする 5">
            <a:extLst>
              <a:ext uri="{FF2B5EF4-FFF2-40B4-BE49-F238E27FC236}">
                <a16:creationId xmlns:a16="http://schemas.microsoft.com/office/drawing/2014/main" id="{6BFDCB0F-0AEF-F236-C850-CD703BE02FB6}"/>
              </a:ext>
            </a:extLst>
          </p:cNvPr>
          <p:cNvSpPr/>
          <p:nvPr/>
        </p:nvSpPr>
        <p:spPr>
          <a:xfrm>
            <a:off x="6930700" y="5239548"/>
            <a:ext cx="2082534" cy="50405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四角形: 角を丸くする 6">
            <a:extLst>
              <a:ext uri="{FF2B5EF4-FFF2-40B4-BE49-F238E27FC236}">
                <a16:creationId xmlns:a16="http://schemas.microsoft.com/office/drawing/2014/main" id="{467F93BF-5AC5-69F9-3CA2-B9CC4D78802B}"/>
              </a:ext>
            </a:extLst>
          </p:cNvPr>
          <p:cNvSpPr/>
          <p:nvPr/>
        </p:nvSpPr>
        <p:spPr>
          <a:xfrm>
            <a:off x="6935283" y="3693965"/>
            <a:ext cx="2076566" cy="504056"/>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四角形: 角を丸くする 7">
            <a:extLst>
              <a:ext uri="{FF2B5EF4-FFF2-40B4-BE49-F238E27FC236}">
                <a16:creationId xmlns:a16="http://schemas.microsoft.com/office/drawing/2014/main" id="{15C1EA7D-83EC-AC94-68A3-366125865035}"/>
              </a:ext>
            </a:extLst>
          </p:cNvPr>
          <p:cNvSpPr/>
          <p:nvPr/>
        </p:nvSpPr>
        <p:spPr>
          <a:xfrm>
            <a:off x="6936668" y="1949665"/>
            <a:ext cx="2076566" cy="50405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テキスト プレースホルダー 5">
            <a:extLst>
              <a:ext uri="{FF2B5EF4-FFF2-40B4-BE49-F238E27FC236}">
                <a16:creationId xmlns:a16="http://schemas.microsoft.com/office/drawing/2014/main" id="{B0FAE506-FADF-D00B-145E-5E6A0ED7A5BE}"/>
              </a:ext>
            </a:extLst>
          </p:cNvPr>
          <p:cNvSpPr txBox="1">
            <a:spLocks/>
          </p:cNvSpPr>
          <p:nvPr/>
        </p:nvSpPr>
        <p:spPr>
          <a:xfrm>
            <a:off x="154026" y="610826"/>
            <a:ext cx="8882470" cy="714230"/>
          </a:xfrm>
          <a:prstGeom prst="rect">
            <a:avLst/>
          </a:prstGeom>
          <a:solidFill>
            <a:schemeClr val="bg1">
              <a:lumMod val="85000"/>
            </a:schemeClr>
          </a:solidFill>
        </p:spPr>
        <p:txBody>
          <a:bodyPr anchor="ctr"/>
          <a:lst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a:t>
            </a:r>
            <a:r>
              <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FY24/5</a:t>
            </a:r>
            <a:r>
              <a:rPr kumimoji="1" lang="ja-JP" altLang="en-US"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月末までの見積件数は総計約</a:t>
            </a:r>
            <a:r>
              <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850</a:t>
            </a:r>
            <a:r>
              <a:rPr kumimoji="1" lang="ja-JP" altLang="en-US"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件</a:t>
            </a:r>
            <a:r>
              <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a:t>
            </a:r>
            <a:r>
              <a:rPr kumimoji="1" lang="ja-JP" altLang="en-US"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呉案件除く</a:t>
            </a:r>
            <a:r>
              <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a:t>
            </a:r>
            <a:r>
              <a:rPr kumimoji="1" lang="ja-JP" altLang="en-US"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a:t>
            </a:r>
            <a:endPar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400" dirty="0">
                <a:solidFill>
                  <a:prstClr val="black"/>
                </a:solidFill>
                <a:latin typeface="メイリオ" panose="020B0604030504040204" pitchFamily="50" charset="-128"/>
                <a:ea typeface="メイリオ" panose="020B0604030504040204" pitchFamily="50" charset="-128"/>
              </a:rPr>
              <a:t>■昨年度上期開始した国内ボイラ本体・海外</a:t>
            </a:r>
            <a:r>
              <a:rPr lang="en-US" altLang="ja-JP" sz="1400" dirty="0">
                <a:solidFill>
                  <a:prstClr val="black"/>
                </a:solidFill>
                <a:latin typeface="メイリオ" panose="020B0604030504040204" pitchFamily="50" charset="-128"/>
                <a:ea typeface="メイリオ" panose="020B0604030504040204" pitchFamily="50" charset="-128"/>
              </a:rPr>
              <a:t>ST</a:t>
            </a:r>
            <a:r>
              <a:rPr lang="ja-JP" altLang="en-US" sz="1400" dirty="0">
                <a:solidFill>
                  <a:prstClr val="black"/>
                </a:solidFill>
                <a:latin typeface="メイリオ" panose="020B0604030504040204" pitchFamily="50" charset="-128"/>
                <a:ea typeface="メイリオ" panose="020B0604030504040204" pitchFamily="50" charset="-128"/>
              </a:rPr>
              <a:t>は適用率約</a:t>
            </a:r>
            <a:r>
              <a:rPr lang="en-US" altLang="ja-JP" sz="1400" dirty="0">
                <a:solidFill>
                  <a:prstClr val="black"/>
                </a:solidFill>
                <a:latin typeface="メイリオ" panose="020B0604030504040204" pitchFamily="50" charset="-128"/>
                <a:ea typeface="メイリオ" panose="020B0604030504040204" pitchFamily="50" charset="-128"/>
              </a:rPr>
              <a:t>25%</a:t>
            </a:r>
            <a:r>
              <a:rPr lang="ja-JP" altLang="en-US" sz="1400" dirty="0">
                <a:solidFill>
                  <a:prstClr val="black"/>
                </a:solidFill>
                <a:latin typeface="メイリオ" panose="020B0604030504040204" pitchFamily="50" charset="-128"/>
                <a:ea typeface="メイリオ" panose="020B0604030504040204" pitchFamily="50" charset="-128"/>
              </a:rPr>
              <a:t>と高い</a:t>
            </a:r>
            <a:r>
              <a:rPr lang="en-US" altLang="ja-JP" sz="1400" dirty="0">
                <a:solidFill>
                  <a:srgbClr val="FF0000"/>
                </a:solidFill>
                <a:latin typeface="メイリオ" panose="020B0604030504040204" pitchFamily="50" charset="-128"/>
                <a:ea typeface="メイリオ" panose="020B0604030504040204" pitchFamily="50" charset="-128"/>
              </a:rPr>
              <a:t>(</a:t>
            </a:r>
            <a:r>
              <a:rPr lang="ja-JP" altLang="en-US" sz="1400" dirty="0">
                <a:solidFill>
                  <a:srgbClr val="FF0000"/>
                </a:solidFill>
                <a:latin typeface="メイリオ" panose="020B0604030504040204" pitchFamily="50" charset="-128"/>
                <a:ea typeface="メイリオ" panose="020B0604030504040204" pitchFamily="50" charset="-128"/>
              </a:rPr>
              <a:t>赤枠</a:t>
            </a:r>
            <a:r>
              <a:rPr lang="en-US" altLang="ja-JP" sz="1400" dirty="0">
                <a:solidFill>
                  <a:srgbClr val="FF0000"/>
                </a:solidFill>
                <a:latin typeface="メイリオ" panose="020B0604030504040204" pitchFamily="50" charset="-128"/>
                <a:ea typeface="メイリオ" panose="020B0604030504040204" pitchFamily="50" charset="-128"/>
              </a:rPr>
              <a:t>)</a:t>
            </a:r>
            <a:r>
              <a:rPr lang="ja-JP" altLang="en-US" sz="1400" dirty="0">
                <a:solidFill>
                  <a:prstClr val="black"/>
                </a:solidFill>
                <a:latin typeface="メイリオ" panose="020B0604030504040204" pitchFamily="50" charset="-128"/>
                <a:ea typeface="メイリオ" panose="020B0604030504040204" pitchFamily="50" charset="-128"/>
              </a:rPr>
              <a:t>が、バーナ・ミル・空設案件は定着化・拡大が必要な状況</a:t>
            </a:r>
            <a:r>
              <a:rPr lang="en-US" altLang="ja-JP" sz="1400" dirty="0">
                <a:solidFill>
                  <a:srgbClr val="0070C0"/>
                </a:solidFill>
                <a:latin typeface="メイリオ" panose="020B0604030504040204" pitchFamily="50" charset="-128"/>
                <a:ea typeface="メイリオ" panose="020B0604030504040204" pitchFamily="50" charset="-128"/>
              </a:rPr>
              <a:t>(</a:t>
            </a:r>
            <a:r>
              <a:rPr lang="ja-JP" altLang="en-US" sz="1400" dirty="0">
                <a:solidFill>
                  <a:srgbClr val="0070C0"/>
                </a:solidFill>
                <a:latin typeface="メイリオ" panose="020B0604030504040204" pitchFamily="50" charset="-128"/>
                <a:ea typeface="メイリオ" panose="020B0604030504040204" pitchFamily="50" charset="-128"/>
              </a:rPr>
              <a:t>青枠</a:t>
            </a:r>
            <a:r>
              <a:rPr lang="en-US" altLang="ja-JP" sz="1400" dirty="0">
                <a:solidFill>
                  <a:srgbClr val="0070C0"/>
                </a:solidFill>
                <a:latin typeface="メイリオ" panose="020B0604030504040204" pitchFamily="50" charset="-128"/>
                <a:ea typeface="メイリオ" panose="020B0604030504040204" pitchFamily="50" charset="-128"/>
              </a:rPr>
              <a:t>)</a:t>
            </a:r>
            <a:r>
              <a:rPr lang="ja-JP" altLang="en-US" sz="1400" dirty="0">
                <a:solidFill>
                  <a:prstClr val="black"/>
                </a:solidFill>
                <a:latin typeface="メイリオ" panose="020B0604030504040204" pitchFamily="50" charset="-128"/>
                <a:ea typeface="メイリオ" panose="020B0604030504040204" pitchFamily="50" charset="-128"/>
              </a:rPr>
              <a:t>。</a:t>
            </a:r>
            <a:endPar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 name="四角形: 角を丸くする 4">
            <a:extLst>
              <a:ext uri="{FF2B5EF4-FFF2-40B4-BE49-F238E27FC236}">
                <a16:creationId xmlns:a16="http://schemas.microsoft.com/office/drawing/2014/main" id="{FDD628DD-1071-CC5F-7468-7A6AA003C679}"/>
              </a:ext>
            </a:extLst>
          </p:cNvPr>
          <p:cNvSpPr/>
          <p:nvPr/>
        </p:nvSpPr>
        <p:spPr>
          <a:xfrm>
            <a:off x="1873744" y="6247659"/>
            <a:ext cx="489268" cy="260729"/>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四角形: 角を丸くする 9">
            <a:extLst>
              <a:ext uri="{FF2B5EF4-FFF2-40B4-BE49-F238E27FC236}">
                <a16:creationId xmlns:a16="http://schemas.microsoft.com/office/drawing/2014/main" id="{CD498441-A11C-3216-E060-D6E73B5E71A1}"/>
              </a:ext>
            </a:extLst>
          </p:cNvPr>
          <p:cNvSpPr/>
          <p:nvPr/>
        </p:nvSpPr>
        <p:spPr>
          <a:xfrm>
            <a:off x="1873744" y="1937835"/>
            <a:ext cx="504056" cy="399173"/>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四角形: 角を丸くする 10">
            <a:extLst>
              <a:ext uri="{FF2B5EF4-FFF2-40B4-BE49-F238E27FC236}">
                <a16:creationId xmlns:a16="http://schemas.microsoft.com/office/drawing/2014/main" id="{96D2BD26-A413-1304-10E4-DA91B9CA1B8C}"/>
              </a:ext>
            </a:extLst>
          </p:cNvPr>
          <p:cNvSpPr/>
          <p:nvPr/>
        </p:nvSpPr>
        <p:spPr>
          <a:xfrm>
            <a:off x="1873744" y="2442478"/>
            <a:ext cx="504056" cy="399173"/>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四角形: 角を丸くする 11">
            <a:extLst>
              <a:ext uri="{FF2B5EF4-FFF2-40B4-BE49-F238E27FC236}">
                <a16:creationId xmlns:a16="http://schemas.microsoft.com/office/drawing/2014/main" id="{7134953B-7FD5-82F9-2BEC-F62BBBF079D3}"/>
              </a:ext>
            </a:extLst>
          </p:cNvPr>
          <p:cNvSpPr/>
          <p:nvPr/>
        </p:nvSpPr>
        <p:spPr>
          <a:xfrm>
            <a:off x="1873745" y="2957512"/>
            <a:ext cx="504056" cy="409563"/>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四角形: 角を丸くする 12">
            <a:extLst>
              <a:ext uri="{FF2B5EF4-FFF2-40B4-BE49-F238E27FC236}">
                <a16:creationId xmlns:a16="http://schemas.microsoft.com/office/drawing/2014/main" id="{06334394-F718-BE6F-9697-645313256F3E}"/>
              </a:ext>
            </a:extLst>
          </p:cNvPr>
          <p:cNvSpPr/>
          <p:nvPr/>
        </p:nvSpPr>
        <p:spPr>
          <a:xfrm>
            <a:off x="1873745" y="3689099"/>
            <a:ext cx="504056" cy="409563"/>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四角形: 角を丸くする 13">
            <a:extLst>
              <a:ext uri="{FF2B5EF4-FFF2-40B4-BE49-F238E27FC236}">
                <a16:creationId xmlns:a16="http://schemas.microsoft.com/office/drawing/2014/main" id="{E0EEA9DA-787F-3C30-B94B-697F5805DEE4}"/>
              </a:ext>
            </a:extLst>
          </p:cNvPr>
          <p:cNvSpPr/>
          <p:nvPr/>
        </p:nvSpPr>
        <p:spPr>
          <a:xfrm>
            <a:off x="1873745" y="5333453"/>
            <a:ext cx="504056" cy="409563"/>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四角形: 角を丸くする 15">
            <a:extLst>
              <a:ext uri="{FF2B5EF4-FFF2-40B4-BE49-F238E27FC236}">
                <a16:creationId xmlns:a16="http://schemas.microsoft.com/office/drawing/2014/main" id="{079A97E5-9CE7-4C10-AA41-4BCFE9BDC5D3}"/>
              </a:ext>
            </a:extLst>
          </p:cNvPr>
          <p:cNvSpPr/>
          <p:nvPr/>
        </p:nvSpPr>
        <p:spPr>
          <a:xfrm>
            <a:off x="6930700" y="2461045"/>
            <a:ext cx="2076566" cy="859204"/>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654286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8F1F7DC-D8BF-3813-9388-C3BF293B42EA}"/>
              </a:ext>
            </a:extLst>
          </p:cNvPr>
          <p:cNvSpPr>
            <a:spLocks noGrp="1"/>
          </p:cNvSpPr>
          <p:nvPr>
            <p:ph type="title"/>
          </p:nvPr>
        </p:nvSpPr>
        <p:spPr>
          <a:xfrm>
            <a:off x="308725" y="2699385"/>
            <a:ext cx="8583756" cy="1161663"/>
          </a:xfrm>
        </p:spPr>
        <p:txBody>
          <a:bodyPr/>
          <a:lstStyle/>
          <a:p>
            <a:r>
              <a:rPr lang="ja-JP" altLang="en-US" sz="2400" dirty="0"/>
              <a:t>５．フェーズ３の活動詳細</a:t>
            </a:r>
            <a:br>
              <a:rPr lang="en-US" altLang="ja-JP" sz="2400" dirty="0"/>
            </a:br>
            <a:r>
              <a:rPr kumimoji="1" lang="ja-JP" altLang="en-US" sz="2400" b="0" i="0" u="none" strike="noStrike" kern="1200" cap="none" spc="0" normalizeH="0" baseline="0" noProof="0" dirty="0">
                <a:ln>
                  <a:noFill/>
                </a:ln>
                <a:solidFill>
                  <a:srgbClr val="000000"/>
                </a:solidFill>
                <a:effectLst/>
                <a:uLnTx/>
                <a:uFillTx/>
                <a:latin typeface="メイリオ"/>
                <a:ea typeface="メイリオ"/>
              </a:rPr>
              <a:t>　  </a:t>
            </a:r>
            <a:r>
              <a:rPr kumimoji="1" lang="ja-JP" altLang="en-US" sz="2000" b="0" i="0" u="none" strike="noStrike" kern="1200" cap="none" spc="0" normalizeH="0" baseline="0" noProof="0" dirty="0">
                <a:ln>
                  <a:noFill/>
                </a:ln>
                <a:solidFill>
                  <a:srgbClr val="000000"/>
                </a:solidFill>
                <a:effectLst/>
                <a:uLnTx/>
                <a:uFillTx/>
                <a:latin typeface="メイリオ"/>
                <a:ea typeface="メイリオ"/>
              </a:rPr>
              <a:t>５－１．見積・実行フォロ（金額・工程）業務の</a:t>
            </a:r>
            <a:br>
              <a:rPr kumimoji="1" lang="en-US" altLang="ja-JP" sz="2000" b="0" i="0" u="none" strike="noStrike" kern="1200" cap="none" spc="0" normalizeH="0" baseline="0" noProof="0" dirty="0">
                <a:ln>
                  <a:noFill/>
                </a:ln>
                <a:solidFill>
                  <a:srgbClr val="000000"/>
                </a:solidFill>
                <a:effectLst/>
                <a:uLnTx/>
                <a:uFillTx/>
                <a:latin typeface="メイリオ"/>
                <a:ea typeface="メイリオ"/>
              </a:rPr>
            </a:br>
            <a:r>
              <a:rPr kumimoji="1" lang="ja-JP" altLang="en-US" sz="2000" b="0" i="0" u="none" strike="noStrike" kern="1200" cap="none" spc="0" normalizeH="0" baseline="0" noProof="0" dirty="0">
                <a:ln>
                  <a:noFill/>
                </a:ln>
                <a:solidFill>
                  <a:srgbClr val="000000"/>
                </a:solidFill>
                <a:effectLst/>
                <a:uLnTx/>
                <a:uFillTx/>
                <a:latin typeface="メイリオ"/>
                <a:ea typeface="メイリオ"/>
              </a:rPr>
              <a:t>　　　　　　整流化・効率化について</a:t>
            </a:r>
            <a:endParaRPr lang="ja-JP" altLang="en-US" sz="2400" dirty="0"/>
          </a:p>
        </p:txBody>
      </p:sp>
    </p:spTree>
    <p:extLst>
      <p:ext uri="{BB962C8B-B14F-4D97-AF65-F5344CB8AC3E}">
        <p14:creationId xmlns:p14="http://schemas.microsoft.com/office/powerpoint/2010/main" val="413327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プレースホルダー 5">
            <a:extLst>
              <a:ext uri="{FF2B5EF4-FFF2-40B4-BE49-F238E27FC236}">
                <a16:creationId xmlns:a16="http://schemas.microsoft.com/office/drawing/2014/main" id="{34CF8142-356C-41EE-B40A-18FBD066C772}"/>
              </a:ext>
            </a:extLst>
          </p:cNvPr>
          <p:cNvSpPr>
            <a:spLocks noGrp="1"/>
          </p:cNvSpPr>
          <p:nvPr>
            <p:ph type="body" sz="quarter" idx="4294967295"/>
          </p:nvPr>
        </p:nvSpPr>
        <p:spPr>
          <a:xfrm>
            <a:off x="179028" y="593833"/>
            <a:ext cx="8851900" cy="477643"/>
          </a:xfrm>
          <a:prstGeom prst="rect">
            <a:avLst/>
          </a:prstGeom>
          <a:solidFill>
            <a:schemeClr val="bg2">
              <a:lumMod val="40000"/>
              <a:lumOff val="60000"/>
            </a:schemeClr>
          </a:solidFill>
        </p:spPr>
        <p:txBody>
          <a:bodyPr anchor="ctr"/>
          <a:lstStyle/>
          <a:p>
            <a:pPr marL="0" indent="0">
              <a:lnSpc>
                <a:spcPct val="100000"/>
              </a:lnSpc>
              <a:spcBef>
                <a:spcPts val="0"/>
              </a:spcBef>
              <a:buNone/>
            </a:pPr>
            <a:r>
              <a:rPr lang="ja-JP" altLang="en-US" sz="1600" dirty="0"/>
              <a:t>■各活動の進捗状況は下表の通り、１１項目のうち５項目の遅れ、それぞれ挽回策を打つ。</a:t>
            </a:r>
            <a:endParaRPr lang="en-US" altLang="ja-JP" sz="1600" dirty="0"/>
          </a:p>
          <a:p>
            <a:pPr marL="0" indent="0">
              <a:lnSpc>
                <a:spcPct val="100000"/>
              </a:lnSpc>
              <a:spcBef>
                <a:spcPts val="0"/>
              </a:spcBef>
              <a:buNone/>
            </a:pPr>
            <a:r>
              <a:rPr lang="ja-JP" altLang="en-US" sz="1600" dirty="0"/>
              <a:t>■本日はフェーズ２からの</a:t>
            </a:r>
            <a:r>
              <a:rPr lang="ja-JP" altLang="en-US" sz="1600" dirty="0">
                <a:highlight>
                  <a:srgbClr val="FFFF00"/>
                </a:highlight>
              </a:rPr>
              <a:t>継続活動の進捗</a:t>
            </a:r>
            <a:r>
              <a:rPr lang="ja-JP" altLang="en-US" sz="1600" dirty="0"/>
              <a:t>及び</a:t>
            </a:r>
            <a:r>
              <a:rPr lang="ja-JP" altLang="en-US" sz="1600" dirty="0">
                <a:highlight>
                  <a:srgbClr val="FFFF00"/>
                </a:highlight>
              </a:rPr>
              <a:t>フェーズ３進捗状況</a:t>
            </a:r>
            <a:r>
              <a:rPr lang="ja-JP" altLang="en-US" sz="1600" dirty="0"/>
              <a:t>を主に報告する。</a:t>
            </a:r>
            <a:endParaRPr lang="en-US" altLang="ja-JP" sz="1600" dirty="0"/>
          </a:p>
        </p:txBody>
      </p:sp>
      <p:graphicFrame>
        <p:nvGraphicFramePr>
          <p:cNvPr id="2" name="表 6">
            <a:extLst>
              <a:ext uri="{FF2B5EF4-FFF2-40B4-BE49-F238E27FC236}">
                <a16:creationId xmlns:a16="http://schemas.microsoft.com/office/drawing/2014/main" id="{CA6A6E5B-724E-9402-BE89-AEC72C06DFD5}"/>
              </a:ext>
            </a:extLst>
          </p:cNvPr>
          <p:cNvGraphicFramePr>
            <a:graphicFrameLocks noGrp="1"/>
          </p:cNvGraphicFramePr>
          <p:nvPr/>
        </p:nvGraphicFramePr>
        <p:xfrm>
          <a:off x="35495" y="1268760"/>
          <a:ext cx="9073010" cy="5153728"/>
        </p:xfrm>
        <a:graphic>
          <a:graphicData uri="http://schemas.openxmlformats.org/drawingml/2006/table">
            <a:tbl>
              <a:tblPr firstRow="1" bandRow="1">
                <a:tableStyleId>{9D7B26C5-4107-4FEC-AEDC-1716B250A1EF}</a:tableStyleId>
              </a:tblPr>
              <a:tblGrid>
                <a:gridCol w="648072">
                  <a:extLst>
                    <a:ext uri="{9D8B030D-6E8A-4147-A177-3AD203B41FA5}">
                      <a16:colId xmlns:a16="http://schemas.microsoft.com/office/drawing/2014/main" val="1044953553"/>
                    </a:ext>
                  </a:extLst>
                </a:gridCol>
                <a:gridCol w="2448272">
                  <a:extLst>
                    <a:ext uri="{9D8B030D-6E8A-4147-A177-3AD203B41FA5}">
                      <a16:colId xmlns:a16="http://schemas.microsoft.com/office/drawing/2014/main" val="3584964446"/>
                    </a:ext>
                  </a:extLst>
                </a:gridCol>
                <a:gridCol w="3240360">
                  <a:extLst>
                    <a:ext uri="{9D8B030D-6E8A-4147-A177-3AD203B41FA5}">
                      <a16:colId xmlns:a16="http://schemas.microsoft.com/office/drawing/2014/main" val="350842847"/>
                    </a:ext>
                  </a:extLst>
                </a:gridCol>
                <a:gridCol w="2077781">
                  <a:extLst>
                    <a:ext uri="{9D8B030D-6E8A-4147-A177-3AD203B41FA5}">
                      <a16:colId xmlns:a16="http://schemas.microsoft.com/office/drawing/2014/main" val="2650573269"/>
                    </a:ext>
                  </a:extLst>
                </a:gridCol>
                <a:gridCol w="658525">
                  <a:extLst>
                    <a:ext uri="{9D8B030D-6E8A-4147-A177-3AD203B41FA5}">
                      <a16:colId xmlns:a16="http://schemas.microsoft.com/office/drawing/2014/main" val="2082222364"/>
                    </a:ext>
                  </a:extLst>
                </a:gridCol>
              </a:tblGrid>
              <a:tr h="261951">
                <a:tc>
                  <a:txBody>
                    <a:bodyPr/>
                    <a:lstStyle/>
                    <a:p>
                      <a:pPr algn="ctr"/>
                      <a:r>
                        <a:rPr kumimoji="1" lang="ja-JP" altLang="en-US" b="1" dirty="0">
                          <a:solidFill>
                            <a:schemeClr val="bg1"/>
                          </a:solidFill>
                          <a:latin typeface="+mn-ea"/>
                          <a:ea typeface="+mn-ea"/>
                        </a:rPr>
                        <a:t>分類</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1">
                        <a:lumMod val="50000"/>
                        <a:lumOff val="50000"/>
                      </a:schemeClr>
                    </a:solidFill>
                  </a:tcPr>
                </a:tc>
                <a:tc>
                  <a:txBody>
                    <a:bodyPr/>
                    <a:lstStyle/>
                    <a:p>
                      <a:pPr algn="ctr"/>
                      <a:r>
                        <a:rPr kumimoji="1" lang="ja-JP" altLang="en-US" b="1" dirty="0">
                          <a:solidFill>
                            <a:schemeClr val="bg1"/>
                          </a:solidFill>
                          <a:latin typeface="+mn-ea"/>
                          <a:ea typeface="+mn-ea"/>
                        </a:rPr>
                        <a:t>取組み項目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kumimoji="1" lang="ja-JP" altLang="en-US" dirty="0">
                          <a:solidFill>
                            <a:schemeClr val="bg1"/>
                          </a:solidFill>
                          <a:latin typeface="+mn-ea"/>
                          <a:ea typeface="+mn-ea"/>
                        </a:rPr>
                        <a:t>進捗状況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kumimoji="1" lang="ja-JP" altLang="en-US" dirty="0">
                          <a:solidFill>
                            <a:schemeClr val="bg1"/>
                          </a:solidFill>
                          <a:latin typeface="+mn-ea"/>
                          <a:ea typeface="+mn-ea"/>
                        </a:rPr>
                        <a:t>ゴール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kumimoji="1" lang="ja-JP" altLang="en-US" sz="1200" i="1" dirty="0">
                          <a:solidFill>
                            <a:schemeClr val="bg1"/>
                          </a:solidFill>
                          <a:latin typeface="+mn-ea"/>
                          <a:ea typeface="+mn-ea"/>
                        </a:rPr>
                        <a:t>完了日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2774761768"/>
                  </a:ext>
                </a:extLst>
              </a:tr>
              <a:tr h="467428">
                <a:tc rowSpan="2">
                  <a:txBody>
                    <a:bodyPr/>
                    <a:lstStyle/>
                    <a:p>
                      <a:pPr algn="ctr">
                        <a:defRPr/>
                      </a:pPr>
                      <a:r>
                        <a:rPr kumimoji="1" lang="ja-JP" altLang="en-US" sz="1200" b="1" u="none" strike="noStrike" kern="1200" cap="none" spc="0" normalizeH="0" baseline="0" noProof="0" dirty="0">
                          <a:ln>
                            <a:noFill/>
                          </a:ln>
                          <a:solidFill>
                            <a:srgbClr val="000000"/>
                          </a:solidFill>
                          <a:effectLst/>
                          <a:uLnTx/>
                          <a:uFillTx/>
                          <a:latin typeface="+mn-ea"/>
                          <a:ea typeface="+mn-ea"/>
                        </a:rPr>
                        <a:t>全般</a:t>
                      </a:r>
                      <a:endParaRPr kumimoji="1" lang="en-US" altLang="ja-JP" sz="1200" b="1" i="0" u="none" strike="noStrike" kern="1200" cap="none" spc="0" normalizeH="0" baseline="0" noProof="0" dirty="0">
                        <a:ln>
                          <a:noFill/>
                        </a:ln>
                        <a:solidFill>
                          <a:srgbClr val="000000"/>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defRPr/>
                      </a:pPr>
                      <a:r>
                        <a:rPr kumimoji="1" lang="ja-JP" altLang="en-US" sz="1200" b="1" u="none" strike="noStrike" kern="1200" cap="none" spc="0" normalizeH="0" baseline="0" noProof="0" dirty="0">
                          <a:ln>
                            <a:noFill/>
                          </a:ln>
                          <a:solidFill>
                            <a:srgbClr val="000000"/>
                          </a:solidFill>
                          <a:effectLst/>
                          <a:uLnTx/>
                          <a:uFillTx/>
                          <a:latin typeface="+mn-ea"/>
                          <a:ea typeface="+mn-ea"/>
                        </a:rPr>
                        <a:t>顧客セグメンテーション見直し</a:t>
                      </a:r>
                      <a:endParaRPr kumimoji="1" lang="en-US" altLang="ja-JP" sz="1200" b="1" i="0" u="none" strike="noStrike" kern="1200" cap="none" spc="0" normalizeH="0" baseline="0" noProof="0" dirty="0">
                        <a:ln>
                          <a:noFill/>
                        </a:ln>
                        <a:solidFill>
                          <a:srgbClr val="000000"/>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defRPr/>
                      </a:pPr>
                      <a:r>
                        <a:rPr kumimoji="1" lang="ja-JP" altLang="en-US" sz="1200" i="0" u="none" strike="noStrike" kern="1200" cap="none" spc="0" normalizeH="0" baseline="0" noProof="0" dirty="0">
                          <a:ln>
                            <a:noFill/>
                          </a:ln>
                          <a:solidFill>
                            <a:schemeClr val="tx1"/>
                          </a:solidFill>
                          <a:effectLst/>
                          <a:uLnTx/>
                          <a:uFillTx/>
                          <a:latin typeface="+mn-ea"/>
                          <a:ea typeface="+mn-ea"/>
                          <a:cs typeface="+mn-cs"/>
                        </a:rPr>
                        <a:t>ライフサイクルに沿った受注活動が出来るよう、顧客ランク・セグメントの再定義中</a:t>
                      </a:r>
                      <a:endParaRPr kumimoji="1" lang="en-US" altLang="ja-JP" sz="1200" i="0" u="none" strike="noStrike" kern="1200" cap="none" spc="0" normalizeH="0" baseline="0" noProof="0" dirty="0">
                        <a:ln>
                          <a:noFill/>
                        </a:ln>
                        <a:solidFill>
                          <a:schemeClr val="tx1"/>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defRPr/>
                      </a:pPr>
                      <a:r>
                        <a:rPr kumimoji="1" lang="ja-JP" altLang="en-US" sz="1200" i="0" u="none" strike="noStrike" kern="1200" cap="none" spc="0" normalizeH="0" baseline="0" noProof="0" dirty="0">
                          <a:ln>
                            <a:noFill/>
                          </a:ln>
                          <a:solidFill>
                            <a:schemeClr val="tx1"/>
                          </a:solidFill>
                          <a:effectLst/>
                          <a:uLnTx/>
                          <a:uFillTx/>
                          <a:latin typeface="+mn-ea"/>
                          <a:ea typeface="+mn-ea"/>
                          <a:cs typeface="+mn-cs"/>
                        </a:rPr>
                        <a:t>見直しした顧客ランクに応じた営業活動が出来る</a:t>
                      </a:r>
                      <a:endParaRPr kumimoji="1" lang="en-US" altLang="ja-JP" sz="1200" i="0" u="none" strike="noStrike" kern="1200" cap="none" spc="0" normalizeH="0" baseline="0" noProof="0" dirty="0">
                        <a:ln>
                          <a:noFill/>
                        </a:ln>
                        <a:solidFill>
                          <a:schemeClr val="tx1"/>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defRPr/>
                      </a:pPr>
                      <a:r>
                        <a:rPr kumimoji="1" lang="en-US" altLang="ja-JP" sz="1200" i="1" u="none" strike="noStrike" kern="1200" cap="none" spc="0" normalizeH="0" baseline="0" noProof="0" dirty="0">
                          <a:ln>
                            <a:noFill/>
                          </a:ln>
                          <a:solidFill>
                            <a:schemeClr val="tx1"/>
                          </a:solidFill>
                          <a:effectLst/>
                          <a:uLnTx/>
                          <a:uFillTx/>
                          <a:latin typeface="+mn-ea"/>
                          <a:ea typeface="+mn-ea"/>
                          <a:cs typeface="+mn-cs"/>
                        </a:rPr>
                        <a:t>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222499577"/>
                  </a:ext>
                </a:extLst>
              </a:tr>
              <a:tr h="564203">
                <a:tc vMerge="1">
                  <a:txBody>
                    <a:bodyPr/>
                    <a:lstStyle/>
                    <a:p>
                      <a:pPr algn="ctr">
                        <a:defRPr/>
                      </a:pPr>
                      <a:r>
                        <a:rPr kumimoji="1" lang="ja-JP" altLang="en-US" sz="1400" b="1" u="none" strike="noStrike" kern="1200" cap="none" spc="0" normalizeH="0" baseline="0" noProof="0" dirty="0">
                          <a:ln>
                            <a:noFill/>
                          </a:ln>
                          <a:solidFill>
                            <a:srgbClr val="000000"/>
                          </a:solidFill>
                          <a:effectLst/>
                          <a:uLnTx/>
                          <a:uFillTx/>
                          <a:latin typeface="+mn-ea"/>
                          <a:ea typeface="+mn-ea"/>
                        </a:rPr>
                        <a:t>全般</a:t>
                      </a:r>
                      <a:endParaRPr kumimoji="1" lang="en-US" altLang="ja-JP" sz="1400" b="1" i="0" u="none" strike="noStrike" kern="1200" cap="none" spc="0" normalizeH="0" baseline="0" noProof="0" dirty="0">
                        <a:ln>
                          <a:noFill/>
                        </a:ln>
                        <a:solidFill>
                          <a:srgbClr val="000000"/>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defRPr/>
                      </a:pPr>
                      <a:r>
                        <a:rPr kumimoji="1" lang="ja-JP" altLang="en-US" sz="1200" b="1" u="none" strike="noStrike" kern="1200" cap="none" spc="0" normalizeH="0" baseline="0" noProof="0" dirty="0">
                          <a:ln>
                            <a:noFill/>
                          </a:ln>
                          <a:solidFill>
                            <a:srgbClr val="000000"/>
                          </a:solidFill>
                          <a:effectLst/>
                          <a:uLnTx/>
                          <a:uFillTx/>
                          <a:latin typeface="+mn-ea"/>
                          <a:ea typeface="+mn-ea"/>
                        </a:rPr>
                        <a:t>経営数値のダッシュボード</a:t>
                      </a:r>
                      <a:r>
                        <a:rPr lang="ja-JP" altLang="en-US" sz="1200" b="1" dirty="0">
                          <a:solidFill>
                            <a:srgbClr val="000000"/>
                          </a:solidFill>
                          <a:latin typeface="+mn-ea"/>
                          <a:ea typeface="+mn-ea"/>
                        </a:rPr>
                        <a:t>構築</a:t>
                      </a:r>
                      <a:endParaRPr kumimoji="1" lang="en-US" altLang="ja-JP" sz="1200" b="1" u="none" strike="noStrike" kern="1200" cap="none" spc="0" normalizeH="0" baseline="0" noProof="0" dirty="0">
                        <a:ln>
                          <a:noFill/>
                        </a:ln>
                        <a:solidFill>
                          <a:srgbClr val="000000"/>
                        </a:solidFill>
                        <a:effectLst/>
                        <a:uLnTx/>
                        <a:uFillTx/>
                        <a:latin typeface="+mn-ea"/>
                        <a:ea typeface="+mn-ea"/>
                      </a:endParaRPr>
                    </a:p>
                    <a:p>
                      <a:pPr>
                        <a:defRPr/>
                      </a:pPr>
                      <a:r>
                        <a:rPr lang="ja-JP" altLang="en-US" sz="1200" b="1" dirty="0">
                          <a:solidFill>
                            <a:srgbClr val="000000"/>
                          </a:solidFill>
                          <a:latin typeface="+mn-ea"/>
                          <a:ea typeface="+mn-ea"/>
                        </a:rPr>
                        <a:t>①受売利</a:t>
                      </a:r>
                      <a:r>
                        <a:rPr lang="en-US" altLang="ja-JP" sz="1200" b="1" dirty="0">
                          <a:solidFill>
                            <a:srgbClr val="000000"/>
                          </a:solidFill>
                          <a:latin typeface="+mn-ea"/>
                          <a:ea typeface="+mn-ea"/>
                        </a:rPr>
                        <a:t>(</a:t>
                      </a:r>
                      <a:r>
                        <a:rPr lang="ja-JP" altLang="en-US" sz="1200" b="1" dirty="0">
                          <a:solidFill>
                            <a:srgbClr val="000000"/>
                          </a:solidFill>
                          <a:latin typeface="+mn-ea"/>
                          <a:ea typeface="+mn-ea"/>
                        </a:rPr>
                        <a:t>営利</a:t>
                      </a:r>
                      <a:r>
                        <a:rPr lang="en-US" altLang="ja-JP" sz="1200" b="1" dirty="0">
                          <a:solidFill>
                            <a:srgbClr val="000000"/>
                          </a:solidFill>
                          <a:latin typeface="+mn-ea"/>
                          <a:ea typeface="+mn-ea"/>
                        </a:rPr>
                        <a:t>)</a:t>
                      </a:r>
                      <a:r>
                        <a:rPr lang="ja-JP" altLang="en-US" sz="1200" b="1" dirty="0">
                          <a:solidFill>
                            <a:srgbClr val="000000"/>
                          </a:solidFill>
                          <a:latin typeface="+mn-ea"/>
                          <a:ea typeface="+mn-ea"/>
                        </a:rPr>
                        <a:t>、</a:t>
                      </a:r>
                      <a:r>
                        <a:rPr kumimoji="1" lang="ja-JP" altLang="en-US" sz="1200" b="1" u="none" strike="noStrike" kern="1200" cap="none" spc="0" normalizeH="0" baseline="0" noProof="0" dirty="0">
                          <a:ln>
                            <a:noFill/>
                          </a:ln>
                          <a:solidFill>
                            <a:srgbClr val="000000"/>
                          </a:solidFill>
                          <a:effectLst/>
                          <a:uLnTx/>
                          <a:uFillTx/>
                          <a:latin typeface="+mn-ea"/>
                          <a:ea typeface="+mn-ea"/>
                        </a:rPr>
                        <a:t>②引合費</a:t>
                      </a:r>
                      <a:endParaRPr kumimoji="1" lang="en-US" altLang="ja-JP" sz="1200" b="1" u="none" strike="noStrike" kern="1200" cap="none" spc="0" normalizeH="0" baseline="0" noProof="0" dirty="0">
                        <a:ln>
                          <a:noFill/>
                        </a:ln>
                        <a:solidFill>
                          <a:srgbClr val="000000"/>
                        </a:solidFill>
                        <a:effectLst/>
                        <a:uLnTx/>
                        <a:uFillTx/>
                        <a:latin typeface="+mn-ea"/>
                        <a:ea typeface="+mn-ea"/>
                      </a:endParaRPr>
                    </a:p>
                    <a:p>
                      <a:pPr>
                        <a:defRPr/>
                      </a:pPr>
                      <a:r>
                        <a:rPr kumimoji="1" lang="ja-JP" altLang="en-US" sz="1200" b="1" u="none" strike="noStrike" kern="1200" cap="none" spc="0" normalizeH="0" baseline="0" noProof="0" dirty="0">
                          <a:ln>
                            <a:noFill/>
                          </a:ln>
                          <a:solidFill>
                            <a:srgbClr val="000000"/>
                          </a:solidFill>
                          <a:effectLst/>
                          <a:uLnTx/>
                          <a:uFillTx/>
                          <a:latin typeface="+mn-ea"/>
                          <a:ea typeface="+mn-ea"/>
                        </a:rPr>
                        <a:t>③</a:t>
                      </a:r>
                      <a:r>
                        <a:rPr kumimoji="1" lang="en-US" altLang="ja-JP" sz="1200" b="1" u="none" strike="noStrike" kern="1200" cap="none" spc="0" normalizeH="0" baseline="0" noProof="0" dirty="0">
                          <a:ln>
                            <a:noFill/>
                          </a:ln>
                          <a:solidFill>
                            <a:srgbClr val="000000"/>
                          </a:solidFill>
                          <a:effectLst/>
                          <a:uLnTx/>
                          <a:uFillTx/>
                          <a:latin typeface="+mn-ea"/>
                          <a:ea typeface="+mn-ea"/>
                        </a:rPr>
                        <a:t>AS</a:t>
                      </a:r>
                      <a:r>
                        <a:rPr kumimoji="1" lang="ja-JP" altLang="en-US" sz="1200" b="1" u="none" strike="noStrike" kern="1200" cap="none" spc="0" normalizeH="0" baseline="0" noProof="0" dirty="0">
                          <a:ln>
                            <a:noFill/>
                          </a:ln>
                          <a:solidFill>
                            <a:srgbClr val="000000"/>
                          </a:solidFill>
                          <a:effectLst/>
                          <a:uLnTx/>
                          <a:uFillTx/>
                          <a:latin typeface="+mn-ea"/>
                          <a:ea typeface="+mn-ea"/>
                        </a:rPr>
                        <a:t>従事比率、④直接作業比率</a:t>
                      </a:r>
                      <a:endParaRPr kumimoji="1" lang="en-US" altLang="ja-JP" sz="1200" b="1" i="0" u="none" strike="noStrike" kern="1200" cap="none" spc="0" normalizeH="0" baseline="0" noProof="0" dirty="0">
                        <a:ln>
                          <a:noFill/>
                        </a:ln>
                        <a:solidFill>
                          <a:srgbClr val="000000"/>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defRPr/>
                      </a:pPr>
                      <a:r>
                        <a:rPr kumimoji="1" lang="ja-JP" altLang="en-US" sz="1200" i="1" u="none" strike="noStrike" kern="1200" cap="none" spc="0" normalizeH="0" baseline="0" noProof="0" dirty="0">
                          <a:ln>
                            <a:noFill/>
                          </a:ln>
                          <a:solidFill>
                            <a:schemeClr val="tx1"/>
                          </a:solidFill>
                          <a:effectLst/>
                          <a:highlight>
                            <a:srgbClr val="FAE1CE"/>
                          </a:highlight>
                          <a:uLnTx/>
                          <a:uFillTx/>
                          <a:latin typeface="+mn-ea"/>
                          <a:ea typeface="+mn-ea"/>
                          <a:cs typeface="+mn-cs"/>
                        </a:rPr>
                        <a:t>①構築に遅れ：ソフ４へ依頼し挽回図る</a:t>
                      </a:r>
                      <a:endParaRPr kumimoji="1" lang="en-US" altLang="ja-JP" sz="1200" i="1" u="none" strike="noStrike" kern="1200" cap="none" spc="0" normalizeH="0" baseline="0" noProof="0" dirty="0">
                        <a:ln>
                          <a:noFill/>
                        </a:ln>
                        <a:solidFill>
                          <a:schemeClr val="tx1"/>
                        </a:solidFill>
                        <a:effectLst/>
                        <a:highlight>
                          <a:srgbClr val="FAE1CE"/>
                        </a:highlight>
                        <a:uLnTx/>
                        <a:uFillTx/>
                        <a:latin typeface="+mn-ea"/>
                        <a:ea typeface="+mn-ea"/>
                        <a:cs typeface="+mn-cs"/>
                      </a:endParaRPr>
                    </a:p>
                    <a:p>
                      <a:pPr>
                        <a:defRPr/>
                      </a:pPr>
                      <a:r>
                        <a:rPr kumimoji="1" lang="ja-JP" altLang="en-US" sz="1200" i="1" u="none" strike="noStrike" kern="1200" cap="none" spc="0" normalizeH="0" baseline="0" noProof="0" dirty="0">
                          <a:ln>
                            <a:noFill/>
                          </a:ln>
                          <a:solidFill>
                            <a:schemeClr val="tx1"/>
                          </a:solidFill>
                          <a:effectLst/>
                          <a:uLnTx/>
                          <a:uFillTx/>
                          <a:latin typeface="+mn-ea"/>
                          <a:ea typeface="+mn-ea"/>
                          <a:cs typeface="+mn-cs"/>
                        </a:rPr>
                        <a:t>②</a:t>
                      </a:r>
                      <a:r>
                        <a:rPr kumimoji="1" lang="en-US" altLang="ja-JP" sz="1200" i="1" u="none" strike="noStrike" kern="1200" cap="none" spc="0" normalizeH="0" baseline="0" noProof="0" dirty="0">
                          <a:ln>
                            <a:noFill/>
                          </a:ln>
                          <a:solidFill>
                            <a:schemeClr val="tx1"/>
                          </a:solidFill>
                          <a:effectLst/>
                          <a:uLnTx/>
                          <a:uFillTx/>
                          <a:latin typeface="+mn-ea"/>
                          <a:ea typeface="+mn-ea"/>
                          <a:cs typeface="+mn-cs"/>
                        </a:rPr>
                        <a:t>~</a:t>
                      </a:r>
                      <a:r>
                        <a:rPr kumimoji="1" lang="ja-JP" altLang="en-US" sz="1200" i="1" u="none" strike="noStrike" kern="1200" cap="none" spc="0" normalizeH="0" baseline="0" noProof="0" dirty="0">
                          <a:ln>
                            <a:noFill/>
                          </a:ln>
                          <a:solidFill>
                            <a:schemeClr val="tx1"/>
                          </a:solidFill>
                          <a:effectLst/>
                          <a:uLnTx/>
                          <a:uFillTx/>
                          <a:latin typeface="+mn-ea"/>
                          <a:ea typeface="+mn-ea"/>
                          <a:cs typeface="+mn-cs"/>
                        </a:rPr>
                        <a:t>④ほぼ</a:t>
                      </a:r>
                      <a:r>
                        <a:rPr kumimoji="1" lang="en-US" altLang="ja-JP" sz="1200" i="1" u="none" strike="noStrike" kern="1200" cap="none" spc="0" normalizeH="0" baseline="30000" noProof="0" dirty="0">
                          <a:ln>
                            <a:noFill/>
                          </a:ln>
                          <a:solidFill>
                            <a:schemeClr val="tx1"/>
                          </a:solidFill>
                          <a:effectLst/>
                          <a:uLnTx/>
                          <a:uFillTx/>
                          <a:latin typeface="+mn-ea"/>
                          <a:ea typeface="+mn-ea"/>
                          <a:cs typeface="+mn-cs"/>
                        </a:rPr>
                        <a:t>※</a:t>
                      </a:r>
                      <a:r>
                        <a:rPr kumimoji="1" lang="ja-JP" altLang="en-US" sz="1200" i="1" u="none" strike="noStrike" kern="1200" cap="none" spc="0" normalizeH="0" baseline="0" noProof="0" dirty="0">
                          <a:ln>
                            <a:noFill/>
                          </a:ln>
                          <a:solidFill>
                            <a:schemeClr val="tx1"/>
                          </a:solidFill>
                          <a:effectLst/>
                          <a:uLnTx/>
                          <a:uFillTx/>
                          <a:latin typeface="+mn-ea"/>
                          <a:ea typeface="+mn-ea"/>
                          <a:cs typeface="+mn-cs"/>
                        </a:rPr>
                        <a:t>構築完了。本日リリース</a:t>
                      </a:r>
                      <a:endParaRPr kumimoji="1" lang="en-US" altLang="ja-JP" sz="1200" i="1" u="none" strike="noStrike" kern="1200" cap="none" spc="0" normalizeH="0" baseline="0" noProof="0" dirty="0">
                        <a:ln>
                          <a:noFill/>
                        </a:ln>
                        <a:solidFill>
                          <a:schemeClr val="tx1"/>
                        </a:solidFill>
                        <a:effectLst/>
                        <a:uLnTx/>
                        <a:uFillTx/>
                        <a:latin typeface="+mn-ea"/>
                        <a:ea typeface="+mn-ea"/>
                        <a:cs typeface="+mn-cs"/>
                      </a:endParaRPr>
                    </a:p>
                    <a:p>
                      <a:pPr>
                        <a:defRPr/>
                      </a:pPr>
                      <a:r>
                        <a:rPr kumimoji="1" lang="ja-JP" altLang="en-US" sz="1000" i="1" u="none" strike="noStrike" kern="1200" cap="none" spc="0" normalizeH="0" baseline="0" noProof="0" dirty="0">
                          <a:ln>
                            <a:noFill/>
                          </a:ln>
                          <a:solidFill>
                            <a:schemeClr val="tx1"/>
                          </a:solidFill>
                          <a:effectLst/>
                          <a:uLnTx/>
                          <a:uFillTx/>
                          <a:latin typeface="+mn-ea"/>
                          <a:ea typeface="+mn-ea"/>
                          <a:cs typeface="+mn-cs"/>
                        </a:rPr>
                        <a:t>　</a:t>
                      </a:r>
                      <a:r>
                        <a:rPr kumimoji="1" lang="en-US" altLang="ja-JP" sz="1000" i="1" u="none" strike="noStrike" kern="1200" cap="none" spc="0" normalizeH="0" baseline="0" noProof="0" dirty="0">
                          <a:ln>
                            <a:noFill/>
                          </a:ln>
                          <a:solidFill>
                            <a:schemeClr val="tx1"/>
                          </a:solidFill>
                          <a:effectLst/>
                          <a:uLnTx/>
                          <a:uFillTx/>
                          <a:latin typeface="+mn-ea"/>
                          <a:ea typeface="+mn-ea"/>
                          <a:cs typeface="+mn-cs"/>
                        </a:rPr>
                        <a:t>※</a:t>
                      </a:r>
                      <a:r>
                        <a:rPr kumimoji="1" lang="ja-JP" altLang="en-US" sz="1000" i="1" u="none" strike="noStrike" kern="1200" cap="none" spc="0" normalizeH="0" baseline="0" noProof="0" dirty="0">
                          <a:ln>
                            <a:noFill/>
                          </a:ln>
                          <a:solidFill>
                            <a:schemeClr val="tx1"/>
                          </a:solidFill>
                          <a:effectLst/>
                          <a:uLnTx/>
                          <a:uFillTx/>
                          <a:latin typeface="+mn-ea"/>
                          <a:ea typeface="+mn-ea"/>
                          <a:cs typeface="+mn-cs"/>
                        </a:rPr>
                        <a:t>引合管理値は未だ表現出来ず継続構築中</a:t>
                      </a:r>
                      <a:endParaRPr kumimoji="1" lang="en-US" altLang="ja-JP" sz="1000" i="1" u="none" strike="noStrike" kern="1200" cap="none" spc="0" normalizeH="0" baseline="0" noProof="0" dirty="0">
                        <a:ln>
                          <a:noFill/>
                        </a:ln>
                        <a:solidFill>
                          <a:schemeClr val="tx1"/>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defRPr/>
                      </a:pPr>
                      <a:r>
                        <a:rPr kumimoji="1" lang="ja-JP" altLang="en-US" sz="1200" i="1" u="none" strike="noStrike" kern="1200" cap="none" spc="0" normalizeH="0" baseline="0" noProof="0" dirty="0">
                          <a:ln>
                            <a:noFill/>
                          </a:ln>
                          <a:solidFill>
                            <a:schemeClr val="tx1"/>
                          </a:solidFill>
                          <a:effectLst/>
                          <a:uLnTx/>
                          <a:uFillTx/>
                          <a:latin typeface="+mn-ea"/>
                          <a:ea typeface="+mn-ea"/>
                          <a:cs typeface="+mn-cs"/>
                        </a:rPr>
                        <a:t>職制・担当がいつでも最新情報を閲覧出来る</a:t>
                      </a:r>
                      <a:endParaRPr kumimoji="1" lang="en-US" altLang="ja-JP" sz="1200" i="1" u="none" strike="noStrike" kern="1200" cap="none" spc="0" normalizeH="0" baseline="0" noProof="0" dirty="0">
                        <a:ln>
                          <a:noFill/>
                        </a:ln>
                        <a:solidFill>
                          <a:schemeClr val="tx1"/>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defRPr/>
                      </a:pPr>
                      <a:r>
                        <a:rPr kumimoji="1" lang="ja-JP" altLang="en-US" sz="1200" i="1" u="none" strike="noStrike" kern="1200" cap="none" spc="0" normalizeH="0" baseline="0" noProof="0" dirty="0">
                          <a:ln>
                            <a:noFill/>
                          </a:ln>
                          <a:solidFill>
                            <a:schemeClr val="tx1"/>
                          </a:solidFill>
                          <a:effectLst/>
                          <a:uLnTx/>
                          <a:uFillTx/>
                          <a:latin typeface="+mn-ea"/>
                          <a:ea typeface="+mn-ea"/>
                          <a:cs typeface="+mn-cs"/>
                        </a:rPr>
                        <a:t>①</a:t>
                      </a:r>
                      <a:r>
                        <a:rPr kumimoji="1" lang="en-US" altLang="ja-JP" sz="1200" i="1" u="none" strike="noStrike" kern="1200" cap="none" spc="0" normalizeH="0" baseline="0" noProof="0" dirty="0">
                          <a:ln>
                            <a:noFill/>
                          </a:ln>
                          <a:solidFill>
                            <a:schemeClr val="tx1"/>
                          </a:solidFill>
                          <a:effectLst/>
                          <a:uLnTx/>
                          <a:uFillTx/>
                          <a:latin typeface="+mn-ea"/>
                          <a:ea typeface="+mn-ea"/>
                          <a:cs typeface="+mn-cs"/>
                        </a:rPr>
                        <a:t>8/9</a:t>
                      </a:r>
                    </a:p>
                    <a:p>
                      <a:pPr algn="ctr">
                        <a:defRPr/>
                      </a:pPr>
                      <a:r>
                        <a:rPr kumimoji="1" lang="ja-JP" altLang="en-US" sz="1200" i="1" u="none" strike="noStrike" kern="1200" cap="none" spc="0" normalizeH="0" baseline="0" noProof="0" dirty="0">
                          <a:ln>
                            <a:noFill/>
                          </a:ln>
                          <a:solidFill>
                            <a:schemeClr val="tx1"/>
                          </a:solidFill>
                          <a:effectLst/>
                          <a:uLnTx/>
                          <a:uFillTx/>
                          <a:latin typeface="+mn-ea"/>
                          <a:ea typeface="+mn-ea"/>
                          <a:cs typeface="+mn-cs"/>
                        </a:rPr>
                        <a:t>②</a:t>
                      </a:r>
                      <a:r>
                        <a:rPr kumimoji="1" lang="en-US" altLang="ja-JP" sz="1200" i="1" u="none" strike="noStrike" kern="1200" cap="none" spc="0" normalizeH="0" baseline="0" noProof="0" dirty="0">
                          <a:ln>
                            <a:noFill/>
                          </a:ln>
                          <a:solidFill>
                            <a:schemeClr val="tx1"/>
                          </a:solidFill>
                          <a:effectLst/>
                          <a:uLnTx/>
                          <a:uFillTx/>
                          <a:latin typeface="+mn-ea"/>
                          <a:ea typeface="+mn-ea"/>
                          <a:cs typeface="+mn-cs"/>
                        </a:rPr>
                        <a:t>~</a:t>
                      </a:r>
                      <a:r>
                        <a:rPr kumimoji="1" lang="ja-JP" altLang="en-US" sz="1200" i="1" u="none" strike="noStrike" kern="1200" cap="none" spc="0" normalizeH="0" baseline="0" noProof="0" dirty="0">
                          <a:ln>
                            <a:noFill/>
                          </a:ln>
                          <a:solidFill>
                            <a:schemeClr val="tx1"/>
                          </a:solidFill>
                          <a:effectLst/>
                          <a:uLnTx/>
                          <a:uFillTx/>
                          <a:latin typeface="+mn-ea"/>
                          <a:ea typeface="+mn-ea"/>
                          <a:cs typeface="+mn-cs"/>
                        </a:rPr>
                        <a:t>④</a:t>
                      </a:r>
                      <a:r>
                        <a:rPr kumimoji="1" lang="en-US" altLang="ja-JP" sz="1200" i="1" u="none" strike="noStrike" kern="1200" cap="none" spc="0" normalizeH="0" baseline="0" noProof="0" dirty="0">
                          <a:ln>
                            <a:noFill/>
                          </a:ln>
                          <a:solidFill>
                            <a:schemeClr val="tx1"/>
                          </a:solidFill>
                          <a:effectLst/>
                          <a:uLnTx/>
                          <a:uFillTx/>
                          <a:latin typeface="+mn-ea"/>
                          <a:ea typeface="+mn-ea"/>
                          <a:cs typeface="+mn-cs"/>
                        </a:rPr>
                        <a:t>6/25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2951620942"/>
                  </a:ext>
                </a:extLst>
              </a:tr>
              <a:tr h="403002">
                <a:tc row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200" b="1" dirty="0">
                          <a:latin typeface="+mn-ea"/>
                          <a:ea typeface="+mn-ea"/>
                        </a:rPr>
                        <a:t>引合</a:t>
                      </a:r>
                      <a:endParaRPr kumimoji="1" lang="en-US" altLang="ja-JP" sz="1200" b="1" dirty="0">
                        <a:latin typeface="+mn-ea"/>
                        <a:ea typeface="+mn-ea"/>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200" b="1" dirty="0">
                          <a:latin typeface="+mn-ea"/>
                          <a:ea typeface="+mn-ea"/>
                        </a:rPr>
                        <a:t>業務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defRPr/>
                      </a:pPr>
                      <a:r>
                        <a:rPr kumimoji="1" lang="ja-JP" altLang="en-US" sz="1200" b="1" u="none" strike="noStrike" kern="1200" cap="none" spc="0" normalizeH="0" baseline="0" noProof="0" dirty="0">
                          <a:ln>
                            <a:noFill/>
                          </a:ln>
                          <a:solidFill>
                            <a:srgbClr val="000000"/>
                          </a:solidFill>
                          <a:effectLst/>
                          <a:uLnTx/>
                          <a:uFillTx/>
                          <a:latin typeface="+mn-ea"/>
                          <a:ea typeface="+mn-ea"/>
                        </a:rPr>
                        <a:t>引合費予算策定フォーム構築</a:t>
                      </a:r>
                      <a:endParaRPr kumimoji="1" lang="en-US" altLang="ja-JP" sz="1200" b="1" i="0" u="none" strike="noStrike" kern="1200" cap="none" spc="0" normalizeH="0" baseline="0" noProof="0" dirty="0">
                        <a:ln>
                          <a:noFill/>
                        </a:ln>
                        <a:solidFill>
                          <a:srgbClr val="000000"/>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defRPr/>
                      </a:pPr>
                      <a:r>
                        <a:rPr kumimoji="1" lang="ja-JP" altLang="en-US" sz="1200" i="0" u="none" strike="noStrike" kern="1200" cap="none" spc="0" normalizeH="0" baseline="0" noProof="0" dirty="0">
                          <a:ln>
                            <a:noFill/>
                          </a:ln>
                          <a:solidFill>
                            <a:schemeClr val="tx1"/>
                          </a:solidFill>
                          <a:effectLst/>
                          <a:uLnTx/>
                          <a:uFillTx/>
                          <a:latin typeface="+mn-ea"/>
                          <a:ea typeface="+mn-ea"/>
                          <a:cs typeface="+mn-cs"/>
                        </a:rPr>
                        <a:t>対象発電所選定、説明会準備中。</a:t>
                      </a:r>
                      <a:endParaRPr kumimoji="1" lang="en-US" altLang="ja-JP" sz="1200" i="0" u="none" strike="noStrike" kern="1200" cap="none" spc="0" normalizeH="0" baseline="0" noProof="0" dirty="0">
                        <a:ln>
                          <a:noFill/>
                        </a:ln>
                        <a:solidFill>
                          <a:schemeClr val="tx1"/>
                        </a:solidFill>
                        <a:effectLst/>
                        <a:uLnTx/>
                        <a:uFillTx/>
                        <a:latin typeface="+mn-ea"/>
                        <a:ea typeface="+mn-ea"/>
                        <a:cs typeface="+mn-cs"/>
                      </a:endParaRPr>
                    </a:p>
                    <a:p>
                      <a:pPr>
                        <a:defRPr/>
                      </a:pPr>
                      <a:r>
                        <a:rPr kumimoji="1" lang="ja-JP" altLang="en-US" sz="1050" i="0" u="none" strike="noStrike" kern="1200" cap="none" spc="0" normalizeH="0" baseline="0" noProof="0" dirty="0">
                          <a:ln>
                            <a:noFill/>
                          </a:ln>
                          <a:solidFill>
                            <a:schemeClr val="tx1"/>
                          </a:solidFill>
                          <a:effectLst/>
                          <a:highlight>
                            <a:srgbClr val="FAE1CE"/>
                          </a:highlight>
                          <a:uLnTx/>
                          <a:uFillTx/>
                          <a:latin typeface="+mn-ea"/>
                          <a:ea typeface="+mn-ea"/>
                          <a:cs typeface="+mn-cs"/>
                        </a:rPr>
                        <a:t>検討の遅れ：ドラフト作成後営業部へ相談予定</a:t>
                      </a:r>
                      <a:endParaRPr kumimoji="1" lang="en-US" altLang="ja-JP" sz="1200" i="0" u="none" strike="noStrike" kern="1200" cap="none" spc="0" normalizeH="0" baseline="0" noProof="0" dirty="0">
                        <a:ln>
                          <a:noFill/>
                        </a:ln>
                        <a:solidFill>
                          <a:schemeClr val="tx1"/>
                        </a:solidFill>
                        <a:effectLst/>
                        <a:highlight>
                          <a:srgbClr val="FAE1CE"/>
                        </a:highligh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defRPr/>
                      </a:pPr>
                      <a:r>
                        <a:rPr kumimoji="1" lang="ja-JP" altLang="en-US" sz="1200" i="0" u="none" strike="noStrike" kern="1200" cap="none" spc="0" normalizeH="0" baseline="0" noProof="0" dirty="0">
                          <a:ln>
                            <a:noFill/>
                          </a:ln>
                          <a:solidFill>
                            <a:schemeClr val="tx1"/>
                          </a:solidFill>
                          <a:effectLst/>
                          <a:uLnTx/>
                          <a:uFillTx/>
                          <a:latin typeface="+mn-ea"/>
                          <a:ea typeface="+mn-ea"/>
                          <a:cs typeface="+mn-cs"/>
                        </a:rPr>
                        <a:t>予算設定完了し、例月フォロの管理値へ反映</a:t>
                      </a:r>
                      <a:endParaRPr kumimoji="1" lang="en-US" altLang="ja-JP" sz="1200" i="0" u="none" strike="noStrike" kern="1200" cap="none" spc="0" normalizeH="0" baseline="0" noProof="0" dirty="0">
                        <a:ln>
                          <a:noFill/>
                        </a:ln>
                        <a:solidFill>
                          <a:schemeClr val="tx1"/>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kumimoji="1" lang="en-US" altLang="ja-JP" sz="1200" i="1" u="none" strike="noStrike" kern="1200" cap="none" spc="0" normalizeH="0" baseline="0" noProof="0" dirty="0">
                          <a:ln>
                            <a:noFill/>
                          </a:ln>
                          <a:solidFill>
                            <a:schemeClr val="tx1"/>
                          </a:solidFill>
                          <a:effectLst/>
                          <a:uLnTx/>
                          <a:uFillTx/>
                          <a:latin typeface="+mn-ea"/>
                          <a:ea typeface="+mn-ea"/>
                          <a:cs typeface="+mn-cs"/>
                        </a:rPr>
                        <a:t>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4787530"/>
                  </a:ext>
                </a:extLst>
              </a:tr>
              <a:tr h="241801">
                <a:tc vMerge="1">
                  <a:txBody>
                    <a:bodyPr/>
                    <a:lstStyle/>
                    <a:p>
                      <a:endParaRPr kumimoji="1" lang="ja-JP" altLang="en-US"/>
                    </a:p>
                  </a:txBody>
                  <a:tcPr/>
                </a:tc>
                <a:tc>
                  <a:txBody>
                    <a:bodyPr/>
                    <a:lstStyle/>
                    <a:p>
                      <a:pPr>
                        <a:defRPr/>
                      </a:pPr>
                      <a:r>
                        <a:rPr kumimoji="1" lang="ja-JP" altLang="en-US" sz="1200" b="1" i="0" u="none" strike="noStrike" kern="1200" cap="none" spc="0" normalizeH="0" baseline="0" noProof="0" dirty="0">
                          <a:ln>
                            <a:noFill/>
                          </a:ln>
                          <a:solidFill>
                            <a:srgbClr val="000000"/>
                          </a:solidFill>
                          <a:effectLst/>
                          <a:uLnTx/>
                          <a:uFillTx/>
                          <a:latin typeface="+mn-ea"/>
                          <a:ea typeface="+mn-ea"/>
                          <a:cs typeface="+mn-cs"/>
                        </a:rPr>
                        <a:t>引合費例月フォロ</a:t>
                      </a:r>
                      <a:endParaRPr kumimoji="1" lang="en-US" altLang="ja-JP" sz="1200" b="1" i="0" u="none" strike="noStrike" kern="1200" cap="none" spc="0" normalizeH="0" baseline="0" noProof="0" dirty="0">
                        <a:ln>
                          <a:noFill/>
                        </a:ln>
                        <a:solidFill>
                          <a:srgbClr val="000000"/>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dirty="0">
                          <a:ln>
                            <a:noFill/>
                          </a:ln>
                          <a:solidFill>
                            <a:schemeClr val="tx1"/>
                          </a:solidFill>
                          <a:effectLst/>
                          <a:uLnTx/>
                          <a:uFillTx/>
                          <a:latin typeface="+mn-ea"/>
                          <a:ea typeface="+mn-ea"/>
                          <a:cs typeface="+mn-cs"/>
                        </a:rPr>
                        <a:t>細かな改修続けながら例月フォロ実施中</a:t>
                      </a:r>
                      <a:endParaRPr kumimoji="1" lang="en-US" altLang="ja-JP" sz="1200" i="0" u="none" strike="noStrike" kern="1200" cap="none" spc="0" normalizeH="0" baseline="0" noProof="0" dirty="0">
                        <a:ln>
                          <a:noFill/>
                        </a:ln>
                        <a:solidFill>
                          <a:schemeClr val="tx1"/>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dirty="0">
                          <a:ln>
                            <a:noFill/>
                          </a:ln>
                          <a:solidFill>
                            <a:schemeClr val="tx1"/>
                          </a:solidFill>
                          <a:effectLst/>
                          <a:uLnTx/>
                          <a:uFillTx/>
                          <a:latin typeface="+mn-ea"/>
                          <a:ea typeface="+mn-ea"/>
                          <a:cs typeface="+mn-cs"/>
                        </a:rPr>
                        <a:t>運用中</a:t>
                      </a:r>
                      <a:endParaRPr kumimoji="1" lang="en-US" altLang="ja-JP" sz="1200" i="0" u="none" strike="noStrike" kern="1200" cap="none" spc="0" normalizeH="0" baseline="0" noProof="0" dirty="0">
                        <a:ln>
                          <a:noFill/>
                        </a:ln>
                        <a:solidFill>
                          <a:schemeClr val="tx1"/>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en-US" altLang="ja-JP" sz="1200" i="1" u="none" strike="noStrike" kern="1200" cap="none" spc="0" normalizeH="0" baseline="0" noProof="0" dirty="0">
                          <a:ln>
                            <a:noFill/>
                          </a:ln>
                          <a:solidFill>
                            <a:schemeClr val="tx1"/>
                          </a:solidFill>
                          <a:effectLst/>
                          <a:uLnTx/>
                          <a:uFillTx/>
                          <a:latin typeface="+mn-ea"/>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9147865"/>
                  </a:ext>
                </a:extLst>
              </a:tr>
              <a:tr h="403002">
                <a:tc vMerge="1">
                  <a:txBody>
                    <a:bodyPr/>
                    <a:lstStyle/>
                    <a:p>
                      <a:pPr algn="ctr"/>
                      <a:endParaRPr kumimoji="1" lang="ja-JP" altLang="en-US" b="1" dirty="0">
                        <a:latin typeface="+mn-ea"/>
                        <a:ea typeface="+mn-ea"/>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kumimoji="1" lang="ja-JP" altLang="en-US" sz="1200" b="1" dirty="0">
                          <a:latin typeface="+mn-ea"/>
                          <a:ea typeface="+mn-ea"/>
                        </a:rPr>
                        <a:t>見積作業の効率化</a:t>
                      </a:r>
                      <a:endParaRPr kumimoji="1" lang="en-US" altLang="ja-JP" sz="1200" b="1" dirty="0">
                        <a:latin typeface="+mn-ea"/>
                        <a:ea typeface="+mn-ea"/>
                      </a:endParaRPr>
                    </a:p>
                    <a:p>
                      <a:r>
                        <a:rPr kumimoji="1" lang="ja-JP" altLang="en-US" sz="1200" b="1" dirty="0">
                          <a:latin typeface="+mn-ea"/>
                          <a:ea typeface="+mn-ea"/>
                        </a:rPr>
                        <a:t>①見積簡略化</a:t>
                      </a:r>
                      <a:r>
                        <a:rPr kumimoji="1" lang="en-US" altLang="ja-JP" sz="1200" b="1" dirty="0">
                          <a:latin typeface="+mn-ea"/>
                          <a:ea typeface="+mn-ea"/>
                        </a:rPr>
                        <a:t>TT</a:t>
                      </a:r>
                      <a:r>
                        <a:rPr kumimoji="1" lang="ja-JP" altLang="en-US" sz="1200" b="1" dirty="0">
                          <a:latin typeface="+mn-ea"/>
                          <a:ea typeface="+mn-ea"/>
                        </a:rPr>
                        <a:t>、②</a:t>
                      </a:r>
                      <a:r>
                        <a:rPr kumimoji="1" lang="en-US" altLang="ja-JP" sz="1200" b="1" dirty="0">
                          <a:latin typeface="+mn-ea"/>
                          <a:ea typeface="+mn-ea"/>
                        </a:rPr>
                        <a:t>CATS+</a:t>
                      </a:r>
                      <a:endParaRPr kumimoji="1" lang="ja-JP" altLang="en-US"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r>
                        <a:rPr kumimoji="1" lang="ja-JP" altLang="en-US" sz="1200" dirty="0">
                          <a:solidFill>
                            <a:schemeClr val="tx1"/>
                          </a:solidFill>
                          <a:latin typeface="+mn-ea"/>
                          <a:ea typeface="+mn-ea"/>
                        </a:rPr>
                        <a:t>①ボイラ本体適用率向上、水平展開開始。</a:t>
                      </a:r>
                    </a:p>
                    <a:p>
                      <a:r>
                        <a:rPr kumimoji="1" lang="ja-JP" altLang="en-US" sz="1200" dirty="0">
                          <a:solidFill>
                            <a:schemeClr val="tx1"/>
                          </a:solidFill>
                          <a:latin typeface="+mn-ea"/>
                          <a:ea typeface="+mn-ea"/>
                        </a:rPr>
                        <a:t>②海外</a:t>
                      </a:r>
                      <a:r>
                        <a:rPr kumimoji="1" lang="en-US" altLang="ja-JP" sz="1200" dirty="0">
                          <a:solidFill>
                            <a:schemeClr val="tx1"/>
                          </a:solidFill>
                          <a:latin typeface="+mn-ea"/>
                          <a:ea typeface="+mn-ea"/>
                        </a:rPr>
                        <a:t>ST</a:t>
                      </a:r>
                      <a:r>
                        <a:rPr kumimoji="1" lang="ja-JP" altLang="en-US" sz="1200" dirty="0">
                          <a:solidFill>
                            <a:schemeClr val="tx1"/>
                          </a:solidFill>
                          <a:latin typeface="+mn-ea"/>
                          <a:ea typeface="+mn-ea"/>
                        </a:rPr>
                        <a:t>継続適用中。水平展開準備中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r>
                        <a:rPr kumimoji="1" lang="ja-JP" altLang="en-US" sz="1200" dirty="0">
                          <a:solidFill>
                            <a:schemeClr val="tx1"/>
                          </a:solidFill>
                          <a:latin typeface="+mn-ea"/>
                          <a:ea typeface="+mn-ea"/>
                        </a:rPr>
                        <a:t>水平展開製品を見極め、運用定着化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r>
                        <a:rPr kumimoji="1" lang="en-US" altLang="ja-JP" sz="1050" i="1" dirty="0">
                          <a:solidFill>
                            <a:schemeClr val="tx1"/>
                          </a:solidFill>
                          <a:latin typeface="+mn-ea"/>
                          <a:ea typeface="+mn-ea"/>
                        </a:rPr>
                        <a:t>FY24</a:t>
                      </a:r>
                      <a:r>
                        <a:rPr kumimoji="1" lang="ja-JP" altLang="en-US" sz="1050" i="1" dirty="0">
                          <a:solidFill>
                            <a:schemeClr val="tx1"/>
                          </a:solidFill>
                          <a:latin typeface="+mn-ea"/>
                          <a:ea typeface="+mn-ea"/>
                        </a:rPr>
                        <a:t>末</a:t>
                      </a:r>
                      <a:r>
                        <a:rPr kumimoji="1" lang="en-US" altLang="ja-JP" sz="1050" i="1" dirty="0">
                          <a:solidFill>
                            <a:schemeClr val="tx1"/>
                          </a:solidFill>
                          <a:latin typeface="+mn-ea"/>
                          <a:ea typeface="+mn-ea"/>
                        </a:rPr>
                        <a:t>(</a:t>
                      </a:r>
                      <a:r>
                        <a:rPr kumimoji="1" lang="ja-JP" altLang="en-US" sz="1050" i="1" dirty="0">
                          <a:solidFill>
                            <a:schemeClr val="tx1"/>
                          </a:solidFill>
                          <a:latin typeface="+mn-ea"/>
                          <a:ea typeface="+mn-ea"/>
                        </a:rPr>
                        <a:t>見極</a:t>
                      </a:r>
                      <a:r>
                        <a:rPr kumimoji="1" lang="en-US" altLang="ja-JP" sz="1050" i="1" dirty="0">
                          <a:solidFill>
                            <a:schemeClr val="tx1"/>
                          </a:solidFill>
                          <a:latin typeface="+mn-ea"/>
                          <a:ea typeface="+mn-ea"/>
                        </a:rPr>
                        <a:t>)</a:t>
                      </a:r>
                      <a:endParaRPr kumimoji="1" lang="ja-JP" altLang="en-US" sz="1050" i="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2286429135"/>
                  </a:ext>
                </a:extLst>
              </a:tr>
              <a:tr h="403002">
                <a:tc vMerge="1">
                  <a:txBody>
                    <a:bodyPr/>
                    <a:lstStyle/>
                    <a:p>
                      <a:pPr algn="ctr"/>
                      <a:endParaRPr kumimoji="1" lang="en-US" altLang="ja-JP" b="1" dirty="0">
                        <a:latin typeface="+mn-ea"/>
                        <a:ea typeface="+mn-ea"/>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kumimoji="1" lang="ja-JP" altLang="en-US" sz="1200" b="1" dirty="0">
                          <a:latin typeface="+mn-ea"/>
                          <a:ea typeface="+mn-ea"/>
                        </a:rPr>
                        <a:t>技術照会の効率化</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a:t>
                      </a:r>
                      <a:r>
                        <a:rPr kumimoji="1" lang="ja-JP" altLang="en-US" sz="1200" dirty="0">
                          <a:latin typeface="+mn-ea"/>
                          <a:ea typeface="+mn-ea"/>
                          <a:hlinkClick r:id="rId3"/>
                        </a:rPr>
                        <a:t>問合せ受領時の仕訳フロー</a:t>
                      </a:r>
                      <a:r>
                        <a:rPr kumimoji="1" lang="ja-JP" altLang="en-US" sz="1200" dirty="0">
                          <a:latin typeface="+mn-ea"/>
                          <a:ea typeface="+mn-ea"/>
                        </a:rPr>
                        <a:t>を</a:t>
                      </a:r>
                      <a:endParaRPr kumimoji="1" lang="en-US" altLang="ja-JP" sz="1200" dirty="0">
                        <a:latin typeface="+mn-ea"/>
                        <a:ea typeface="+mn-ea"/>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　例月</a:t>
                      </a:r>
                      <a:r>
                        <a:rPr kumimoji="1" lang="en-US" altLang="ja-JP" sz="1200" dirty="0">
                          <a:latin typeface="+mn-ea"/>
                          <a:ea typeface="+mn-ea"/>
                        </a:rPr>
                        <a:t>F</a:t>
                      </a:r>
                      <a:r>
                        <a:rPr kumimoji="1" lang="ja-JP" altLang="en-US" sz="1200" dirty="0">
                          <a:latin typeface="+mn-ea"/>
                          <a:ea typeface="+mn-ea"/>
                        </a:rPr>
                        <a:t>補助資料として活用中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200" dirty="0">
                          <a:solidFill>
                            <a:schemeClr val="tx1"/>
                          </a:solidFill>
                          <a:latin typeface="+mn-ea"/>
                          <a:ea typeface="+mn-ea"/>
                        </a:rPr>
                        <a:t>運用中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i="1" dirty="0">
                          <a:solidFill>
                            <a:schemeClr val="tx1"/>
                          </a:solidFill>
                          <a:latin typeface="+mn-ea"/>
                          <a:ea typeface="+mn-ea"/>
                        </a:rPr>
                        <a:t>-</a:t>
                      </a:r>
                      <a:endParaRPr kumimoji="1" lang="ja-JP" altLang="en-US" sz="1200" i="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0026485"/>
                  </a:ext>
                </a:extLst>
              </a:tr>
              <a:tr h="403002">
                <a:tc vMerge="1">
                  <a:txBody>
                    <a:bodyPr/>
                    <a:lstStyle/>
                    <a:p>
                      <a:pPr algn="ctr"/>
                      <a:endParaRPr kumimoji="1" lang="en-US" altLang="ja-JP" b="1" dirty="0">
                        <a:latin typeface="+mn-ea"/>
                        <a:ea typeface="+mn-ea"/>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kumimoji="1" lang="ja-JP" altLang="en-US" sz="1200" b="1" dirty="0">
                          <a:latin typeface="+mn-ea"/>
                          <a:ea typeface="+mn-ea"/>
                        </a:rPr>
                        <a:t>顧客提案の効率化</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a:t>
                      </a:r>
                      <a:r>
                        <a:rPr kumimoji="1" lang="ja-JP" altLang="en-US" sz="1200" dirty="0">
                          <a:latin typeface="+mn-ea"/>
                          <a:ea typeface="+mn-ea"/>
                          <a:hlinkClick r:id="rId4"/>
                        </a:rPr>
                        <a:t>提案書作成ガイドライン</a:t>
                      </a:r>
                      <a:r>
                        <a:rPr kumimoji="1" lang="ja-JP" altLang="en-US" sz="1200" dirty="0">
                          <a:latin typeface="+mn-ea"/>
                          <a:ea typeface="+mn-ea"/>
                        </a:rPr>
                        <a:t>を</a:t>
                      </a:r>
                      <a:endParaRPr kumimoji="1" lang="en-US" altLang="ja-JP" sz="1200" dirty="0">
                        <a:latin typeface="+mn-ea"/>
                        <a:ea typeface="+mn-ea"/>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　次回定検後適用予定</a:t>
                      </a:r>
                      <a:r>
                        <a:rPr kumimoji="1" lang="en-US" altLang="ja-JP" sz="1200" dirty="0">
                          <a:latin typeface="+mn-ea"/>
                          <a:ea typeface="+mn-ea"/>
                        </a:rPr>
                        <a:t>(</a:t>
                      </a:r>
                      <a:r>
                        <a:rPr kumimoji="1" lang="ja-JP" altLang="en-US" sz="1200" dirty="0">
                          <a:latin typeface="+mn-ea"/>
                          <a:ea typeface="+mn-ea"/>
                        </a:rPr>
                        <a:t>ボ本設</a:t>
                      </a:r>
                      <a:r>
                        <a:rPr kumimoji="1" lang="en-US" altLang="ja-JP" sz="1200" dirty="0">
                          <a:latin typeface="+mn-ea"/>
                          <a:ea typeface="+mn-ea"/>
                        </a:rPr>
                        <a:t>)</a:t>
                      </a:r>
                      <a:endParaRPr kumimoji="1" lang="ja-JP" altLang="en-US" sz="12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200" dirty="0">
                          <a:solidFill>
                            <a:schemeClr val="tx1"/>
                          </a:solidFill>
                          <a:latin typeface="+mn-ea"/>
                          <a:ea typeface="+mn-ea"/>
                        </a:rPr>
                        <a:t>技術部他製品への展開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i="1" dirty="0">
                          <a:solidFill>
                            <a:schemeClr val="tx1"/>
                          </a:solidFill>
                          <a:latin typeface="+mn-ea"/>
                          <a:ea typeface="+mn-ea"/>
                        </a:rPr>
                        <a:t>9/E</a:t>
                      </a:r>
                      <a:endParaRPr kumimoji="1" lang="ja-JP" altLang="en-US" sz="1200" i="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50899052"/>
                  </a:ext>
                </a:extLst>
              </a:tr>
              <a:tr h="403002">
                <a:tc>
                  <a:txBody>
                    <a:bodyPr/>
                    <a:lstStyle/>
                    <a:p>
                      <a:pPr algn="ctr"/>
                      <a:r>
                        <a:rPr kumimoji="1" lang="ja-JP" altLang="en-US" sz="1200" b="1" dirty="0">
                          <a:latin typeface="+mn-ea"/>
                          <a:ea typeface="+mn-ea"/>
                        </a:rPr>
                        <a:t>引合</a:t>
                      </a:r>
                      <a:r>
                        <a:rPr kumimoji="1" lang="en-US" altLang="ja-JP" sz="1200" b="1" dirty="0">
                          <a:latin typeface="+mn-ea"/>
                          <a:ea typeface="+mn-ea"/>
                        </a:rPr>
                        <a:t>/</a:t>
                      </a:r>
                      <a:r>
                        <a:rPr kumimoji="1" lang="ja-JP" altLang="en-US" sz="1200" b="1" dirty="0">
                          <a:latin typeface="+mn-ea"/>
                          <a:ea typeface="+mn-ea"/>
                        </a:rPr>
                        <a:t>遂行</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b="1" dirty="0">
                          <a:latin typeface="+mn-ea"/>
                          <a:ea typeface="+mn-ea"/>
                        </a:rPr>
                        <a:t>見積・実行フォロ業務</a:t>
                      </a:r>
                      <a:endParaRPr kumimoji="1" lang="en-US" altLang="ja-JP" sz="1200" b="1" dirty="0">
                        <a:latin typeface="+mn-ea"/>
                        <a:ea typeface="+mn-ea"/>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200" b="1" dirty="0">
                          <a:latin typeface="+mn-ea"/>
                          <a:ea typeface="+mn-ea"/>
                        </a:rPr>
                        <a:t>(</a:t>
                      </a:r>
                      <a:r>
                        <a:rPr kumimoji="1" lang="ja-JP" altLang="en-US" sz="1200" b="1" dirty="0">
                          <a:latin typeface="+mn-ea"/>
                          <a:ea typeface="+mn-ea"/>
                        </a:rPr>
                        <a:t>金額・工程</a:t>
                      </a:r>
                      <a:r>
                        <a:rPr kumimoji="1" lang="en-US" altLang="ja-JP" sz="1200" b="1" dirty="0">
                          <a:latin typeface="+mn-ea"/>
                          <a:ea typeface="+mn-ea"/>
                        </a:rPr>
                        <a:t>)</a:t>
                      </a:r>
                      <a:r>
                        <a:rPr kumimoji="1" lang="ja-JP" altLang="en-US" sz="1200" b="1" dirty="0">
                          <a:latin typeface="+mn-ea"/>
                          <a:ea typeface="+mn-ea"/>
                        </a:rPr>
                        <a:t>の整流化・効率化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latin typeface="+mn-ea"/>
                          <a:ea typeface="+mn-ea"/>
                        </a:rPr>
                        <a:t>見積</a:t>
                      </a:r>
                      <a:r>
                        <a:rPr kumimoji="1" lang="en-US" altLang="ja-JP" sz="1200" dirty="0">
                          <a:solidFill>
                            <a:schemeClr val="tx1"/>
                          </a:solidFill>
                          <a:latin typeface="+mn-ea"/>
                          <a:ea typeface="+mn-ea"/>
                        </a:rPr>
                        <a:t>G</a:t>
                      </a:r>
                      <a:r>
                        <a:rPr kumimoji="1" lang="ja-JP" altLang="en-US" sz="1200" dirty="0">
                          <a:solidFill>
                            <a:schemeClr val="tx1"/>
                          </a:solidFill>
                          <a:latin typeface="+mn-ea"/>
                          <a:ea typeface="+mn-ea"/>
                        </a:rPr>
                        <a:t>、コスト</a:t>
                      </a:r>
                      <a:r>
                        <a:rPr kumimoji="1" lang="en-US" altLang="ja-JP" sz="1200" dirty="0">
                          <a:solidFill>
                            <a:schemeClr val="tx1"/>
                          </a:solidFill>
                          <a:latin typeface="+mn-ea"/>
                          <a:ea typeface="+mn-ea"/>
                        </a:rPr>
                        <a:t>G</a:t>
                      </a:r>
                      <a:r>
                        <a:rPr kumimoji="1" lang="ja-JP" altLang="en-US" sz="1200" dirty="0">
                          <a:solidFill>
                            <a:schemeClr val="tx1"/>
                          </a:solidFill>
                          <a:latin typeface="+mn-ea"/>
                          <a:ea typeface="+mn-ea"/>
                        </a:rPr>
                        <a:t>、</a:t>
                      </a:r>
                      <a:r>
                        <a:rPr kumimoji="1" lang="en-US" altLang="ja-JP" sz="1200" dirty="0">
                          <a:solidFill>
                            <a:schemeClr val="tx1"/>
                          </a:solidFill>
                          <a:latin typeface="+mn-ea"/>
                          <a:ea typeface="+mn-ea"/>
                        </a:rPr>
                        <a:t>PJG</a:t>
                      </a:r>
                      <a:r>
                        <a:rPr kumimoji="1" lang="ja-JP" altLang="en-US" sz="1200" dirty="0">
                          <a:solidFill>
                            <a:schemeClr val="tx1"/>
                          </a:solidFill>
                          <a:latin typeface="+mn-ea"/>
                          <a:ea typeface="+mn-ea"/>
                        </a:rPr>
                        <a:t>の業務フローから課題抽出中。</a:t>
                      </a:r>
                      <a:r>
                        <a:rPr kumimoji="1" lang="ja-JP" altLang="en-US" sz="1050" i="0" u="none" strike="noStrike" kern="1200" cap="none" spc="0" normalizeH="0" baseline="0" noProof="0" dirty="0">
                          <a:ln>
                            <a:noFill/>
                          </a:ln>
                          <a:solidFill>
                            <a:schemeClr val="tx1"/>
                          </a:solidFill>
                          <a:effectLst/>
                          <a:highlight>
                            <a:srgbClr val="FAE1CE"/>
                          </a:highlight>
                          <a:uLnTx/>
                          <a:uFillTx/>
                          <a:latin typeface="+mn-ea"/>
                          <a:ea typeface="+mn-ea"/>
                          <a:cs typeface="+mn-cs"/>
                        </a:rPr>
                        <a:t>検討の遅れ：引続き各部協力依頼予定</a:t>
                      </a:r>
                      <a:endParaRPr kumimoji="1" lang="en-US" altLang="ja-JP" sz="1200" i="0" u="none" strike="noStrike" kern="1200" cap="none" spc="0" normalizeH="0" baseline="0" noProof="0" dirty="0">
                        <a:ln>
                          <a:noFill/>
                        </a:ln>
                        <a:solidFill>
                          <a:schemeClr val="tx1"/>
                        </a:solidFill>
                        <a:effectLst/>
                        <a:highlight>
                          <a:srgbClr val="FAE1CE"/>
                        </a:highligh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r>
                        <a:rPr kumimoji="1" lang="en-US" altLang="ja-JP" sz="1200" dirty="0" err="1">
                          <a:solidFill>
                            <a:schemeClr val="tx1"/>
                          </a:solidFill>
                          <a:latin typeface="+mn-ea"/>
                          <a:ea typeface="+mn-ea"/>
                        </a:rPr>
                        <a:t>ToBe</a:t>
                      </a:r>
                      <a:r>
                        <a:rPr kumimoji="1" lang="ja-JP" altLang="en-US" sz="1200" dirty="0">
                          <a:solidFill>
                            <a:schemeClr val="tx1"/>
                          </a:solidFill>
                          <a:latin typeface="+mn-ea"/>
                          <a:ea typeface="+mn-ea"/>
                        </a:rPr>
                        <a:t>業務フロー確定</a:t>
                      </a:r>
                      <a:endParaRPr kumimoji="1" lang="en-US" altLang="ja-JP" sz="1200" dirty="0">
                        <a:solidFill>
                          <a:schemeClr val="tx1"/>
                        </a:solidFill>
                        <a:latin typeface="+mn-ea"/>
                        <a:ea typeface="+mn-ea"/>
                      </a:endParaRPr>
                    </a:p>
                    <a:p>
                      <a:r>
                        <a:rPr kumimoji="1" lang="ja-JP" altLang="en-US" sz="1200" dirty="0">
                          <a:solidFill>
                            <a:schemeClr val="tx1"/>
                          </a:solidFill>
                          <a:latin typeface="+mn-ea"/>
                          <a:ea typeface="+mn-ea"/>
                        </a:rPr>
                        <a:t>各課実行の為の準備完了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r>
                        <a:rPr kumimoji="1" lang="en-US" altLang="ja-JP" sz="1200" i="1" dirty="0">
                          <a:solidFill>
                            <a:schemeClr val="tx1"/>
                          </a:solidFill>
                          <a:latin typeface="+mn-ea"/>
                          <a:ea typeface="+mn-ea"/>
                        </a:rPr>
                        <a:t>8/9</a:t>
                      </a:r>
                      <a:endParaRPr kumimoji="1" lang="ja-JP" altLang="en-US" sz="1200" i="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3946571591"/>
                  </a:ext>
                </a:extLst>
              </a:tr>
              <a:tr h="403002">
                <a:tc rowSpan="2">
                  <a:txBody>
                    <a:bodyPr/>
                    <a:lstStyle/>
                    <a:p>
                      <a:pPr algn="ctr"/>
                      <a:r>
                        <a:rPr kumimoji="1" lang="ja-JP" altLang="en-US" sz="1200" b="1" dirty="0">
                          <a:latin typeface="+mn-ea"/>
                          <a:ea typeface="+mn-ea"/>
                        </a:rPr>
                        <a:t>遂行</a:t>
                      </a:r>
                      <a:endParaRPr kumimoji="1" lang="en-US" altLang="ja-JP" sz="1200" b="1" dirty="0">
                        <a:latin typeface="+mn-ea"/>
                        <a:ea typeface="+mn-ea"/>
                      </a:endParaRPr>
                    </a:p>
                    <a:p>
                      <a:pPr algn="ctr"/>
                      <a:r>
                        <a:rPr kumimoji="1" lang="ja-JP" altLang="en-US" sz="1200" b="1" dirty="0">
                          <a:latin typeface="+mn-ea"/>
                          <a:ea typeface="+mn-ea"/>
                        </a:rPr>
                        <a:t>業務</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kumimoji="1" lang="ja-JP" altLang="en-US" sz="1200" b="1" dirty="0">
                          <a:latin typeface="+mn-ea"/>
                          <a:ea typeface="+mn-ea"/>
                        </a:rPr>
                        <a:t>間接業務の効率化</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kumimoji="1" lang="ja-JP" altLang="en-US" sz="1200" dirty="0">
                          <a:solidFill>
                            <a:schemeClr val="tx1"/>
                          </a:solidFill>
                          <a:latin typeface="+mn-ea"/>
                          <a:ea typeface="+mn-ea"/>
                        </a:rPr>
                        <a:t>・直接作業比率目標</a:t>
                      </a:r>
                      <a:r>
                        <a:rPr kumimoji="1" lang="en-US" altLang="ja-JP" sz="1200" dirty="0">
                          <a:solidFill>
                            <a:schemeClr val="tx1"/>
                          </a:solidFill>
                          <a:latin typeface="+mn-ea"/>
                          <a:ea typeface="+mn-ea"/>
                        </a:rPr>
                        <a:t>72%</a:t>
                      </a:r>
                      <a:r>
                        <a:rPr kumimoji="1" lang="ja-JP" altLang="en-US" sz="1200" dirty="0">
                          <a:solidFill>
                            <a:schemeClr val="tx1"/>
                          </a:solidFill>
                          <a:latin typeface="+mn-ea"/>
                          <a:ea typeface="+mn-ea"/>
                        </a:rPr>
                        <a:t>を各部部門費期首フォロにて周知。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200" dirty="0">
                          <a:solidFill>
                            <a:schemeClr val="tx1"/>
                          </a:solidFill>
                          <a:latin typeface="+mn-ea"/>
                          <a:ea typeface="+mn-ea"/>
                        </a:rPr>
                        <a:t>運用中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i="1" dirty="0">
                          <a:solidFill>
                            <a:schemeClr val="tx1"/>
                          </a:solidFill>
                          <a:latin typeface="+mn-ea"/>
                          <a:ea typeface="+mn-ea"/>
                        </a:rPr>
                        <a:t>-</a:t>
                      </a:r>
                      <a:endParaRPr kumimoji="1" lang="ja-JP" altLang="en-US" sz="1200" i="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51908432"/>
                  </a:ext>
                </a:extLst>
              </a:tr>
              <a:tr h="403002">
                <a:tc vMerge="1">
                  <a:txBody>
                    <a:bodyPr/>
                    <a:lstStyle/>
                    <a:p>
                      <a:pPr algn="ctr"/>
                      <a:endParaRPr kumimoji="1" lang="en-US" altLang="ja-JP" b="1" dirty="0">
                        <a:latin typeface="+mn-ea"/>
                        <a:ea typeface="+mn-ea"/>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kumimoji="1" lang="ja-JP" altLang="en-US" sz="1200" b="1" dirty="0">
                          <a:latin typeface="+mn-ea"/>
                          <a:ea typeface="+mn-ea"/>
                        </a:rPr>
                        <a:t>設計業務の整流化・効率化</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latin typeface="+mn-ea"/>
                          <a:ea typeface="+mn-ea"/>
                        </a:rPr>
                        <a:t>・技術部全体の工数計上実績からターゲット絞込み中。</a:t>
                      </a:r>
                      <a:r>
                        <a:rPr kumimoji="1" lang="ja-JP" altLang="en-US" sz="1050" i="0" u="none" strike="noStrike" kern="1200" cap="none" spc="0" normalizeH="0" baseline="0" noProof="0" dirty="0">
                          <a:ln>
                            <a:noFill/>
                          </a:ln>
                          <a:solidFill>
                            <a:schemeClr val="tx1"/>
                          </a:solidFill>
                          <a:effectLst/>
                          <a:highlight>
                            <a:srgbClr val="FAE1CE"/>
                          </a:highlight>
                          <a:uLnTx/>
                          <a:uFillTx/>
                          <a:latin typeface="+mn-ea"/>
                          <a:ea typeface="+mn-ea"/>
                          <a:cs typeface="+mn-cs"/>
                        </a:rPr>
                        <a:t>検討の遅れ：引続き各部協力依頼予定</a:t>
                      </a:r>
                      <a:endParaRPr kumimoji="1" lang="en-US" altLang="ja-JP" sz="1200" i="0" u="none" strike="noStrike" kern="1200" cap="none" spc="0" normalizeH="0" baseline="0" noProof="0" dirty="0">
                        <a:ln>
                          <a:noFill/>
                        </a:ln>
                        <a:solidFill>
                          <a:schemeClr val="tx1"/>
                        </a:solidFill>
                        <a:effectLst/>
                        <a:highlight>
                          <a:srgbClr val="FAE1CE"/>
                        </a:highligh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r>
                        <a:rPr kumimoji="1" lang="en-US" altLang="ja-JP" sz="1200" dirty="0" err="1">
                          <a:solidFill>
                            <a:schemeClr val="tx1"/>
                          </a:solidFill>
                          <a:latin typeface="+mn-ea"/>
                          <a:ea typeface="+mn-ea"/>
                        </a:rPr>
                        <a:t>ToBe</a:t>
                      </a:r>
                      <a:r>
                        <a:rPr kumimoji="1" lang="ja-JP" altLang="en-US" sz="1200" dirty="0">
                          <a:solidFill>
                            <a:schemeClr val="tx1"/>
                          </a:solidFill>
                          <a:latin typeface="+mn-ea"/>
                          <a:ea typeface="+mn-ea"/>
                        </a:rPr>
                        <a:t>業務フロー確定</a:t>
                      </a:r>
                      <a:endParaRPr kumimoji="1" lang="en-US" altLang="ja-JP" sz="1200" dirty="0">
                        <a:solidFill>
                          <a:schemeClr val="tx1"/>
                        </a:solidFill>
                        <a:latin typeface="+mn-ea"/>
                        <a:ea typeface="+mn-ea"/>
                      </a:endParaRPr>
                    </a:p>
                    <a:p>
                      <a:r>
                        <a:rPr kumimoji="1" lang="ja-JP" altLang="en-US" sz="1200" dirty="0">
                          <a:solidFill>
                            <a:schemeClr val="tx1"/>
                          </a:solidFill>
                          <a:latin typeface="+mn-ea"/>
                          <a:ea typeface="+mn-ea"/>
                        </a:rPr>
                        <a:t>各課実行の為の準備完了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r>
                        <a:rPr kumimoji="1" lang="en-US" altLang="ja-JP" sz="1200" i="1" dirty="0">
                          <a:solidFill>
                            <a:schemeClr val="tx1"/>
                          </a:solidFill>
                          <a:latin typeface="+mn-ea"/>
                          <a:ea typeface="+mn-ea"/>
                        </a:rPr>
                        <a:t>8/9</a:t>
                      </a:r>
                      <a:endParaRPr kumimoji="1" lang="ja-JP" altLang="en-US" sz="1200" i="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2270321734"/>
                  </a:ext>
                </a:extLst>
              </a:tr>
              <a:tr h="241801">
                <a:tc>
                  <a:txBody>
                    <a:bodyPr/>
                    <a:lstStyle/>
                    <a:p>
                      <a:pPr algn="ctr"/>
                      <a:r>
                        <a:rPr kumimoji="1" lang="ja-JP" altLang="en-US" sz="1100" b="1" dirty="0">
                          <a:latin typeface="+mn-ea"/>
                          <a:ea typeface="+mn-ea"/>
                        </a:rPr>
                        <a:t>風土</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kumimoji="1" lang="ja-JP" altLang="en-US" sz="1200" b="1" dirty="0">
                          <a:latin typeface="+mn-ea"/>
                          <a:ea typeface="+mn-ea"/>
                        </a:rPr>
                        <a:t>コミュニケーション活発化</a:t>
                      </a:r>
                      <a:endParaRPr kumimoji="1" lang="en-US" altLang="ja-JP" sz="12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050" dirty="0">
                          <a:highlight>
                            <a:srgbClr val="FAE1CE"/>
                          </a:highlight>
                          <a:latin typeface="+mn-ea"/>
                          <a:ea typeface="+mn-ea"/>
                        </a:rPr>
                        <a:t>検討の遅れ：目的の明確化と施策再考中。</a:t>
                      </a:r>
                      <a:endParaRPr kumimoji="1" lang="ja-JP" altLang="en-US" sz="1050" dirty="0">
                        <a:solidFill>
                          <a:schemeClr val="tx1"/>
                        </a:solidFill>
                        <a:highlight>
                          <a:srgbClr val="FAE1CE"/>
                        </a:highlight>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200" dirty="0">
                          <a:solidFill>
                            <a:schemeClr val="tx1"/>
                          </a:solidFill>
                          <a:latin typeface="+mn-ea"/>
                          <a:ea typeface="+mn-ea"/>
                        </a:rPr>
                        <a:t>コミュニケーション活発化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i="1" dirty="0">
                          <a:solidFill>
                            <a:schemeClr val="tx1"/>
                          </a:solidFill>
                          <a:latin typeface="+mn-ea"/>
                          <a:ea typeface="+mn-ea"/>
                        </a:rPr>
                        <a:t>8/9</a:t>
                      </a:r>
                      <a:endParaRPr kumimoji="1" lang="ja-JP" altLang="en-US" sz="1200" i="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2260571"/>
                  </a:ext>
                </a:extLst>
              </a:tr>
            </a:tbl>
          </a:graphicData>
        </a:graphic>
      </p:graphicFrame>
      <p:sp>
        <p:nvSpPr>
          <p:cNvPr id="4" name="テキスト ボックス 3">
            <a:extLst>
              <a:ext uri="{FF2B5EF4-FFF2-40B4-BE49-F238E27FC236}">
                <a16:creationId xmlns:a16="http://schemas.microsoft.com/office/drawing/2014/main" id="{1310701B-29A4-B67A-69AD-C18811ECE480}"/>
              </a:ext>
            </a:extLst>
          </p:cNvPr>
          <p:cNvSpPr txBox="1"/>
          <p:nvPr/>
        </p:nvSpPr>
        <p:spPr>
          <a:xfrm>
            <a:off x="463814" y="4644240"/>
            <a:ext cx="732493" cy="2308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900" b="1" i="0" u="none" strike="noStrike" kern="1200" cap="none" spc="0" normalizeH="0" baseline="0" noProof="0" dirty="0">
                <a:ln>
                  <a:noFill/>
                </a:ln>
                <a:solidFill>
                  <a:srgbClr val="000000"/>
                </a:solidFill>
                <a:effectLst/>
                <a:highlight>
                  <a:srgbClr val="FFFF00"/>
                </a:highlight>
                <a:uLnTx/>
                <a:uFillTx/>
                <a:latin typeface="メイリオ"/>
                <a:ea typeface="メイリオ"/>
                <a:cs typeface="+mn-cs"/>
              </a:rPr>
              <a:t>フェーズ</a:t>
            </a:r>
            <a:r>
              <a:rPr kumimoji="1" lang="en-US" altLang="ja-JP" sz="900" b="1" i="0" u="none" strike="noStrike" kern="1200" cap="none" spc="0" normalizeH="0" baseline="0" noProof="0" dirty="0">
                <a:ln>
                  <a:noFill/>
                </a:ln>
                <a:solidFill>
                  <a:srgbClr val="000000"/>
                </a:solidFill>
                <a:effectLst/>
                <a:highlight>
                  <a:srgbClr val="FFFF00"/>
                </a:highlight>
                <a:uLnTx/>
                <a:uFillTx/>
                <a:latin typeface="メイリオ"/>
                <a:ea typeface="メイリオ"/>
                <a:cs typeface="+mn-cs"/>
              </a:rPr>
              <a:t>3</a:t>
            </a:r>
            <a:endParaRPr kumimoji="1" lang="ja-JP" altLang="en-US" sz="900" b="1" i="0" u="none" strike="noStrike" kern="1200" cap="none" spc="0" normalizeH="0" baseline="0" noProof="0" dirty="0">
              <a:ln>
                <a:noFill/>
              </a:ln>
              <a:solidFill>
                <a:srgbClr val="000000"/>
              </a:solidFill>
              <a:effectLst/>
              <a:highlight>
                <a:srgbClr val="FFFF00"/>
              </a:highlight>
              <a:uLnTx/>
              <a:uFillTx/>
              <a:latin typeface="メイリオ"/>
              <a:ea typeface="メイリオ"/>
              <a:cs typeface="+mn-cs"/>
            </a:endParaRPr>
          </a:p>
        </p:txBody>
      </p:sp>
      <p:sp>
        <p:nvSpPr>
          <p:cNvPr id="5" name="テキスト ボックス 4">
            <a:extLst>
              <a:ext uri="{FF2B5EF4-FFF2-40B4-BE49-F238E27FC236}">
                <a16:creationId xmlns:a16="http://schemas.microsoft.com/office/drawing/2014/main" id="{3A3528E8-A90A-8B74-AD4B-7BE324E030C8}"/>
              </a:ext>
            </a:extLst>
          </p:cNvPr>
          <p:cNvSpPr txBox="1"/>
          <p:nvPr/>
        </p:nvSpPr>
        <p:spPr>
          <a:xfrm>
            <a:off x="539551" y="5550873"/>
            <a:ext cx="732493" cy="2308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900" b="1" i="0" u="none" strike="noStrike" kern="1200" cap="none" spc="0" normalizeH="0" baseline="0" noProof="0" dirty="0">
                <a:ln>
                  <a:noFill/>
                </a:ln>
                <a:solidFill>
                  <a:srgbClr val="000000"/>
                </a:solidFill>
                <a:effectLst/>
                <a:highlight>
                  <a:srgbClr val="FFFF00"/>
                </a:highlight>
                <a:uLnTx/>
                <a:uFillTx/>
                <a:latin typeface="メイリオ"/>
                <a:ea typeface="メイリオ"/>
                <a:cs typeface="+mn-cs"/>
              </a:rPr>
              <a:t>フェーズ</a:t>
            </a:r>
            <a:r>
              <a:rPr kumimoji="1" lang="en-US" altLang="ja-JP" sz="900" b="1" i="0" u="none" strike="noStrike" kern="1200" cap="none" spc="0" normalizeH="0" baseline="0" noProof="0" dirty="0">
                <a:ln>
                  <a:noFill/>
                </a:ln>
                <a:solidFill>
                  <a:srgbClr val="000000"/>
                </a:solidFill>
                <a:effectLst/>
                <a:highlight>
                  <a:srgbClr val="FFFF00"/>
                </a:highlight>
                <a:uLnTx/>
                <a:uFillTx/>
                <a:latin typeface="メイリオ"/>
                <a:ea typeface="メイリオ"/>
                <a:cs typeface="+mn-cs"/>
              </a:rPr>
              <a:t>3</a:t>
            </a:r>
            <a:endParaRPr kumimoji="1" lang="ja-JP" altLang="en-US" sz="900" b="1" i="0" u="none" strike="noStrike" kern="1200" cap="none" spc="0" normalizeH="0" baseline="0" noProof="0" dirty="0">
              <a:ln>
                <a:noFill/>
              </a:ln>
              <a:solidFill>
                <a:srgbClr val="000000"/>
              </a:solidFill>
              <a:effectLst/>
              <a:highlight>
                <a:srgbClr val="FFFF00"/>
              </a:highlight>
              <a:uLnTx/>
              <a:uFillTx/>
              <a:latin typeface="メイリオ"/>
              <a:ea typeface="メイリオ"/>
              <a:cs typeface="+mn-cs"/>
            </a:endParaRPr>
          </a:p>
        </p:txBody>
      </p:sp>
      <p:sp>
        <p:nvSpPr>
          <p:cNvPr id="26" name="テキスト ボックス 25">
            <a:extLst>
              <a:ext uri="{FF2B5EF4-FFF2-40B4-BE49-F238E27FC236}">
                <a16:creationId xmlns:a16="http://schemas.microsoft.com/office/drawing/2014/main" id="{3A8FA1E7-C1CA-9BDC-AECA-7C8A3F6E60EF}"/>
              </a:ext>
            </a:extLst>
          </p:cNvPr>
          <p:cNvSpPr txBox="1"/>
          <p:nvPr/>
        </p:nvSpPr>
        <p:spPr>
          <a:xfrm>
            <a:off x="395535" y="3294401"/>
            <a:ext cx="732493" cy="2308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900" b="1" i="0" u="none" strike="noStrike" kern="1200" cap="none" spc="0" normalizeH="0" baseline="0" noProof="0" dirty="0">
                <a:ln>
                  <a:noFill/>
                </a:ln>
                <a:solidFill>
                  <a:srgbClr val="000000"/>
                </a:solidFill>
                <a:effectLst/>
                <a:highlight>
                  <a:srgbClr val="FFFF00"/>
                </a:highlight>
                <a:uLnTx/>
                <a:uFillTx/>
                <a:latin typeface="メイリオ"/>
                <a:ea typeface="メイリオ"/>
                <a:cs typeface="+mn-cs"/>
              </a:rPr>
              <a:t>継続活動</a:t>
            </a:r>
          </a:p>
        </p:txBody>
      </p:sp>
      <p:sp>
        <p:nvSpPr>
          <p:cNvPr id="27" name="テキスト ボックス 26">
            <a:extLst>
              <a:ext uri="{FF2B5EF4-FFF2-40B4-BE49-F238E27FC236}">
                <a16:creationId xmlns:a16="http://schemas.microsoft.com/office/drawing/2014/main" id="{43B2BCA6-6C19-247A-0DBE-BFE5C34E877C}"/>
              </a:ext>
            </a:extLst>
          </p:cNvPr>
          <p:cNvSpPr txBox="1"/>
          <p:nvPr/>
        </p:nvSpPr>
        <p:spPr>
          <a:xfrm>
            <a:off x="467542" y="1915300"/>
            <a:ext cx="732493" cy="2308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900" b="1" i="0" u="none" strike="noStrike" kern="1200" cap="none" spc="0" normalizeH="0" baseline="0" noProof="0" dirty="0">
                <a:ln>
                  <a:noFill/>
                </a:ln>
                <a:solidFill>
                  <a:srgbClr val="000000"/>
                </a:solidFill>
                <a:effectLst/>
                <a:highlight>
                  <a:srgbClr val="FFFF00"/>
                </a:highlight>
                <a:uLnTx/>
                <a:uFillTx/>
                <a:latin typeface="メイリオ"/>
                <a:ea typeface="メイリオ"/>
                <a:cs typeface="+mn-cs"/>
              </a:rPr>
              <a:t>継続活動</a:t>
            </a:r>
          </a:p>
        </p:txBody>
      </p:sp>
      <p:sp>
        <p:nvSpPr>
          <p:cNvPr id="28" name="テキスト ボックス 27">
            <a:extLst>
              <a:ext uri="{FF2B5EF4-FFF2-40B4-BE49-F238E27FC236}">
                <a16:creationId xmlns:a16="http://schemas.microsoft.com/office/drawing/2014/main" id="{D2F19772-7156-04F8-DBFA-F774A3CB258E}"/>
              </a:ext>
            </a:extLst>
          </p:cNvPr>
          <p:cNvSpPr txBox="1"/>
          <p:nvPr/>
        </p:nvSpPr>
        <p:spPr>
          <a:xfrm>
            <a:off x="463814" y="1519881"/>
            <a:ext cx="732493" cy="2308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900" b="1" i="0" u="none" strike="noStrike" kern="1200" cap="none" spc="0" normalizeH="0" baseline="0" noProof="0" dirty="0">
                <a:ln>
                  <a:noFill/>
                </a:ln>
                <a:solidFill>
                  <a:srgbClr val="000000"/>
                </a:solidFill>
                <a:effectLst/>
                <a:highlight>
                  <a:srgbClr val="FFFF00"/>
                </a:highlight>
                <a:uLnTx/>
                <a:uFillTx/>
                <a:latin typeface="メイリオ"/>
                <a:ea typeface="メイリオ"/>
                <a:cs typeface="+mn-cs"/>
              </a:rPr>
              <a:t>継続活動</a:t>
            </a:r>
          </a:p>
        </p:txBody>
      </p:sp>
      <p:sp>
        <p:nvSpPr>
          <p:cNvPr id="3" name="タイトル 4">
            <a:extLst>
              <a:ext uri="{FF2B5EF4-FFF2-40B4-BE49-F238E27FC236}">
                <a16:creationId xmlns:a16="http://schemas.microsoft.com/office/drawing/2014/main" id="{E9740C71-9BEB-429D-718F-A8A31C59DC29}"/>
              </a:ext>
            </a:extLst>
          </p:cNvPr>
          <p:cNvSpPr txBox="1">
            <a:spLocks/>
          </p:cNvSpPr>
          <p:nvPr/>
        </p:nvSpPr>
        <p:spPr>
          <a:xfrm>
            <a:off x="251520" y="134938"/>
            <a:ext cx="7440613" cy="350837"/>
          </a:xfrm>
          <a:prstGeom prst="rect">
            <a:avLst/>
          </a:prstGeom>
        </p:spPr>
        <p:txBody>
          <a:bodyPr/>
          <a:lst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a:lstStyle>
          <a:p>
            <a:r>
              <a:rPr lang="ja-JP" altLang="en-US" sz="1800" b="1"/>
              <a:t>３．活動進捗サマリと本日の報告対象（再掲）</a:t>
            </a:r>
            <a:endParaRPr lang="ja-JP" altLang="en-US" sz="1800" b="1" dirty="0"/>
          </a:p>
        </p:txBody>
      </p:sp>
      <p:sp>
        <p:nvSpPr>
          <p:cNvPr id="7" name="正方形/長方形 6">
            <a:extLst>
              <a:ext uri="{FF2B5EF4-FFF2-40B4-BE49-F238E27FC236}">
                <a16:creationId xmlns:a16="http://schemas.microsoft.com/office/drawing/2014/main" id="{FEBB192C-6841-1D23-DEC5-BF2535FB8688}"/>
              </a:ext>
            </a:extLst>
          </p:cNvPr>
          <p:cNvSpPr/>
          <p:nvPr/>
        </p:nvSpPr>
        <p:spPr>
          <a:xfrm>
            <a:off x="58167" y="4760229"/>
            <a:ext cx="9050338" cy="468000"/>
          </a:xfrm>
          <a:prstGeom prst="rect">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200" dirty="0">
              <a:solidFill>
                <a:schemeClr val="tx1"/>
              </a:solidFill>
              <a:latin typeface="+mn-ea"/>
            </a:endParaRPr>
          </a:p>
        </p:txBody>
      </p:sp>
    </p:spTree>
    <p:extLst>
      <p:ext uri="{BB962C8B-B14F-4D97-AF65-F5344CB8AC3E}">
        <p14:creationId xmlns:p14="http://schemas.microsoft.com/office/powerpoint/2010/main" val="1646957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3F30C9F-7CC2-6E95-0773-9BF7F368B62E}"/>
              </a:ext>
            </a:extLst>
          </p:cNvPr>
          <p:cNvSpPr/>
          <p:nvPr/>
        </p:nvSpPr>
        <p:spPr>
          <a:xfrm>
            <a:off x="72000" y="650078"/>
            <a:ext cx="9000000" cy="1224000"/>
          </a:xfrm>
          <a:prstGeom prst="rect">
            <a:avLst/>
          </a:prstGeom>
          <a:solidFill>
            <a:schemeClr val="bg2">
              <a:lumMod val="40000"/>
              <a:lumOff val="60000"/>
            </a:schemeClr>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lang="ja-JP" altLang="en-US" sz="1600" dirty="0">
                <a:solidFill>
                  <a:srgbClr val="000000"/>
                </a:solidFill>
                <a:latin typeface="メイリオ"/>
                <a:ea typeface="メイリオ"/>
              </a:rPr>
              <a:t>見積</a:t>
            </a:r>
            <a:r>
              <a:rPr lang="en-US" altLang="ja-JP" sz="1600" dirty="0">
                <a:solidFill>
                  <a:srgbClr val="000000"/>
                </a:solidFill>
                <a:latin typeface="メイリオ"/>
                <a:ea typeface="メイリオ"/>
              </a:rPr>
              <a:t>G</a:t>
            </a:r>
            <a:r>
              <a:rPr lang="ja-JP" altLang="en-US" sz="1600" dirty="0">
                <a:solidFill>
                  <a:srgbClr val="000000"/>
                </a:solidFill>
                <a:latin typeface="メイリオ"/>
                <a:ea typeface="メイリオ"/>
              </a:rPr>
              <a:t>と</a:t>
            </a:r>
            <a:r>
              <a:rPr lang="en-US" altLang="ja-JP" sz="1600" dirty="0">
                <a:solidFill>
                  <a:srgbClr val="000000"/>
                </a:solidFill>
                <a:latin typeface="メイリオ"/>
                <a:ea typeface="メイリオ"/>
              </a:rPr>
              <a:t>PJG</a:t>
            </a:r>
            <a:r>
              <a:rPr lang="ja-JP" altLang="en-US" sz="1600" dirty="0">
                <a:solidFill>
                  <a:srgbClr val="000000"/>
                </a:solidFill>
                <a:latin typeface="メイリオ"/>
                <a:ea typeface="メイリオ"/>
              </a:rPr>
              <a:t>の業務の一部については、前フェーズで機能重複（業務範囲は独立）を確認。</a:t>
            </a:r>
            <a:br>
              <a:rPr lang="en-US" altLang="ja-JP" sz="1600" dirty="0">
                <a:solidFill>
                  <a:srgbClr val="000000"/>
                </a:solidFill>
                <a:latin typeface="メイリオ"/>
                <a:ea typeface="メイリオ"/>
              </a:rPr>
            </a:br>
            <a:r>
              <a:rPr lang="ja-JP" altLang="en-US" sz="1600" dirty="0">
                <a:solidFill>
                  <a:srgbClr val="000000"/>
                </a:solidFill>
                <a:latin typeface="メイリオ"/>
                <a:ea typeface="メイリオ"/>
              </a:rPr>
              <a:t>対象業務の他、課題の有無を工数などのコスト踏まえ調査。</a:t>
            </a:r>
            <a:endParaRPr lang="en-US" altLang="ja-JP" sz="1600" dirty="0">
              <a:solidFill>
                <a:srgbClr val="000000"/>
              </a:solidFill>
              <a:latin typeface="メイリオ"/>
              <a:ea typeface="メイリオ"/>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endParaRPr lang="en-US" altLang="ja-JP" sz="1000" dirty="0">
              <a:solidFill>
                <a:srgbClr val="000000"/>
              </a:solidFill>
              <a:latin typeface="メイリオ"/>
              <a:ea typeface="メイリオ"/>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lang="ja-JP" altLang="en-US" sz="1600" dirty="0">
                <a:solidFill>
                  <a:srgbClr val="000000"/>
                </a:solidFill>
                <a:latin typeface="メイリオ"/>
                <a:ea typeface="メイリオ"/>
              </a:rPr>
              <a:t>コスト</a:t>
            </a:r>
            <a:r>
              <a:rPr lang="en-US" altLang="ja-JP" sz="1600" dirty="0">
                <a:solidFill>
                  <a:srgbClr val="000000"/>
                </a:solidFill>
                <a:latin typeface="メイリオ"/>
                <a:ea typeface="メイリオ"/>
              </a:rPr>
              <a:t>G</a:t>
            </a:r>
            <a:r>
              <a:rPr lang="ja-JP" altLang="en-US" sz="1600" dirty="0">
                <a:solidFill>
                  <a:srgbClr val="000000"/>
                </a:solidFill>
                <a:latin typeface="メイリオ"/>
                <a:ea typeface="メイリオ"/>
              </a:rPr>
              <a:t>の業務については、前フェーズでの効率化の候補業務が明確になっていない為、</a:t>
            </a:r>
            <a:br>
              <a:rPr lang="en-US" altLang="ja-JP" sz="1600" dirty="0">
                <a:solidFill>
                  <a:srgbClr val="000000"/>
                </a:solidFill>
                <a:latin typeface="メイリオ"/>
                <a:ea typeface="メイリオ"/>
              </a:rPr>
            </a:br>
            <a:r>
              <a:rPr lang="ja-JP" altLang="en-US" sz="1600" dirty="0">
                <a:solidFill>
                  <a:srgbClr val="000000"/>
                </a:solidFill>
                <a:latin typeface="メイリオ"/>
                <a:ea typeface="メイリオ"/>
              </a:rPr>
              <a:t>プロジェクト管理業務のコスト状況を鑑み、効率化出来得る箇所を調査。</a:t>
            </a:r>
            <a:endParaRPr lang="en-US" altLang="ja-JP" sz="1600" dirty="0">
              <a:solidFill>
                <a:srgbClr val="000000"/>
              </a:solidFill>
              <a:latin typeface="メイリオ"/>
              <a:ea typeface="メイリオ"/>
            </a:endParaRPr>
          </a:p>
        </p:txBody>
      </p:sp>
      <p:sp>
        <p:nvSpPr>
          <p:cNvPr id="3" name="タイトル 4">
            <a:extLst>
              <a:ext uri="{FF2B5EF4-FFF2-40B4-BE49-F238E27FC236}">
                <a16:creationId xmlns:a16="http://schemas.microsoft.com/office/drawing/2014/main" id="{853D9387-A196-BD35-C9CC-54DE60F58B80}"/>
              </a:ext>
            </a:extLst>
          </p:cNvPr>
          <p:cNvSpPr txBox="1">
            <a:spLocks/>
          </p:cNvSpPr>
          <p:nvPr/>
        </p:nvSpPr>
        <p:spPr>
          <a:xfrm>
            <a:off x="248234" y="135110"/>
            <a:ext cx="7492118" cy="349961"/>
          </a:xfrm>
          <a:prstGeom prst="rect">
            <a:avLst/>
          </a:prstGeom>
        </p:spPr>
        <p:txBody>
          <a:bodyPr/>
          <a:lst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1" lang="en-US" altLang="ja-JP" sz="1800" b="1" i="0" u="none" strike="noStrike" kern="1200" cap="none" spc="0" normalizeH="0" baseline="0" noProof="0" dirty="0">
                <a:ln>
                  <a:noFill/>
                </a:ln>
                <a:solidFill>
                  <a:srgbClr val="000000"/>
                </a:solidFill>
                <a:effectLst/>
                <a:uLnTx/>
                <a:uFillTx/>
                <a:latin typeface="メイリオ"/>
                <a:ea typeface="メイリオ"/>
                <a:cs typeface="+mj-cs"/>
              </a:rPr>
              <a:t>5-1</a:t>
            </a:r>
            <a:r>
              <a:rPr kumimoji="1" lang="ja-JP" altLang="en-US" sz="1800" b="1" i="0" u="none" strike="noStrike" kern="1200" cap="none" spc="0" normalizeH="0" baseline="0" noProof="0" dirty="0">
                <a:ln>
                  <a:noFill/>
                </a:ln>
                <a:solidFill>
                  <a:srgbClr val="000000"/>
                </a:solidFill>
                <a:effectLst/>
                <a:uLnTx/>
                <a:uFillTx/>
                <a:latin typeface="メイリオ"/>
                <a:ea typeface="メイリオ"/>
                <a:cs typeface="+mj-cs"/>
              </a:rPr>
              <a:t>．見積・実行フォロ業務の整流化効率化：効率化の初期仮説</a:t>
            </a:r>
          </a:p>
        </p:txBody>
      </p:sp>
      <p:sp>
        <p:nvSpPr>
          <p:cNvPr id="43" name="正方形/長方形 42">
            <a:extLst>
              <a:ext uri="{FF2B5EF4-FFF2-40B4-BE49-F238E27FC236}">
                <a16:creationId xmlns:a16="http://schemas.microsoft.com/office/drawing/2014/main" id="{EE2A2C4A-5FC4-6C2E-0189-FF2B441A2AE2}"/>
              </a:ext>
            </a:extLst>
          </p:cNvPr>
          <p:cNvSpPr/>
          <p:nvPr/>
        </p:nvSpPr>
        <p:spPr>
          <a:xfrm>
            <a:off x="107504" y="4595574"/>
            <a:ext cx="2196000" cy="360000"/>
          </a:xfrm>
          <a:prstGeom prst="rect">
            <a:avLst/>
          </a:prstGeom>
          <a:solidFill>
            <a:schemeClr val="tx2"/>
          </a:solidFill>
          <a:ln w="9525">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b="1" i="1" dirty="0">
                <a:solidFill>
                  <a:schemeClr val="bg1"/>
                </a:solidFill>
                <a:latin typeface="Meiryo UI" panose="020B0604030504040204" pitchFamily="50" charset="-128"/>
                <a:ea typeface="Meiryo UI" panose="020B0604030504040204" pitchFamily="50" charset="-128"/>
              </a:rPr>
              <a:t>長崎調達部</a:t>
            </a:r>
          </a:p>
        </p:txBody>
      </p:sp>
      <p:sp>
        <p:nvSpPr>
          <p:cNvPr id="44" name="正方形/長方形 43">
            <a:extLst>
              <a:ext uri="{FF2B5EF4-FFF2-40B4-BE49-F238E27FC236}">
                <a16:creationId xmlns:a16="http://schemas.microsoft.com/office/drawing/2014/main" id="{C1FA7B2C-FFD1-3844-62D1-C89F8C93878A}"/>
              </a:ext>
            </a:extLst>
          </p:cNvPr>
          <p:cNvSpPr/>
          <p:nvPr/>
        </p:nvSpPr>
        <p:spPr>
          <a:xfrm>
            <a:off x="107504" y="2579502"/>
            <a:ext cx="2196000" cy="360000"/>
          </a:xfrm>
          <a:prstGeom prst="rect">
            <a:avLst/>
          </a:prstGeom>
          <a:solidFill>
            <a:schemeClr val="tx2"/>
          </a:solidFill>
          <a:ln w="9525">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b="1" i="1" dirty="0">
                <a:solidFill>
                  <a:schemeClr val="bg1"/>
                </a:solidFill>
                <a:latin typeface="Meiryo UI" panose="020B0604030504040204" pitchFamily="50" charset="-128"/>
                <a:ea typeface="Meiryo UI" panose="020B0604030504040204" pitchFamily="50" charset="-128"/>
              </a:rPr>
              <a:t>営業部</a:t>
            </a:r>
          </a:p>
        </p:txBody>
      </p:sp>
      <p:sp>
        <p:nvSpPr>
          <p:cNvPr id="45" name="正方形/長方形 44">
            <a:extLst>
              <a:ext uri="{FF2B5EF4-FFF2-40B4-BE49-F238E27FC236}">
                <a16:creationId xmlns:a16="http://schemas.microsoft.com/office/drawing/2014/main" id="{F0766743-2634-4287-E26C-0C5742A769E2}"/>
              </a:ext>
            </a:extLst>
          </p:cNvPr>
          <p:cNvSpPr/>
          <p:nvPr/>
        </p:nvSpPr>
        <p:spPr>
          <a:xfrm>
            <a:off x="107504" y="3083520"/>
            <a:ext cx="2196000" cy="360000"/>
          </a:xfrm>
          <a:prstGeom prst="rect">
            <a:avLst/>
          </a:prstGeom>
          <a:solidFill>
            <a:srgbClr val="FF0000"/>
          </a:solidFill>
          <a:ln w="9525">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b="1" i="1" dirty="0">
                <a:solidFill>
                  <a:schemeClr val="bg1"/>
                </a:solidFill>
                <a:latin typeface="Meiryo UI" panose="020B0604030504040204" pitchFamily="50" charset="-128"/>
                <a:ea typeface="Meiryo UI" panose="020B0604030504040204" pitchFamily="50" charset="-128"/>
              </a:rPr>
              <a:t>プロジェクト推進部</a:t>
            </a:r>
          </a:p>
        </p:txBody>
      </p:sp>
      <p:sp>
        <p:nvSpPr>
          <p:cNvPr id="46" name="正方形/長方形 45">
            <a:extLst>
              <a:ext uri="{FF2B5EF4-FFF2-40B4-BE49-F238E27FC236}">
                <a16:creationId xmlns:a16="http://schemas.microsoft.com/office/drawing/2014/main" id="{40B26EFF-AF28-74AD-E7FB-BB3F3F064083}"/>
              </a:ext>
            </a:extLst>
          </p:cNvPr>
          <p:cNvSpPr/>
          <p:nvPr/>
        </p:nvSpPr>
        <p:spPr>
          <a:xfrm>
            <a:off x="107504" y="3587538"/>
            <a:ext cx="2196000" cy="360000"/>
          </a:xfrm>
          <a:prstGeom prst="rect">
            <a:avLst/>
          </a:prstGeom>
          <a:solidFill>
            <a:schemeClr val="tx2"/>
          </a:solidFill>
          <a:ln w="9525">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b="1" i="1" dirty="0">
                <a:solidFill>
                  <a:schemeClr val="bg1"/>
                </a:solidFill>
                <a:latin typeface="Meiryo UI" panose="020B0604030504040204" pitchFamily="50" charset="-128"/>
                <a:ea typeface="Meiryo UI" panose="020B0604030504040204" pitchFamily="50" charset="-128"/>
              </a:rPr>
              <a:t>計画部</a:t>
            </a:r>
          </a:p>
        </p:txBody>
      </p:sp>
      <p:sp>
        <p:nvSpPr>
          <p:cNvPr id="47" name="正方形/長方形 46">
            <a:extLst>
              <a:ext uri="{FF2B5EF4-FFF2-40B4-BE49-F238E27FC236}">
                <a16:creationId xmlns:a16="http://schemas.microsoft.com/office/drawing/2014/main" id="{C69B08DE-C993-1820-C243-C6611834EAD5}"/>
              </a:ext>
            </a:extLst>
          </p:cNvPr>
          <p:cNvSpPr/>
          <p:nvPr/>
        </p:nvSpPr>
        <p:spPr>
          <a:xfrm>
            <a:off x="107504" y="4091556"/>
            <a:ext cx="2196000" cy="360000"/>
          </a:xfrm>
          <a:prstGeom prst="rect">
            <a:avLst/>
          </a:prstGeom>
          <a:solidFill>
            <a:srgbClr val="FF0000"/>
          </a:solidFill>
          <a:ln w="9525">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b="1" i="1" dirty="0">
                <a:solidFill>
                  <a:schemeClr val="bg1"/>
                </a:solidFill>
                <a:latin typeface="Meiryo UI" panose="020B0604030504040204" pitchFamily="50" charset="-128"/>
                <a:ea typeface="Meiryo UI" panose="020B0604030504040204" pitchFamily="50" charset="-128"/>
              </a:rPr>
              <a:t>技術部</a:t>
            </a:r>
          </a:p>
        </p:txBody>
      </p:sp>
      <p:cxnSp>
        <p:nvCxnSpPr>
          <p:cNvPr id="48" name="直線コネクタ 47">
            <a:extLst>
              <a:ext uri="{FF2B5EF4-FFF2-40B4-BE49-F238E27FC236}">
                <a16:creationId xmlns:a16="http://schemas.microsoft.com/office/drawing/2014/main" id="{ED396641-F6A7-A4C5-84AF-A1836F21926B}"/>
              </a:ext>
            </a:extLst>
          </p:cNvPr>
          <p:cNvCxnSpPr>
            <a:cxnSpLocks/>
          </p:cNvCxnSpPr>
          <p:nvPr/>
        </p:nvCxnSpPr>
        <p:spPr>
          <a:xfrm>
            <a:off x="107504" y="3011511"/>
            <a:ext cx="4896000" cy="0"/>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6FED6739-CEB3-3706-16B4-85E0DFA505EC}"/>
              </a:ext>
            </a:extLst>
          </p:cNvPr>
          <p:cNvCxnSpPr>
            <a:cxnSpLocks/>
          </p:cNvCxnSpPr>
          <p:nvPr/>
        </p:nvCxnSpPr>
        <p:spPr>
          <a:xfrm>
            <a:off x="107504" y="3515529"/>
            <a:ext cx="4896000" cy="0"/>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E4208885-1103-A883-14EC-F571D3880661}"/>
              </a:ext>
            </a:extLst>
          </p:cNvPr>
          <p:cNvCxnSpPr>
            <a:cxnSpLocks/>
          </p:cNvCxnSpPr>
          <p:nvPr/>
        </p:nvCxnSpPr>
        <p:spPr>
          <a:xfrm>
            <a:off x="107504" y="4019547"/>
            <a:ext cx="4896000" cy="0"/>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7AB7ED69-BD50-E94C-3C75-1F86986BD990}"/>
              </a:ext>
            </a:extLst>
          </p:cNvPr>
          <p:cNvCxnSpPr>
            <a:cxnSpLocks/>
          </p:cNvCxnSpPr>
          <p:nvPr/>
        </p:nvCxnSpPr>
        <p:spPr>
          <a:xfrm>
            <a:off x="107504" y="4523566"/>
            <a:ext cx="4896000" cy="0"/>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30059BE9-BB0D-4EE8-0CD0-BACA960522D0}"/>
              </a:ext>
            </a:extLst>
          </p:cNvPr>
          <p:cNvCxnSpPr>
            <a:cxnSpLocks/>
          </p:cNvCxnSpPr>
          <p:nvPr/>
        </p:nvCxnSpPr>
        <p:spPr>
          <a:xfrm>
            <a:off x="107504" y="5963610"/>
            <a:ext cx="4896000" cy="0"/>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62976BC9-45FA-F720-9A36-9B56DE8739B8}"/>
              </a:ext>
            </a:extLst>
          </p:cNvPr>
          <p:cNvCxnSpPr>
            <a:cxnSpLocks/>
          </p:cNvCxnSpPr>
          <p:nvPr/>
        </p:nvCxnSpPr>
        <p:spPr>
          <a:xfrm>
            <a:off x="107504" y="6467628"/>
            <a:ext cx="3960000" cy="0"/>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3026AAFD-13F6-E25B-CC1B-0E29CC6BF006}"/>
              </a:ext>
            </a:extLst>
          </p:cNvPr>
          <p:cNvCxnSpPr>
            <a:cxnSpLocks/>
          </p:cNvCxnSpPr>
          <p:nvPr/>
        </p:nvCxnSpPr>
        <p:spPr>
          <a:xfrm>
            <a:off x="107504" y="4999319"/>
            <a:ext cx="4896000" cy="0"/>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4EB41DFA-816E-032A-C7D8-F6904E71E989}"/>
              </a:ext>
            </a:extLst>
          </p:cNvPr>
          <p:cNvCxnSpPr>
            <a:cxnSpLocks/>
          </p:cNvCxnSpPr>
          <p:nvPr/>
        </p:nvCxnSpPr>
        <p:spPr>
          <a:xfrm>
            <a:off x="107504" y="2507494"/>
            <a:ext cx="4896000" cy="0"/>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sp>
        <p:nvSpPr>
          <p:cNvPr id="59" name="テキスト ボックス 58">
            <a:extLst>
              <a:ext uri="{FF2B5EF4-FFF2-40B4-BE49-F238E27FC236}">
                <a16:creationId xmlns:a16="http://schemas.microsoft.com/office/drawing/2014/main" id="{B38F42CC-8F14-3D75-6AD0-26DF6B01EAFE}"/>
              </a:ext>
            </a:extLst>
          </p:cNvPr>
          <p:cNvSpPr txBox="1"/>
          <p:nvPr/>
        </p:nvSpPr>
        <p:spPr>
          <a:xfrm>
            <a:off x="2460005" y="2228309"/>
            <a:ext cx="492443" cy="276999"/>
          </a:xfrm>
          <a:prstGeom prst="rect">
            <a:avLst/>
          </a:prstGeom>
          <a:noFill/>
        </p:spPr>
        <p:txBody>
          <a:bodyPr wrap="none" rtlCol="0">
            <a:spAutoFit/>
          </a:bodyPr>
          <a:lstStyle>
            <a:defPPr>
              <a:defRPr lang="ja-JP"/>
            </a:defPPr>
            <a:lvl1pPr algn="ctr">
              <a:defRPr sz="1200" b="1"/>
            </a:lvl1pPr>
          </a:lstStyle>
          <a:p>
            <a:r>
              <a:rPr lang="ja-JP" altLang="en-US"/>
              <a:t>見積</a:t>
            </a:r>
            <a:endParaRPr lang="zh-TW" altLang="en-US" dirty="0"/>
          </a:p>
        </p:txBody>
      </p:sp>
      <p:sp>
        <p:nvSpPr>
          <p:cNvPr id="60" name="テキスト ボックス 59">
            <a:extLst>
              <a:ext uri="{FF2B5EF4-FFF2-40B4-BE49-F238E27FC236}">
                <a16:creationId xmlns:a16="http://schemas.microsoft.com/office/drawing/2014/main" id="{DD53E907-E343-F6E2-37F2-E56E8E254FB4}"/>
              </a:ext>
            </a:extLst>
          </p:cNvPr>
          <p:cNvSpPr txBox="1"/>
          <p:nvPr/>
        </p:nvSpPr>
        <p:spPr>
          <a:xfrm>
            <a:off x="3147204" y="2228309"/>
            <a:ext cx="968265" cy="335169"/>
          </a:xfrm>
          <a:prstGeom prst="rect">
            <a:avLst/>
          </a:prstGeom>
          <a:noFill/>
        </p:spPr>
        <p:txBody>
          <a:bodyPr wrap="none" rtlCol="0">
            <a:spAutoFit/>
          </a:bodyPr>
          <a:lstStyle/>
          <a:p>
            <a:pPr algn="ctr"/>
            <a:r>
              <a:rPr kumimoji="1" lang="ja-JP" altLang="en-US" sz="1200" b="1" dirty="0"/>
              <a:t>工程管理</a:t>
            </a:r>
            <a:endParaRPr kumimoji="1" lang="zh-TW" altLang="en-US" sz="1200" b="1" dirty="0"/>
          </a:p>
        </p:txBody>
      </p:sp>
      <p:sp>
        <p:nvSpPr>
          <p:cNvPr id="64" name="楕円 63">
            <a:extLst>
              <a:ext uri="{FF2B5EF4-FFF2-40B4-BE49-F238E27FC236}">
                <a16:creationId xmlns:a16="http://schemas.microsoft.com/office/drawing/2014/main" id="{700CD71E-E004-0F1A-D866-54541AD00E26}"/>
              </a:ext>
            </a:extLst>
          </p:cNvPr>
          <p:cNvSpPr/>
          <p:nvPr/>
        </p:nvSpPr>
        <p:spPr>
          <a:xfrm>
            <a:off x="2580226" y="2633502"/>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5" name="楕円 64">
            <a:extLst>
              <a:ext uri="{FF2B5EF4-FFF2-40B4-BE49-F238E27FC236}">
                <a16:creationId xmlns:a16="http://schemas.microsoft.com/office/drawing/2014/main" id="{FF519176-7B01-6185-309A-E814C8A2A2D0}"/>
              </a:ext>
            </a:extLst>
          </p:cNvPr>
          <p:cNvSpPr/>
          <p:nvPr/>
        </p:nvSpPr>
        <p:spPr>
          <a:xfrm>
            <a:off x="2580226" y="3137520"/>
            <a:ext cx="251999" cy="2519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6" name="楕円 65">
            <a:extLst>
              <a:ext uri="{FF2B5EF4-FFF2-40B4-BE49-F238E27FC236}">
                <a16:creationId xmlns:a16="http://schemas.microsoft.com/office/drawing/2014/main" id="{0BAD80FE-2FD3-A9E3-3738-0B9C4F3BE61A}"/>
              </a:ext>
            </a:extLst>
          </p:cNvPr>
          <p:cNvSpPr/>
          <p:nvPr/>
        </p:nvSpPr>
        <p:spPr>
          <a:xfrm>
            <a:off x="2580226" y="3641538"/>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7" name="楕円 66">
            <a:extLst>
              <a:ext uri="{FF2B5EF4-FFF2-40B4-BE49-F238E27FC236}">
                <a16:creationId xmlns:a16="http://schemas.microsoft.com/office/drawing/2014/main" id="{67CF5BC6-2B7F-8817-F4B9-D4819F70A14B}"/>
              </a:ext>
            </a:extLst>
          </p:cNvPr>
          <p:cNvSpPr/>
          <p:nvPr/>
        </p:nvSpPr>
        <p:spPr>
          <a:xfrm>
            <a:off x="2580226" y="4145555"/>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1" name="楕円 70">
            <a:extLst>
              <a:ext uri="{FF2B5EF4-FFF2-40B4-BE49-F238E27FC236}">
                <a16:creationId xmlns:a16="http://schemas.microsoft.com/office/drawing/2014/main" id="{3F1C93E4-DD81-8316-75A8-6D9D2C47466C}"/>
              </a:ext>
            </a:extLst>
          </p:cNvPr>
          <p:cNvSpPr/>
          <p:nvPr/>
        </p:nvSpPr>
        <p:spPr>
          <a:xfrm>
            <a:off x="3498807" y="3137520"/>
            <a:ext cx="251999" cy="2519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楕円 71">
            <a:extLst>
              <a:ext uri="{FF2B5EF4-FFF2-40B4-BE49-F238E27FC236}">
                <a16:creationId xmlns:a16="http://schemas.microsoft.com/office/drawing/2014/main" id="{2BEAF2DD-4685-33FA-36D6-F2BE1BC4B1EA}"/>
              </a:ext>
            </a:extLst>
          </p:cNvPr>
          <p:cNvSpPr/>
          <p:nvPr/>
        </p:nvSpPr>
        <p:spPr>
          <a:xfrm>
            <a:off x="3498807" y="3641538"/>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楕円 72">
            <a:extLst>
              <a:ext uri="{FF2B5EF4-FFF2-40B4-BE49-F238E27FC236}">
                <a16:creationId xmlns:a16="http://schemas.microsoft.com/office/drawing/2014/main" id="{C6D73DC9-3715-AAC1-AF0F-ADDF5D1A1C6F}"/>
              </a:ext>
            </a:extLst>
          </p:cNvPr>
          <p:cNvSpPr/>
          <p:nvPr/>
        </p:nvSpPr>
        <p:spPr>
          <a:xfrm>
            <a:off x="3498807" y="4145555"/>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正方形/長方形 73">
            <a:extLst>
              <a:ext uri="{FF2B5EF4-FFF2-40B4-BE49-F238E27FC236}">
                <a16:creationId xmlns:a16="http://schemas.microsoft.com/office/drawing/2014/main" id="{BFBF905B-D85B-392D-91F8-81F1C0D67913}"/>
              </a:ext>
            </a:extLst>
          </p:cNvPr>
          <p:cNvSpPr/>
          <p:nvPr/>
        </p:nvSpPr>
        <p:spPr>
          <a:xfrm>
            <a:off x="107504" y="6035619"/>
            <a:ext cx="2196000" cy="360000"/>
          </a:xfrm>
          <a:prstGeom prst="rect">
            <a:avLst/>
          </a:prstGeom>
          <a:solidFill>
            <a:schemeClr val="tx2"/>
          </a:solidFill>
          <a:ln w="9525">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b="1" i="1" dirty="0">
                <a:solidFill>
                  <a:schemeClr val="bg1"/>
                </a:solidFill>
                <a:latin typeface="Meiryo UI" panose="020B0604030504040204" pitchFamily="50" charset="-128"/>
                <a:ea typeface="Meiryo UI" panose="020B0604030504040204" pitchFamily="50" charset="-128"/>
              </a:rPr>
              <a:t>長崎品質保証部</a:t>
            </a:r>
          </a:p>
        </p:txBody>
      </p:sp>
      <p:sp>
        <p:nvSpPr>
          <p:cNvPr id="75" name="正方形/長方形 74">
            <a:extLst>
              <a:ext uri="{FF2B5EF4-FFF2-40B4-BE49-F238E27FC236}">
                <a16:creationId xmlns:a16="http://schemas.microsoft.com/office/drawing/2014/main" id="{1AA6CB39-DB52-F747-6CC8-0ED250A7CDA4}"/>
              </a:ext>
            </a:extLst>
          </p:cNvPr>
          <p:cNvSpPr/>
          <p:nvPr/>
        </p:nvSpPr>
        <p:spPr>
          <a:xfrm>
            <a:off x="107504" y="5027583"/>
            <a:ext cx="2196000" cy="360000"/>
          </a:xfrm>
          <a:prstGeom prst="rect">
            <a:avLst/>
          </a:prstGeom>
          <a:solidFill>
            <a:schemeClr val="tx2"/>
          </a:solidFill>
          <a:ln w="9525">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b="1" i="1" dirty="0">
                <a:solidFill>
                  <a:schemeClr val="bg1"/>
                </a:solidFill>
                <a:latin typeface="Meiryo UI" panose="020B0604030504040204" pitchFamily="50" charset="-128"/>
                <a:ea typeface="Meiryo UI" panose="020B0604030504040204" pitchFamily="50" charset="-128"/>
              </a:rPr>
              <a:t>製造部</a:t>
            </a:r>
          </a:p>
        </p:txBody>
      </p:sp>
      <p:sp>
        <p:nvSpPr>
          <p:cNvPr id="76" name="正方形/長方形 75">
            <a:extLst>
              <a:ext uri="{FF2B5EF4-FFF2-40B4-BE49-F238E27FC236}">
                <a16:creationId xmlns:a16="http://schemas.microsoft.com/office/drawing/2014/main" id="{4046E042-708C-60E7-293D-D3700E4EB964}"/>
              </a:ext>
            </a:extLst>
          </p:cNvPr>
          <p:cNvSpPr/>
          <p:nvPr/>
        </p:nvSpPr>
        <p:spPr>
          <a:xfrm>
            <a:off x="107504" y="5531601"/>
            <a:ext cx="2196000" cy="360000"/>
          </a:xfrm>
          <a:prstGeom prst="rect">
            <a:avLst/>
          </a:prstGeom>
          <a:solidFill>
            <a:schemeClr val="tx2"/>
          </a:solidFill>
          <a:ln w="9525">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b="1" i="1" dirty="0">
                <a:solidFill>
                  <a:schemeClr val="bg1"/>
                </a:solidFill>
                <a:latin typeface="Meiryo UI" panose="020B0604030504040204" pitchFamily="50" charset="-128"/>
                <a:ea typeface="Meiryo UI" panose="020B0604030504040204" pitchFamily="50" charset="-128"/>
              </a:rPr>
              <a:t>建設部</a:t>
            </a:r>
          </a:p>
        </p:txBody>
      </p:sp>
      <p:sp>
        <p:nvSpPr>
          <p:cNvPr id="77" name="楕円 76">
            <a:extLst>
              <a:ext uri="{FF2B5EF4-FFF2-40B4-BE49-F238E27FC236}">
                <a16:creationId xmlns:a16="http://schemas.microsoft.com/office/drawing/2014/main" id="{F9C581EF-DFB4-C022-6CF9-6C39BCB47D78}"/>
              </a:ext>
            </a:extLst>
          </p:cNvPr>
          <p:cNvSpPr/>
          <p:nvPr/>
        </p:nvSpPr>
        <p:spPr>
          <a:xfrm>
            <a:off x="2580226" y="6089619"/>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8" name="楕円 77">
            <a:extLst>
              <a:ext uri="{FF2B5EF4-FFF2-40B4-BE49-F238E27FC236}">
                <a16:creationId xmlns:a16="http://schemas.microsoft.com/office/drawing/2014/main" id="{434BF4CE-5A15-CDC2-55EC-7FE239E534D0}"/>
              </a:ext>
            </a:extLst>
          </p:cNvPr>
          <p:cNvSpPr/>
          <p:nvPr/>
        </p:nvSpPr>
        <p:spPr>
          <a:xfrm>
            <a:off x="2580226" y="5086545"/>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9" name="楕円 78">
            <a:extLst>
              <a:ext uri="{FF2B5EF4-FFF2-40B4-BE49-F238E27FC236}">
                <a16:creationId xmlns:a16="http://schemas.microsoft.com/office/drawing/2014/main" id="{3893D446-E118-CB77-D3DE-A92FBF4D5843}"/>
              </a:ext>
            </a:extLst>
          </p:cNvPr>
          <p:cNvSpPr/>
          <p:nvPr/>
        </p:nvSpPr>
        <p:spPr>
          <a:xfrm>
            <a:off x="2580226" y="5585601"/>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1" name="楕円 80">
            <a:extLst>
              <a:ext uri="{FF2B5EF4-FFF2-40B4-BE49-F238E27FC236}">
                <a16:creationId xmlns:a16="http://schemas.microsoft.com/office/drawing/2014/main" id="{4737A2F4-8319-766A-9474-8D28E364D9D3}"/>
              </a:ext>
            </a:extLst>
          </p:cNvPr>
          <p:cNvSpPr/>
          <p:nvPr/>
        </p:nvSpPr>
        <p:spPr>
          <a:xfrm>
            <a:off x="3498807" y="5585601"/>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6" name="直線コネクタ 85">
            <a:extLst>
              <a:ext uri="{FF2B5EF4-FFF2-40B4-BE49-F238E27FC236}">
                <a16:creationId xmlns:a16="http://schemas.microsoft.com/office/drawing/2014/main" id="{57363F5C-C2AA-039D-3E88-A995FAB64453}"/>
              </a:ext>
            </a:extLst>
          </p:cNvPr>
          <p:cNvCxnSpPr>
            <a:cxnSpLocks/>
          </p:cNvCxnSpPr>
          <p:nvPr/>
        </p:nvCxnSpPr>
        <p:spPr>
          <a:xfrm>
            <a:off x="107504" y="5459591"/>
            <a:ext cx="4896000" cy="0"/>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sp>
        <p:nvSpPr>
          <p:cNvPr id="88" name="右中かっこ 87">
            <a:extLst>
              <a:ext uri="{FF2B5EF4-FFF2-40B4-BE49-F238E27FC236}">
                <a16:creationId xmlns:a16="http://schemas.microsoft.com/office/drawing/2014/main" id="{E07F6450-CF66-9A9C-C9D3-C084372BE3A0}"/>
              </a:ext>
            </a:extLst>
          </p:cNvPr>
          <p:cNvSpPr/>
          <p:nvPr/>
        </p:nvSpPr>
        <p:spPr>
          <a:xfrm>
            <a:off x="5382277" y="2505308"/>
            <a:ext cx="180000" cy="3960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89" name="テキスト ボックス 88">
            <a:extLst>
              <a:ext uri="{FF2B5EF4-FFF2-40B4-BE49-F238E27FC236}">
                <a16:creationId xmlns:a16="http://schemas.microsoft.com/office/drawing/2014/main" id="{78D81C36-6DDA-F5DC-F6A1-99270E9DD303}"/>
              </a:ext>
            </a:extLst>
          </p:cNvPr>
          <p:cNvSpPr txBox="1"/>
          <p:nvPr/>
        </p:nvSpPr>
        <p:spPr>
          <a:xfrm>
            <a:off x="5613018" y="2383089"/>
            <a:ext cx="615553" cy="2067233"/>
          </a:xfrm>
          <a:prstGeom prst="rect">
            <a:avLst/>
          </a:prstGeom>
          <a:noFill/>
        </p:spPr>
        <p:txBody>
          <a:bodyPr vert="eaVert" wrap="none" rtlCol="0">
            <a:spAutoFit/>
          </a:bodyPr>
          <a:lstStyle/>
          <a:p>
            <a:pPr algn="ctr"/>
            <a:r>
              <a:rPr kumimoji="1" lang="ja-JP" altLang="en-US" sz="1400" b="1" dirty="0"/>
              <a:t>機能重複</a:t>
            </a:r>
            <a:r>
              <a:rPr lang="ja-JP" altLang="en-US" sz="1400" b="1" dirty="0"/>
              <a:t>・</a:t>
            </a:r>
            <a:r>
              <a:rPr kumimoji="1" lang="ja-JP" altLang="en-US" sz="1400" b="1" dirty="0"/>
              <a:t>業務範囲独立</a:t>
            </a:r>
            <a:endParaRPr kumimoji="1" lang="en-US" altLang="ja-JP" sz="1400" b="1" dirty="0"/>
          </a:p>
          <a:p>
            <a:pPr algn="ctr"/>
            <a:r>
              <a:rPr lang="ja-JP" altLang="en-US" sz="1400" b="1" dirty="0"/>
              <a:t>（見積</a:t>
            </a:r>
            <a:r>
              <a:rPr lang="en-US" altLang="ja-JP" sz="1400" b="1" dirty="0"/>
              <a:t>G</a:t>
            </a:r>
            <a:r>
              <a:rPr lang="ja-JP" altLang="en-US" sz="1400" b="1" dirty="0"/>
              <a:t>・</a:t>
            </a:r>
            <a:r>
              <a:rPr lang="en-US" altLang="ja-JP" sz="1400" b="1" dirty="0"/>
              <a:t>PJG</a:t>
            </a:r>
            <a:r>
              <a:rPr lang="ja-JP" altLang="en-US" sz="1400" b="1" dirty="0"/>
              <a:t>業務）</a:t>
            </a:r>
            <a:endParaRPr kumimoji="1" lang="en-US" altLang="ja-JP" sz="1400" b="1" dirty="0"/>
          </a:p>
        </p:txBody>
      </p:sp>
      <p:sp>
        <p:nvSpPr>
          <p:cNvPr id="90" name="加算記号 89">
            <a:extLst>
              <a:ext uri="{FF2B5EF4-FFF2-40B4-BE49-F238E27FC236}">
                <a16:creationId xmlns:a16="http://schemas.microsoft.com/office/drawing/2014/main" id="{90D279EB-04D0-A645-FFD3-5DA3F26347EF}"/>
              </a:ext>
            </a:extLst>
          </p:cNvPr>
          <p:cNvSpPr/>
          <p:nvPr/>
        </p:nvSpPr>
        <p:spPr>
          <a:xfrm>
            <a:off x="5650794" y="4491641"/>
            <a:ext cx="540000" cy="540000"/>
          </a:xfrm>
          <a:prstGeom prst="mathPlus">
            <a:avLst>
              <a:gd name="adj1" fmla="val 12665"/>
            </a:avLst>
          </a:prstGeom>
          <a:solidFill>
            <a:schemeClr val="tx2"/>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200" dirty="0">
              <a:solidFill>
                <a:schemeClr val="tx1"/>
              </a:solidFill>
              <a:latin typeface="+mn-ea"/>
            </a:endParaRPr>
          </a:p>
        </p:txBody>
      </p:sp>
      <p:sp>
        <p:nvSpPr>
          <p:cNvPr id="91" name="テキスト ボックス 90">
            <a:extLst>
              <a:ext uri="{FF2B5EF4-FFF2-40B4-BE49-F238E27FC236}">
                <a16:creationId xmlns:a16="http://schemas.microsoft.com/office/drawing/2014/main" id="{7BAC55F5-D585-5517-F573-B8C72F0CD982}"/>
              </a:ext>
            </a:extLst>
          </p:cNvPr>
          <p:cNvSpPr txBox="1"/>
          <p:nvPr/>
        </p:nvSpPr>
        <p:spPr>
          <a:xfrm>
            <a:off x="5469389" y="5066600"/>
            <a:ext cx="902811" cy="738664"/>
          </a:xfrm>
          <a:prstGeom prst="rect">
            <a:avLst/>
          </a:prstGeom>
          <a:noFill/>
        </p:spPr>
        <p:txBody>
          <a:bodyPr wrap="none" rtlCol="0">
            <a:spAutoFit/>
          </a:bodyPr>
          <a:lstStyle/>
          <a:p>
            <a:pPr algn="ctr"/>
            <a:r>
              <a:rPr lang="ja-JP" altLang="en-US" sz="1400" b="1" dirty="0"/>
              <a:t>業務量</a:t>
            </a:r>
            <a:endParaRPr lang="en-US" altLang="ja-JP" sz="1400" b="1" dirty="0"/>
          </a:p>
          <a:p>
            <a:pPr algn="ctr"/>
            <a:r>
              <a:rPr lang="ja-JP" altLang="en-US" sz="1400" b="1" dirty="0"/>
              <a:t>分析で</a:t>
            </a:r>
            <a:endParaRPr lang="en-US" altLang="ja-JP" sz="1400" b="1" dirty="0"/>
          </a:p>
          <a:p>
            <a:pPr algn="ctr"/>
            <a:r>
              <a:rPr lang="ja-JP" altLang="en-US" sz="1400" b="1" dirty="0"/>
              <a:t>課題調査</a:t>
            </a:r>
            <a:endParaRPr kumimoji="1" lang="zh-TW" altLang="en-US" sz="1400" b="1" dirty="0"/>
          </a:p>
        </p:txBody>
      </p:sp>
      <p:sp>
        <p:nvSpPr>
          <p:cNvPr id="92" name="矢印: 左右 91">
            <a:extLst>
              <a:ext uri="{FF2B5EF4-FFF2-40B4-BE49-F238E27FC236}">
                <a16:creationId xmlns:a16="http://schemas.microsoft.com/office/drawing/2014/main" id="{D8C52BD2-92E5-CDE6-C5B4-0544BE9ACD4D}"/>
              </a:ext>
            </a:extLst>
          </p:cNvPr>
          <p:cNvSpPr/>
          <p:nvPr/>
        </p:nvSpPr>
        <p:spPr>
          <a:xfrm>
            <a:off x="6192280" y="4280007"/>
            <a:ext cx="900000" cy="432000"/>
          </a:xfrm>
          <a:prstGeom prst="leftRightArrow">
            <a:avLst/>
          </a:prstGeom>
          <a:solidFill>
            <a:schemeClr val="bg2">
              <a:lumMod val="20000"/>
              <a:lumOff val="80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200" dirty="0">
              <a:solidFill>
                <a:schemeClr val="tx1"/>
              </a:solidFill>
              <a:latin typeface="+mn-ea"/>
            </a:endParaRPr>
          </a:p>
        </p:txBody>
      </p:sp>
      <p:sp>
        <p:nvSpPr>
          <p:cNvPr id="93" name="テキスト ボックス 92">
            <a:extLst>
              <a:ext uri="{FF2B5EF4-FFF2-40B4-BE49-F238E27FC236}">
                <a16:creationId xmlns:a16="http://schemas.microsoft.com/office/drawing/2014/main" id="{16B95927-E724-E3F5-7479-AEF5563DDE41}"/>
              </a:ext>
            </a:extLst>
          </p:cNvPr>
          <p:cNvSpPr txBox="1"/>
          <p:nvPr/>
        </p:nvSpPr>
        <p:spPr>
          <a:xfrm>
            <a:off x="7628627" y="1868269"/>
            <a:ext cx="902811" cy="307777"/>
          </a:xfrm>
          <a:prstGeom prst="rect">
            <a:avLst/>
          </a:prstGeom>
          <a:noFill/>
        </p:spPr>
        <p:txBody>
          <a:bodyPr wrap="none" rtlCol="0">
            <a:spAutoFit/>
          </a:bodyPr>
          <a:lstStyle/>
          <a:p>
            <a:pPr algn="ctr"/>
            <a:r>
              <a:rPr kumimoji="1" lang="ja-JP" altLang="en-US" sz="1400" b="1" dirty="0"/>
              <a:t>困りごと</a:t>
            </a:r>
            <a:endParaRPr kumimoji="1" lang="zh-TW" altLang="en-US" sz="1400" b="1" dirty="0"/>
          </a:p>
        </p:txBody>
      </p:sp>
      <p:cxnSp>
        <p:nvCxnSpPr>
          <p:cNvPr id="95" name="直線コネクタ 94">
            <a:extLst>
              <a:ext uri="{FF2B5EF4-FFF2-40B4-BE49-F238E27FC236}">
                <a16:creationId xmlns:a16="http://schemas.microsoft.com/office/drawing/2014/main" id="{E21FF039-BB06-DC85-4ABC-65884534B34A}"/>
              </a:ext>
            </a:extLst>
          </p:cNvPr>
          <p:cNvCxnSpPr>
            <a:cxnSpLocks/>
          </p:cNvCxnSpPr>
          <p:nvPr/>
        </p:nvCxnSpPr>
        <p:spPr>
          <a:xfrm>
            <a:off x="7180031" y="2162538"/>
            <a:ext cx="1800000" cy="0"/>
          </a:xfrm>
          <a:prstGeom prst="line">
            <a:avLst/>
          </a:prstGeom>
        </p:spPr>
        <p:style>
          <a:lnRef idx="1">
            <a:schemeClr val="accent1"/>
          </a:lnRef>
          <a:fillRef idx="0">
            <a:schemeClr val="accent1"/>
          </a:fillRef>
          <a:effectRef idx="0">
            <a:schemeClr val="accent1"/>
          </a:effectRef>
          <a:fontRef idx="minor">
            <a:schemeClr val="tx1"/>
          </a:fontRef>
        </p:style>
      </p:cxnSp>
      <p:sp>
        <p:nvSpPr>
          <p:cNvPr id="96" name="テキスト ボックス 95">
            <a:extLst>
              <a:ext uri="{FF2B5EF4-FFF2-40B4-BE49-F238E27FC236}">
                <a16:creationId xmlns:a16="http://schemas.microsoft.com/office/drawing/2014/main" id="{7C4616B6-E34F-A900-4EED-2F54BF16C304}"/>
              </a:ext>
            </a:extLst>
          </p:cNvPr>
          <p:cNvSpPr txBox="1"/>
          <p:nvPr/>
        </p:nvSpPr>
        <p:spPr>
          <a:xfrm>
            <a:off x="7180030" y="2475194"/>
            <a:ext cx="1891969" cy="1169551"/>
          </a:xfrm>
          <a:prstGeom prst="rect">
            <a:avLst/>
          </a:prstGeom>
          <a:noFill/>
        </p:spPr>
        <p:txBody>
          <a:bodyPr wrap="square" rtlCol="0">
            <a:spAutoFit/>
          </a:bodyPr>
          <a:lstStyle/>
          <a:p>
            <a:pPr marL="285750" indent="-285750">
              <a:buFont typeface="Arial" panose="020B0604020202020204" pitchFamily="34" charset="0"/>
              <a:buChar char="•"/>
            </a:pPr>
            <a:r>
              <a:rPr lang="ja-JP" altLang="en-US" sz="1400" b="1" dirty="0"/>
              <a:t>業務量分析の他、</a:t>
            </a:r>
            <a:br>
              <a:rPr lang="en-US" altLang="ja-JP" sz="1400" b="1" dirty="0"/>
            </a:br>
            <a:r>
              <a:rPr lang="ja-JP" altLang="en-US" sz="1400" b="1" dirty="0"/>
              <a:t>課題の明確化には</a:t>
            </a:r>
            <a:br>
              <a:rPr lang="en-US" altLang="ja-JP" sz="1400" b="1" dirty="0"/>
            </a:br>
            <a:r>
              <a:rPr lang="ja-JP" altLang="en-US" sz="1400" b="1" dirty="0"/>
              <a:t>部門を横断した</a:t>
            </a:r>
            <a:br>
              <a:rPr lang="en-US" altLang="ja-JP" sz="1400" b="1" dirty="0"/>
            </a:br>
            <a:r>
              <a:rPr lang="ja-JP" altLang="en-US" sz="1400" b="1" dirty="0"/>
              <a:t>多角的な視野での</a:t>
            </a:r>
            <a:br>
              <a:rPr lang="en-US" altLang="ja-JP" sz="1400" b="1" dirty="0"/>
            </a:br>
            <a:r>
              <a:rPr lang="ja-JP" altLang="en-US" sz="1400" b="1" dirty="0"/>
              <a:t>確認が必要</a:t>
            </a:r>
            <a:endParaRPr lang="en-US" altLang="ja-JP" sz="1400" b="1" dirty="0"/>
          </a:p>
        </p:txBody>
      </p:sp>
      <p:sp>
        <p:nvSpPr>
          <p:cNvPr id="97" name="二等辺三角形 96">
            <a:extLst>
              <a:ext uri="{FF2B5EF4-FFF2-40B4-BE49-F238E27FC236}">
                <a16:creationId xmlns:a16="http://schemas.microsoft.com/office/drawing/2014/main" id="{816553DC-B71A-234E-88D0-4F12423C5AEA}"/>
              </a:ext>
            </a:extLst>
          </p:cNvPr>
          <p:cNvSpPr/>
          <p:nvPr/>
        </p:nvSpPr>
        <p:spPr>
          <a:xfrm rot="10800000">
            <a:off x="7450031" y="3789040"/>
            <a:ext cx="1260000" cy="504000"/>
          </a:xfrm>
          <a:prstGeom prst="triangle">
            <a:avLst/>
          </a:prstGeom>
          <a:solidFill>
            <a:schemeClr val="tx2"/>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200" dirty="0">
              <a:solidFill>
                <a:schemeClr val="tx1"/>
              </a:solidFill>
              <a:latin typeface="+mn-ea"/>
            </a:endParaRPr>
          </a:p>
        </p:txBody>
      </p:sp>
      <p:sp>
        <p:nvSpPr>
          <p:cNvPr id="98" name="テキスト ボックス 97">
            <a:extLst>
              <a:ext uri="{FF2B5EF4-FFF2-40B4-BE49-F238E27FC236}">
                <a16:creationId xmlns:a16="http://schemas.microsoft.com/office/drawing/2014/main" id="{A0990041-DD43-3779-2240-6665CFD35C86}"/>
              </a:ext>
            </a:extLst>
          </p:cNvPr>
          <p:cNvSpPr txBox="1"/>
          <p:nvPr/>
        </p:nvSpPr>
        <p:spPr>
          <a:xfrm>
            <a:off x="7180030" y="4437112"/>
            <a:ext cx="1891969" cy="1600438"/>
          </a:xfrm>
          <a:prstGeom prst="rect">
            <a:avLst/>
          </a:prstGeom>
          <a:noFill/>
        </p:spPr>
        <p:txBody>
          <a:bodyPr wrap="square" rtlCol="0">
            <a:spAutoFit/>
          </a:bodyPr>
          <a:lstStyle/>
          <a:p>
            <a:pPr marL="285750" indent="-285750">
              <a:buFont typeface="Arial" panose="020B0604020202020204" pitchFamily="34" charset="0"/>
              <a:buChar char="•"/>
            </a:pPr>
            <a:r>
              <a:rPr lang="en-US" altLang="ja-JP" sz="1400" b="1" dirty="0"/>
              <a:t>7</a:t>
            </a:r>
            <a:r>
              <a:rPr lang="ja-JP" altLang="en-US" sz="1400" b="1" dirty="0"/>
              <a:t>月以降も</a:t>
            </a:r>
            <a:br>
              <a:rPr lang="en-US" altLang="ja-JP" sz="1400" b="1" dirty="0"/>
            </a:br>
            <a:r>
              <a:rPr lang="ja-JP" altLang="en-US" sz="1400" b="1" dirty="0"/>
              <a:t>各部にご協力頂き、</a:t>
            </a:r>
            <a:br>
              <a:rPr lang="en-US" altLang="ja-JP" sz="1400" b="1" dirty="0"/>
            </a:br>
            <a:r>
              <a:rPr lang="ja-JP" altLang="en-US" sz="1400" b="1" dirty="0"/>
              <a:t>業務に関する</a:t>
            </a:r>
            <a:br>
              <a:rPr lang="en-US" altLang="ja-JP" sz="1400" b="1" dirty="0"/>
            </a:br>
            <a:r>
              <a:rPr lang="ja-JP" altLang="en-US" sz="1400" b="1" dirty="0"/>
              <a:t>ヒアリングを綿密に回すことで、</a:t>
            </a:r>
            <a:br>
              <a:rPr lang="en-US" altLang="ja-JP" sz="1400" b="1" dirty="0"/>
            </a:br>
            <a:r>
              <a:rPr lang="ja-JP" altLang="en-US" sz="1400" b="1" dirty="0"/>
              <a:t>検討・検証</a:t>
            </a:r>
            <a:br>
              <a:rPr lang="en-US" altLang="ja-JP" sz="1400" b="1" dirty="0"/>
            </a:br>
            <a:r>
              <a:rPr lang="ja-JP" altLang="en-US" sz="1400" b="1" dirty="0"/>
              <a:t>サイクルを高速化</a:t>
            </a:r>
            <a:endParaRPr lang="en-US" altLang="ja-JP" sz="1400" b="1" dirty="0"/>
          </a:p>
        </p:txBody>
      </p:sp>
      <p:cxnSp>
        <p:nvCxnSpPr>
          <p:cNvPr id="102" name="直線コネクタ 101">
            <a:extLst>
              <a:ext uri="{FF2B5EF4-FFF2-40B4-BE49-F238E27FC236}">
                <a16:creationId xmlns:a16="http://schemas.microsoft.com/office/drawing/2014/main" id="{E8014EAC-D5EB-6807-41C2-B5EADF0A7562}"/>
              </a:ext>
            </a:extLst>
          </p:cNvPr>
          <p:cNvCxnSpPr>
            <a:cxnSpLocks/>
          </p:cNvCxnSpPr>
          <p:nvPr/>
        </p:nvCxnSpPr>
        <p:spPr>
          <a:xfrm>
            <a:off x="107504" y="2162538"/>
            <a:ext cx="5940000" cy="0"/>
          </a:xfrm>
          <a:prstGeom prst="line">
            <a:avLst/>
          </a:prstGeom>
        </p:spPr>
        <p:style>
          <a:lnRef idx="1">
            <a:schemeClr val="accent1"/>
          </a:lnRef>
          <a:fillRef idx="0">
            <a:schemeClr val="accent1"/>
          </a:fillRef>
          <a:effectRef idx="0">
            <a:schemeClr val="accent1"/>
          </a:effectRef>
          <a:fontRef idx="minor">
            <a:schemeClr val="tx1"/>
          </a:fontRef>
        </p:style>
      </p:cxnSp>
      <p:sp>
        <p:nvSpPr>
          <p:cNvPr id="105" name="テキスト ボックス 104">
            <a:extLst>
              <a:ext uri="{FF2B5EF4-FFF2-40B4-BE49-F238E27FC236}">
                <a16:creationId xmlns:a16="http://schemas.microsoft.com/office/drawing/2014/main" id="{C5BF5420-E034-22B8-4222-DB2709FD5F5D}"/>
              </a:ext>
            </a:extLst>
          </p:cNvPr>
          <p:cNvSpPr txBox="1"/>
          <p:nvPr/>
        </p:nvSpPr>
        <p:spPr>
          <a:xfrm>
            <a:off x="2626100" y="1864420"/>
            <a:ext cx="902811" cy="307777"/>
          </a:xfrm>
          <a:prstGeom prst="rect">
            <a:avLst/>
          </a:prstGeom>
          <a:noFill/>
        </p:spPr>
        <p:txBody>
          <a:bodyPr wrap="none" rtlCol="0">
            <a:spAutoFit/>
          </a:bodyPr>
          <a:lstStyle/>
          <a:p>
            <a:pPr algn="ctr"/>
            <a:r>
              <a:rPr kumimoji="1" lang="ja-JP" altLang="en-US" sz="1400" b="1" dirty="0"/>
              <a:t>課題仮説</a:t>
            </a:r>
            <a:endParaRPr kumimoji="1" lang="zh-TW" altLang="en-US" sz="1400" b="1" dirty="0"/>
          </a:p>
        </p:txBody>
      </p:sp>
      <p:sp>
        <p:nvSpPr>
          <p:cNvPr id="4" name="楕円 3">
            <a:extLst>
              <a:ext uri="{FF2B5EF4-FFF2-40B4-BE49-F238E27FC236}">
                <a16:creationId xmlns:a16="http://schemas.microsoft.com/office/drawing/2014/main" id="{5F18E7DB-64A2-0342-B33F-FFC1CABEBD22}"/>
              </a:ext>
            </a:extLst>
          </p:cNvPr>
          <p:cNvSpPr/>
          <p:nvPr/>
        </p:nvSpPr>
        <p:spPr>
          <a:xfrm>
            <a:off x="3498807" y="4635443"/>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285236F7-68E8-79F4-3239-786B685497E6}"/>
              </a:ext>
            </a:extLst>
          </p:cNvPr>
          <p:cNvSpPr/>
          <p:nvPr/>
        </p:nvSpPr>
        <p:spPr>
          <a:xfrm>
            <a:off x="3498807" y="5086545"/>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409169C8-D23C-26A0-2FA1-3E1A579D3D1E}"/>
              </a:ext>
            </a:extLst>
          </p:cNvPr>
          <p:cNvSpPr/>
          <p:nvPr/>
        </p:nvSpPr>
        <p:spPr>
          <a:xfrm>
            <a:off x="3498807" y="2633502"/>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EF7230C0-1D56-7CCC-A008-020670541F16}"/>
              </a:ext>
            </a:extLst>
          </p:cNvPr>
          <p:cNvSpPr txBox="1"/>
          <p:nvPr/>
        </p:nvSpPr>
        <p:spPr>
          <a:xfrm>
            <a:off x="4086101" y="2228309"/>
            <a:ext cx="800219" cy="276999"/>
          </a:xfrm>
          <a:prstGeom prst="rect">
            <a:avLst/>
          </a:prstGeom>
          <a:noFill/>
        </p:spPr>
        <p:txBody>
          <a:bodyPr wrap="none" rtlCol="0">
            <a:spAutoFit/>
          </a:bodyPr>
          <a:lstStyle/>
          <a:p>
            <a:pPr algn="ctr"/>
            <a:r>
              <a:rPr kumimoji="1" lang="ja-JP" altLang="en-US" sz="1200" b="1" dirty="0"/>
              <a:t>採算管理</a:t>
            </a:r>
            <a:endParaRPr kumimoji="1" lang="zh-TW" altLang="en-US" sz="1200" b="1" dirty="0"/>
          </a:p>
        </p:txBody>
      </p:sp>
      <p:sp>
        <p:nvSpPr>
          <p:cNvPr id="8" name="楕円 7">
            <a:extLst>
              <a:ext uri="{FF2B5EF4-FFF2-40B4-BE49-F238E27FC236}">
                <a16:creationId xmlns:a16="http://schemas.microsoft.com/office/drawing/2014/main" id="{1301BF64-4945-0A76-4AEE-774C9DE92C25}"/>
              </a:ext>
            </a:extLst>
          </p:cNvPr>
          <p:cNvSpPr/>
          <p:nvPr/>
        </p:nvSpPr>
        <p:spPr>
          <a:xfrm>
            <a:off x="4353681" y="3137520"/>
            <a:ext cx="251999" cy="2519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961BA825-55DE-A98F-7893-C32429DD1A5C}"/>
              </a:ext>
            </a:extLst>
          </p:cNvPr>
          <p:cNvSpPr/>
          <p:nvPr/>
        </p:nvSpPr>
        <p:spPr>
          <a:xfrm>
            <a:off x="4353681" y="4145555"/>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5A9B6260-2C50-B556-3A5C-6F900AE77D8E}"/>
              </a:ext>
            </a:extLst>
          </p:cNvPr>
          <p:cNvSpPr/>
          <p:nvPr/>
        </p:nvSpPr>
        <p:spPr>
          <a:xfrm>
            <a:off x="4353681" y="5585601"/>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70C4FC0E-1FC6-55D7-E8B8-D378B3466F93}"/>
              </a:ext>
            </a:extLst>
          </p:cNvPr>
          <p:cNvSpPr/>
          <p:nvPr/>
        </p:nvSpPr>
        <p:spPr>
          <a:xfrm>
            <a:off x="4353681" y="4635443"/>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732BA909-1446-0DCD-1717-CEEC81290408}"/>
              </a:ext>
            </a:extLst>
          </p:cNvPr>
          <p:cNvSpPr/>
          <p:nvPr/>
        </p:nvSpPr>
        <p:spPr>
          <a:xfrm>
            <a:off x="4353681" y="5086545"/>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86D4AA60-7DE0-4989-21B9-3A32C8B901C4}"/>
              </a:ext>
            </a:extLst>
          </p:cNvPr>
          <p:cNvSpPr/>
          <p:nvPr/>
        </p:nvSpPr>
        <p:spPr>
          <a:xfrm>
            <a:off x="4353681" y="2633502"/>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92BD9221-2F7C-3CFC-256C-F975DE7EC5BC}"/>
              </a:ext>
            </a:extLst>
          </p:cNvPr>
          <p:cNvSpPr/>
          <p:nvPr/>
        </p:nvSpPr>
        <p:spPr>
          <a:xfrm>
            <a:off x="3498806" y="6089618"/>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99CA09AD-6E06-9FFC-6E90-B42047F440E5}"/>
              </a:ext>
            </a:extLst>
          </p:cNvPr>
          <p:cNvSpPr/>
          <p:nvPr/>
        </p:nvSpPr>
        <p:spPr>
          <a:xfrm>
            <a:off x="4360210" y="6089617"/>
            <a:ext cx="251999" cy="251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23C01D53-EB1A-0AD6-62A1-422592C79CB1}"/>
              </a:ext>
            </a:extLst>
          </p:cNvPr>
          <p:cNvSpPr txBox="1"/>
          <p:nvPr/>
        </p:nvSpPr>
        <p:spPr>
          <a:xfrm>
            <a:off x="4662905" y="3034214"/>
            <a:ext cx="549693" cy="461665"/>
          </a:xfrm>
          <a:prstGeom prst="rect">
            <a:avLst/>
          </a:prstGeom>
          <a:noFill/>
        </p:spPr>
        <p:txBody>
          <a:bodyPr wrap="square" rtlCol="0" anchor="ctr">
            <a:spAutoFit/>
          </a:bodyPr>
          <a:lstStyle/>
          <a:p>
            <a:pPr algn="ctr"/>
            <a:r>
              <a:rPr kumimoji="1" lang="ja-JP" altLang="en-US" sz="1200" dirty="0"/>
              <a:t>取り</a:t>
            </a:r>
            <a:br>
              <a:rPr kumimoji="1" lang="en-US" altLang="ja-JP" sz="1200" dirty="0"/>
            </a:br>
            <a:r>
              <a:rPr kumimoji="1" lang="ja-JP" altLang="en-US" sz="1200" dirty="0"/>
              <a:t>纏め</a:t>
            </a:r>
          </a:p>
        </p:txBody>
      </p:sp>
    </p:spTree>
    <p:extLst>
      <p:ext uri="{BB962C8B-B14F-4D97-AF65-F5344CB8AC3E}">
        <p14:creationId xmlns:p14="http://schemas.microsoft.com/office/powerpoint/2010/main" val="623914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3F30C9F-7CC2-6E95-0773-9BF7F368B62E}"/>
              </a:ext>
            </a:extLst>
          </p:cNvPr>
          <p:cNvSpPr/>
          <p:nvPr/>
        </p:nvSpPr>
        <p:spPr>
          <a:xfrm>
            <a:off x="72000" y="650077"/>
            <a:ext cx="9000000" cy="1059129"/>
          </a:xfrm>
          <a:prstGeom prst="rect">
            <a:avLst/>
          </a:prstGeom>
          <a:solidFill>
            <a:schemeClr val="bg2">
              <a:lumMod val="40000"/>
              <a:lumOff val="60000"/>
            </a:schemeClr>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lvl="0" indent="-285750">
              <a:buFont typeface="Wingdings" panose="05000000000000000000" pitchFamily="2" charset="2"/>
              <a:buChar char="n"/>
              <a:defRPr/>
            </a:pPr>
            <a:r>
              <a:rPr lang="ja-JP" altLang="en-US" sz="1600" dirty="0">
                <a:solidFill>
                  <a:srgbClr val="000000"/>
                </a:solidFill>
                <a:latin typeface="メイリオ"/>
              </a:rPr>
              <a:t>業務内容との乖離があるはずなので詳細把握が必要ではあるが、試算上は小口の</a:t>
            </a:r>
            <a:r>
              <a:rPr lang="en-US" altLang="ja-JP" sz="1600" dirty="0">
                <a:solidFill>
                  <a:srgbClr val="000000"/>
                </a:solidFill>
                <a:latin typeface="メイリオ"/>
              </a:rPr>
              <a:t>10</a:t>
            </a:r>
            <a:r>
              <a:rPr lang="ja-JP" altLang="en-US" sz="1600" dirty="0">
                <a:solidFill>
                  <a:srgbClr val="000000"/>
                </a:solidFill>
                <a:latin typeface="メイリオ"/>
              </a:rPr>
              <a:t>百万円</a:t>
            </a:r>
            <a:br>
              <a:rPr lang="en-US" altLang="ja-JP" sz="1600" dirty="0">
                <a:solidFill>
                  <a:srgbClr val="000000"/>
                </a:solidFill>
                <a:latin typeface="メイリオ"/>
              </a:rPr>
            </a:br>
            <a:r>
              <a:rPr lang="ja-JP" altLang="en-US" sz="1600" dirty="0">
                <a:solidFill>
                  <a:srgbClr val="000000"/>
                </a:solidFill>
                <a:latin typeface="メイリオ"/>
              </a:rPr>
              <a:t>以下において、相対的に</a:t>
            </a:r>
            <a:r>
              <a:rPr lang="en-US" altLang="ja-JP" sz="1600" dirty="0">
                <a:solidFill>
                  <a:srgbClr val="000000"/>
                </a:solidFill>
                <a:latin typeface="メイリオ"/>
              </a:rPr>
              <a:t>1</a:t>
            </a:r>
            <a:r>
              <a:rPr lang="ja-JP" altLang="en-US" sz="1600" dirty="0">
                <a:solidFill>
                  <a:srgbClr val="000000"/>
                </a:solidFill>
                <a:latin typeface="メイリオ"/>
              </a:rPr>
              <a:t>件当たりのプロジェクト管理のコストの割合が高い。</a:t>
            </a:r>
            <a:endParaRPr lang="en-US" altLang="ja-JP" sz="1600" dirty="0">
              <a:solidFill>
                <a:srgbClr val="000000"/>
              </a:solidFill>
              <a:latin typeface="メイリオ"/>
            </a:endParaRPr>
          </a:p>
          <a:p>
            <a:pPr marL="285750" lvl="0" indent="-285750">
              <a:buFont typeface="Wingdings" panose="05000000000000000000" pitchFamily="2" charset="2"/>
              <a:buChar char="n"/>
              <a:defRPr/>
            </a:pPr>
            <a:r>
              <a:rPr lang="ja-JP" altLang="en-US" sz="1600" dirty="0">
                <a:solidFill>
                  <a:srgbClr val="000000"/>
                </a:solidFill>
                <a:latin typeface="メイリオ"/>
              </a:rPr>
              <a:t>費用対効果を鑑みつつ、案件規模に応じ、どの程度までのリスクを許容するか検討することで、効率化できる可能性あり。</a:t>
            </a:r>
            <a:endParaRPr lang="en-US" altLang="ja-JP" sz="1600" dirty="0">
              <a:solidFill>
                <a:srgbClr val="000000"/>
              </a:solidFill>
              <a:latin typeface="メイリオ"/>
            </a:endParaRPr>
          </a:p>
          <a:p>
            <a:pPr marL="285750" lvl="0" indent="-285750">
              <a:buFont typeface="Wingdings" panose="05000000000000000000" pitchFamily="2" charset="2"/>
              <a:buChar char="n"/>
              <a:defRPr/>
            </a:pPr>
            <a:endParaRPr lang="en-US" altLang="ja-JP" sz="1600" dirty="0">
              <a:solidFill>
                <a:srgbClr val="000000"/>
              </a:solidFill>
              <a:latin typeface="メイリオ"/>
            </a:endParaRPr>
          </a:p>
          <a:p>
            <a:pPr marL="285750" lvl="0" indent="-285750">
              <a:buFont typeface="Wingdings" panose="05000000000000000000" pitchFamily="2" charset="2"/>
              <a:buChar char="n"/>
              <a:defRPr/>
            </a:pPr>
            <a:endParaRPr lang="en-US" altLang="ja-JP" sz="1600" dirty="0">
              <a:solidFill>
                <a:srgbClr val="000000"/>
              </a:solidFill>
              <a:latin typeface="メイリオ"/>
            </a:endParaRPr>
          </a:p>
        </p:txBody>
      </p:sp>
      <p:sp>
        <p:nvSpPr>
          <p:cNvPr id="3" name="タイトル 4">
            <a:extLst>
              <a:ext uri="{FF2B5EF4-FFF2-40B4-BE49-F238E27FC236}">
                <a16:creationId xmlns:a16="http://schemas.microsoft.com/office/drawing/2014/main" id="{853D9387-A196-BD35-C9CC-54DE60F58B80}"/>
              </a:ext>
            </a:extLst>
          </p:cNvPr>
          <p:cNvSpPr txBox="1">
            <a:spLocks/>
          </p:cNvSpPr>
          <p:nvPr/>
        </p:nvSpPr>
        <p:spPr>
          <a:xfrm>
            <a:off x="248234" y="135110"/>
            <a:ext cx="7492118" cy="349961"/>
          </a:xfrm>
          <a:prstGeom prst="rect">
            <a:avLst/>
          </a:prstGeom>
        </p:spPr>
        <p:txBody>
          <a:bodyPr/>
          <a:lst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a:lstStyle>
          <a:p>
            <a:pPr lvl="0">
              <a:defRPr/>
            </a:pPr>
            <a:r>
              <a:rPr kumimoji="1" lang="en-US" altLang="ja-JP" sz="1800" b="1" i="0" u="none" strike="noStrike" kern="1200" cap="none" spc="0" normalizeH="0" baseline="0" noProof="0" dirty="0">
                <a:ln>
                  <a:noFill/>
                </a:ln>
                <a:solidFill>
                  <a:srgbClr val="000000"/>
                </a:solidFill>
                <a:effectLst/>
                <a:uLnTx/>
                <a:uFillTx/>
                <a:latin typeface="メイリオ"/>
                <a:ea typeface="メイリオ"/>
                <a:cs typeface="+mj-cs"/>
              </a:rPr>
              <a:t>5-1</a:t>
            </a:r>
            <a:r>
              <a:rPr lang="ja-JP" altLang="en-US" sz="1800" b="1" dirty="0" err="1">
                <a:solidFill>
                  <a:srgbClr val="000000"/>
                </a:solidFill>
                <a:latin typeface="メイリオ"/>
              </a:rPr>
              <a:t>．</a:t>
            </a:r>
            <a:r>
              <a:rPr lang="ja-JP" altLang="en-US" sz="1800" b="1" dirty="0">
                <a:solidFill>
                  <a:srgbClr val="000000"/>
                </a:solidFill>
                <a:latin typeface="メイリオ"/>
              </a:rPr>
              <a:t>見積・実行フォロ（金額・工程）業務の分析サマリ</a:t>
            </a:r>
            <a:endParaRPr kumimoji="1" lang="ja-JP" altLang="en-US" sz="1800" b="1" i="0" u="none" strike="noStrike" kern="1200" cap="none" spc="0" normalizeH="0" baseline="0" noProof="0" dirty="0">
              <a:ln>
                <a:noFill/>
              </a:ln>
              <a:solidFill>
                <a:srgbClr val="000000"/>
              </a:solidFill>
              <a:effectLst/>
              <a:uLnTx/>
              <a:uFillTx/>
              <a:latin typeface="メイリオ"/>
              <a:ea typeface="メイリオ"/>
              <a:cs typeface="+mj-cs"/>
            </a:endParaRPr>
          </a:p>
        </p:txBody>
      </p:sp>
      <p:sp>
        <p:nvSpPr>
          <p:cNvPr id="8" name="正方形/長方形 7">
            <a:extLst>
              <a:ext uri="{FF2B5EF4-FFF2-40B4-BE49-F238E27FC236}">
                <a16:creationId xmlns:a16="http://schemas.microsoft.com/office/drawing/2014/main" id="{4DF621C4-A655-44B2-836F-32E2511A197E}"/>
              </a:ext>
            </a:extLst>
          </p:cNvPr>
          <p:cNvSpPr/>
          <p:nvPr/>
        </p:nvSpPr>
        <p:spPr>
          <a:xfrm>
            <a:off x="5364088" y="5729481"/>
            <a:ext cx="3670834" cy="507831"/>
          </a:xfrm>
          <a:prstGeom prst="rect">
            <a:avLst/>
          </a:prstGeom>
          <a:solidFill>
            <a:schemeClr val="bg1"/>
          </a:solidFill>
        </p:spPr>
        <p:txBody>
          <a:bodyPr wrap="square">
            <a:spAutoFit/>
          </a:bodyPr>
          <a:lstStyle/>
          <a:p>
            <a:r>
              <a:rPr lang="en-US" altLang="ja-JP" sz="900" b="1" dirty="0"/>
              <a:t>※</a:t>
            </a:r>
            <a:r>
              <a:rPr lang="ja-JP" altLang="en-US" sz="900" b="1" dirty="0"/>
              <a:t> 担当者当たりのコストを固定値</a:t>
            </a:r>
            <a:r>
              <a:rPr lang="en-US" altLang="ja-JP" sz="900" b="1" dirty="0"/>
              <a:t>1,200</a:t>
            </a:r>
            <a:r>
              <a:rPr lang="ja-JP" altLang="en-US" sz="900" b="1" dirty="0"/>
              <a:t>万円</a:t>
            </a:r>
            <a:r>
              <a:rPr lang="en-US" altLang="ja-JP" sz="900" b="1" dirty="0"/>
              <a:t>/</a:t>
            </a:r>
            <a:r>
              <a:rPr lang="ja-JP" altLang="en-US" sz="900" b="1" dirty="0"/>
              <a:t>年として計算</a:t>
            </a:r>
            <a:endParaRPr lang="en-US" altLang="ja-JP" sz="900" b="1" dirty="0"/>
          </a:p>
          <a:p>
            <a:r>
              <a:rPr lang="en-US" altLang="ja-JP" sz="900" b="1" dirty="0"/>
              <a:t>※</a:t>
            </a:r>
            <a:r>
              <a:rPr lang="ja-JP" altLang="en-US" sz="900" b="1" dirty="0"/>
              <a:t>各グループ・金額帯でも、かかるコスト（固定値）に変動</a:t>
            </a:r>
            <a:br>
              <a:rPr lang="en-US" altLang="ja-JP" sz="900" b="1" dirty="0"/>
            </a:br>
            <a:r>
              <a:rPr lang="ja-JP" altLang="en-US" sz="900" b="1" dirty="0"/>
              <a:t>　はないものとして計算（</a:t>
            </a:r>
            <a:r>
              <a:rPr lang="en-US" altLang="ja-JP" sz="900" b="1" dirty="0"/>
              <a:t>1</a:t>
            </a:r>
            <a:r>
              <a:rPr lang="ja-JP" altLang="en-US" sz="900" b="1" dirty="0"/>
              <a:t>名：固定値</a:t>
            </a:r>
            <a:r>
              <a:rPr lang="en-US" altLang="ja-JP" sz="900" b="1" dirty="0"/>
              <a:t>1200</a:t>
            </a:r>
            <a:r>
              <a:rPr lang="ja-JP" altLang="en-US" sz="900" b="1" dirty="0"/>
              <a:t>万円</a:t>
            </a:r>
            <a:r>
              <a:rPr lang="en-US" altLang="ja-JP" sz="900" b="1" dirty="0"/>
              <a:t>/</a:t>
            </a:r>
            <a:r>
              <a:rPr lang="ja-JP" altLang="en-US" sz="900" b="1" dirty="0"/>
              <a:t>年が変化しない）</a:t>
            </a:r>
          </a:p>
        </p:txBody>
      </p:sp>
      <p:graphicFrame>
        <p:nvGraphicFramePr>
          <p:cNvPr id="11" name="表 10">
            <a:extLst>
              <a:ext uri="{FF2B5EF4-FFF2-40B4-BE49-F238E27FC236}">
                <a16:creationId xmlns:a16="http://schemas.microsoft.com/office/drawing/2014/main" id="{6E56E2A3-E91E-4558-AB42-AE814EC17D16}"/>
              </a:ext>
            </a:extLst>
          </p:cNvPr>
          <p:cNvGraphicFramePr>
            <a:graphicFrameLocks noGrp="1"/>
          </p:cNvGraphicFramePr>
          <p:nvPr/>
        </p:nvGraphicFramePr>
        <p:xfrm>
          <a:off x="123388" y="1970637"/>
          <a:ext cx="7852158" cy="2895682"/>
        </p:xfrm>
        <a:graphic>
          <a:graphicData uri="http://schemas.openxmlformats.org/drawingml/2006/table">
            <a:tbl>
              <a:tblPr/>
              <a:tblGrid>
                <a:gridCol w="620217">
                  <a:extLst>
                    <a:ext uri="{9D8B030D-6E8A-4147-A177-3AD203B41FA5}">
                      <a16:colId xmlns:a16="http://schemas.microsoft.com/office/drawing/2014/main" val="1415822823"/>
                    </a:ext>
                  </a:extLst>
                </a:gridCol>
                <a:gridCol w="623554">
                  <a:extLst>
                    <a:ext uri="{9D8B030D-6E8A-4147-A177-3AD203B41FA5}">
                      <a16:colId xmlns:a16="http://schemas.microsoft.com/office/drawing/2014/main" val="3505458090"/>
                    </a:ext>
                  </a:extLst>
                </a:gridCol>
                <a:gridCol w="694035">
                  <a:extLst>
                    <a:ext uri="{9D8B030D-6E8A-4147-A177-3AD203B41FA5}">
                      <a16:colId xmlns:a16="http://schemas.microsoft.com/office/drawing/2014/main" val="2924358493"/>
                    </a:ext>
                  </a:extLst>
                </a:gridCol>
                <a:gridCol w="580912">
                  <a:extLst>
                    <a:ext uri="{9D8B030D-6E8A-4147-A177-3AD203B41FA5}">
                      <a16:colId xmlns:a16="http://schemas.microsoft.com/office/drawing/2014/main" val="1311366659"/>
                    </a:ext>
                  </a:extLst>
                </a:gridCol>
                <a:gridCol w="580912">
                  <a:extLst>
                    <a:ext uri="{9D8B030D-6E8A-4147-A177-3AD203B41FA5}">
                      <a16:colId xmlns:a16="http://schemas.microsoft.com/office/drawing/2014/main" val="691145812"/>
                    </a:ext>
                  </a:extLst>
                </a:gridCol>
                <a:gridCol w="720080">
                  <a:extLst>
                    <a:ext uri="{9D8B030D-6E8A-4147-A177-3AD203B41FA5}">
                      <a16:colId xmlns:a16="http://schemas.microsoft.com/office/drawing/2014/main" val="2479457555"/>
                    </a:ext>
                  </a:extLst>
                </a:gridCol>
                <a:gridCol w="702078">
                  <a:extLst>
                    <a:ext uri="{9D8B030D-6E8A-4147-A177-3AD203B41FA5}">
                      <a16:colId xmlns:a16="http://schemas.microsoft.com/office/drawing/2014/main" val="2635174082"/>
                    </a:ext>
                  </a:extLst>
                </a:gridCol>
                <a:gridCol w="702078">
                  <a:extLst>
                    <a:ext uri="{9D8B030D-6E8A-4147-A177-3AD203B41FA5}">
                      <a16:colId xmlns:a16="http://schemas.microsoft.com/office/drawing/2014/main" val="4021537093"/>
                    </a:ext>
                  </a:extLst>
                </a:gridCol>
                <a:gridCol w="702078">
                  <a:extLst>
                    <a:ext uri="{9D8B030D-6E8A-4147-A177-3AD203B41FA5}">
                      <a16:colId xmlns:a16="http://schemas.microsoft.com/office/drawing/2014/main" val="2157985861"/>
                    </a:ext>
                  </a:extLst>
                </a:gridCol>
                <a:gridCol w="702078">
                  <a:extLst>
                    <a:ext uri="{9D8B030D-6E8A-4147-A177-3AD203B41FA5}">
                      <a16:colId xmlns:a16="http://schemas.microsoft.com/office/drawing/2014/main" val="3106782129"/>
                    </a:ext>
                  </a:extLst>
                </a:gridCol>
                <a:gridCol w="1224136">
                  <a:extLst>
                    <a:ext uri="{9D8B030D-6E8A-4147-A177-3AD203B41FA5}">
                      <a16:colId xmlns:a16="http://schemas.microsoft.com/office/drawing/2014/main" val="2349276616"/>
                    </a:ext>
                  </a:extLst>
                </a:gridCol>
              </a:tblGrid>
              <a:tr h="175635">
                <a:tc rowSpan="2" gridSpan="2">
                  <a:txBody>
                    <a:bodyPr/>
                    <a:lstStyle/>
                    <a:p>
                      <a:pPr algn="ctr" fontAlgn="ctr"/>
                      <a:r>
                        <a:rPr lang="ja-JP" altLang="en-US" sz="1000" b="1" i="0" u="none" strike="noStrike" dirty="0">
                          <a:solidFill>
                            <a:srgbClr val="FF0000"/>
                          </a:solidFill>
                          <a:effectLst/>
                          <a:latin typeface="Meiryo UI" panose="020B0604030504040204" pitchFamily="50" charset="-128"/>
                          <a:ea typeface="Meiryo UI" panose="020B0604030504040204" pitchFamily="50" charset="-128"/>
                        </a:rPr>
                        <a:t>基準受注額①</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hMerge="1">
                  <a:txBody>
                    <a:bodyPr/>
                    <a:lstStyle/>
                    <a:p>
                      <a:pPr algn="ctr"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TW" altLang="en-US" sz="1000" b="0" i="0" u="none" strike="noStrike" dirty="0">
                          <a:solidFill>
                            <a:srgbClr val="000000"/>
                          </a:solidFill>
                          <a:effectLst/>
                          <a:latin typeface="Meiryo UI" panose="020B0604030504040204" pitchFamily="50" charset="-128"/>
                          <a:ea typeface="Meiryo UI" panose="020B0604030504040204" pitchFamily="50" charset="-128"/>
                        </a:rPr>
                        <a:t>売上額</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②</a:t>
                      </a:r>
                      <a:br>
                        <a:rPr lang="zh-TW" altLang="en-US" sz="1000" b="0" i="0" u="none" strike="noStrike" dirty="0">
                          <a:solidFill>
                            <a:srgbClr val="000000"/>
                          </a:solidFill>
                          <a:effectLst/>
                          <a:latin typeface="Meiryo UI" panose="020B0604030504040204" pitchFamily="50" charset="-128"/>
                          <a:ea typeface="Meiryo UI" panose="020B0604030504040204" pitchFamily="50" charset="-128"/>
                        </a:rPr>
                      </a:br>
                      <a:r>
                        <a:rPr lang="en-US" altLang="zh-TW" sz="1000" b="0" i="0" u="none" strike="noStrike" dirty="0">
                          <a:solidFill>
                            <a:srgbClr val="000000"/>
                          </a:solidFill>
                          <a:effectLst/>
                          <a:latin typeface="Meiryo UI" panose="020B0604030504040204" pitchFamily="50" charset="-128"/>
                          <a:ea typeface="Meiryo UI" panose="020B0604030504040204" pitchFamily="50" charset="-128"/>
                        </a:rPr>
                        <a:t>【</a:t>
                      </a:r>
                      <a:r>
                        <a:rPr lang="zh-TW" altLang="en-US" sz="1000" b="0" i="0" u="none" strike="noStrike" dirty="0">
                          <a:solidFill>
                            <a:srgbClr val="000000"/>
                          </a:solidFill>
                          <a:effectLst/>
                          <a:latin typeface="Meiryo UI" panose="020B0604030504040204" pitchFamily="50" charset="-128"/>
                          <a:ea typeface="Meiryo UI" panose="020B0604030504040204" pitchFamily="50" charset="-128"/>
                        </a:rPr>
                        <a:t>百万円</a:t>
                      </a:r>
                      <a:r>
                        <a:rPr lang="en-US" altLang="zh-TW" sz="1000" b="0" i="0" u="none" strike="noStrike" dirty="0">
                          <a:solidFill>
                            <a:srgbClr val="000000"/>
                          </a:solidFill>
                          <a:effectLst/>
                          <a:latin typeface="Meiryo UI" panose="020B0604030504040204" pitchFamily="50" charset="-128"/>
                          <a:ea typeface="Meiryo UI" panose="020B0604030504040204" pitchFamily="50" charset="-128"/>
                        </a:rPr>
                        <a:t>】</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件数③</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件数</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p>
                      <a:pPr marL="0" marR="0" lvl="0" indent="0" algn="ctr" defTabSz="685800"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割合④</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担当者数</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a:t>
                      </a:r>
                    </a:p>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人</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⑤</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4">
                  <a:txBody>
                    <a:bodyPr/>
                    <a:lstStyle/>
                    <a:p>
                      <a:pPr algn="ctr"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コスト</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百万円</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件</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rowSpan="2">
                  <a:txBody>
                    <a:bodyPr/>
                    <a:lstStyle/>
                    <a:p>
                      <a:pPr algn="ctr" fontAlgn="ctr"/>
                      <a:r>
                        <a:rPr lang="ja-JP" altLang="en-US" sz="1000" b="1" i="0" u="none" strike="noStrike" dirty="0">
                          <a:solidFill>
                            <a:srgbClr val="FF0000"/>
                          </a:solidFill>
                          <a:effectLst/>
                          <a:latin typeface="Meiryo UI" panose="020B0604030504040204" pitchFamily="50" charset="-128"/>
                          <a:ea typeface="Meiryo UI" panose="020B0604030504040204" pitchFamily="50" charset="-128"/>
                        </a:rPr>
                        <a:t>基準受注額あたり</a:t>
                      </a:r>
                      <a:endParaRPr lang="en-US" altLang="ja-JP" sz="1000" b="1" i="0" u="none" strike="noStrike" dirty="0">
                        <a:solidFill>
                          <a:srgbClr val="FF0000"/>
                        </a:solidFill>
                        <a:effectLst/>
                        <a:latin typeface="Meiryo UI" panose="020B0604030504040204" pitchFamily="50" charset="-128"/>
                        <a:ea typeface="Meiryo UI" panose="020B0604030504040204" pitchFamily="50" charset="-128"/>
                      </a:endParaRPr>
                    </a:p>
                    <a:p>
                      <a:pPr algn="ctr" fontAlgn="ctr"/>
                      <a:r>
                        <a:rPr lang="ja-JP" altLang="en-US" sz="1000" b="1" i="0" u="none" strike="noStrike" dirty="0">
                          <a:solidFill>
                            <a:srgbClr val="FF0000"/>
                          </a:solidFill>
                          <a:effectLst/>
                          <a:latin typeface="Meiryo UI" panose="020B0604030504040204" pitchFamily="50" charset="-128"/>
                          <a:ea typeface="Meiryo UI" panose="020B0604030504040204" pitchFamily="50" charset="-128"/>
                        </a:rPr>
                        <a:t>コスト比率⑩</a:t>
                      </a:r>
                      <a:endParaRPr lang="en-US" altLang="ja-JP" sz="1000" b="1" i="0" u="none" strike="noStrike" dirty="0">
                        <a:solidFill>
                          <a:srgbClr val="FF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1284831"/>
                  </a:ext>
                </a:extLst>
              </a:tr>
              <a:tr h="224494">
                <a:tc gridSpan="2" vMerge="1">
                  <a:txBody>
                    <a:bodyPr/>
                    <a:lstStyle/>
                    <a:p>
                      <a:endParaRPr kumimoji="1" lang="ja-JP" altLang="en-US"/>
                    </a:p>
                  </a:txBody>
                  <a:tcPr/>
                </a:tc>
                <a:tc hMerge="1"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ctr" fontAlgn="ctr"/>
                      <a:r>
                        <a:rPr lang="ja-JP" altLang="en-US" sz="1000" b="1" i="0" u="none" strike="noStrike" dirty="0">
                          <a:solidFill>
                            <a:srgbClr val="FF0000"/>
                          </a:solidFill>
                          <a:effectLst/>
                          <a:latin typeface="Meiryo UI" panose="020B0604030504040204" pitchFamily="50" charset="-128"/>
                          <a:ea typeface="Meiryo UI" panose="020B0604030504040204" pitchFamily="50" charset="-128"/>
                        </a:rPr>
                        <a:t>合計⑥</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見積⑦</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実行フォロ</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p>
                      <a:pPr algn="ctr"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（金額）⑧</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実行フォロ</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p>
                      <a:pPr algn="ctr"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（工程）⑨</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2317796370"/>
                  </a:ext>
                </a:extLst>
              </a:tr>
              <a:tr h="343491">
                <a:tc gridSpan="2">
                  <a:txBody>
                    <a:bodyPr/>
                    <a:lstStyle/>
                    <a:p>
                      <a:pPr algn="ctr"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大型改造</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2,000</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百万円以上</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23,683 </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13</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0.4%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19</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17 </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4.6 </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9.7 </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2.8 </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0.85%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8786252"/>
                  </a:ext>
                </a:extLst>
              </a:tr>
              <a:tr h="343491">
                <a:tc gridSpan="2">
                  <a:txBody>
                    <a:bodyPr/>
                    <a:lstStyle/>
                    <a:p>
                      <a:pPr algn="ctr"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大口</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100</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百万円以上</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42,169 </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259 </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7.2%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4</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0.19</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0.093 </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0.044</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0.058 </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0.19%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4857225"/>
                  </a:ext>
                </a:extLst>
              </a:tr>
              <a:tr h="286867">
                <a:tc rowSpan="6">
                  <a:txBody>
                    <a:bodyPr/>
                    <a:lstStyle/>
                    <a:p>
                      <a:pPr algn="ctr"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小口</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100</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百万円未満</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全体</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19,715 </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3,308 </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92.4%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6">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24</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6">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0.088</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6">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0.033</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6">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0.031</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6">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0.024 </a:t>
                      </a: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0.09%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9516087"/>
                  </a:ext>
                </a:extLst>
              </a:tr>
              <a:tr h="286867">
                <a:tc vMerge="1">
                  <a:txBody>
                    <a:bodyPr/>
                    <a:lstStyle/>
                    <a:p>
                      <a:pPr algn="ctr"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~100</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百万</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5,609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178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1"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0.09%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90194208"/>
                  </a:ext>
                </a:extLst>
              </a:tr>
              <a:tr h="286867">
                <a:tc vMerge="1">
                  <a:txBody>
                    <a:bodyPr/>
                    <a:lstStyle/>
                    <a:p>
                      <a:pPr algn="ctr"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~50</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百万</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9,471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779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21.8%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1"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0.18%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759880"/>
                  </a:ext>
                </a:extLst>
              </a:tr>
              <a:tr h="286867">
                <a:tc vMerge="1">
                  <a:txBody>
                    <a:bodyPr/>
                    <a:lstStyle/>
                    <a:p>
                      <a:pPr algn="ctr"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~10</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百万</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2,321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536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1"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100" b="0" i="0" u="none" strike="noStrike" dirty="0">
                          <a:solidFill>
                            <a:srgbClr val="FF0000"/>
                          </a:solidFill>
                          <a:effectLst/>
                          <a:latin typeface="Meiryo UI" panose="020B0604030504040204" pitchFamily="50" charset="-128"/>
                          <a:ea typeface="Meiryo UI" panose="020B0604030504040204" pitchFamily="50" charset="-128"/>
                        </a:rPr>
                        <a:t>0.88%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8547842"/>
                  </a:ext>
                </a:extLst>
              </a:tr>
              <a:tr h="286867">
                <a:tc vMerge="1">
                  <a:txBody>
                    <a:bodyPr/>
                    <a:lstStyle/>
                    <a:p>
                      <a:pPr algn="ctr"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~5</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百万</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2,048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1,111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1"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100" b="0" i="0" u="none" strike="noStrike" dirty="0">
                          <a:solidFill>
                            <a:srgbClr val="FF0000"/>
                          </a:solidFill>
                          <a:effectLst/>
                          <a:latin typeface="Meiryo UI" panose="020B0604030504040204" pitchFamily="50" charset="-128"/>
                          <a:ea typeface="Meiryo UI" panose="020B0604030504040204" pitchFamily="50" charset="-128"/>
                        </a:rPr>
                        <a:t>1.76%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6374773"/>
                  </a:ext>
                </a:extLst>
              </a:tr>
              <a:tr h="286867">
                <a:tc vMerge="1">
                  <a:txBody>
                    <a:bodyPr/>
                    <a:lstStyle/>
                    <a:p>
                      <a:pPr algn="ctr"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百万</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266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704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19.7%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1"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7063" marR="7063" marT="70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100" b="0" i="0" u="none" strike="noStrike" dirty="0">
                          <a:solidFill>
                            <a:srgbClr val="FF0000"/>
                          </a:solidFill>
                          <a:effectLst/>
                          <a:latin typeface="Meiryo UI" panose="020B0604030504040204" pitchFamily="50" charset="-128"/>
                          <a:ea typeface="Meiryo UI" panose="020B0604030504040204" pitchFamily="50" charset="-128"/>
                        </a:rPr>
                        <a:t>8.81%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9262110"/>
                  </a:ext>
                </a:extLst>
              </a:tr>
            </a:tbl>
          </a:graphicData>
        </a:graphic>
      </p:graphicFrame>
      <p:sp>
        <p:nvSpPr>
          <p:cNvPr id="13" name="正方形/長方形 12">
            <a:extLst>
              <a:ext uri="{FF2B5EF4-FFF2-40B4-BE49-F238E27FC236}">
                <a16:creationId xmlns:a16="http://schemas.microsoft.com/office/drawing/2014/main" id="{E3453CFA-6958-45F8-88FD-2831F9E4D2AA}"/>
              </a:ext>
            </a:extLst>
          </p:cNvPr>
          <p:cNvSpPr/>
          <p:nvPr/>
        </p:nvSpPr>
        <p:spPr>
          <a:xfrm>
            <a:off x="5371037" y="5199003"/>
            <a:ext cx="3664022" cy="507831"/>
          </a:xfrm>
          <a:prstGeom prst="rect">
            <a:avLst/>
          </a:prstGeom>
          <a:solidFill>
            <a:schemeClr val="bg1"/>
          </a:solidFill>
        </p:spPr>
        <p:txBody>
          <a:bodyPr wrap="square">
            <a:spAutoFit/>
          </a:bodyPr>
          <a:lstStyle/>
          <a:p>
            <a:r>
              <a:rPr lang="en-US" altLang="ja-JP" sz="900" b="1" dirty="0"/>
              <a:t>※</a:t>
            </a:r>
            <a:r>
              <a:rPr lang="ja-JP" altLang="en-US" sz="900" b="1" dirty="0"/>
              <a:t> 担当者数は業務範囲ごとに按分</a:t>
            </a:r>
            <a:endParaRPr lang="en-US" altLang="ja-JP" sz="900" b="1" dirty="0"/>
          </a:p>
          <a:p>
            <a:r>
              <a:rPr lang="ja-JP" altLang="en-US" sz="900" b="1" dirty="0"/>
              <a:t>（例：大口</a:t>
            </a:r>
            <a:r>
              <a:rPr lang="en-US" altLang="ja-JP" sz="900" b="1" dirty="0"/>
              <a:t>/</a:t>
            </a:r>
            <a:r>
              <a:rPr lang="ja-JP" altLang="en-US" sz="900" b="1" dirty="0"/>
              <a:t>小口両方の担当は両案件の件数比率に応じて</a:t>
            </a:r>
            <a:r>
              <a:rPr lang="en-US" altLang="ja-JP" sz="900" b="1" dirty="0"/>
              <a:t>0.1</a:t>
            </a:r>
            <a:r>
              <a:rPr lang="ja-JP" altLang="en-US" sz="900" b="1" dirty="0"/>
              <a:t>人</a:t>
            </a:r>
            <a:r>
              <a:rPr lang="en-US" altLang="ja-JP" sz="900" b="1" dirty="0"/>
              <a:t>/0.9</a:t>
            </a:r>
            <a:r>
              <a:rPr lang="ja-JP" altLang="en-US" sz="900" b="1" dirty="0"/>
              <a:t>人</a:t>
            </a:r>
            <a:br>
              <a:rPr lang="en-US" altLang="ja-JP" sz="900" b="1" dirty="0"/>
            </a:br>
            <a:r>
              <a:rPr lang="ja-JP" altLang="en-US" sz="900" b="1" dirty="0"/>
              <a:t>　として算出、国内</a:t>
            </a:r>
            <a:r>
              <a:rPr lang="en-US" altLang="ja-JP" sz="900" b="1" dirty="0"/>
              <a:t>/</a:t>
            </a:r>
            <a:r>
              <a:rPr lang="ja-JP" altLang="en-US" sz="900" b="1" dirty="0"/>
              <a:t>海外両方の担当は</a:t>
            </a:r>
            <a:r>
              <a:rPr lang="en-US" altLang="ja-JP" sz="900" b="1" dirty="0"/>
              <a:t>0.5</a:t>
            </a:r>
            <a:r>
              <a:rPr lang="ja-JP" altLang="en-US" sz="900" b="1" dirty="0"/>
              <a:t>人ずつとして算出）</a:t>
            </a:r>
          </a:p>
        </p:txBody>
      </p:sp>
      <p:sp>
        <p:nvSpPr>
          <p:cNvPr id="4" name="正方形/長方形 3">
            <a:extLst>
              <a:ext uri="{FF2B5EF4-FFF2-40B4-BE49-F238E27FC236}">
                <a16:creationId xmlns:a16="http://schemas.microsoft.com/office/drawing/2014/main" id="{F5722A07-23DC-4680-B7B6-42AEE8D7129D}"/>
              </a:ext>
            </a:extLst>
          </p:cNvPr>
          <p:cNvSpPr/>
          <p:nvPr/>
        </p:nvSpPr>
        <p:spPr>
          <a:xfrm>
            <a:off x="71465" y="4996333"/>
            <a:ext cx="5314477" cy="1384995"/>
          </a:xfrm>
          <a:prstGeom prst="rect">
            <a:avLst/>
          </a:prstGeom>
          <a:solidFill>
            <a:schemeClr val="bg1"/>
          </a:solidFill>
        </p:spPr>
        <p:txBody>
          <a:bodyPr wrap="square">
            <a:spAutoFit/>
          </a:bodyPr>
          <a:lstStyle/>
          <a:p>
            <a:pPr lvl="0">
              <a:defRPr/>
            </a:pPr>
            <a:r>
              <a:rPr lang="ja-JP" altLang="en-US" sz="1200" dirty="0">
                <a:solidFill>
                  <a:srgbClr val="000000"/>
                </a:solidFill>
                <a:latin typeface="メイリオ"/>
              </a:rPr>
              <a:t>ヒアリング・分析を通じた各</a:t>
            </a:r>
            <a:r>
              <a:rPr lang="en-US" altLang="ja-JP" sz="1200" dirty="0">
                <a:solidFill>
                  <a:srgbClr val="000000"/>
                </a:solidFill>
                <a:latin typeface="メイリオ"/>
              </a:rPr>
              <a:t>G</a:t>
            </a:r>
            <a:r>
              <a:rPr lang="ja-JP" altLang="en-US" sz="1200" dirty="0">
                <a:solidFill>
                  <a:srgbClr val="000000"/>
                </a:solidFill>
                <a:latin typeface="メイリオ"/>
              </a:rPr>
              <a:t>の業務を更に効率化されるための事務局の見解は以下のとおり。</a:t>
            </a:r>
            <a:endParaRPr lang="en-US" altLang="ja-JP" sz="1200" dirty="0">
              <a:solidFill>
                <a:srgbClr val="000000"/>
              </a:solidFill>
              <a:latin typeface="メイリオ"/>
            </a:endParaRPr>
          </a:p>
          <a:p>
            <a:pPr marL="171450" lvl="0" indent="-171450">
              <a:buFont typeface="Wingdings" panose="05000000000000000000" pitchFamily="2" charset="2"/>
              <a:buChar char="l"/>
              <a:defRPr/>
            </a:pPr>
            <a:r>
              <a:rPr lang="ja-JP" altLang="en-US" sz="1200" dirty="0">
                <a:solidFill>
                  <a:srgbClr val="000000"/>
                </a:solidFill>
                <a:latin typeface="メイリオ"/>
              </a:rPr>
              <a:t>見積：見積業務を各部または見積</a:t>
            </a:r>
            <a:r>
              <a:rPr lang="en-US" altLang="ja-JP" sz="1200" dirty="0">
                <a:solidFill>
                  <a:srgbClr val="000000"/>
                </a:solidFill>
                <a:latin typeface="メイリオ"/>
              </a:rPr>
              <a:t>G</a:t>
            </a:r>
            <a:r>
              <a:rPr lang="ja-JP" altLang="en-US" sz="1200" dirty="0">
                <a:solidFill>
                  <a:srgbClr val="000000"/>
                </a:solidFill>
                <a:latin typeface="メイリオ"/>
              </a:rPr>
              <a:t>へ寄せる、または業務自体の削減</a:t>
            </a:r>
            <a:endParaRPr lang="en-US" altLang="ja-JP" sz="1200" dirty="0">
              <a:solidFill>
                <a:srgbClr val="000000"/>
              </a:solidFill>
              <a:latin typeface="メイリオ"/>
            </a:endParaRPr>
          </a:p>
          <a:p>
            <a:pPr marL="171450" lvl="0" indent="-171450">
              <a:buFont typeface="Wingdings" panose="05000000000000000000" pitchFamily="2" charset="2"/>
              <a:buChar char="l"/>
              <a:defRPr/>
            </a:pPr>
            <a:r>
              <a:rPr lang="ja-JP" altLang="en-US" sz="1200" dirty="0">
                <a:solidFill>
                  <a:srgbClr val="000000"/>
                </a:solidFill>
                <a:latin typeface="メイリオ"/>
              </a:rPr>
              <a:t>実行フォロ（金額）：案件規模に応じ、リスクヘッジを鑑み、</a:t>
            </a:r>
            <a:br>
              <a:rPr lang="en-US" altLang="ja-JP" sz="1200" dirty="0">
                <a:solidFill>
                  <a:srgbClr val="000000"/>
                </a:solidFill>
                <a:latin typeface="メイリオ"/>
              </a:rPr>
            </a:br>
            <a:r>
              <a:rPr lang="ja-JP" altLang="en-US" sz="1200" dirty="0">
                <a:solidFill>
                  <a:srgbClr val="000000"/>
                </a:solidFill>
                <a:latin typeface="メイリオ"/>
              </a:rPr>
              <a:t>　　　　　　　　　　</a:t>
            </a:r>
            <a:r>
              <a:rPr lang="en-US" altLang="ja-JP" sz="1200" dirty="0">
                <a:solidFill>
                  <a:srgbClr val="000000"/>
                </a:solidFill>
                <a:latin typeface="メイリオ"/>
              </a:rPr>
              <a:t>1</a:t>
            </a:r>
            <a:r>
              <a:rPr lang="ja-JP" altLang="en-US" sz="1200" dirty="0">
                <a:solidFill>
                  <a:srgbClr val="000000"/>
                </a:solidFill>
                <a:latin typeface="メイリオ"/>
              </a:rPr>
              <a:t>件当たりのフォロに係るコストの低減で</a:t>
            </a:r>
            <a:br>
              <a:rPr lang="en-US" altLang="ja-JP" sz="1200" dirty="0">
                <a:solidFill>
                  <a:srgbClr val="000000"/>
                </a:solidFill>
                <a:latin typeface="メイリオ"/>
              </a:rPr>
            </a:br>
            <a:r>
              <a:rPr lang="ja-JP" altLang="en-US" sz="1200" dirty="0">
                <a:solidFill>
                  <a:srgbClr val="000000"/>
                </a:solidFill>
                <a:latin typeface="メイリオ"/>
              </a:rPr>
              <a:t>　　　　　　　　　　効率化できるか検証</a:t>
            </a:r>
            <a:endParaRPr lang="en-US" altLang="ja-JP" sz="1200" dirty="0">
              <a:solidFill>
                <a:srgbClr val="000000"/>
              </a:solidFill>
              <a:latin typeface="メイリオ"/>
            </a:endParaRPr>
          </a:p>
          <a:p>
            <a:pPr marL="171450" lvl="0" indent="-171450">
              <a:buFont typeface="Wingdings" panose="05000000000000000000" pitchFamily="2" charset="2"/>
              <a:buChar char="l"/>
              <a:defRPr/>
            </a:pPr>
            <a:r>
              <a:rPr lang="ja-JP" altLang="en-US" sz="1200" dirty="0">
                <a:solidFill>
                  <a:srgbClr val="000000"/>
                </a:solidFill>
                <a:latin typeface="メイリオ"/>
              </a:rPr>
              <a:t>実行フォロ（工程）：小口案件のフォロにて他部との業務重複を把握</a:t>
            </a:r>
          </a:p>
        </p:txBody>
      </p:sp>
      <p:sp>
        <p:nvSpPr>
          <p:cNvPr id="9" name="正方形/長方形 8">
            <a:extLst>
              <a:ext uri="{FF2B5EF4-FFF2-40B4-BE49-F238E27FC236}">
                <a16:creationId xmlns:a16="http://schemas.microsoft.com/office/drawing/2014/main" id="{E90D8407-6DF4-4F38-9091-014C81E08EF3}"/>
              </a:ext>
            </a:extLst>
          </p:cNvPr>
          <p:cNvSpPr/>
          <p:nvPr/>
        </p:nvSpPr>
        <p:spPr>
          <a:xfrm>
            <a:off x="-36512" y="1700808"/>
            <a:ext cx="5023555" cy="276999"/>
          </a:xfrm>
          <a:prstGeom prst="rect">
            <a:avLst/>
          </a:prstGeom>
        </p:spPr>
        <p:txBody>
          <a:bodyPr wrap="none">
            <a:spAutoFit/>
          </a:bodyPr>
          <a:lstStyle/>
          <a:p>
            <a:r>
              <a:rPr lang="en-US" altLang="ja-JP" sz="1200" dirty="0">
                <a:solidFill>
                  <a:srgbClr val="000000"/>
                </a:solidFill>
                <a:latin typeface="メイリオ"/>
              </a:rPr>
              <a:t>【</a:t>
            </a:r>
            <a:r>
              <a:rPr lang="ja-JP" altLang="en-US" sz="1200" dirty="0">
                <a:solidFill>
                  <a:srgbClr val="000000"/>
                </a:solidFill>
                <a:latin typeface="メイリオ"/>
              </a:rPr>
              <a:t>案件規模ごとの</a:t>
            </a:r>
            <a:r>
              <a:rPr lang="en-US" altLang="ja-JP" sz="1200" dirty="0">
                <a:solidFill>
                  <a:srgbClr val="000000"/>
                </a:solidFill>
                <a:latin typeface="メイリオ"/>
              </a:rPr>
              <a:t>AS</a:t>
            </a:r>
            <a:r>
              <a:rPr lang="ja-JP" altLang="en-US" sz="1200" dirty="0">
                <a:solidFill>
                  <a:srgbClr val="000000"/>
                </a:solidFill>
                <a:latin typeface="メイリオ"/>
              </a:rPr>
              <a:t>売上額、担当者数、コスト（</a:t>
            </a:r>
            <a:r>
              <a:rPr lang="en-US" altLang="ja-JP" sz="1200" dirty="0">
                <a:solidFill>
                  <a:srgbClr val="000000"/>
                </a:solidFill>
                <a:latin typeface="メイリオ"/>
              </a:rPr>
              <a:t>FY23_7</a:t>
            </a:r>
            <a:r>
              <a:rPr lang="ja-JP" altLang="en-US" sz="1200" dirty="0">
                <a:solidFill>
                  <a:srgbClr val="000000"/>
                </a:solidFill>
                <a:latin typeface="メイリオ"/>
              </a:rPr>
              <a:t>月</a:t>
            </a:r>
            <a:r>
              <a:rPr lang="en-US" altLang="ja-JP" sz="1200" dirty="0">
                <a:solidFill>
                  <a:srgbClr val="000000"/>
                </a:solidFill>
                <a:latin typeface="メイリオ"/>
              </a:rPr>
              <a:t>~3</a:t>
            </a:r>
            <a:r>
              <a:rPr lang="ja-JP" altLang="en-US" sz="1200" dirty="0">
                <a:solidFill>
                  <a:srgbClr val="000000"/>
                </a:solidFill>
                <a:latin typeface="メイリオ"/>
              </a:rPr>
              <a:t>月）</a:t>
            </a:r>
            <a:r>
              <a:rPr lang="en-US" altLang="ja-JP" sz="1200" dirty="0">
                <a:solidFill>
                  <a:srgbClr val="000000"/>
                </a:solidFill>
                <a:latin typeface="メイリオ"/>
              </a:rPr>
              <a:t>】</a:t>
            </a:r>
            <a:endParaRPr lang="ja-JP" altLang="en-US" sz="1200" dirty="0"/>
          </a:p>
        </p:txBody>
      </p:sp>
      <p:sp>
        <p:nvSpPr>
          <p:cNvPr id="5" name="テキスト ボックス 4">
            <a:extLst>
              <a:ext uri="{FF2B5EF4-FFF2-40B4-BE49-F238E27FC236}">
                <a16:creationId xmlns:a16="http://schemas.microsoft.com/office/drawing/2014/main" id="{D847F7DC-73F7-78C0-5C0D-A9C9315EA302}"/>
              </a:ext>
            </a:extLst>
          </p:cNvPr>
          <p:cNvSpPr txBox="1"/>
          <p:nvPr/>
        </p:nvSpPr>
        <p:spPr>
          <a:xfrm>
            <a:off x="7928656" y="3896850"/>
            <a:ext cx="1261884" cy="954107"/>
          </a:xfrm>
          <a:prstGeom prst="rect">
            <a:avLst/>
          </a:prstGeom>
          <a:noFill/>
        </p:spPr>
        <p:txBody>
          <a:bodyPr wrap="none" rtlCol="0">
            <a:spAutoFit/>
          </a:bodyPr>
          <a:lstStyle/>
          <a:p>
            <a:r>
              <a:rPr kumimoji="1" lang="ja-JP" altLang="en-US" sz="1400" dirty="0"/>
              <a:t>理論値の為、</a:t>
            </a:r>
            <a:endParaRPr kumimoji="1" lang="en-US" altLang="ja-JP" sz="1400" dirty="0"/>
          </a:p>
          <a:p>
            <a:r>
              <a:rPr kumimoji="1" lang="ja-JP" altLang="en-US" sz="1400" dirty="0"/>
              <a:t>実態との乖離</a:t>
            </a:r>
            <a:br>
              <a:rPr kumimoji="1" lang="en-US" altLang="ja-JP" sz="1400" dirty="0"/>
            </a:br>
            <a:r>
              <a:rPr kumimoji="1" lang="ja-JP" altLang="en-US" sz="1400" dirty="0"/>
              <a:t>の把握</a:t>
            </a:r>
            <a:r>
              <a:rPr lang="ja-JP" altLang="en-US" sz="1400" dirty="0"/>
              <a:t>・</a:t>
            </a:r>
            <a:br>
              <a:rPr lang="en-US" altLang="ja-JP" sz="1400" dirty="0"/>
            </a:br>
            <a:r>
              <a:rPr lang="ja-JP" altLang="en-US" sz="1400" dirty="0"/>
              <a:t>検証が必要</a:t>
            </a:r>
            <a:endParaRPr kumimoji="1" lang="ja-JP" altLang="en-US" sz="1400" dirty="0"/>
          </a:p>
        </p:txBody>
      </p:sp>
      <p:sp>
        <p:nvSpPr>
          <p:cNvPr id="18" name="テキスト ボックス 17">
            <a:extLst>
              <a:ext uri="{FF2B5EF4-FFF2-40B4-BE49-F238E27FC236}">
                <a16:creationId xmlns:a16="http://schemas.microsoft.com/office/drawing/2014/main" id="{900A4B42-AF96-DE7F-858E-C4F82430D967}"/>
              </a:ext>
            </a:extLst>
          </p:cNvPr>
          <p:cNvSpPr txBox="1"/>
          <p:nvPr/>
        </p:nvSpPr>
        <p:spPr>
          <a:xfrm>
            <a:off x="6732240" y="4886744"/>
            <a:ext cx="1710725" cy="261610"/>
          </a:xfrm>
          <a:prstGeom prst="rect">
            <a:avLst/>
          </a:prstGeom>
          <a:noFill/>
        </p:spPr>
        <p:txBody>
          <a:bodyPr wrap="none" rtlCol="0">
            <a:spAutoFit/>
          </a:bodyPr>
          <a:lstStyle/>
          <a:p>
            <a:r>
              <a:rPr lang="ja-JP" altLang="en-US" sz="1100" dirty="0">
                <a:solidFill>
                  <a:srgbClr val="FF0000"/>
                </a:solidFill>
              </a:rPr>
              <a:t>⑩＝⑥ </a:t>
            </a:r>
            <a:r>
              <a:rPr lang="en-US" altLang="ja-JP" sz="1100" dirty="0">
                <a:solidFill>
                  <a:srgbClr val="FF0000"/>
                </a:solidFill>
              </a:rPr>
              <a:t>/ </a:t>
            </a:r>
            <a:r>
              <a:rPr lang="ja-JP" altLang="en-US" sz="1100" dirty="0">
                <a:solidFill>
                  <a:srgbClr val="FF0000"/>
                </a:solidFill>
              </a:rPr>
              <a:t>①として、計算</a:t>
            </a:r>
            <a:endParaRPr kumimoji="1" lang="ja-JP" altLang="en-US" sz="1100" dirty="0">
              <a:solidFill>
                <a:srgbClr val="FF0000"/>
              </a:solidFill>
            </a:endParaRPr>
          </a:p>
        </p:txBody>
      </p:sp>
    </p:spTree>
    <p:extLst>
      <p:ext uri="{BB962C8B-B14F-4D97-AF65-F5344CB8AC3E}">
        <p14:creationId xmlns:p14="http://schemas.microsoft.com/office/powerpoint/2010/main" val="3293711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8F1F7DC-D8BF-3813-9388-C3BF293B42EA}"/>
              </a:ext>
            </a:extLst>
          </p:cNvPr>
          <p:cNvSpPr>
            <a:spLocks noGrp="1"/>
          </p:cNvSpPr>
          <p:nvPr>
            <p:ph type="title"/>
          </p:nvPr>
        </p:nvSpPr>
        <p:spPr>
          <a:xfrm>
            <a:off x="308725" y="2699385"/>
            <a:ext cx="8531974" cy="1161663"/>
          </a:xfrm>
        </p:spPr>
        <p:txBody>
          <a:bodyPr/>
          <a:lstStyle/>
          <a:p>
            <a:r>
              <a:rPr lang="ja-JP" altLang="en-US" sz="2400" dirty="0"/>
              <a:t>５．フェーズ３の活動詳細</a:t>
            </a:r>
            <a:br>
              <a:rPr lang="en-US" altLang="ja-JP" sz="2400" b="0" dirty="0"/>
            </a:br>
            <a:r>
              <a:rPr lang="ja-JP" altLang="en-US" sz="2000" b="0" dirty="0"/>
              <a:t>　　５－２．遂行（設計）業務の整流化・効率化について</a:t>
            </a:r>
            <a:br>
              <a:rPr lang="ja-JP" altLang="en-US" sz="2000" b="0" dirty="0"/>
            </a:br>
            <a:endParaRPr lang="ja-JP" altLang="en-US" sz="2400" dirty="0"/>
          </a:p>
        </p:txBody>
      </p:sp>
    </p:spTree>
    <p:extLst>
      <p:ext uri="{BB962C8B-B14F-4D97-AF65-F5344CB8AC3E}">
        <p14:creationId xmlns:p14="http://schemas.microsoft.com/office/powerpoint/2010/main" val="2923775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3F30C9F-7CC2-6E95-0773-9BF7F368B62E}"/>
              </a:ext>
            </a:extLst>
          </p:cNvPr>
          <p:cNvSpPr/>
          <p:nvPr/>
        </p:nvSpPr>
        <p:spPr>
          <a:xfrm>
            <a:off x="72000" y="693208"/>
            <a:ext cx="9000000" cy="1367640"/>
          </a:xfrm>
          <a:prstGeom prst="rect">
            <a:avLst/>
          </a:prstGeom>
          <a:solidFill>
            <a:schemeClr val="bg2">
              <a:lumMod val="40000"/>
              <a:lumOff val="60000"/>
            </a:schemeClr>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lang="ja-JP" altLang="en-US" sz="1600" dirty="0">
                <a:solidFill>
                  <a:srgbClr val="000000"/>
                </a:solidFill>
                <a:latin typeface="メイリオ"/>
                <a:ea typeface="メイリオ"/>
              </a:rPr>
              <a:t>件数の多い小口案件が全体に占める工数の割合が高く、工数に対する売上の割合も他に</a:t>
            </a:r>
            <a:br>
              <a:rPr lang="en-US" altLang="ja-JP" sz="1600" dirty="0">
                <a:solidFill>
                  <a:srgbClr val="000000"/>
                </a:solidFill>
                <a:latin typeface="メイリオ"/>
                <a:ea typeface="メイリオ"/>
              </a:rPr>
            </a:br>
            <a:r>
              <a:rPr lang="ja-JP" altLang="en-US" sz="1600" dirty="0">
                <a:solidFill>
                  <a:srgbClr val="000000"/>
                </a:solidFill>
                <a:latin typeface="メイリオ"/>
                <a:ea typeface="メイリオ"/>
              </a:rPr>
              <a:t>比べて小さいため、小口案件を効率化の対象とする。</a:t>
            </a:r>
            <a:endParaRPr lang="en-US" altLang="ja-JP" sz="1600" dirty="0">
              <a:solidFill>
                <a:srgbClr val="000000"/>
              </a:solidFill>
              <a:latin typeface="メイリオ"/>
              <a:ea typeface="メイリオ"/>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lang="ja-JP" altLang="en-US" sz="1600" dirty="0">
                <a:solidFill>
                  <a:srgbClr val="000000"/>
                </a:solidFill>
                <a:latin typeface="メイリオ"/>
                <a:ea typeface="メイリオ"/>
              </a:rPr>
              <a:t>また、</a:t>
            </a:r>
            <a:r>
              <a:rPr lang="en-US" altLang="ja-JP" sz="1600" dirty="0">
                <a:solidFill>
                  <a:srgbClr val="000000"/>
                </a:solidFill>
                <a:latin typeface="メイリオ"/>
                <a:ea typeface="メイリオ"/>
              </a:rPr>
              <a:t>1</a:t>
            </a:r>
            <a:r>
              <a:rPr lang="ja-JP" altLang="en-US" sz="1600" dirty="0">
                <a:solidFill>
                  <a:srgbClr val="000000"/>
                </a:solidFill>
                <a:latin typeface="メイリオ"/>
                <a:ea typeface="メイリオ"/>
              </a:rPr>
              <a:t>案件に関与する部課数の増加に伴い、工数も増加することが確認できた。</a:t>
            </a:r>
            <a:br>
              <a:rPr lang="en-US" altLang="ja-JP" sz="1600" dirty="0">
                <a:solidFill>
                  <a:srgbClr val="000000"/>
                </a:solidFill>
                <a:latin typeface="メイリオ"/>
                <a:ea typeface="メイリオ"/>
              </a:rPr>
            </a:br>
            <a:r>
              <a:rPr lang="ja-JP" altLang="en-US" sz="1600" dirty="0">
                <a:solidFill>
                  <a:srgbClr val="000000"/>
                </a:solidFill>
                <a:latin typeface="メイリオ"/>
                <a:ea typeface="メイリオ"/>
              </a:rPr>
              <a:t>特に、現地工事を行うオーダに置いて工数の増加が大きいことも確認できた。</a:t>
            </a:r>
            <a:br>
              <a:rPr lang="en-US" altLang="ja-JP" sz="1600" dirty="0">
                <a:solidFill>
                  <a:srgbClr val="000000"/>
                </a:solidFill>
                <a:latin typeface="メイリオ"/>
                <a:ea typeface="メイリオ"/>
              </a:rPr>
            </a:br>
            <a:endParaRPr lang="en-US" altLang="ja-JP" sz="1600" dirty="0">
              <a:solidFill>
                <a:srgbClr val="000000"/>
              </a:solidFill>
              <a:latin typeface="メイリオ"/>
              <a:ea typeface="メイリオ"/>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endParaRPr lang="en-US" altLang="ja-JP" sz="1600" dirty="0">
              <a:solidFill>
                <a:srgbClr val="000000"/>
              </a:solidFill>
              <a:latin typeface="メイリオ"/>
              <a:ea typeface="メイリオ"/>
            </a:endParaRPr>
          </a:p>
        </p:txBody>
      </p:sp>
      <p:sp>
        <p:nvSpPr>
          <p:cNvPr id="3" name="タイトル 4">
            <a:extLst>
              <a:ext uri="{FF2B5EF4-FFF2-40B4-BE49-F238E27FC236}">
                <a16:creationId xmlns:a16="http://schemas.microsoft.com/office/drawing/2014/main" id="{853D9387-A196-BD35-C9CC-54DE60F58B80}"/>
              </a:ext>
            </a:extLst>
          </p:cNvPr>
          <p:cNvSpPr txBox="1">
            <a:spLocks/>
          </p:cNvSpPr>
          <p:nvPr/>
        </p:nvSpPr>
        <p:spPr>
          <a:xfrm>
            <a:off x="248234" y="135110"/>
            <a:ext cx="7227899" cy="349961"/>
          </a:xfrm>
          <a:prstGeom prst="rect">
            <a:avLst/>
          </a:prstGeom>
        </p:spPr>
        <p:txBody>
          <a:bodyPr/>
          <a:lst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a:lstStyle>
          <a:p>
            <a:r>
              <a:rPr lang="en-US" altLang="ja-JP" sz="1800" b="1" dirty="0">
                <a:latin typeface="+mj-ea"/>
              </a:rPr>
              <a:t>5-1</a:t>
            </a:r>
            <a:r>
              <a:rPr lang="ja-JP" altLang="en-US" sz="1800" b="1" dirty="0">
                <a:latin typeface="+mj-ea"/>
              </a:rPr>
              <a:t>．</a:t>
            </a:r>
            <a:r>
              <a:rPr kumimoji="1" lang="ja-JP" altLang="en-US" sz="1800" b="1" i="0" u="none" strike="noStrike" kern="1200" cap="none" spc="0" normalizeH="0" baseline="0" noProof="0" dirty="0">
                <a:ln>
                  <a:noFill/>
                </a:ln>
                <a:solidFill>
                  <a:srgbClr val="000000"/>
                </a:solidFill>
                <a:effectLst/>
                <a:uLnTx/>
                <a:uFillTx/>
                <a:latin typeface="メイリオ"/>
                <a:ea typeface="メイリオ"/>
                <a:cs typeface="+mj-cs"/>
              </a:rPr>
              <a:t>遂行（設計）業務の整流化・効率化：サマリ</a:t>
            </a:r>
            <a:endParaRPr lang="ja-JP" altLang="en-US" sz="1800" b="1" dirty="0">
              <a:latin typeface="+mj-ea"/>
            </a:endParaRPr>
          </a:p>
        </p:txBody>
      </p:sp>
      <p:sp>
        <p:nvSpPr>
          <p:cNvPr id="9" name="正方形/長方形 8">
            <a:extLst>
              <a:ext uri="{FF2B5EF4-FFF2-40B4-BE49-F238E27FC236}">
                <a16:creationId xmlns:a16="http://schemas.microsoft.com/office/drawing/2014/main" id="{2BC1113A-9EEA-F2A6-D206-82B78F176410}"/>
              </a:ext>
            </a:extLst>
          </p:cNvPr>
          <p:cNvSpPr/>
          <p:nvPr/>
        </p:nvSpPr>
        <p:spPr>
          <a:xfrm>
            <a:off x="469286" y="3276228"/>
            <a:ext cx="2880320" cy="576064"/>
          </a:xfrm>
          <a:prstGeom prst="rect">
            <a:avLst/>
          </a:prstGeom>
          <a:solidFill>
            <a:schemeClr val="bg2">
              <a:lumMod val="20000"/>
              <a:lumOff val="80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n-ea"/>
              </a:rPr>
              <a:t>大型改造（</a:t>
            </a:r>
            <a:r>
              <a:rPr kumimoji="1" lang="en-US" altLang="ja-JP" sz="1600" b="1" dirty="0">
                <a:solidFill>
                  <a:schemeClr val="tx1"/>
                </a:solidFill>
                <a:latin typeface="+mn-ea"/>
              </a:rPr>
              <a:t>20</a:t>
            </a:r>
            <a:r>
              <a:rPr kumimoji="1" lang="ja-JP" altLang="en-US" sz="1600" b="1" dirty="0">
                <a:solidFill>
                  <a:schemeClr val="tx1"/>
                </a:solidFill>
                <a:latin typeface="+mn-ea"/>
              </a:rPr>
              <a:t>億円～）</a:t>
            </a:r>
          </a:p>
        </p:txBody>
      </p:sp>
      <p:sp>
        <p:nvSpPr>
          <p:cNvPr id="16" name="正方形/長方形 15">
            <a:extLst>
              <a:ext uri="{FF2B5EF4-FFF2-40B4-BE49-F238E27FC236}">
                <a16:creationId xmlns:a16="http://schemas.microsoft.com/office/drawing/2014/main" id="{3E40B895-9746-883A-73FE-DFC60845CCA8}"/>
              </a:ext>
            </a:extLst>
          </p:cNvPr>
          <p:cNvSpPr/>
          <p:nvPr/>
        </p:nvSpPr>
        <p:spPr>
          <a:xfrm>
            <a:off x="469286" y="4262395"/>
            <a:ext cx="2880320" cy="576064"/>
          </a:xfrm>
          <a:prstGeom prst="rect">
            <a:avLst/>
          </a:prstGeom>
          <a:solidFill>
            <a:schemeClr val="bg2">
              <a:lumMod val="20000"/>
              <a:lumOff val="80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n-ea"/>
              </a:rPr>
              <a:t>大口（</a:t>
            </a:r>
            <a:r>
              <a:rPr kumimoji="1" lang="en-US" altLang="ja-JP" sz="1600" b="1" dirty="0">
                <a:solidFill>
                  <a:schemeClr val="tx1"/>
                </a:solidFill>
                <a:latin typeface="+mn-ea"/>
              </a:rPr>
              <a:t>1</a:t>
            </a:r>
            <a:r>
              <a:rPr kumimoji="1" lang="ja-JP" altLang="en-US" sz="1600" b="1" dirty="0">
                <a:solidFill>
                  <a:schemeClr val="tx1"/>
                </a:solidFill>
                <a:latin typeface="+mn-ea"/>
              </a:rPr>
              <a:t>億円～）</a:t>
            </a:r>
          </a:p>
        </p:txBody>
      </p:sp>
      <p:sp>
        <p:nvSpPr>
          <p:cNvPr id="18" name="正方形/長方形 17">
            <a:extLst>
              <a:ext uri="{FF2B5EF4-FFF2-40B4-BE49-F238E27FC236}">
                <a16:creationId xmlns:a16="http://schemas.microsoft.com/office/drawing/2014/main" id="{F2842D79-FD81-DAA7-639F-4AE3101522CF}"/>
              </a:ext>
            </a:extLst>
          </p:cNvPr>
          <p:cNvSpPr/>
          <p:nvPr/>
        </p:nvSpPr>
        <p:spPr>
          <a:xfrm>
            <a:off x="469286" y="5248562"/>
            <a:ext cx="2880320" cy="576064"/>
          </a:xfrm>
          <a:prstGeom prst="rect">
            <a:avLst/>
          </a:prstGeom>
          <a:solidFill>
            <a:schemeClr val="bg2">
              <a:lumMod val="20000"/>
              <a:lumOff val="80000"/>
            </a:schemeClr>
          </a:solidFill>
          <a:ln w="952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solidFill>
                  <a:srgbClr val="FF0000"/>
                </a:solidFill>
                <a:latin typeface="+mn-ea"/>
              </a:rPr>
              <a:t>小口</a:t>
            </a:r>
            <a:r>
              <a:rPr kumimoji="1" lang="ja-JP" altLang="en-US" sz="1600" b="1" dirty="0">
                <a:solidFill>
                  <a:srgbClr val="FF0000"/>
                </a:solidFill>
                <a:latin typeface="+mn-ea"/>
              </a:rPr>
              <a:t>（～</a:t>
            </a:r>
            <a:r>
              <a:rPr kumimoji="1" lang="en-US" altLang="ja-JP" sz="1600" b="1" dirty="0">
                <a:solidFill>
                  <a:srgbClr val="FF0000"/>
                </a:solidFill>
                <a:latin typeface="+mn-ea"/>
              </a:rPr>
              <a:t>1</a:t>
            </a:r>
            <a:r>
              <a:rPr kumimoji="1" lang="ja-JP" altLang="en-US" sz="1600" b="1" dirty="0">
                <a:solidFill>
                  <a:srgbClr val="FF0000"/>
                </a:solidFill>
                <a:latin typeface="+mn-ea"/>
              </a:rPr>
              <a:t>億円）</a:t>
            </a:r>
            <a:endParaRPr kumimoji="1" lang="en-US" altLang="ja-JP" sz="1600" b="1" dirty="0">
              <a:solidFill>
                <a:srgbClr val="FF0000"/>
              </a:solidFill>
              <a:latin typeface="+mn-ea"/>
            </a:endParaRPr>
          </a:p>
          <a:p>
            <a:pPr algn="ctr"/>
            <a:r>
              <a:rPr lang="ja-JP" altLang="en-US" sz="1600" b="1" dirty="0">
                <a:solidFill>
                  <a:srgbClr val="FF0000"/>
                </a:solidFill>
                <a:latin typeface="+mn-ea"/>
              </a:rPr>
              <a:t>総工数の占める割合：大</a:t>
            </a:r>
            <a:endParaRPr kumimoji="1" lang="ja-JP" altLang="en-US" sz="1600" b="1" dirty="0">
              <a:solidFill>
                <a:srgbClr val="FF0000"/>
              </a:solidFill>
              <a:latin typeface="+mn-ea"/>
            </a:endParaRPr>
          </a:p>
        </p:txBody>
      </p:sp>
      <p:cxnSp>
        <p:nvCxnSpPr>
          <p:cNvPr id="20" name="直線矢印コネクタ 19">
            <a:extLst>
              <a:ext uri="{FF2B5EF4-FFF2-40B4-BE49-F238E27FC236}">
                <a16:creationId xmlns:a16="http://schemas.microsoft.com/office/drawing/2014/main" id="{7CF246CD-080A-EDE5-FB34-3DEA66BF1B3C}"/>
              </a:ext>
            </a:extLst>
          </p:cNvPr>
          <p:cNvCxnSpPr>
            <a:cxnSpLocks/>
          </p:cNvCxnSpPr>
          <p:nvPr/>
        </p:nvCxnSpPr>
        <p:spPr>
          <a:xfrm>
            <a:off x="3707904" y="3593103"/>
            <a:ext cx="0" cy="191464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8EC45B4A-FBDF-2695-2114-A5D292D86EBE}"/>
              </a:ext>
            </a:extLst>
          </p:cNvPr>
          <p:cNvCxnSpPr>
            <a:cxnSpLocks/>
          </p:cNvCxnSpPr>
          <p:nvPr/>
        </p:nvCxnSpPr>
        <p:spPr>
          <a:xfrm>
            <a:off x="4673963" y="3593102"/>
            <a:ext cx="0" cy="191464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A633DEEC-C9A0-FC61-19F4-4F1152C2556F}"/>
              </a:ext>
            </a:extLst>
          </p:cNvPr>
          <p:cNvSpPr txBox="1"/>
          <p:nvPr/>
        </p:nvSpPr>
        <p:spPr>
          <a:xfrm>
            <a:off x="3349606" y="2929461"/>
            <a:ext cx="646331" cy="646331"/>
          </a:xfrm>
          <a:prstGeom prst="rect">
            <a:avLst/>
          </a:prstGeom>
          <a:noFill/>
        </p:spPr>
        <p:txBody>
          <a:bodyPr wrap="none" rtlCol="0">
            <a:spAutoFit/>
          </a:bodyPr>
          <a:lstStyle/>
          <a:p>
            <a:pPr algn="ctr"/>
            <a:r>
              <a:rPr kumimoji="1" lang="ja-JP" altLang="en-US" dirty="0"/>
              <a:t>件数</a:t>
            </a:r>
            <a:endParaRPr kumimoji="1" lang="en-US" altLang="ja-JP" dirty="0"/>
          </a:p>
          <a:p>
            <a:pPr algn="ctr"/>
            <a:r>
              <a:rPr lang="ja-JP" altLang="en-US" dirty="0"/>
              <a:t>少</a:t>
            </a:r>
            <a:endParaRPr kumimoji="1" lang="ja-JP" altLang="en-US" dirty="0"/>
          </a:p>
        </p:txBody>
      </p:sp>
      <p:sp>
        <p:nvSpPr>
          <p:cNvPr id="23" name="テキスト ボックス 22">
            <a:extLst>
              <a:ext uri="{FF2B5EF4-FFF2-40B4-BE49-F238E27FC236}">
                <a16:creationId xmlns:a16="http://schemas.microsoft.com/office/drawing/2014/main" id="{E703BE24-4407-F848-336E-BD520EB1BCCF}"/>
              </a:ext>
            </a:extLst>
          </p:cNvPr>
          <p:cNvSpPr txBox="1"/>
          <p:nvPr/>
        </p:nvSpPr>
        <p:spPr>
          <a:xfrm>
            <a:off x="4055844" y="2946771"/>
            <a:ext cx="1236236" cy="646331"/>
          </a:xfrm>
          <a:prstGeom prst="rect">
            <a:avLst/>
          </a:prstGeom>
          <a:noFill/>
        </p:spPr>
        <p:txBody>
          <a:bodyPr wrap="none" rtlCol="0">
            <a:spAutoFit/>
          </a:bodyPr>
          <a:lstStyle/>
          <a:p>
            <a:pPr algn="ctr"/>
            <a:r>
              <a:rPr kumimoji="1" lang="en-US" altLang="ja-JP" dirty="0"/>
              <a:t>1</a:t>
            </a:r>
            <a:r>
              <a:rPr kumimoji="1" lang="ja-JP" altLang="en-US" dirty="0"/>
              <a:t>件当たり</a:t>
            </a:r>
            <a:endParaRPr kumimoji="1" lang="en-US" altLang="ja-JP" dirty="0"/>
          </a:p>
          <a:p>
            <a:pPr algn="ctr"/>
            <a:r>
              <a:rPr kumimoji="1" lang="ja-JP" altLang="en-US" dirty="0"/>
              <a:t>工数</a:t>
            </a:r>
            <a:r>
              <a:rPr lang="ja-JP" altLang="en-US" dirty="0"/>
              <a:t>多</a:t>
            </a:r>
            <a:endParaRPr kumimoji="1" lang="ja-JP" altLang="en-US" dirty="0"/>
          </a:p>
        </p:txBody>
      </p:sp>
      <p:sp>
        <p:nvSpPr>
          <p:cNvPr id="24" name="テキスト ボックス 23">
            <a:extLst>
              <a:ext uri="{FF2B5EF4-FFF2-40B4-BE49-F238E27FC236}">
                <a16:creationId xmlns:a16="http://schemas.microsoft.com/office/drawing/2014/main" id="{51006699-14EF-9FA2-531E-91E62D7B999B}"/>
              </a:ext>
            </a:extLst>
          </p:cNvPr>
          <p:cNvSpPr txBox="1"/>
          <p:nvPr/>
        </p:nvSpPr>
        <p:spPr>
          <a:xfrm>
            <a:off x="3500155" y="5558086"/>
            <a:ext cx="415498" cy="369332"/>
          </a:xfrm>
          <a:prstGeom prst="rect">
            <a:avLst/>
          </a:prstGeom>
          <a:noFill/>
        </p:spPr>
        <p:txBody>
          <a:bodyPr wrap="none" rtlCol="0">
            <a:spAutoFit/>
          </a:bodyPr>
          <a:lstStyle/>
          <a:p>
            <a:pPr algn="ctr"/>
            <a:r>
              <a:rPr kumimoji="1" lang="ja-JP" altLang="en-US" dirty="0"/>
              <a:t>多</a:t>
            </a:r>
          </a:p>
        </p:txBody>
      </p:sp>
      <p:sp>
        <p:nvSpPr>
          <p:cNvPr id="25" name="テキスト ボックス 24">
            <a:extLst>
              <a:ext uri="{FF2B5EF4-FFF2-40B4-BE49-F238E27FC236}">
                <a16:creationId xmlns:a16="http://schemas.microsoft.com/office/drawing/2014/main" id="{06C7D600-DA83-98E6-940D-136C635B7491}"/>
              </a:ext>
            </a:extLst>
          </p:cNvPr>
          <p:cNvSpPr txBox="1"/>
          <p:nvPr/>
        </p:nvSpPr>
        <p:spPr>
          <a:xfrm>
            <a:off x="4466213" y="5558086"/>
            <a:ext cx="415498" cy="369332"/>
          </a:xfrm>
          <a:prstGeom prst="rect">
            <a:avLst/>
          </a:prstGeom>
          <a:noFill/>
        </p:spPr>
        <p:txBody>
          <a:bodyPr wrap="none" rtlCol="0">
            <a:spAutoFit/>
          </a:bodyPr>
          <a:lstStyle/>
          <a:p>
            <a:pPr algn="ctr"/>
            <a:r>
              <a:rPr kumimoji="1" lang="ja-JP" altLang="en-US" dirty="0"/>
              <a:t>少</a:t>
            </a:r>
          </a:p>
        </p:txBody>
      </p:sp>
      <p:sp>
        <p:nvSpPr>
          <p:cNvPr id="26" name="正方形/長方形 25">
            <a:extLst>
              <a:ext uri="{FF2B5EF4-FFF2-40B4-BE49-F238E27FC236}">
                <a16:creationId xmlns:a16="http://schemas.microsoft.com/office/drawing/2014/main" id="{2F6D440E-F463-8012-56D5-AB1D0C811E46}"/>
              </a:ext>
            </a:extLst>
          </p:cNvPr>
          <p:cNvSpPr/>
          <p:nvPr/>
        </p:nvSpPr>
        <p:spPr>
          <a:xfrm>
            <a:off x="6084168" y="3176102"/>
            <a:ext cx="2880320" cy="576064"/>
          </a:xfrm>
          <a:prstGeom prst="rect">
            <a:avLst/>
          </a:prstGeom>
          <a:solidFill>
            <a:schemeClr val="bg2">
              <a:lumMod val="20000"/>
              <a:lumOff val="80000"/>
            </a:schemeClr>
          </a:solidFill>
          <a:ln w="952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solidFill>
                  <a:srgbClr val="FF0000"/>
                </a:solidFill>
                <a:latin typeface="+mn-ea"/>
              </a:rPr>
              <a:t>複数部・課</a:t>
            </a:r>
            <a:endParaRPr lang="en-US" altLang="ja-JP" sz="1600" b="1" dirty="0">
              <a:solidFill>
                <a:srgbClr val="FF0000"/>
              </a:solidFill>
              <a:latin typeface="+mn-ea"/>
            </a:endParaRPr>
          </a:p>
          <a:p>
            <a:pPr algn="ctr"/>
            <a:r>
              <a:rPr lang="ja-JP" altLang="en-US" sz="1600" b="1" dirty="0">
                <a:solidFill>
                  <a:srgbClr val="FF0000"/>
                </a:solidFill>
                <a:latin typeface="+mn-ea"/>
              </a:rPr>
              <a:t>工数増加率：高</a:t>
            </a:r>
          </a:p>
        </p:txBody>
      </p:sp>
      <p:sp>
        <p:nvSpPr>
          <p:cNvPr id="28" name="正方形/長方形 27">
            <a:extLst>
              <a:ext uri="{FF2B5EF4-FFF2-40B4-BE49-F238E27FC236}">
                <a16:creationId xmlns:a16="http://schemas.microsoft.com/office/drawing/2014/main" id="{131101E6-DE3E-41EE-C237-9610603D05B3}"/>
              </a:ext>
            </a:extLst>
          </p:cNvPr>
          <p:cNvSpPr/>
          <p:nvPr/>
        </p:nvSpPr>
        <p:spPr>
          <a:xfrm>
            <a:off x="6084168" y="5148436"/>
            <a:ext cx="2880320" cy="576064"/>
          </a:xfrm>
          <a:prstGeom prst="rect">
            <a:avLst/>
          </a:prstGeom>
          <a:solidFill>
            <a:schemeClr val="bg2">
              <a:lumMod val="20000"/>
              <a:lumOff val="80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solidFill>
                  <a:schemeClr val="tx1"/>
                </a:solidFill>
                <a:latin typeface="+mn-ea"/>
              </a:rPr>
              <a:t>単課</a:t>
            </a:r>
          </a:p>
        </p:txBody>
      </p:sp>
      <p:cxnSp>
        <p:nvCxnSpPr>
          <p:cNvPr id="29" name="直線矢印コネクタ 28">
            <a:extLst>
              <a:ext uri="{FF2B5EF4-FFF2-40B4-BE49-F238E27FC236}">
                <a16:creationId xmlns:a16="http://schemas.microsoft.com/office/drawing/2014/main" id="{A65521A2-7FD0-0EC1-30E1-44FD7B8F395D}"/>
              </a:ext>
            </a:extLst>
          </p:cNvPr>
          <p:cNvCxnSpPr>
            <a:cxnSpLocks/>
            <a:stCxn id="26" idx="2"/>
            <a:endCxn id="28" idx="0"/>
          </p:cNvCxnSpPr>
          <p:nvPr/>
        </p:nvCxnSpPr>
        <p:spPr>
          <a:xfrm>
            <a:off x="7524328" y="3752166"/>
            <a:ext cx="0" cy="139627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9A90FA78-68B7-880F-B91B-295B72FE2FAE}"/>
              </a:ext>
            </a:extLst>
          </p:cNvPr>
          <p:cNvSpPr txBox="1"/>
          <p:nvPr/>
        </p:nvSpPr>
        <p:spPr>
          <a:xfrm>
            <a:off x="342527" y="2291748"/>
            <a:ext cx="3416320" cy="646331"/>
          </a:xfrm>
          <a:prstGeom prst="rect">
            <a:avLst/>
          </a:prstGeom>
          <a:noFill/>
        </p:spPr>
        <p:txBody>
          <a:bodyPr wrap="none" rtlCol="0">
            <a:spAutoFit/>
          </a:bodyPr>
          <a:lstStyle/>
          <a:p>
            <a:r>
              <a:rPr kumimoji="1" lang="ja-JP" altLang="en-US" dirty="0"/>
              <a:t>案件の規模よりも、件数の方が</a:t>
            </a:r>
            <a:endParaRPr kumimoji="1" lang="en-US" altLang="ja-JP" dirty="0"/>
          </a:p>
          <a:p>
            <a:r>
              <a:rPr kumimoji="1" lang="ja-JP" altLang="en-US" dirty="0"/>
              <a:t>工数への影響が大きい</a:t>
            </a:r>
          </a:p>
        </p:txBody>
      </p:sp>
      <p:sp>
        <p:nvSpPr>
          <p:cNvPr id="33" name="テキスト ボックス 32">
            <a:extLst>
              <a:ext uri="{FF2B5EF4-FFF2-40B4-BE49-F238E27FC236}">
                <a16:creationId xmlns:a16="http://schemas.microsoft.com/office/drawing/2014/main" id="{AA4D0C65-8A5F-3663-29CC-678693028476}"/>
              </a:ext>
            </a:extLst>
          </p:cNvPr>
          <p:cNvSpPr txBox="1"/>
          <p:nvPr/>
        </p:nvSpPr>
        <p:spPr>
          <a:xfrm>
            <a:off x="6084168" y="2276872"/>
            <a:ext cx="2492990" cy="646331"/>
          </a:xfrm>
          <a:prstGeom prst="rect">
            <a:avLst/>
          </a:prstGeom>
          <a:noFill/>
        </p:spPr>
        <p:txBody>
          <a:bodyPr wrap="none" rtlCol="0">
            <a:spAutoFit/>
          </a:bodyPr>
          <a:lstStyle/>
          <a:p>
            <a:r>
              <a:rPr kumimoji="1" lang="ja-JP" altLang="en-US" dirty="0"/>
              <a:t>部課増加は</a:t>
            </a:r>
            <a:endParaRPr kumimoji="1" lang="en-US" altLang="ja-JP" dirty="0"/>
          </a:p>
          <a:p>
            <a:r>
              <a:rPr kumimoji="1" lang="ja-JP" altLang="en-US" dirty="0"/>
              <a:t>工数への影響が大きい</a:t>
            </a:r>
          </a:p>
        </p:txBody>
      </p:sp>
    </p:spTree>
    <p:extLst>
      <p:ext uri="{BB962C8B-B14F-4D97-AF65-F5344CB8AC3E}">
        <p14:creationId xmlns:p14="http://schemas.microsoft.com/office/powerpoint/2010/main" val="3399020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63855DB5-3E35-4601-B3A3-471FB844AE80}"/>
              </a:ext>
            </a:extLst>
          </p:cNvPr>
          <p:cNvPicPr>
            <a:picLocks noChangeAspect="1"/>
          </p:cNvPicPr>
          <p:nvPr/>
        </p:nvPicPr>
        <p:blipFill>
          <a:blip r:embed="rId2"/>
          <a:stretch>
            <a:fillRect/>
          </a:stretch>
        </p:blipFill>
        <p:spPr>
          <a:xfrm>
            <a:off x="107504" y="1916832"/>
            <a:ext cx="4393153" cy="4241882"/>
          </a:xfrm>
          <a:prstGeom prst="rect">
            <a:avLst/>
          </a:prstGeom>
        </p:spPr>
      </p:pic>
      <p:sp>
        <p:nvSpPr>
          <p:cNvPr id="4" name="テキスト ボックス 3">
            <a:extLst>
              <a:ext uri="{FF2B5EF4-FFF2-40B4-BE49-F238E27FC236}">
                <a16:creationId xmlns:a16="http://schemas.microsoft.com/office/drawing/2014/main" id="{DAAE38C0-9E4A-5811-18CE-D84FB6883691}"/>
              </a:ext>
            </a:extLst>
          </p:cNvPr>
          <p:cNvSpPr txBox="1"/>
          <p:nvPr/>
        </p:nvSpPr>
        <p:spPr>
          <a:xfrm>
            <a:off x="246720" y="113188"/>
            <a:ext cx="7358743" cy="369332"/>
          </a:xfrm>
          <a:prstGeom prst="rect">
            <a:avLst/>
          </a:prstGeom>
        </p:spPr>
        <p:txBody>
          <a:bodyPr/>
          <a:lstStyle>
            <a:defPPr>
              <a:defRPr lang="ja-JP"/>
            </a:defPPr>
            <a:lvl1pPr defTabSz="685800">
              <a:lnSpc>
                <a:spcPct val="90000"/>
              </a:lnSpc>
              <a:spcBef>
                <a:spcPct val="0"/>
              </a:spcBef>
              <a:buNone/>
              <a:defRPr b="1">
                <a:latin typeface="+mj-ea"/>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1" lang="en-US" altLang="ja-JP" sz="1800" b="1" i="0" u="none" strike="noStrike" kern="1200" cap="none" spc="0" normalizeH="0" baseline="0" noProof="0" dirty="0">
                <a:ln>
                  <a:noFill/>
                </a:ln>
                <a:solidFill>
                  <a:srgbClr val="000000"/>
                </a:solidFill>
                <a:effectLst/>
                <a:uLnTx/>
                <a:uFillTx/>
                <a:latin typeface="メイリオ"/>
                <a:ea typeface="メイリオ"/>
                <a:cs typeface="+mj-cs"/>
              </a:rPr>
              <a:t>5-2</a:t>
            </a:r>
            <a:r>
              <a:rPr kumimoji="1" lang="ja-JP" altLang="en-US" sz="1800" b="1" i="0" u="none" strike="noStrike" kern="1200" cap="none" spc="0" normalizeH="0" baseline="0" noProof="0" dirty="0">
                <a:ln>
                  <a:noFill/>
                </a:ln>
                <a:solidFill>
                  <a:srgbClr val="000000"/>
                </a:solidFill>
                <a:effectLst/>
                <a:uLnTx/>
                <a:uFillTx/>
                <a:latin typeface="メイリオ"/>
                <a:ea typeface="メイリオ"/>
                <a:cs typeface="+mj-cs"/>
              </a:rPr>
              <a:t>．遂行（設計）業務の整流化・効率化：対象①</a:t>
            </a:r>
            <a:endParaRPr kumimoji="1" lang="en-US" altLang="ja-JP" sz="1800" b="1" i="0" u="none" strike="noStrike" kern="1200" cap="none" spc="0" normalizeH="0" baseline="0" noProof="0" dirty="0">
              <a:ln>
                <a:noFill/>
              </a:ln>
              <a:solidFill>
                <a:srgbClr val="000000"/>
              </a:solidFill>
              <a:effectLst/>
              <a:uLnTx/>
              <a:uFillTx/>
              <a:latin typeface="メイリオ"/>
              <a:ea typeface="メイリオ"/>
              <a:cs typeface="+mj-cs"/>
            </a:endParaRPr>
          </a:p>
        </p:txBody>
      </p:sp>
      <p:sp>
        <p:nvSpPr>
          <p:cNvPr id="17" name="正方形/長方形 16">
            <a:extLst>
              <a:ext uri="{FF2B5EF4-FFF2-40B4-BE49-F238E27FC236}">
                <a16:creationId xmlns:a16="http://schemas.microsoft.com/office/drawing/2014/main" id="{162F69D0-A3AF-1D86-F46D-1380DDB31078}"/>
              </a:ext>
            </a:extLst>
          </p:cNvPr>
          <p:cNvSpPr/>
          <p:nvPr/>
        </p:nvSpPr>
        <p:spPr>
          <a:xfrm>
            <a:off x="729801" y="1628800"/>
            <a:ext cx="828000"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sysClr val="windowText" lastClr="000000"/>
                </a:solidFill>
                <a:effectLst/>
                <a:uLnTx/>
                <a:uFillTx/>
                <a:latin typeface="Arial"/>
                <a:ea typeface="メイリオ"/>
                <a:cs typeface="+mn-cs"/>
              </a:rPr>
              <a:t>小口</a:t>
            </a:r>
            <a:endParaRPr kumimoji="1" lang="ja-JP" altLang="en-US" sz="1600" i="0" u="none" strike="noStrike" kern="1200" cap="none" spc="0" normalizeH="0" baseline="0" noProof="0" dirty="0">
              <a:ln>
                <a:noFill/>
              </a:ln>
              <a:solidFill>
                <a:sysClr val="windowText" lastClr="000000"/>
              </a:solidFill>
              <a:effectLst/>
              <a:uLnTx/>
              <a:uFillTx/>
              <a:latin typeface="Arial"/>
              <a:ea typeface="メイリオ"/>
              <a:cs typeface="+mn-cs"/>
            </a:endParaRPr>
          </a:p>
        </p:txBody>
      </p:sp>
      <p:sp>
        <p:nvSpPr>
          <p:cNvPr id="23" name="正方形/長方形 22">
            <a:extLst>
              <a:ext uri="{FF2B5EF4-FFF2-40B4-BE49-F238E27FC236}">
                <a16:creationId xmlns:a16="http://schemas.microsoft.com/office/drawing/2014/main" id="{83CE6AE8-C40B-4225-B69C-AA4F1231DE49}"/>
              </a:ext>
            </a:extLst>
          </p:cNvPr>
          <p:cNvSpPr/>
          <p:nvPr/>
        </p:nvSpPr>
        <p:spPr>
          <a:xfrm>
            <a:off x="1968012" y="1614416"/>
            <a:ext cx="720080"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sysClr val="windowText" lastClr="000000"/>
                </a:solidFill>
                <a:effectLst/>
                <a:uLnTx/>
                <a:uFillTx/>
                <a:latin typeface="Arial"/>
                <a:ea typeface="メイリオ"/>
                <a:cs typeface="+mn-cs"/>
              </a:rPr>
              <a:t>大口</a:t>
            </a:r>
            <a:endParaRPr kumimoji="1" lang="ja-JP" altLang="en-US" sz="1600" i="0" u="none" strike="noStrike" kern="1200" cap="none" spc="0" normalizeH="0" baseline="0" noProof="0" dirty="0">
              <a:ln>
                <a:noFill/>
              </a:ln>
              <a:solidFill>
                <a:sysClr val="windowText" lastClr="000000"/>
              </a:solidFill>
              <a:effectLst/>
              <a:uLnTx/>
              <a:uFillTx/>
              <a:latin typeface="Arial"/>
              <a:ea typeface="メイリオ"/>
              <a:cs typeface="+mn-cs"/>
            </a:endParaRPr>
          </a:p>
        </p:txBody>
      </p:sp>
      <p:sp>
        <p:nvSpPr>
          <p:cNvPr id="24" name="正方形/長方形 23">
            <a:extLst>
              <a:ext uri="{FF2B5EF4-FFF2-40B4-BE49-F238E27FC236}">
                <a16:creationId xmlns:a16="http://schemas.microsoft.com/office/drawing/2014/main" id="{18A74EFF-A01E-4F9A-8BD2-1F02E7606025}"/>
              </a:ext>
            </a:extLst>
          </p:cNvPr>
          <p:cNvSpPr/>
          <p:nvPr/>
        </p:nvSpPr>
        <p:spPr>
          <a:xfrm>
            <a:off x="3048132" y="1614416"/>
            <a:ext cx="900000"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400" dirty="0">
                <a:solidFill>
                  <a:sysClr val="windowText" lastClr="000000"/>
                </a:solidFill>
                <a:latin typeface="Arial"/>
                <a:ea typeface="メイリオ"/>
              </a:rPr>
              <a:t>大型改造</a:t>
            </a:r>
            <a:endParaRPr kumimoji="1" lang="ja-JP" altLang="en-US" sz="1600" i="0" u="none" strike="noStrike" kern="1200" cap="none" spc="0" normalizeH="0" baseline="0" noProof="0" dirty="0">
              <a:ln>
                <a:noFill/>
              </a:ln>
              <a:solidFill>
                <a:sysClr val="windowText" lastClr="000000"/>
              </a:solidFill>
              <a:effectLst/>
              <a:uLnTx/>
              <a:uFillTx/>
              <a:latin typeface="Arial"/>
              <a:ea typeface="メイリオ"/>
              <a:cs typeface="+mn-cs"/>
            </a:endParaRPr>
          </a:p>
        </p:txBody>
      </p:sp>
      <p:sp>
        <p:nvSpPr>
          <p:cNvPr id="25" name="正方形/長方形 24">
            <a:extLst>
              <a:ext uri="{FF2B5EF4-FFF2-40B4-BE49-F238E27FC236}">
                <a16:creationId xmlns:a16="http://schemas.microsoft.com/office/drawing/2014/main" id="{D468E928-5A0A-409F-AF5F-1A72719F8E10}"/>
              </a:ext>
            </a:extLst>
          </p:cNvPr>
          <p:cNvSpPr/>
          <p:nvPr/>
        </p:nvSpPr>
        <p:spPr>
          <a:xfrm>
            <a:off x="323528" y="1916832"/>
            <a:ext cx="936000"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ysClr val="windowText" lastClr="000000"/>
                </a:solidFill>
                <a:latin typeface="+mn-ea"/>
              </a:rPr>
              <a:t>161kH</a:t>
            </a:r>
            <a:endParaRPr kumimoji="1" lang="ja-JP" altLang="en-US" sz="1400" i="0" u="none" strike="noStrike" kern="1200" cap="none" spc="0" normalizeH="0" baseline="0" noProof="0" dirty="0">
              <a:ln>
                <a:noFill/>
              </a:ln>
              <a:solidFill>
                <a:sysClr val="windowText" lastClr="000000"/>
              </a:solidFill>
              <a:effectLst/>
              <a:uLnTx/>
              <a:uFillTx/>
              <a:latin typeface="+mn-ea"/>
              <a:cs typeface="+mn-cs"/>
            </a:endParaRPr>
          </a:p>
        </p:txBody>
      </p:sp>
      <p:sp>
        <p:nvSpPr>
          <p:cNvPr id="26" name="正方形/長方形 25">
            <a:extLst>
              <a:ext uri="{FF2B5EF4-FFF2-40B4-BE49-F238E27FC236}">
                <a16:creationId xmlns:a16="http://schemas.microsoft.com/office/drawing/2014/main" id="{2700C468-4351-43CE-8700-368886478F07}"/>
              </a:ext>
            </a:extLst>
          </p:cNvPr>
          <p:cNvSpPr/>
          <p:nvPr/>
        </p:nvSpPr>
        <p:spPr>
          <a:xfrm>
            <a:off x="1475656" y="2420888"/>
            <a:ext cx="936000"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ysClr val="windowText" lastClr="000000"/>
                </a:solidFill>
                <a:latin typeface="+mn-ea"/>
              </a:rPr>
              <a:t>139kH</a:t>
            </a:r>
            <a:endParaRPr kumimoji="1" lang="ja-JP" altLang="en-US" sz="1400" i="0" u="none" strike="noStrike" kern="1200" cap="none" spc="0" normalizeH="0" baseline="0" noProof="0" dirty="0">
              <a:ln>
                <a:noFill/>
              </a:ln>
              <a:solidFill>
                <a:sysClr val="windowText" lastClr="000000"/>
              </a:solidFill>
              <a:effectLst/>
              <a:uLnTx/>
              <a:uFillTx/>
              <a:latin typeface="+mn-ea"/>
              <a:cs typeface="+mn-cs"/>
            </a:endParaRPr>
          </a:p>
        </p:txBody>
      </p:sp>
      <p:sp>
        <p:nvSpPr>
          <p:cNvPr id="27" name="正方形/長方形 26">
            <a:extLst>
              <a:ext uri="{FF2B5EF4-FFF2-40B4-BE49-F238E27FC236}">
                <a16:creationId xmlns:a16="http://schemas.microsoft.com/office/drawing/2014/main" id="{EDBEB506-4C6A-4E9F-859A-1438441D7313}"/>
              </a:ext>
            </a:extLst>
          </p:cNvPr>
          <p:cNvSpPr/>
          <p:nvPr/>
        </p:nvSpPr>
        <p:spPr>
          <a:xfrm>
            <a:off x="2699896" y="4653136"/>
            <a:ext cx="936000"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ysClr val="windowText" lastClr="000000"/>
                </a:solidFill>
                <a:latin typeface="+mn-ea"/>
              </a:rPr>
              <a:t>4.7</a:t>
            </a:r>
            <a:r>
              <a:rPr lang="ja-JP" altLang="en-US" sz="1200" dirty="0">
                <a:solidFill>
                  <a:sysClr val="windowText" lastClr="000000"/>
                </a:solidFill>
                <a:latin typeface="+mn-ea"/>
              </a:rPr>
              <a:t>万</a:t>
            </a:r>
            <a:r>
              <a:rPr lang="en-US" altLang="ja-JP" sz="1200" dirty="0">
                <a:solidFill>
                  <a:sysClr val="windowText" lastClr="000000"/>
                </a:solidFill>
                <a:latin typeface="+mn-ea"/>
              </a:rPr>
              <a:t>H</a:t>
            </a:r>
            <a:endParaRPr kumimoji="1" lang="ja-JP" altLang="en-US" sz="1400" i="0" u="none" strike="noStrike" kern="1200" cap="none" spc="0" normalizeH="0" baseline="0" noProof="0" dirty="0">
              <a:ln>
                <a:noFill/>
              </a:ln>
              <a:solidFill>
                <a:sysClr val="windowText" lastClr="000000"/>
              </a:solidFill>
              <a:effectLst/>
              <a:uLnTx/>
              <a:uFillTx/>
              <a:latin typeface="+mn-ea"/>
              <a:cs typeface="+mn-cs"/>
            </a:endParaRPr>
          </a:p>
        </p:txBody>
      </p:sp>
      <p:sp>
        <p:nvSpPr>
          <p:cNvPr id="28" name="正方形/長方形 27">
            <a:extLst>
              <a:ext uri="{FF2B5EF4-FFF2-40B4-BE49-F238E27FC236}">
                <a16:creationId xmlns:a16="http://schemas.microsoft.com/office/drawing/2014/main" id="{E1B74889-FF3B-4196-B2BB-E16242D5944D}"/>
              </a:ext>
            </a:extLst>
          </p:cNvPr>
          <p:cNvSpPr/>
          <p:nvPr/>
        </p:nvSpPr>
        <p:spPr>
          <a:xfrm>
            <a:off x="971704" y="3933056"/>
            <a:ext cx="936000"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i="0" u="none" strike="noStrike" kern="1200" cap="none" spc="0" normalizeH="0" baseline="0" noProof="0" dirty="0">
                <a:ln>
                  <a:noFill/>
                </a:ln>
                <a:solidFill>
                  <a:sysClr val="windowText" lastClr="000000"/>
                </a:solidFill>
                <a:effectLst/>
                <a:uLnTx/>
                <a:uFillTx/>
                <a:latin typeface="+mn-ea"/>
                <a:cs typeface="+mn-cs"/>
              </a:rPr>
              <a:t>134.7</a:t>
            </a:r>
            <a:r>
              <a:rPr kumimoji="1" lang="ja-JP" altLang="en-US" sz="1200" i="0" u="none" strike="noStrike" kern="1200" cap="none" spc="0" normalizeH="0" baseline="0" noProof="0" dirty="0">
                <a:ln>
                  <a:noFill/>
                </a:ln>
                <a:solidFill>
                  <a:sysClr val="windowText" lastClr="000000"/>
                </a:solidFill>
                <a:effectLst/>
                <a:uLnTx/>
                <a:uFillTx/>
                <a:latin typeface="+mn-ea"/>
                <a:cs typeface="+mn-cs"/>
              </a:rPr>
              <a:t>億円</a:t>
            </a:r>
          </a:p>
        </p:txBody>
      </p:sp>
      <p:sp>
        <p:nvSpPr>
          <p:cNvPr id="29" name="正方形/長方形 28">
            <a:extLst>
              <a:ext uri="{FF2B5EF4-FFF2-40B4-BE49-F238E27FC236}">
                <a16:creationId xmlns:a16="http://schemas.microsoft.com/office/drawing/2014/main" id="{2FD9FE21-7859-449D-93FF-6406DFC8E907}"/>
              </a:ext>
            </a:extLst>
          </p:cNvPr>
          <p:cNvSpPr/>
          <p:nvPr/>
        </p:nvSpPr>
        <p:spPr>
          <a:xfrm>
            <a:off x="2123832" y="1916832"/>
            <a:ext cx="936000"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ysClr val="windowText" lastClr="000000"/>
                </a:solidFill>
                <a:latin typeface="+mn-ea"/>
              </a:rPr>
              <a:t>285.8</a:t>
            </a:r>
            <a:r>
              <a:rPr kumimoji="1" lang="ja-JP" altLang="en-US" sz="1200" i="0" u="none" strike="noStrike" kern="1200" cap="none" spc="0" normalizeH="0" baseline="0" noProof="0" dirty="0">
                <a:ln>
                  <a:noFill/>
                </a:ln>
                <a:solidFill>
                  <a:sysClr val="windowText" lastClr="000000"/>
                </a:solidFill>
                <a:effectLst/>
                <a:uLnTx/>
                <a:uFillTx/>
                <a:latin typeface="+mn-ea"/>
                <a:cs typeface="+mn-cs"/>
              </a:rPr>
              <a:t>億円</a:t>
            </a:r>
          </a:p>
        </p:txBody>
      </p:sp>
      <p:sp>
        <p:nvSpPr>
          <p:cNvPr id="30" name="正方形/長方形 29">
            <a:extLst>
              <a:ext uri="{FF2B5EF4-FFF2-40B4-BE49-F238E27FC236}">
                <a16:creationId xmlns:a16="http://schemas.microsoft.com/office/drawing/2014/main" id="{AB8C1573-49BB-4F72-975C-730600F5261A}"/>
              </a:ext>
            </a:extLst>
          </p:cNvPr>
          <p:cNvSpPr/>
          <p:nvPr/>
        </p:nvSpPr>
        <p:spPr>
          <a:xfrm>
            <a:off x="3275856" y="4149080"/>
            <a:ext cx="936000"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i="0" u="none" strike="noStrike" kern="1200" cap="none" spc="0" normalizeH="0" baseline="0" noProof="0" dirty="0">
                <a:ln>
                  <a:noFill/>
                </a:ln>
                <a:solidFill>
                  <a:sysClr val="windowText" lastClr="000000"/>
                </a:solidFill>
                <a:effectLst/>
                <a:uLnTx/>
                <a:uFillTx/>
                <a:latin typeface="+mn-ea"/>
                <a:cs typeface="+mn-cs"/>
              </a:rPr>
              <a:t>121.1</a:t>
            </a:r>
            <a:r>
              <a:rPr kumimoji="1" lang="ja-JP" altLang="en-US" sz="1200" i="0" u="none" strike="noStrike" kern="1200" cap="none" spc="0" normalizeH="0" baseline="0" noProof="0" dirty="0">
                <a:ln>
                  <a:noFill/>
                </a:ln>
                <a:solidFill>
                  <a:sysClr val="windowText" lastClr="000000"/>
                </a:solidFill>
                <a:effectLst/>
                <a:uLnTx/>
                <a:uFillTx/>
                <a:latin typeface="+mn-ea"/>
                <a:cs typeface="+mn-cs"/>
              </a:rPr>
              <a:t>億円</a:t>
            </a:r>
          </a:p>
        </p:txBody>
      </p:sp>
      <p:sp>
        <p:nvSpPr>
          <p:cNvPr id="31" name="正方形/長方形 30">
            <a:extLst>
              <a:ext uri="{FF2B5EF4-FFF2-40B4-BE49-F238E27FC236}">
                <a16:creationId xmlns:a16="http://schemas.microsoft.com/office/drawing/2014/main" id="{18329B42-4B42-452B-BAAC-F6596D133F3E}"/>
              </a:ext>
            </a:extLst>
          </p:cNvPr>
          <p:cNvSpPr/>
          <p:nvPr/>
        </p:nvSpPr>
        <p:spPr>
          <a:xfrm>
            <a:off x="323528" y="5050915"/>
            <a:ext cx="936000"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ysClr val="windowText" lastClr="000000"/>
                </a:solidFill>
                <a:latin typeface="+mn-ea"/>
              </a:rPr>
              <a:t>69kH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i="0" u="none" strike="noStrike" kern="1200" cap="none" spc="0" normalizeH="0" baseline="0" noProof="0" dirty="0">
                <a:ln>
                  <a:noFill/>
                </a:ln>
                <a:solidFill>
                  <a:sysClr val="windowText" lastClr="000000"/>
                </a:solidFill>
                <a:effectLst/>
                <a:uLnTx/>
                <a:uFillTx/>
                <a:latin typeface="+mn-ea"/>
                <a:cs typeface="+mn-cs"/>
              </a:rPr>
              <a:t>42.7%</a:t>
            </a:r>
            <a:endParaRPr kumimoji="1" lang="ja-JP" altLang="en-US" sz="1400" i="0" u="none" strike="noStrike" kern="1200" cap="none" spc="0" normalizeH="0" baseline="0" noProof="0" dirty="0">
              <a:ln>
                <a:noFill/>
              </a:ln>
              <a:solidFill>
                <a:sysClr val="windowText" lastClr="000000"/>
              </a:solidFill>
              <a:effectLst/>
              <a:uLnTx/>
              <a:uFillTx/>
              <a:latin typeface="+mn-ea"/>
              <a:cs typeface="+mn-cs"/>
            </a:endParaRPr>
          </a:p>
        </p:txBody>
      </p:sp>
      <p:sp>
        <p:nvSpPr>
          <p:cNvPr id="32" name="正方形/長方形 31">
            <a:extLst>
              <a:ext uri="{FF2B5EF4-FFF2-40B4-BE49-F238E27FC236}">
                <a16:creationId xmlns:a16="http://schemas.microsoft.com/office/drawing/2014/main" id="{4B99E5F8-9A87-493D-95DA-F8E024B86B2D}"/>
              </a:ext>
            </a:extLst>
          </p:cNvPr>
          <p:cNvSpPr/>
          <p:nvPr/>
        </p:nvSpPr>
        <p:spPr>
          <a:xfrm>
            <a:off x="1547664" y="5373216"/>
            <a:ext cx="936000"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ysClr val="windowText" lastClr="000000"/>
                </a:solidFill>
                <a:latin typeface="+mn-ea"/>
              </a:rPr>
              <a:t>40kH</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ysClr val="windowText" lastClr="000000"/>
                </a:solidFill>
                <a:latin typeface="+mn-ea"/>
              </a:rPr>
              <a:t>28</a:t>
            </a:r>
            <a:r>
              <a:rPr kumimoji="1" lang="en-US" altLang="ja-JP" sz="1200" i="0" u="none" strike="noStrike" kern="1200" cap="none" spc="0" normalizeH="0" baseline="0" noProof="0" dirty="0">
                <a:ln>
                  <a:noFill/>
                </a:ln>
                <a:solidFill>
                  <a:sysClr val="windowText" lastClr="000000"/>
                </a:solidFill>
                <a:effectLst/>
                <a:uLnTx/>
                <a:uFillTx/>
                <a:latin typeface="+mn-ea"/>
                <a:cs typeface="+mn-cs"/>
              </a:rPr>
              <a:t>.4%</a:t>
            </a:r>
            <a:endParaRPr kumimoji="1" lang="ja-JP" altLang="en-US" sz="1400" i="0" u="none" strike="noStrike" kern="1200" cap="none" spc="0" normalizeH="0" baseline="0" noProof="0" dirty="0">
              <a:ln>
                <a:noFill/>
              </a:ln>
              <a:solidFill>
                <a:sysClr val="windowText" lastClr="000000"/>
              </a:solidFill>
              <a:effectLst/>
              <a:uLnTx/>
              <a:uFillTx/>
              <a:latin typeface="+mn-ea"/>
              <a:cs typeface="+mn-cs"/>
            </a:endParaRPr>
          </a:p>
        </p:txBody>
      </p:sp>
      <p:sp>
        <p:nvSpPr>
          <p:cNvPr id="33" name="正方形/長方形 32">
            <a:extLst>
              <a:ext uri="{FF2B5EF4-FFF2-40B4-BE49-F238E27FC236}">
                <a16:creationId xmlns:a16="http://schemas.microsoft.com/office/drawing/2014/main" id="{AB249547-3C0B-43D5-9212-A541690363D2}"/>
              </a:ext>
            </a:extLst>
          </p:cNvPr>
          <p:cNvSpPr/>
          <p:nvPr/>
        </p:nvSpPr>
        <p:spPr>
          <a:xfrm>
            <a:off x="2699792" y="5733256"/>
            <a:ext cx="936000"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ysClr val="windowText" lastClr="000000"/>
                </a:solidFill>
                <a:latin typeface="+mn-ea"/>
              </a:rPr>
              <a:t>10kH</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ysClr val="windowText" lastClr="000000"/>
                </a:solidFill>
                <a:latin typeface="+mn-ea"/>
              </a:rPr>
              <a:t>20</a:t>
            </a:r>
            <a:r>
              <a:rPr kumimoji="1" lang="en-US" altLang="ja-JP" sz="1200" i="0" u="none" strike="noStrike" kern="1200" cap="none" spc="0" normalizeH="0" baseline="0" noProof="0" dirty="0">
                <a:ln>
                  <a:noFill/>
                </a:ln>
                <a:solidFill>
                  <a:sysClr val="windowText" lastClr="000000"/>
                </a:solidFill>
                <a:effectLst/>
                <a:uLnTx/>
                <a:uFillTx/>
                <a:latin typeface="+mn-ea"/>
                <a:cs typeface="+mn-cs"/>
              </a:rPr>
              <a:t>.6%</a:t>
            </a:r>
            <a:endParaRPr kumimoji="1" lang="ja-JP" altLang="en-US" sz="1200" i="0" u="none" strike="noStrike" kern="1200" cap="none" spc="0" normalizeH="0" baseline="0" noProof="0" dirty="0">
              <a:ln>
                <a:noFill/>
              </a:ln>
              <a:solidFill>
                <a:sysClr val="windowText" lastClr="000000"/>
              </a:solidFill>
              <a:effectLst/>
              <a:uLnTx/>
              <a:uFillTx/>
              <a:latin typeface="+mn-ea"/>
              <a:cs typeface="+mn-cs"/>
            </a:endParaRPr>
          </a:p>
        </p:txBody>
      </p:sp>
      <p:sp>
        <p:nvSpPr>
          <p:cNvPr id="34" name="正方形/長方形 33">
            <a:extLst>
              <a:ext uri="{FF2B5EF4-FFF2-40B4-BE49-F238E27FC236}">
                <a16:creationId xmlns:a16="http://schemas.microsoft.com/office/drawing/2014/main" id="{7C77DBC1-33FB-418E-83FB-D5A6A6B37054}"/>
              </a:ext>
            </a:extLst>
          </p:cNvPr>
          <p:cNvSpPr/>
          <p:nvPr/>
        </p:nvSpPr>
        <p:spPr>
          <a:xfrm>
            <a:off x="659904" y="6165304"/>
            <a:ext cx="936000"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ysClr val="windowText" lastClr="000000"/>
                </a:solidFill>
                <a:latin typeface="+mn-ea"/>
              </a:rPr>
              <a:t>2,379</a:t>
            </a:r>
            <a:r>
              <a:rPr lang="ja-JP" altLang="en-US" sz="1200" dirty="0">
                <a:solidFill>
                  <a:sysClr val="windowText" lastClr="000000"/>
                </a:solidFill>
                <a:latin typeface="+mn-ea"/>
              </a:rPr>
              <a:t>件</a:t>
            </a:r>
            <a:endParaRPr kumimoji="1" lang="ja-JP" altLang="en-US" sz="1400" i="0" u="none" strike="noStrike" kern="1200" cap="none" spc="0" normalizeH="0" baseline="0" noProof="0" dirty="0">
              <a:ln>
                <a:noFill/>
              </a:ln>
              <a:solidFill>
                <a:sysClr val="windowText" lastClr="000000"/>
              </a:solidFill>
              <a:effectLst/>
              <a:uLnTx/>
              <a:uFillTx/>
              <a:latin typeface="+mn-ea"/>
              <a:cs typeface="+mn-cs"/>
            </a:endParaRPr>
          </a:p>
        </p:txBody>
      </p:sp>
      <p:sp>
        <p:nvSpPr>
          <p:cNvPr id="35" name="正方形/長方形 34">
            <a:extLst>
              <a:ext uri="{FF2B5EF4-FFF2-40B4-BE49-F238E27FC236}">
                <a16:creationId xmlns:a16="http://schemas.microsoft.com/office/drawing/2014/main" id="{E2B49EF0-FF22-4EB5-A610-E820B33D0D6F}"/>
              </a:ext>
            </a:extLst>
          </p:cNvPr>
          <p:cNvSpPr/>
          <p:nvPr/>
        </p:nvSpPr>
        <p:spPr>
          <a:xfrm>
            <a:off x="1775976" y="6165304"/>
            <a:ext cx="936000"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ysClr val="windowText" lastClr="000000"/>
                </a:solidFill>
                <a:latin typeface="+mn-ea"/>
              </a:rPr>
              <a:t>176</a:t>
            </a:r>
            <a:r>
              <a:rPr lang="ja-JP" altLang="en-US" sz="1200" dirty="0">
                <a:solidFill>
                  <a:sysClr val="windowText" lastClr="000000"/>
                </a:solidFill>
                <a:latin typeface="+mn-ea"/>
              </a:rPr>
              <a:t>件</a:t>
            </a:r>
            <a:endParaRPr kumimoji="1" lang="ja-JP" altLang="en-US" sz="1400" i="0" u="none" strike="noStrike" kern="1200" cap="none" spc="0" normalizeH="0" baseline="0" noProof="0" dirty="0">
              <a:ln>
                <a:noFill/>
              </a:ln>
              <a:solidFill>
                <a:sysClr val="windowText" lastClr="000000"/>
              </a:solidFill>
              <a:effectLst/>
              <a:uLnTx/>
              <a:uFillTx/>
              <a:latin typeface="+mn-ea"/>
              <a:cs typeface="+mn-cs"/>
            </a:endParaRPr>
          </a:p>
        </p:txBody>
      </p:sp>
      <p:sp>
        <p:nvSpPr>
          <p:cNvPr id="36" name="正方形/長方形 35">
            <a:extLst>
              <a:ext uri="{FF2B5EF4-FFF2-40B4-BE49-F238E27FC236}">
                <a16:creationId xmlns:a16="http://schemas.microsoft.com/office/drawing/2014/main" id="{C837BE78-7E77-417B-88B0-6B26DD5A92CF}"/>
              </a:ext>
            </a:extLst>
          </p:cNvPr>
          <p:cNvSpPr/>
          <p:nvPr/>
        </p:nvSpPr>
        <p:spPr>
          <a:xfrm>
            <a:off x="2987928" y="6165304"/>
            <a:ext cx="936000"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ysClr val="windowText" lastClr="000000"/>
                </a:solidFill>
                <a:latin typeface="+mn-ea"/>
              </a:rPr>
              <a:t>10</a:t>
            </a:r>
            <a:r>
              <a:rPr lang="ja-JP" altLang="en-US" sz="1200" dirty="0">
                <a:solidFill>
                  <a:sysClr val="windowText" lastClr="000000"/>
                </a:solidFill>
                <a:latin typeface="+mn-ea"/>
              </a:rPr>
              <a:t>件</a:t>
            </a:r>
            <a:endParaRPr kumimoji="1" lang="ja-JP" altLang="en-US" sz="1400" i="0" u="none" strike="noStrike" kern="1200" cap="none" spc="0" normalizeH="0" baseline="0" noProof="0" dirty="0">
              <a:ln>
                <a:noFill/>
              </a:ln>
              <a:solidFill>
                <a:sysClr val="windowText" lastClr="000000"/>
              </a:solidFill>
              <a:effectLst/>
              <a:uLnTx/>
              <a:uFillTx/>
              <a:latin typeface="+mn-ea"/>
              <a:cs typeface="+mn-cs"/>
            </a:endParaRPr>
          </a:p>
        </p:txBody>
      </p:sp>
      <p:sp>
        <p:nvSpPr>
          <p:cNvPr id="37" name="正方形/長方形 36">
            <a:extLst>
              <a:ext uri="{FF2B5EF4-FFF2-40B4-BE49-F238E27FC236}">
                <a16:creationId xmlns:a16="http://schemas.microsoft.com/office/drawing/2014/main" id="{C3083DEC-AB88-4899-A6F1-214B8A9504E2}"/>
              </a:ext>
            </a:extLst>
          </p:cNvPr>
          <p:cNvSpPr/>
          <p:nvPr/>
        </p:nvSpPr>
        <p:spPr>
          <a:xfrm>
            <a:off x="5436096" y="6050056"/>
            <a:ext cx="3240946"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ja-JP" sz="1200" i="0" u="none" strike="noStrike" kern="1200" cap="none" spc="0" normalizeH="0" baseline="0" noProof="0" dirty="0">
                <a:ln>
                  <a:noFill/>
                </a:ln>
                <a:solidFill>
                  <a:sysClr val="windowText" lastClr="000000"/>
                </a:solidFill>
                <a:effectLst/>
                <a:uLnTx/>
                <a:uFillTx/>
                <a:latin typeface="+mn-ea"/>
                <a:cs typeface="+mn-cs"/>
              </a:rPr>
              <a:t>※</a:t>
            </a:r>
            <a:r>
              <a:rPr lang="ja-JP" altLang="en-US" sz="1200" dirty="0">
                <a:solidFill>
                  <a:sysClr val="windowText" lastClr="000000"/>
                </a:solidFill>
                <a:latin typeface="+mn-ea"/>
              </a:rPr>
              <a:t>進行基準の案件があるため、</a:t>
            </a:r>
            <a:br>
              <a:rPr lang="en-US" altLang="ja-JP" sz="1200" dirty="0">
                <a:solidFill>
                  <a:sysClr val="windowText" lastClr="000000"/>
                </a:solidFill>
                <a:latin typeface="+mn-ea"/>
              </a:rPr>
            </a:br>
            <a:r>
              <a:rPr lang="ja-JP" altLang="en-US" sz="1200" dirty="0">
                <a:solidFill>
                  <a:sysClr val="windowText" lastClr="000000"/>
                </a:solidFill>
                <a:latin typeface="+mn-ea"/>
              </a:rPr>
              <a:t>　受注金額に比べて売上が少なくなっている</a:t>
            </a:r>
            <a:endParaRPr kumimoji="1" lang="ja-JP" altLang="en-US" sz="1400" i="0" u="none" strike="noStrike" kern="1200" cap="none" spc="0" normalizeH="0" baseline="0" noProof="0" dirty="0">
              <a:ln>
                <a:noFill/>
              </a:ln>
              <a:solidFill>
                <a:sysClr val="windowText" lastClr="000000"/>
              </a:solidFill>
              <a:effectLst/>
              <a:uLnTx/>
              <a:uFillTx/>
              <a:latin typeface="+mn-ea"/>
              <a:cs typeface="+mn-cs"/>
            </a:endParaRPr>
          </a:p>
        </p:txBody>
      </p:sp>
      <p:sp>
        <p:nvSpPr>
          <p:cNvPr id="38" name="正方形/長方形 37">
            <a:extLst>
              <a:ext uri="{FF2B5EF4-FFF2-40B4-BE49-F238E27FC236}">
                <a16:creationId xmlns:a16="http://schemas.microsoft.com/office/drawing/2014/main" id="{DCE9FE3D-BD2F-4105-9352-B8CAB7543537}"/>
              </a:ext>
            </a:extLst>
          </p:cNvPr>
          <p:cNvSpPr/>
          <p:nvPr/>
        </p:nvSpPr>
        <p:spPr>
          <a:xfrm>
            <a:off x="-108520" y="6165304"/>
            <a:ext cx="696312"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ysClr val="windowText" lastClr="000000"/>
                </a:solidFill>
                <a:latin typeface="+mn-ea"/>
              </a:rPr>
              <a:t>件数</a:t>
            </a:r>
            <a:endParaRPr kumimoji="1" lang="ja-JP" altLang="en-US" sz="1400" i="0" u="none" strike="noStrike" kern="1200" cap="none" spc="0" normalizeH="0" baseline="0" noProof="0" dirty="0">
              <a:ln>
                <a:noFill/>
              </a:ln>
              <a:solidFill>
                <a:sysClr val="windowText" lastClr="000000"/>
              </a:solidFill>
              <a:effectLst/>
              <a:uLnTx/>
              <a:uFillTx/>
              <a:latin typeface="+mn-ea"/>
              <a:cs typeface="+mn-cs"/>
            </a:endParaRPr>
          </a:p>
        </p:txBody>
      </p:sp>
      <p:sp>
        <p:nvSpPr>
          <p:cNvPr id="39" name="吹き出し: 角を丸めた四角形 38">
            <a:extLst>
              <a:ext uri="{FF2B5EF4-FFF2-40B4-BE49-F238E27FC236}">
                <a16:creationId xmlns:a16="http://schemas.microsoft.com/office/drawing/2014/main" id="{F185700D-391C-4324-9605-FED96F8BD470}"/>
              </a:ext>
            </a:extLst>
          </p:cNvPr>
          <p:cNvSpPr/>
          <p:nvPr/>
        </p:nvSpPr>
        <p:spPr>
          <a:xfrm>
            <a:off x="4716016" y="2708920"/>
            <a:ext cx="4057533" cy="2208298"/>
          </a:xfrm>
          <a:prstGeom prst="wedgeRoundRectCallout">
            <a:avLst>
              <a:gd name="adj1" fmla="val -44366"/>
              <a:gd name="adj2" fmla="val 34432"/>
              <a:gd name="adj3" fmla="val 16667"/>
            </a:avLst>
          </a:prstGeom>
          <a:solidFill>
            <a:schemeClr val="bg2">
              <a:lumMod val="20000"/>
              <a:lumOff val="80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a:pPr>
            <a:r>
              <a:rPr kumimoji="1" lang="ja-JP" altLang="en-US" sz="1400" b="1" i="0" u="none" strike="noStrike" kern="1200" cap="none" spc="0" normalizeH="0" baseline="0" noProof="0" dirty="0">
                <a:ln>
                  <a:noFill/>
                </a:ln>
                <a:solidFill>
                  <a:srgbClr val="000000"/>
                </a:solidFill>
                <a:effectLst/>
                <a:uLnTx/>
                <a:uFillTx/>
                <a:latin typeface="Arial"/>
                <a:ea typeface="メイリオ"/>
                <a:cs typeface="+mn-cs"/>
              </a:rPr>
              <a:t>案件規模ごと合計工数</a:t>
            </a:r>
            <a:r>
              <a:rPr kumimoji="1" lang="en-US" altLang="ja-JP" sz="1400" b="1" i="0" u="none" strike="noStrike" kern="1200" cap="none" spc="0" normalizeH="0" baseline="0" noProof="0" dirty="0">
                <a:ln>
                  <a:noFill/>
                </a:ln>
                <a:solidFill>
                  <a:srgbClr val="000000"/>
                </a:solidFill>
                <a:effectLst/>
                <a:uLnTx/>
                <a:uFillTx/>
                <a:latin typeface="Arial"/>
                <a:ea typeface="メイリオ"/>
                <a:cs typeface="+mn-cs"/>
              </a:rPr>
              <a:t>×</a:t>
            </a:r>
            <a:r>
              <a:rPr kumimoji="1" lang="ja-JP" altLang="en-US" sz="1400" b="1" i="0" u="none" strike="noStrike" kern="1200" cap="none" spc="0" normalizeH="0" baseline="0" noProof="0" dirty="0">
                <a:ln>
                  <a:noFill/>
                </a:ln>
                <a:solidFill>
                  <a:srgbClr val="000000"/>
                </a:solidFill>
                <a:effectLst/>
                <a:uLnTx/>
                <a:uFillTx/>
                <a:latin typeface="Arial"/>
                <a:ea typeface="メイリオ"/>
                <a:cs typeface="+mn-cs"/>
              </a:rPr>
              <a:t>売上</a:t>
            </a:r>
            <a:r>
              <a:rPr kumimoji="1" lang="en-US" altLang="ja-JP" sz="1400" b="1" i="0" u="none" strike="noStrike" kern="1200" cap="none" spc="0" normalizeH="0" baseline="0" noProof="0" dirty="0">
                <a:ln>
                  <a:noFill/>
                </a:ln>
                <a:solidFill>
                  <a:srgbClr val="000000"/>
                </a:solidFill>
                <a:effectLst/>
                <a:uLnTx/>
                <a:uFillTx/>
                <a:latin typeface="Arial"/>
                <a:ea typeface="メイリオ"/>
                <a:cs typeface="+mn-cs"/>
              </a:rPr>
              <a:t>(FY23</a:t>
            </a:r>
            <a:r>
              <a:rPr lang="en-US" altLang="ja-JP" sz="1400" b="1" dirty="0">
                <a:solidFill>
                  <a:srgbClr val="000000"/>
                </a:solidFill>
                <a:latin typeface="Arial"/>
                <a:ea typeface="メイリオ"/>
              </a:rPr>
              <a:t>)</a:t>
            </a:r>
            <a:br>
              <a:rPr lang="en-US" altLang="ja-JP" sz="1400" b="1" dirty="0">
                <a:solidFill>
                  <a:srgbClr val="000000"/>
                </a:solidFill>
                <a:latin typeface="Arial"/>
                <a:ea typeface="メイリオ"/>
              </a:rPr>
            </a:br>
            <a:endParaRPr kumimoji="1" lang="en-US" altLang="ja-JP" sz="1400" b="0" i="0" u="none" strike="noStrike" kern="1200" cap="none" spc="0" normalizeH="0" baseline="0" noProof="0" dirty="0">
              <a:ln>
                <a:noFill/>
              </a:ln>
              <a:solidFill>
                <a:srgbClr val="000000"/>
              </a:solidFill>
              <a:effectLst/>
              <a:uLnTx/>
              <a:uFillTx/>
              <a:latin typeface="Arial"/>
              <a:ea typeface="メイリオ"/>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solidFill>
                <a:effectLst/>
                <a:uLnTx/>
                <a:uFillTx/>
                <a:latin typeface="Arial"/>
                <a:ea typeface="メイリオ"/>
                <a:cs typeface="+mn-cs"/>
              </a:rPr>
              <a:t>小口の案件について、</a:t>
            </a:r>
            <a:br>
              <a:rPr kumimoji="1" lang="en-US" altLang="ja-JP" sz="1400" b="0" i="0" u="none" strike="noStrike" kern="1200" cap="none" spc="0" normalizeH="0" baseline="0" noProof="0" dirty="0">
                <a:ln>
                  <a:noFill/>
                </a:ln>
                <a:solidFill>
                  <a:srgbClr val="000000"/>
                </a:solidFill>
                <a:effectLst/>
                <a:uLnTx/>
                <a:uFillTx/>
                <a:latin typeface="Arial"/>
                <a:ea typeface="メイリオ"/>
                <a:cs typeface="+mn-cs"/>
              </a:rPr>
            </a:br>
            <a:r>
              <a:rPr kumimoji="1" lang="ja-JP" altLang="en-US" sz="1400" b="0" i="0" u="none" strike="noStrike" kern="1200" cap="none" spc="0" normalizeH="0" baseline="0" noProof="0" dirty="0">
                <a:ln>
                  <a:noFill/>
                </a:ln>
                <a:solidFill>
                  <a:srgbClr val="000000"/>
                </a:solidFill>
                <a:effectLst/>
                <a:uLnTx/>
                <a:uFillTx/>
                <a:latin typeface="Arial"/>
                <a:ea typeface="メイリオ"/>
                <a:cs typeface="+mn-cs"/>
              </a:rPr>
              <a:t>合計工数は</a:t>
            </a:r>
            <a:r>
              <a:rPr kumimoji="1" lang="en-US" altLang="ja-JP" sz="1400" b="0" i="0" u="none" strike="noStrike" kern="1200" cap="none" spc="0" normalizeH="0" baseline="0" noProof="0" dirty="0">
                <a:ln>
                  <a:noFill/>
                </a:ln>
                <a:solidFill>
                  <a:srgbClr val="000000"/>
                </a:solidFill>
                <a:effectLst/>
                <a:uLnTx/>
                <a:uFillTx/>
                <a:latin typeface="Arial"/>
                <a:ea typeface="メイリオ"/>
                <a:cs typeface="+mn-cs"/>
              </a:rPr>
              <a:t>16</a:t>
            </a:r>
            <a:r>
              <a:rPr kumimoji="1" lang="ja-JP" altLang="en-US" sz="1400" b="0" i="0" u="none" strike="noStrike" kern="1200" cap="none" spc="0" normalizeH="0" baseline="0" noProof="0" dirty="0">
                <a:ln>
                  <a:noFill/>
                </a:ln>
                <a:solidFill>
                  <a:srgbClr val="000000"/>
                </a:solidFill>
                <a:effectLst/>
                <a:uLnTx/>
                <a:uFillTx/>
                <a:latin typeface="Arial"/>
                <a:ea typeface="メイリオ"/>
                <a:cs typeface="+mn-cs"/>
              </a:rPr>
              <a:t>万時間と全体の</a:t>
            </a:r>
            <a:r>
              <a:rPr kumimoji="1" lang="en-US" altLang="ja-JP" sz="1400" b="0" i="0" u="none" strike="noStrike" kern="1200" cap="none" spc="0" normalizeH="0" baseline="0" noProof="0" dirty="0">
                <a:ln>
                  <a:noFill/>
                </a:ln>
                <a:solidFill>
                  <a:srgbClr val="000000"/>
                </a:solidFill>
                <a:effectLst/>
                <a:uLnTx/>
                <a:uFillTx/>
                <a:latin typeface="Arial"/>
                <a:ea typeface="メイリオ"/>
                <a:cs typeface="+mn-cs"/>
              </a:rPr>
              <a:t>46.5%</a:t>
            </a:r>
            <a:r>
              <a:rPr kumimoji="1" lang="ja-JP" altLang="en-US" sz="1400" b="0" i="0" u="none" strike="noStrike" kern="1200" cap="none" spc="0" normalizeH="0" baseline="0" noProof="0" dirty="0">
                <a:ln>
                  <a:noFill/>
                </a:ln>
                <a:solidFill>
                  <a:srgbClr val="000000"/>
                </a:solidFill>
                <a:effectLst/>
                <a:uLnTx/>
                <a:uFillTx/>
                <a:latin typeface="Arial"/>
                <a:ea typeface="メイリオ"/>
                <a:cs typeface="+mn-cs"/>
              </a:rPr>
              <a:t>を</a:t>
            </a:r>
            <a:br>
              <a:rPr kumimoji="1" lang="en-US" altLang="ja-JP" sz="1400" b="0" i="0" u="none" strike="noStrike" kern="1200" cap="none" spc="0" normalizeH="0" baseline="0" noProof="0" dirty="0">
                <a:ln>
                  <a:noFill/>
                </a:ln>
                <a:solidFill>
                  <a:srgbClr val="000000"/>
                </a:solidFill>
                <a:effectLst/>
                <a:uLnTx/>
                <a:uFillTx/>
                <a:latin typeface="Arial"/>
                <a:ea typeface="メイリオ"/>
                <a:cs typeface="+mn-cs"/>
              </a:rPr>
            </a:br>
            <a:r>
              <a:rPr kumimoji="1" lang="ja-JP" altLang="en-US" sz="1400" b="0" i="0" u="none" strike="noStrike" kern="1200" cap="none" spc="0" normalizeH="0" baseline="0" noProof="0" dirty="0">
                <a:ln>
                  <a:noFill/>
                </a:ln>
                <a:solidFill>
                  <a:srgbClr val="000000"/>
                </a:solidFill>
                <a:effectLst/>
                <a:uLnTx/>
                <a:uFillTx/>
                <a:latin typeface="Arial"/>
                <a:ea typeface="メイリオ"/>
                <a:cs typeface="+mn-cs"/>
              </a:rPr>
              <a:t>占める一方で、</a:t>
            </a:r>
            <a:br>
              <a:rPr kumimoji="1" lang="en-US" altLang="ja-JP" sz="1400" b="0" i="0" u="none" strike="noStrike" kern="1200" cap="none" spc="0" normalizeH="0" baseline="0" noProof="0" dirty="0">
                <a:ln>
                  <a:noFill/>
                </a:ln>
                <a:solidFill>
                  <a:srgbClr val="000000"/>
                </a:solidFill>
                <a:effectLst/>
                <a:uLnTx/>
                <a:uFillTx/>
                <a:latin typeface="Arial"/>
                <a:ea typeface="メイリオ"/>
                <a:cs typeface="+mn-cs"/>
              </a:rPr>
            </a:br>
            <a:r>
              <a:rPr kumimoji="1" lang="ja-JP" altLang="en-US" sz="1400" b="0" i="0" u="none" strike="noStrike" kern="1200" cap="none" spc="0" normalizeH="0" baseline="0" noProof="0" dirty="0">
                <a:ln>
                  <a:noFill/>
                </a:ln>
                <a:solidFill>
                  <a:srgbClr val="000000"/>
                </a:solidFill>
                <a:effectLst/>
                <a:uLnTx/>
                <a:uFillTx/>
                <a:latin typeface="Arial"/>
                <a:ea typeface="メイリオ"/>
                <a:cs typeface="+mn-cs"/>
              </a:rPr>
              <a:t>売上は</a:t>
            </a:r>
            <a:r>
              <a:rPr kumimoji="1" lang="en-US" altLang="ja-JP" sz="1400" b="0" i="0" u="none" strike="noStrike" kern="1200" cap="none" spc="0" normalizeH="0" baseline="0" noProof="0" dirty="0">
                <a:ln>
                  <a:noFill/>
                </a:ln>
                <a:solidFill>
                  <a:srgbClr val="000000"/>
                </a:solidFill>
                <a:effectLst/>
                <a:uLnTx/>
                <a:uFillTx/>
                <a:latin typeface="Arial"/>
                <a:ea typeface="メイリオ"/>
                <a:cs typeface="+mn-cs"/>
              </a:rPr>
              <a:t>135</a:t>
            </a:r>
            <a:r>
              <a:rPr kumimoji="1" lang="ja-JP" altLang="en-US" sz="1400" b="0" i="0" u="none" strike="noStrike" kern="1200" cap="none" spc="0" normalizeH="0" baseline="0" noProof="0" dirty="0">
                <a:ln>
                  <a:noFill/>
                </a:ln>
                <a:solidFill>
                  <a:srgbClr val="000000"/>
                </a:solidFill>
                <a:effectLst/>
                <a:uLnTx/>
                <a:uFillTx/>
                <a:latin typeface="Arial"/>
                <a:ea typeface="メイリオ"/>
                <a:cs typeface="+mn-cs"/>
              </a:rPr>
              <a:t>億円と全体の</a:t>
            </a:r>
            <a:r>
              <a:rPr kumimoji="1" lang="en-US" altLang="ja-JP" sz="1400" b="0" i="0" u="none" strike="noStrike" kern="1200" cap="none" spc="0" normalizeH="0" baseline="0" noProof="0" dirty="0">
                <a:ln>
                  <a:noFill/>
                </a:ln>
                <a:solidFill>
                  <a:srgbClr val="000000"/>
                </a:solidFill>
                <a:effectLst/>
                <a:uLnTx/>
                <a:uFillTx/>
                <a:latin typeface="Arial"/>
                <a:ea typeface="メイリオ"/>
                <a:cs typeface="+mn-cs"/>
              </a:rPr>
              <a:t>24.9%</a:t>
            </a:r>
            <a:r>
              <a:rPr kumimoji="1" lang="ja-JP" altLang="en-US" sz="1400" b="0" i="0" u="none" strike="noStrike" kern="1200" cap="none" spc="0" normalizeH="0" baseline="0" noProof="0" dirty="0">
                <a:ln>
                  <a:noFill/>
                </a:ln>
                <a:solidFill>
                  <a:srgbClr val="000000"/>
                </a:solidFill>
                <a:effectLst/>
                <a:uLnTx/>
                <a:uFillTx/>
                <a:latin typeface="Arial"/>
                <a:ea typeface="メイリオ"/>
                <a:cs typeface="+mn-cs"/>
              </a:rPr>
              <a:t>に過ぎない</a:t>
            </a:r>
            <a:br>
              <a:rPr kumimoji="1" lang="en-US" altLang="ja-JP" sz="1400" b="0" i="0" u="none" strike="noStrike" kern="1200" cap="none" spc="0" normalizeH="0" baseline="0" noProof="0" dirty="0">
                <a:ln>
                  <a:noFill/>
                </a:ln>
                <a:solidFill>
                  <a:srgbClr val="000000"/>
                </a:solidFill>
                <a:effectLst/>
                <a:uLnTx/>
                <a:uFillTx/>
                <a:latin typeface="Arial"/>
                <a:ea typeface="メイリオ"/>
                <a:cs typeface="+mn-cs"/>
              </a:rPr>
            </a:br>
            <a:endParaRPr kumimoji="1" lang="en-US" altLang="ja-JP" sz="1400" b="0" i="0" u="none" strike="noStrike" kern="1200" cap="none" spc="0" normalizeH="0" baseline="0" noProof="0" dirty="0">
              <a:ln>
                <a:noFill/>
              </a:ln>
              <a:solidFill>
                <a:srgbClr val="000000"/>
              </a:solidFill>
              <a:effectLst/>
              <a:uLnTx/>
              <a:uFillTx/>
              <a:latin typeface="Arial"/>
              <a:ea typeface="メイリオ"/>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solidFill>
                <a:effectLst/>
                <a:uLnTx/>
                <a:uFillTx/>
                <a:latin typeface="Arial"/>
                <a:ea typeface="メイリオ"/>
                <a:cs typeface="+mn-cs"/>
              </a:rPr>
              <a:t>小口の案件が、工数に対する売上金額の</a:t>
            </a:r>
            <a:br>
              <a:rPr kumimoji="1" lang="en-US" altLang="ja-JP" sz="1400" b="0" i="0" u="none" strike="noStrike" kern="1200" cap="none" spc="0" normalizeH="0" baseline="0" noProof="0" dirty="0">
                <a:ln>
                  <a:noFill/>
                </a:ln>
                <a:solidFill>
                  <a:srgbClr val="000000"/>
                </a:solidFill>
                <a:effectLst/>
                <a:uLnTx/>
                <a:uFillTx/>
                <a:latin typeface="Arial"/>
                <a:ea typeface="メイリオ"/>
                <a:cs typeface="+mn-cs"/>
              </a:rPr>
            </a:br>
            <a:r>
              <a:rPr kumimoji="1" lang="ja-JP" altLang="en-US" sz="1400" b="0" i="0" u="none" strike="noStrike" kern="1200" cap="none" spc="0" normalizeH="0" baseline="0" noProof="0" dirty="0">
                <a:ln>
                  <a:noFill/>
                </a:ln>
                <a:solidFill>
                  <a:srgbClr val="000000"/>
                </a:solidFill>
                <a:effectLst/>
                <a:uLnTx/>
                <a:uFillTx/>
                <a:latin typeface="Arial"/>
                <a:ea typeface="メイリオ"/>
                <a:cs typeface="+mn-cs"/>
              </a:rPr>
              <a:t>割合が最も低い</a:t>
            </a:r>
            <a:endParaRPr kumimoji="1" lang="en-US" altLang="ja-JP" sz="1400" b="1"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40" name="正方形/長方形 39">
            <a:extLst>
              <a:ext uri="{FF2B5EF4-FFF2-40B4-BE49-F238E27FC236}">
                <a16:creationId xmlns:a16="http://schemas.microsoft.com/office/drawing/2014/main" id="{5AB4AC20-F8CA-45BE-BB52-594FF8096A48}"/>
              </a:ext>
            </a:extLst>
          </p:cNvPr>
          <p:cNvSpPr/>
          <p:nvPr/>
        </p:nvSpPr>
        <p:spPr>
          <a:xfrm>
            <a:off x="5197549" y="2861482"/>
            <a:ext cx="3705530" cy="268059"/>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b="1"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41" name="正方形/長方形 40">
            <a:extLst>
              <a:ext uri="{FF2B5EF4-FFF2-40B4-BE49-F238E27FC236}">
                <a16:creationId xmlns:a16="http://schemas.microsoft.com/office/drawing/2014/main" id="{B1D9AF06-63A2-408F-9A66-5726769D38B3}"/>
              </a:ext>
            </a:extLst>
          </p:cNvPr>
          <p:cNvSpPr/>
          <p:nvPr/>
        </p:nvSpPr>
        <p:spPr>
          <a:xfrm>
            <a:off x="4860032" y="5013176"/>
            <a:ext cx="3329689" cy="6634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sysClr val="windowText" lastClr="000000"/>
                </a:solidFill>
                <a:effectLst/>
                <a:uLnTx/>
                <a:uFillTx/>
                <a:latin typeface="+mn-ea"/>
                <a:cs typeface="+mn-cs"/>
              </a:rPr>
              <a:t>小口：受注金額 </a:t>
            </a:r>
            <a:r>
              <a:rPr lang="en-US" altLang="ja-JP" sz="1400" dirty="0">
                <a:solidFill>
                  <a:sysClr val="windowText" lastClr="000000"/>
                </a:solidFill>
                <a:latin typeface="+mn-ea"/>
              </a:rPr>
              <a:t>1</a:t>
            </a:r>
            <a:r>
              <a:rPr lang="ja-JP" altLang="en-US" sz="1400" dirty="0">
                <a:solidFill>
                  <a:sysClr val="windowText" lastClr="000000"/>
                </a:solidFill>
                <a:latin typeface="+mn-ea"/>
              </a:rPr>
              <a:t>億円未満</a:t>
            </a:r>
            <a:endParaRPr lang="en-US" altLang="ja-JP" sz="1400" dirty="0">
              <a:solidFill>
                <a:sysClr val="windowText" lastClr="000000"/>
              </a:solidFill>
              <a:latin typeface="+mn-ea"/>
            </a:endParaRPr>
          </a:p>
          <a:p>
            <a:pPr marL="0" marR="0" lvl="0" indent="0"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sysClr val="windowText" lastClr="000000"/>
                </a:solidFill>
                <a:effectLst/>
                <a:uLnTx/>
                <a:uFillTx/>
                <a:latin typeface="+mn-ea"/>
                <a:cs typeface="+mn-cs"/>
              </a:rPr>
              <a:t>大口</a:t>
            </a:r>
            <a:r>
              <a:rPr lang="ja-JP" altLang="en-US" sz="1400" dirty="0">
                <a:solidFill>
                  <a:sysClr val="windowText" lastClr="000000"/>
                </a:solidFill>
                <a:latin typeface="+mn-ea"/>
              </a:rPr>
              <a:t>：</a:t>
            </a:r>
            <a:r>
              <a:rPr kumimoji="1" lang="ja-JP" altLang="en-US" sz="1400" i="0" u="none" strike="noStrike" kern="1200" cap="none" spc="0" normalizeH="0" baseline="0" noProof="0" dirty="0">
                <a:ln>
                  <a:noFill/>
                </a:ln>
                <a:solidFill>
                  <a:sysClr val="windowText" lastClr="000000"/>
                </a:solidFill>
                <a:effectLst/>
                <a:uLnTx/>
                <a:uFillTx/>
                <a:latin typeface="+mn-ea"/>
                <a:cs typeface="+mn-cs"/>
              </a:rPr>
              <a:t>受注金額 </a:t>
            </a:r>
            <a:r>
              <a:rPr lang="en-US" altLang="ja-JP" sz="1400" dirty="0">
                <a:solidFill>
                  <a:sysClr val="windowText" lastClr="000000"/>
                </a:solidFill>
                <a:latin typeface="+mn-ea"/>
              </a:rPr>
              <a:t>1</a:t>
            </a:r>
            <a:r>
              <a:rPr lang="ja-JP" altLang="en-US" sz="1400" dirty="0">
                <a:solidFill>
                  <a:sysClr val="windowText" lastClr="000000"/>
                </a:solidFill>
                <a:latin typeface="+mn-ea"/>
              </a:rPr>
              <a:t>億円以上</a:t>
            </a:r>
            <a:r>
              <a:rPr lang="en-US" altLang="ja-JP" sz="1400" dirty="0">
                <a:solidFill>
                  <a:sysClr val="windowText" lastClr="000000"/>
                </a:solidFill>
                <a:latin typeface="+mn-ea"/>
              </a:rPr>
              <a:t>20</a:t>
            </a:r>
            <a:r>
              <a:rPr lang="ja-JP" altLang="en-US" sz="1400" dirty="0">
                <a:solidFill>
                  <a:sysClr val="windowText" lastClr="000000"/>
                </a:solidFill>
                <a:latin typeface="+mn-ea"/>
              </a:rPr>
              <a:t>億円未満</a:t>
            </a:r>
            <a:endParaRPr lang="en-US" altLang="ja-JP" sz="1400" dirty="0">
              <a:solidFill>
                <a:sysClr val="windowText" lastClr="000000"/>
              </a:solidFill>
              <a:latin typeface="+mn-ea"/>
            </a:endParaRPr>
          </a:p>
          <a:p>
            <a:pPr marL="0" marR="0" lvl="0" indent="0"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sysClr val="windowText" lastClr="000000"/>
                </a:solidFill>
                <a:effectLst/>
                <a:uLnTx/>
                <a:uFillTx/>
                <a:latin typeface="+mn-ea"/>
                <a:cs typeface="+mn-cs"/>
              </a:rPr>
              <a:t>大型改造：受注金額 </a:t>
            </a:r>
            <a:r>
              <a:rPr kumimoji="1" lang="en-US" altLang="ja-JP" sz="1400" i="0" u="none" strike="noStrike" kern="1200" cap="none" spc="0" normalizeH="0" baseline="0" noProof="0" dirty="0">
                <a:ln>
                  <a:noFill/>
                </a:ln>
                <a:solidFill>
                  <a:sysClr val="windowText" lastClr="000000"/>
                </a:solidFill>
                <a:effectLst/>
                <a:uLnTx/>
                <a:uFillTx/>
                <a:latin typeface="+mn-ea"/>
                <a:cs typeface="+mn-cs"/>
              </a:rPr>
              <a:t>20</a:t>
            </a:r>
            <a:r>
              <a:rPr kumimoji="1" lang="ja-JP" altLang="en-US" sz="1400" i="0" u="none" strike="noStrike" kern="1200" cap="none" spc="0" normalizeH="0" baseline="0" noProof="0" dirty="0">
                <a:ln>
                  <a:noFill/>
                </a:ln>
                <a:solidFill>
                  <a:sysClr val="windowText" lastClr="000000"/>
                </a:solidFill>
                <a:effectLst/>
                <a:uLnTx/>
                <a:uFillTx/>
                <a:latin typeface="+mn-ea"/>
                <a:cs typeface="+mn-cs"/>
              </a:rPr>
              <a:t>億円</a:t>
            </a:r>
            <a:r>
              <a:rPr lang="ja-JP" altLang="en-US" sz="1400" dirty="0">
                <a:solidFill>
                  <a:sysClr val="windowText" lastClr="000000"/>
                </a:solidFill>
                <a:latin typeface="+mn-ea"/>
              </a:rPr>
              <a:t>億未満</a:t>
            </a:r>
            <a:endParaRPr kumimoji="1" lang="en-US" altLang="ja-JP" sz="1400" i="0" u="none" strike="noStrike" kern="1200" cap="none" spc="0" normalizeH="0" baseline="0" noProof="0" dirty="0">
              <a:ln>
                <a:noFill/>
              </a:ln>
              <a:solidFill>
                <a:sysClr val="windowText" lastClr="000000"/>
              </a:solidFill>
              <a:effectLst/>
              <a:uLnTx/>
              <a:uFillTx/>
              <a:latin typeface="+mn-ea"/>
              <a:cs typeface="+mn-cs"/>
            </a:endParaRPr>
          </a:p>
        </p:txBody>
      </p:sp>
      <p:pic>
        <p:nvPicPr>
          <p:cNvPr id="9" name="図 8">
            <a:extLst>
              <a:ext uri="{FF2B5EF4-FFF2-40B4-BE49-F238E27FC236}">
                <a16:creationId xmlns:a16="http://schemas.microsoft.com/office/drawing/2014/main" id="{024706D6-F876-4CC6-BC2E-AE3EE1A99BB7}"/>
              </a:ext>
            </a:extLst>
          </p:cNvPr>
          <p:cNvPicPr>
            <a:picLocks noChangeAspect="1"/>
          </p:cNvPicPr>
          <p:nvPr/>
        </p:nvPicPr>
        <p:blipFill rotWithShape="1">
          <a:blip r:embed="rId3"/>
          <a:srcRect l="5525"/>
          <a:stretch/>
        </p:blipFill>
        <p:spPr>
          <a:xfrm>
            <a:off x="4572000" y="1651895"/>
            <a:ext cx="828000" cy="981212"/>
          </a:xfrm>
          <a:prstGeom prst="rect">
            <a:avLst/>
          </a:prstGeom>
        </p:spPr>
      </p:pic>
      <p:pic>
        <p:nvPicPr>
          <p:cNvPr id="14" name="図 13">
            <a:extLst>
              <a:ext uri="{FF2B5EF4-FFF2-40B4-BE49-F238E27FC236}">
                <a16:creationId xmlns:a16="http://schemas.microsoft.com/office/drawing/2014/main" id="{9869223C-D105-41E6-87B7-4B523796AF1D}"/>
              </a:ext>
            </a:extLst>
          </p:cNvPr>
          <p:cNvPicPr>
            <a:picLocks noChangeAspect="1"/>
          </p:cNvPicPr>
          <p:nvPr/>
        </p:nvPicPr>
        <p:blipFill>
          <a:blip r:embed="rId4"/>
          <a:stretch>
            <a:fillRect/>
          </a:stretch>
        </p:blipFill>
        <p:spPr>
          <a:xfrm>
            <a:off x="5330066" y="1651895"/>
            <a:ext cx="809738" cy="771633"/>
          </a:xfrm>
          <a:prstGeom prst="rect">
            <a:avLst/>
          </a:prstGeom>
        </p:spPr>
      </p:pic>
      <p:cxnSp>
        <p:nvCxnSpPr>
          <p:cNvPr id="3" name="直線コネクタ 2">
            <a:extLst>
              <a:ext uri="{FF2B5EF4-FFF2-40B4-BE49-F238E27FC236}">
                <a16:creationId xmlns:a16="http://schemas.microsoft.com/office/drawing/2014/main" id="{91B98C52-C60C-DB0E-DAD4-E8AEE4CA7C23}"/>
              </a:ext>
            </a:extLst>
          </p:cNvPr>
          <p:cNvCxnSpPr>
            <a:stCxn id="39" idx="1"/>
          </p:cNvCxnSpPr>
          <p:nvPr/>
        </p:nvCxnSpPr>
        <p:spPr>
          <a:xfrm flipH="1">
            <a:off x="899592" y="3813069"/>
            <a:ext cx="3816424" cy="840067"/>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60D46E8D-C01C-FBAD-8740-69FEFE7C9842}"/>
              </a:ext>
            </a:extLst>
          </p:cNvPr>
          <p:cNvSpPr/>
          <p:nvPr/>
        </p:nvSpPr>
        <p:spPr>
          <a:xfrm>
            <a:off x="179512" y="678719"/>
            <a:ext cx="8871064" cy="864096"/>
          </a:xfrm>
          <a:prstGeom prst="rect">
            <a:avLst/>
          </a:prstGeom>
          <a:solidFill>
            <a:schemeClr val="bg2">
              <a:lumMod val="20000"/>
              <a:lumOff val="80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1" lang="en-US" altLang="ja-JP" sz="1600" b="0" i="0" u="none" strike="noStrike" kern="1200" cap="none" spc="0" normalizeH="0" baseline="0" noProof="0">
                <a:ln>
                  <a:noFill/>
                </a:ln>
                <a:solidFill>
                  <a:sysClr val="windowText" lastClr="000000"/>
                </a:solidFill>
                <a:effectLst/>
                <a:uLnTx/>
                <a:uFillTx/>
                <a:latin typeface="メイリオ"/>
                <a:ea typeface="メイリオ"/>
                <a:cs typeface="+mn-cs"/>
              </a:rPr>
              <a:t>1</a:t>
            </a:r>
            <a:r>
              <a:rPr kumimoji="1" lang="ja-JP" altLang="en-US" sz="1600" b="0" i="0" u="none" strike="noStrike" kern="1200" cap="none" spc="0" normalizeH="0" baseline="0" noProof="0">
                <a:ln>
                  <a:noFill/>
                </a:ln>
                <a:solidFill>
                  <a:sysClr val="windowText" lastClr="000000"/>
                </a:solidFill>
                <a:effectLst/>
                <a:uLnTx/>
                <a:uFillTx/>
                <a:latin typeface="メイリオ"/>
                <a:ea typeface="メイリオ"/>
                <a:cs typeface="+mn-cs"/>
              </a:rPr>
              <a:t>億円以下の小口案件</a:t>
            </a:r>
            <a:r>
              <a:rPr lang="ja-JP" altLang="en-US" sz="1600">
                <a:solidFill>
                  <a:sysClr val="windowText" lastClr="000000"/>
                </a:solidFill>
              </a:rPr>
              <a:t>が</a:t>
            </a:r>
            <a:r>
              <a:rPr kumimoji="1" lang="ja-JP" altLang="en-US" sz="1600" b="0" i="0" u="none" strike="noStrike" kern="1200" cap="none" spc="0" normalizeH="0" baseline="0" noProof="0">
                <a:ln>
                  <a:noFill/>
                </a:ln>
                <a:solidFill>
                  <a:sysClr val="windowText" lastClr="000000"/>
                </a:solidFill>
                <a:effectLst/>
                <a:uLnTx/>
                <a:uFillTx/>
                <a:latin typeface="メイリオ"/>
                <a:ea typeface="メイリオ"/>
                <a:cs typeface="+mn-cs"/>
              </a:rPr>
              <a:t>業務効率化の対象となる想定。</a:t>
            </a:r>
            <a:endParaRPr kumimoji="1" lang="en-US" altLang="ja-JP" sz="1600" b="0" i="0" u="none" strike="noStrike" kern="1200" cap="none" spc="0" normalizeH="0" baseline="0" noProof="0">
              <a:ln>
                <a:noFill/>
              </a:ln>
              <a:solidFill>
                <a:sysClr val="windowText" lastClr="000000"/>
              </a:solidFill>
              <a:effectLst/>
              <a:uLnTx/>
              <a:uFillTx/>
              <a:latin typeface="メイリオ"/>
              <a:ea typeface="メイリオ"/>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1" lang="ja-JP" altLang="en-US" sz="1600" b="0" i="0" u="none" strike="noStrike" kern="1200" cap="none" spc="0" normalizeH="0" baseline="0" noProof="0">
                <a:ln>
                  <a:noFill/>
                </a:ln>
                <a:solidFill>
                  <a:sysClr val="windowText" lastClr="000000"/>
                </a:solidFill>
                <a:effectLst/>
                <a:uLnTx/>
                <a:uFillTx/>
                <a:latin typeface="メイリオ"/>
                <a:ea typeface="メイリオ"/>
                <a:cs typeface="+mn-cs"/>
              </a:rPr>
              <a:t>小口案件は工数に対し</a:t>
            </a:r>
            <a:r>
              <a:rPr lang="ja-JP" altLang="en-US" sz="1600">
                <a:solidFill>
                  <a:sysClr val="windowText" lastClr="000000"/>
                </a:solidFill>
              </a:rPr>
              <a:t>て</a:t>
            </a:r>
            <a:r>
              <a:rPr kumimoji="1" lang="ja-JP" altLang="en-US" sz="1600" b="0" i="0" u="none" strike="noStrike" kern="1200" cap="none" spc="0" normalizeH="0" baseline="0" noProof="0">
                <a:ln>
                  <a:noFill/>
                </a:ln>
                <a:solidFill>
                  <a:sysClr val="windowText" lastClr="000000"/>
                </a:solidFill>
                <a:effectLst/>
                <a:uLnTx/>
                <a:uFillTx/>
                <a:latin typeface="メイリオ"/>
                <a:ea typeface="メイリオ"/>
                <a:cs typeface="+mn-cs"/>
              </a:rPr>
              <a:t>売上が低く、全体に占める工数の割合も大きいため、効率化した</a:t>
            </a:r>
            <a:br>
              <a:rPr kumimoji="1" lang="en-US" altLang="ja-JP" sz="1600" b="0" i="0" u="none" strike="noStrike" kern="1200" cap="none" spc="0" normalizeH="0" baseline="0" noProof="0">
                <a:ln>
                  <a:noFill/>
                </a:ln>
                <a:solidFill>
                  <a:sysClr val="windowText" lastClr="000000"/>
                </a:solidFill>
                <a:effectLst/>
                <a:uLnTx/>
                <a:uFillTx/>
                <a:latin typeface="メイリオ"/>
                <a:ea typeface="メイリオ"/>
                <a:cs typeface="+mn-cs"/>
              </a:rPr>
            </a:br>
            <a:r>
              <a:rPr kumimoji="1" lang="ja-JP" altLang="en-US" sz="1600" b="0" i="0" u="none" strike="noStrike" kern="1200" cap="none" spc="0" normalizeH="0" baseline="0" noProof="0">
                <a:ln>
                  <a:noFill/>
                </a:ln>
                <a:solidFill>
                  <a:sysClr val="windowText" lastClr="000000"/>
                </a:solidFill>
                <a:effectLst/>
                <a:uLnTx/>
                <a:uFillTx/>
                <a:latin typeface="メイリオ"/>
                <a:ea typeface="メイリオ"/>
                <a:cs typeface="+mn-cs"/>
              </a:rPr>
              <a:t>場合の効果も大きいと想定される。</a:t>
            </a:r>
            <a:endParaRPr kumimoji="1" lang="en-US" altLang="ja-JP" sz="1600" b="0" i="0" u="none" strike="noStrike" kern="1200" cap="none" spc="0" normalizeH="0" baseline="0" noProof="0" dirty="0">
              <a:ln>
                <a:noFill/>
              </a:ln>
              <a:solidFill>
                <a:sysClr val="windowText" lastClr="000000"/>
              </a:solidFill>
              <a:effectLst/>
              <a:uLnTx/>
              <a:uFillTx/>
              <a:latin typeface="メイリオ"/>
              <a:ea typeface="メイリオ"/>
              <a:cs typeface="+mn-cs"/>
            </a:endParaRPr>
          </a:p>
        </p:txBody>
      </p:sp>
    </p:spTree>
    <p:extLst>
      <p:ext uri="{BB962C8B-B14F-4D97-AF65-F5344CB8AC3E}">
        <p14:creationId xmlns:p14="http://schemas.microsoft.com/office/powerpoint/2010/main" val="2706959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図 27">
            <a:extLst>
              <a:ext uri="{FF2B5EF4-FFF2-40B4-BE49-F238E27FC236}">
                <a16:creationId xmlns:a16="http://schemas.microsoft.com/office/drawing/2014/main" id="{067CEAD9-B4EB-41A7-8AF4-C9A0301CA062}"/>
              </a:ext>
            </a:extLst>
          </p:cNvPr>
          <p:cNvPicPr>
            <a:picLocks noChangeAspect="1"/>
          </p:cNvPicPr>
          <p:nvPr/>
        </p:nvPicPr>
        <p:blipFill>
          <a:blip r:embed="rId2"/>
          <a:stretch>
            <a:fillRect/>
          </a:stretch>
        </p:blipFill>
        <p:spPr>
          <a:xfrm>
            <a:off x="4757073" y="1964685"/>
            <a:ext cx="3888000" cy="3689824"/>
          </a:xfrm>
          <a:prstGeom prst="rect">
            <a:avLst/>
          </a:prstGeom>
        </p:spPr>
      </p:pic>
      <p:pic>
        <p:nvPicPr>
          <p:cNvPr id="23" name="図 22">
            <a:extLst>
              <a:ext uri="{FF2B5EF4-FFF2-40B4-BE49-F238E27FC236}">
                <a16:creationId xmlns:a16="http://schemas.microsoft.com/office/drawing/2014/main" id="{E433848C-52FA-4A2B-B359-A7B9253ED57B}"/>
              </a:ext>
            </a:extLst>
          </p:cNvPr>
          <p:cNvPicPr>
            <a:picLocks noChangeAspect="1"/>
          </p:cNvPicPr>
          <p:nvPr/>
        </p:nvPicPr>
        <p:blipFill>
          <a:blip r:embed="rId3"/>
          <a:stretch>
            <a:fillRect/>
          </a:stretch>
        </p:blipFill>
        <p:spPr>
          <a:xfrm>
            <a:off x="391709" y="1988840"/>
            <a:ext cx="3888000" cy="3701289"/>
          </a:xfrm>
          <a:prstGeom prst="rect">
            <a:avLst/>
          </a:prstGeom>
        </p:spPr>
      </p:pic>
      <p:sp>
        <p:nvSpPr>
          <p:cNvPr id="4" name="テキスト ボックス 3">
            <a:extLst>
              <a:ext uri="{FF2B5EF4-FFF2-40B4-BE49-F238E27FC236}">
                <a16:creationId xmlns:a16="http://schemas.microsoft.com/office/drawing/2014/main" id="{DAAE38C0-9E4A-5811-18CE-D84FB6883691}"/>
              </a:ext>
            </a:extLst>
          </p:cNvPr>
          <p:cNvSpPr txBox="1"/>
          <p:nvPr/>
        </p:nvSpPr>
        <p:spPr>
          <a:xfrm>
            <a:off x="246720" y="113188"/>
            <a:ext cx="7358743" cy="369332"/>
          </a:xfrm>
          <a:prstGeom prst="rect">
            <a:avLst/>
          </a:prstGeom>
        </p:spPr>
        <p:txBody>
          <a:bodyPr/>
          <a:lstStyle>
            <a:defPPr>
              <a:defRPr lang="ja-JP"/>
            </a:defPPr>
            <a:lvl1pPr defTabSz="685800">
              <a:lnSpc>
                <a:spcPct val="90000"/>
              </a:lnSpc>
              <a:spcBef>
                <a:spcPct val="0"/>
              </a:spcBef>
              <a:buNone/>
              <a:defRPr b="1">
                <a:latin typeface="+mj-ea"/>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1" lang="en-US" altLang="ja-JP" sz="1800" b="1" i="0" u="none" strike="noStrike" kern="1200" cap="none" spc="0" normalizeH="0" baseline="0" noProof="0" dirty="0">
                <a:ln>
                  <a:noFill/>
                </a:ln>
                <a:solidFill>
                  <a:srgbClr val="000000"/>
                </a:solidFill>
                <a:effectLst/>
                <a:uLnTx/>
                <a:uFillTx/>
                <a:latin typeface="メイリオ"/>
                <a:ea typeface="メイリオ"/>
                <a:cs typeface="+mj-cs"/>
              </a:rPr>
              <a:t>5-2</a:t>
            </a:r>
            <a:r>
              <a:rPr kumimoji="1" lang="ja-JP" altLang="en-US" sz="1800" b="1" i="0" u="none" strike="noStrike" kern="1200" cap="none" spc="0" normalizeH="0" baseline="0" noProof="0" dirty="0">
                <a:ln>
                  <a:noFill/>
                </a:ln>
                <a:solidFill>
                  <a:srgbClr val="000000"/>
                </a:solidFill>
                <a:effectLst/>
                <a:uLnTx/>
                <a:uFillTx/>
                <a:latin typeface="メイリオ"/>
                <a:ea typeface="メイリオ"/>
                <a:cs typeface="+mj-cs"/>
              </a:rPr>
              <a:t>．遂行（設計）業務の整流化・効率化：対象②</a:t>
            </a:r>
            <a:endParaRPr kumimoji="1" lang="en-US" altLang="ja-JP" sz="1800" b="1" i="0" u="none" strike="noStrike" kern="1200" cap="none" spc="0" normalizeH="0" baseline="0" noProof="0" dirty="0">
              <a:ln>
                <a:noFill/>
              </a:ln>
              <a:solidFill>
                <a:srgbClr val="000000"/>
              </a:solidFill>
              <a:effectLst/>
              <a:uLnTx/>
              <a:uFillTx/>
              <a:latin typeface="メイリオ"/>
              <a:ea typeface="メイリオ"/>
              <a:cs typeface="+mj-cs"/>
            </a:endParaRPr>
          </a:p>
        </p:txBody>
      </p:sp>
      <p:sp>
        <p:nvSpPr>
          <p:cNvPr id="16" name="正方形/長方形 15">
            <a:extLst>
              <a:ext uri="{FF2B5EF4-FFF2-40B4-BE49-F238E27FC236}">
                <a16:creationId xmlns:a16="http://schemas.microsoft.com/office/drawing/2014/main" id="{77D03170-935B-4FDE-A63C-73C5E7BF849F}"/>
              </a:ext>
            </a:extLst>
          </p:cNvPr>
          <p:cNvSpPr/>
          <p:nvPr/>
        </p:nvSpPr>
        <p:spPr>
          <a:xfrm>
            <a:off x="6342043" y="5589240"/>
            <a:ext cx="719536" cy="366308"/>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メイリオ"/>
                <a:cs typeface="+mn-cs"/>
              </a:rPr>
              <a:t>売上</a:t>
            </a:r>
            <a:endParaRPr kumimoji="1" lang="en-US" altLang="ja-JP" sz="1200" b="0"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17" name="正方形/長方形 16">
            <a:extLst>
              <a:ext uri="{FF2B5EF4-FFF2-40B4-BE49-F238E27FC236}">
                <a16:creationId xmlns:a16="http://schemas.microsoft.com/office/drawing/2014/main" id="{F7D8C59E-ECF8-4BFA-9107-9546B1B9AD36}"/>
              </a:ext>
            </a:extLst>
          </p:cNvPr>
          <p:cNvSpPr/>
          <p:nvPr/>
        </p:nvSpPr>
        <p:spPr>
          <a:xfrm>
            <a:off x="4397827" y="3140968"/>
            <a:ext cx="431254" cy="1008112"/>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メイリオ"/>
                <a:cs typeface="+mn-cs"/>
              </a:rPr>
              <a:t>合計工数</a:t>
            </a:r>
            <a:endParaRPr kumimoji="1" lang="en-US" altLang="ja-JP" sz="1200" b="0"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18" name="正方形/長方形 17">
            <a:extLst>
              <a:ext uri="{FF2B5EF4-FFF2-40B4-BE49-F238E27FC236}">
                <a16:creationId xmlns:a16="http://schemas.microsoft.com/office/drawing/2014/main" id="{A5181F27-A5F9-43B2-97B4-3070B9FBD7B4}"/>
              </a:ext>
            </a:extLst>
          </p:cNvPr>
          <p:cNvSpPr/>
          <p:nvPr/>
        </p:nvSpPr>
        <p:spPr>
          <a:xfrm>
            <a:off x="4496638" y="1604685"/>
            <a:ext cx="3888000" cy="360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Arial"/>
                <a:ea typeface="メイリオ"/>
                <a:cs typeface="+mn-cs"/>
              </a:rPr>
              <a:t>小口案件プロット</a:t>
            </a:r>
            <a:br>
              <a:rPr kumimoji="1" lang="en-US" altLang="ja-JP" sz="1400" b="0" i="0" u="none" strike="noStrike" kern="1200" cap="none" spc="0" normalizeH="0" baseline="0" noProof="0" dirty="0">
                <a:ln>
                  <a:noFill/>
                </a:ln>
                <a:solidFill>
                  <a:srgbClr val="000000"/>
                </a:solidFill>
                <a:effectLst/>
                <a:uLnTx/>
                <a:uFillTx/>
                <a:latin typeface="Arial"/>
                <a:ea typeface="メイリオ"/>
                <a:cs typeface="+mn-cs"/>
              </a:rPr>
            </a:br>
            <a:r>
              <a:rPr kumimoji="1" lang="ja-JP" altLang="en-US" sz="1400" b="0" i="0" u="none" strike="noStrike" kern="1200" cap="none" spc="0" normalizeH="0" baseline="0" noProof="0" dirty="0">
                <a:ln>
                  <a:noFill/>
                </a:ln>
                <a:solidFill>
                  <a:srgbClr val="000000"/>
                </a:solidFill>
                <a:effectLst/>
                <a:uLnTx/>
                <a:uFillTx/>
                <a:latin typeface="Arial"/>
                <a:ea typeface="メイリオ"/>
                <a:cs typeface="+mn-cs"/>
              </a:rPr>
              <a:t>（関係部による色分け）</a:t>
            </a:r>
            <a:endParaRPr kumimoji="1" lang="en-US" altLang="ja-JP" sz="1400" b="0"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19" name="正方形/長方形 18">
            <a:extLst>
              <a:ext uri="{FF2B5EF4-FFF2-40B4-BE49-F238E27FC236}">
                <a16:creationId xmlns:a16="http://schemas.microsoft.com/office/drawing/2014/main" id="{BC5053AB-877F-4E7F-84EB-0376C0A69C0E}"/>
              </a:ext>
            </a:extLst>
          </p:cNvPr>
          <p:cNvSpPr/>
          <p:nvPr/>
        </p:nvSpPr>
        <p:spPr>
          <a:xfrm>
            <a:off x="256845" y="1604685"/>
            <a:ext cx="3888000" cy="360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Arial"/>
                <a:ea typeface="メイリオ"/>
                <a:cs typeface="+mn-cs"/>
              </a:rPr>
              <a:t>小口案件プロット</a:t>
            </a:r>
            <a:br>
              <a:rPr kumimoji="1" lang="en-US" altLang="ja-JP" sz="1400" b="0" i="0" u="none" strike="noStrike" kern="1200" cap="none" spc="0" normalizeH="0" baseline="0" noProof="0" dirty="0">
                <a:ln>
                  <a:noFill/>
                </a:ln>
                <a:solidFill>
                  <a:srgbClr val="000000"/>
                </a:solidFill>
                <a:effectLst/>
                <a:uLnTx/>
                <a:uFillTx/>
                <a:latin typeface="Arial"/>
                <a:ea typeface="メイリオ"/>
                <a:cs typeface="+mn-cs"/>
              </a:rPr>
            </a:br>
            <a:r>
              <a:rPr kumimoji="1" lang="ja-JP" altLang="en-US" sz="1400" b="0" i="0" u="none" strike="noStrike" kern="1200" cap="none" spc="0" normalizeH="0" baseline="0" noProof="0" dirty="0">
                <a:ln>
                  <a:noFill/>
                </a:ln>
                <a:solidFill>
                  <a:srgbClr val="000000"/>
                </a:solidFill>
                <a:effectLst/>
                <a:uLnTx/>
                <a:uFillTx/>
                <a:latin typeface="Arial"/>
                <a:ea typeface="メイリオ"/>
                <a:cs typeface="+mn-cs"/>
              </a:rPr>
              <a:t>（関係する技術部内の課数による色分け）</a:t>
            </a:r>
            <a:endParaRPr kumimoji="1" lang="en-US" altLang="ja-JP" sz="1400" b="0"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20" name="正方形/長方形 19">
            <a:extLst>
              <a:ext uri="{FF2B5EF4-FFF2-40B4-BE49-F238E27FC236}">
                <a16:creationId xmlns:a16="http://schemas.microsoft.com/office/drawing/2014/main" id="{524BE4DD-A4A8-42C1-A4BB-8113FFC38657}"/>
              </a:ext>
            </a:extLst>
          </p:cNvPr>
          <p:cNvSpPr/>
          <p:nvPr/>
        </p:nvSpPr>
        <p:spPr>
          <a:xfrm>
            <a:off x="2166123" y="5589240"/>
            <a:ext cx="719536" cy="366308"/>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メイリオ"/>
                <a:cs typeface="+mn-cs"/>
              </a:rPr>
              <a:t>売上</a:t>
            </a:r>
            <a:endParaRPr kumimoji="1" lang="en-US" altLang="ja-JP" sz="1200" b="0"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21" name="正方形/長方形 20">
            <a:extLst>
              <a:ext uri="{FF2B5EF4-FFF2-40B4-BE49-F238E27FC236}">
                <a16:creationId xmlns:a16="http://schemas.microsoft.com/office/drawing/2014/main" id="{48C802CB-8CE9-405C-AD42-CCB048B194FA}"/>
              </a:ext>
            </a:extLst>
          </p:cNvPr>
          <p:cNvSpPr/>
          <p:nvPr/>
        </p:nvSpPr>
        <p:spPr>
          <a:xfrm>
            <a:off x="96265" y="3140968"/>
            <a:ext cx="431254" cy="1008112"/>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メイリオ"/>
                <a:cs typeface="+mn-cs"/>
              </a:rPr>
              <a:t>合計工数</a:t>
            </a:r>
            <a:endParaRPr kumimoji="1" lang="en-US" altLang="ja-JP" sz="1200" b="0" i="0" u="none" strike="noStrike" kern="1200" cap="none" spc="0" normalizeH="0" baseline="0" noProof="0" dirty="0">
              <a:ln>
                <a:noFill/>
              </a:ln>
              <a:solidFill>
                <a:srgbClr val="000000"/>
              </a:solidFill>
              <a:effectLst/>
              <a:uLnTx/>
              <a:uFillTx/>
              <a:latin typeface="Arial"/>
              <a:ea typeface="メイリオ"/>
              <a:cs typeface="+mn-cs"/>
            </a:endParaRPr>
          </a:p>
        </p:txBody>
      </p:sp>
      <p:pic>
        <p:nvPicPr>
          <p:cNvPr id="25" name="図 24">
            <a:extLst>
              <a:ext uri="{FF2B5EF4-FFF2-40B4-BE49-F238E27FC236}">
                <a16:creationId xmlns:a16="http://schemas.microsoft.com/office/drawing/2014/main" id="{E4E78B4E-31A8-4AC2-A6DA-426BDFCAB4B4}"/>
              </a:ext>
            </a:extLst>
          </p:cNvPr>
          <p:cNvPicPr>
            <a:picLocks noChangeAspect="1"/>
          </p:cNvPicPr>
          <p:nvPr/>
        </p:nvPicPr>
        <p:blipFill rotWithShape="1">
          <a:blip r:embed="rId4"/>
          <a:srcRect l="8338"/>
          <a:stretch/>
        </p:blipFill>
        <p:spPr>
          <a:xfrm>
            <a:off x="3553097" y="2024467"/>
            <a:ext cx="628706" cy="685896"/>
          </a:xfrm>
          <a:prstGeom prst="rect">
            <a:avLst/>
          </a:prstGeom>
        </p:spPr>
      </p:pic>
      <p:sp>
        <p:nvSpPr>
          <p:cNvPr id="26" name="正方形/長方形 25">
            <a:extLst>
              <a:ext uri="{FF2B5EF4-FFF2-40B4-BE49-F238E27FC236}">
                <a16:creationId xmlns:a16="http://schemas.microsoft.com/office/drawing/2014/main" id="{C5F25939-3813-40F9-AC33-ED66978478D0}"/>
              </a:ext>
            </a:extLst>
          </p:cNvPr>
          <p:cNvSpPr/>
          <p:nvPr/>
        </p:nvSpPr>
        <p:spPr>
          <a:xfrm>
            <a:off x="246720" y="5877272"/>
            <a:ext cx="8645760" cy="576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Arial"/>
                <a:ea typeface="メイリオ"/>
                <a:cs typeface="+mn-cs"/>
              </a:rPr>
              <a:t>前提：傾向線の傾きが大きい＝工数に対する売上の割合が低い</a:t>
            </a:r>
            <a:endParaRPr kumimoji="1" lang="en-US" altLang="ja-JP" sz="1400" b="0" i="0" u="none" strike="noStrike" kern="1200" cap="none" spc="0" normalizeH="0" baseline="0" noProof="0" dirty="0">
              <a:ln>
                <a:noFill/>
              </a:ln>
              <a:solidFill>
                <a:srgbClr val="000000"/>
              </a:solidFill>
              <a:effectLst/>
              <a:uLnTx/>
              <a:uFillTx/>
              <a:latin typeface="Arial"/>
              <a:ea typeface="メイリオ"/>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r>
              <a:rPr lang="ja-JP" altLang="en-US" sz="1400" dirty="0">
                <a:solidFill>
                  <a:srgbClr val="000000"/>
                </a:solidFill>
                <a:latin typeface="Arial"/>
                <a:ea typeface="メイリオ"/>
              </a:rPr>
              <a:t>示唆：複数の部課が関係する場合に、工数に対する売上の割合が低くなっている</a:t>
            </a:r>
            <a:endParaRPr kumimoji="1" lang="en-US" altLang="ja-JP" sz="1400" b="0" i="0" u="none" strike="noStrike" kern="1200" cap="none" spc="0" normalizeH="0" baseline="0" noProof="0" dirty="0">
              <a:ln>
                <a:noFill/>
              </a:ln>
              <a:solidFill>
                <a:srgbClr val="000000"/>
              </a:solidFill>
              <a:effectLst/>
              <a:uLnTx/>
              <a:uFillTx/>
              <a:latin typeface="Arial"/>
              <a:ea typeface="メイリオ"/>
              <a:cs typeface="+mn-cs"/>
            </a:endParaRPr>
          </a:p>
        </p:txBody>
      </p:sp>
      <p:pic>
        <p:nvPicPr>
          <p:cNvPr id="30" name="図 29">
            <a:extLst>
              <a:ext uri="{FF2B5EF4-FFF2-40B4-BE49-F238E27FC236}">
                <a16:creationId xmlns:a16="http://schemas.microsoft.com/office/drawing/2014/main" id="{2A1FFD49-1FC2-4AC8-B261-19CAE5E75142}"/>
              </a:ext>
            </a:extLst>
          </p:cNvPr>
          <p:cNvPicPr>
            <a:picLocks noChangeAspect="1"/>
          </p:cNvPicPr>
          <p:nvPr/>
        </p:nvPicPr>
        <p:blipFill>
          <a:blip r:embed="rId5"/>
          <a:stretch>
            <a:fillRect/>
          </a:stretch>
        </p:blipFill>
        <p:spPr>
          <a:xfrm>
            <a:off x="7310206" y="1870980"/>
            <a:ext cx="1424633" cy="1049730"/>
          </a:xfrm>
          <a:prstGeom prst="rect">
            <a:avLst/>
          </a:prstGeom>
        </p:spPr>
      </p:pic>
      <p:cxnSp>
        <p:nvCxnSpPr>
          <p:cNvPr id="32" name="直線コネクタ 31">
            <a:extLst>
              <a:ext uri="{FF2B5EF4-FFF2-40B4-BE49-F238E27FC236}">
                <a16:creationId xmlns:a16="http://schemas.microsoft.com/office/drawing/2014/main" id="{AFF0B573-B2E5-46CB-8379-D1ECFF83EC39}"/>
              </a:ext>
            </a:extLst>
          </p:cNvPr>
          <p:cNvCxnSpPr/>
          <p:nvPr/>
        </p:nvCxnSpPr>
        <p:spPr>
          <a:xfrm flipV="1">
            <a:off x="5045105" y="3429000"/>
            <a:ext cx="3528392" cy="1872208"/>
          </a:xfrm>
          <a:prstGeom prst="line">
            <a:avLst/>
          </a:prstGeom>
          <a:ln w="38100">
            <a:solidFill>
              <a:srgbClr val="F28E2B"/>
            </a:solidFill>
          </a:ln>
        </p:spPr>
        <p:style>
          <a:lnRef idx="1">
            <a:schemeClr val="accent1"/>
          </a:lnRef>
          <a:fillRef idx="0">
            <a:schemeClr val="accent1"/>
          </a:fillRef>
          <a:effectRef idx="0">
            <a:schemeClr val="accent1"/>
          </a:effectRef>
          <a:fontRef idx="minor">
            <a:schemeClr val="tx1"/>
          </a:fontRef>
        </p:style>
      </p:cxnSp>
      <p:sp>
        <p:nvSpPr>
          <p:cNvPr id="33" name="正方形/長方形 32">
            <a:extLst>
              <a:ext uri="{FF2B5EF4-FFF2-40B4-BE49-F238E27FC236}">
                <a16:creationId xmlns:a16="http://schemas.microsoft.com/office/drawing/2014/main" id="{10BDC62C-4482-4BF9-A685-C315E5272572}"/>
              </a:ext>
            </a:extLst>
          </p:cNvPr>
          <p:cNvSpPr/>
          <p:nvPr/>
        </p:nvSpPr>
        <p:spPr>
          <a:xfrm>
            <a:off x="7781409" y="3141008"/>
            <a:ext cx="1111071" cy="360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F28E2B"/>
                </a:solidFill>
                <a:effectLst/>
                <a:uLnTx/>
                <a:uFillTx/>
                <a:latin typeface="Arial"/>
                <a:ea typeface="メイリオ"/>
                <a:cs typeface="+mn-cs"/>
              </a:rPr>
              <a:t>技術</a:t>
            </a:r>
            <a:r>
              <a:rPr kumimoji="1" lang="en-US" altLang="ja-JP" sz="1400" b="1" i="0" u="none" strike="noStrike" kern="1200" cap="none" spc="0" normalizeH="0" baseline="0" noProof="0" dirty="0">
                <a:ln>
                  <a:noFill/>
                </a:ln>
                <a:solidFill>
                  <a:srgbClr val="F28E2B"/>
                </a:solidFill>
                <a:effectLst/>
                <a:uLnTx/>
                <a:uFillTx/>
                <a:latin typeface="Arial"/>
                <a:ea typeface="メイリオ"/>
                <a:cs typeface="+mn-cs"/>
              </a:rPr>
              <a:t>×</a:t>
            </a:r>
            <a:r>
              <a:rPr kumimoji="1" lang="ja-JP" altLang="en-US" sz="1400" b="1" i="0" u="none" strike="noStrike" kern="1200" cap="none" spc="0" normalizeH="0" baseline="0" noProof="0" dirty="0">
                <a:ln>
                  <a:noFill/>
                </a:ln>
                <a:solidFill>
                  <a:srgbClr val="F28E2B"/>
                </a:solidFill>
                <a:effectLst/>
                <a:uLnTx/>
                <a:uFillTx/>
                <a:latin typeface="Arial"/>
                <a:ea typeface="メイリオ"/>
                <a:cs typeface="+mn-cs"/>
              </a:rPr>
              <a:t>建設</a:t>
            </a:r>
            <a:endParaRPr kumimoji="1" lang="en-US" altLang="ja-JP" sz="1400" b="1" i="0" u="none" strike="noStrike" kern="1200" cap="none" spc="0" normalizeH="0" baseline="0" noProof="0" dirty="0">
              <a:ln>
                <a:noFill/>
              </a:ln>
              <a:solidFill>
                <a:srgbClr val="F28E2B"/>
              </a:solidFill>
              <a:effectLst/>
              <a:uLnTx/>
              <a:uFillTx/>
              <a:latin typeface="Arial"/>
              <a:ea typeface="メイリオ"/>
              <a:cs typeface="+mn-cs"/>
            </a:endParaRPr>
          </a:p>
        </p:txBody>
      </p:sp>
      <p:cxnSp>
        <p:nvCxnSpPr>
          <p:cNvPr id="22" name="直線コネクタ 21">
            <a:extLst>
              <a:ext uri="{FF2B5EF4-FFF2-40B4-BE49-F238E27FC236}">
                <a16:creationId xmlns:a16="http://schemas.microsoft.com/office/drawing/2014/main" id="{BC03CBD1-6455-44DD-AC66-093BA4F2C363}"/>
              </a:ext>
            </a:extLst>
          </p:cNvPr>
          <p:cNvCxnSpPr>
            <a:cxnSpLocks/>
          </p:cNvCxnSpPr>
          <p:nvPr/>
        </p:nvCxnSpPr>
        <p:spPr>
          <a:xfrm flipV="1">
            <a:off x="4973891" y="4093029"/>
            <a:ext cx="3639913" cy="1064163"/>
          </a:xfrm>
          <a:prstGeom prst="line">
            <a:avLst/>
          </a:prstGeom>
          <a:ln w="38100">
            <a:solidFill>
              <a:srgbClr val="76B7B2"/>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732D0474-EEF4-4CE6-9639-77835E71C1A5}"/>
              </a:ext>
            </a:extLst>
          </p:cNvPr>
          <p:cNvCxnSpPr>
            <a:cxnSpLocks/>
          </p:cNvCxnSpPr>
          <p:nvPr/>
        </p:nvCxnSpPr>
        <p:spPr>
          <a:xfrm flipV="1">
            <a:off x="5004798" y="4423954"/>
            <a:ext cx="3609006" cy="873020"/>
          </a:xfrm>
          <a:prstGeom prst="line">
            <a:avLst/>
          </a:prstGeom>
          <a:ln w="38100">
            <a:solidFill>
              <a:srgbClr val="4E79A7"/>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6B81F44D-5089-4824-933C-DF3C3FAA0D42}"/>
              </a:ext>
            </a:extLst>
          </p:cNvPr>
          <p:cNvCxnSpPr>
            <a:cxnSpLocks/>
          </p:cNvCxnSpPr>
          <p:nvPr/>
        </p:nvCxnSpPr>
        <p:spPr>
          <a:xfrm flipV="1">
            <a:off x="5004798" y="4720046"/>
            <a:ext cx="3617715" cy="567844"/>
          </a:xfrm>
          <a:prstGeom prst="line">
            <a:avLst/>
          </a:prstGeom>
          <a:ln w="38100">
            <a:solidFill>
              <a:srgbClr val="E15759"/>
            </a:solidFill>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4D1D8B53-7D64-4045-AB3C-540260C4332B}"/>
              </a:ext>
            </a:extLst>
          </p:cNvPr>
          <p:cNvSpPr/>
          <p:nvPr/>
        </p:nvSpPr>
        <p:spPr>
          <a:xfrm>
            <a:off x="7596336" y="3789040"/>
            <a:ext cx="1687135" cy="360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76B7B2"/>
                </a:solidFill>
                <a:effectLst/>
                <a:uLnTx/>
                <a:uFillTx/>
                <a:latin typeface="Arial"/>
                <a:ea typeface="メイリオ"/>
                <a:cs typeface="+mn-cs"/>
              </a:rPr>
              <a:t>技術</a:t>
            </a:r>
            <a:r>
              <a:rPr kumimoji="1" lang="en-US" altLang="ja-JP" sz="1400" b="1" i="0" u="none" strike="noStrike" kern="1200" cap="none" spc="0" normalizeH="0" baseline="0" noProof="0" dirty="0">
                <a:ln>
                  <a:noFill/>
                </a:ln>
                <a:solidFill>
                  <a:srgbClr val="76B7B2"/>
                </a:solidFill>
                <a:effectLst/>
                <a:uLnTx/>
                <a:uFillTx/>
                <a:latin typeface="Arial"/>
                <a:ea typeface="メイリオ"/>
                <a:cs typeface="+mn-cs"/>
              </a:rPr>
              <a:t>×</a:t>
            </a:r>
            <a:r>
              <a:rPr kumimoji="1" lang="ja-JP" altLang="en-US" sz="1400" b="1" i="0" u="none" strike="noStrike" kern="1200" cap="none" spc="0" normalizeH="0" baseline="0" noProof="0" dirty="0">
                <a:ln>
                  <a:noFill/>
                </a:ln>
                <a:solidFill>
                  <a:srgbClr val="76B7B2"/>
                </a:solidFill>
                <a:effectLst/>
                <a:uLnTx/>
                <a:uFillTx/>
                <a:latin typeface="Arial"/>
                <a:ea typeface="メイリオ"/>
                <a:cs typeface="+mn-cs"/>
              </a:rPr>
              <a:t>製造</a:t>
            </a:r>
            <a:r>
              <a:rPr kumimoji="1" lang="en-US" altLang="ja-JP" sz="1400" b="1" i="0" u="none" strike="noStrike" kern="1200" cap="none" spc="0" normalizeH="0" baseline="0" noProof="0" dirty="0">
                <a:ln>
                  <a:noFill/>
                </a:ln>
                <a:solidFill>
                  <a:srgbClr val="76B7B2"/>
                </a:solidFill>
                <a:effectLst/>
                <a:uLnTx/>
                <a:uFillTx/>
                <a:latin typeface="Arial"/>
                <a:ea typeface="メイリオ"/>
                <a:cs typeface="+mn-cs"/>
              </a:rPr>
              <a:t>×</a:t>
            </a:r>
            <a:r>
              <a:rPr kumimoji="1" lang="ja-JP" altLang="en-US" sz="1400" b="1" i="0" u="none" strike="noStrike" kern="1200" cap="none" spc="0" normalizeH="0" baseline="0" noProof="0" dirty="0">
                <a:ln>
                  <a:noFill/>
                </a:ln>
                <a:solidFill>
                  <a:srgbClr val="76B7B2"/>
                </a:solidFill>
                <a:effectLst/>
                <a:uLnTx/>
                <a:uFillTx/>
                <a:latin typeface="Arial"/>
                <a:ea typeface="メイリオ"/>
                <a:cs typeface="+mn-cs"/>
              </a:rPr>
              <a:t>建設</a:t>
            </a:r>
            <a:endParaRPr kumimoji="1" lang="en-US" altLang="ja-JP" sz="1400" b="1" i="0" u="none" strike="noStrike" kern="1200" cap="none" spc="0" normalizeH="0" baseline="0" noProof="0" dirty="0">
              <a:ln>
                <a:noFill/>
              </a:ln>
              <a:solidFill>
                <a:srgbClr val="76B7B2"/>
              </a:solidFill>
              <a:effectLst/>
              <a:uLnTx/>
              <a:uFillTx/>
              <a:latin typeface="Arial"/>
              <a:ea typeface="メイリオ"/>
              <a:cs typeface="+mn-cs"/>
            </a:endParaRPr>
          </a:p>
        </p:txBody>
      </p:sp>
      <p:cxnSp>
        <p:nvCxnSpPr>
          <p:cNvPr id="34" name="直線コネクタ 33">
            <a:extLst>
              <a:ext uri="{FF2B5EF4-FFF2-40B4-BE49-F238E27FC236}">
                <a16:creationId xmlns:a16="http://schemas.microsoft.com/office/drawing/2014/main" id="{A5E57C4D-71E7-4D73-8702-A273AA3C59AA}"/>
              </a:ext>
            </a:extLst>
          </p:cNvPr>
          <p:cNvCxnSpPr>
            <a:cxnSpLocks/>
          </p:cNvCxnSpPr>
          <p:nvPr/>
        </p:nvCxnSpPr>
        <p:spPr>
          <a:xfrm flipV="1">
            <a:off x="4996089" y="4813069"/>
            <a:ext cx="3617715" cy="474822"/>
          </a:xfrm>
          <a:prstGeom prst="line">
            <a:avLst/>
          </a:prstGeom>
          <a:ln w="38100">
            <a:solidFill>
              <a:srgbClr val="ECC53B"/>
            </a:solidFill>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2703970F-ACC3-450C-8DEC-9D82675E228C}"/>
              </a:ext>
            </a:extLst>
          </p:cNvPr>
          <p:cNvCxnSpPr>
            <a:cxnSpLocks/>
          </p:cNvCxnSpPr>
          <p:nvPr/>
        </p:nvCxnSpPr>
        <p:spPr>
          <a:xfrm flipV="1">
            <a:off x="4951331" y="4919783"/>
            <a:ext cx="3622166" cy="356715"/>
          </a:xfrm>
          <a:prstGeom prst="line">
            <a:avLst/>
          </a:prstGeom>
          <a:ln w="38100">
            <a:solidFill>
              <a:srgbClr val="59A14F"/>
            </a:solidFill>
          </a:ln>
        </p:spPr>
        <p:style>
          <a:lnRef idx="1">
            <a:schemeClr val="accent1"/>
          </a:lnRef>
          <a:fillRef idx="0">
            <a:schemeClr val="accent1"/>
          </a:fillRef>
          <a:effectRef idx="0">
            <a:schemeClr val="accent1"/>
          </a:effectRef>
          <a:fontRef idx="minor">
            <a:schemeClr val="tx1"/>
          </a:fontRef>
        </p:style>
      </p:cxnSp>
      <p:sp>
        <p:nvSpPr>
          <p:cNvPr id="36" name="正方形/長方形 35">
            <a:extLst>
              <a:ext uri="{FF2B5EF4-FFF2-40B4-BE49-F238E27FC236}">
                <a16:creationId xmlns:a16="http://schemas.microsoft.com/office/drawing/2014/main" id="{32B9CEAC-07B2-40B3-8866-A2E81379B49F}"/>
              </a:ext>
            </a:extLst>
          </p:cNvPr>
          <p:cNvSpPr/>
          <p:nvPr/>
        </p:nvSpPr>
        <p:spPr>
          <a:xfrm>
            <a:off x="8038490" y="4461707"/>
            <a:ext cx="1105510" cy="360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E05052"/>
                </a:solidFill>
                <a:effectLst/>
                <a:uLnTx/>
                <a:uFillTx/>
                <a:latin typeface="Arial"/>
                <a:ea typeface="メイリオ"/>
                <a:cs typeface="+mn-cs"/>
              </a:rPr>
              <a:t>技術</a:t>
            </a:r>
            <a:r>
              <a:rPr kumimoji="1" lang="en-US" altLang="ja-JP" sz="1400" b="1" i="0" u="none" strike="noStrike" kern="1200" cap="none" spc="0" normalizeH="0" baseline="0" noProof="0" dirty="0">
                <a:ln>
                  <a:noFill/>
                </a:ln>
                <a:solidFill>
                  <a:srgbClr val="E05052"/>
                </a:solidFill>
                <a:effectLst/>
                <a:uLnTx/>
                <a:uFillTx/>
                <a:latin typeface="Arial"/>
                <a:ea typeface="メイリオ"/>
                <a:cs typeface="+mn-cs"/>
              </a:rPr>
              <a:t>×</a:t>
            </a:r>
            <a:r>
              <a:rPr kumimoji="1" lang="ja-JP" altLang="en-US" sz="1400" b="1" i="0" u="none" strike="noStrike" kern="1200" cap="none" spc="0" normalizeH="0" baseline="0" noProof="0" dirty="0">
                <a:ln>
                  <a:noFill/>
                </a:ln>
                <a:solidFill>
                  <a:srgbClr val="E05052"/>
                </a:solidFill>
                <a:effectLst/>
                <a:uLnTx/>
                <a:uFillTx/>
                <a:latin typeface="Arial"/>
                <a:ea typeface="メイリオ"/>
                <a:cs typeface="+mn-cs"/>
              </a:rPr>
              <a:t>製造</a:t>
            </a:r>
            <a:endParaRPr kumimoji="1" lang="en-US" altLang="ja-JP" sz="1400" b="1" i="0" u="none" strike="noStrike" kern="1200" cap="none" spc="0" normalizeH="0" baseline="0" noProof="0" dirty="0">
              <a:ln>
                <a:noFill/>
              </a:ln>
              <a:solidFill>
                <a:srgbClr val="E05052"/>
              </a:solidFill>
              <a:effectLst/>
              <a:uLnTx/>
              <a:uFillTx/>
              <a:latin typeface="Arial"/>
              <a:ea typeface="メイリオ"/>
              <a:cs typeface="+mn-cs"/>
            </a:endParaRPr>
          </a:p>
        </p:txBody>
      </p:sp>
      <p:sp>
        <p:nvSpPr>
          <p:cNvPr id="37" name="正方形/長方形 36">
            <a:extLst>
              <a:ext uri="{FF2B5EF4-FFF2-40B4-BE49-F238E27FC236}">
                <a16:creationId xmlns:a16="http://schemas.microsoft.com/office/drawing/2014/main" id="{843F4C21-76F2-47F3-8C4B-6CDB558B9939}"/>
              </a:ext>
            </a:extLst>
          </p:cNvPr>
          <p:cNvSpPr/>
          <p:nvPr/>
        </p:nvSpPr>
        <p:spPr>
          <a:xfrm>
            <a:off x="8147010" y="4941208"/>
            <a:ext cx="1105510" cy="360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59A14F"/>
                </a:solidFill>
                <a:effectLst/>
                <a:uLnTx/>
                <a:uFillTx/>
                <a:latin typeface="Arial"/>
                <a:ea typeface="メイリオ"/>
                <a:cs typeface="+mn-cs"/>
              </a:rPr>
              <a:t>技術</a:t>
            </a:r>
            <a:r>
              <a:rPr lang="ja-JP" altLang="en-US" sz="1400" b="1" dirty="0">
                <a:solidFill>
                  <a:srgbClr val="59A14F"/>
                </a:solidFill>
                <a:latin typeface="Arial"/>
                <a:ea typeface="メイリオ"/>
              </a:rPr>
              <a:t>のみ</a:t>
            </a:r>
            <a:endParaRPr kumimoji="1" lang="en-US" altLang="ja-JP" sz="1400" b="1" i="0" u="none" strike="noStrike" kern="1200" cap="none" spc="0" normalizeH="0" baseline="0" noProof="0" dirty="0">
              <a:ln>
                <a:noFill/>
              </a:ln>
              <a:solidFill>
                <a:srgbClr val="59A14F"/>
              </a:solidFill>
              <a:effectLst/>
              <a:uLnTx/>
              <a:uFillTx/>
              <a:latin typeface="Arial"/>
              <a:ea typeface="メイリオ"/>
              <a:cs typeface="+mn-cs"/>
            </a:endParaRPr>
          </a:p>
        </p:txBody>
      </p:sp>
      <p:cxnSp>
        <p:nvCxnSpPr>
          <p:cNvPr id="39" name="直線コネクタ 38">
            <a:extLst>
              <a:ext uri="{FF2B5EF4-FFF2-40B4-BE49-F238E27FC236}">
                <a16:creationId xmlns:a16="http://schemas.microsoft.com/office/drawing/2014/main" id="{E341669D-7BFB-4A19-9A7F-DB5CB137406D}"/>
              </a:ext>
            </a:extLst>
          </p:cNvPr>
          <p:cNvCxnSpPr>
            <a:cxnSpLocks/>
          </p:cNvCxnSpPr>
          <p:nvPr/>
        </p:nvCxnSpPr>
        <p:spPr>
          <a:xfrm flipV="1">
            <a:off x="661538" y="2852936"/>
            <a:ext cx="3591479" cy="2434954"/>
          </a:xfrm>
          <a:prstGeom prst="line">
            <a:avLst/>
          </a:prstGeom>
          <a:ln w="38100">
            <a:solidFill>
              <a:srgbClr val="E15759"/>
            </a:solidFill>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FEBA9B54-F34E-490F-B7BA-1D1ACC1A6EFB}"/>
              </a:ext>
            </a:extLst>
          </p:cNvPr>
          <p:cNvCxnSpPr>
            <a:cxnSpLocks/>
          </p:cNvCxnSpPr>
          <p:nvPr/>
        </p:nvCxnSpPr>
        <p:spPr>
          <a:xfrm flipV="1">
            <a:off x="672329" y="4119154"/>
            <a:ext cx="3560037" cy="1157344"/>
          </a:xfrm>
          <a:prstGeom prst="line">
            <a:avLst/>
          </a:prstGeom>
          <a:ln w="3810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5917D870-C3A4-4ABF-9E50-E0FD78DF51D5}"/>
              </a:ext>
            </a:extLst>
          </p:cNvPr>
          <p:cNvCxnSpPr>
            <a:cxnSpLocks/>
          </p:cNvCxnSpPr>
          <p:nvPr/>
        </p:nvCxnSpPr>
        <p:spPr>
          <a:xfrm flipV="1">
            <a:off x="638978" y="4537166"/>
            <a:ext cx="3593388" cy="823154"/>
          </a:xfrm>
          <a:prstGeom prst="line">
            <a:avLst/>
          </a:prstGeom>
          <a:ln w="38100">
            <a:solidFill>
              <a:srgbClr val="4E79A7"/>
            </a:solidFill>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06E36326-B52E-461F-B185-5A191A9D5314}"/>
              </a:ext>
            </a:extLst>
          </p:cNvPr>
          <p:cNvSpPr/>
          <p:nvPr/>
        </p:nvSpPr>
        <p:spPr>
          <a:xfrm>
            <a:off x="3065643" y="2850846"/>
            <a:ext cx="851698" cy="360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rgbClr val="E15759"/>
                </a:solidFill>
                <a:effectLst/>
                <a:uLnTx/>
                <a:uFillTx/>
                <a:latin typeface="Arial"/>
                <a:ea typeface="メイリオ"/>
                <a:cs typeface="+mn-cs"/>
              </a:rPr>
              <a:t>3</a:t>
            </a:r>
            <a:r>
              <a:rPr kumimoji="1" lang="ja-JP" altLang="en-US" sz="1400" b="1" i="0" u="none" strike="noStrike" kern="1200" cap="none" spc="0" normalizeH="0" baseline="0" noProof="0" dirty="0">
                <a:ln>
                  <a:noFill/>
                </a:ln>
                <a:solidFill>
                  <a:srgbClr val="E15759"/>
                </a:solidFill>
                <a:effectLst/>
                <a:uLnTx/>
                <a:uFillTx/>
                <a:latin typeface="Arial"/>
                <a:ea typeface="メイリオ"/>
                <a:cs typeface="+mn-cs"/>
              </a:rPr>
              <a:t>課以上</a:t>
            </a:r>
            <a:endParaRPr kumimoji="1" lang="en-US" altLang="ja-JP" sz="1400" b="1" i="0" u="none" strike="noStrike" kern="1200" cap="none" spc="0" normalizeH="0" baseline="0" noProof="0" dirty="0">
              <a:ln>
                <a:noFill/>
              </a:ln>
              <a:solidFill>
                <a:srgbClr val="E15759"/>
              </a:solidFill>
              <a:effectLst/>
              <a:uLnTx/>
              <a:uFillTx/>
              <a:latin typeface="Arial"/>
              <a:ea typeface="メイリオ"/>
              <a:cs typeface="+mn-cs"/>
            </a:endParaRPr>
          </a:p>
        </p:txBody>
      </p:sp>
      <p:sp>
        <p:nvSpPr>
          <p:cNvPr id="48" name="正方形/長方形 47">
            <a:extLst>
              <a:ext uri="{FF2B5EF4-FFF2-40B4-BE49-F238E27FC236}">
                <a16:creationId xmlns:a16="http://schemas.microsoft.com/office/drawing/2014/main" id="{B43FD135-97EA-4393-9B1A-2E58CCE40639}"/>
              </a:ext>
            </a:extLst>
          </p:cNvPr>
          <p:cNvSpPr/>
          <p:nvPr/>
        </p:nvSpPr>
        <p:spPr>
          <a:xfrm>
            <a:off x="3917340" y="3834114"/>
            <a:ext cx="485197" cy="360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rgbClr val="F28E2B"/>
                </a:solidFill>
                <a:effectLst/>
                <a:uLnTx/>
                <a:uFillTx/>
                <a:latin typeface="Arial"/>
                <a:ea typeface="メイリオ"/>
                <a:cs typeface="+mn-cs"/>
              </a:rPr>
              <a:t>2</a:t>
            </a:r>
            <a:r>
              <a:rPr kumimoji="1" lang="ja-JP" altLang="en-US" sz="1400" b="1" i="0" u="none" strike="noStrike" kern="1200" cap="none" spc="0" normalizeH="0" baseline="0" noProof="0" dirty="0">
                <a:ln>
                  <a:noFill/>
                </a:ln>
                <a:solidFill>
                  <a:srgbClr val="F28E2B"/>
                </a:solidFill>
                <a:effectLst/>
                <a:uLnTx/>
                <a:uFillTx/>
                <a:latin typeface="Arial"/>
                <a:ea typeface="メイリオ"/>
                <a:cs typeface="+mn-cs"/>
              </a:rPr>
              <a:t>課</a:t>
            </a:r>
            <a:endParaRPr kumimoji="1" lang="en-US" altLang="ja-JP" sz="1400" b="1" i="0" u="none" strike="noStrike" kern="1200" cap="none" spc="0" normalizeH="0" baseline="0" noProof="0" dirty="0">
              <a:ln>
                <a:noFill/>
              </a:ln>
              <a:solidFill>
                <a:srgbClr val="F28E2B"/>
              </a:solidFill>
              <a:effectLst/>
              <a:uLnTx/>
              <a:uFillTx/>
              <a:latin typeface="Arial"/>
              <a:ea typeface="メイリオ"/>
              <a:cs typeface="+mn-cs"/>
            </a:endParaRPr>
          </a:p>
        </p:txBody>
      </p:sp>
      <p:sp>
        <p:nvSpPr>
          <p:cNvPr id="49" name="正方形/長方形 48">
            <a:extLst>
              <a:ext uri="{FF2B5EF4-FFF2-40B4-BE49-F238E27FC236}">
                <a16:creationId xmlns:a16="http://schemas.microsoft.com/office/drawing/2014/main" id="{5CAE2F56-771E-43C9-BE09-5DEAEC02A3A4}"/>
              </a:ext>
            </a:extLst>
          </p:cNvPr>
          <p:cNvSpPr/>
          <p:nvPr/>
        </p:nvSpPr>
        <p:spPr>
          <a:xfrm>
            <a:off x="3912630" y="4236877"/>
            <a:ext cx="485197" cy="360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ja-JP" sz="1400" b="1" dirty="0">
                <a:solidFill>
                  <a:srgbClr val="4E79A7"/>
                </a:solidFill>
                <a:latin typeface="Arial"/>
                <a:ea typeface="メイリオ"/>
              </a:rPr>
              <a:t>1</a:t>
            </a:r>
            <a:r>
              <a:rPr kumimoji="1" lang="ja-JP" altLang="en-US" sz="1400" b="1" i="0" u="none" strike="noStrike" kern="1200" cap="none" spc="0" normalizeH="0" baseline="0" noProof="0" dirty="0">
                <a:ln>
                  <a:noFill/>
                </a:ln>
                <a:solidFill>
                  <a:srgbClr val="4E79A7"/>
                </a:solidFill>
                <a:effectLst/>
                <a:uLnTx/>
                <a:uFillTx/>
                <a:latin typeface="Arial"/>
                <a:ea typeface="メイリオ"/>
                <a:cs typeface="+mn-cs"/>
              </a:rPr>
              <a:t>課</a:t>
            </a:r>
            <a:endParaRPr kumimoji="1" lang="en-US" altLang="ja-JP" sz="1400" b="1" i="0" u="none" strike="noStrike" kern="1200" cap="none" spc="0" normalizeH="0" baseline="0" noProof="0" dirty="0">
              <a:ln>
                <a:noFill/>
              </a:ln>
              <a:solidFill>
                <a:srgbClr val="4E79A7"/>
              </a:solidFill>
              <a:effectLst/>
              <a:uLnTx/>
              <a:uFillTx/>
              <a:latin typeface="Arial"/>
              <a:ea typeface="メイリオ"/>
              <a:cs typeface="+mn-cs"/>
            </a:endParaRPr>
          </a:p>
        </p:txBody>
      </p:sp>
      <p:sp>
        <p:nvSpPr>
          <p:cNvPr id="3" name="正方形/長方形 2">
            <a:extLst>
              <a:ext uri="{FF2B5EF4-FFF2-40B4-BE49-F238E27FC236}">
                <a16:creationId xmlns:a16="http://schemas.microsoft.com/office/drawing/2014/main" id="{E200B12D-AC9D-976B-A94E-D12656651D3B}"/>
              </a:ext>
            </a:extLst>
          </p:cNvPr>
          <p:cNvSpPr/>
          <p:nvPr/>
        </p:nvSpPr>
        <p:spPr>
          <a:xfrm>
            <a:off x="137924" y="600106"/>
            <a:ext cx="8871064" cy="864096"/>
          </a:xfrm>
          <a:prstGeom prst="rect">
            <a:avLst/>
          </a:prstGeom>
          <a:solidFill>
            <a:schemeClr val="bg2">
              <a:lumMod val="20000"/>
              <a:lumOff val="80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1" lang="ja-JP" altLang="en-US" sz="1600" b="0" i="0" u="none" strike="noStrike" kern="1200" cap="none" spc="0" normalizeH="0" baseline="0" noProof="0" dirty="0">
                <a:ln>
                  <a:noFill/>
                </a:ln>
                <a:solidFill>
                  <a:schemeClr val="tx1"/>
                </a:solidFill>
                <a:effectLst/>
                <a:uLnTx/>
                <a:uFillTx/>
                <a:latin typeface="メイリオ"/>
                <a:ea typeface="メイリオ"/>
                <a:cs typeface="+mn-cs"/>
              </a:rPr>
              <a:t>また、傾向として技術部の</a:t>
            </a:r>
            <a:r>
              <a:rPr kumimoji="1" lang="en-US" altLang="ja-JP" sz="1600" b="0" i="0" u="none" strike="noStrike" kern="1200" cap="none" spc="0" normalizeH="0" baseline="0" noProof="0" dirty="0">
                <a:ln>
                  <a:noFill/>
                </a:ln>
                <a:solidFill>
                  <a:schemeClr val="tx1"/>
                </a:solidFill>
                <a:effectLst/>
                <a:uLnTx/>
                <a:uFillTx/>
                <a:latin typeface="メイリオ"/>
                <a:ea typeface="メイリオ"/>
                <a:cs typeface="+mn-cs"/>
              </a:rPr>
              <a:t>1</a:t>
            </a:r>
            <a:r>
              <a:rPr kumimoji="1" lang="ja-JP" altLang="en-US" sz="1600" b="0" i="0" u="none" strike="noStrike" kern="1200" cap="none" spc="0" normalizeH="0" baseline="0" noProof="0" dirty="0">
                <a:ln>
                  <a:noFill/>
                </a:ln>
                <a:solidFill>
                  <a:schemeClr val="tx1"/>
                </a:solidFill>
                <a:effectLst/>
                <a:uLnTx/>
                <a:uFillTx/>
                <a:latin typeface="メイリオ"/>
                <a:ea typeface="メイリオ"/>
                <a:cs typeface="+mn-cs"/>
              </a:rPr>
              <a:t>つの課で案件を行う場合よりも、複数課が関与するケースの方が計上工数が増加</a:t>
            </a:r>
            <a:r>
              <a:rPr lang="ja-JP" altLang="en-US" sz="1600" dirty="0">
                <a:solidFill>
                  <a:schemeClr val="tx1"/>
                </a:solidFill>
              </a:rPr>
              <a:t>しており、特に現地工事が入った場合の工数増加が大きい。</a:t>
            </a:r>
            <a:endParaRPr lang="en-US" altLang="ja-JP" sz="1600" dirty="0">
              <a:solidFill>
                <a:schemeClr val="tx1"/>
              </a:solidFill>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1" lang="ja-JP" altLang="en-US" sz="1600" b="0" i="0" u="none" strike="noStrike" kern="1200" cap="none" spc="0" normalizeH="0" baseline="0" noProof="0" dirty="0">
                <a:ln>
                  <a:noFill/>
                </a:ln>
                <a:solidFill>
                  <a:schemeClr val="tx1"/>
                </a:solidFill>
                <a:effectLst/>
                <a:uLnTx/>
                <a:uFillTx/>
                <a:latin typeface="メイリオ"/>
                <a:ea typeface="メイリオ"/>
                <a:cs typeface="+mn-cs"/>
              </a:rPr>
              <a:t>今後、複数の課が関与する案件について、工数の増加の要因について、詳細を把握していく。</a:t>
            </a:r>
            <a:endParaRPr kumimoji="1" lang="en-US" altLang="ja-JP" sz="1600" b="0" i="0" u="none" strike="noStrike" kern="1200" cap="none" spc="0" normalizeH="0" baseline="0" noProof="0" dirty="0">
              <a:ln>
                <a:noFill/>
              </a:ln>
              <a:solidFill>
                <a:schemeClr val="tx1"/>
              </a:solidFill>
              <a:effectLst/>
              <a:uLnTx/>
              <a:uFillTx/>
              <a:latin typeface="メイリオ"/>
              <a:ea typeface="メイリオ"/>
              <a:cs typeface="+mn-cs"/>
            </a:endParaRPr>
          </a:p>
        </p:txBody>
      </p:sp>
    </p:spTree>
    <p:extLst>
      <p:ext uri="{BB962C8B-B14F-4D97-AF65-F5344CB8AC3E}">
        <p14:creationId xmlns:p14="http://schemas.microsoft.com/office/powerpoint/2010/main" val="3141717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図 37">
            <a:extLst>
              <a:ext uri="{FF2B5EF4-FFF2-40B4-BE49-F238E27FC236}">
                <a16:creationId xmlns:a16="http://schemas.microsoft.com/office/drawing/2014/main" id="{427D758B-B289-432E-89C6-D6762D745576}"/>
              </a:ext>
            </a:extLst>
          </p:cNvPr>
          <p:cNvPicPr>
            <a:picLocks noChangeAspect="1"/>
          </p:cNvPicPr>
          <p:nvPr/>
        </p:nvPicPr>
        <p:blipFill>
          <a:blip r:embed="rId2"/>
          <a:stretch>
            <a:fillRect/>
          </a:stretch>
        </p:blipFill>
        <p:spPr>
          <a:xfrm>
            <a:off x="5472104" y="2376495"/>
            <a:ext cx="3132344" cy="2446750"/>
          </a:xfrm>
          <a:prstGeom prst="rect">
            <a:avLst/>
          </a:prstGeom>
        </p:spPr>
      </p:pic>
      <p:pic>
        <p:nvPicPr>
          <p:cNvPr id="11" name="図 10">
            <a:extLst>
              <a:ext uri="{FF2B5EF4-FFF2-40B4-BE49-F238E27FC236}">
                <a16:creationId xmlns:a16="http://schemas.microsoft.com/office/drawing/2014/main" id="{046B7C4B-2B2A-40A8-B4BC-DF305F393C6E}"/>
              </a:ext>
            </a:extLst>
          </p:cNvPr>
          <p:cNvPicPr>
            <a:picLocks noChangeAspect="1"/>
          </p:cNvPicPr>
          <p:nvPr/>
        </p:nvPicPr>
        <p:blipFill>
          <a:blip r:embed="rId3"/>
          <a:stretch>
            <a:fillRect/>
          </a:stretch>
        </p:blipFill>
        <p:spPr>
          <a:xfrm>
            <a:off x="343118" y="2451508"/>
            <a:ext cx="2932738" cy="2273664"/>
          </a:xfrm>
          <a:prstGeom prst="rect">
            <a:avLst/>
          </a:prstGeom>
        </p:spPr>
      </p:pic>
      <p:sp>
        <p:nvSpPr>
          <p:cNvPr id="4" name="テキスト プレースホルダー 5">
            <a:extLst>
              <a:ext uri="{FF2B5EF4-FFF2-40B4-BE49-F238E27FC236}">
                <a16:creationId xmlns:a16="http://schemas.microsoft.com/office/drawing/2014/main" id="{301B5099-8992-4C3C-95C3-0166D1259D9B}"/>
              </a:ext>
            </a:extLst>
          </p:cNvPr>
          <p:cNvSpPr txBox="1">
            <a:spLocks/>
          </p:cNvSpPr>
          <p:nvPr/>
        </p:nvSpPr>
        <p:spPr>
          <a:xfrm>
            <a:off x="130764" y="637151"/>
            <a:ext cx="8882470" cy="1296000"/>
          </a:xfrm>
          <a:prstGeom prst="rect">
            <a:avLst/>
          </a:prstGeom>
          <a:solidFill>
            <a:schemeClr val="bg2">
              <a:lumMod val="40000"/>
              <a:lumOff val="60000"/>
            </a:schemeClr>
          </a:solidFill>
        </p:spPr>
        <p:txBody>
          <a:bodyPr lIns="91440" tIns="45720" rIns="91440" bIns="45720" anchor="t"/>
          <a:lst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lang="ja-JP" altLang="en-US" sz="1600" dirty="0">
                <a:solidFill>
                  <a:prstClr val="black"/>
                </a:solidFill>
                <a:latin typeface="Meiryo"/>
                <a:ea typeface="Meiryo"/>
                <a:cs typeface="Arial"/>
              </a:rPr>
              <a:t>例として、</a:t>
            </a:r>
            <a:r>
              <a:rPr kumimoji="1" lang="ja-JP" altLang="en-US" sz="1600" b="0" i="0" u="none" strike="noStrike" kern="1200" cap="none" spc="0" normalizeH="0" baseline="0" noProof="0" dirty="0">
                <a:ln>
                  <a:noFill/>
                </a:ln>
                <a:solidFill>
                  <a:prstClr val="black"/>
                </a:solidFill>
                <a:effectLst/>
                <a:uLnTx/>
                <a:uFillTx/>
                <a:latin typeface="Meiryo"/>
                <a:ea typeface="Meiryo"/>
                <a:cs typeface="Arial"/>
              </a:rPr>
              <a:t>前頁の複数部課が関係する場合については、技術部が設計業務終了以後も少し</a:t>
            </a:r>
            <a:br>
              <a:rPr kumimoji="1" lang="en-US" altLang="ja-JP" sz="1600" b="0" i="0" u="none" strike="noStrike" kern="1200" cap="none" spc="0" normalizeH="0" baseline="0" noProof="0" dirty="0">
                <a:ln>
                  <a:noFill/>
                </a:ln>
                <a:solidFill>
                  <a:prstClr val="black"/>
                </a:solidFill>
                <a:effectLst/>
                <a:uLnTx/>
                <a:uFillTx/>
                <a:latin typeface="Meiryo"/>
                <a:ea typeface="Meiryo"/>
                <a:cs typeface="Arial"/>
              </a:rPr>
            </a:br>
            <a:r>
              <a:rPr kumimoji="1" lang="ja-JP" altLang="en-US" sz="1600" b="0" i="0" u="none" strike="noStrike" kern="1200" cap="none" spc="0" normalizeH="0" baseline="0" noProof="0" dirty="0">
                <a:ln>
                  <a:noFill/>
                </a:ln>
                <a:solidFill>
                  <a:prstClr val="black"/>
                </a:solidFill>
                <a:effectLst/>
                <a:uLnTx/>
                <a:uFillTx/>
                <a:latin typeface="Meiryo"/>
                <a:ea typeface="Meiryo"/>
                <a:cs typeface="Arial"/>
              </a:rPr>
              <a:t>ずつ工数を計上している場合が見られる。</a:t>
            </a:r>
            <a:endParaRPr lang="en-US" altLang="ja-JP" sz="1600" dirty="0">
              <a:solidFill>
                <a:prstClr val="black"/>
              </a:solidFill>
              <a:latin typeface="Meiryo"/>
              <a:ea typeface="Meiryo"/>
              <a:cs typeface="Arial"/>
            </a:endParaRPr>
          </a:p>
          <a:p>
            <a:pPr marR="0" lvl="0"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lang="ja-JP" altLang="en-US" sz="1600" dirty="0">
                <a:solidFill>
                  <a:prstClr val="black"/>
                </a:solidFill>
                <a:latin typeface="Meiryo"/>
                <a:ea typeface="Meiryo"/>
                <a:cs typeface="+mn-lt"/>
              </a:rPr>
              <a:t>この場合には、製造・建設の活動中に技術部が何らかの調整業務を実施している可能性が</a:t>
            </a:r>
            <a:br>
              <a:rPr lang="en-US" altLang="ja-JP" sz="1600" dirty="0">
                <a:solidFill>
                  <a:prstClr val="black"/>
                </a:solidFill>
                <a:latin typeface="Meiryo"/>
                <a:ea typeface="Meiryo"/>
                <a:cs typeface="+mn-lt"/>
              </a:rPr>
            </a:br>
            <a:r>
              <a:rPr lang="ja-JP" altLang="en-US" sz="1600" dirty="0">
                <a:solidFill>
                  <a:prstClr val="black"/>
                </a:solidFill>
                <a:latin typeface="Meiryo"/>
                <a:ea typeface="Meiryo"/>
                <a:cs typeface="+mn-lt"/>
              </a:rPr>
              <a:t>ある。今後、実態を把握し、工数が増加するポイントとその対応策を検討する。</a:t>
            </a:r>
            <a:endParaRPr lang="en-US" altLang="ja-JP" sz="1600" dirty="0">
              <a:solidFill>
                <a:prstClr val="black"/>
              </a:solidFill>
              <a:latin typeface="Meiryo"/>
              <a:ea typeface="Meiryo"/>
              <a:cs typeface="+mn-lt"/>
            </a:endParaRPr>
          </a:p>
        </p:txBody>
      </p:sp>
      <p:sp>
        <p:nvSpPr>
          <p:cNvPr id="5" name="テキスト ボックス 4">
            <a:extLst>
              <a:ext uri="{FF2B5EF4-FFF2-40B4-BE49-F238E27FC236}">
                <a16:creationId xmlns:a16="http://schemas.microsoft.com/office/drawing/2014/main" id="{AC8A9AB4-8EC0-4203-9916-3A79071407DA}"/>
              </a:ext>
            </a:extLst>
          </p:cNvPr>
          <p:cNvSpPr txBox="1"/>
          <p:nvPr/>
        </p:nvSpPr>
        <p:spPr>
          <a:xfrm>
            <a:off x="278327" y="188640"/>
            <a:ext cx="7358743" cy="3693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1" dirty="0">
                <a:solidFill>
                  <a:srgbClr val="000000"/>
                </a:solidFill>
                <a:latin typeface="メイリオ"/>
                <a:ea typeface="メイリオ"/>
              </a:rPr>
              <a:t>５－３</a:t>
            </a:r>
            <a:r>
              <a:rPr kumimoji="1" lang="ja-JP" altLang="en-US" sz="1800" b="1" i="0" u="none" strike="noStrike" kern="1200" cap="none" spc="0" normalizeH="0" baseline="0" noProof="0" dirty="0">
                <a:ln>
                  <a:noFill/>
                </a:ln>
                <a:solidFill>
                  <a:srgbClr val="000000"/>
                </a:solidFill>
                <a:effectLst/>
                <a:uLnTx/>
                <a:uFillTx/>
                <a:latin typeface="メイリオ"/>
                <a:ea typeface="メイリオ"/>
              </a:rPr>
              <a:t>．複数課関与案件における工数計上のパターン</a:t>
            </a:r>
            <a:endParaRPr lang="ja-JP" altLang="en-US" sz="1800" b="1" i="0" u="none" strike="noStrike" kern="1200" cap="none" spc="0" normalizeH="0" baseline="0" noProof="0" dirty="0">
              <a:ln>
                <a:noFill/>
              </a:ln>
              <a:solidFill>
                <a:srgbClr val="000000"/>
              </a:solidFill>
              <a:effectLst/>
              <a:uLnTx/>
              <a:uFillTx/>
              <a:latin typeface="メイリオ"/>
              <a:ea typeface="メイリオ"/>
            </a:endParaRPr>
          </a:p>
        </p:txBody>
      </p:sp>
      <p:sp>
        <p:nvSpPr>
          <p:cNvPr id="13" name="正方形/長方形 12">
            <a:extLst>
              <a:ext uri="{FF2B5EF4-FFF2-40B4-BE49-F238E27FC236}">
                <a16:creationId xmlns:a16="http://schemas.microsoft.com/office/drawing/2014/main" id="{4DA84140-0248-47C5-830F-1B3AE98EE490}"/>
              </a:ext>
            </a:extLst>
          </p:cNvPr>
          <p:cNvSpPr/>
          <p:nvPr/>
        </p:nvSpPr>
        <p:spPr>
          <a:xfrm>
            <a:off x="302901" y="2050909"/>
            <a:ext cx="4167644" cy="28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1"/>
                </a:solidFill>
              </a:rPr>
              <a:t>部ごと工数推移（部品内製＋現地工事あり）</a:t>
            </a:r>
            <a:endParaRPr lang="en-US" altLang="ja-JP" sz="1400" dirty="0">
              <a:solidFill>
                <a:schemeClr val="tx1"/>
              </a:solidFill>
            </a:endParaRPr>
          </a:p>
        </p:txBody>
      </p:sp>
      <p:pic>
        <p:nvPicPr>
          <p:cNvPr id="17" name="図 16">
            <a:extLst>
              <a:ext uri="{FF2B5EF4-FFF2-40B4-BE49-F238E27FC236}">
                <a16:creationId xmlns:a16="http://schemas.microsoft.com/office/drawing/2014/main" id="{948B8C4D-9B8E-4E20-9B2E-8D93C83D4444}"/>
              </a:ext>
            </a:extLst>
          </p:cNvPr>
          <p:cNvPicPr>
            <a:picLocks noChangeAspect="1"/>
          </p:cNvPicPr>
          <p:nvPr/>
        </p:nvPicPr>
        <p:blipFill>
          <a:blip r:embed="rId4"/>
          <a:stretch>
            <a:fillRect/>
          </a:stretch>
        </p:blipFill>
        <p:spPr>
          <a:xfrm>
            <a:off x="318657" y="5436453"/>
            <a:ext cx="4253343" cy="936000"/>
          </a:xfrm>
          <a:prstGeom prst="rect">
            <a:avLst/>
          </a:prstGeom>
          <a:ln>
            <a:solidFill>
              <a:schemeClr val="tx1"/>
            </a:solidFill>
          </a:ln>
        </p:spPr>
      </p:pic>
      <p:sp>
        <p:nvSpPr>
          <p:cNvPr id="18" name="正方形/長方形 17">
            <a:extLst>
              <a:ext uri="{FF2B5EF4-FFF2-40B4-BE49-F238E27FC236}">
                <a16:creationId xmlns:a16="http://schemas.microsoft.com/office/drawing/2014/main" id="{D52B973A-154F-4866-B6BB-6C898C43F3AB}"/>
              </a:ext>
            </a:extLst>
          </p:cNvPr>
          <p:cNvSpPr/>
          <p:nvPr/>
        </p:nvSpPr>
        <p:spPr>
          <a:xfrm>
            <a:off x="287941" y="5620926"/>
            <a:ext cx="4293673" cy="256346"/>
          </a:xfrm>
          <a:prstGeom prst="rect">
            <a:avLst/>
          </a:prstGeom>
          <a:solidFill>
            <a:schemeClr val="accent3">
              <a:lumMod val="40000"/>
              <a:lumOff val="60000"/>
              <a:alpha val="32157"/>
            </a:schemeClr>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ja-JP" altLang="en-US" sz="1200" b="1" dirty="0">
                <a:solidFill>
                  <a:srgbClr val="FF0000"/>
                </a:solidFill>
                <a:latin typeface="+mn-ea"/>
              </a:rPr>
              <a:t>技術</a:t>
            </a:r>
            <a:r>
              <a:rPr kumimoji="1" lang="ja-JP" altLang="en-US" sz="1200" b="1" dirty="0">
                <a:solidFill>
                  <a:srgbClr val="FF0000"/>
                </a:solidFill>
                <a:latin typeface="+mn-ea"/>
              </a:rPr>
              <a:t>部</a:t>
            </a:r>
          </a:p>
        </p:txBody>
      </p:sp>
      <p:sp>
        <p:nvSpPr>
          <p:cNvPr id="19" name="正方形/長方形 18">
            <a:extLst>
              <a:ext uri="{FF2B5EF4-FFF2-40B4-BE49-F238E27FC236}">
                <a16:creationId xmlns:a16="http://schemas.microsoft.com/office/drawing/2014/main" id="{70A2255E-8004-4710-A76E-D361EC761302}"/>
              </a:ext>
            </a:extLst>
          </p:cNvPr>
          <p:cNvSpPr/>
          <p:nvPr/>
        </p:nvSpPr>
        <p:spPr>
          <a:xfrm>
            <a:off x="3182988" y="5661248"/>
            <a:ext cx="216000" cy="144000"/>
          </a:xfrm>
          <a:prstGeom prst="rect">
            <a:avLst/>
          </a:prstGeom>
          <a:noFill/>
          <a:ln w="19050" cmpd="sng">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200" dirty="0">
              <a:solidFill>
                <a:schemeClr val="tx1"/>
              </a:solidFill>
              <a:latin typeface="+mn-ea"/>
            </a:endParaRPr>
          </a:p>
        </p:txBody>
      </p:sp>
      <p:sp>
        <p:nvSpPr>
          <p:cNvPr id="20" name="正方形/長方形 19">
            <a:extLst>
              <a:ext uri="{FF2B5EF4-FFF2-40B4-BE49-F238E27FC236}">
                <a16:creationId xmlns:a16="http://schemas.microsoft.com/office/drawing/2014/main" id="{4EE955CC-D0BF-413D-AAC2-945335FAEB2B}"/>
              </a:ext>
            </a:extLst>
          </p:cNvPr>
          <p:cNvSpPr/>
          <p:nvPr/>
        </p:nvSpPr>
        <p:spPr>
          <a:xfrm>
            <a:off x="3934641" y="5661248"/>
            <a:ext cx="216000" cy="144000"/>
          </a:xfrm>
          <a:prstGeom prst="rect">
            <a:avLst/>
          </a:prstGeom>
          <a:noFill/>
          <a:ln w="19050" cmpd="sng">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200" dirty="0">
              <a:solidFill>
                <a:schemeClr val="tx1"/>
              </a:solidFill>
              <a:latin typeface="+mn-ea"/>
            </a:endParaRPr>
          </a:p>
        </p:txBody>
      </p:sp>
      <p:sp>
        <p:nvSpPr>
          <p:cNvPr id="21" name="正方形/長方形 20">
            <a:extLst>
              <a:ext uri="{FF2B5EF4-FFF2-40B4-BE49-F238E27FC236}">
                <a16:creationId xmlns:a16="http://schemas.microsoft.com/office/drawing/2014/main" id="{02D37D9A-63A1-4579-84D0-5FBDE58D403D}"/>
              </a:ext>
            </a:extLst>
          </p:cNvPr>
          <p:cNvSpPr/>
          <p:nvPr/>
        </p:nvSpPr>
        <p:spPr>
          <a:xfrm>
            <a:off x="2494481" y="5661248"/>
            <a:ext cx="216000" cy="144000"/>
          </a:xfrm>
          <a:prstGeom prst="rect">
            <a:avLst/>
          </a:prstGeom>
          <a:noFill/>
          <a:ln w="19050" cmpd="sng">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200" dirty="0">
              <a:solidFill>
                <a:schemeClr val="tx1"/>
              </a:solidFill>
              <a:latin typeface="+mn-ea"/>
            </a:endParaRPr>
          </a:p>
        </p:txBody>
      </p:sp>
      <p:cxnSp>
        <p:nvCxnSpPr>
          <p:cNvPr id="22" name="直線矢印コネクタ 21">
            <a:extLst>
              <a:ext uri="{FF2B5EF4-FFF2-40B4-BE49-F238E27FC236}">
                <a16:creationId xmlns:a16="http://schemas.microsoft.com/office/drawing/2014/main" id="{A0D16170-785F-457D-A477-B09FB078355B}"/>
              </a:ext>
            </a:extLst>
          </p:cNvPr>
          <p:cNvCxnSpPr/>
          <p:nvPr/>
        </p:nvCxnSpPr>
        <p:spPr>
          <a:xfrm>
            <a:off x="2596139" y="5805264"/>
            <a:ext cx="0" cy="288000"/>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493E46FB-3E01-43B7-B68A-5492C79789CF}"/>
              </a:ext>
            </a:extLst>
          </p:cNvPr>
          <p:cNvCxnSpPr/>
          <p:nvPr/>
        </p:nvCxnSpPr>
        <p:spPr>
          <a:xfrm>
            <a:off x="3298872" y="5805264"/>
            <a:ext cx="0" cy="432000"/>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9A894F2D-ECD6-4438-91E6-C05660EF4C37}"/>
              </a:ext>
            </a:extLst>
          </p:cNvPr>
          <p:cNvCxnSpPr/>
          <p:nvPr/>
        </p:nvCxnSpPr>
        <p:spPr>
          <a:xfrm>
            <a:off x="4052405" y="5805264"/>
            <a:ext cx="0" cy="432000"/>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EFFD8180-67E2-4367-A2DC-719F18BC9C51}"/>
              </a:ext>
            </a:extLst>
          </p:cNvPr>
          <p:cNvCxnSpPr>
            <a:cxnSpLocks/>
          </p:cNvCxnSpPr>
          <p:nvPr/>
        </p:nvCxnSpPr>
        <p:spPr>
          <a:xfrm flipV="1">
            <a:off x="2709015" y="5363842"/>
            <a:ext cx="719400" cy="28266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正方形/長方形 25">
            <a:extLst>
              <a:ext uri="{FF2B5EF4-FFF2-40B4-BE49-F238E27FC236}">
                <a16:creationId xmlns:a16="http://schemas.microsoft.com/office/drawing/2014/main" id="{5568C2CC-1E59-4D88-B9C5-38E45C7F8764}"/>
              </a:ext>
            </a:extLst>
          </p:cNvPr>
          <p:cNvSpPr/>
          <p:nvPr/>
        </p:nvSpPr>
        <p:spPr>
          <a:xfrm>
            <a:off x="2280749" y="5157224"/>
            <a:ext cx="2376000" cy="28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rgbClr val="FF0000"/>
                </a:solidFill>
              </a:rPr>
              <a:t>フローに現れない調整業務</a:t>
            </a:r>
            <a:endParaRPr lang="en-US" altLang="ja-JP" sz="1400" dirty="0">
              <a:solidFill>
                <a:srgbClr val="FF0000"/>
              </a:solidFill>
            </a:endParaRPr>
          </a:p>
        </p:txBody>
      </p:sp>
      <p:cxnSp>
        <p:nvCxnSpPr>
          <p:cNvPr id="27" name="直線コネクタ 26">
            <a:extLst>
              <a:ext uri="{FF2B5EF4-FFF2-40B4-BE49-F238E27FC236}">
                <a16:creationId xmlns:a16="http://schemas.microsoft.com/office/drawing/2014/main" id="{B34CC9F9-8104-4D6F-9618-F77FF7ECD550}"/>
              </a:ext>
            </a:extLst>
          </p:cNvPr>
          <p:cNvCxnSpPr>
            <a:cxnSpLocks/>
            <a:stCxn id="19" idx="0"/>
          </p:cNvCxnSpPr>
          <p:nvPr/>
        </p:nvCxnSpPr>
        <p:spPr>
          <a:xfrm flipV="1">
            <a:off x="3290988" y="5374288"/>
            <a:ext cx="208781" cy="28696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E6DBB249-6702-49C8-96D1-70611D6953E0}"/>
              </a:ext>
            </a:extLst>
          </p:cNvPr>
          <p:cNvCxnSpPr>
            <a:cxnSpLocks/>
          </p:cNvCxnSpPr>
          <p:nvPr/>
        </p:nvCxnSpPr>
        <p:spPr>
          <a:xfrm flipH="1" flipV="1">
            <a:off x="3541681" y="5374288"/>
            <a:ext cx="445698" cy="2722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正方形/長方形 34">
            <a:extLst>
              <a:ext uri="{FF2B5EF4-FFF2-40B4-BE49-F238E27FC236}">
                <a16:creationId xmlns:a16="http://schemas.microsoft.com/office/drawing/2014/main" id="{B8145078-CF10-44A1-9668-DA39E191DFE1}"/>
              </a:ext>
            </a:extLst>
          </p:cNvPr>
          <p:cNvSpPr/>
          <p:nvPr/>
        </p:nvSpPr>
        <p:spPr>
          <a:xfrm>
            <a:off x="230893" y="5114362"/>
            <a:ext cx="1440000" cy="28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1"/>
                </a:solidFill>
              </a:rPr>
              <a:t>＜業務フロー＞</a:t>
            </a:r>
            <a:endParaRPr lang="en-US" altLang="ja-JP" sz="1400" dirty="0">
              <a:solidFill>
                <a:schemeClr val="tx1"/>
              </a:solidFill>
            </a:endParaRPr>
          </a:p>
        </p:txBody>
      </p:sp>
      <p:sp>
        <p:nvSpPr>
          <p:cNvPr id="30" name="正方形/長方形 29">
            <a:extLst>
              <a:ext uri="{FF2B5EF4-FFF2-40B4-BE49-F238E27FC236}">
                <a16:creationId xmlns:a16="http://schemas.microsoft.com/office/drawing/2014/main" id="{58D833C5-641F-4AFC-94D8-5F8A5D35715F}"/>
              </a:ext>
            </a:extLst>
          </p:cNvPr>
          <p:cNvSpPr/>
          <p:nvPr/>
        </p:nvSpPr>
        <p:spPr>
          <a:xfrm>
            <a:off x="2757793" y="4665375"/>
            <a:ext cx="719536" cy="252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メイリオ"/>
                <a:cs typeface="+mn-cs"/>
              </a:rPr>
              <a:t>年月</a:t>
            </a:r>
            <a:endParaRPr kumimoji="1" lang="en-US" altLang="ja-JP" sz="1200" b="0"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31" name="正方形/長方形 30">
            <a:extLst>
              <a:ext uri="{FF2B5EF4-FFF2-40B4-BE49-F238E27FC236}">
                <a16:creationId xmlns:a16="http://schemas.microsoft.com/office/drawing/2014/main" id="{102AC073-5644-4763-90F1-E5CF529973D2}"/>
              </a:ext>
            </a:extLst>
          </p:cNvPr>
          <p:cNvSpPr/>
          <p:nvPr/>
        </p:nvSpPr>
        <p:spPr>
          <a:xfrm>
            <a:off x="55086" y="2913865"/>
            <a:ext cx="431254" cy="1008112"/>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メイリオ"/>
                <a:cs typeface="+mn-cs"/>
              </a:rPr>
              <a:t>合計工数</a:t>
            </a:r>
            <a:endParaRPr kumimoji="1" lang="en-US" altLang="ja-JP" sz="1200" b="0"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32" name="正方形/長方形 31">
            <a:extLst>
              <a:ext uri="{FF2B5EF4-FFF2-40B4-BE49-F238E27FC236}">
                <a16:creationId xmlns:a16="http://schemas.microsoft.com/office/drawing/2014/main" id="{128545F6-0A2E-4A23-9885-04AA3A8DB7B6}"/>
              </a:ext>
            </a:extLst>
          </p:cNvPr>
          <p:cNvSpPr/>
          <p:nvPr/>
        </p:nvSpPr>
        <p:spPr>
          <a:xfrm>
            <a:off x="2933991" y="2998134"/>
            <a:ext cx="1710017" cy="574882"/>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オーダ名：</a:t>
            </a:r>
            <a:br>
              <a:rPr lang="en-US" altLang="ja-JP" sz="1200" dirty="0">
                <a:solidFill>
                  <a:schemeClr val="tx1"/>
                </a:solidFill>
              </a:rPr>
            </a:br>
            <a:r>
              <a:rPr lang="ja-JP" altLang="en-US" sz="1200" dirty="0">
                <a:solidFill>
                  <a:schemeClr val="tx1"/>
                </a:solidFill>
              </a:rPr>
              <a:t>「関電赤穂</a:t>
            </a:r>
            <a:r>
              <a:rPr lang="en-US" altLang="ja-JP" sz="1200" dirty="0">
                <a:solidFill>
                  <a:schemeClr val="tx1"/>
                </a:solidFill>
              </a:rPr>
              <a:t>PS1</a:t>
            </a:r>
            <a:r>
              <a:rPr lang="ja-JP" altLang="en-US" sz="1200" dirty="0">
                <a:solidFill>
                  <a:schemeClr val="tx1"/>
                </a:solidFill>
              </a:rPr>
              <a:t>号</a:t>
            </a:r>
            <a:r>
              <a:rPr lang="en-US" altLang="ja-JP" sz="1200" dirty="0">
                <a:solidFill>
                  <a:schemeClr val="tx1"/>
                </a:solidFill>
              </a:rPr>
              <a:t>/</a:t>
            </a:r>
            <a:br>
              <a:rPr lang="en-US" altLang="ja-JP" sz="1200" dirty="0">
                <a:solidFill>
                  <a:schemeClr val="tx1"/>
                </a:solidFill>
              </a:rPr>
            </a:br>
            <a:r>
              <a:rPr lang="ja-JP" altLang="en-US" sz="1200" dirty="0">
                <a:solidFill>
                  <a:schemeClr val="tx1"/>
                </a:solidFill>
              </a:rPr>
              <a:t>再熱器出口管寄せ</a:t>
            </a:r>
            <a:br>
              <a:rPr lang="en-US" altLang="ja-JP" sz="1200" dirty="0">
                <a:solidFill>
                  <a:schemeClr val="tx1"/>
                </a:solidFill>
              </a:rPr>
            </a:br>
            <a:r>
              <a:rPr lang="ja-JP" altLang="en-US" sz="1200" dirty="0">
                <a:solidFill>
                  <a:schemeClr val="tx1"/>
                </a:solidFill>
              </a:rPr>
              <a:t>貫通部伸縮継手購入」</a:t>
            </a:r>
            <a:endParaRPr lang="en-US" altLang="ja-JP" sz="1200" dirty="0">
              <a:solidFill>
                <a:schemeClr val="tx1"/>
              </a:solidFill>
            </a:endParaRPr>
          </a:p>
          <a:p>
            <a:br>
              <a:rPr lang="en-US" altLang="ja-JP" sz="1200" dirty="0">
                <a:solidFill>
                  <a:schemeClr val="tx1"/>
                </a:solidFill>
              </a:rPr>
            </a:br>
            <a:r>
              <a:rPr lang="ja-JP" altLang="en-US" sz="1200" dirty="0">
                <a:solidFill>
                  <a:schemeClr val="tx1"/>
                </a:solidFill>
              </a:rPr>
              <a:t>受注金額：</a:t>
            </a:r>
            <a:r>
              <a:rPr lang="en-US" altLang="ja-JP" sz="1200" dirty="0">
                <a:solidFill>
                  <a:schemeClr val="tx1"/>
                </a:solidFill>
              </a:rPr>
              <a:t>19.8</a:t>
            </a:r>
            <a:r>
              <a:rPr lang="ja-JP" altLang="en-US" sz="1200" dirty="0">
                <a:solidFill>
                  <a:schemeClr val="tx1"/>
                </a:solidFill>
              </a:rPr>
              <a:t>百万円</a:t>
            </a:r>
            <a:endParaRPr lang="en-US" altLang="ja-JP" sz="1200" dirty="0">
              <a:solidFill>
                <a:schemeClr val="tx1"/>
              </a:solidFill>
            </a:endParaRPr>
          </a:p>
        </p:txBody>
      </p:sp>
      <p:sp>
        <p:nvSpPr>
          <p:cNvPr id="33" name="矢印: 上下 32">
            <a:extLst>
              <a:ext uri="{FF2B5EF4-FFF2-40B4-BE49-F238E27FC236}">
                <a16:creationId xmlns:a16="http://schemas.microsoft.com/office/drawing/2014/main" id="{841B62C6-F9FB-495A-8455-C4D9D4624E24}"/>
              </a:ext>
            </a:extLst>
          </p:cNvPr>
          <p:cNvSpPr/>
          <p:nvPr/>
        </p:nvSpPr>
        <p:spPr>
          <a:xfrm>
            <a:off x="2018131" y="4941200"/>
            <a:ext cx="216000" cy="288000"/>
          </a:xfrm>
          <a:prstGeom prst="upDownArrow">
            <a:avLst/>
          </a:prstGeom>
          <a:solidFill>
            <a:schemeClr val="bg2">
              <a:lumMod val="75000"/>
            </a:schemeClr>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200" dirty="0">
              <a:solidFill>
                <a:schemeClr val="tx1"/>
              </a:solidFill>
              <a:latin typeface="+mn-ea"/>
            </a:endParaRPr>
          </a:p>
        </p:txBody>
      </p:sp>
      <p:pic>
        <p:nvPicPr>
          <p:cNvPr id="34" name="図 33">
            <a:extLst>
              <a:ext uri="{FF2B5EF4-FFF2-40B4-BE49-F238E27FC236}">
                <a16:creationId xmlns:a16="http://schemas.microsoft.com/office/drawing/2014/main" id="{64A0E348-AE5C-42BB-A7B5-4E6ED9C019B1}"/>
              </a:ext>
            </a:extLst>
          </p:cNvPr>
          <p:cNvPicPr>
            <a:picLocks noChangeAspect="1"/>
          </p:cNvPicPr>
          <p:nvPr/>
        </p:nvPicPr>
        <p:blipFill>
          <a:blip r:embed="rId5"/>
          <a:stretch>
            <a:fillRect/>
          </a:stretch>
        </p:blipFill>
        <p:spPr>
          <a:xfrm>
            <a:off x="5500394" y="5445224"/>
            <a:ext cx="2744014" cy="936000"/>
          </a:xfrm>
          <a:prstGeom prst="rect">
            <a:avLst/>
          </a:prstGeom>
          <a:ln>
            <a:solidFill>
              <a:schemeClr val="tx1"/>
            </a:solidFill>
          </a:ln>
        </p:spPr>
      </p:pic>
      <p:sp>
        <p:nvSpPr>
          <p:cNvPr id="40" name="正方形/長方形 39">
            <a:extLst>
              <a:ext uri="{FF2B5EF4-FFF2-40B4-BE49-F238E27FC236}">
                <a16:creationId xmlns:a16="http://schemas.microsoft.com/office/drawing/2014/main" id="{CE230D70-DE28-4811-8C01-6EC36C4A7597}"/>
              </a:ext>
            </a:extLst>
          </p:cNvPr>
          <p:cNvSpPr/>
          <p:nvPr/>
        </p:nvSpPr>
        <p:spPr>
          <a:xfrm>
            <a:off x="5510580" y="5627412"/>
            <a:ext cx="2736000" cy="252000"/>
          </a:xfrm>
          <a:prstGeom prst="rect">
            <a:avLst/>
          </a:prstGeom>
          <a:solidFill>
            <a:schemeClr val="accent3">
              <a:lumMod val="40000"/>
              <a:lumOff val="60000"/>
              <a:alpha val="32157"/>
            </a:schemeClr>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ja-JP" altLang="en-US" sz="1200" b="1" dirty="0">
                <a:solidFill>
                  <a:srgbClr val="FF0000"/>
                </a:solidFill>
                <a:latin typeface="+mn-ea"/>
              </a:rPr>
              <a:t>技術</a:t>
            </a:r>
            <a:r>
              <a:rPr kumimoji="1" lang="ja-JP" altLang="en-US" sz="1200" b="1" dirty="0">
                <a:solidFill>
                  <a:srgbClr val="FF0000"/>
                </a:solidFill>
                <a:latin typeface="+mn-ea"/>
              </a:rPr>
              <a:t>部</a:t>
            </a:r>
          </a:p>
        </p:txBody>
      </p:sp>
      <p:sp>
        <p:nvSpPr>
          <p:cNvPr id="41" name="正方形/長方形 40">
            <a:extLst>
              <a:ext uri="{FF2B5EF4-FFF2-40B4-BE49-F238E27FC236}">
                <a16:creationId xmlns:a16="http://schemas.microsoft.com/office/drawing/2014/main" id="{1CD25295-9181-46BA-B6C8-65072C3BD477}"/>
              </a:ext>
            </a:extLst>
          </p:cNvPr>
          <p:cNvSpPr/>
          <p:nvPr/>
        </p:nvSpPr>
        <p:spPr>
          <a:xfrm>
            <a:off x="7668368" y="5611500"/>
            <a:ext cx="216000" cy="144000"/>
          </a:xfrm>
          <a:prstGeom prst="rect">
            <a:avLst/>
          </a:prstGeom>
          <a:noFill/>
          <a:ln w="19050" cmpd="sng">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200" dirty="0">
              <a:solidFill>
                <a:schemeClr val="tx1"/>
              </a:solidFill>
              <a:latin typeface="+mn-ea"/>
            </a:endParaRPr>
          </a:p>
        </p:txBody>
      </p:sp>
      <p:cxnSp>
        <p:nvCxnSpPr>
          <p:cNvPr id="42" name="直線矢印コネクタ 41">
            <a:extLst>
              <a:ext uri="{FF2B5EF4-FFF2-40B4-BE49-F238E27FC236}">
                <a16:creationId xmlns:a16="http://schemas.microsoft.com/office/drawing/2014/main" id="{18DBFBDE-9062-4EE4-AE71-D3606A32993A}"/>
              </a:ext>
            </a:extLst>
          </p:cNvPr>
          <p:cNvCxnSpPr/>
          <p:nvPr/>
        </p:nvCxnSpPr>
        <p:spPr>
          <a:xfrm>
            <a:off x="7770026" y="5755516"/>
            <a:ext cx="0" cy="288000"/>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3" name="正方形/長方形 42">
            <a:extLst>
              <a:ext uri="{FF2B5EF4-FFF2-40B4-BE49-F238E27FC236}">
                <a16:creationId xmlns:a16="http://schemas.microsoft.com/office/drawing/2014/main" id="{FC4211E4-74CA-4685-A57E-9BDAD862882D}"/>
              </a:ext>
            </a:extLst>
          </p:cNvPr>
          <p:cNvSpPr/>
          <p:nvPr/>
        </p:nvSpPr>
        <p:spPr>
          <a:xfrm>
            <a:off x="6804512" y="5157224"/>
            <a:ext cx="2376000" cy="28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rgbClr val="FF0000"/>
                </a:solidFill>
              </a:rPr>
              <a:t>フローに現れない調整業務</a:t>
            </a:r>
            <a:endParaRPr lang="en-US" altLang="ja-JP" sz="1400" dirty="0">
              <a:solidFill>
                <a:srgbClr val="FF0000"/>
              </a:solidFill>
            </a:endParaRPr>
          </a:p>
        </p:txBody>
      </p:sp>
      <p:cxnSp>
        <p:nvCxnSpPr>
          <p:cNvPr id="44" name="直線コネクタ 43">
            <a:extLst>
              <a:ext uri="{FF2B5EF4-FFF2-40B4-BE49-F238E27FC236}">
                <a16:creationId xmlns:a16="http://schemas.microsoft.com/office/drawing/2014/main" id="{6CFCC46F-6B77-4FD9-BE24-B671D4CAB18A}"/>
              </a:ext>
            </a:extLst>
          </p:cNvPr>
          <p:cNvCxnSpPr>
            <a:cxnSpLocks/>
          </p:cNvCxnSpPr>
          <p:nvPr/>
        </p:nvCxnSpPr>
        <p:spPr>
          <a:xfrm flipV="1">
            <a:off x="7770026" y="5402362"/>
            <a:ext cx="114342" cy="20913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正方形/長方形 44">
            <a:extLst>
              <a:ext uri="{FF2B5EF4-FFF2-40B4-BE49-F238E27FC236}">
                <a16:creationId xmlns:a16="http://schemas.microsoft.com/office/drawing/2014/main" id="{67E039CB-5E13-4EFB-A183-8A1346F8F1DB}"/>
              </a:ext>
            </a:extLst>
          </p:cNvPr>
          <p:cNvSpPr/>
          <p:nvPr/>
        </p:nvSpPr>
        <p:spPr>
          <a:xfrm>
            <a:off x="7440490" y="2708920"/>
            <a:ext cx="1710017" cy="857069"/>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オーダ名：</a:t>
            </a:r>
            <a:br>
              <a:rPr lang="en-US" altLang="ja-JP" sz="1200" dirty="0">
                <a:solidFill>
                  <a:schemeClr val="tx1"/>
                </a:solidFill>
              </a:rPr>
            </a:br>
            <a:r>
              <a:rPr lang="ja-JP" altLang="en-US" sz="1200" dirty="0">
                <a:solidFill>
                  <a:schemeClr val="tx1"/>
                </a:solidFill>
              </a:rPr>
              <a:t>「常盤共火勿来</a:t>
            </a:r>
            <a:r>
              <a:rPr lang="en-US" altLang="ja-JP" sz="1200" dirty="0">
                <a:solidFill>
                  <a:schemeClr val="tx1"/>
                </a:solidFill>
              </a:rPr>
              <a:t>7</a:t>
            </a:r>
            <a:r>
              <a:rPr lang="ja-JP" altLang="en-US" sz="1200" dirty="0">
                <a:solidFill>
                  <a:schemeClr val="tx1"/>
                </a:solidFill>
              </a:rPr>
              <a:t>号</a:t>
            </a:r>
            <a:r>
              <a:rPr lang="en-US" altLang="ja-JP" sz="1200" dirty="0">
                <a:solidFill>
                  <a:schemeClr val="tx1"/>
                </a:solidFill>
              </a:rPr>
              <a:t>./</a:t>
            </a:r>
            <a:r>
              <a:rPr lang="ja-JP" altLang="en-US" sz="1200" dirty="0">
                <a:solidFill>
                  <a:schemeClr val="tx1"/>
                </a:solidFill>
              </a:rPr>
              <a:t>バーナー部品」</a:t>
            </a:r>
            <a:br>
              <a:rPr lang="en-US" altLang="ja-JP" sz="1200" dirty="0">
                <a:solidFill>
                  <a:schemeClr val="tx1"/>
                </a:solidFill>
              </a:rPr>
            </a:br>
            <a:br>
              <a:rPr lang="en-US" altLang="ja-JP" sz="1200" dirty="0">
                <a:solidFill>
                  <a:schemeClr val="tx1"/>
                </a:solidFill>
              </a:rPr>
            </a:br>
            <a:r>
              <a:rPr lang="ja-JP" altLang="en-US" sz="1200" dirty="0">
                <a:solidFill>
                  <a:schemeClr val="tx1"/>
                </a:solidFill>
              </a:rPr>
              <a:t>受注金額：</a:t>
            </a:r>
            <a:r>
              <a:rPr lang="en-US" altLang="ja-JP" sz="1200" dirty="0">
                <a:solidFill>
                  <a:schemeClr val="tx1"/>
                </a:solidFill>
              </a:rPr>
              <a:t>34.1</a:t>
            </a:r>
            <a:r>
              <a:rPr lang="ja-JP" altLang="en-US" sz="1200" dirty="0">
                <a:solidFill>
                  <a:schemeClr val="tx1"/>
                </a:solidFill>
              </a:rPr>
              <a:t>百万円</a:t>
            </a:r>
            <a:endParaRPr lang="en-US" altLang="ja-JP" sz="1200" dirty="0">
              <a:solidFill>
                <a:schemeClr val="tx1"/>
              </a:solidFill>
            </a:endParaRPr>
          </a:p>
        </p:txBody>
      </p:sp>
      <p:sp>
        <p:nvSpPr>
          <p:cNvPr id="47" name="矢印: 上下 46">
            <a:extLst>
              <a:ext uri="{FF2B5EF4-FFF2-40B4-BE49-F238E27FC236}">
                <a16:creationId xmlns:a16="http://schemas.microsoft.com/office/drawing/2014/main" id="{B7EEDD6F-6059-4AC2-A05C-842FC68AFA4A}"/>
              </a:ext>
            </a:extLst>
          </p:cNvPr>
          <p:cNvSpPr/>
          <p:nvPr/>
        </p:nvSpPr>
        <p:spPr>
          <a:xfrm>
            <a:off x="6858432" y="4941200"/>
            <a:ext cx="216000" cy="288000"/>
          </a:xfrm>
          <a:prstGeom prst="upDownArrow">
            <a:avLst/>
          </a:prstGeom>
          <a:solidFill>
            <a:schemeClr val="bg2">
              <a:lumMod val="75000"/>
            </a:schemeClr>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200" dirty="0">
              <a:solidFill>
                <a:schemeClr val="tx1"/>
              </a:solidFill>
              <a:latin typeface="+mn-ea"/>
            </a:endParaRPr>
          </a:p>
        </p:txBody>
      </p:sp>
      <p:sp>
        <p:nvSpPr>
          <p:cNvPr id="48" name="正方形/長方形 47">
            <a:extLst>
              <a:ext uri="{FF2B5EF4-FFF2-40B4-BE49-F238E27FC236}">
                <a16:creationId xmlns:a16="http://schemas.microsoft.com/office/drawing/2014/main" id="{DEBC917D-CF1B-439F-86FD-0D4DA212B881}"/>
              </a:ext>
            </a:extLst>
          </p:cNvPr>
          <p:cNvSpPr/>
          <p:nvPr/>
        </p:nvSpPr>
        <p:spPr>
          <a:xfrm>
            <a:off x="8006741" y="4753433"/>
            <a:ext cx="719536" cy="252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メイリオ"/>
                <a:cs typeface="+mn-cs"/>
              </a:rPr>
              <a:t>年月</a:t>
            </a:r>
            <a:endParaRPr kumimoji="1" lang="en-US" altLang="ja-JP" sz="1200" b="0"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49" name="正方形/長方形 48">
            <a:extLst>
              <a:ext uri="{FF2B5EF4-FFF2-40B4-BE49-F238E27FC236}">
                <a16:creationId xmlns:a16="http://schemas.microsoft.com/office/drawing/2014/main" id="{53DC6306-E902-450C-9BE8-5E90562BDDD1}"/>
              </a:ext>
            </a:extLst>
          </p:cNvPr>
          <p:cNvSpPr/>
          <p:nvPr/>
        </p:nvSpPr>
        <p:spPr>
          <a:xfrm>
            <a:off x="5195398" y="2982011"/>
            <a:ext cx="431254" cy="1008112"/>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メイリオ"/>
                <a:cs typeface="+mn-cs"/>
              </a:rPr>
              <a:t>合計工数</a:t>
            </a:r>
            <a:endParaRPr kumimoji="1" lang="en-US" altLang="ja-JP" sz="1200" b="0" i="0" u="none" strike="noStrike" kern="1200" cap="none" spc="0" normalizeH="0" baseline="0" noProof="0" dirty="0">
              <a:ln>
                <a:noFill/>
              </a:ln>
              <a:solidFill>
                <a:srgbClr val="000000"/>
              </a:solidFill>
              <a:effectLst/>
              <a:uLnTx/>
              <a:uFillTx/>
              <a:latin typeface="Arial"/>
              <a:ea typeface="メイリオ"/>
              <a:cs typeface="+mn-cs"/>
            </a:endParaRPr>
          </a:p>
        </p:txBody>
      </p:sp>
      <p:pic>
        <p:nvPicPr>
          <p:cNvPr id="51" name="図 50">
            <a:extLst>
              <a:ext uri="{FF2B5EF4-FFF2-40B4-BE49-F238E27FC236}">
                <a16:creationId xmlns:a16="http://schemas.microsoft.com/office/drawing/2014/main" id="{5D10748A-0FE0-4BB9-8B6E-1B0EB82D1450}"/>
              </a:ext>
            </a:extLst>
          </p:cNvPr>
          <p:cNvPicPr>
            <a:picLocks noChangeAspect="1"/>
          </p:cNvPicPr>
          <p:nvPr/>
        </p:nvPicPr>
        <p:blipFill>
          <a:blip r:embed="rId6"/>
          <a:stretch>
            <a:fillRect/>
          </a:stretch>
        </p:blipFill>
        <p:spPr>
          <a:xfrm>
            <a:off x="627068" y="2738783"/>
            <a:ext cx="638264" cy="1047896"/>
          </a:xfrm>
          <a:prstGeom prst="rect">
            <a:avLst/>
          </a:prstGeom>
        </p:spPr>
      </p:pic>
      <p:cxnSp>
        <p:nvCxnSpPr>
          <p:cNvPr id="15" name="直線コネクタ 14">
            <a:extLst>
              <a:ext uri="{FF2B5EF4-FFF2-40B4-BE49-F238E27FC236}">
                <a16:creationId xmlns:a16="http://schemas.microsoft.com/office/drawing/2014/main" id="{68D658A1-3C96-4DA3-951C-B133E7F6B8A4}"/>
              </a:ext>
            </a:extLst>
          </p:cNvPr>
          <p:cNvCxnSpPr/>
          <p:nvPr/>
        </p:nvCxnSpPr>
        <p:spPr>
          <a:xfrm>
            <a:off x="604442" y="3820199"/>
            <a:ext cx="648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6" name="正方形/長方形 35">
            <a:extLst>
              <a:ext uri="{FF2B5EF4-FFF2-40B4-BE49-F238E27FC236}">
                <a16:creationId xmlns:a16="http://schemas.microsoft.com/office/drawing/2014/main" id="{EB375BE5-E55D-4E8A-8A6A-C115F6FFB98C}"/>
              </a:ext>
            </a:extLst>
          </p:cNvPr>
          <p:cNvSpPr/>
          <p:nvPr/>
        </p:nvSpPr>
        <p:spPr>
          <a:xfrm>
            <a:off x="5257790" y="2050909"/>
            <a:ext cx="3755444" cy="28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1"/>
                </a:solidFill>
              </a:rPr>
              <a:t>部ごと工数推移（部品内製＋現地工事なし）　</a:t>
            </a:r>
            <a:endParaRPr lang="en-US" altLang="ja-JP" sz="1400" dirty="0">
              <a:solidFill>
                <a:schemeClr val="tx1"/>
              </a:solidFill>
            </a:endParaRPr>
          </a:p>
        </p:txBody>
      </p:sp>
      <p:sp>
        <p:nvSpPr>
          <p:cNvPr id="46" name="正方形/長方形 45">
            <a:extLst>
              <a:ext uri="{FF2B5EF4-FFF2-40B4-BE49-F238E27FC236}">
                <a16:creationId xmlns:a16="http://schemas.microsoft.com/office/drawing/2014/main" id="{30ECF179-280A-471C-9087-82ACF9A1EF0C}"/>
              </a:ext>
            </a:extLst>
          </p:cNvPr>
          <p:cNvSpPr/>
          <p:nvPr/>
        </p:nvSpPr>
        <p:spPr>
          <a:xfrm>
            <a:off x="15140" y="2450783"/>
            <a:ext cx="545601" cy="28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tx1"/>
                </a:solidFill>
              </a:rPr>
              <a:t>120h</a:t>
            </a:r>
          </a:p>
        </p:txBody>
      </p:sp>
      <p:cxnSp>
        <p:nvCxnSpPr>
          <p:cNvPr id="9" name="直線コネクタ 8">
            <a:extLst>
              <a:ext uri="{FF2B5EF4-FFF2-40B4-BE49-F238E27FC236}">
                <a16:creationId xmlns:a16="http://schemas.microsoft.com/office/drawing/2014/main" id="{57A9603A-330C-49DC-ABB6-569BD5F231B1}"/>
              </a:ext>
            </a:extLst>
          </p:cNvPr>
          <p:cNvCxnSpPr/>
          <p:nvPr/>
        </p:nvCxnSpPr>
        <p:spPr>
          <a:xfrm>
            <a:off x="486340" y="2600936"/>
            <a:ext cx="2696648" cy="0"/>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sp>
        <p:nvSpPr>
          <p:cNvPr id="50" name="正方形/長方形 49">
            <a:extLst>
              <a:ext uri="{FF2B5EF4-FFF2-40B4-BE49-F238E27FC236}">
                <a16:creationId xmlns:a16="http://schemas.microsoft.com/office/drawing/2014/main" id="{2BC6B24B-6700-4490-B0D6-88006A70DE94}"/>
              </a:ext>
            </a:extLst>
          </p:cNvPr>
          <p:cNvSpPr/>
          <p:nvPr/>
        </p:nvSpPr>
        <p:spPr>
          <a:xfrm>
            <a:off x="5195398" y="2384912"/>
            <a:ext cx="528730" cy="28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tx1"/>
                </a:solidFill>
              </a:rPr>
              <a:t>40h</a:t>
            </a:r>
          </a:p>
        </p:txBody>
      </p:sp>
      <p:cxnSp>
        <p:nvCxnSpPr>
          <p:cNvPr id="52" name="直線コネクタ 51">
            <a:extLst>
              <a:ext uri="{FF2B5EF4-FFF2-40B4-BE49-F238E27FC236}">
                <a16:creationId xmlns:a16="http://schemas.microsoft.com/office/drawing/2014/main" id="{5110D644-5FC0-4CF5-AB4D-A57F532F2D91}"/>
              </a:ext>
            </a:extLst>
          </p:cNvPr>
          <p:cNvCxnSpPr/>
          <p:nvPr/>
        </p:nvCxnSpPr>
        <p:spPr>
          <a:xfrm>
            <a:off x="5580112" y="2528928"/>
            <a:ext cx="2696648" cy="0"/>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4505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5">
            <a:extLst>
              <a:ext uri="{FF2B5EF4-FFF2-40B4-BE49-F238E27FC236}">
                <a16:creationId xmlns:a16="http://schemas.microsoft.com/office/drawing/2014/main" id="{301B5099-8992-4C3C-95C3-0166D1259D9B}"/>
              </a:ext>
            </a:extLst>
          </p:cNvPr>
          <p:cNvSpPr txBox="1">
            <a:spLocks/>
          </p:cNvSpPr>
          <p:nvPr/>
        </p:nvSpPr>
        <p:spPr>
          <a:xfrm>
            <a:off x="130764" y="637151"/>
            <a:ext cx="8882470" cy="1296000"/>
          </a:xfrm>
          <a:prstGeom prst="rect">
            <a:avLst/>
          </a:prstGeom>
          <a:solidFill>
            <a:schemeClr val="bg2">
              <a:lumMod val="40000"/>
              <a:lumOff val="60000"/>
            </a:schemeClr>
          </a:solidFill>
        </p:spPr>
        <p:txBody>
          <a:bodyPr lIns="91440" tIns="45720" rIns="91440" bIns="45720" anchor="t"/>
          <a:lst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1" lang="ja-JP" altLang="en-US" sz="1600" b="0" i="0" u="none" strike="noStrike" kern="1200" cap="none" spc="0" normalizeH="0" baseline="0" noProof="0" dirty="0">
                <a:ln>
                  <a:noFill/>
                </a:ln>
                <a:solidFill>
                  <a:prstClr val="black"/>
                </a:solidFill>
                <a:effectLst/>
                <a:uLnTx/>
                <a:uFillTx/>
                <a:latin typeface="Meiryo"/>
                <a:ea typeface="Meiryo"/>
                <a:cs typeface="Arial"/>
              </a:rPr>
              <a:t>現在、見積、実行フォロ（金額・工程）、設計で</a:t>
            </a:r>
            <a:r>
              <a:rPr lang="ja-JP" altLang="en-US" sz="1600" dirty="0">
                <a:solidFill>
                  <a:prstClr val="black"/>
                </a:solidFill>
                <a:latin typeface="Meiryo"/>
                <a:ea typeface="Meiryo"/>
                <a:cs typeface="Arial"/>
              </a:rPr>
              <a:t>業務効率化に向けた対象（どこの効率化が</a:t>
            </a:r>
            <a:br>
              <a:rPr lang="en-US" altLang="ja-JP" sz="1600" dirty="0">
                <a:solidFill>
                  <a:prstClr val="black"/>
                </a:solidFill>
                <a:latin typeface="Meiryo"/>
                <a:ea typeface="Meiryo"/>
                <a:cs typeface="Arial"/>
              </a:rPr>
            </a:br>
            <a:r>
              <a:rPr lang="ja-JP" altLang="en-US" sz="1600" dirty="0">
                <a:solidFill>
                  <a:prstClr val="black"/>
                </a:solidFill>
                <a:latin typeface="Meiryo"/>
                <a:ea typeface="Meiryo"/>
                <a:cs typeface="Arial"/>
              </a:rPr>
              <a:t>効果が大きいかの兆し）について把握できつつある。</a:t>
            </a:r>
            <a:endParaRPr lang="en-US" altLang="ja-JP" sz="1600" dirty="0">
              <a:solidFill>
                <a:prstClr val="black"/>
              </a:solidFill>
              <a:latin typeface="Meiryo"/>
              <a:ea typeface="Meiryo"/>
              <a:cs typeface="Arial"/>
            </a:endParaRPr>
          </a:p>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endParaRPr lang="en-US" altLang="ja-JP" sz="1050" dirty="0">
              <a:solidFill>
                <a:prstClr val="black"/>
              </a:solidFill>
              <a:latin typeface="Meiryo"/>
              <a:ea typeface="Meiryo"/>
              <a:cs typeface="Arial"/>
            </a:endParaRPr>
          </a:p>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lang="en-US" altLang="ja-JP" sz="1600" dirty="0">
                <a:solidFill>
                  <a:prstClr val="black"/>
                </a:solidFill>
                <a:latin typeface="Meiryo"/>
                <a:ea typeface="Meiryo"/>
                <a:cs typeface="+mn-lt"/>
              </a:rPr>
              <a:t>7</a:t>
            </a:r>
            <a:r>
              <a:rPr lang="ja-JP" altLang="en-US" sz="1600" dirty="0">
                <a:solidFill>
                  <a:prstClr val="black"/>
                </a:solidFill>
                <a:latin typeface="Meiryo"/>
                <a:ea typeface="Meiryo"/>
                <a:cs typeface="+mn-lt"/>
              </a:rPr>
              <a:t>月以降、対象について効率化すべき具体的なポイント、効率化を阻害する要因・原因の把握を行い、その原因を解消するためのルール・</a:t>
            </a:r>
            <a:r>
              <a:rPr lang="en-US" altLang="ja-JP" sz="1600" dirty="0">
                <a:solidFill>
                  <a:prstClr val="black"/>
                </a:solidFill>
                <a:latin typeface="Meiryo"/>
                <a:ea typeface="Meiryo"/>
                <a:cs typeface="+mn-lt"/>
              </a:rPr>
              <a:t>DOR</a:t>
            </a:r>
            <a:r>
              <a:rPr lang="ja-JP" altLang="en-US" sz="1600" dirty="0">
                <a:solidFill>
                  <a:prstClr val="black"/>
                </a:solidFill>
                <a:latin typeface="Meiryo"/>
                <a:ea typeface="Meiryo"/>
                <a:cs typeface="+mn-lt"/>
              </a:rPr>
              <a:t>・プロセスの設計を行う。</a:t>
            </a:r>
            <a:endParaRPr lang="en-US" altLang="ja-JP" sz="1600" dirty="0">
              <a:solidFill>
                <a:prstClr val="black"/>
              </a:solidFill>
              <a:latin typeface="Meiryo"/>
              <a:ea typeface="Meiryo"/>
              <a:cs typeface="+mn-lt"/>
            </a:endParaRPr>
          </a:p>
        </p:txBody>
      </p:sp>
      <p:sp>
        <p:nvSpPr>
          <p:cNvPr id="5" name="テキスト ボックス 4">
            <a:extLst>
              <a:ext uri="{FF2B5EF4-FFF2-40B4-BE49-F238E27FC236}">
                <a16:creationId xmlns:a16="http://schemas.microsoft.com/office/drawing/2014/main" id="{AC8A9AB4-8EC0-4203-9916-3A79071407DA}"/>
              </a:ext>
            </a:extLst>
          </p:cNvPr>
          <p:cNvSpPr txBox="1"/>
          <p:nvPr/>
        </p:nvSpPr>
        <p:spPr>
          <a:xfrm>
            <a:off x="278327" y="188640"/>
            <a:ext cx="7358743" cy="3693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1" dirty="0">
                <a:solidFill>
                  <a:srgbClr val="000000"/>
                </a:solidFill>
                <a:latin typeface="メイリオ"/>
                <a:ea typeface="メイリオ"/>
              </a:rPr>
              <a:t>5</a:t>
            </a:r>
            <a:r>
              <a:rPr kumimoji="1" lang="ja-JP" altLang="en-US" sz="1800" b="1" i="0" u="none" strike="noStrike" kern="1200" cap="none" spc="0" normalizeH="0" baseline="0" noProof="0" dirty="0">
                <a:ln>
                  <a:noFill/>
                </a:ln>
                <a:solidFill>
                  <a:srgbClr val="000000"/>
                </a:solidFill>
                <a:effectLst/>
                <a:uLnTx/>
                <a:uFillTx/>
                <a:latin typeface="メイリオ"/>
                <a:ea typeface="メイリオ"/>
              </a:rPr>
              <a:t>．まとめ：</a:t>
            </a:r>
            <a:r>
              <a:rPr lang="ja-JP" altLang="en-US" b="1" dirty="0">
                <a:solidFill>
                  <a:srgbClr val="000000"/>
                </a:solidFill>
                <a:latin typeface="メイリオ"/>
                <a:ea typeface="メイリオ"/>
              </a:rPr>
              <a:t>現在の進捗と今後の動き</a:t>
            </a:r>
            <a:endParaRPr lang="ja-JP" altLang="en-US" sz="1800" b="1" i="0" u="none" strike="noStrike" kern="1200" cap="none" spc="0" normalizeH="0" baseline="0" noProof="0" dirty="0">
              <a:ln>
                <a:noFill/>
              </a:ln>
              <a:solidFill>
                <a:srgbClr val="000000"/>
              </a:solidFill>
              <a:effectLst/>
              <a:uLnTx/>
              <a:uFillTx/>
              <a:latin typeface="メイリオ"/>
              <a:ea typeface="メイリオ"/>
            </a:endParaRPr>
          </a:p>
        </p:txBody>
      </p:sp>
      <p:sp>
        <p:nvSpPr>
          <p:cNvPr id="2" name="テキスト ボックス 1">
            <a:extLst>
              <a:ext uri="{FF2B5EF4-FFF2-40B4-BE49-F238E27FC236}">
                <a16:creationId xmlns:a16="http://schemas.microsoft.com/office/drawing/2014/main" id="{4209C272-FCD4-0D63-FEE7-42B2F7C2AFE3}"/>
              </a:ext>
            </a:extLst>
          </p:cNvPr>
          <p:cNvSpPr txBox="1"/>
          <p:nvPr/>
        </p:nvSpPr>
        <p:spPr>
          <a:xfrm>
            <a:off x="1531291" y="1981266"/>
            <a:ext cx="1338828" cy="369332"/>
          </a:xfrm>
          <a:prstGeom prst="rect">
            <a:avLst/>
          </a:prstGeom>
          <a:noFill/>
        </p:spPr>
        <p:txBody>
          <a:bodyPr wrap="none" rtlCol="0" anchor="ctr">
            <a:spAutoFit/>
          </a:bodyPr>
          <a:lstStyle/>
          <a:p>
            <a:pPr algn="ctr"/>
            <a:r>
              <a:rPr lang="ja-JP" altLang="en-US" b="1" dirty="0"/>
              <a:t>現在の状況</a:t>
            </a:r>
            <a:endParaRPr kumimoji="1" lang="en-US" altLang="ja-JP" b="1" dirty="0"/>
          </a:p>
        </p:txBody>
      </p:sp>
      <p:cxnSp>
        <p:nvCxnSpPr>
          <p:cNvPr id="3" name="直線コネクタ 2">
            <a:extLst>
              <a:ext uri="{FF2B5EF4-FFF2-40B4-BE49-F238E27FC236}">
                <a16:creationId xmlns:a16="http://schemas.microsoft.com/office/drawing/2014/main" id="{1B6753AA-06B4-B33A-5D76-F0598220AEC4}"/>
              </a:ext>
            </a:extLst>
          </p:cNvPr>
          <p:cNvCxnSpPr>
            <a:cxnSpLocks/>
          </p:cNvCxnSpPr>
          <p:nvPr/>
        </p:nvCxnSpPr>
        <p:spPr>
          <a:xfrm>
            <a:off x="117443" y="2418663"/>
            <a:ext cx="4166525"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10A459CB-A95B-45C7-47A8-9352E54AFA65}"/>
              </a:ext>
            </a:extLst>
          </p:cNvPr>
          <p:cNvSpPr txBox="1"/>
          <p:nvPr/>
        </p:nvSpPr>
        <p:spPr>
          <a:xfrm>
            <a:off x="5631205" y="1981266"/>
            <a:ext cx="2480167" cy="369332"/>
          </a:xfrm>
          <a:prstGeom prst="rect">
            <a:avLst/>
          </a:prstGeom>
          <a:noFill/>
        </p:spPr>
        <p:txBody>
          <a:bodyPr wrap="none" rtlCol="0" anchor="ctr">
            <a:spAutoFit/>
          </a:bodyPr>
          <a:lstStyle/>
          <a:p>
            <a:pPr algn="ctr"/>
            <a:r>
              <a:rPr lang="ja-JP" altLang="en-US" b="1" dirty="0"/>
              <a:t>次の動き（</a:t>
            </a:r>
            <a:r>
              <a:rPr lang="en-US" altLang="ja-JP" b="1" dirty="0"/>
              <a:t>7</a:t>
            </a:r>
            <a:r>
              <a:rPr lang="ja-JP" altLang="en-US" b="1" dirty="0"/>
              <a:t>月～</a:t>
            </a:r>
            <a:r>
              <a:rPr lang="en-US" altLang="ja-JP" b="1" dirty="0"/>
              <a:t>8/9</a:t>
            </a:r>
            <a:r>
              <a:rPr lang="ja-JP" altLang="en-US" b="1" dirty="0"/>
              <a:t>）</a:t>
            </a:r>
            <a:endParaRPr kumimoji="1" lang="en-US" altLang="ja-JP" b="1" dirty="0"/>
          </a:p>
        </p:txBody>
      </p:sp>
      <p:cxnSp>
        <p:nvCxnSpPr>
          <p:cNvPr id="7" name="直線コネクタ 6">
            <a:extLst>
              <a:ext uri="{FF2B5EF4-FFF2-40B4-BE49-F238E27FC236}">
                <a16:creationId xmlns:a16="http://schemas.microsoft.com/office/drawing/2014/main" id="{0F78EDB4-4CCA-2D0F-69F2-4EF66277012F}"/>
              </a:ext>
            </a:extLst>
          </p:cNvPr>
          <p:cNvCxnSpPr>
            <a:cxnSpLocks/>
          </p:cNvCxnSpPr>
          <p:nvPr/>
        </p:nvCxnSpPr>
        <p:spPr>
          <a:xfrm>
            <a:off x="4788024" y="2418663"/>
            <a:ext cx="41665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二等辺三角形 7">
            <a:extLst>
              <a:ext uri="{FF2B5EF4-FFF2-40B4-BE49-F238E27FC236}">
                <a16:creationId xmlns:a16="http://schemas.microsoft.com/office/drawing/2014/main" id="{68EFB17F-9D56-5AAC-BD88-88A828D66A9A}"/>
              </a:ext>
            </a:extLst>
          </p:cNvPr>
          <p:cNvSpPr/>
          <p:nvPr/>
        </p:nvSpPr>
        <p:spPr>
          <a:xfrm rot="5400000">
            <a:off x="3743968" y="3248920"/>
            <a:ext cx="1440000" cy="360000"/>
          </a:xfrm>
          <a:prstGeom prst="triangle">
            <a:avLst/>
          </a:prstGeom>
          <a:solidFill>
            <a:schemeClr val="bg2">
              <a:lumMod val="60000"/>
              <a:lumOff val="40000"/>
            </a:schemeClr>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200" dirty="0">
              <a:solidFill>
                <a:schemeClr val="tx1"/>
              </a:solidFill>
              <a:latin typeface="+mn-ea"/>
            </a:endParaRPr>
          </a:p>
        </p:txBody>
      </p:sp>
      <p:sp>
        <p:nvSpPr>
          <p:cNvPr id="9" name="テキスト ボックス 8">
            <a:extLst>
              <a:ext uri="{FF2B5EF4-FFF2-40B4-BE49-F238E27FC236}">
                <a16:creationId xmlns:a16="http://schemas.microsoft.com/office/drawing/2014/main" id="{B9998CBA-C674-14F0-F2B0-0C45606CD121}"/>
              </a:ext>
            </a:extLst>
          </p:cNvPr>
          <p:cNvSpPr txBox="1"/>
          <p:nvPr/>
        </p:nvSpPr>
        <p:spPr>
          <a:xfrm>
            <a:off x="117443" y="2492896"/>
            <a:ext cx="4166525" cy="3416320"/>
          </a:xfrm>
          <a:prstGeom prst="rect">
            <a:avLst/>
          </a:prstGeom>
          <a:noFill/>
        </p:spPr>
        <p:txBody>
          <a:bodyPr wrap="none" rtlCol="0">
            <a:spAutoFit/>
          </a:bodyPr>
          <a:lstStyle/>
          <a:p>
            <a:r>
              <a:rPr kumimoji="1" lang="ja-JP" altLang="en-US" b="1" dirty="0"/>
              <a:t>効率化すべき部分の兆候把握</a:t>
            </a:r>
            <a:endParaRPr kumimoji="1" lang="en-US" altLang="ja-JP" b="1" dirty="0"/>
          </a:p>
          <a:p>
            <a:endParaRPr kumimoji="1" lang="en-US" altLang="ja-JP" b="1" dirty="0"/>
          </a:p>
          <a:p>
            <a:pPr marL="285750" indent="-285750">
              <a:buFont typeface="Arial" panose="020B0604020202020204" pitchFamily="34" charset="0"/>
              <a:buChar char="•"/>
            </a:pPr>
            <a:r>
              <a:rPr kumimoji="1" lang="ja-JP" altLang="en-US" dirty="0"/>
              <a:t>見積、実行フォロ（金額・工程）</a:t>
            </a:r>
            <a:br>
              <a:rPr kumimoji="1" lang="en-US" altLang="ja-JP" dirty="0"/>
            </a:br>
            <a:r>
              <a:rPr kumimoji="1" lang="ja-JP" altLang="en-US" dirty="0"/>
              <a:t>設計において、小口案件における</a:t>
            </a:r>
            <a:br>
              <a:rPr kumimoji="1" lang="en-US" altLang="ja-JP" dirty="0"/>
            </a:br>
            <a:r>
              <a:rPr kumimoji="1" lang="ja-JP" altLang="en-US" dirty="0"/>
              <a:t>コストが売上に対する比率として</a:t>
            </a:r>
            <a:br>
              <a:rPr kumimoji="1" lang="en-US" altLang="ja-JP" dirty="0"/>
            </a:br>
            <a:r>
              <a:rPr kumimoji="1" lang="ja-JP" altLang="en-US" dirty="0"/>
              <a:t>高い。</a:t>
            </a:r>
            <a:br>
              <a:rPr kumimoji="1" lang="en-US" altLang="ja-JP" dirty="0"/>
            </a:br>
            <a:r>
              <a:rPr kumimoji="1" lang="ja-JP" altLang="en-US" dirty="0">
                <a:solidFill>
                  <a:srgbClr val="FF0000"/>
                </a:solidFill>
              </a:rPr>
              <a:t>⇒　小口を対象として効率化</a:t>
            </a:r>
            <a:endParaRPr kumimoji="1" lang="en-US" altLang="ja-JP" dirty="0">
              <a:solidFill>
                <a:srgbClr val="FF0000"/>
              </a:solidFill>
            </a:endParaRPr>
          </a:p>
          <a:p>
            <a:pPr marL="285750" indent="-285750">
              <a:buFont typeface="Arial" panose="020B0604020202020204" pitchFamily="34" charset="0"/>
              <a:buChar char="•"/>
            </a:pPr>
            <a:endParaRPr lang="en-US" altLang="ja-JP" dirty="0"/>
          </a:p>
          <a:p>
            <a:pPr marL="285750" indent="-285750">
              <a:buFont typeface="Arial" panose="020B0604020202020204" pitchFamily="34" charset="0"/>
              <a:buChar char="•"/>
            </a:pPr>
            <a:r>
              <a:rPr lang="ja-JP" altLang="en-US" dirty="0"/>
              <a:t>関連部門の増加＝サービスメニュー</a:t>
            </a:r>
            <a:br>
              <a:rPr lang="en-US" altLang="ja-JP" dirty="0"/>
            </a:br>
            <a:r>
              <a:rPr lang="ja-JP" altLang="en-US" dirty="0"/>
              <a:t>の変化（パーツ販売、工事あり等）</a:t>
            </a:r>
            <a:br>
              <a:rPr lang="en-US" altLang="ja-JP" dirty="0"/>
            </a:br>
            <a:r>
              <a:rPr lang="ja-JP" altLang="en-US" dirty="0"/>
              <a:t>に伴い、工数も増減</a:t>
            </a:r>
            <a:endParaRPr lang="en-US" altLang="ja-JP" dirty="0"/>
          </a:p>
          <a:p>
            <a:pPr marL="285750" indent="-285750">
              <a:buFont typeface="Arial" panose="020B0604020202020204" pitchFamily="34" charset="0"/>
              <a:buChar char="•"/>
            </a:pPr>
            <a:endParaRPr kumimoji="1" lang="ja-JP" altLang="en-US" dirty="0"/>
          </a:p>
        </p:txBody>
      </p:sp>
      <p:sp>
        <p:nvSpPr>
          <p:cNvPr id="12" name="テキスト ボックス 11">
            <a:extLst>
              <a:ext uri="{FF2B5EF4-FFF2-40B4-BE49-F238E27FC236}">
                <a16:creationId xmlns:a16="http://schemas.microsoft.com/office/drawing/2014/main" id="{1A834877-CAA2-EA08-EAFB-F15E687D77E4}"/>
              </a:ext>
            </a:extLst>
          </p:cNvPr>
          <p:cNvSpPr txBox="1"/>
          <p:nvPr/>
        </p:nvSpPr>
        <p:spPr>
          <a:xfrm>
            <a:off x="4788024" y="2511963"/>
            <a:ext cx="4397358" cy="3970318"/>
          </a:xfrm>
          <a:prstGeom prst="rect">
            <a:avLst/>
          </a:prstGeom>
          <a:noFill/>
        </p:spPr>
        <p:txBody>
          <a:bodyPr wrap="none" rtlCol="0">
            <a:spAutoFit/>
          </a:bodyPr>
          <a:lstStyle/>
          <a:p>
            <a:r>
              <a:rPr lang="ja-JP" altLang="en-US" b="1" dirty="0"/>
              <a:t>効率化阻害</a:t>
            </a:r>
            <a:r>
              <a:rPr kumimoji="1" lang="ja-JP" altLang="en-US" b="1" dirty="0"/>
              <a:t>要因の把握・対応案設計</a:t>
            </a:r>
            <a:endParaRPr kumimoji="1" lang="en-US" altLang="ja-JP" b="1" dirty="0"/>
          </a:p>
          <a:p>
            <a:endParaRPr kumimoji="1" lang="en-US" altLang="ja-JP" b="1" dirty="0"/>
          </a:p>
          <a:p>
            <a:pPr marL="285750" indent="-285750">
              <a:buFont typeface="Arial" panose="020B0604020202020204" pitchFamily="34" charset="0"/>
              <a:buChar char="•"/>
            </a:pPr>
            <a:r>
              <a:rPr lang="ja-JP" altLang="en-US" dirty="0">
                <a:solidFill>
                  <a:sysClr val="windowText" lastClr="000000"/>
                </a:solidFill>
              </a:rPr>
              <a:t>サービスメニュー、工数、フロー、</a:t>
            </a:r>
            <a:br>
              <a:rPr lang="en-US" altLang="ja-JP" dirty="0">
                <a:solidFill>
                  <a:sysClr val="windowText" lastClr="000000"/>
                </a:solidFill>
              </a:rPr>
            </a:br>
            <a:r>
              <a:rPr lang="ja-JP" altLang="en-US" dirty="0">
                <a:solidFill>
                  <a:sysClr val="windowText" lastClr="000000"/>
                </a:solidFill>
              </a:rPr>
              <a:t>所要期間の差等を把握し</a:t>
            </a:r>
            <a:br>
              <a:rPr lang="en-US" altLang="ja-JP" dirty="0">
                <a:solidFill>
                  <a:sysClr val="windowText" lastClr="000000"/>
                </a:solidFill>
              </a:rPr>
            </a:br>
            <a:r>
              <a:rPr lang="ja-JP" altLang="en-US" dirty="0">
                <a:solidFill>
                  <a:sysClr val="windowText" lastClr="000000"/>
                </a:solidFill>
              </a:rPr>
              <a:t>具体的な効率化阻害要因を把握、</a:t>
            </a:r>
            <a:br>
              <a:rPr lang="en-US" altLang="ja-JP" dirty="0">
                <a:solidFill>
                  <a:sysClr val="windowText" lastClr="000000"/>
                </a:solidFill>
              </a:rPr>
            </a:br>
            <a:r>
              <a:rPr lang="ja-JP" altLang="en-US" dirty="0">
                <a:solidFill>
                  <a:sysClr val="windowText" lastClr="000000"/>
                </a:solidFill>
              </a:rPr>
              <a:t>該当箇所の対応案を検討。</a:t>
            </a:r>
            <a:endParaRPr kumimoji="1" lang="en-US" altLang="ja-JP" dirty="0">
              <a:solidFill>
                <a:sysClr val="windowText" lastClr="000000"/>
              </a:solidFill>
            </a:endParaRPr>
          </a:p>
          <a:p>
            <a:pPr marL="285750" indent="-285750">
              <a:buFont typeface="Arial" panose="020B0604020202020204" pitchFamily="34" charset="0"/>
              <a:buChar char="•"/>
            </a:pPr>
            <a:endParaRPr lang="en-US" altLang="ja-JP" dirty="0"/>
          </a:p>
          <a:p>
            <a:pPr marL="285750" indent="-285750">
              <a:buFont typeface="Arial" panose="020B0604020202020204" pitchFamily="34" charset="0"/>
              <a:buChar char="•"/>
            </a:pPr>
            <a:endParaRPr lang="en-US" altLang="ja-JP" dirty="0"/>
          </a:p>
          <a:p>
            <a:pPr marL="285750" indent="-285750">
              <a:buFont typeface="Arial" panose="020B0604020202020204" pitchFamily="34" charset="0"/>
              <a:buChar char="•"/>
            </a:pPr>
            <a:endParaRPr lang="en-US" altLang="ja-JP" dirty="0"/>
          </a:p>
          <a:p>
            <a:pPr marL="285750" indent="-285750">
              <a:buFont typeface="Arial" panose="020B0604020202020204" pitchFamily="34" charset="0"/>
              <a:buChar char="•"/>
            </a:pPr>
            <a:r>
              <a:rPr kumimoji="1" lang="ja-JP" altLang="en-US" dirty="0"/>
              <a:t>従事されている人数・スキルセット、</a:t>
            </a:r>
            <a:br>
              <a:rPr kumimoji="1" lang="en-US" altLang="ja-JP" dirty="0"/>
            </a:br>
            <a:r>
              <a:rPr kumimoji="1" lang="ja-JP" altLang="en-US" dirty="0"/>
              <a:t>業務の移管・削減可能性等を把握</a:t>
            </a:r>
            <a:br>
              <a:rPr kumimoji="1" lang="en-US" altLang="ja-JP" dirty="0"/>
            </a:br>
            <a:r>
              <a:rPr kumimoji="1" lang="ja-JP" altLang="en-US" dirty="0"/>
              <a:t>し、コア</a:t>
            </a:r>
            <a:r>
              <a:rPr kumimoji="1" lang="en-US" altLang="ja-JP" dirty="0"/>
              <a:t>/</a:t>
            </a:r>
            <a:r>
              <a:rPr kumimoji="1" lang="ja-JP" altLang="en-US" dirty="0"/>
              <a:t>ノンコア業務の切り分け</a:t>
            </a:r>
            <a:br>
              <a:rPr kumimoji="1" lang="en-US" altLang="ja-JP" dirty="0"/>
            </a:br>
            <a:r>
              <a:rPr kumimoji="1" lang="ja-JP" altLang="en-US" dirty="0"/>
              <a:t>等を行いたく、ヒアリング等</a:t>
            </a:r>
            <a:br>
              <a:rPr kumimoji="1" lang="en-US" altLang="ja-JP" dirty="0"/>
            </a:br>
            <a:r>
              <a:rPr kumimoji="1" lang="ja-JP" altLang="en-US" dirty="0"/>
              <a:t>より一層のご協力をお願いしたい。</a:t>
            </a:r>
            <a:endParaRPr kumimoji="1" lang="en-US" altLang="ja-JP" dirty="0"/>
          </a:p>
        </p:txBody>
      </p:sp>
      <p:sp>
        <p:nvSpPr>
          <p:cNvPr id="15" name="テキスト ボックス 14">
            <a:extLst>
              <a:ext uri="{FF2B5EF4-FFF2-40B4-BE49-F238E27FC236}">
                <a16:creationId xmlns:a16="http://schemas.microsoft.com/office/drawing/2014/main" id="{D4D3B1C7-1E46-DF89-9E61-C3F9C81363D3}"/>
              </a:ext>
            </a:extLst>
          </p:cNvPr>
          <p:cNvSpPr txBox="1"/>
          <p:nvPr/>
        </p:nvSpPr>
        <p:spPr>
          <a:xfrm>
            <a:off x="6375978" y="4431763"/>
            <a:ext cx="1107996" cy="369332"/>
          </a:xfrm>
          <a:prstGeom prst="rect">
            <a:avLst/>
          </a:prstGeom>
          <a:noFill/>
        </p:spPr>
        <p:txBody>
          <a:bodyPr wrap="none" rtlCol="0" anchor="ctr">
            <a:spAutoFit/>
          </a:bodyPr>
          <a:lstStyle/>
          <a:p>
            <a:pPr algn="ctr"/>
            <a:r>
              <a:rPr kumimoji="1" lang="ja-JP" altLang="en-US" b="1" dirty="0"/>
              <a:t>依頼事項</a:t>
            </a:r>
            <a:endParaRPr kumimoji="1" lang="en-US" altLang="ja-JP" b="1" dirty="0"/>
          </a:p>
        </p:txBody>
      </p:sp>
      <p:cxnSp>
        <p:nvCxnSpPr>
          <p:cNvPr id="16" name="直線コネクタ 15">
            <a:extLst>
              <a:ext uri="{FF2B5EF4-FFF2-40B4-BE49-F238E27FC236}">
                <a16:creationId xmlns:a16="http://schemas.microsoft.com/office/drawing/2014/main" id="{ED162868-5F6B-7AC7-6CDA-6C15193713FF}"/>
              </a:ext>
            </a:extLst>
          </p:cNvPr>
          <p:cNvCxnSpPr>
            <a:cxnSpLocks/>
          </p:cNvCxnSpPr>
          <p:nvPr/>
        </p:nvCxnSpPr>
        <p:spPr>
          <a:xfrm>
            <a:off x="4846709" y="4869160"/>
            <a:ext cx="416652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1663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7216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タイトル 4">
            <a:extLst>
              <a:ext uri="{FF2B5EF4-FFF2-40B4-BE49-F238E27FC236}">
                <a16:creationId xmlns:a16="http://schemas.microsoft.com/office/drawing/2014/main" id="{0032E6D5-3DD9-404A-0B8F-12CF6602C31D}"/>
              </a:ext>
            </a:extLst>
          </p:cNvPr>
          <p:cNvSpPr txBox="1">
            <a:spLocks/>
          </p:cNvSpPr>
          <p:nvPr/>
        </p:nvSpPr>
        <p:spPr>
          <a:xfrm>
            <a:off x="248234" y="135110"/>
            <a:ext cx="7439508" cy="349961"/>
          </a:xfrm>
          <a:prstGeom prst="rect">
            <a:avLst/>
          </a:prstGeom>
        </p:spPr>
        <p:txBody>
          <a:bodyPr/>
          <a:lst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lang="ja-JP" altLang="en-US" sz="2000" b="1" dirty="0">
                <a:solidFill>
                  <a:srgbClr val="000000"/>
                </a:solidFill>
                <a:latin typeface="Arial"/>
                <a:ea typeface="メイリオ"/>
              </a:rPr>
              <a:t>４－２</a:t>
            </a:r>
            <a:r>
              <a:rPr kumimoji="1" lang="ja-JP" altLang="en-US" sz="2000" b="1" i="0" u="none" strike="noStrike" kern="1200" cap="none" spc="0" normalizeH="0" baseline="0" noProof="0" dirty="0">
                <a:ln>
                  <a:noFill/>
                </a:ln>
                <a:solidFill>
                  <a:srgbClr val="000000"/>
                </a:solidFill>
                <a:effectLst/>
                <a:uLnTx/>
                <a:uFillTx/>
                <a:latin typeface="Arial"/>
                <a:ea typeface="メイリオ"/>
                <a:cs typeface="+mj-cs"/>
              </a:rPr>
              <a:t>．②引合費実績のダッシュボード</a:t>
            </a:r>
            <a:r>
              <a:rPr kumimoji="1" lang="en-US" altLang="ja-JP" sz="2000" b="1" i="0" u="none" strike="noStrike" kern="1200" cap="none" spc="0" normalizeH="0" baseline="0" noProof="0" dirty="0">
                <a:ln>
                  <a:noFill/>
                </a:ln>
                <a:solidFill>
                  <a:srgbClr val="000000"/>
                </a:solidFill>
                <a:effectLst/>
                <a:uLnTx/>
                <a:uFillTx/>
                <a:latin typeface="Arial"/>
                <a:ea typeface="メイリオ"/>
                <a:cs typeface="+mj-cs"/>
              </a:rPr>
              <a:t>1/2</a:t>
            </a:r>
          </a:p>
        </p:txBody>
      </p:sp>
      <p:sp>
        <p:nvSpPr>
          <p:cNvPr id="7" name="正方形/長方形 6">
            <a:hlinkClick r:id="rId2"/>
            <a:extLst>
              <a:ext uri="{FF2B5EF4-FFF2-40B4-BE49-F238E27FC236}">
                <a16:creationId xmlns:a16="http://schemas.microsoft.com/office/drawing/2014/main" id="{830E5102-1495-3DA9-2E7D-9AD0E38D1CB1}"/>
              </a:ext>
            </a:extLst>
          </p:cNvPr>
          <p:cNvSpPr/>
          <p:nvPr/>
        </p:nvSpPr>
        <p:spPr>
          <a:xfrm>
            <a:off x="5652120" y="135110"/>
            <a:ext cx="1224136" cy="349961"/>
          </a:xfrm>
          <a:prstGeom prst="rect">
            <a:avLst/>
          </a:prstGeom>
          <a:solidFill>
            <a:schemeClr val="bg2">
              <a:lumMod val="75000"/>
            </a:schemeClr>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mn-ea"/>
              </a:rPr>
              <a:t>Teams</a:t>
            </a:r>
            <a:r>
              <a:rPr kumimoji="1" lang="ja-JP" altLang="en-US" sz="1200" b="1" dirty="0">
                <a:solidFill>
                  <a:schemeClr val="bg1"/>
                </a:solidFill>
                <a:latin typeface="+mn-ea"/>
              </a:rPr>
              <a:t>リンク</a:t>
            </a:r>
          </a:p>
        </p:txBody>
      </p:sp>
      <p:pic>
        <p:nvPicPr>
          <p:cNvPr id="4" name="図 3">
            <a:extLst>
              <a:ext uri="{FF2B5EF4-FFF2-40B4-BE49-F238E27FC236}">
                <a16:creationId xmlns:a16="http://schemas.microsoft.com/office/drawing/2014/main" id="{F212C9DA-3337-BC71-07D2-183D2117C230}"/>
              </a:ext>
            </a:extLst>
          </p:cNvPr>
          <p:cNvPicPr>
            <a:picLocks noChangeAspect="1"/>
          </p:cNvPicPr>
          <p:nvPr/>
        </p:nvPicPr>
        <p:blipFill>
          <a:blip r:embed="rId3"/>
          <a:stretch>
            <a:fillRect/>
          </a:stretch>
        </p:blipFill>
        <p:spPr>
          <a:xfrm>
            <a:off x="250205" y="692696"/>
            <a:ext cx="8437368" cy="5688632"/>
          </a:xfrm>
          <a:prstGeom prst="rect">
            <a:avLst/>
          </a:prstGeom>
          <a:ln>
            <a:solidFill>
              <a:schemeClr val="accent1"/>
            </a:solidFill>
          </a:ln>
          <a:effectLst>
            <a:outerShdw blurRad="50800" dist="38100" dir="2700000" algn="tl" rotWithShape="0">
              <a:prstClr val="black">
                <a:alpha val="40000"/>
              </a:prstClr>
            </a:outerShdw>
          </a:effectLst>
        </p:spPr>
      </p:pic>
      <p:sp>
        <p:nvSpPr>
          <p:cNvPr id="6" name="四角形: 角を丸くする 5">
            <a:extLst>
              <a:ext uri="{FF2B5EF4-FFF2-40B4-BE49-F238E27FC236}">
                <a16:creationId xmlns:a16="http://schemas.microsoft.com/office/drawing/2014/main" id="{7EF78435-FC06-C87F-28A7-054296FEE681}"/>
              </a:ext>
            </a:extLst>
          </p:cNvPr>
          <p:cNvSpPr/>
          <p:nvPr/>
        </p:nvSpPr>
        <p:spPr>
          <a:xfrm>
            <a:off x="4139952" y="4437112"/>
            <a:ext cx="1368152" cy="576064"/>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ysClr val="windowText" lastClr="000000"/>
                </a:solidFill>
                <a:latin typeface="+mn-ea"/>
              </a:rPr>
              <a:t>発電所別実績</a:t>
            </a:r>
            <a:endParaRPr kumimoji="1" lang="en-US" altLang="ja-JP" sz="1200" b="1" dirty="0">
              <a:solidFill>
                <a:sysClr val="windowText" lastClr="000000"/>
              </a:solidFill>
              <a:latin typeface="+mn-ea"/>
            </a:endParaRPr>
          </a:p>
          <a:p>
            <a:pPr algn="ctr"/>
            <a:r>
              <a:rPr lang="ja-JP" altLang="en-US" sz="1200" b="1" dirty="0">
                <a:solidFill>
                  <a:sysClr val="windowText" lastClr="000000"/>
                </a:solidFill>
                <a:latin typeface="+mn-ea"/>
              </a:rPr>
              <a:t>（国内上位順）</a:t>
            </a:r>
            <a:endParaRPr kumimoji="1" lang="ja-JP" altLang="en-US" sz="1200" b="1" dirty="0">
              <a:solidFill>
                <a:sysClr val="windowText" lastClr="000000"/>
              </a:solidFill>
              <a:latin typeface="+mn-ea"/>
            </a:endParaRPr>
          </a:p>
        </p:txBody>
      </p:sp>
      <p:sp>
        <p:nvSpPr>
          <p:cNvPr id="8" name="四角形: 角を丸くする 7">
            <a:extLst>
              <a:ext uri="{FF2B5EF4-FFF2-40B4-BE49-F238E27FC236}">
                <a16:creationId xmlns:a16="http://schemas.microsoft.com/office/drawing/2014/main" id="{48ECE61A-9F36-F45D-A919-51E1B0BE2833}"/>
              </a:ext>
            </a:extLst>
          </p:cNvPr>
          <p:cNvSpPr/>
          <p:nvPr/>
        </p:nvSpPr>
        <p:spPr>
          <a:xfrm>
            <a:off x="6660232" y="4437112"/>
            <a:ext cx="1368152" cy="576064"/>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ysClr val="windowText" lastClr="000000"/>
                </a:solidFill>
                <a:latin typeface="+mn-ea"/>
              </a:rPr>
              <a:t>発電所別実績</a:t>
            </a:r>
            <a:endParaRPr kumimoji="1" lang="en-US" altLang="ja-JP" sz="1200" b="1" dirty="0">
              <a:solidFill>
                <a:sysClr val="windowText" lastClr="000000"/>
              </a:solidFill>
              <a:latin typeface="+mn-ea"/>
            </a:endParaRPr>
          </a:p>
          <a:p>
            <a:pPr algn="ctr"/>
            <a:r>
              <a:rPr lang="ja-JP" altLang="en-US" sz="1200" b="1" dirty="0">
                <a:solidFill>
                  <a:sysClr val="windowText" lastClr="000000"/>
                </a:solidFill>
                <a:latin typeface="+mn-ea"/>
              </a:rPr>
              <a:t>（海外上位順）</a:t>
            </a:r>
            <a:endParaRPr kumimoji="1" lang="ja-JP" altLang="en-US" sz="1200" b="1" dirty="0">
              <a:solidFill>
                <a:sysClr val="windowText" lastClr="000000"/>
              </a:solidFill>
              <a:latin typeface="+mn-ea"/>
            </a:endParaRPr>
          </a:p>
        </p:txBody>
      </p:sp>
      <p:sp>
        <p:nvSpPr>
          <p:cNvPr id="2" name="四角形: 角を丸くする 1">
            <a:extLst>
              <a:ext uri="{FF2B5EF4-FFF2-40B4-BE49-F238E27FC236}">
                <a16:creationId xmlns:a16="http://schemas.microsoft.com/office/drawing/2014/main" id="{E88D9884-992D-2E5F-4D88-32699111F02D}"/>
              </a:ext>
            </a:extLst>
          </p:cNvPr>
          <p:cNvSpPr/>
          <p:nvPr/>
        </p:nvSpPr>
        <p:spPr>
          <a:xfrm>
            <a:off x="2411759" y="4941168"/>
            <a:ext cx="1069003" cy="466824"/>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ysClr val="windowText" lastClr="000000"/>
                </a:solidFill>
                <a:latin typeface="+mn-ea"/>
              </a:rPr>
              <a:t>発電所名</a:t>
            </a:r>
            <a:endParaRPr kumimoji="1" lang="en-US" altLang="ja-JP" sz="1200" b="1" dirty="0">
              <a:solidFill>
                <a:sysClr val="windowText" lastClr="000000"/>
              </a:solidFill>
              <a:latin typeface="+mn-ea"/>
            </a:endParaRPr>
          </a:p>
          <a:p>
            <a:pPr algn="ctr"/>
            <a:r>
              <a:rPr lang="ja-JP" altLang="en-US" sz="1200" b="1" dirty="0">
                <a:solidFill>
                  <a:sysClr val="windowText" lastClr="000000"/>
                </a:solidFill>
                <a:latin typeface="+mn-ea"/>
              </a:rPr>
              <a:t>絞込み</a:t>
            </a:r>
            <a:endParaRPr kumimoji="1" lang="ja-JP" altLang="en-US" sz="1200" b="1" dirty="0">
              <a:solidFill>
                <a:sysClr val="windowText" lastClr="000000"/>
              </a:solidFill>
              <a:latin typeface="+mn-ea"/>
            </a:endParaRPr>
          </a:p>
        </p:txBody>
      </p:sp>
      <p:sp>
        <p:nvSpPr>
          <p:cNvPr id="3" name="四角形: 角を丸くする 2">
            <a:extLst>
              <a:ext uri="{FF2B5EF4-FFF2-40B4-BE49-F238E27FC236}">
                <a16:creationId xmlns:a16="http://schemas.microsoft.com/office/drawing/2014/main" id="{C4EBCF5D-767B-FFD0-70DB-58DBCE59D416}"/>
              </a:ext>
            </a:extLst>
          </p:cNvPr>
          <p:cNvSpPr/>
          <p:nvPr/>
        </p:nvSpPr>
        <p:spPr>
          <a:xfrm>
            <a:off x="1403648" y="5805264"/>
            <a:ext cx="708963" cy="466824"/>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ysClr val="windowText" lastClr="000000"/>
                </a:solidFill>
                <a:latin typeface="+mn-ea"/>
              </a:rPr>
              <a:t>国名</a:t>
            </a:r>
            <a:endParaRPr kumimoji="1" lang="en-US" altLang="ja-JP" sz="1200" b="1" dirty="0">
              <a:solidFill>
                <a:sysClr val="windowText" lastClr="000000"/>
              </a:solidFill>
              <a:latin typeface="+mn-ea"/>
            </a:endParaRPr>
          </a:p>
          <a:p>
            <a:pPr algn="ctr"/>
            <a:r>
              <a:rPr kumimoji="1" lang="ja-JP" altLang="en-US" sz="1200" b="1" dirty="0">
                <a:solidFill>
                  <a:sysClr val="windowText" lastClr="000000"/>
                </a:solidFill>
                <a:latin typeface="+mn-ea"/>
              </a:rPr>
              <a:t>絞込み</a:t>
            </a:r>
          </a:p>
        </p:txBody>
      </p:sp>
      <p:sp>
        <p:nvSpPr>
          <p:cNvPr id="5" name="四角形: 角を丸くする 4">
            <a:extLst>
              <a:ext uri="{FF2B5EF4-FFF2-40B4-BE49-F238E27FC236}">
                <a16:creationId xmlns:a16="http://schemas.microsoft.com/office/drawing/2014/main" id="{0E19531B-0479-4A4C-D869-71E1B1735AB3}"/>
              </a:ext>
            </a:extLst>
          </p:cNvPr>
          <p:cNvSpPr/>
          <p:nvPr/>
        </p:nvSpPr>
        <p:spPr>
          <a:xfrm>
            <a:off x="456153" y="6013284"/>
            <a:ext cx="708963" cy="466824"/>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ysClr val="windowText" lastClr="000000"/>
                </a:solidFill>
                <a:latin typeface="+mn-ea"/>
              </a:rPr>
              <a:t>年月</a:t>
            </a:r>
            <a:endParaRPr kumimoji="1" lang="en-US" altLang="ja-JP" sz="1200" b="1" dirty="0">
              <a:solidFill>
                <a:sysClr val="windowText" lastClr="000000"/>
              </a:solidFill>
              <a:latin typeface="+mn-ea"/>
            </a:endParaRPr>
          </a:p>
          <a:p>
            <a:pPr algn="ctr"/>
            <a:r>
              <a:rPr lang="ja-JP" altLang="en-US" sz="1200" b="1" dirty="0">
                <a:solidFill>
                  <a:sysClr val="windowText" lastClr="000000"/>
                </a:solidFill>
                <a:latin typeface="+mn-ea"/>
              </a:rPr>
              <a:t>絞込み</a:t>
            </a:r>
            <a:endParaRPr kumimoji="1" lang="ja-JP" altLang="en-US" sz="1200" b="1" dirty="0">
              <a:solidFill>
                <a:sysClr val="windowText" lastClr="000000"/>
              </a:solidFill>
              <a:latin typeface="+mn-ea"/>
            </a:endParaRPr>
          </a:p>
        </p:txBody>
      </p:sp>
    </p:spTree>
    <p:extLst>
      <p:ext uri="{BB962C8B-B14F-4D97-AF65-F5344CB8AC3E}">
        <p14:creationId xmlns:p14="http://schemas.microsoft.com/office/powerpoint/2010/main" val="7867338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タイトル 4">
            <a:extLst>
              <a:ext uri="{FF2B5EF4-FFF2-40B4-BE49-F238E27FC236}">
                <a16:creationId xmlns:a16="http://schemas.microsoft.com/office/drawing/2014/main" id="{0032E6D5-3DD9-404A-0B8F-12CF6602C31D}"/>
              </a:ext>
            </a:extLst>
          </p:cNvPr>
          <p:cNvSpPr txBox="1">
            <a:spLocks/>
          </p:cNvSpPr>
          <p:nvPr/>
        </p:nvSpPr>
        <p:spPr>
          <a:xfrm>
            <a:off x="248234" y="135110"/>
            <a:ext cx="7439508" cy="349961"/>
          </a:xfrm>
          <a:prstGeom prst="rect">
            <a:avLst/>
          </a:prstGeom>
        </p:spPr>
        <p:txBody>
          <a:bodyPr/>
          <a:lst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lang="ja-JP" altLang="en-US" sz="2000" b="1" dirty="0">
                <a:solidFill>
                  <a:srgbClr val="000000"/>
                </a:solidFill>
                <a:latin typeface="Arial"/>
                <a:ea typeface="メイリオ"/>
              </a:rPr>
              <a:t>４</a:t>
            </a:r>
            <a:r>
              <a:rPr kumimoji="1" lang="ja-JP" altLang="en-US" sz="2000" b="1" i="0" u="none" strike="noStrike" kern="1200" cap="none" spc="0" normalizeH="0" baseline="0" noProof="0" dirty="0">
                <a:ln>
                  <a:noFill/>
                </a:ln>
                <a:solidFill>
                  <a:srgbClr val="000000"/>
                </a:solidFill>
                <a:effectLst/>
                <a:uLnTx/>
                <a:uFillTx/>
                <a:latin typeface="Arial"/>
                <a:ea typeface="メイリオ"/>
                <a:cs typeface="+mj-cs"/>
              </a:rPr>
              <a:t>－２．②引合費実績のダッシュボード</a:t>
            </a:r>
            <a:r>
              <a:rPr kumimoji="1" lang="en-US" altLang="ja-JP" sz="2000" b="1" i="0" u="none" strike="noStrike" kern="1200" cap="none" spc="0" normalizeH="0" baseline="0" noProof="0" dirty="0">
                <a:ln>
                  <a:noFill/>
                </a:ln>
                <a:solidFill>
                  <a:srgbClr val="000000"/>
                </a:solidFill>
                <a:effectLst/>
                <a:uLnTx/>
                <a:uFillTx/>
                <a:latin typeface="Arial"/>
                <a:ea typeface="メイリオ"/>
                <a:cs typeface="+mj-cs"/>
              </a:rPr>
              <a:t>2/2</a:t>
            </a:r>
          </a:p>
        </p:txBody>
      </p:sp>
      <p:sp>
        <p:nvSpPr>
          <p:cNvPr id="7" name="正方形/長方形 6">
            <a:hlinkClick r:id="rId2"/>
            <a:extLst>
              <a:ext uri="{FF2B5EF4-FFF2-40B4-BE49-F238E27FC236}">
                <a16:creationId xmlns:a16="http://schemas.microsoft.com/office/drawing/2014/main" id="{830E5102-1495-3DA9-2E7D-9AD0E38D1CB1}"/>
              </a:ext>
            </a:extLst>
          </p:cNvPr>
          <p:cNvSpPr/>
          <p:nvPr/>
        </p:nvSpPr>
        <p:spPr>
          <a:xfrm>
            <a:off x="5652120" y="135110"/>
            <a:ext cx="1224136" cy="349961"/>
          </a:xfrm>
          <a:prstGeom prst="rect">
            <a:avLst/>
          </a:prstGeom>
          <a:solidFill>
            <a:schemeClr val="bg2">
              <a:lumMod val="75000"/>
            </a:schemeClr>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mn-ea"/>
              </a:rPr>
              <a:t>Teams</a:t>
            </a:r>
            <a:r>
              <a:rPr kumimoji="1" lang="ja-JP" altLang="en-US" sz="1200" b="1" dirty="0">
                <a:solidFill>
                  <a:schemeClr val="bg1"/>
                </a:solidFill>
                <a:latin typeface="+mn-ea"/>
              </a:rPr>
              <a:t>リンク</a:t>
            </a:r>
          </a:p>
        </p:txBody>
      </p:sp>
      <p:pic>
        <p:nvPicPr>
          <p:cNvPr id="3" name="図 2">
            <a:extLst>
              <a:ext uri="{FF2B5EF4-FFF2-40B4-BE49-F238E27FC236}">
                <a16:creationId xmlns:a16="http://schemas.microsoft.com/office/drawing/2014/main" id="{45BF942E-736D-E113-A58D-DB59D915A3E7}"/>
              </a:ext>
            </a:extLst>
          </p:cNvPr>
          <p:cNvPicPr>
            <a:picLocks noChangeAspect="1"/>
          </p:cNvPicPr>
          <p:nvPr/>
        </p:nvPicPr>
        <p:blipFill>
          <a:blip r:embed="rId3"/>
          <a:stretch>
            <a:fillRect/>
          </a:stretch>
        </p:blipFill>
        <p:spPr>
          <a:xfrm>
            <a:off x="755576" y="692696"/>
            <a:ext cx="7488832" cy="5682392"/>
          </a:xfrm>
          <a:prstGeom prst="rect">
            <a:avLst/>
          </a:prstGeom>
          <a:ln>
            <a:solidFill>
              <a:schemeClr val="accent1"/>
            </a:solidFill>
          </a:ln>
          <a:effectLst>
            <a:outerShdw blurRad="50800" dist="38100" dir="2700000" algn="tl" rotWithShape="0">
              <a:prstClr val="black">
                <a:alpha val="40000"/>
              </a:prstClr>
            </a:outerShdw>
          </a:effectLst>
        </p:spPr>
      </p:pic>
      <p:sp>
        <p:nvSpPr>
          <p:cNvPr id="4" name="四角形: 角を丸くする 3">
            <a:extLst>
              <a:ext uri="{FF2B5EF4-FFF2-40B4-BE49-F238E27FC236}">
                <a16:creationId xmlns:a16="http://schemas.microsoft.com/office/drawing/2014/main" id="{802C2480-4C63-8444-CAF6-99FBC3EFF9A7}"/>
              </a:ext>
            </a:extLst>
          </p:cNvPr>
          <p:cNvSpPr/>
          <p:nvPr/>
        </p:nvSpPr>
        <p:spPr>
          <a:xfrm>
            <a:off x="6732240" y="728208"/>
            <a:ext cx="1359283" cy="216024"/>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ysClr val="windowText" lastClr="000000"/>
                </a:solidFill>
                <a:latin typeface="+mn-ea"/>
              </a:rPr>
              <a:t>作業内容絞込み</a:t>
            </a:r>
          </a:p>
        </p:txBody>
      </p:sp>
      <p:sp>
        <p:nvSpPr>
          <p:cNvPr id="5" name="四角形: 角を丸くする 4">
            <a:extLst>
              <a:ext uri="{FF2B5EF4-FFF2-40B4-BE49-F238E27FC236}">
                <a16:creationId xmlns:a16="http://schemas.microsoft.com/office/drawing/2014/main" id="{F177016D-9D62-6FD1-9073-57E2160AB609}"/>
              </a:ext>
            </a:extLst>
          </p:cNvPr>
          <p:cNvSpPr/>
          <p:nvPr/>
        </p:nvSpPr>
        <p:spPr>
          <a:xfrm>
            <a:off x="6732240" y="3408068"/>
            <a:ext cx="1359283" cy="216024"/>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ysClr val="windowText" lastClr="000000"/>
                </a:solidFill>
                <a:latin typeface="+mn-ea"/>
              </a:rPr>
              <a:t>部課</a:t>
            </a:r>
            <a:r>
              <a:rPr kumimoji="1" lang="ja-JP" altLang="en-US" sz="1200" b="1" dirty="0">
                <a:solidFill>
                  <a:sysClr val="windowText" lastClr="000000"/>
                </a:solidFill>
                <a:latin typeface="+mn-ea"/>
              </a:rPr>
              <a:t>絞込み</a:t>
            </a:r>
          </a:p>
        </p:txBody>
      </p:sp>
    </p:spTree>
    <p:extLst>
      <p:ext uri="{BB962C8B-B14F-4D97-AF65-F5344CB8AC3E}">
        <p14:creationId xmlns:p14="http://schemas.microsoft.com/office/powerpoint/2010/main" val="20089847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タイトル 4">
            <a:extLst>
              <a:ext uri="{FF2B5EF4-FFF2-40B4-BE49-F238E27FC236}">
                <a16:creationId xmlns:a16="http://schemas.microsoft.com/office/drawing/2014/main" id="{0032E6D5-3DD9-404A-0B8F-12CF6602C31D}"/>
              </a:ext>
            </a:extLst>
          </p:cNvPr>
          <p:cNvSpPr txBox="1">
            <a:spLocks/>
          </p:cNvSpPr>
          <p:nvPr/>
        </p:nvSpPr>
        <p:spPr>
          <a:xfrm>
            <a:off x="248234" y="135110"/>
            <a:ext cx="7439508" cy="349961"/>
          </a:xfrm>
          <a:prstGeom prst="rect">
            <a:avLst/>
          </a:prstGeom>
        </p:spPr>
        <p:txBody>
          <a:bodyPr/>
          <a:lst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lang="ja-JP" altLang="en-US" sz="2000" b="1" dirty="0">
                <a:solidFill>
                  <a:srgbClr val="000000"/>
                </a:solidFill>
                <a:latin typeface="Arial"/>
                <a:ea typeface="メイリオ"/>
              </a:rPr>
              <a:t>４</a:t>
            </a:r>
            <a:r>
              <a:rPr kumimoji="1" lang="ja-JP" altLang="en-US" sz="2000" b="1" i="0" u="none" strike="noStrike" kern="1200" cap="none" spc="0" normalizeH="0" baseline="0" noProof="0" dirty="0">
                <a:ln>
                  <a:noFill/>
                </a:ln>
                <a:solidFill>
                  <a:srgbClr val="000000"/>
                </a:solidFill>
                <a:effectLst/>
                <a:uLnTx/>
                <a:uFillTx/>
                <a:latin typeface="Arial"/>
                <a:ea typeface="メイリオ"/>
                <a:cs typeface="+mj-cs"/>
              </a:rPr>
              <a:t>－２．③</a:t>
            </a:r>
            <a:r>
              <a:rPr kumimoji="1" lang="en-US" altLang="ja-JP" sz="2000" b="1" i="0" u="none" strike="noStrike" kern="1200" cap="none" spc="0" normalizeH="0" baseline="0" noProof="0" dirty="0">
                <a:ln>
                  <a:noFill/>
                </a:ln>
                <a:solidFill>
                  <a:srgbClr val="000000"/>
                </a:solidFill>
                <a:effectLst/>
                <a:uLnTx/>
                <a:uFillTx/>
                <a:latin typeface="Arial"/>
                <a:ea typeface="メイリオ"/>
                <a:cs typeface="+mj-cs"/>
              </a:rPr>
              <a:t>AS</a:t>
            </a:r>
            <a:r>
              <a:rPr kumimoji="1" lang="ja-JP" altLang="en-US" sz="2000" b="1" i="0" u="none" strike="noStrike" kern="1200" cap="none" spc="0" normalizeH="0" baseline="0" noProof="0" dirty="0">
                <a:ln>
                  <a:noFill/>
                </a:ln>
                <a:solidFill>
                  <a:srgbClr val="000000"/>
                </a:solidFill>
                <a:effectLst/>
                <a:uLnTx/>
                <a:uFillTx/>
                <a:latin typeface="Arial"/>
                <a:ea typeface="メイリオ"/>
                <a:cs typeface="+mj-cs"/>
              </a:rPr>
              <a:t>従事比率のダッシュボード</a:t>
            </a:r>
            <a:endParaRPr kumimoji="1" lang="en-US" altLang="ja-JP" sz="2000" b="1" i="0" u="none" strike="noStrike" kern="1200" cap="none" spc="0" normalizeH="0" baseline="0" noProof="0" dirty="0">
              <a:ln>
                <a:noFill/>
              </a:ln>
              <a:solidFill>
                <a:srgbClr val="000000"/>
              </a:solidFill>
              <a:effectLst/>
              <a:uLnTx/>
              <a:uFillTx/>
              <a:latin typeface="Arial"/>
              <a:ea typeface="メイリオ"/>
              <a:cs typeface="+mj-cs"/>
            </a:endParaRPr>
          </a:p>
        </p:txBody>
      </p:sp>
      <p:sp>
        <p:nvSpPr>
          <p:cNvPr id="2" name="正方形/長方形 1">
            <a:hlinkClick r:id="rId2"/>
            <a:extLst>
              <a:ext uri="{FF2B5EF4-FFF2-40B4-BE49-F238E27FC236}">
                <a16:creationId xmlns:a16="http://schemas.microsoft.com/office/drawing/2014/main" id="{47C8B10F-8596-F49D-2A2F-162723B60A18}"/>
              </a:ext>
            </a:extLst>
          </p:cNvPr>
          <p:cNvSpPr/>
          <p:nvPr/>
        </p:nvSpPr>
        <p:spPr>
          <a:xfrm>
            <a:off x="6012160" y="132951"/>
            <a:ext cx="1224136" cy="349961"/>
          </a:xfrm>
          <a:prstGeom prst="rect">
            <a:avLst/>
          </a:prstGeom>
          <a:solidFill>
            <a:schemeClr val="bg2">
              <a:lumMod val="75000"/>
            </a:schemeClr>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mn-ea"/>
              </a:rPr>
              <a:t>Teams</a:t>
            </a:r>
            <a:r>
              <a:rPr kumimoji="1" lang="ja-JP" altLang="en-US" sz="1200" b="1" dirty="0">
                <a:solidFill>
                  <a:schemeClr val="bg1"/>
                </a:solidFill>
                <a:latin typeface="+mn-ea"/>
              </a:rPr>
              <a:t>リンク</a:t>
            </a:r>
          </a:p>
        </p:txBody>
      </p:sp>
      <p:pic>
        <p:nvPicPr>
          <p:cNvPr id="8" name="図 7">
            <a:extLst>
              <a:ext uri="{FF2B5EF4-FFF2-40B4-BE49-F238E27FC236}">
                <a16:creationId xmlns:a16="http://schemas.microsoft.com/office/drawing/2014/main" id="{4E023E0B-82FC-3E2B-9295-78AACF33EF69}"/>
              </a:ext>
            </a:extLst>
          </p:cNvPr>
          <p:cNvPicPr>
            <a:picLocks noChangeAspect="1"/>
          </p:cNvPicPr>
          <p:nvPr/>
        </p:nvPicPr>
        <p:blipFill>
          <a:blip r:embed="rId3"/>
          <a:stretch>
            <a:fillRect/>
          </a:stretch>
        </p:blipFill>
        <p:spPr>
          <a:xfrm>
            <a:off x="899592" y="617534"/>
            <a:ext cx="7128792" cy="6208159"/>
          </a:xfrm>
          <a:prstGeom prst="rect">
            <a:avLst/>
          </a:prstGeom>
          <a:ln>
            <a:solidFill>
              <a:schemeClr val="accent1"/>
            </a:solidFill>
          </a:ln>
          <a:effectLst>
            <a:outerShdw blurRad="50800" dist="38100" dir="2700000" algn="tl" rotWithShape="0">
              <a:prstClr val="black">
                <a:alpha val="40000"/>
              </a:prstClr>
            </a:outerShdw>
          </a:effectLst>
        </p:spPr>
      </p:pic>
      <p:sp>
        <p:nvSpPr>
          <p:cNvPr id="9" name="四角形: 角を丸くする 8">
            <a:extLst>
              <a:ext uri="{FF2B5EF4-FFF2-40B4-BE49-F238E27FC236}">
                <a16:creationId xmlns:a16="http://schemas.microsoft.com/office/drawing/2014/main" id="{0BD8BAC8-6AFA-B677-BDBB-79D3368E32B6}"/>
              </a:ext>
            </a:extLst>
          </p:cNvPr>
          <p:cNvSpPr/>
          <p:nvPr/>
        </p:nvSpPr>
        <p:spPr>
          <a:xfrm>
            <a:off x="7812360" y="1772816"/>
            <a:ext cx="1069003" cy="466824"/>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ysClr val="windowText" lastClr="000000"/>
                </a:solidFill>
                <a:latin typeface="+mn-ea"/>
              </a:rPr>
              <a:t>各部課</a:t>
            </a:r>
            <a:endParaRPr kumimoji="1" lang="en-US" altLang="ja-JP" sz="1200" b="1" dirty="0">
              <a:solidFill>
                <a:sysClr val="windowText" lastClr="000000"/>
              </a:solidFill>
              <a:latin typeface="+mn-ea"/>
            </a:endParaRPr>
          </a:p>
          <a:p>
            <a:pPr algn="ctr"/>
            <a:r>
              <a:rPr lang="ja-JP" altLang="en-US" sz="1200" b="1" dirty="0">
                <a:solidFill>
                  <a:sysClr val="windowText" lastClr="000000"/>
                </a:solidFill>
                <a:latin typeface="+mn-ea"/>
              </a:rPr>
              <a:t>絞込み</a:t>
            </a:r>
            <a:endParaRPr kumimoji="1" lang="ja-JP" altLang="en-US" sz="1200" b="1" dirty="0">
              <a:solidFill>
                <a:sysClr val="windowText" lastClr="000000"/>
              </a:solidFill>
              <a:latin typeface="+mn-ea"/>
            </a:endParaRPr>
          </a:p>
        </p:txBody>
      </p:sp>
      <p:sp>
        <p:nvSpPr>
          <p:cNvPr id="10" name="四角形: 角を丸くする 9">
            <a:extLst>
              <a:ext uri="{FF2B5EF4-FFF2-40B4-BE49-F238E27FC236}">
                <a16:creationId xmlns:a16="http://schemas.microsoft.com/office/drawing/2014/main" id="{FE06AD15-EE18-574D-6549-76EAF9F7DFE2}"/>
              </a:ext>
            </a:extLst>
          </p:cNvPr>
          <p:cNvSpPr/>
          <p:nvPr/>
        </p:nvSpPr>
        <p:spPr>
          <a:xfrm>
            <a:off x="7833088" y="1124744"/>
            <a:ext cx="1069003" cy="466824"/>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ysClr val="windowText" lastClr="000000"/>
                </a:solidFill>
                <a:latin typeface="+mn-ea"/>
              </a:rPr>
              <a:t>社番表示</a:t>
            </a:r>
            <a:r>
              <a:rPr kumimoji="1" lang="en-US" altLang="ja-JP" sz="1200" b="1" dirty="0">
                <a:solidFill>
                  <a:sysClr val="windowText" lastClr="000000"/>
                </a:solidFill>
                <a:latin typeface="+mn-ea"/>
              </a:rPr>
              <a:t>/</a:t>
            </a:r>
            <a:r>
              <a:rPr kumimoji="1" lang="ja-JP" altLang="en-US" sz="1200" b="1" dirty="0">
                <a:solidFill>
                  <a:sysClr val="windowText" lastClr="000000"/>
                </a:solidFill>
                <a:latin typeface="+mn-ea"/>
              </a:rPr>
              <a:t>非表示</a:t>
            </a:r>
          </a:p>
        </p:txBody>
      </p:sp>
      <p:sp>
        <p:nvSpPr>
          <p:cNvPr id="12" name="四角形: 角を丸くする 11">
            <a:extLst>
              <a:ext uri="{FF2B5EF4-FFF2-40B4-BE49-F238E27FC236}">
                <a16:creationId xmlns:a16="http://schemas.microsoft.com/office/drawing/2014/main" id="{24AA4E96-9B6C-A915-5686-8745450067F4}"/>
              </a:ext>
            </a:extLst>
          </p:cNvPr>
          <p:cNvSpPr/>
          <p:nvPr/>
        </p:nvSpPr>
        <p:spPr>
          <a:xfrm>
            <a:off x="7710443" y="3231941"/>
            <a:ext cx="1343465" cy="652653"/>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ysClr val="windowText" lastClr="000000"/>
                </a:solidFill>
                <a:latin typeface="+mn-ea"/>
              </a:rPr>
              <a:t>SBU</a:t>
            </a:r>
            <a:r>
              <a:rPr kumimoji="1" lang="ja-JP" altLang="en-US" sz="1200" b="1" dirty="0">
                <a:solidFill>
                  <a:sysClr val="windowText" lastClr="000000"/>
                </a:solidFill>
                <a:latin typeface="+mn-ea"/>
              </a:rPr>
              <a:t>比率</a:t>
            </a:r>
            <a:endParaRPr kumimoji="1" lang="en-US" altLang="ja-JP" sz="1200" b="1" dirty="0">
              <a:solidFill>
                <a:sysClr val="windowText" lastClr="000000"/>
              </a:solidFill>
              <a:latin typeface="+mn-ea"/>
            </a:endParaRPr>
          </a:p>
          <a:p>
            <a:pPr algn="ctr"/>
            <a:r>
              <a:rPr lang="en-US" altLang="ja-JP" sz="1200" b="1" dirty="0">
                <a:solidFill>
                  <a:sysClr val="windowText" lastClr="000000"/>
                </a:solidFill>
                <a:latin typeface="+mn-ea"/>
              </a:rPr>
              <a:t>AS/</a:t>
            </a:r>
            <a:r>
              <a:rPr lang="ja-JP" altLang="en-US" sz="1200" b="1" dirty="0">
                <a:solidFill>
                  <a:sysClr val="windowText" lastClr="000000"/>
                </a:solidFill>
                <a:latin typeface="+mn-ea"/>
              </a:rPr>
              <a:t>新設比率</a:t>
            </a:r>
            <a:endParaRPr lang="en-US" altLang="ja-JP" sz="1200" b="1" dirty="0">
              <a:solidFill>
                <a:sysClr val="windowText" lastClr="000000"/>
              </a:solidFill>
              <a:latin typeface="+mn-ea"/>
            </a:endParaRPr>
          </a:p>
          <a:p>
            <a:pPr algn="ctr"/>
            <a:r>
              <a:rPr lang="ja-JP" altLang="en-US" sz="1200" b="1" dirty="0">
                <a:solidFill>
                  <a:sysClr val="windowText" lastClr="000000"/>
                </a:solidFill>
                <a:latin typeface="+mn-ea"/>
              </a:rPr>
              <a:t>生産</a:t>
            </a:r>
            <a:r>
              <a:rPr lang="en-US" altLang="ja-JP" sz="1200" b="1" dirty="0">
                <a:solidFill>
                  <a:sysClr val="windowText" lastClr="000000"/>
                </a:solidFill>
                <a:latin typeface="+mn-ea"/>
              </a:rPr>
              <a:t>/</a:t>
            </a:r>
            <a:r>
              <a:rPr lang="ja-JP" altLang="en-US" sz="1200" b="1" dirty="0">
                <a:solidFill>
                  <a:sysClr val="windowText" lastClr="000000"/>
                </a:solidFill>
                <a:latin typeface="+mn-ea"/>
              </a:rPr>
              <a:t>引合費率</a:t>
            </a:r>
            <a:endParaRPr kumimoji="1" lang="ja-JP" altLang="en-US" sz="1200" b="1" dirty="0">
              <a:solidFill>
                <a:sysClr val="windowText" lastClr="000000"/>
              </a:solidFill>
              <a:latin typeface="+mn-ea"/>
            </a:endParaRPr>
          </a:p>
        </p:txBody>
      </p:sp>
      <p:sp>
        <p:nvSpPr>
          <p:cNvPr id="13" name="四角形: 角を丸くする 12">
            <a:extLst>
              <a:ext uri="{FF2B5EF4-FFF2-40B4-BE49-F238E27FC236}">
                <a16:creationId xmlns:a16="http://schemas.microsoft.com/office/drawing/2014/main" id="{8EAD8D14-E387-C8A5-5654-27DE73697FF8}"/>
              </a:ext>
            </a:extLst>
          </p:cNvPr>
          <p:cNvSpPr/>
          <p:nvPr/>
        </p:nvSpPr>
        <p:spPr>
          <a:xfrm>
            <a:off x="7788459" y="5524967"/>
            <a:ext cx="1158259" cy="478077"/>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ysClr val="windowText" lastClr="000000"/>
                </a:solidFill>
                <a:latin typeface="+mn-ea"/>
              </a:rPr>
              <a:t>社番別</a:t>
            </a:r>
            <a:endParaRPr lang="en-US" altLang="ja-JP" sz="1200" b="1" dirty="0">
              <a:solidFill>
                <a:sysClr val="windowText" lastClr="000000"/>
              </a:solidFill>
              <a:latin typeface="+mn-ea"/>
            </a:endParaRPr>
          </a:p>
          <a:p>
            <a:pPr algn="ctr"/>
            <a:r>
              <a:rPr kumimoji="1" lang="en-US" altLang="ja-JP" sz="1200" b="1" dirty="0">
                <a:solidFill>
                  <a:sysClr val="windowText" lastClr="000000"/>
                </a:solidFill>
                <a:latin typeface="+mn-ea"/>
              </a:rPr>
              <a:t>AS</a:t>
            </a:r>
            <a:r>
              <a:rPr kumimoji="1" lang="ja-JP" altLang="en-US" sz="1200" b="1" dirty="0">
                <a:solidFill>
                  <a:sysClr val="windowText" lastClr="000000"/>
                </a:solidFill>
                <a:latin typeface="+mn-ea"/>
              </a:rPr>
              <a:t>従事比率</a:t>
            </a:r>
            <a:endParaRPr kumimoji="1" lang="en-US" altLang="ja-JP" sz="1200" b="1" dirty="0">
              <a:solidFill>
                <a:sysClr val="windowText" lastClr="000000"/>
              </a:solidFill>
              <a:latin typeface="+mn-ea"/>
            </a:endParaRPr>
          </a:p>
        </p:txBody>
      </p:sp>
      <p:sp>
        <p:nvSpPr>
          <p:cNvPr id="14" name="四角形: 角を丸くする 13">
            <a:extLst>
              <a:ext uri="{FF2B5EF4-FFF2-40B4-BE49-F238E27FC236}">
                <a16:creationId xmlns:a16="http://schemas.microsoft.com/office/drawing/2014/main" id="{2E25AD84-A596-9367-521D-67D325B1F66C}"/>
              </a:ext>
            </a:extLst>
          </p:cNvPr>
          <p:cNvSpPr/>
          <p:nvPr/>
        </p:nvSpPr>
        <p:spPr>
          <a:xfrm>
            <a:off x="66584" y="3108471"/>
            <a:ext cx="796992" cy="641058"/>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ysClr val="windowText" lastClr="000000"/>
                </a:solidFill>
                <a:latin typeface="+mn-ea"/>
              </a:rPr>
              <a:t>部課別</a:t>
            </a:r>
            <a:endParaRPr lang="en-US" altLang="ja-JP" sz="1200" b="1" dirty="0">
              <a:solidFill>
                <a:sysClr val="windowText" lastClr="000000"/>
              </a:solidFill>
              <a:latin typeface="+mn-ea"/>
            </a:endParaRPr>
          </a:p>
          <a:p>
            <a:pPr algn="ctr"/>
            <a:r>
              <a:rPr lang="en-US" altLang="ja-JP" sz="1200" b="1" dirty="0">
                <a:solidFill>
                  <a:sysClr val="windowText" lastClr="000000"/>
                </a:solidFill>
                <a:latin typeface="+mn-ea"/>
              </a:rPr>
              <a:t>AS</a:t>
            </a:r>
            <a:r>
              <a:rPr lang="ja-JP" altLang="en-US" sz="1200" b="1" dirty="0">
                <a:solidFill>
                  <a:sysClr val="windowText" lastClr="000000"/>
                </a:solidFill>
                <a:latin typeface="+mn-ea"/>
              </a:rPr>
              <a:t>比率</a:t>
            </a:r>
            <a:endParaRPr lang="en-US" altLang="ja-JP" sz="1200" b="1" dirty="0">
              <a:solidFill>
                <a:sysClr val="windowText" lastClr="000000"/>
              </a:solidFill>
              <a:latin typeface="+mn-ea"/>
            </a:endParaRPr>
          </a:p>
          <a:p>
            <a:pPr algn="ctr"/>
            <a:r>
              <a:rPr kumimoji="1" lang="en-US" altLang="ja-JP" sz="1200" b="1" dirty="0">
                <a:solidFill>
                  <a:sysClr val="windowText" lastClr="000000"/>
                </a:solidFill>
                <a:latin typeface="+mn-ea"/>
              </a:rPr>
              <a:t>(</a:t>
            </a:r>
            <a:r>
              <a:rPr kumimoji="1" lang="ja-JP" altLang="en-US" sz="1200" b="1" dirty="0">
                <a:solidFill>
                  <a:sysClr val="windowText" lastClr="000000"/>
                </a:solidFill>
                <a:latin typeface="+mn-ea"/>
              </a:rPr>
              <a:t>詳細</a:t>
            </a:r>
            <a:r>
              <a:rPr kumimoji="1" lang="en-US" altLang="ja-JP" sz="1200" b="1" dirty="0">
                <a:solidFill>
                  <a:sysClr val="windowText" lastClr="000000"/>
                </a:solidFill>
                <a:latin typeface="+mn-ea"/>
              </a:rPr>
              <a:t>)</a:t>
            </a:r>
          </a:p>
        </p:txBody>
      </p:sp>
      <p:sp>
        <p:nvSpPr>
          <p:cNvPr id="15" name="四角形: 角を丸くする 14">
            <a:extLst>
              <a:ext uri="{FF2B5EF4-FFF2-40B4-BE49-F238E27FC236}">
                <a16:creationId xmlns:a16="http://schemas.microsoft.com/office/drawing/2014/main" id="{92C9EE80-3EEE-6133-A597-1A5E275B8D72}"/>
              </a:ext>
            </a:extLst>
          </p:cNvPr>
          <p:cNvSpPr/>
          <p:nvPr/>
        </p:nvSpPr>
        <p:spPr>
          <a:xfrm>
            <a:off x="66597" y="1628219"/>
            <a:ext cx="796992" cy="478077"/>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ysClr val="windowText" lastClr="000000"/>
                </a:solidFill>
                <a:latin typeface="+mn-ea"/>
              </a:rPr>
              <a:t>年月</a:t>
            </a:r>
            <a:endParaRPr lang="en-US" altLang="ja-JP" sz="1200" b="1" dirty="0">
              <a:solidFill>
                <a:sysClr val="windowText" lastClr="000000"/>
              </a:solidFill>
              <a:latin typeface="+mn-ea"/>
            </a:endParaRPr>
          </a:p>
          <a:p>
            <a:pPr algn="ctr"/>
            <a:r>
              <a:rPr lang="ja-JP" altLang="en-US" sz="1200" b="1" dirty="0">
                <a:solidFill>
                  <a:sysClr val="windowText" lastClr="000000"/>
                </a:solidFill>
                <a:latin typeface="+mn-ea"/>
              </a:rPr>
              <a:t>絞込み</a:t>
            </a:r>
            <a:endParaRPr lang="en-US" altLang="ja-JP" sz="1200" b="1" dirty="0">
              <a:solidFill>
                <a:sysClr val="windowText" lastClr="000000"/>
              </a:solidFill>
              <a:latin typeface="+mn-ea"/>
            </a:endParaRPr>
          </a:p>
        </p:txBody>
      </p:sp>
      <p:sp>
        <p:nvSpPr>
          <p:cNvPr id="16" name="四角形: 角を丸くする 15">
            <a:extLst>
              <a:ext uri="{FF2B5EF4-FFF2-40B4-BE49-F238E27FC236}">
                <a16:creationId xmlns:a16="http://schemas.microsoft.com/office/drawing/2014/main" id="{6C23763F-AAA1-1631-17CA-DF2688F706B0}"/>
              </a:ext>
            </a:extLst>
          </p:cNvPr>
          <p:cNvSpPr/>
          <p:nvPr/>
        </p:nvSpPr>
        <p:spPr>
          <a:xfrm>
            <a:off x="1187624" y="5764005"/>
            <a:ext cx="1077893" cy="641058"/>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ysClr val="windowText" lastClr="000000"/>
                </a:solidFill>
                <a:latin typeface="+mn-ea"/>
              </a:rPr>
              <a:t>計上工数</a:t>
            </a:r>
            <a:endParaRPr lang="en-US" altLang="ja-JP" sz="1200" b="1" dirty="0">
              <a:solidFill>
                <a:sysClr val="windowText" lastClr="000000"/>
              </a:solidFill>
              <a:latin typeface="+mn-ea"/>
            </a:endParaRPr>
          </a:p>
          <a:p>
            <a:pPr algn="ctr"/>
            <a:r>
              <a:rPr kumimoji="1" lang="ja-JP" altLang="en-US" sz="1200" b="1" dirty="0">
                <a:solidFill>
                  <a:sysClr val="windowText" lastClr="000000"/>
                </a:solidFill>
                <a:latin typeface="+mn-ea"/>
              </a:rPr>
              <a:t>上位順</a:t>
            </a:r>
            <a:endParaRPr kumimoji="1" lang="en-US" altLang="ja-JP" sz="1200" b="1" dirty="0">
              <a:solidFill>
                <a:sysClr val="windowText" lastClr="000000"/>
              </a:solidFill>
              <a:latin typeface="+mn-ea"/>
            </a:endParaRPr>
          </a:p>
          <a:p>
            <a:pPr algn="ctr"/>
            <a:r>
              <a:rPr lang="en-US" altLang="ja-JP" sz="1200" b="1" dirty="0">
                <a:solidFill>
                  <a:sysClr val="windowText" lastClr="000000"/>
                </a:solidFill>
                <a:latin typeface="+mn-ea"/>
              </a:rPr>
              <a:t>(</a:t>
            </a:r>
            <a:r>
              <a:rPr lang="ja-JP" altLang="en-US" sz="1200" b="1" dirty="0">
                <a:solidFill>
                  <a:sysClr val="windowText" lastClr="000000"/>
                </a:solidFill>
                <a:latin typeface="+mn-ea"/>
              </a:rPr>
              <a:t>生産工事</a:t>
            </a:r>
            <a:r>
              <a:rPr lang="en-US" altLang="ja-JP" sz="1200" b="1" dirty="0">
                <a:solidFill>
                  <a:sysClr val="windowText" lastClr="000000"/>
                </a:solidFill>
                <a:latin typeface="+mn-ea"/>
              </a:rPr>
              <a:t>)</a:t>
            </a:r>
            <a:endParaRPr kumimoji="1" lang="en-US" altLang="ja-JP" sz="1200" b="1" dirty="0">
              <a:solidFill>
                <a:sysClr val="windowText" lastClr="000000"/>
              </a:solidFill>
              <a:latin typeface="+mn-ea"/>
            </a:endParaRPr>
          </a:p>
        </p:txBody>
      </p:sp>
      <p:sp>
        <p:nvSpPr>
          <p:cNvPr id="17" name="四角形: 角を丸くする 16">
            <a:extLst>
              <a:ext uri="{FF2B5EF4-FFF2-40B4-BE49-F238E27FC236}">
                <a16:creationId xmlns:a16="http://schemas.microsoft.com/office/drawing/2014/main" id="{97882601-E034-6380-75E5-70B183B7ED9B}"/>
              </a:ext>
            </a:extLst>
          </p:cNvPr>
          <p:cNvSpPr/>
          <p:nvPr/>
        </p:nvSpPr>
        <p:spPr>
          <a:xfrm>
            <a:off x="2627784" y="5764005"/>
            <a:ext cx="1077893" cy="641058"/>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ysClr val="windowText" lastClr="000000"/>
                </a:solidFill>
                <a:latin typeface="+mn-ea"/>
              </a:rPr>
              <a:t>計上工数</a:t>
            </a:r>
            <a:endParaRPr lang="en-US" altLang="ja-JP" sz="1200" b="1" dirty="0">
              <a:solidFill>
                <a:sysClr val="windowText" lastClr="000000"/>
              </a:solidFill>
              <a:latin typeface="+mn-ea"/>
            </a:endParaRPr>
          </a:p>
          <a:p>
            <a:pPr algn="ctr"/>
            <a:r>
              <a:rPr kumimoji="1" lang="ja-JP" altLang="en-US" sz="1200" b="1" dirty="0">
                <a:solidFill>
                  <a:sysClr val="windowText" lastClr="000000"/>
                </a:solidFill>
                <a:latin typeface="+mn-ea"/>
              </a:rPr>
              <a:t>上位順</a:t>
            </a:r>
            <a:endParaRPr kumimoji="1" lang="en-US" altLang="ja-JP" sz="1200" b="1" dirty="0">
              <a:solidFill>
                <a:sysClr val="windowText" lastClr="000000"/>
              </a:solidFill>
              <a:latin typeface="+mn-ea"/>
            </a:endParaRPr>
          </a:p>
          <a:p>
            <a:pPr algn="ctr"/>
            <a:r>
              <a:rPr lang="en-US" altLang="ja-JP" sz="1200" b="1" dirty="0">
                <a:solidFill>
                  <a:sysClr val="windowText" lastClr="000000"/>
                </a:solidFill>
                <a:latin typeface="+mn-ea"/>
              </a:rPr>
              <a:t>(</a:t>
            </a:r>
            <a:r>
              <a:rPr lang="ja-JP" altLang="en-US" sz="1200" b="1" dirty="0">
                <a:solidFill>
                  <a:sysClr val="windowText" lastClr="000000"/>
                </a:solidFill>
                <a:latin typeface="+mn-ea"/>
              </a:rPr>
              <a:t>引合費</a:t>
            </a:r>
            <a:r>
              <a:rPr lang="en-US" altLang="ja-JP" sz="1200" b="1" dirty="0">
                <a:solidFill>
                  <a:sysClr val="windowText" lastClr="000000"/>
                </a:solidFill>
                <a:latin typeface="+mn-ea"/>
              </a:rPr>
              <a:t>)</a:t>
            </a:r>
            <a:endParaRPr kumimoji="1" lang="en-US" altLang="ja-JP" sz="1200" b="1" dirty="0">
              <a:solidFill>
                <a:sysClr val="windowText" lastClr="000000"/>
              </a:solidFill>
              <a:latin typeface="+mn-ea"/>
            </a:endParaRPr>
          </a:p>
        </p:txBody>
      </p:sp>
      <p:sp>
        <p:nvSpPr>
          <p:cNvPr id="18" name="正方形/長方形 17">
            <a:extLst>
              <a:ext uri="{FF2B5EF4-FFF2-40B4-BE49-F238E27FC236}">
                <a16:creationId xmlns:a16="http://schemas.microsoft.com/office/drawing/2014/main" id="{75A91018-6F32-63B2-38BC-C2C3E8CEB39B}"/>
              </a:ext>
            </a:extLst>
          </p:cNvPr>
          <p:cNvSpPr/>
          <p:nvPr/>
        </p:nvSpPr>
        <p:spPr>
          <a:xfrm>
            <a:off x="1691680" y="615375"/>
            <a:ext cx="4464496" cy="437361"/>
          </a:xfrm>
          <a:prstGeom prst="rect">
            <a:avLst/>
          </a:prstGeom>
          <a:no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ysClr val="windowText" lastClr="000000"/>
              </a:solidFill>
              <a:latin typeface="+mn-ea"/>
            </a:endParaRPr>
          </a:p>
        </p:txBody>
      </p:sp>
      <p:sp>
        <p:nvSpPr>
          <p:cNvPr id="19" name="四角形: 角を丸くする 18">
            <a:extLst>
              <a:ext uri="{FF2B5EF4-FFF2-40B4-BE49-F238E27FC236}">
                <a16:creationId xmlns:a16="http://schemas.microsoft.com/office/drawing/2014/main" id="{41DE3F4E-0631-7F8E-01FE-4CBCA50B5DC1}"/>
              </a:ext>
            </a:extLst>
          </p:cNvPr>
          <p:cNvSpPr/>
          <p:nvPr/>
        </p:nvSpPr>
        <p:spPr>
          <a:xfrm>
            <a:off x="4697022" y="1052736"/>
            <a:ext cx="1459154" cy="216024"/>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ysClr val="windowText" lastClr="000000"/>
                </a:solidFill>
                <a:latin typeface="+mn-ea"/>
              </a:rPr>
              <a:t>※</a:t>
            </a:r>
            <a:r>
              <a:rPr kumimoji="1" lang="ja-JP" altLang="en-US" sz="1200" b="1" dirty="0">
                <a:solidFill>
                  <a:sysClr val="windowText" lastClr="000000"/>
                </a:solidFill>
                <a:latin typeface="+mn-ea"/>
              </a:rPr>
              <a:t>データ留意事項</a:t>
            </a:r>
          </a:p>
        </p:txBody>
      </p:sp>
    </p:spTree>
    <p:extLst>
      <p:ext uri="{BB962C8B-B14F-4D97-AF65-F5344CB8AC3E}">
        <p14:creationId xmlns:p14="http://schemas.microsoft.com/office/powerpoint/2010/main" val="13355053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559A4E2E-3906-DF77-D003-5C678EBB9D58}"/>
              </a:ext>
            </a:extLst>
          </p:cNvPr>
          <p:cNvPicPr>
            <a:picLocks noChangeAspect="1"/>
          </p:cNvPicPr>
          <p:nvPr/>
        </p:nvPicPr>
        <p:blipFill>
          <a:blip r:embed="rId2"/>
          <a:stretch>
            <a:fillRect/>
          </a:stretch>
        </p:blipFill>
        <p:spPr>
          <a:xfrm>
            <a:off x="804900" y="732897"/>
            <a:ext cx="7439508" cy="5692663"/>
          </a:xfrm>
          <a:prstGeom prst="rect">
            <a:avLst/>
          </a:prstGeom>
          <a:ln>
            <a:solidFill>
              <a:schemeClr val="tx1"/>
            </a:solidFill>
          </a:ln>
          <a:effectLst>
            <a:outerShdw blurRad="50800" dist="38100" dir="2700000" algn="tl" rotWithShape="0">
              <a:prstClr val="black">
                <a:alpha val="40000"/>
              </a:prstClr>
            </a:outerShdw>
          </a:effectLst>
        </p:spPr>
      </p:pic>
      <p:sp>
        <p:nvSpPr>
          <p:cNvPr id="11" name="タイトル 4">
            <a:extLst>
              <a:ext uri="{FF2B5EF4-FFF2-40B4-BE49-F238E27FC236}">
                <a16:creationId xmlns:a16="http://schemas.microsoft.com/office/drawing/2014/main" id="{0032E6D5-3DD9-404A-0B8F-12CF6602C31D}"/>
              </a:ext>
            </a:extLst>
          </p:cNvPr>
          <p:cNvSpPr txBox="1">
            <a:spLocks/>
          </p:cNvSpPr>
          <p:nvPr/>
        </p:nvSpPr>
        <p:spPr>
          <a:xfrm>
            <a:off x="248234" y="135110"/>
            <a:ext cx="7439508" cy="349961"/>
          </a:xfrm>
          <a:prstGeom prst="rect">
            <a:avLst/>
          </a:prstGeom>
        </p:spPr>
        <p:txBody>
          <a:bodyPr/>
          <a:lst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lang="ja-JP" altLang="en-US" sz="2000" b="1" dirty="0">
                <a:solidFill>
                  <a:srgbClr val="000000"/>
                </a:solidFill>
                <a:latin typeface="Arial"/>
                <a:ea typeface="メイリオ"/>
              </a:rPr>
              <a:t>４</a:t>
            </a:r>
            <a:r>
              <a:rPr kumimoji="1" lang="ja-JP" altLang="en-US" sz="2000" b="1" i="0" u="none" strike="noStrike" kern="1200" cap="none" spc="0" normalizeH="0" baseline="0" noProof="0" dirty="0">
                <a:ln>
                  <a:noFill/>
                </a:ln>
                <a:solidFill>
                  <a:srgbClr val="000000"/>
                </a:solidFill>
                <a:effectLst/>
                <a:uLnTx/>
                <a:uFillTx/>
                <a:latin typeface="Arial"/>
                <a:ea typeface="メイリオ"/>
                <a:cs typeface="+mj-cs"/>
              </a:rPr>
              <a:t>－２．④直接作業比率のダッシュボード</a:t>
            </a:r>
            <a:r>
              <a:rPr kumimoji="1" lang="en-US" altLang="ja-JP" sz="2000" b="1" i="0" u="none" strike="noStrike" kern="1200" cap="none" spc="0" normalizeH="0" baseline="0" noProof="0" dirty="0">
                <a:ln>
                  <a:noFill/>
                </a:ln>
                <a:solidFill>
                  <a:srgbClr val="000000"/>
                </a:solidFill>
                <a:effectLst/>
                <a:uLnTx/>
                <a:uFillTx/>
                <a:latin typeface="Arial"/>
                <a:ea typeface="メイリオ"/>
                <a:cs typeface="+mj-cs"/>
              </a:rPr>
              <a:t>(1/2)</a:t>
            </a:r>
          </a:p>
        </p:txBody>
      </p:sp>
      <p:sp>
        <p:nvSpPr>
          <p:cNvPr id="2" name="正方形/長方形 1">
            <a:hlinkClick r:id="rId3"/>
            <a:extLst>
              <a:ext uri="{FF2B5EF4-FFF2-40B4-BE49-F238E27FC236}">
                <a16:creationId xmlns:a16="http://schemas.microsoft.com/office/drawing/2014/main" id="{47C8B10F-8596-F49D-2A2F-162723B60A18}"/>
              </a:ext>
            </a:extLst>
          </p:cNvPr>
          <p:cNvSpPr/>
          <p:nvPr/>
        </p:nvSpPr>
        <p:spPr>
          <a:xfrm>
            <a:off x="6012160" y="132951"/>
            <a:ext cx="1224136" cy="349961"/>
          </a:xfrm>
          <a:prstGeom prst="rect">
            <a:avLst/>
          </a:prstGeom>
          <a:solidFill>
            <a:schemeClr val="bg2">
              <a:lumMod val="75000"/>
            </a:schemeClr>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mn-ea"/>
              </a:rPr>
              <a:t>Teams</a:t>
            </a:r>
            <a:r>
              <a:rPr kumimoji="1" lang="ja-JP" altLang="en-US" sz="1200" b="1" dirty="0">
                <a:solidFill>
                  <a:schemeClr val="bg1"/>
                </a:solidFill>
                <a:latin typeface="+mn-ea"/>
              </a:rPr>
              <a:t>リンク</a:t>
            </a:r>
          </a:p>
        </p:txBody>
      </p:sp>
      <p:sp>
        <p:nvSpPr>
          <p:cNvPr id="9" name="四角形: 角を丸くする 8">
            <a:extLst>
              <a:ext uri="{FF2B5EF4-FFF2-40B4-BE49-F238E27FC236}">
                <a16:creationId xmlns:a16="http://schemas.microsoft.com/office/drawing/2014/main" id="{0BD8BAC8-6AFA-B677-BDBB-79D3368E32B6}"/>
              </a:ext>
            </a:extLst>
          </p:cNvPr>
          <p:cNvSpPr/>
          <p:nvPr/>
        </p:nvSpPr>
        <p:spPr>
          <a:xfrm>
            <a:off x="8037274" y="2106296"/>
            <a:ext cx="1069003" cy="466824"/>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ysClr val="windowText" lastClr="000000"/>
                </a:solidFill>
                <a:latin typeface="+mn-ea"/>
              </a:rPr>
              <a:t>各部課</a:t>
            </a:r>
            <a:endParaRPr kumimoji="1" lang="en-US" altLang="ja-JP" sz="1200" b="1" dirty="0">
              <a:solidFill>
                <a:sysClr val="windowText" lastClr="000000"/>
              </a:solidFill>
              <a:latin typeface="+mn-ea"/>
            </a:endParaRPr>
          </a:p>
          <a:p>
            <a:pPr algn="ctr"/>
            <a:r>
              <a:rPr lang="ja-JP" altLang="en-US" sz="1200" b="1" dirty="0">
                <a:solidFill>
                  <a:sysClr val="windowText" lastClr="000000"/>
                </a:solidFill>
                <a:latin typeface="+mn-ea"/>
              </a:rPr>
              <a:t>絞込み</a:t>
            </a:r>
            <a:endParaRPr kumimoji="1" lang="ja-JP" altLang="en-US" sz="1200" b="1" dirty="0">
              <a:solidFill>
                <a:sysClr val="windowText" lastClr="000000"/>
              </a:solidFill>
              <a:latin typeface="+mn-ea"/>
            </a:endParaRPr>
          </a:p>
        </p:txBody>
      </p:sp>
      <p:sp>
        <p:nvSpPr>
          <p:cNvPr id="10" name="四角形: 角を丸くする 9">
            <a:extLst>
              <a:ext uri="{FF2B5EF4-FFF2-40B4-BE49-F238E27FC236}">
                <a16:creationId xmlns:a16="http://schemas.microsoft.com/office/drawing/2014/main" id="{FE06AD15-EE18-574D-6549-76EAF9F7DFE2}"/>
              </a:ext>
            </a:extLst>
          </p:cNvPr>
          <p:cNvSpPr/>
          <p:nvPr/>
        </p:nvSpPr>
        <p:spPr>
          <a:xfrm>
            <a:off x="8037274" y="1252739"/>
            <a:ext cx="1069003" cy="466824"/>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ysClr val="windowText" lastClr="000000"/>
                </a:solidFill>
                <a:latin typeface="+mn-ea"/>
              </a:rPr>
              <a:t>社番表示</a:t>
            </a:r>
            <a:r>
              <a:rPr kumimoji="1" lang="en-US" altLang="ja-JP" sz="1200" b="1" dirty="0">
                <a:solidFill>
                  <a:sysClr val="windowText" lastClr="000000"/>
                </a:solidFill>
                <a:latin typeface="+mn-ea"/>
              </a:rPr>
              <a:t>/</a:t>
            </a:r>
            <a:r>
              <a:rPr kumimoji="1" lang="ja-JP" altLang="en-US" sz="1200" b="1" dirty="0">
                <a:solidFill>
                  <a:sysClr val="windowText" lastClr="000000"/>
                </a:solidFill>
                <a:latin typeface="+mn-ea"/>
              </a:rPr>
              <a:t>非表示</a:t>
            </a:r>
          </a:p>
        </p:txBody>
      </p:sp>
      <p:sp>
        <p:nvSpPr>
          <p:cNvPr id="13" name="四角形: 角を丸くする 12">
            <a:extLst>
              <a:ext uri="{FF2B5EF4-FFF2-40B4-BE49-F238E27FC236}">
                <a16:creationId xmlns:a16="http://schemas.microsoft.com/office/drawing/2014/main" id="{8EAD8D14-E387-C8A5-5654-27DE73697FF8}"/>
              </a:ext>
            </a:extLst>
          </p:cNvPr>
          <p:cNvSpPr/>
          <p:nvPr/>
        </p:nvSpPr>
        <p:spPr>
          <a:xfrm>
            <a:off x="5433030" y="3817214"/>
            <a:ext cx="1158259" cy="478077"/>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ysClr val="windowText" lastClr="000000"/>
                </a:solidFill>
                <a:latin typeface="+mn-ea"/>
              </a:rPr>
              <a:t>社番別</a:t>
            </a:r>
            <a:endParaRPr lang="en-US" altLang="ja-JP" sz="1200" b="1" dirty="0">
              <a:solidFill>
                <a:sysClr val="windowText" lastClr="000000"/>
              </a:solidFill>
              <a:latin typeface="+mn-ea"/>
            </a:endParaRPr>
          </a:p>
          <a:p>
            <a:pPr algn="ctr"/>
            <a:r>
              <a:rPr lang="en-US" altLang="ja-JP" sz="1200" b="1" dirty="0">
                <a:solidFill>
                  <a:sysClr val="windowText" lastClr="000000"/>
                </a:solidFill>
                <a:latin typeface="+mn-ea"/>
              </a:rPr>
              <a:t>“</a:t>
            </a:r>
            <a:r>
              <a:rPr lang="ja-JP" altLang="en-US" sz="1200" b="1" dirty="0">
                <a:solidFill>
                  <a:sysClr val="windowText" lastClr="000000"/>
                </a:solidFill>
                <a:latin typeface="+mn-ea"/>
              </a:rPr>
              <a:t>直工</a:t>
            </a:r>
            <a:r>
              <a:rPr kumimoji="1" lang="ja-JP" altLang="en-US" sz="1200" b="1" dirty="0">
                <a:solidFill>
                  <a:sysClr val="windowText" lastClr="000000"/>
                </a:solidFill>
                <a:latin typeface="+mn-ea"/>
              </a:rPr>
              <a:t>率</a:t>
            </a:r>
            <a:r>
              <a:rPr kumimoji="1" lang="en-US" altLang="ja-JP" sz="1200" b="1" dirty="0">
                <a:solidFill>
                  <a:sysClr val="windowText" lastClr="000000"/>
                </a:solidFill>
                <a:latin typeface="+mn-ea"/>
              </a:rPr>
              <a:t>”</a:t>
            </a:r>
          </a:p>
        </p:txBody>
      </p:sp>
      <p:sp>
        <p:nvSpPr>
          <p:cNvPr id="14" name="四角形: 角を丸くする 13">
            <a:extLst>
              <a:ext uri="{FF2B5EF4-FFF2-40B4-BE49-F238E27FC236}">
                <a16:creationId xmlns:a16="http://schemas.microsoft.com/office/drawing/2014/main" id="{2E25AD84-A596-9367-521D-67D325B1F66C}"/>
              </a:ext>
            </a:extLst>
          </p:cNvPr>
          <p:cNvSpPr/>
          <p:nvPr/>
        </p:nvSpPr>
        <p:spPr>
          <a:xfrm>
            <a:off x="41525" y="3403600"/>
            <a:ext cx="782885" cy="652653"/>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ysClr val="windowText" lastClr="000000"/>
                </a:solidFill>
                <a:latin typeface="+mn-ea"/>
              </a:rPr>
              <a:t>部課別</a:t>
            </a:r>
            <a:endParaRPr lang="en-US" altLang="ja-JP" sz="1100" b="1" dirty="0">
              <a:solidFill>
                <a:sysClr val="windowText" lastClr="000000"/>
              </a:solidFill>
              <a:latin typeface="+mn-ea"/>
            </a:endParaRPr>
          </a:p>
          <a:p>
            <a:pPr algn="ctr"/>
            <a:r>
              <a:rPr lang="ja-JP" altLang="en-US" sz="1100" b="1" dirty="0">
                <a:solidFill>
                  <a:sysClr val="windowText" lastClr="000000"/>
                </a:solidFill>
                <a:latin typeface="+mn-ea"/>
              </a:rPr>
              <a:t>直接作業比率</a:t>
            </a:r>
            <a:endParaRPr kumimoji="1" lang="en-US" altLang="ja-JP" sz="1100" b="1" dirty="0">
              <a:solidFill>
                <a:sysClr val="windowText" lastClr="000000"/>
              </a:solidFill>
              <a:latin typeface="+mn-ea"/>
            </a:endParaRPr>
          </a:p>
        </p:txBody>
      </p:sp>
      <p:sp>
        <p:nvSpPr>
          <p:cNvPr id="15" name="四角形: 角を丸くする 14">
            <a:extLst>
              <a:ext uri="{FF2B5EF4-FFF2-40B4-BE49-F238E27FC236}">
                <a16:creationId xmlns:a16="http://schemas.microsoft.com/office/drawing/2014/main" id="{92C9EE80-3EEE-6133-A597-1A5E275B8D72}"/>
              </a:ext>
            </a:extLst>
          </p:cNvPr>
          <p:cNvSpPr/>
          <p:nvPr/>
        </p:nvSpPr>
        <p:spPr>
          <a:xfrm>
            <a:off x="61034" y="1453861"/>
            <a:ext cx="802542" cy="466823"/>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ysClr val="windowText" lastClr="000000"/>
                </a:solidFill>
                <a:latin typeface="+mn-ea"/>
              </a:rPr>
              <a:t>年月</a:t>
            </a:r>
            <a:endParaRPr lang="en-US" altLang="ja-JP" sz="1200" b="1" dirty="0">
              <a:solidFill>
                <a:sysClr val="windowText" lastClr="000000"/>
              </a:solidFill>
              <a:latin typeface="+mn-ea"/>
            </a:endParaRPr>
          </a:p>
          <a:p>
            <a:pPr algn="ctr"/>
            <a:r>
              <a:rPr lang="ja-JP" altLang="en-US" sz="1200" b="1" dirty="0">
                <a:solidFill>
                  <a:sysClr val="windowText" lastClr="000000"/>
                </a:solidFill>
                <a:latin typeface="+mn-ea"/>
              </a:rPr>
              <a:t>絞込み</a:t>
            </a:r>
            <a:endParaRPr lang="en-US" altLang="ja-JP" sz="1200" b="1" dirty="0">
              <a:solidFill>
                <a:sysClr val="windowText" lastClr="000000"/>
              </a:solidFill>
              <a:latin typeface="+mn-ea"/>
            </a:endParaRPr>
          </a:p>
        </p:txBody>
      </p:sp>
      <p:sp>
        <p:nvSpPr>
          <p:cNvPr id="18" name="正方形/長方形 17">
            <a:extLst>
              <a:ext uri="{FF2B5EF4-FFF2-40B4-BE49-F238E27FC236}">
                <a16:creationId xmlns:a16="http://schemas.microsoft.com/office/drawing/2014/main" id="{75A91018-6F32-63B2-38BC-C2C3E8CEB39B}"/>
              </a:ext>
            </a:extLst>
          </p:cNvPr>
          <p:cNvSpPr/>
          <p:nvPr/>
        </p:nvSpPr>
        <p:spPr>
          <a:xfrm>
            <a:off x="1705484" y="735909"/>
            <a:ext cx="5170771" cy="641058"/>
          </a:xfrm>
          <a:prstGeom prst="rect">
            <a:avLst/>
          </a:prstGeom>
          <a:no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ysClr val="windowText" lastClr="000000"/>
              </a:solidFill>
              <a:latin typeface="+mn-ea"/>
            </a:endParaRPr>
          </a:p>
        </p:txBody>
      </p:sp>
      <p:sp>
        <p:nvSpPr>
          <p:cNvPr id="19" name="四角形: 角を丸くする 18">
            <a:extLst>
              <a:ext uri="{FF2B5EF4-FFF2-40B4-BE49-F238E27FC236}">
                <a16:creationId xmlns:a16="http://schemas.microsoft.com/office/drawing/2014/main" id="{41DE3F4E-0631-7F8E-01FE-4CBCA50B5DC1}"/>
              </a:ext>
            </a:extLst>
          </p:cNvPr>
          <p:cNvSpPr/>
          <p:nvPr/>
        </p:nvSpPr>
        <p:spPr>
          <a:xfrm>
            <a:off x="4880595" y="626391"/>
            <a:ext cx="1459154" cy="216024"/>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ysClr val="windowText" lastClr="000000"/>
                </a:solidFill>
                <a:latin typeface="+mn-ea"/>
              </a:rPr>
              <a:t>※</a:t>
            </a:r>
            <a:r>
              <a:rPr kumimoji="1" lang="ja-JP" altLang="en-US" sz="1200" b="1" dirty="0">
                <a:solidFill>
                  <a:sysClr val="windowText" lastClr="000000"/>
                </a:solidFill>
                <a:latin typeface="+mn-ea"/>
              </a:rPr>
              <a:t>データ留意事項</a:t>
            </a:r>
          </a:p>
        </p:txBody>
      </p:sp>
      <p:sp>
        <p:nvSpPr>
          <p:cNvPr id="5" name="四角形: 角を丸くする 4">
            <a:extLst>
              <a:ext uri="{FF2B5EF4-FFF2-40B4-BE49-F238E27FC236}">
                <a16:creationId xmlns:a16="http://schemas.microsoft.com/office/drawing/2014/main" id="{5747278C-B186-46E3-32DC-32E3ABE3F156}"/>
              </a:ext>
            </a:extLst>
          </p:cNvPr>
          <p:cNvSpPr/>
          <p:nvPr/>
        </p:nvSpPr>
        <p:spPr>
          <a:xfrm>
            <a:off x="2267744" y="4437112"/>
            <a:ext cx="2016224" cy="478077"/>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ysClr val="windowText" lastClr="000000"/>
                </a:solidFill>
                <a:latin typeface="+mn-ea"/>
              </a:rPr>
              <a:t>部門費計上アイテム</a:t>
            </a:r>
            <a:endParaRPr kumimoji="1" lang="en-US" altLang="ja-JP" sz="1200" b="1" dirty="0">
              <a:solidFill>
                <a:sysClr val="windowText" lastClr="000000"/>
              </a:solidFill>
              <a:latin typeface="+mn-ea"/>
            </a:endParaRPr>
          </a:p>
          <a:p>
            <a:pPr algn="ctr"/>
            <a:r>
              <a:rPr lang="ja-JP" altLang="en-US" sz="1200" b="1" dirty="0">
                <a:solidFill>
                  <a:sysClr val="windowText" lastClr="000000"/>
                </a:solidFill>
                <a:latin typeface="+mn-ea"/>
              </a:rPr>
              <a:t>上位順</a:t>
            </a:r>
            <a:endParaRPr kumimoji="1" lang="en-US" altLang="ja-JP" sz="1200" b="1" dirty="0">
              <a:solidFill>
                <a:sysClr val="windowText" lastClr="000000"/>
              </a:solidFill>
              <a:latin typeface="+mn-ea"/>
            </a:endParaRPr>
          </a:p>
        </p:txBody>
      </p:sp>
    </p:spTree>
    <p:extLst>
      <p:ext uri="{BB962C8B-B14F-4D97-AF65-F5344CB8AC3E}">
        <p14:creationId xmlns:p14="http://schemas.microsoft.com/office/powerpoint/2010/main" val="17949339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D224B88C-7640-D702-C0C3-A347B2B2F28F}"/>
              </a:ext>
            </a:extLst>
          </p:cNvPr>
          <p:cNvPicPr>
            <a:picLocks noChangeAspect="1"/>
          </p:cNvPicPr>
          <p:nvPr/>
        </p:nvPicPr>
        <p:blipFill>
          <a:blip r:embed="rId2"/>
          <a:stretch>
            <a:fillRect/>
          </a:stretch>
        </p:blipFill>
        <p:spPr>
          <a:xfrm>
            <a:off x="863576" y="662610"/>
            <a:ext cx="7254869" cy="6134632"/>
          </a:xfrm>
          <a:prstGeom prst="rect">
            <a:avLst/>
          </a:prstGeom>
        </p:spPr>
      </p:pic>
      <p:sp>
        <p:nvSpPr>
          <p:cNvPr id="11" name="タイトル 4">
            <a:extLst>
              <a:ext uri="{FF2B5EF4-FFF2-40B4-BE49-F238E27FC236}">
                <a16:creationId xmlns:a16="http://schemas.microsoft.com/office/drawing/2014/main" id="{0032E6D5-3DD9-404A-0B8F-12CF6602C31D}"/>
              </a:ext>
            </a:extLst>
          </p:cNvPr>
          <p:cNvSpPr txBox="1">
            <a:spLocks/>
          </p:cNvSpPr>
          <p:nvPr/>
        </p:nvSpPr>
        <p:spPr>
          <a:xfrm>
            <a:off x="248234" y="135110"/>
            <a:ext cx="7439508" cy="349961"/>
          </a:xfrm>
          <a:prstGeom prst="rect">
            <a:avLst/>
          </a:prstGeom>
        </p:spPr>
        <p:txBody>
          <a:bodyPr/>
          <a:lst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lang="ja-JP" altLang="en-US" sz="2000" b="1" dirty="0">
                <a:solidFill>
                  <a:srgbClr val="000000"/>
                </a:solidFill>
                <a:latin typeface="Arial"/>
                <a:ea typeface="メイリオ"/>
              </a:rPr>
              <a:t>４</a:t>
            </a:r>
            <a:r>
              <a:rPr kumimoji="1" lang="ja-JP" altLang="en-US" sz="2000" b="1" i="0" u="none" strike="noStrike" kern="1200" cap="none" spc="0" normalizeH="0" baseline="0" noProof="0" dirty="0">
                <a:ln>
                  <a:noFill/>
                </a:ln>
                <a:solidFill>
                  <a:srgbClr val="000000"/>
                </a:solidFill>
                <a:effectLst/>
                <a:uLnTx/>
                <a:uFillTx/>
                <a:latin typeface="Arial"/>
                <a:ea typeface="メイリオ"/>
                <a:cs typeface="+mj-cs"/>
              </a:rPr>
              <a:t>－２．④直接作業比率のダッシュボード</a:t>
            </a:r>
            <a:r>
              <a:rPr kumimoji="1" lang="en-US" altLang="ja-JP" sz="2000" b="1" i="0" u="none" strike="noStrike" kern="1200" cap="none" spc="0" normalizeH="0" baseline="0" noProof="0" dirty="0">
                <a:ln>
                  <a:noFill/>
                </a:ln>
                <a:solidFill>
                  <a:srgbClr val="000000"/>
                </a:solidFill>
                <a:effectLst/>
                <a:uLnTx/>
                <a:uFillTx/>
                <a:latin typeface="Arial"/>
                <a:ea typeface="メイリオ"/>
                <a:cs typeface="+mj-cs"/>
              </a:rPr>
              <a:t>(2/2)</a:t>
            </a:r>
          </a:p>
        </p:txBody>
      </p:sp>
      <p:sp>
        <p:nvSpPr>
          <p:cNvPr id="2" name="正方形/長方形 1">
            <a:hlinkClick r:id="rId3"/>
            <a:extLst>
              <a:ext uri="{FF2B5EF4-FFF2-40B4-BE49-F238E27FC236}">
                <a16:creationId xmlns:a16="http://schemas.microsoft.com/office/drawing/2014/main" id="{47C8B10F-8596-F49D-2A2F-162723B60A18}"/>
              </a:ext>
            </a:extLst>
          </p:cNvPr>
          <p:cNvSpPr/>
          <p:nvPr/>
        </p:nvSpPr>
        <p:spPr>
          <a:xfrm>
            <a:off x="6012160" y="132951"/>
            <a:ext cx="1224136" cy="349961"/>
          </a:xfrm>
          <a:prstGeom prst="rect">
            <a:avLst/>
          </a:prstGeom>
          <a:solidFill>
            <a:schemeClr val="bg2">
              <a:lumMod val="75000"/>
            </a:schemeClr>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mn-ea"/>
              </a:rPr>
              <a:t>Teams</a:t>
            </a:r>
            <a:r>
              <a:rPr kumimoji="1" lang="ja-JP" altLang="en-US" sz="1200" b="1" dirty="0">
                <a:solidFill>
                  <a:schemeClr val="bg1"/>
                </a:solidFill>
                <a:latin typeface="+mn-ea"/>
              </a:rPr>
              <a:t>リンク</a:t>
            </a:r>
          </a:p>
        </p:txBody>
      </p:sp>
      <p:sp>
        <p:nvSpPr>
          <p:cNvPr id="5" name="四角形: 角を丸くする 4">
            <a:extLst>
              <a:ext uri="{FF2B5EF4-FFF2-40B4-BE49-F238E27FC236}">
                <a16:creationId xmlns:a16="http://schemas.microsoft.com/office/drawing/2014/main" id="{5747278C-B186-46E3-32DC-32E3ABE3F156}"/>
              </a:ext>
            </a:extLst>
          </p:cNvPr>
          <p:cNvSpPr/>
          <p:nvPr/>
        </p:nvSpPr>
        <p:spPr>
          <a:xfrm>
            <a:off x="4031940" y="5661248"/>
            <a:ext cx="1080120" cy="262053"/>
          </a:xfrm>
          <a:prstGeom prst="roundRect">
            <a:avLst/>
          </a:prstGeom>
          <a:solidFill>
            <a:srgbClr val="FFFF00"/>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ysClr val="windowText" lastClr="000000"/>
                </a:solidFill>
                <a:latin typeface="+mn-ea"/>
              </a:rPr>
              <a:t>月別推移</a:t>
            </a:r>
            <a:endParaRPr kumimoji="1" lang="en-US" altLang="ja-JP" sz="1200" b="1" dirty="0">
              <a:solidFill>
                <a:sysClr val="windowText" lastClr="000000"/>
              </a:solidFill>
              <a:latin typeface="+mn-ea"/>
            </a:endParaRPr>
          </a:p>
        </p:txBody>
      </p:sp>
    </p:spTree>
    <p:extLst>
      <p:ext uri="{BB962C8B-B14F-4D97-AF65-F5344CB8AC3E}">
        <p14:creationId xmlns:p14="http://schemas.microsoft.com/office/powerpoint/2010/main" val="37673368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55098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FE5C7C-9885-4830-9719-DE9E5419CC06}"/>
              </a:ext>
            </a:extLst>
          </p:cNvPr>
          <p:cNvSpPr>
            <a:spLocks noGrp="1"/>
          </p:cNvSpPr>
          <p:nvPr>
            <p:ph type="title"/>
          </p:nvPr>
        </p:nvSpPr>
        <p:spPr>
          <a:xfrm>
            <a:off x="251520" y="128798"/>
            <a:ext cx="6390090" cy="349961"/>
          </a:xfrm>
        </p:spPr>
        <p:txBody>
          <a:bodyPr/>
          <a:lstStyle/>
          <a:p>
            <a:r>
              <a:rPr lang="ja-JP" altLang="en-US" sz="1800" dirty="0"/>
              <a:t>５－１．</a:t>
            </a:r>
            <a:r>
              <a:rPr kumimoji="1" lang="ja-JP" altLang="en-US" sz="1800" dirty="0"/>
              <a:t>業務整流化における前提</a:t>
            </a:r>
          </a:p>
        </p:txBody>
      </p:sp>
      <p:sp>
        <p:nvSpPr>
          <p:cNvPr id="9" name="テキスト プレースホルダー 5">
            <a:extLst>
              <a:ext uri="{FF2B5EF4-FFF2-40B4-BE49-F238E27FC236}">
                <a16:creationId xmlns:a16="http://schemas.microsoft.com/office/drawing/2014/main" id="{226E69B3-C2AF-4355-AF42-3D7A11F1D8CD}"/>
              </a:ext>
            </a:extLst>
          </p:cNvPr>
          <p:cNvSpPr>
            <a:spLocks noGrp="1"/>
          </p:cNvSpPr>
          <p:nvPr>
            <p:ph type="body" sz="quarter" idx="10"/>
          </p:nvPr>
        </p:nvSpPr>
        <p:spPr>
          <a:xfrm>
            <a:off x="204452" y="640408"/>
            <a:ext cx="8892000" cy="972000"/>
          </a:xfrm>
          <a:solidFill>
            <a:schemeClr val="bg2">
              <a:lumMod val="40000"/>
              <a:lumOff val="60000"/>
            </a:schemeClr>
          </a:solidFill>
        </p:spPr>
        <p:txBody>
          <a:bodyPr anchor="t">
            <a:noAutofit/>
          </a:bodyPr>
          <a:lstStyle/>
          <a:p>
            <a:pPr marL="285750" indent="-285750" defTabSz="914400" fontAlgn="auto">
              <a:spcBef>
                <a:spcPts val="0"/>
              </a:spcBef>
              <a:spcAft>
                <a:spcPts val="0"/>
              </a:spcAft>
              <a:buFont typeface="Wingdings" panose="05000000000000000000" pitchFamily="2" charset="2"/>
              <a:buChar char="n"/>
              <a:defRPr/>
            </a:pPr>
            <a:r>
              <a:rPr lang="ja-JP" altLang="en-US" dirty="0">
                <a:solidFill>
                  <a:srgbClr val="000000"/>
                </a:solidFill>
                <a:latin typeface="メイリオ"/>
                <a:ea typeface="メイリオ"/>
                <a:cs typeface="+mn-cs"/>
              </a:rPr>
              <a:t>前提として、業務プロセスは案件の規模（小口・大口。大型改造）やサービスメニュー（部品購入、工事、</a:t>
            </a:r>
            <a:r>
              <a:rPr lang="en-US" altLang="ja-JP" dirty="0">
                <a:solidFill>
                  <a:srgbClr val="000000"/>
                </a:solidFill>
                <a:latin typeface="メイリオ"/>
                <a:ea typeface="メイリオ"/>
                <a:cs typeface="+mn-cs"/>
              </a:rPr>
              <a:t>…</a:t>
            </a:r>
            <a:r>
              <a:rPr lang="ja-JP" altLang="en-US" dirty="0">
                <a:solidFill>
                  <a:srgbClr val="000000"/>
                </a:solidFill>
                <a:latin typeface="メイリオ"/>
                <a:ea typeface="メイリオ"/>
                <a:cs typeface="+mn-cs"/>
              </a:rPr>
              <a:t>）などの要素によってバリエーションが変化する。</a:t>
            </a:r>
            <a:endParaRPr lang="en-US" altLang="ja-JP" dirty="0">
              <a:solidFill>
                <a:srgbClr val="000000"/>
              </a:solidFill>
              <a:latin typeface="メイリオ"/>
              <a:ea typeface="メイリオ"/>
              <a:cs typeface="+mn-cs"/>
            </a:endParaRPr>
          </a:p>
          <a:p>
            <a:pPr marL="285750" indent="-285750" defTabSz="914400" fontAlgn="auto">
              <a:spcBef>
                <a:spcPts val="0"/>
              </a:spcBef>
              <a:spcAft>
                <a:spcPts val="0"/>
              </a:spcAft>
              <a:buFont typeface="Wingdings" panose="05000000000000000000" pitchFamily="2" charset="2"/>
              <a:buChar char="n"/>
              <a:defRPr/>
            </a:pPr>
            <a:r>
              <a:rPr lang="ja-JP" altLang="en-US" dirty="0">
                <a:solidFill>
                  <a:srgbClr val="000000"/>
                </a:solidFill>
                <a:latin typeface="メイリオ"/>
                <a:ea typeface="メイリオ"/>
                <a:cs typeface="+mn-cs"/>
              </a:rPr>
              <a:t>次頁以降、傾向を把握し、改善の対象範囲についてご説明する。</a:t>
            </a:r>
            <a:endParaRPr lang="en-US" altLang="ja-JP" dirty="0">
              <a:solidFill>
                <a:srgbClr val="000000"/>
              </a:solidFill>
              <a:latin typeface="メイリオ"/>
              <a:ea typeface="メイリオ"/>
              <a:cs typeface="+mn-cs"/>
            </a:endParaRPr>
          </a:p>
        </p:txBody>
      </p:sp>
      <p:sp>
        <p:nvSpPr>
          <p:cNvPr id="10" name="正方形/長方形 9">
            <a:extLst>
              <a:ext uri="{FF2B5EF4-FFF2-40B4-BE49-F238E27FC236}">
                <a16:creationId xmlns:a16="http://schemas.microsoft.com/office/drawing/2014/main" id="{151DCCC3-0A14-4931-8F3C-AA961504438C}"/>
              </a:ext>
            </a:extLst>
          </p:cNvPr>
          <p:cNvSpPr/>
          <p:nvPr/>
        </p:nvSpPr>
        <p:spPr>
          <a:xfrm>
            <a:off x="1422872" y="3069008"/>
            <a:ext cx="10080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200" dirty="0">
                <a:solidFill>
                  <a:sysClr val="windowText" lastClr="000000"/>
                </a:solidFill>
                <a:latin typeface="Meiryo UI" panose="020B0604030504040204" pitchFamily="50" charset="-128"/>
                <a:ea typeface="Meiryo UI" panose="020B0604030504040204" pitchFamily="50" charset="-128"/>
              </a:rPr>
              <a:t>見積</a:t>
            </a:r>
            <a:r>
              <a:rPr lang="en-US" altLang="ja-JP" sz="1200" dirty="0">
                <a:solidFill>
                  <a:sysClr val="windowText" lastClr="000000"/>
                </a:solidFill>
                <a:latin typeface="Meiryo UI" panose="020B0604030504040204" pitchFamily="50" charset="-128"/>
                <a:ea typeface="Meiryo UI" panose="020B0604030504040204" pitchFamily="50" charset="-128"/>
              </a:rPr>
              <a:t>G</a:t>
            </a:r>
            <a:endParaRPr kumimoji="1" lang="en-US" altLang="ja-JP" sz="1200" dirty="0">
              <a:solidFill>
                <a:sysClr val="windowText" lastClr="000000"/>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070E765E-6D7A-409B-95F0-6967E2FB14AF}"/>
              </a:ext>
            </a:extLst>
          </p:cNvPr>
          <p:cNvSpPr/>
          <p:nvPr/>
        </p:nvSpPr>
        <p:spPr>
          <a:xfrm>
            <a:off x="3151176" y="3069008"/>
            <a:ext cx="1008000" cy="432000"/>
          </a:xfrm>
          <a:prstGeom prst="rect">
            <a:avLst/>
          </a:prstGeom>
          <a:solidFill>
            <a:schemeClr val="tx2">
              <a:lumMod val="40000"/>
              <a:lumOff val="6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200">
                <a:latin typeface="Meiryo UI" panose="020B0604030504040204" pitchFamily="50" charset="-128"/>
                <a:ea typeface="Meiryo UI" panose="020B0604030504040204" pitchFamily="50" charset="-128"/>
              </a:rPr>
              <a:t>ボ本設</a:t>
            </a:r>
            <a:endParaRPr lang="en-US" altLang="ja-JP" sz="1200" dirty="0">
              <a:latin typeface="Meiryo UI" panose="020B0604030504040204" pitchFamily="50" charset="-128"/>
              <a:ea typeface="Meiryo UI" panose="020B0604030504040204" pitchFamily="50" charset="-128"/>
            </a:endParaRPr>
          </a:p>
        </p:txBody>
      </p:sp>
      <p:cxnSp>
        <p:nvCxnSpPr>
          <p:cNvPr id="12" name="直線矢印コネクタ 11">
            <a:extLst>
              <a:ext uri="{FF2B5EF4-FFF2-40B4-BE49-F238E27FC236}">
                <a16:creationId xmlns:a16="http://schemas.microsoft.com/office/drawing/2014/main" id="{B9016921-0086-4ADC-AD16-4F21444D3297}"/>
              </a:ext>
            </a:extLst>
          </p:cNvPr>
          <p:cNvCxnSpPr>
            <a:cxnSpLocks/>
            <a:stCxn id="10" idx="3"/>
            <a:endCxn id="11" idx="1"/>
          </p:cNvCxnSpPr>
          <p:nvPr/>
        </p:nvCxnSpPr>
        <p:spPr>
          <a:xfrm>
            <a:off x="2430872" y="3285008"/>
            <a:ext cx="720304" cy="0"/>
          </a:xfrm>
          <a:prstGeom prst="straightConnector1">
            <a:avLst/>
          </a:prstGeom>
          <a:ln>
            <a:solidFill>
              <a:schemeClr val="bg2">
                <a:lumMod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5" name="矢印: 五方向 14">
            <a:extLst>
              <a:ext uri="{FF2B5EF4-FFF2-40B4-BE49-F238E27FC236}">
                <a16:creationId xmlns:a16="http://schemas.microsoft.com/office/drawing/2014/main" id="{5A8E59FF-20CB-4114-B943-A3E03C6F032B}"/>
              </a:ext>
            </a:extLst>
          </p:cNvPr>
          <p:cNvSpPr/>
          <p:nvPr/>
        </p:nvSpPr>
        <p:spPr>
          <a:xfrm>
            <a:off x="1278856" y="2205579"/>
            <a:ext cx="1296000" cy="288000"/>
          </a:xfrm>
          <a:prstGeom prst="homePlate">
            <a:avLst/>
          </a:prstGeom>
          <a:solidFill>
            <a:schemeClr val="tx1">
              <a:lumMod val="65000"/>
              <a:lumOff val="3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200" b="1">
                <a:latin typeface="Meiryo UI" panose="020B0604030504040204" pitchFamily="50" charset="-128"/>
                <a:ea typeface="Meiryo UI" panose="020B0604030504040204" pitchFamily="50" charset="-128"/>
              </a:rPr>
              <a:t>引合</a:t>
            </a:r>
          </a:p>
        </p:txBody>
      </p:sp>
      <p:sp>
        <p:nvSpPr>
          <p:cNvPr id="16" name="矢印: 五方向 15">
            <a:extLst>
              <a:ext uri="{FF2B5EF4-FFF2-40B4-BE49-F238E27FC236}">
                <a16:creationId xmlns:a16="http://schemas.microsoft.com/office/drawing/2014/main" id="{866F6A2D-7C11-4370-B2A8-4D6128D01A2B}"/>
              </a:ext>
            </a:extLst>
          </p:cNvPr>
          <p:cNvSpPr/>
          <p:nvPr/>
        </p:nvSpPr>
        <p:spPr>
          <a:xfrm>
            <a:off x="2647008" y="2204864"/>
            <a:ext cx="5328000" cy="288000"/>
          </a:xfrm>
          <a:prstGeom prst="homePlate">
            <a:avLst/>
          </a:prstGeom>
          <a:solidFill>
            <a:schemeClr val="tx1">
              <a:lumMod val="65000"/>
              <a:lumOff val="3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200" b="1">
                <a:latin typeface="Meiryo UI" panose="020B0604030504040204" pitchFamily="50" charset="-128"/>
                <a:ea typeface="Meiryo UI" panose="020B0604030504040204" pitchFamily="50" charset="-128"/>
              </a:rPr>
              <a:t>生産工事</a:t>
            </a:r>
          </a:p>
        </p:txBody>
      </p:sp>
      <p:cxnSp>
        <p:nvCxnSpPr>
          <p:cNvPr id="30" name="直線矢印コネクタ 29">
            <a:extLst>
              <a:ext uri="{FF2B5EF4-FFF2-40B4-BE49-F238E27FC236}">
                <a16:creationId xmlns:a16="http://schemas.microsoft.com/office/drawing/2014/main" id="{D9C97D0E-B5D3-47B5-B8ED-E4E85F2A116D}"/>
              </a:ext>
            </a:extLst>
          </p:cNvPr>
          <p:cNvCxnSpPr/>
          <p:nvPr/>
        </p:nvCxnSpPr>
        <p:spPr>
          <a:xfrm>
            <a:off x="2647008" y="2708920"/>
            <a:ext cx="1728000" cy="0"/>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378CC95C-19ED-4D51-8F81-2BAE906EDC4C}"/>
              </a:ext>
            </a:extLst>
          </p:cNvPr>
          <p:cNvCxnSpPr/>
          <p:nvPr/>
        </p:nvCxnSpPr>
        <p:spPr>
          <a:xfrm>
            <a:off x="4447400" y="2708920"/>
            <a:ext cx="1728000" cy="0"/>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FBACE41D-7861-49B2-BA52-7BACF2B14FFC}"/>
              </a:ext>
            </a:extLst>
          </p:cNvPr>
          <p:cNvCxnSpPr/>
          <p:nvPr/>
        </p:nvCxnSpPr>
        <p:spPr>
          <a:xfrm>
            <a:off x="6247600" y="2708920"/>
            <a:ext cx="1728000" cy="0"/>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正方形/長方形 32">
            <a:extLst>
              <a:ext uri="{FF2B5EF4-FFF2-40B4-BE49-F238E27FC236}">
                <a16:creationId xmlns:a16="http://schemas.microsoft.com/office/drawing/2014/main" id="{1D3999F8-52E7-43E3-8FF5-7B2A8E0EE505}"/>
              </a:ext>
            </a:extLst>
          </p:cNvPr>
          <p:cNvSpPr/>
          <p:nvPr/>
        </p:nvSpPr>
        <p:spPr>
          <a:xfrm>
            <a:off x="3295080" y="2564904"/>
            <a:ext cx="576000" cy="288000"/>
          </a:xfrm>
          <a:prstGeom prst="rect">
            <a:avLst/>
          </a:prstGeom>
          <a:solidFill>
            <a:sysClr val="window" lastClr="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400" dirty="0">
                <a:solidFill>
                  <a:sysClr val="windowText" lastClr="000000"/>
                </a:solidFill>
                <a:latin typeface="Meiryo UI" panose="020B0604030504040204" pitchFamily="50" charset="-128"/>
                <a:ea typeface="Meiryo UI" panose="020B0604030504040204" pitchFamily="50" charset="-128"/>
              </a:rPr>
              <a:t>設計</a:t>
            </a:r>
          </a:p>
        </p:txBody>
      </p:sp>
      <p:sp>
        <p:nvSpPr>
          <p:cNvPr id="34" name="正方形/長方形 33">
            <a:extLst>
              <a:ext uri="{FF2B5EF4-FFF2-40B4-BE49-F238E27FC236}">
                <a16:creationId xmlns:a16="http://schemas.microsoft.com/office/drawing/2014/main" id="{A6DA2DD3-D890-401B-B264-0B3670FB4C54}"/>
              </a:ext>
            </a:extLst>
          </p:cNvPr>
          <p:cNvSpPr/>
          <p:nvPr/>
        </p:nvSpPr>
        <p:spPr>
          <a:xfrm>
            <a:off x="4951264" y="2564904"/>
            <a:ext cx="576000" cy="288000"/>
          </a:xfrm>
          <a:prstGeom prst="rect">
            <a:avLst/>
          </a:prstGeom>
          <a:solidFill>
            <a:sysClr val="window" lastClr="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400" dirty="0">
                <a:solidFill>
                  <a:sysClr val="windowText" lastClr="000000"/>
                </a:solidFill>
                <a:latin typeface="Meiryo UI" panose="020B0604030504040204" pitchFamily="50" charset="-128"/>
                <a:ea typeface="Meiryo UI" panose="020B0604030504040204" pitchFamily="50" charset="-128"/>
              </a:rPr>
              <a:t>製造</a:t>
            </a:r>
          </a:p>
        </p:txBody>
      </p:sp>
      <p:sp>
        <p:nvSpPr>
          <p:cNvPr id="35" name="正方形/長方形 34">
            <a:extLst>
              <a:ext uri="{FF2B5EF4-FFF2-40B4-BE49-F238E27FC236}">
                <a16:creationId xmlns:a16="http://schemas.microsoft.com/office/drawing/2014/main" id="{238AB60A-C43D-416D-978B-1AFF918EE0C7}"/>
              </a:ext>
            </a:extLst>
          </p:cNvPr>
          <p:cNvSpPr/>
          <p:nvPr/>
        </p:nvSpPr>
        <p:spPr>
          <a:xfrm>
            <a:off x="6823472" y="2564904"/>
            <a:ext cx="576000" cy="288000"/>
          </a:xfrm>
          <a:prstGeom prst="rect">
            <a:avLst/>
          </a:prstGeom>
          <a:solidFill>
            <a:sysClr val="window" lastClr="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400" dirty="0">
                <a:solidFill>
                  <a:sysClr val="windowText" lastClr="000000"/>
                </a:solidFill>
                <a:latin typeface="Meiryo UI" panose="020B0604030504040204" pitchFamily="50" charset="-128"/>
                <a:ea typeface="Meiryo UI" panose="020B0604030504040204" pitchFamily="50" charset="-128"/>
              </a:rPr>
              <a:t>工事</a:t>
            </a:r>
          </a:p>
        </p:txBody>
      </p:sp>
      <p:sp>
        <p:nvSpPr>
          <p:cNvPr id="36" name="正方形/長方形 35">
            <a:extLst>
              <a:ext uri="{FF2B5EF4-FFF2-40B4-BE49-F238E27FC236}">
                <a16:creationId xmlns:a16="http://schemas.microsoft.com/office/drawing/2014/main" id="{C2AB3DB1-0A2C-4EA0-924C-9E6DF344E348}"/>
              </a:ext>
            </a:extLst>
          </p:cNvPr>
          <p:cNvSpPr/>
          <p:nvPr/>
        </p:nvSpPr>
        <p:spPr>
          <a:xfrm>
            <a:off x="3151176" y="5661248"/>
            <a:ext cx="1008000" cy="432000"/>
          </a:xfrm>
          <a:prstGeom prst="rect">
            <a:avLst/>
          </a:prstGeom>
          <a:solidFill>
            <a:schemeClr val="tx2">
              <a:lumMod val="40000"/>
              <a:lumOff val="6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200" dirty="0">
                <a:latin typeface="Meiryo UI" panose="020B0604030504040204" pitchFamily="50" charset="-128"/>
                <a:ea typeface="Meiryo UI" panose="020B0604030504040204" pitchFamily="50" charset="-128"/>
              </a:rPr>
              <a:t>燃技</a:t>
            </a:r>
            <a:endParaRPr kumimoji="1" lang="en-US" altLang="ja-JP" sz="1200" dirty="0">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E072FC26-BABC-42B8-B5F9-0ED590F49795}"/>
              </a:ext>
            </a:extLst>
          </p:cNvPr>
          <p:cNvSpPr/>
          <p:nvPr/>
        </p:nvSpPr>
        <p:spPr>
          <a:xfrm>
            <a:off x="6326957" y="4534324"/>
            <a:ext cx="1152000" cy="5943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en-US" altLang="ja-JP" sz="3600">
              <a:solidFill>
                <a:srgbClr val="FF0000"/>
              </a:solidFill>
              <a:latin typeface="Meiryo UI" panose="020B0604030504040204" pitchFamily="50" charset="-128"/>
              <a:ea typeface="Meiryo UI" panose="020B0604030504040204" pitchFamily="50" charset="-128"/>
            </a:endParaRPr>
          </a:p>
        </p:txBody>
      </p:sp>
      <p:sp>
        <p:nvSpPr>
          <p:cNvPr id="99" name="正方形/長方形 98">
            <a:extLst>
              <a:ext uri="{FF2B5EF4-FFF2-40B4-BE49-F238E27FC236}">
                <a16:creationId xmlns:a16="http://schemas.microsoft.com/office/drawing/2014/main" id="{A7303F0D-D7F0-4B27-8491-A7D967BA1967}"/>
              </a:ext>
            </a:extLst>
          </p:cNvPr>
          <p:cNvSpPr/>
          <p:nvPr/>
        </p:nvSpPr>
        <p:spPr>
          <a:xfrm>
            <a:off x="6648748" y="5225827"/>
            <a:ext cx="1008000" cy="432000"/>
          </a:xfrm>
          <a:prstGeom prst="rect">
            <a:avLst/>
          </a:prstGeom>
          <a:solidFill>
            <a:schemeClr val="tx2">
              <a:lumMod val="40000"/>
              <a:lumOff val="6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200" dirty="0">
                <a:latin typeface="Meiryo UI" panose="020B0604030504040204" pitchFamily="50" charset="-128"/>
                <a:ea typeface="Meiryo UI" panose="020B0604030504040204" pitchFamily="50" charset="-128"/>
              </a:rPr>
              <a:t>建設</a:t>
            </a:r>
            <a:endParaRPr kumimoji="1" lang="en-US" altLang="ja-JP" sz="1200" dirty="0">
              <a:latin typeface="Meiryo UI" panose="020B0604030504040204" pitchFamily="50" charset="-128"/>
              <a:ea typeface="Meiryo UI" panose="020B0604030504040204" pitchFamily="50" charset="-128"/>
            </a:endParaRPr>
          </a:p>
        </p:txBody>
      </p:sp>
      <p:cxnSp>
        <p:nvCxnSpPr>
          <p:cNvPr id="100" name="直線矢印コネクタ 13">
            <a:extLst>
              <a:ext uri="{FF2B5EF4-FFF2-40B4-BE49-F238E27FC236}">
                <a16:creationId xmlns:a16="http://schemas.microsoft.com/office/drawing/2014/main" id="{B8D40919-7FF9-4E18-870F-093188F0F81F}"/>
              </a:ext>
            </a:extLst>
          </p:cNvPr>
          <p:cNvCxnSpPr>
            <a:cxnSpLocks/>
            <a:stCxn id="36" idx="3"/>
            <a:endCxn id="59" idx="1"/>
          </p:cNvCxnSpPr>
          <p:nvPr/>
        </p:nvCxnSpPr>
        <p:spPr>
          <a:xfrm flipV="1">
            <a:off x="4159176" y="5441827"/>
            <a:ext cx="648184" cy="43542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直線矢印コネクタ 108">
            <a:extLst>
              <a:ext uri="{FF2B5EF4-FFF2-40B4-BE49-F238E27FC236}">
                <a16:creationId xmlns:a16="http://schemas.microsoft.com/office/drawing/2014/main" id="{1ADC5015-9EFF-4DDB-9D97-52B17E86127A}"/>
              </a:ext>
            </a:extLst>
          </p:cNvPr>
          <p:cNvCxnSpPr/>
          <p:nvPr/>
        </p:nvCxnSpPr>
        <p:spPr>
          <a:xfrm>
            <a:off x="1279000" y="2708920"/>
            <a:ext cx="1296000" cy="0"/>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0" name="正方形/長方形 109">
            <a:extLst>
              <a:ext uri="{FF2B5EF4-FFF2-40B4-BE49-F238E27FC236}">
                <a16:creationId xmlns:a16="http://schemas.microsoft.com/office/drawing/2014/main" id="{8F47BAE5-28FA-4BFA-97FD-FEF4B1274C0B}"/>
              </a:ext>
            </a:extLst>
          </p:cNvPr>
          <p:cNvSpPr/>
          <p:nvPr/>
        </p:nvSpPr>
        <p:spPr>
          <a:xfrm>
            <a:off x="1638960" y="2564904"/>
            <a:ext cx="576000" cy="288000"/>
          </a:xfrm>
          <a:prstGeom prst="rect">
            <a:avLst/>
          </a:prstGeom>
          <a:solidFill>
            <a:sysClr val="window" lastClr="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400" dirty="0">
                <a:solidFill>
                  <a:sysClr val="windowText" lastClr="000000"/>
                </a:solidFill>
                <a:latin typeface="Meiryo UI" panose="020B0604030504040204" pitchFamily="50" charset="-128"/>
                <a:ea typeface="Meiryo UI" panose="020B0604030504040204" pitchFamily="50" charset="-128"/>
              </a:rPr>
              <a:t>見積</a:t>
            </a:r>
          </a:p>
        </p:txBody>
      </p:sp>
      <p:sp>
        <p:nvSpPr>
          <p:cNvPr id="46" name="正方形/長方形 45">
            <a:extLst>
              <a:ext uri="{FF2B5EF4-FFF2-40B4-BE49-F238E27FC236}">
                <a16:creationId xmlns:a16="http://schemas.microsoft.com/office/drawing/2014/main" id="{0B24784F-DD13-4BFF-82A2-B86B1C47E7FA}"/>
              </a:ext>
            </a:extLst>
          </p:cNvPr>
          <p:cNvSpPr/>
          <p:nvPr/>
        </p:nvSpPr>
        <p:spPr>
          <a:xfrm>
            <a:off x="7797846" y="2906693"/>
            <a:ext cx="1526682" cy="594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sz="1400" dirty="0">
                <a:solidFill>
                  <a:sysClr val="windowText" lastClr="000000"/>
                </a:solidFill>
                <a:latin typeface="Meiryo UI" panose="020B0604030504040204" pitchFamily="50" charset="-128"/>
                <a:ea typeface="Meiryo UI" panose="020B0604030504040204" pitchFamily="50" charset="-128"/>
              </a:rPr>
              <a:t>部品購入</a:t>
            </a:r>
            <a:endParaRPr kumimoji="1" lang="en-US" altLang="ja-JP" sz="1400" dirty="0">
              <a:solidFill>
                <a:sysClr val="windowText" lastClr="000000"/>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8E5C25A6-ED75-4298-8AE7-77D7A0CF1A18}"/>
              </a:ext>
            </a:extLst>
          </p:cNvPr>
          <p:cNvSpPr/>
          <p:nvPr/>
        </p:nvSpPr>
        <p:spPr>
          <a:xfrm>
            <a:off x="1422872" y="3933088"/>
            <a:ext cx="10080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200" dirty="0">
                <a:solidFill>
                  <a:sysClr val="windowText" lastClr="000000"/>
                </a:solidFill>
                <a:latin typeface="Meiryo UI" panose="020B0604030504040204" pitchFamily="50" charset="-128"/>
                <a:ea typeface="Meiryo UI" panose="020B0604030504040204" pitchFamily="50" charset="-128"/>
              </a:rPr>
              <a:t>見積</a:t>
            </a:r>
            <a:r>
              <a:rPr lang="en-US" altLang="ja-JP" sz="1200" dirty="0">
                <a:solidFill>
                  <a:sysClr val="windowText" lastClr="000000"/>
                </a:solidFill>
                <a:latin typeface="Meiryo UI" panose="020B0604030504040204" pitchFamily="50" charset="-128"/>
                <a:ea typeface="Meiryo UI" panose="020B0604030504040204" pitchFamily="50" charset="-128"/>
              </a:rPr>
              <a:t>G</a:t>
            </a:r>
            <a:endParaRPr kumimoji="1" lang="en-US" altLang="ja-JP" sz="1200" dirty="0">
              <a:solidFill>
                <a:sysClr val="windowText" lastClr="000000"/>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68A203CA-B4B3-4E79-B7AF-E449ACE3EEB6}"/>
              </a:ext>
            </a:extLst>
          </p:cNvPr>
          <p:cNvSpPr/>
          <p:nvPr/>
        </p:nvSpPr>
        <p:spPr>
          <a:xfrm>
            <a:off x="3151176" y="3933088"/>
            <a:ext cx="1008000" cy="432000"/>
          </a:xfrm>
          <a:prstGeom prst="rect">
            <a:avLst/>
          </a:prstGeom>
          <a:solidFill>
            <a:schemeClr val="tx2">
              <a:lumMod val="40000"/>
              <a:lumOff val="6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200">
                <a:latin typeface="Meiryo UI" panose="020B0604030504040204" pitchFamily="50" charset="-128"/>
                <a:ea typeface="Meiryo UI" panose="020B0604030504040204" pitchFamily="50" charset="-128"/>
              </a:rPr>
              <a:t>ボ本設</a:t>
            </a:r>
            <a:endParaRPr lang="en-US" altLang="ja-JP" sz="1200" dirty="0">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AD941918-2C7E-44CA-AD29-E18D5C2C19AA}"/>
              </a:ext>
            </a:extLst>
          </p:cNvPr>
          <p:cNvSpPr/>
          <p:nvPr/>
        </p:nvSpPr>
        <p:spPr>
          <a:xfrm>
            <a:off x="4807360" y="3933088"/>
            <a:ext cx="1008000" cy="432000"/>
          </a:xfrm>
          <a:prstGeom prst="rect">
            <a:avLst/>
          </a:prstGeom>
          <a:solidFill>
            <a:schemeClr val="tx2">
              <a:lumMod val="40000"/>
              <a:lumOff val="6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200" dirty="0">
                <a:latin typeface="Meiryo UI" panose="020B0604030504040204" pitchFamily="50" charset="-128"/>
                <a:ea typeface="Meiryo UI" panose="020B0604030504040204" pitchFamily="50" charset="-128"/>
              </a:rPr>
              <a:t>製造</a:t>
            </a:r>
            <a:endParaRPr kumimoji="1" lang="en-US" altLang="ja-JP" sz="1200" dirty="0">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083331E0-130E-4425-AEEC-BC0D5B86EBA2}"/>
              </a:ext>
            </a:extLst>
          </p:cNvPr>
          <p:cNvSpPr/>
          <p:nvPr/>
        </p:nvSpPr>
        <p:spPr>
          <a:xfrm>
            <a:off x="7797846" y="3842797"/>
            <a:ext cx="1526682" cy="594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sz="1400" dirty="0">
                <a:solidFill>
                  <a:sysClr val="windowText" lastClr="000000"/>
                </a:solidFill>
                <a:latin typeface="Meiryo UI" panose="020B0604030504040204" pitchFamily="50" charset="-128"/>
                <a:ea typeface="Meiryo UI" panose="020B0604030504040204" pitchFamily="50" charset="-128"/>
              </a:rPr>
              <a:t>内製部品</a:t>
            </a:r>
            <a:endParaRPr kumimoji="1" lang="en-US" altLang="ja-JP" sz="1400" dirty="0">
              <a:solidFill>
                <a:sysClr val="windowText" lastClr="000000"/>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14A49D02-99D7-4596-90A2-4D2AC1A43E03}"/>
              </a:ext>
            </a:extLst>
          </p:cNvPr>
          <p:cNvSpPr/>
          <p:nvPr/>
        </p:nvSpPr>
        <p:spPr>
          <a:xfrm>
            <a:off x="1422872" y="5225827"/>
            <a:ext cx="10080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200" dirty="0">
                <a:solidFill>
                  <a:sysClr val="windowText" lastClr="000000"/>
                </a:solidFill>
                <a:latin typeface="Meiryo UI" panose="020B0604030504040204" pitchFamily="50" charset="-128"/>
                <a:ea typeface="Meiryo UI" panose="020B0604030504040204" pitchFamily="50" charset="-128"/>
              </a:rPr>
              <a:t>見積</a:t>
            </a:r>
            <a:r>
              <a:rPr lang="en-US" altLang="ja-JP" sz="1200" dirty="0">
                <a:solidFill>
                  <a:sysClr val="windowText" lastClr="000000"/>
                </a:solidFill>
                <a:latin typeface="Meiryo UI" panose="020B0604030504040204" pitchFamily="50" charset="-128"/>
                <a:ea typeface="Meiryo UI" panose="020B0604030504040204" pitchFamily="50" charset="-128"/>
              </a:rPr>
              <a:t>G</a:t>
            </a:r>
            <a:endParaRPr kumimoji="1" lang="en-US" altLang="ja-JP" sz="1200" dirty="0">
              <a:solidFill>
                <a:sysClr val="windowText" lastClr="000000"/>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FC44CA5F-6D19-4835-A693-F62A7D0FF350}"/>
              </a:ext>
            </a:extLst>
          </p:cNvPr>
          <p:cNvSpPr/>
          <p:nvPr/>
        </p:nvSpPr>
        <p:spPr>
          <a:xfrm>
            <a:off x="3151176" y="4797168"/>
            <a:ext cx="1008000" cy="432000"/>
          </a:xfrm>
          <a:prstGeom prst="rect">
            <a:avLst/>
          </a:prstGeom>
          <a:solidFill>
            <a:schemeClr val="tx2">
              <a:lumMod val="40000"/>
              <a:lumOff val="6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200">
                <a:latin typeface="Meiryo UI" panose="020B0604030504040204" pitchFamily="50" charset="-128"/>
                <a:ea typeface="Meiryo UI" panose="020B0604030504040204" pitchFamily="50" charset="-128"/>
              </a:rPr>
              <a:t>ボ本設</a:t>
            </a:r>
            <a:endParaRPr lang="en-US" altLang="ja-JP" sz="1200" dirty="0">
              <a:latin typeface="Meiryo UI" panose="020B0604030504040204" pitchFamily="50" charset="-128"/>
              <a:ea typeface="Meiryo UI" panose="020B0604030504040204" pitchFamily="50" charset="-128"/>
            </a:endParaRPr>
          </a:p>
        </p:txBody>
      </p:sp>
      <p:sp>
        <p:nvSpPr>
          <p:cNvPr id="59" name="正方形/長方形 58">
            <a:extLst>
              <a:ext uri="{FF2B5EF4-FFF2-40B4-BE49-F238E27FC236}">
                <a16:creationId xmlns:a16="http://schemas.microsoft.com/office/drawing/2014/main" id="{15CFF4E4-AA34-4DED-852B-A0DBB4310F2E}"/>
              </a:ext>
            </a:extLst>
          </p:cNvPr>
          <p:cNvSpPr/>
          <p:nvPr/>
        </p:nvSpPr>
        <p:spPr>
          <a:xfrm>
            <a:off x="4807360" y="5225827"/>
            <a:ext cx="1008000" cy="432000"/>
          </a:xfrm>
          <a:prstGeom prst="rect">
            <a:avLst/>
          </a:prstGeom>
          <a:solidFill>
            <a:schemeClr val="tx2">
              <a:lumMod val="40000"/>
              <a:lumOff val="6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200" dirty="0">
                <a:latin typeface="Meiryo UI" panose="020B0604030504040204" pitchFamily="50" charset="-128"/>
                <a:ea typeface="Meiryo UI" panose="020B0604030504040204" pitchFamily="50" charset="-128"/>
              </a:rPr>
              <a:t>製造</a:t>
            </a:r>
            <a:endParaRPr kumimoji="1" lang="en-US" altLang="ja-JP" sz="1200" dirty="0">
              <a:latin typeface="Meiryo UI" panose="020B0604030504040204" pitchFamily="50" charset="-128"/>
              <a:ea typeface="Meiryo UI" panose="020B0604030504040204" pitchFamily="50" charset="-128"/>
            </a:endParaRPr>
          </a:p>
        </p:txBody>
      </p:sp>
      <p:cxnSp>
        <p:nvCxnSpPr>
          <p:cNvPr id="60" name="直線矢印コネクタ 13">
            <a:extLst>
              <a:ext uri="{FF2B5EF4-FFF2-40B4-BE49-F238E27FC236}">
                <a16:creationId xmlns:a16="http://schemas.microsoft.com/office/drawing/2014/main" id="{D4D9574B-009F-4B52-B368-609545A4ABB6}"/>
              </a:ext>
            </a:extLst>
          </p:cNvPr>
          <p:cNvCxnSpPr>
            <a:cxnSpLocks/>
            <a:stCxn id="57" idx="3"/>
            <a:endCxn id="58" idx="1"/>
          </p:cNvCxnSpPr>
          <p:nvPr/>
        </p:nvCxnSpPr>
        <p:spPr>
          <a:xfrm flipV="1">
            <a:off x="2430872" y="5013168"/>
            <a:ext cx="720304" cy="42865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線矢印コネクタ 13">
            <a:extLst>
              <a:ext uri="{FF2B5EF4-FFF2-40B4-BE49-F238E27FC236}">
                <a16:creationId xmlns:a16="http://schemas.microsoft.com/office/drawing/2014/main" id="{364CF6E4-3094-4DBD-B994-F6ACC4FC1FA3}"/>
              </a:ext>
            </a:extLst>
          </p:cNvPr>
          <p:cNvCxnSpPr>
            <a:cxnSpLocks/>
            <a:stCxn id="57" idx="3"/>
            <a:endCxn id="36" idx="1"/>
          </p:cNvCxnSpPr>
          <p:nvPr/>
        </p:nvCxnSpPr>
        <p:spPr>
          <a:xfrm>
            <a:off x="2430872" y="5441827"/>
            <a:ext cx="720304" cy="43542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13">
            <a:extLst>
              <a:ext uri="{FF2B5EF4-FFF2-40B4-BE49-F238E27FC236}">
                <a16:creationId xmlns:a16="http://schemas.microsoft.com/office/drawing/2014/main" id="{819477BA-7463-4AD8-97FB-202B034D6C65}"/>
              </a:ext>
            </a:extLst>
          </p:cNvPr>
          <p:cNvCxnSpPr>
            <a:cxnSpLocks/>
            <a:stCxn id="58" idx="3"/>
            <a:endCxn id="59" idx="1"/>
          </p:cNvCxnSpPr>
          <p:nvPr/>
        </p:nvCxnSpPr>
        <p:spPr>
          <a:xfrm>
            <a:off x="4159176" y="5013168"/>
            <a:ext cx="648184" cy="42865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0D01D7CE-881C-4696-A6B9-B4C63E92883F}"/>
              </a:ext>
            </a:extLst>
          </p:cNvPr>
          <p:cNvCxnSpPr>
            <a:cxnSpLocks/>
            <a:stCxn id="59" idx="3"/>
            <a:endCxn id="99" idx="1"/>
          </p:cNvCxnSpPr>
          <p:nvPr/>
        </p:nvCxnSpPr>
        <p:spPr>
          <a:xfrm>
            <a:off x="5815360" y="5441827"/>
            <a:ext cx="833388" cy="0"/>
          </a:xfrm>
          <a:prstGeom prst="straightConnector1">
            <a:avLst/>
          </a:prstGeom>
          <a:ln>
            <a:solidFill>
              <a:schemeClr val="bg2">
                <a:lumMod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355207A1-0329-4268-BF55-6FC15AF7FDDE}"/>
              </a:ext>
            </a:extLst>
          </p:cNvPr>
          <p:cNvCxnSpPr>
            <a:cxnSpLocks/>
            <a:stCxn id="48" idx="3"/>
            <a:endCxn id="50" idx="1"/>
          </p:cNvCxnSpPr>
          <p:nvPr/>
        </p:nvCxnSpPr>
        <p:spPr>
          <a:xfrm>
            <a:off x="2430872" y="4149088"/>
            <a:ext cx="720304" cy="0"/>
          </a:xfrm>
          <a:prstGeom prst="straightConnector1">
            <a:avLst/>
          </a:prstGeom>
          <a:ln>
            <a:solidFill>
              <a:schemeClr val="bg2">
                <a:lumMod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7E9D57DA-DCA5-4BB2-BD30-D3DFA83D306D}"/>
              </a:ext>
            </a:extLst>
          </p:cNvPr>
          <p:cNvCxnSpPr>
            <a:cxnSpLocks/>
            <a:stCxn id="50" idx="3"/>
            <a:endCxn id="53" idx="1"/>
          </p:cNvCxnSpPr>
          <p:nvPr/>
        </p:nvCxnSpPr>
        <p:spPr>
          <a:xfrm>
            <a:off x="4159176" y="4149088"/>
            <a:ext cx="648184" cy="0"/>
          </a:xfrm>
          <a:prstGeom prst="straightConnector1">
            <a:avLst/>
          </a:prstGeom>
          <a:ln>
            <a:solidFill>
              <a:schemeClr val="bg2">
                <a:lumMod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ECFC827A-6B70-4C01-B2B9-980195CF4EBC}"/>
              </a:ext>
            </a:extLst>
          </p:cNvPr>
          <p:cNvCxnSpPr/>
          <p:nvPr/>
        </p:nvCxnSpPr>
        <p:spPr>
          <a:xfrm>
            <a:off x="1206848" y="3645024"/>
            <a:ext cx="676800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533FBE59-3ED4-47F4-B2FE-3584AB06CDF8}"/>
              </a:ext>
            </a:extLst>
          </p:cNvPr>
          <p:cNvCxnSpPr/>
          <p:nvPr/>
        </p:nvCxnSpPr>
        <p:spPr>
          <a:xfrm>
            <a:off x="1206848" y="4653136"/>
            <a:ext cx="676800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84" name="正方形/長方形 83">
            <a:extLst>
              <a:ext uri="{FF2B5EF4-FFF2-40B4-BE49-F238E27FC236}">
                <a16:creationId xmlns:a16="http://schemas.microsoft.com/office/drawing/2014/main" id="{1B330710-7B95-495B-9C83-817E7D89DAFC}"/>
              </a:ext>
            </a:extLst>
          </p:cNvPr>
          <p:cNvSpPr/>
          <p:nvPr/>
        </p:nvSpPr>
        <p:spPr>
          <a:xfrm>
            <a:off x="7797846" y="5144669"/>
            <a:ext cx="1526682" cy="594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sz="1400" dirty="0">
                <a:solidFill>
                  <a:sysClr val="windowText" lastClr="000000"/>
                </a:solidFill>
                <a:latin typeface="Meiryo UI" panose="020B0604030504040204" pitchFamily="50" charset="-128"/>
                <a:ea typeface="Meiryo UI" panose="020B0604030504040204" pitchFamily="50" charset="-128"/>
              </a:rPr>
              <a:t>大口工事など</a:t>
            </a:r>
            <a:endParaRPr kumimoji="1" lang="en-US" altLang="ja-JP" sz="1400" dirty="0">
              <a:solidFill>
                <a:sysClr val="windowText" lastClr="000000"/>
              </a:solidFill>
              <a:latin typeface="Meiryo UI" panose="020B0604030504040204" pitchFamily="50" charset="-128"/>
              <a:ea typeface="Meiryo UI" panose="020B0604030504040204" pitchFamily="50" charset="-128"/>
            </a:endParaRPr>
          </a:p>
        </p:txBody>
      </p:sp>
      <p:sp>
        <p:nvSpPr>
          <p:cNvPr id="87" name="正方形/長方形 86">
            <a:extLst>
              <a:ext uri="{FF2B5EF4-FFF2-40B4-BE49-F238E27FC236}">
                <a16:creationId xmlns:a16="http://schemas.microsoft.com/office/drawing/2014/main" id="{0273BEA3-BD57-4A68-A8FE-417A603146E8}"/>
              </a:ext>
            </a:extLst>
          </p:cNvPr>
          <p:cNvSpPr/>
          <p:nvPr/>
        </p:nvSpPr>
        <p:spPr>
          <a:xfrm>
            <a:off x="270744" y="3141000"/>
            <a:ext cx="1008000" cy="28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パターン①</a:t>
            </a:r>
          </a:p>
        </p:txBody>
      </p:sp>
      <p:sp>
        <p:nvSpPr>
          <p:cNvPr id="88" name="正方形/長方形 87">
            <a:extLst>
              <a:ext uri="{FF2B5EF4-FFF2-40B4-BE49-F238E27FC236}">
                <a16:creationId xmlns:a16="http://schemas.microsoft.com/office/drawing/2014/main" id="{2453506D-F482-4B39-94A6-A7036E2FCAEC}"/>
              </a:ext>
            </a:extLst>
          </p:cNvPr>
          <p:cNvSpPr/>
          <p:nvPr/>
        </p:nvSpPr>
        <p:spPr>
          <a:xfrm>
            <a:off x="270744" y="4005096"/>
            <a:ext cx="1008000" cy="28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パターン②</a:t>
            </a:r>
          </a:p>
        </p:txBody>
      </p:sp>
      <p:sp>
        <p:nvSpPr>
          <p:cNvPr id="96" name="正方形/長方形 95">
            <a:extLst>
              <a:ext uri="{FF2B5EF4-FFF2-40B4-BE49-F238E27FC236}">
                <a16:creationId xmlns:a16="http://schemas.microsoft.com/office/drawing/2014/main" id="{E4A78D10-AE86-4305-B56D-140038DD30A9}"/>
              </a:ext>
            </a:extLst>
          </p:cNvPr>
          <p:cNvSpPr/>
          <p:nvPr/>
        </p:nvSpPr>
        <p:spPr>
          <a:xfrm>
            <a:off x="270744" y="5297826"/>
            <a:ext cx="1008000" cy="28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パターン③</a:t>
            </a:r>
          </a:p>
        </p:txBody>
      </p:sp>
      <p:sp>
        <p:nvSpPr>
          <p:cNvPr id="98" name="正方形/長方形 97">
            <a:extLst>
              <a:ext uri="{FF2B5EF4-FFF2-40B4-BE49-F238E27FC236}">
                <a16:creationId xmlns:a16="http://schemas.microsoft.com/office/drawing/2014/main" id="{423AEEDB-958F-4AB7-8B62-A3DEE2E60F75}"/>
              </a:ext>
            </a:extLst>
          </p:cNvPr>
          <p:cNvSpPr/>
          <p:nvPr/>
        </p:nvSpPr>
        <p:spPr>
          <a:xfrm>
            <a:off x="683600" y="5877336"/>
            <a:ext cx="288000" cy="57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en-US" altLang="ja-JP" dirty="0">
                <a:solidFill>
                  <a:sysClr val="windowText" lastClr="000000"/>
                </a:solidFill>
              </a:rPr>
              <a:t>…</a:t>
            </a:r>
            <a:endParaRPr kumimoji="1" lang="ja-JP" altLang="en-US" dirty="0">
              <a:solidFill>
                <a:sysClr val="windowText" lastClr="000000"/>
              </a:solidFill>
            </a:endParaRPr>
          </a:p>
        </p:txBody>
      </p:sp>
      <p:sp>
        <p:nvSpPr>
          <p:cNvPr id="42" name="正方形/長方形 41">
            <a:extLst>
              <a:ext uri="{FF2B5EF4-FFF2-40B4-BE49-F238E27FC236}">
                <a16:creationId xmlns:a16="http://schemas.microsoft.com/office/drawing/2014/main" id="{9E2042C9-8E77-4B42-93D6-D6928D16B5D5}"/>
              </a:ext>
            </a:extLst>
          </p:cNvPr>
          <p:cNvSpPr/>
          <p:nvPr/>
        </p:nvSpPr>
        <p:spPr>
          <a:xfrm>
            <a:off x="107576" y="1786182"/>
            <a:ext cx="1296000" cy="28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ysClr val="windowText" lastClr="000000"/>
                </a:solidFill>
              </a:rPr>
              <a:t>＜イメージ＞</a:t>
            </a:r>
          </a:p>
        </p:txBody>
      </p:sp>
    </p:spTree>
    <p:extLst>
      <p:ext uri="{BB962C8B-B14F-4D97-AF65-F5344CB8AC3E}">
        <p14:creationId xmlns:p14="http://schemas.microsoft.com/office/powerpoint/2010/main" val="2420802514"/>
      </p:ext>
    </p:extLst>
  </p:cSld>
  <p:clrMapOvr>
    <a:masterClrMapping/>
  </p:clrMapOvr>
</p:sld>
</file>

<file path=ppt/theme/theme1.xml><?xml version="1.0" encoding="utf-8"?>
<a:theme xmlns:a="http://schemas.openxmlformats.org/drawingml/2006/main" name="MHI PPT 4:3_単独会社用">
  <a:themeElements>
    <a:clrScheme name="MHI">
      <a:dk1>
        <a:srgbClr val="000000"/>
      </a:dk1>
      <a:lt1>
        <a:srgbClr val="FFFFFF"/>
      </a:lt1>
      <a:dk2>
        <a:srgbClr val="567783"/>
      </a:dk2>
      <a:lt2>
        <a:srgbClr val="82A0AA"/>
      </a:lt2>
      <a:accent1>
        <a:srgbClr val="223F4B"/>
      </a:accent1>
      <a:accent2>
        <a:srgbClr val="006487"/>
      </a:accent2>
      <a:accent3>
        <a:srgbClr val="DC6914"/>
      </a:accent3>
      <a:accent4>
        <a:srgbClr val="647D2D"/>
      </a:accent4>
      <a:accent5>
        <a:srgbClr val="E31F26"/>
      </a:accent5>
      <a:accent6>
        <a:srgbClr val="6E1E4B"/>
      </a:accent6>
      <a:hlink>
        <a:srgbClr val="000000"/>
      </a:hlink>
      <a:folHlink>
        <a:srgbClr val="000000"/>
      </a:folHlink>
    </a:clrScheme>
    <a:fontScheme name="ユーザー定義 1">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lumMod val="20000"/>
            <a:lumOff val="80000"/>
          </a:schemeClr>
        </a:solidFill>
        <a:ln w="9525" cmpd="sng">
          <a:solidFill>
            <a:schemeClr val="accent1"/>
          </a:solidFill>
        </a:ln>
      </a:spPr>
      <a:bodyPr rtlCol="0" anchor="ctr"/>
      <a:lstStyle>
        <a:defPPr algn="l">
          <a:defRPr sz="1200" dirty="0" smtClean="0">
            <a:solidFill>
              <a:schemeClr val="tx1"/>
            </a:solidFill>
            <a:latin typeface="+mn-ea"/>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I_ppt_color" id="{8714110F-2F40-4E20-B9EF-82653DE22CAC}" vid="{2E728569-002A-49DD-A6AB-1E30B9D445FA}"/>
    </a:ext>
  </a:extLst>
</a:theme>
</file>

<file path=ppt/theme/theme2.xml><?xml version="1.0" encoding="utf-8"?>
<a:theme xmlns:a="http://schemas.openxmlformats.org/drawingml/2006/main" name="3_MHI_ppt_color">
  <a:themeElements>
    <a:clrScheme name="mitsubishi_hic">
      <a:dk1>
        <a:sysClr val="windowText" lastClr="000000"/>
      </a:dk1>
      <a:lt1>
        <a:sysClr val="window" lastClr="FFFFFF"/>
      </a:lt1>
      <a:dk2>
        <a:srgbClr val="44546A"/>
      </a:dk2>
      <a:lt2>
        <a:srgbClr val="E7E6E6"/>
      </a:lt2>
      <a:accent1>
        <a:srgbClr val="063144"/>
      </a:accent1>
      <a:accent2>
        <a:srgbClr val="82A0AA"/>
      </a:accent2>
      <a:accent3>
        <a:srgbClr val="CDA11B"/>
      </a:accent3>
      <a:accent4>
        <a:srgbClr val="2B5831"/>
      </a:accent4>
      <a:accent5>
        <a:srgbClr val="E31F26"/>
      </a:accent5>
      <a:accent6>
        <a:srgbClr val="502D69"/>
      </a:accent6>
      <a:hlink>
        <a:srgbClr val="0563C1"/>
      </a:hlink>
      <a:folHlink>
        <a:srgbClr val="954F72"/>
      </a:folHlink>
    </a:clrScheme>
    <a:fontScheme name="ユーザー定義 1">
      <a:majorFont>
        <a:latin typeface="Meiryo UI"/>
        <a:ea typeface="Meiryo UI"/>
        <a:cs typeface=""/>
      </a:majorFont>
      <a:minorFont>
        <a:latin typeface="Meiryo UI"/>
        <a:ea typeface="Meiryo U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90000"/>
            <a:lumOff val="10000"/>
          </a:schemeClr>
        </a:solidFill>
        <a:ln>
          <a:noFill/>
        </a:ln>
      </a:spPr>
      <a:bodyPr rtlCol="0" anchor="ctr"/>
      <a:lstStyle>
        <a:defPPr algn="ctr">
          <a:defRPr kumimoji="1" sz="1600" b="1"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MHI_ppt_color" id="{8714110F-2F40-4E20-B9EF-82653DE22CAC}" vid="{2E728569-002A-49DD-A6AB-1E30B9D445F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9674434C8CD87942B621FE3F405220AB" ma:contentTypeVersion="18" ma:contentTypeDescription="新しいドキュメントを作成します。" ma:contentTypeScope="" ma:versionID="2579ad3b725bf88e1e7d97d794197cbd">
  <xsd:schema xmlns:xsd="http://www.w3.org/2001/XMLSchema" xmlns:xs="http://www.w3.org/2001/XMLSchema" xmlns:p="http://schemas.microsoft.com/office/2006/metadata/properties" xmlns:ns3="4be3366d-21a3-4603-8428-6e96dbf00bff" xmlns:ns4="f9940f77-d365-459b-bf39-a7ce20e2f4c1" targetNamespace="http://schemas.microsoft.com/office/2006/metadata/properties" ma:root="true" ma:fieldsID="36dfe823dcd705952f016c8dfdb38475" ns3:_="" ns4:_="">
    <xsd:import namespace="4be3366d-21a3-4603-8428-6e96dbf00bff"/>
    <xsd:import namespace="f9940f77-d365-459b-bf39-a7ce20e2f4c1"/>
    <xsd:element name="properties">
      <xsd:complexType>
        <xsd:sequence>
          <xsd:element name="documentManagement">
            <xsd:complexType>
              <xsd:all>
                <xsd:element ref="ns3:SharedWithUsers" minOccurs="0"/>
                <xsd:element ref="ns3:SharingHintHash" minOccurs="0"/>
                <xsd:element ref="ns3:SharedWithDetails" minOccurs="0"/>
                <xsd:element ref="ns4:MediaServiceMetadata" minOccurs="0"/>
                <xsd:element ref="ns4:MediaServiceFastMetadata" minOccurs="0"/>
                <xsd:element ref="ns4:MediaServiceDateTaken" minOccurs="0"/>
                <xsd:element ref="ns4:MediaServiceAutoTags" minOccurs="0"/>
                <xsd:element ref="ns4:MediaServiceLocation" minOccurs="0"/>
                <xsd:element ref="ns4:MediaServiceOCR" minOccurs="0"/>
                <xsd:element ref="ns4:MediaServiceEventHashCode" minOccurs="0"/>
                <xsd:element ref="ns4:MediaServiceGenerationTime" minOccurs="0"/>
                <xsd:element ref="ns4:MediaServiceAutoKeyPoints" minOccurs="0"/>
                <xsd:element ref="ns4:MediaServiceKeyPoints" minOccurs="0"/>
                <xsd:element ref="ns4:MediaLengthInSeconds" minOccurs="0"/>
                <xsd:element ref="ns4:MediaServiceSearchProperties" minOccurs="0"/>
                <xsd:element ref="ns4:_activity" minOccurs="0"/>
                <xsd:element ref="ns4:MediaServiceObjectDetectorVersion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e3366d-21a3-4603-8428-6e96dbf00bff" elementFormDefault="qualified">
    <xsd:import namespace="http://schemas.microsoft.com/office/2006/documentManagement/types"/>
    <xsd:import namespace="http://schemas.microsoft.com/office/infopath/2007/PartnerControls"/>
    <xsd:element name="SharedWithUsers" ma:index="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共有のヒントのハッシュ" ma:internalName="SharingHintHash" ma:readOnly="true">
      <xsd:simpleType>
        <xsd:restriction base="dms:Text"/>
      </xsd:simpleType>
    </xsd:element>
    <xsd:element name="SharedWithDetails" ma:index="10" nillable="true" ma:displayName="共有相手の詳細情報"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9940f77-d365-459b-bf39-a7ce20e2f4c1"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element name="MediaServiceLocation" ma:index="15" nillable="true" ma:displayName="MediaServiceLocation" ma:description="" ma:internalName="MediaServiceLocation"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f9940f77-d365-459b-bf39-a7ce20e2f4c1" xsi:nil="true"/>
  </documentManagement>
</p:properties>
</file>

<file path=customXml/itemProps1.xml><?xml version="1.0" encoding="utf-8"?>
<ds:datastoreItem xmlns:ds="http://schemas.openxmlformats.org/officeDocument/2006/customXml" ds:itemID="{95EEF13C-56DD-4EB2-8749-EF3B7450163F}">
  <ds:schemaRefs>
    <ds:schemaRef ds:uri="http://schemas.microsoft.com/sharepoint/v3/contenttype/forms"/>
  </ds:schemaRefs>
</ds:datastoreItem>
</file>

<file path=customXml/itemProps2.xml><?xml version="1.0" encoding="utf-8"?>
<ds:datastoreItem xmlns:ds="http://schemas.openxmlformats.org/officeDocument/2006/customXml" ds:itemID="{233AFEC4-F9FD-4611-B9EC-A58A56EE7F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e3366d-21a3-4603-8428-6e96dbf00bff"/>
    <ds:schemaRef ds:uri="f9940f77-d365-459b-bf39-a7ce20e2f4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51A80E4-DCF6-4CD4-809A-29EF4C67AE54}">
  <ds:schemaRefs>
    <ds:schemaRef ds:uri="http://purl.org/dc/terms/"/>
    <ds:schemaRef ds:uri="http://www.w3.org/XML/1998/namespace"/>
    <ds:schemaRef ds:uri="http://purl.org/dc/elements/1.1/"/>
    <ds:schemaRef ds:uri="http://schemas.openxmlformats.org/package/2006/metadata/core-properties"/>
    <ds:schemaRef ds:uri="http://schemas.microsoft.com/office/infopath/2007/PartnerControls"/>
    <ds:schemaRef ds:uri="http://purl.org/dc/dcmitype/"/>
    <ds:schemaRef ds:uri="http://schemas.microsoft.com/office/2006/documentManagement/types"/>
    <ds:schemaRef ds:uri="f9940f77-d365-459b-bf39-a7ce20e2f4c1"/>
    <ds:schemaRef ds:uri="4be3366d-21a3-4603-8428-6e96dbf00bff"/>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0</TotalTime>
  <Words>9744</Words>
  <Application>Microsoft Office PowerPoint</Application>
  <PresentationFormat>On-screen Show (4:3)</PresentationFormat>
  <Paragraphs>947</Paragraphs>
  <Slides>33</Slides>
  <Notes>14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33</vt:i4>
      </vt:variant>
    </vt:vector>
  </HeadingPairs>
  <TitlesOfParts>
    <vt:vector size="42" baseType="lpstr">
      <vt:lpstr>メイリオ</vt:lpstr>
      <vt:lpstr>メイリオ</vt:lpstr>
      <vt:lpstr>Meiryo UI</vt:lpstr>
      <vt:lpstr>游ゴシック</vt:lpstr>
      <vt:lpstr>Arial</vt:lpstr>
      <vt:lpstr>Calibri</vt:lpstr>
      <vt:lpstr>Wingdings</vt:lpstr>
      <vt:lpstr>MHI PPT 4:3_単独会社用</vt:lpstr>
      <vt:lpstr>3_MHI_ppt_color</vt:lpstr>
      <vt:lpstr>WPプロジェクト</vt:lpstr>
      <vt:lpstr>PowerPoint Presentation</vt:lpstr>
      <vt:lpstr>１．WPプロジェクトの全体像（振り返り）</vt:lpstr>
      <vt:lpstr>PowerPoint Presentation</vt:lpstr>
      <vt:lpstr>３．活動進捗サマリと本日の報告対象</vt:lpstr>
      <vt:lpstr>４．フェーズ２からの継続活動事項 　　４－１．顧客セグメントの再定義について</vt:lpstr>
      <vt:lpstr>４－１．顧客セグメンテーションの目的（振り返り）</vt:lpstr>
      <vt:lpstr>４－１．顧客ランクに応じた営業活動（案）</vt:lpstr>
      <vt:lpstr>PowerPoint Presentation</vt:lpstr>
      <vt:lpstr>４．フェーズ２からの継続活動事項 　　４－２．経営数値のダッシュボード構築について</vt:lpstr>
      <vt:lpstr>PowerPoint Presentation</vt:lpstr>
      <vt:lpstr>PowerPoint Presentation</vt:lpstr>
      <vt:lpstr>４．フェーズ２からの継続活動事項 　　　　４－３．見積作業の効率化について(簡略化TT,CATS+)</vt:lpstr>
      <vt:lpstr>PowerPoint Presentation</vt:lpstr>
      <vt:lpstr>PowerPoint Presentation</vt:lpstr>
      <vt:lpstr>５．フェーズ３の活動詳細 　  ５－１．見積・実行フォロ（金額・工程）業務の 　　　　　　整流化・効率化について</vt:lpstr>
      <vt:lpstr>PowerPoint Presentation</vt:lpstr>
      <vt:lpstr>PowerPoint Presentation</vt:lpstr>
      <vt:lpstr>PowerPoint Presentation</vt:lpstr>
      <vt:lpstr>５．フェーズ３の活動詳細 　　５－２．遂行（設計）業務の整流化・効率化について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５－１．業務整流化における前提</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WPプロジェクト</dc:title>
  <dc:creator/>
  <cp:lastModifiedBy/>
  <cp:revision>28</cp:revision>
  <dcterms:created xsi:type="dcterms:W3CDTF">2023-12-19T23:18:23Z</dcterms:created>
  <dcterms:modified xsi:type="dcterms:W3CDTF">2024-06-27T02:20:13Z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0x0101009674434C8CD87942B621FE3F405220AB</vt:lpwstr>
  </property>
</Properties>
</file>