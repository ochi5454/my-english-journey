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 id="2147483707" r:id="rId5"/>
    <p:sldMasterId id="2147483721" r:id="rId6"/>
    <p:sldMasterId id="2147483733" r:id="rId7"/>
  </p:sldMasterIdLst>
  <p:notesMasterIdLst>
    <p:notesMasterId r:id="rId33"/>
  </p:notesMasterIdLst>
  <p:handoutMasterIdLst>
    <p:handoutMasterId r:id="rId34"/>
  </p:handoutMasterIdLst>
  <p:sldIdLst>
    <p:sldId id="318" r:id="rId8"/>
    <p:sldId id="2147471546" r:id="rId9"/>
    <p:sldId id="292" r:id="rId10"/>
    <p:sldId id="2147471513" r:id="rId11"/>
    <p:sldId id="2147471490" r:id="rId12"/>
    <p:sldId id="2147471412" r:id="rId13"/>
    <p:sldId id="2147471447" r:id="rId14"/>
    <p:sldId id="2147471499" r:id="rId15"/>
    <p:sldId id="2147471500" r:id="rId16"/>
    <p:sldId id="2147471511" r:id="rId17"/>
    <p:sldId id="2147471493" r:id="rId18"/>
    <p:sldId id="2147471512" r:id="rId19"/>
    <p:sldId id="2147471544" r:id="rId20"/>
    <p:sldId id="2147471521" r:id="rId21"/>
    <p:sldId id="316" r:id="rId22"/>
    <p:sldId id="2147471514" r:id="rId23"/>
    <p:sldId id="2147471516" r:id="rId24"/>
    <p:sldId id="2147471517" r:id="rId25"/>
    <p:sldId id="2147471522" r:id="rId26"/>
    <p:sldId id="2147471524" r:id="rId27"/>
    <p:sldId id="2147471523" r:id="rId28"/>
    <p:sldId id="2147471525" r:id="rId29"/>
    <p:sldId id="2147471520" r:id="rId30"/>
    <p:sldId id="2147471545" r:id="rId31"/>
    <p:sldId id="262"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ドラフト" id="{3277C813-6659-4435-8437-D385372AFE3E}">
          <p14:sldIdLst>
            <p14:sldId id="318"/>
            <p14:sldId id="2147471546"/>
            <p14:sldId id="292"/>
            <p14:sldId id="2147471513"/>
            <p14:sldId id="2147471490"/>
            <p14:sldId id="2147471412"/>
            <p14:sldId id="2147471447"/>
            <p14:sldId id="2147471499"/>
            <p14:sldId id="2147471500"/>
            <p14:sldId id="2147471511"/>
            <p14:sldId id="2147471493"/>
            <p14:sldId id="2147471512"/>
            <p14:sldId id="2147471544"/>
            <p14:sldId id="2147471521"/>
            <p14:sldId id="316"/>
            <p14:sldId id="2147471514"/>
            <p14:sldId id="2147471516"/>
            <p14:sldId id="2147471517"/>
            <p14:sldId id="2147471522"/>
            <p14:sldId id="2147471524"/>
            <p14:sldId id="2147471523"/>
            <p14:sldId id="2147471525"/>
            <p14:sldId id="2147471520"/>
            <p14:sldId id="2147471545"/>
            <p14:sldId id="262"/>
          </p14:sldIdLst>
        </p14:section>
        <p14:section name="フォーマット" id="{103BF953-0378-4196-8993-FDEBCFE7F82F}">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CD2D3"/>
    <a:srgbClr val="EFF9FF"/>
    <a:srgbClr val="FFFFCC"/>
    <a:srgbClr val="CCCED0"/>
    <a:srgbClr val="000000"/>
    <a:srgbClr val="82A0AA"/>
    <a:srgbClr val="567783"/>
    <a:srgbClr val="223F4B"/>
    <a:srgbClr val="0064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D9BF31-6E75-40BD-BF60-D91D9062F00C}" v="2" dt="2023-05-30T02:23:59.451"/>
  </p1510:revLst>
</p1510:revInfo>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6"/>
  </p:normalViewPr>
  <p:slideViewPr>
    <p:cSldViewPr snapToGrid="0">
      <p:cViewPr varScale="1">
        <p:scale>
          <a:sx n="106" d="100"/>
          <a:sy n="106" d="100"/>
        </p:scale>
        <p:origin x="1800" y="168"/>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5/10/relationships/revisionInfo" Target="revisionInfo.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8676468301078838E-2"/>
          <c:y val="2.7889678526016672E-2"/>
          <c:w val="0.905653365019361"/>
          <c:h val="0.8911413228300552"/>
        </c:manualLayout>
      </c:layout>
      <c:barChart>
        <c:barDir val="col"/>
        <c:grouping val="stacked"/>
        <c:varyColors val="0"/>
        <c:ser>
          <c:idx val="9"/>
          <c:order val="0"/>
          <c:tx>
            <c:strRef>
              <c:f>事計F資料用!$C$3</c:f>
              <c:strCache>
                <c:ptCount val="1"/>
                <c:pt idx="0">
                  <c:v>IGCC LD</c:v>
                </c:pt>
              </c:strCache>
            </c:strRef>
          </c:tx>
          <c:spPr>
            <a:solidFill>
              <a:schemeClr val="bg1">
                <a:lumMod val="65000"/>
                <a:alpha val="20000"/>
              </a:schemeClr>
            </a:solidFill>
            <a:ln>
              <a:solidFill>
                <a:schemeClr val="bg1">
                  <a:lumMod val="65000"/>
                </a:schemeClr>
              </a:solidFill>
            </a:ln>
            <a:effectLst/>
          </c:spPr>
          <c:invertIfNegative val="0"/>
          <c:dLbls>
            <c:dLbl>
              <c:idx val="3"/>
              <c:layout>
                <c:manualLayout>
                  <c:x val="0"/>
                  <c:y val="2.81643538631514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2C0-4454-B680-DE6B6E88513C}"/>
                </c:ext>
              </c:extLst>
            </c:dLbl>
            <c:dLbl>
              <c:idx val="6"/>
              <c:layout>
                <c:manualLayout>
                  <c:x val="-9.6450152347310565E-17"/>
                  <c:y val="-1.0422617489870604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2C0-4454-B680-DE6B6E88513C}"/>
                </c:ext>
              </c:extLst>
            </c:dLbl>
            <c:numFmt formatCode="&quot;▲&quot;###" sourceLinked="0"/>
            <c:spPr>
              <a:noFill/>
              <a:ln>
                <a:noFill/>
              </a:ln>
              <a:effectLst/>
            </c:spPr>
            <c:txPr>
              <a:bodyPr rot="0" spcFirstLastPara="1" vertOverflow="ellipsis" vert="horz" wrap="square" lIns="38100" tIns="19050" rIns="38100" bIns="19050" anchor="ctr" anchorCtr="1">
                <a:spAutoFit/>
              </a:bodyPr>
              <a:lstStyle/>
              <a:p>
                <a:pPr>
                  <a:defRPr lang="ja-JP" sz="90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事計F資料用!$D$3:$T$3</c:f>
              <c:numCache>
                <c:formatCode>General</c:formatCode>
                <c:ptCount val="17"/>
                <c:pt idx="3" formatCode="0">
                  <c:v>191.4</c:v>
                </c:pt>
                <c:pt idx="4" formatCode="0">
                  <c:v>161.19999999999999</c:v>
                </c:pt>
                <c:pt idx="6" formatCode="0">
                  <c:v>77</c:v>
                </c:pt>
              </c:numCache>
            </c:numRef>
          </c:val>
          <c:extLst>
            <c:ext xmlns:c16="http://schemas.microsoft.com/office/drawing/2014/chart" uri="{C3380CC4-5D6E-409C-BE32-E72D297353CC}">
              <c16:uniqueId val="{00000002-32C0-4454-B680-DE6B6E88513C}"/>
            </c:ext>
          </c:extLst>
        </c:ser>
        <c:ser>
          <c:idx val="0"/>
          <c:order val="1"/>
          <c:tx>
            <c:strRef>
              <c:f>事計F資料用!$C$4</c:f>
              <c:strCache>
                <c:ptCount val="1"/>
                <c:pt idx="0">
                  <c:v>国内事業用</c:v>
                </c:pt>
              </c:strCache>
            </c:strRef>
          </c:tx>
          <c:spPr>
            <a:solidFill>
              <a:srgbClr val="006487">
                <a:alpha val="20000"/>
              </a:srgbClr>
            </a:solidFill>
            <a:ln w="3175">
              <a:solidFill>
                <a:schemeClr val="accent5">
                  <a:lumMod val="60000"/>
                </a:schemeClr>
              </a:solidFill>
            </a:ln>
            <a:effectLst/>
          </c:spPr>
          <c:invertIfNegative val="0"/>
          <c:dPt>
            <c:idx val="0"/>
            <c:invertIfNegative val="0"/>
            <c:bubble3D val="0"/>
            <c:extLst>
              <c:ext xmlns:c16="http://schemas.microsoft.com/office/drawing/2014/chart" uri="{C3380CC4-5D6E-409C-BE32-E72D297353CC}">
                <c16:uniqueId val="{00000003-32C0-4454-B680-DE6B6E88513C}"/>
              </c:ext>
            </c:extLst>
          </c:dPt>
          <c:dPt>
            <c:idx val="1"/>
            <c:invertIfNegative val="0"/>
            <c:bubble3D val="0"/>
            <c:extLst>
              <c:ext xmlns:c16="http://schemas.microsoft.com/office/drawing/2014/chart" uri="{C3380CC4-5D6E-409C-BE32-E72D297353CC}">
                <c16:uniqueId val="{00000004-32C0-4454-B680-DE6B6E88513C}"/>
              </c:ext>
            </c:extLst>
          </c:dPt>
          <c:dPt>
            <c:idx val="2"/>
            <c:invertIfNegative val="0"/>
            <c:bubble3D val="0"/>
            <c:extLst>
              <c:ext xmlns:c16="http://schemas.microsoft.com/office/drawing/2014/chart" uri="{C3380CC4-5D6E-409C-BE32-E72D297353CC}">
                <c16:uniqueId val="{00000005-32C0-4454-B680-DE6B6E88513C}"/>
              </c:ext>
            </c:extLst>
          </c:dPt>
          <c:dPt>
            <c:idx val="3"/>
            <c:invertIfNegative val="0"/>
            <c:bubble3D val="0"/>
            <c:extLst>
              <c:ext xmlns:c16="http://schemas.microsoft.com/office/drawing/2014/chart" uri="{C3380CC4-5D6E-409C-BE32-E72D297353CC}">
                <c16:uniqueId val="{00000006-32C0-4454-B680-DE6B6E88513C}"/>
              </c:ext>
            </c:extLst>
          </c:dPt>
          <c:dPt>
            <c:idx val="4"/>
            <c:invertIfNegative val="0"/>
            <c:bubble3D val="0"/>
            <c:extLst>
              <c:ext xmlns:c16="http://schemas.microsoft.com/office/drawing/2014/chart" uri="{C3380CC4-5D6E-409C-BE32-E72D297353CC}">
                <c16:uniqueId val="{00000007-32C0-4454-B680-DE6B6E88513C}"/>
              </c:ext>
            </c:extLst>
          </c:dPt>
          <c:dLbls>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事計F資料用!$D$4:$T$4</c:f>
              <c:numCache>
                <c:formatCode>#,##0_);[Red]\(#,##0\)</c:formatCode>
                <c:ptCount val="17"/>
                <c:pt idx="0">
                  <c:v>760.13664534000009</c:v>
                </c:pt>
                <c:pt idx="1">
                  <c:v>918.72227874000009</c:v>
                </c:pt>
                <c:pt idx="2">
                  <c:v>870.53443715000003</c:v>
                </c:pt>
                <c:pt idx="3">
                  <c:v>381.612664</c:v>
                </c:pt>
                <c:pt idx="4">
                  <c:v>441.39999999999992</c:v>
                </c:pt>
                <c:pt idx="6">
                  <c:v>488.72</c:v>
                </c:pt>
                <c:pt idx="8">
                  <c:v>473.75200000000007</c:v>
                </c:pt>
                <c:pt idx="10">
                  <c:v>414.13</c:v>
                </c:pt>
                <c:pt idx="12">
                  <c:v>490.5</c:v>
                </c:pt>
                <c:pt idx="14">
                  <c:v>411.71</c:v>
                </c:pt>
                <c:pt idx="16">
                  <c:v>351.48000000000008</c:v>
                </c:pt>
              </c:numCache>
            </c:numRef>
          </c:val>
          <c:extLst>
            <c:ext xmlns:c16="http://schemas.microsoft.com/office/drawing/2014/chart" uri="{C3380CC4-5D6E-409C-BE32-E72D297353CC}">
              <c16:uniqueId val="{00000008-32C0-4454-B680-DE6B6E88513C}"/>
            </c:ext>
          </c:extLst>
        </c:ser>
        <c:ser>
          <c:idx val="1"/>
          <c:order val="2"/>
          <c:tx>
            <c:strRef>
              <c:f>事計F資料用!$C$5</c:f>
              <c:strCache>
                <c:ptCount val="1"/>
                <c:pt idx="0">
                  <c:v>国内産業用</c:v>
                </c:pt>
              </c:strCache>
            </c:strRef>
          </c:tx>
          <c:spPr>
            <a:solidFill>
              <a:srgbClr val="008EC0">
                <a:alpha val="20000"/>
              </a:srgbClr>
            </a:solidFill>
            <a:ln w="3175">
              <a:solidFill>
                <a:srgbClr val="006487"/>
              </a:solidFill>
            </a:ln>
            <a:effectLst/>
          </c:spPr>
          <c:invertIfNegative val="0"/>
          <c:dPt>
            <c:idx val="0"/>
            <c:invertIfNegative val="0"/>
            <c:bubble3D val="0"/>
            <c:extLst>
              <c:ext xmlns:c16="http://schemas.microsoft.com/office/drawing/2014/chart" uri="{C3380CC4-5D6E-409C-BE32-E72D297353CC}">
                <c16:uniqueId val="{00000009-32C0-4454-B680-DE6B6E88513C}"/>
              </c:ext>
            </c:extLst>
          </c:dPt>
          <c:dPt>
            <c:idx val="1"/>
            <c:invertIfNegative val="0"/>
            <c:bubble3D val="0"/>
            <c:extLst>
              <c:ext xmlns:c16="http://schemas.microsoft.com/office/drawing/2014/chart" uri="{C3380CC4-5D6E-409C-BE32-E72D297353CC}">
                <c16:uniqueId val="{0000000A-32C0-4454-B680-DE6B6E88513C}"/>
              </c:ext>
            </c:extLst>
          </c:dPt>
          <c:dPt>
            <c:idx val="2"/>
            <c:invertIfNegative val="0"/>
            <c:bubble3D val="0"/>
            <c:extLst>
              <c:ext xmlns:c16="http://schemas.microsoft.com/office/drawing/2014/chart" uri="{C3380CC4-5D6E-409C-BE32-E72D297353CC}">
                <c16:uniqueId val="{0000000B-32C0-4454-B680-DE6B6E88513C}"/>
              </c:ext>
            </c:extLst>
          </c:dPt>
          <c:dPt>
            <c:idx val="3"/>
            <c:invertIfNegative val="0"/>
            <c:bubble3D val="0"/>
            <c:extLst>
              <c:ext xmlns:c16="http://schemas.microsoft.com/office/drawing/2014/chart" uri="{C3380CC4-5D6E-409C-BE32-E72D297353CC}">
                <c16:uniqueId val="{0000000C-32C0-4454-B680-DE6B6E88513C}"/>
              </c:ext>
            </c:extLst>
          </c:dPt>
          <c:dPt>
            <c:idx val="4"/>
            <c:invertIfNegative val="0"/>
            <c:bubble3D val="0"/>
            <c:extLst>
              <c:ext xmlns:c16="http://schemas.microsoft.com/office/drawing/2014/chart" uri="{C3380CC4-5D6E-409C-BE32-E72D297353CC}">
                <c16:uniqueId val="{0000000D-32C0-4454-B680-DE6B6E88513C}"/>
              </c:ext>
            </c:extLst>
          </c:dPt>
          <c:dLbls>
            <c:dLbl>
              <c:idx val="1"/>
              <c:layout>
                <c:manualLayout>
                  <c:x val="-2.4112538086827641E-17"/>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2C0-4454-B680-DE6B6E88513C}"/>
                </c:ext>
              </c:extLst>
            </c:dLbl>
            <c:dLbl>
              <c:idx val="2"/>
              <c:layout>
                <c:manualLayout>
                  <c:x val="0"/>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2C0-4454-B680-DE6B6E88513C}"/>
                </c:ext>
              </c:extLst>
            </c:dLbl>
            <c:dLbl>
              <c:idx val="3"/>
              <c:layout>
                <c:manualLayout>
                  <c:x val="-1.3152445438322849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2C0-4454-B680-DE6B6E88513C}"/>
                </c:ext>
              </c:extLst>
            </c:dLbl>
            <c:dLbl>
              <c:idx val="4"/>
              <c:layout>
                <c:manualLayout>
                  <c:x val="0"/>
                  <c:y val="-1.0422617489870604E-16"/>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2C0-4454-B680-DE6B6E88513C}"/>
                </c:ext>
              </c:extLst>
            </c:dLbl>
            <c:dLbl>
              <c:idx val="6"/>
              <c:layout>
                <c:manualLayout>
                  <c:x val="-1.3133353381517918E-3"/>
                  <c:y val="0"/>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2C0-4454-B680-DE6B6E88513C}"/>
                </c:ext>
              </c:extLst>
            </c:dLbl>
            <c:dLbl>
              <c:idx val="8"/>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B-F9EC-4CCB-9E3C-D45B02D774E7}"/>
                </c:ext>
              </c:extLst>
            </c:dLbl>
            <c:dLbl>
              <c:idx val="10"/>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C-F9EC-4CCB-9E3C-D45B02D774E7}"/>
                </c:ext>
              </c:extLst>
            </c:dLbl>
            <c:dLbl>
              <c:idx val="12"/>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D-F9EC-4CCB-9E3C-D45B02D774E7}"/>
                </c:ext>
              </c:extLst>
            </c:dLbl>
            <c:dLbl>
              <c:idx val="14"/>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E-F9EC-4CCB-9E3C-D45B02D774E7}"/>
                </c:ext>
              </c:extLst>
            </c:dLbl>
            <c:dLbl>
              <c:idx val="1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F-F9EC-4CCB-9E3C-D45B02D774E7}"/>
                </c:ext>
              </c:extLst>
            </c:dLbl>
            <c:spPr>
              <a:noFill/>
              <a:ln>
                <a:noFill/>
              </a:ln>
              <a:effectLst/>
            </c:spPr>
            <c:txPr>
              <a:bodyPr rot="0" spcFirstLastPara="1" vertOverflow="ellipsis" vert="horz" wrap="square" anchor="ctr" anchorCtr="1"/>
              <a:lstStyle/>
              <a:p>
                <a:pPr>
                  <a:defRPr lang="ja-JP" sz="105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事計F資料用!$D$5:$T$5</c:f>
              <c:numCache>
                <c:formatCode>#,##0_);[Red]\(#,##0\)</c:formatCode>
                <c:ptCount val="17"/>
                <c:pt idx="0">
                  <c:v>216.74656671000002</c:v>
                </c:pt>
                <c:pt idx="1">
                  <c:v>183.34749435000001</c:v>
                </c:pt>
                <c:pt idx="2">
                  <c:v>141.85248168000001</c:v>
                </c:pt>
                <c:pt idx="3">
                  <c:v>144.92112</c:v>
                </c:pt>
                <c:pt idx="4">
                  <c:v>131.19999999999999</c:v>
                </c:pt>
                <c:pt idx="6">
                  <c:v>120.38</c:v>
                </c:pt>
                <c:pt idx="8">
                  <c:v>109.94</c:v>
                </c:pt>
                <c:pt idx="10">
                  <c:v>130.28</c:v>
                </c:pt>
                <c:pt idx="12">
                  <c:v>130.28</c:v>
                </c:pt>
                <c:pt idx="14">
                  <c:v>130.28</c:v>
                </c:pt>
                <c:pt idx="16">
                  <c:v>129.97999999999999</c:v>
                </c:pt>
              </c:numCache>
            </c:numRef>
          </c:val>
          <c:extLst>
            <c:ext xmlns:c16="http://schemas.microsoft.com/office/drawing/2014/chart" uri="{C3380CC4-5D6E-409C-BE32-E72D297353CC}">
              <c16:uniqueId val="{0000000F-32C0-4454-B680-DE6B6E88513C}"/>
            </c:ext>
          </c:extLst>
        </c:ser>
        <c:ser>
          <c:idx val="2"/>
          <c:order val="3"/>
          <c:tx>
            <c:strRef>
              <c:f>事計F資料用!$C$6</c:f>
              <c:strCache>
                <c:ptCount val="1"/>
                <c:pt idx="0">
                  <c:v>海外事業用</c:v>
                </c:pt>
              </c:strCache>
            </c:strRef>
          </c:tx>
          <c:spPr>
            <a:solidFill>
              <a:srgbClr val="01BCFF">
                <a:alpha val="20000"/>
              </a:srgbClr>
            </a:solidFill>
            <a:ln w="3175">
              <a:solidFill>
                <a:srgbClr val="006487"/>
              </a:solidFill>
            </a:ln>
            <a:effectLst/>
          </c:spPr>
          <c:invertIfNegative val="0"/>
          <c:dPt>
            <c:idx val="0"/>
            <c:invertIfNegative val="0"/>
            <c:bubble3D val="0"/>
            <c:extLst>
              <c:ext xmlns:c16="http://schemas.microsoft.com/office/drawing/2014/chart" uri="{C3380CC4-5D6E-409C-BE32-E72D297353CC}">
                <c16:uniqueId val="{00000010-32C0-4454-B680-DE6B6E88513C}"/>
              </c:ext>
            </c:extLst>
          </c:dPt>
          <c:dPt>
            <c:idx val="1"/>
            <c:invertIfNegative val="0"/>
            <c:bubble3D val="0"/>
            <c:extLst>
              <c:ext xmlns:c16="http://schemas.microsoft.com/office/drawing/2014/chart" uri="{C3380CC4-5D6E-409C-BE32-E72D297353CC}">
                <c16:uniqueId val="{00000011-32C0-4454-B680-DE6B6E88513C}"/>
              </c:ext>
            </c:extLst>
          </c:dPt>
          <c:dPt>
            <c:idx val="2"/>
            <c:invertIfNegative val="0"/>
            <c:bubble3D val="0"/>
            <c:extLst>
              <c:ext xmlns:c16="http://schemas.microsoft.com/office/drawing/2014/chart" uri="{C3380CC4-5D6E-409C-BE32-E72D297353CC}">
                <c16:uniqueId val="{00000012-32C0-4454-B680-DE6B6E88513C}"/>
              </c:ext>
            </c:extLst>
          </c:dPt>
          <c:dPt>
            <c:idx val="3"/>
            <c:invertIfNegative val="0"/>
            <c:bubble3D val="0"/>
            <c:extLst>
              <c:ext xmlns:c16="http://schemas.microsoft.com/office/drawing/2014/chart" uri="{C3380CC4-5D6E-409C-BE32-E72D297353CC}">
                <c16:uniqueId val="{00000013-32C0-4454-B680-DE6B6E88513C}"/>
              </c:ext>
            </c:extLst>
          </c:dPt>
          <c:dPt>
            <c:idx val="4"/>
            <c:invertIfNegative val="0"/>
            <c:bubble3D val="0"/>
            <c:extLst>
              <c:ext xmlns:c16="http://schemas.microsoft.com/office/drawing/2014/chart" uri="{C3380CC4-5D6E-409C-BE32-E72D297353CC}">
                <c16:uniqueId val="{00000014-32C0-4454-B680-DE6B6E88513C}"/>
              </c:ext>
            </c:extLst>
          </c:dPt>
          <c:dLbls>
            <c:dLbl>
              <c:idx val="3"/>
              <c:layout>
                <c:manualLayout>
                  <c:x val="0"/>
                  <c:y val="2.842564879864702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32C0-4454-B680-DE6B6E88513C}"/>
                </c:ext>
              </c:extLst>
            </c:dLbl>
            <c:dLbl>
              <c:idx val="4"/>
              <c:layout>
                <c:manualLayout>
                  <c:x val="1.3152445438322849E-3"/>
                  <c:y val="-1.0422617489870604E-16"/>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32C0-4454-B680-DE6B6E88513C}"/>
                </c:ext>
              </c:extLst>
            </c:dLbl>
            <c:dLbl>
              <c:idx val="6"/>
              <c:layout>
                <c:manualLayout>
                  <c:x val="0"/>
                  <c:y val="1.037472392424283E-16"/>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2C0-4454-B680-DE6B6E88513C}"/>
                </c:ext>
              </c:extLst>
            </c:dLbl>
            <c:dLbl>
              <c:idx val="8"/>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0-F9EC-4CCB-9E3C-D45B02D774E7}"/>
                </c:ext>
              </c:extLst>
            </c:dLbl>
            <c:dLbl>
              <c:idx val="10"/>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1-F9EC-4CCB-9E3C-D45B02D774E7}"/>
                </c:ext>
              </c:extLst>
            </c:dLbl>
            <c:dLbl>
              <c:idx val="12"/>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2-F9EC-4CCB-9E3C-D45B02D774E7}"/>
                </c:ext>
              </c:extLst>
            </c:dLbl>
            <c:dLbl>
              <c:idx val="14"/>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3-F9EC-4CCB-9E3C-D45B02D774E7}"/>
                </c:ext>
              </c:extLst>
            </c:dLbl>
            <c:dLbl>
              <c:idx val="1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9-F9EC-4CCB-9E3C-D45B02D774E7}"/>
                </c:ext>
              </c:extLst>
            </c:dLbl>
            <c:spPr>
              <a:noFill/>
              <a:ln>
                <a:noFill/>
              </a:ln>
              <a:effectLst/>
            </c:spPr>
            <c:txPr>
              <a:bodyPr rot="0" spcFirstLastPara="1" vertOverflow="ellipsis" vert="horz" wrap="square" anchor="ctr" anchorCtr="1"/>
              <a:lstStyle/>
              <a:p>
                <a:pPr>
                  <a:defRPr lang="ja-JP" sz="105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事計F資料用!$D$6:$T$6</c:f>
              <c:numCache>
                <c:formatCode>#,##0_);[Red]\(#,##0\)</c:formatCode>
                <c:ptCount val="17"/>
                <c:pt idx="0">
                  <c:v>217.47828594999999</c:v>
                </c:pt>
                <c:pt idx="1">
                  <c:v>239.3473181</c:v>
                </c:pt>
                <c:pt idx="2">
                  <c:v>180.60154877000002</c:v>
                </c:pt>
                <c:pt idx="3">
                  <c:v>203.677865</c:v>
                </c:pt>
                <c:pt idx="4">
                  <c:v>409.1</c:v>
                </c:pt>
                <c:pt idx="6">
                  <c:v>234.49</c:v>
                </c:pt>
                <c:pt idx="8">
                  <c:v>290.26</c:v>
                </c:pt>
                <c:pt idx="10">
                  <c:v>265.01</c:v>
                </c:pt>
                <c:pt idx="12">
                  <c:v>249.60999999999999</c:v>
                </c:pt>
                <c:pt idx="14">
                  <c:v>244.81999999999996</c:v>
                </c:pt>
                <c:pt idx="16">
                  <c:v>270.49</c:v>
                </c:pt>
              </c:numCache>
            </c:numRef>
          </c:val>
          <c:extLst>
            <c:ext xmlns:c16="http://schemas.microsoft.com/office/drawing/2014/chart" uri="{C3380CC4-5D6E-409C-BE32-E72D297353CC}">
              <c16:uniqueId val="{00000016-32C0-4454-B680-DE6B6E88513C}"/>
            </c:ext>
          </c:extLst>
        </c:ser>
        <c:ser>
          <c:idx val="3"/>
          <c:order val="4"/>
          <c:tx>
            <c:strRef>
              <c:f>事計F資料用!$C$7</c:f>
              <c:strCache>
                <c:ptCount val="1"/>
                <c:pt idx="0">
                  <c:v>海外産業用</c:v>
                </c:pt>
              </c:strCache>
            </c:strRef>
          </c:tx>
          <c:spPr>
            <a:solidFill>
              <a:srgbClr val="81DEFF">
                <a:alpha val="80000"/>
              </a:srgbClr>
            </a:solidFill>
            <a:ln w="3175">
              <a:solidFill>
                <a:srgbClr val="006487"/>
              </a:solid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事計F資料用!$D$7:$T$7</c:f>
              <c:numCache>
                <c:formatCode>#,##0_);[Red]\(#,##0\)</c:formatCode>
                <c:ptCount val="17"/>
                <c:pt idx="0">
                  <c:v>25.161256980000001</c:v>
                </c:pt>
                <c:pt idx="1">
                  <c:v>20.882776290000002</c:v>
                </c:pt>
                <c:pt idx="2">
                  <c:v>22.913981440000001</c:v>
                </c:pt>
                <c:pt idx="3">
                  <c:v>10.026052</c:v>
                </c:pt>
                <c:pt idx="4">
                  <c:v>10.100000000000001</c:v>
                </c:pt>
                <c:pt idx="6">
                  <c:v>10</c:v>
                </c:pt>
                <c:pt idx="8">
                  <c:v>10</c:v>
                </c:pt>
                <c:pt idx="10">
                  <c:v>10</c:v>
                </c:pt>
                <c:pt idx="12">
                  <c:v>10</c:v>
                </c:pt>
                <c:pt idx="14">
                  <c:v>10</c:v>
                </c:pt>
                <c:pt idx="16">
                  <c:v>10</c:v>
                </c:pt>
              </c:numCache>
            </c:numRef>
          </c:val>
          <c:extLst>
            <c:ext xmlns:c16="http://schemas.microsoft.com/office/drawing/2014/chart" uri="{C3380CC4-5D6E-409C-BE32-E72D297353CC}">
              <c16:uniqueId val="{00000017-32C0-4454-B680-DE6B6E88513C}"/>
            </c:ext>
          </c:extLst>
        </c:ser>
        <c:ser>
          <c:idx val="4"/>
          <c:order val="5"/>
          <c:tx>
            <c:strRef>
              <c:f>事計F資料用!$C$8</c:f>
              <c:strCache>
                <c:ptCount val="1"/>
                <c:pt idx="0">
                  <c:v>国内G会社</c:v>
                </c:pt>
              </c:strCache>
            </c:strRef>
          </c:tx>
          <c:spPr>
            <a:solidFill>
              <a:srgbClr val="CDF2FF">
                <a:alpha val="20000"/>
              </a:srgbClr>
            </a:solidFill>
            <a:ln w="3175">
              <a:solidFill>
                <a:srgbClr val="01BCFF"/>
              </a:solidFill>
            </a:ln>
            <a:effectLst/>
          </c:spPr>
          <c:invertIfNegative val="0"/>
          <c:dPt>
            <c:idx val="0"/>
            <c:invertIfNegative val="0"/>
            <c:bubble3D val="0"/>
            <c:extLst>
              <c:ext xmlns:c16="http://schemas.microsoft.com/office/drawing/2014/chart" uri="{C3380CC4-5D6E-409C-BE32-E72D297353CC}">
                <c16:uniqueId val="{00000018-32C0-4454-B680-DE6B6E88513C}"/>
              </c:ext>
            </c:extLst>
          </c:dPt>
          <c:dPt>
            <c:idx val="1"/>
            <c:invertIfNegative val="0"/>
            <c:bubble3D val="0"/>
            <c:extLst>
              <c:ext xmlns:c16="http://schemas.microsoft.com/office/drawing/2014/chart" uri="{C3380CC4-5D6E-409C-BE32-E72D297353CC}">
                <c16:uniqueId val="{00000019-32C0-4454-B680-DE6B6E88513C}"/>
              </c:ext>
            </c:extLst>
          </c:dPt>
          <c:dPt>
            <c:idx val="2"/>
            <c:invertIfNegative val="0"/>
            <c:bubble3D val="0"/>
            <c:extLst>
              <c:ext xmlns:c16="http://schemas.microsoft.com/office/drawing/2014/chart" uri="{C3380CC4-5D6E-409C-BE32-E72D297353CC}">
                <c16:uniqueId val="{0000001A-32C0-4454-B680-DE6B6E88513C}"/>
              </c:ext>
            </c:extLst>
          </c:dPt>
          <c:dPt>
            <c:idx val="3"/>
            <c:invertIfNegative val="0"/>
            <c:bubble3D val="0"/>
            <c:extLst>
              <c:ext xmlns:c16="http://schemas.microsoft.com/office/drawing/2014/chart" uri="{C3380CC4-5D6E-409C-BE32-E72D297353CC}">
                <c16:uniqueId val="{0000001B-32C0-4454-B680-DE6B6E88513C}"/>
              </c:ext>
            </c:extLst>
          </c:dPt>
          <c:dPt>
            <c:idx val="4"/>
            <c:invertIfNegative val="0"/>
            <c:bubble3D val="0"/>
            <c:extLst>
              <c:ext xmlns:c16="http://schemas.microsoft.com/office/drawing/2014/chart" uri="{C3380CC4-5D6E-409C-BE32-E72D297353CC}">
                <c16:uniqueId val="{0000001C-32C0-4454-B680-DE6B6E88513C}"/>
              </c:ext>
            </c:extLst>
          </c:dPt>
          <c:dLbls>
            <c:dLbl>
              <c:idx val="0"/>
              <c:layout>
                <c:manualLayout>
                  <c:x val="-1.3096793554315085E-3"/>
                  <c:y val="-2.8164353863152432E-3"/>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32C0-4454-B680-DE6B6E88513C}"/>
                </c:ext>
              </c:extLst>
            </c:dLbl>
            <c:dLbl>
              <c:idx val="1"/>
              <c:layout>
                <c:manualLayout>
                  <c:x val="-2.4010510811441197E-17"/>
                  <c:y val="2.6168454770487128E-5"/>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32C0-4454-B680-DE6B6E88513C}"/>
                </c:ext>
              </c:extLst>
            </c:dLbl>
            <c:dLbl>
              <c:idx val="2"/>
              <c:layout>
                <c:manualLayout>
                  <c:x val="0"/>
                  <c:y val="-2.8164353863152432E-3"/>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32C0-4454-B680-DE6B6E88513C}"/>
                </c:ext>
              </c:extLst>
            </c:dLbl>
            <c:dLbl>
              <c:idx val="3"/>
              <c:layout>
                <c:manualLayout>
                  <c:x val="1.3096793554315085E-3"/>
                  <c:y val="2.6168454770383861E-5"/>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32C0-4454-B680-DE6B6E88513C}"/>
                </c:ext>
              </c:extLst>
            </c:dLbl>
            <c:dLbl>
              <c:idx val="4"/>
              <c:layout>
                <c:manualLayout>
                  <c:x val="1.8974881999952564E-5"/>
                  <c:y val="3.3386956488956248E-3"/>
                </c:manualLayout>
              </c:layout>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32C0-4454-B680-DE6B6E88513C}"/>
                </c:ext>
              </c:extLst>
            </c:dLbl>
            <c:dLbl>
              <c:idx val="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8-F9EC-4CCB-9E3C-D45B02D774E7}"/>
                </c:ext>
              </c:extLst>
            </c:dLbl>
            <c:dLbl>
              <c:idx val="8"/>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4-F9EC-4CCB-9E3C-D45B02D774E7}"/>
                </c:ext>
              </c:extLst>
            </c:dLbl>
            <c:dLbl>
              <c:idx val="10"/>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5-F9EC-4CCB-9E3C-D45B02D774E7}"/>
                </c:ext>
              </c:extLst>
            </c:dLbl>
            <c:dLbl>
              <c:idx val="12"/>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6-F9EC-4CCB-9E3C-D45B02D774E7}"/>
                </c:ext>
              </c:extLst>
            </c:dLbl>
            <c:dLbl>
              <c:idx val="14"/>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7-F9EC-4CCB-9E3C-D45B02D774E7}"/>
                </c:ext>
              </c:extLst>
            </c:dLbl>
            <c:dLbl>
              <c:idx val="1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8-F9EC-4CCB-9E3C-D45B02D774E7}"/>
                </c:ext>
              </c:extLst>
            </c:dLbl>
            <c:spPr>
              <a:noFill/>
              <a:ln>
                <a:noFill/>
              </a:ln>
              <a:effectLst/>
            </c:spPr>
            <c:txPr>
              <a:bodyPr rot="0" spcFirstLastPara="1" vertOverflow="ellipsis" vert="horz" wrap="square" anchor="ctr" anchorCtr="1"/>
              <a:lstStyle/>
              <a:p>
                <a:pPr>
                  <a:defRPr lang="ja-JP" sz="105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事計F資料用!$D$8:$T$8</c:f>
              <c:numCache>
                <c:formatCode>#,##0_);[Red]\(#,##0\)</c:formatCode>
                <c:ptCount val="17"/>
                <c:pt idx="0">
                  <c:v>245</c:v>
                </c:pt>
                <c:pt idx="1">
                  <c:v>271</c:v>
                </c:pt>
                <c:pt idx="2">
                  <c:v>262</c:v>
                </c:pt>
                <c:pt idx="3">
                  <c:v>198</c:v>
                </c:pt>
                <c:pt idx="4">
                  <c:v>305</c:v>
                </c:pt>
                <c:pt idx="6">
                  <c:v>305.13</c:v>
                </c:pt>
                <c:pt idx="8">
                  <c:v>270.13</c:v>
                </c:pt>
                <c:pt idx="10">
                  <c:v>300.13</c:v>
                </c:pt>
                <c:pt idx="12">
                  <c:v>290.13</c:v>
                </c:pt>
                <c:pt idx="14">
                  <c:v>290.13</c:v>
                </c:pt>
                <c:pt idx="16">
                  <c:v>280.13</c:v>
                </c:pt>
              </c:numCache>
            </c:numRef>
          </c:val>
          <c:extLst>
            <c:ext xmlns:c16="http://schemas.microsoft.com/office/drawing/2014/chart" uri="{C3380CC4-5D6E-409C-BE32-E72D297353CC}">
              <c16:uniqueId val="{0000001D-32C0-4454-B680-DE6B6E88513C}"/>
            </c:ext>
          </c:extLst>
        </c:ser>
        <c:ser>
          <c:idx val="5"/>
          <c:order val="6"/>
          <c:tx>
            <c:strRef>
              <c:f>事計F資料用!$C$9</c:f>
              <c:strCache>
                <c:ptCount val="1"/>
                <c:pt idx="0">
                  <c:v>海外G会社</c:v>
                </c:pt>
              </c:strCache>
            </c:strRef>
          </c:tx>
          <c:spPr>
            <a:solidFill>
              <a:schemeClr val="accent1">
                <a:lumMod val="40000"/>
                <a:lumOff val="60000"/>
                <a:alpha val="20000"/>
              </a:schemeClr>
            </a:solidFill>
            <a:ln w="3175">
              <a:solidFill>
                <a:srgbClr val="01BCFF"/>
              </a:solidFill>
            </a:ln>
            <a:effectLst/>
          </c:spPr>
          <c:invertIfNegative val="0"/>
          <c:dPt>
            <c:idx val="0"/>
            <c:invertIfNegative val="0"/>
            <c:bubble3D val="0"/>
            <c:extLst>
              <c:ext xmlns:c16="http://schemas.microsoft.com/office/drawing/2014/chart" uri="{C3380CC4-5D6E-409C-BE32-E72D297353CC}">
                <c16:uniqueId val="{0000001E-32C0-4454-B680-DE6B6E88513C}"/>
              </c:ext>
            </c:extLst>
          </c:dPt>
          <c:dPt>
            <c:idx val="1"/>
            <c:invertIfNegative val="0"/>
            <c:bubble3D val="0"/>
            <c:extLst>
              <c:ext xmlns:c16="http://schemas.microsoft.com/office/drawing/2014/chart" uri="{C3380CC4-5D6E-409C-BE32-E72D297353CC}">
                <c16:uniqueId val="{0000001F-32C0-4454-B680-DE6B6E88513C}"/>
              </c:ext>
            </c:extLst>
          </c:dPt>
          <c:dPt>
            <c:idx val="2"/>
            <c:invertIfNegative val="0"/>
            <c:bubble3D val="0"/>
            <c:extLst>
              <c:ext xmlns:c16="http://schemas.microsoft.com/office/drawing/2014/chart" uri="{C3380CC4-5D6E-409C-BE32-E72D297353CC}">
                <c16:uniqueId val="{00000020-32C0-4454-B680-DE6B6E88513C}"/>
              </c:ext>
            </c:extLst>
          </c:dPt>
          <c:dPt>
            <c:idx val="3"/>
            <c:invertIfNegative val="0"/>
            <c:bubble3D val="0"/>
            <c:extLst>
              <c:ext xmlns:c16="http://schemas.microsoft.com/office/drawing/2014/chart" uri="{C3380CC4-5D6E-409C-BE32-E72D297353CC}">
                <c16:uniqueId val="{00000021-32C0-4454-B680-DE6B6E88513C}"/>
              </c:ext>
            </c:extLst>
          </c:dPt>
          <c:dPt>
            <c:idx val="4"/>
            <c:invertIfNegative val="0"/>
            <c:bubble3D val="0"/>
            <c:extLst>
              <c:ext xmlns:c16="http://schemas.microsoft.com/office/drawing/2014/chart" uri="{C3380CC4-5D6E-409C-BE32-E72D297353CC}">
                <c16:uniqueId val="{00000022-32C0-4454-B680-DE6B6E88513C}"/>
              </c:ext>
            </c:extLst>
          </c:dPt>
          <c:dLbls>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事計F資料用!$D$9:$T$9</c:f>
              <c:numCache>
                <c:formatCode>#,##0_);[Red]\(#,##0\)</c:formatCode>
                <c:ptCount val="17"/>
                <c:pt idx="0">
                  <c:v>434</c:v>
                </c:pt>
                <c:pt idx="1">
                  <c:v>445</c:v>
                </c:pt>
                <c:pt idx="2">
                  <c:v>432</c:v>
                </c:pt>
                <c:pt idx="3">
                  <c:v>597</c:v>
                </c:pt>
                <c:pt idx="4">
                  <c:v>630.87</c:v>
                </c:pt>
                <c:pt idx="6">
                  <c:v>540.46557000000007</c:v>
                </c:pt>
                <c:pt idx="8">
                  <c:v>559.51198999999997</c:v>
                </c:pt>
                <c:pt idx="10">
                  <c:v>504.68900999999994</c:v>
                </c:pt>
                <c:pt idx="12">
                  <c:v>524.85218000000009</c:v>
                </c:pt>
                <c:pt idx="14">
                  <c:v>545.46865000000014</c:v>
                </c:pt>
                <c:pt idx="16">
                  <c:v>590.30204000000003</c:v>
                </c:pt>
              </c:numCache>
            </c:numRef>
          </c:val>
          <c:extLst>
            <c:ext xmlns:c16="http://schemas.microsoft.com/office/drawing/2014/chart" uri="{C3380CC4-5D6E-409C-BE32-E72D297353CC}">
              <c16:uniqueId val="{00000023-32C0-4454-B680-DE6B6E88513C}"/>
            </c:ext>
          </c:extLst>
        </c:ser>
        <c:ser>
          <c:idx val="6"/>
          <c:order val="7"/>
          <c:tx>
            <c:strRef>
              <c:f>事計F資料用!$C$10</c:f>
              <c:strCache>
                <c:ptCount val="1"/>
                <c:pt idx="0">
                  <c:v>新設(単体)</c:v>
                </c:pt>
              </c:strCache>
            </c:strRef>
          </c:tx>
          <c:spPr>
            <a:solidFill>
              <a:schemeClr val="accent2">
                <a:alpha val="20000"/>
              </a:schemeClr>
            </a:solidFill>
            <a:ln w="3175">
              <a:solidFill>
                <a:schemeClr val="accent2">
                  <a:lumMod val="75000"/>
                </a:schemeClr>
              </a:solidFill>
            </a:ln>
            <a:effectLst/>
          </c:spPr>
          <c:invertIfNegative val="0"/>
          <c:dPt>
            <c:idx val="0"/>
            <c:invertIfNegative val="0"/>
            <c:bubble3D val="0"/>
            <c:extLst>
              <c:ext xmlns:c16="http://schemas.microsoft.com/office/drawing/2014/chart" uri="{C3380CC4-5D6E-409C-BE32-E72D297353CC}">
                <c16:uniqueId val="{00000024-32C0-4454-B680-DE6B6E88513C}"/>
              </c:ext>
            </c:extLst>
          </c:dPt>
          <c:dPt>
            <c:idx val="1"/>
            <c:invertIfNegative val="0"/>
            <c:bubble3D val="0"/>
            <c:extLst>
              <c:ext xmlns:c16="http://schemas.microsoft.com/office/drawing/2014/chart" uri="{C3380CC4-5D6E-409C-BE32-E72D297353CC}">
                <c16:uniqueId val="{00000025-32C0-4454-B680-DE6B6E88513C}"/>
              </c:ext>
            </c:extLst>
          </c:dPt>
          <c:dPt>
            <c:idx val="2"/>
            <c:invertIfNegative val="0"/>
            <c:bubble3D val="0"/>
            <c:extLst>
              <c:ext xmlns:c16="http://schemas.microsoft.com/office/drawing/2014/chart" uri="{C3380CC4-5D6E-409C-BE32-E72D297353CC}">
                <c16:uniqueId val="{00000026-32C0-4454-B680-DE6B6E88513C}"/>
              </c:ext>
            </c:extLst>
          </c:dPt>
          <c:dPt>
            <c:idx val="3"/>
            <c:invertIfNegative val="0"/>
            <c:bubble3D val="0"/>
            <c:extLst>
              <c:ext xmlns:c16="http://schemas.microsoft.com/office/drawing/2014/chart" uri="{C3380CC4-5D6E-409C-BE32-E72D297353CC}">
                <c16:uniqueId val="{00000027-32C0-4454-B680-DE6B6E88513C}"/>
              </c:ext>
            </c:extLst>
          </c:dPt>
          <c:dPt>
            <c:idx val="4"/>
            <c:invertIfNegative val="0"/>
            <c:bubble3D val="0"/>
            <c:extLst>
              <c:ext xmlns:c16="http://schemas.microsoft.com/office/drawing/2014/chart" uri="{C3380CC4-5D6E-409C-BE32-E72D297353CC}">
                <c16:uniqueId val="{00000028-32C0-4454-B680-DE6B6E88513C}"/>
              </c:ext>
            </c:extLst>
          </c:dPt>
          <c:dLbls>
            <c:dLbl>
              <c:idx val="0"/>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4-32C0-4454-B680-DE6B6E88513C}"/>
                </c:ext>
              </c:extLst>
            </c:dLbl>
            <c:dLbl>
              <c:idx val="1"/>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5-32C0-4454-B680-DE6B6E88513C}"/>
                </c:ext>
              </c:extLst>
            </c:dLbl>
            <c:dLbl>
              <c:idx val="2"/>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6-32C0-4454-B680-DE6B6E88513C}"/>
                </c:ext>
              </c:extLst>
            </c:dLbl>
            <c:dLbl>
              <c:idx val="3"/>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7-32C0-4454-B680-DE6B6E88513C}"/>
                </c:ext>
              </c:extLst>
            </c:dLbl>
            <c:dLbl>
              <c:idx val="4"/>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8-32C0-4454-B680-DE6B6E88513C}"/>
                </c:ext>
              </c:extLst>
            </c:dLbl>
            <c:dLbl>
              <c:idx val="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9-F9EC-4CCB-9E3C-D45B02D774E7}"/>
                </c:ext>
              </c:extLst>
            </c:dLbl>
            <c:dLbl>
              <c:idx val="8"/>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B-F9EC-4CCB-9E3C-D45B02D774E7}"/>
                </c:ext>
              </c:extLst>
            </c:dLbl>
            <c:dLbl>
              <c:idx val="10"/>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E-F9EC-4CCB-9E3C-D45B02D774E7}"/>
                </c:ext>
              </c:extLst>
            </c:dLbl>
            <c:dLbl>
              <c:idx val="12"/>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F-F9EC-4CCB-9E3C-D45B02D774E7}"/>
                </c:ext>
              </c:extLst>
            </c:dLbl>
            <c:dLbl>
              <c:idx val="14"/>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42-F9EC-4CCB-9E3C-D45B02D774E7}"/>
                </c:ext>
              </c:extLst>
            </c:dLbl>
            <c:dLbl>
              <c:idx val="1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A-F9EC-4CCB-9E3C-D45B02D774E7}"/>
                </c:ext>
              </c:extLst>
            </c:dLbl>
            <c:spPr>
              <a:noFill/>
              <a:ln>
                <a:noFill/>
              </a:ln>
              <a:effectLst/>
            </c:spPr>
            <c:txPr>
              <a:bodyPr rot="0" spcFirstLastPara="1" vertOverflow="ellipsis" vert="horz" wrap="square" anchor="ctr" anchorCtr="1"/>
              <a:lstStyle/>
              <a:p>
                <a:pPr>
                  <a:defRPr lang="ja-JP" sz="105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事計F資料用!$D$10:$T$10</c:f>
              <c:numCache>
                <c:formatCode>#,##0_);[Red]\(#,##0\)</c:formatCode>
                <c:ptCount val="17"/>
                <c:pt idx="0">
                  <c:v>253.49999999999994</c:v>
                </c:pt>
                <c:pt idx="1">
                  <c:v>1537.9</c:v>
                </c:pt>
                <c:pt idx="2">
                  <c:v>93.46</c:v>
                </c:pt>
                <c:pt idx="3">
                  <c:v>1322.2538930000001</c:v>
                </c:pt>
                <c:pt idx="4">
                  <c:v>393.95584999999994</c:v>
                </c:pt>
                <c:pt idx="6">
                  <c:v>115.42750000000001</c:v>
                </c:pt>
                <c:pt idx="8">
                  <c:v>55.275000000000006</c:v>
                </c:pt>
                <c:pt idx="10">
                  <c:v>119.575</c:v>
                </c:pt>
                <c:pt idx="12">
                  <c:v>44.537500000000001</c:v>
                </c:pt>
                <c:pt idx="14">
                  <c:v>59.574999999999996</c:v>
                </c:pt>
                <c:pt idx="16">
                  <c:v>104.53749999999999</c:v>
                </c:pt>
              </c:numCache>
            </c:numRef>
          </c:val>
          <c:extLst>
            <c:ext xmlns:c16="http://schemas.microsoft.com/office/drawing/2014/chart" uri="{C3380CC4-5D6E-409C-BE32-E72D297353CC}">
              <c16:uniqueId val="{00000029-32C0-4454-B680-DE6B6E88513C}"/>
            </c:ext>
          </c:extLst>
        </c:ser>
        <c:ser>
          <c:idx val="7"/>
          <c:order val="8"/>
          <c:tx>
            <c:strRef>
              <c:f>事計F資料用!$C$11</c:f>
              <c:strCache>
                <c:ptCount val="1"/>
                <c:pt idx="0">
                  <c:v>新設(G会社)</c:v>
                </c:pt>
              </c:strCache>
            </c:strRef>
          </c:tx>
          <c:spPr>
            <a:solidFill>
              <a:schemeClr val="accent2">
                <a:lumMod val="60000"/>
                <a:lumOff val="40000"/>
                <a:alpha val="20000"/>
              </a:schemeClr>
            </a:solidFill>
            <a:ln w="3175">
              <a:solidFill>
                <a:schemeClr val="accent2">
                  <a:lumMod val="75000"/>
                </a:schemeClr>
              </a:solidFill>
            </a:ln>
            <a:effectLst/>
          </c:spPr>
          <c:invertIfNegative val="0"/>
          <c:dPt>
            <c:idx val="0"/>
            <c:invertIfNegative val="0"/>
            <c:bubble3D val="0"/>
            <c:extLst>
              <c:ext xmlns:c16="http://schemas.microsoft.com/office/drawing/2014/chart" uri="{C3380CC4-5D6E-409C-BE32-E72D297353CC}">
                <c16:uniqueId val="{0000002A-32C0-4454-B680-DE6B6E88513C}"/>
              </c:ext>
            </c:extLst>
          </c:dPt>
          <c:dPt>
            <c:idx val="1"/>
            <c:invertIfNegative val="0"/>
            <c:bubble3D val="0"/>
            <c:extLst>
              <c:ext xmlns:c16="http://schemas.microsoft.com/office/drawing/2014/chart" uri="{C3380CC4-5D6E-409C-BE32-E72D297353CC}">
                <c16:uniqueId val="{0000002B-32C0-4454-B680-DE6B6E88513C}"/>
              </c:ext>
            </c:extLst>
          </c:dPt>
          <c:dPt>
            <c:idx val="2"/>
            <c:invertIfNegative val="0"/>
            <c:bubble3D val="0"/>
            <c:extLst>
              <c:ext xmlns:c16="http://schemas.microsoft.com/office/drawing/2014/chart" uri="{C3380CC4-5D6E-409C-BE32-E72D297353CC}">
                <c16:uniqueId val="{0000002C-32C0-4454-B680-DE6B6E88513C}"/>
              </c:ext>
            </c:extLst>
          </c:dPt>
          <c:dPt>
            <c:idx val="3"/>
            <c:invertIfNegative val="0"/>
            <c:bubble3D val="0"/>
            <c:extLst>
              <c:ext xmlns:c16="http://schemas.microsoft.com/office/drawing/2014/chart" uri="{C3380CC4-5D6E-409C-BE32-E72D297353CC}">
                <c16:uniqueId val="{0000002D-32C0-4454-B680-DE6B6E88513C}"/>
              </c:ext>
            </c:extLst>
          </c:dPt>
          <c:dPt>
            <c:idx val="4"/>
            <c:invertIfNegative val="0"/>
            <c:bubble3D val="0"/>
            <c:extLst>
              <c:ext xmlns:c16="http://schemas.microsoft.com/office/drawing/2014/chart" uri="{C3380CC4-5D6E-409C-BE32-E72D297353CC}">
                <c16:uniqueId val="{0000002E-32C0-4454-B680-DE6B6E88513C}"/>
              </c:ext>
            </c:extLst>
          </c:dPt>
          <c:dLbls>
            <c:dLbl>
              <c:idx val="0"/>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A-32C0-4454-B680-DE6B6E88513C}"/>
                </c:ext>
              </c:extLst>
            </c:dLbl>
            <c:dLbl>
              <c:idx val="1"/>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B-32C0-4454-B680-DE6B6E88513C}"/>
                </c:ext>
              </c:extLst>
            </c:dLbl>
            <c:dLbl>
              <c:idx val="2"/>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C-32C0-4454-B680-DE6B6E88513C}"/>
                </c:ext>
              </c:extLst>
            </c:dLbl>
            <c:dLbl>
              <c:idx val="3"/>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D-32C0-4454-B680-DE6B6E88513C}"/>
                </c:ext>
              </c:extLst>
            </c:dLbl>
            <c:dLbl>
              <c:idx val="4"/>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E-32C0-4454-B680-DE6B6E88513C}"/>
                </c:ext>
              </c:extLst>
            </c:dLbl>
            <c:dLbl>
              <c:idx val="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2A-F9EC-4CCB-9E3C-D45B02D774E7}"/>
                </c:ext>
              </c:extLst>
            </c:dLbl>
            <c:dLbl>
              <c:idx val="8"/>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C-F9EC-4CCB-9E3C-D45B02D774E7}"/>
                </c:ext>
              </c:extLst>
            </c:dLbl>
            <c:dLbl>
              <c:idx val="10"/>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3D-F9EC-4CCB-9E3C-D45B02D774E7}"/>
                </c:ext>
              </c:extLst>
            </c:dLbl>
            <c:dLbl>
              <c:idx val="12"/>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40-F9EC-4CCB-9E3C-D45B02D774E7}"/>
                </c:ext>
              </c:extLst>
            </c:dLbl>
            <c:dLbl>
              <c:idx val="14"/>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41-F9EC-4CCB-9E3C-D45B02D774E7}"/>
                </c:ext>
              </c:extLst>
            </c:dLbl>
            <c:dLbl>
              <c:idx val="16"/>
              <c:spPr>
                <a:noFill/>
                <a:ln>
                  <a:noFill/>
                </a:ln>
                <a:effectLst/>
              </c:spPr>
              <c:txPr>
                <a:bodyPr rot="0" spcFirstLastPara="1" vertOverflow="ellipsis" vert="horz" wrap="square" anchor="ctr" anchorCtr="1"/>
                <a:lstStyle/>
                <a:p>
                  <a:pPr>
                    <a:defRPr lang="ja-JP" sz="1050" b="0"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43-F9EC-4CCB-9E3C-D45B02D774E7}"/>
                </c:ext>
              </c:extLst>
            </c:dLbl>
            <c:spPr>
              <a:noFill/>
              <a:ln>
                <a:noFill/>
              </a:ln>
              <a:effectLst/>
            </c:spPr>
            <c:txPr>
              <a:bodyPr rot="0" spcFirstLastPara="1" vertOverflow="ellipsis" vert="horz" wrap="square" anchor="ctr" anchorCtr="1"/>
              <a:lstStyle/>
              <a:p>
                <a:pPr>
                  <a:defRPr lang="ja-JP" sz="105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事計F資料用!$D$11:$T$11</c:f>
              <c:numCache>
                <c:formatCode>#,##0_);[Red]\(#,##0\)</c:formatCode>
                <c:ptCount val="17"/>
                <c:pt idx="0">
                  <c:v>880</c:v>
                </c:pt>
                <c:pt idx="1">
                  <c:v>742.03</c:v>
                </c:pt>
                <c:pt idx="2">
                  <c:v>339.06</c:v>
                </c:pt>
                <c:pt idx="3">
                  <c:v>398.94043939999989</c:v>
                </c:pt>
                <c:pt idx="4">
                  <c:v>341.20000000000005</c:v>
                </c:pt>
                <c:pt idx="6">
                  <c:v>334.8</c:v>
                </c:pt>
                <c:pt idx="8">
                  <c:v>335</c:v>
                </c:pt>
                <c:pt idx="10">
                  <c:v>325</c:v>
                </c:pt>
                <c:pt idx="12">
                  <c:v>315</c:v>
                </c:pt>
                <c:pt idx="14">
                  <c:v>355</c:v>
                </c:pt>
                <c:pt idx="16">
                  <c:v>355</c:v>
                </c:pt>
              </c:numCache>
            </c:numRef>
          </c:val>
          <c:extLst>
            <c:ext xmlns:c16="http://schemas.microsoft.com/office/drawing/2014/chart" uri="{C3380CC4-5D6E-409C-BE32-E72D297353CC}">
              <c16:uniqueId val="{0000002F-32C0-4454-B680-DE6B6E88513C}"/>
            </c:ext>
          </c:extLst>
        </c:ser>
        <c:ser>
          <c:idx val="8"/>
          <c:order val="9"/>
          <c:tx>
            <c:strRef>
              <c:f>事計F資料用!$C$12</c:f>
              <c:strCache>
                <c:ptCount val="1"/>
                <c:pt idx="0">
                  <c:v>その他</c:v>
                </c:pt>
              </c:strCache>
            </c:strRef>
          </c:tx>
          <c:spPr>
            <a:solidFill>
              <a:schemeClr val="bg1">
                <a:lumMod val="65000"/>
                <a:alpha val="20000"/>
              </a:schemeClr>
            </a:solidFill>
            <a:ln w="3175">
              <a:solidFill>
                <a:schemeClr val="bg1">
                  <a:lumMod val="50000"/>
                </a:schemeClr>
              </a:solidFill>
            </a:ln>
            <a:effectLst/>
          </c:spPr>
          <c:invertIfNegative val="0"/>
          <c:dPt>
            <c:idx val="0"/>
            <c:invertIfNegative val="0"/>
            <c:bubble3D val="0"/>
            <c:extLst>
              <c:ext xmlns:c16="http://schemas.microsoft.com/office/drawing/2014/chart" uri="{C3380CC4-5D6E-409C-BE32-E72D297353CC}">
                <c16:uniqueId val="{00000030-32C0-4454-B680-DE6B6E88513C}"/>
              </c:ext>
            </c:extLst>
          </c:dPt>
          <c:dPt>
            <c:idx val="1"/>
            <c:invertIfNegative val="0"/>
            <c:bubble3D val="0"/>
            <c:extLst>
              <c:ext xmlns:c16="http://schemas.microsoft.com/office/drawing/2014/chart" uri="{C3380CC4-5D6E-409C-BE32-E72D297353CC}">
                <c16:uniqueId val="{00000031-32C0-4454-B680-DE6B6E88513C}"/>
              </c:ext>
            </c:extLst>
          </c:dPt>
          <c:dPt>
            <c:idx val="2"/>
            <c:invertIfNegative val="0"/>
            <c:bubble3D val="0"/>
            <c:extLst>
              <c:ext xmlns:c16="http://schemas.microsoft.com/office/drawing/2014/chart" uri="{C3380CC4-5D6E-409C-BE32-E72D297353CC}">
                <c16:uniqueId val="{00000032-32C0-4454-B680-DE6B6E88513C}"/>
              </c:ext>
            </c:extLst>
          </c:dPt>
          <c:dPt>
            <c:idx val="3"/>
            <c:invertIfNegative val="0"/>
            <c:bubble3D val="0"/>
            <c:extLst>
              <c:ext xmlns:c16="http://schemas.microsoft.com/office/drawing/2014/chart" uri="{C3380CC4-5D6E-409C-BE32-E72D297353CC}">
                <c16:uniqueId val="{00000033-32C0-4454-B680-DE6B6E88513C}"/>
              </c:ext>
            </c:extLst>
          </c:dPt>
          <c:dPt>
            <c:idx val="4"/>
            <c:invertIfNegative val="0"/>
            <c:bubble3D val="0"/>
            <c:extLst>
              <c:ext xmlns:c16="http://schemas.microsoft.com/office/drawing/2014/chart" uri="{C3380CC4-5D6E-409C-BE32-E72D297353CC}">
                <c16:uniqueId val="{00000034-32C0-4454-B680-DE6B6E88513C}"/>
              </c:ext>
            </c:extLst>
          </c:dPt>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事計F資料用!$D$12:$T$12</c:f>
              <c:numCache>
                <c:formatCode>#,##0_);[Red]\(#,##0\)</c:formatCode>
                <c:ptCount val="17"/>
                <c:pt idx="0">
                  <c:v>176</c:v>
                </c:pt>
                <c:pt idx="1">
                  <c:v>105.67</c:v>
                </c:pt>
                <c:pt idx="2">
                  <c:v>119.63</c:v>
                </c:pt>
                <c:pt idx="3">
                  <c:v>136.65943799999999</c:v>
                </c:pt>
                <c:pt idx="4">
                  <c:v>329.88</c:v>
                </c:pt>
                <c:pt idx="6">
                  <c:v>148</c:v>
                </c:pt>
                <c:pt idx="8">
                  <c:v>13</c:v>
                </c:pt>
                <c:pt idx="10">
                  <c:v>13</c:v>
                </c:pt>
                <c:pt idx="12">
                  <c:v>14</c:v>
                </c:pt>
                <c:pt idx="14">
                  <c:v>14</c:v>
                </c:pt>
                <c:pt idx="16">
                  <c:v>15.5</c:v>
                </c:pt>
              </c:numCache>
            </c:numRef>
          </c:val>
          <c:extLst>
            <c:ext xmlns:c16="http://schemas.microsoft.com/office/drawing/2014/chart" uri="{C3380CC4-5D6E-409C-BE32-E72D297353CC}">
              <c16:uniqueId val="{00000035-32C0-4454-B680-DE6B6E88513C}"/>
            </c:ext>
          </c:extLst>
        </c:ser>
        <c:ser>
          <c:idx val="13"/>
          <c:order val="12"/>
          <c:tx>
            <c:strRef>
              <c:f>事計F資料用!$C$17</c:f>
              <c:strCache>
                <c:ptCount val="1"/>
              </c:strCache>
            </c:strRef>
          </c:tx>
          <c:spPr>
            <a:noFill/>
            <a:ln>
              <a:noFill/>
            </a:ln>
            <a:effectLst/>
          </c:spPr>
          <c:invertIfNegative val="0"/>
          <c:dLbls>
            <c:dLbl>
              <c:idx val="0"/>
              <c:spPr>
                <a:noFill/>
                <a:ln>
                  <a:noFill/>
                </a:ln>
                <a:effectLst/>
              </c:spPr>
              <c:txPr>
                <a:bodyPr rot="0" spcFirstLastPara="1" vertOverflow="ellipsis" vert="horz" wrap="square" anchor="ctr" anchorCtr="1"/>
                <a:lstStyle/>
                <a:p>
                  <a:pPr>
                    <a:defRPr lang="ja-JP" sz="1400" b="1"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36-32C0-4454-B680-DE6B6E88513C}"/>
                </c:ext>
              </c:extLst>
            </c:dLbl>
            <c:dLbl>
              <c:idx val="1"/>
              <c:spPr>
                <a:noFill/>
                <a:ln>
                  <a:noFill/>
                </a:ln>
                <a:effectLst/>
              </c:spPr>
              <c:txPr>
                <a:bodyPr rot="0" spcFirstLastPara="1" vertOverflow="ellipsis" vert="horz" wrap="square" anchor="ctr" anchorCtr="1"/>
                <a:lstStyle/>
                <a:p>
                  <a:pPr>
                    <a:defRPr lang="ja-JP" sz="1400" b="1"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37-32C0-4454-B680-DE6B6E88513C}"/>
                </c:ext>
              </c:extLst>
            </c:dLbl>
            <c:dLbl>
              <c:idx val="2"/>
              <c:spPr>
                <a:noFill/>
                <a:ln>
                  <a:noFill/>
                </a:ln>
                <a:effectLst/>
              </c:spPr>
              <c:txPr>
                <a:bodyPr rot="0" spcFirstLastPara="1" vertOverflow="ellipsis" vert="horz" wrap="square" anchor="ctr" anchorCtr="1"/>
                <a:lstStyle/>
                <a:p>
                  <a:pPr>
                    <a:defRPr lang="ja-JP" sz="1400" b="1"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38-32C0-4454-B680-DE6B6E88513C}"/>
                </c:ext>
              </c:extLst>
            </c:dLbl>
            <c:dLbl>
              <c:idx val="3"/>
              <c:layout>
                <c:manualLayout>
                  <c:x val="-3.7584540931840243E-3"/>
                  <c:y val="6.7287172259143366E-2"/>
                </c:manualLayout>
              </c:layout>
              <c:spPr>
                <a:noFill/>
                <a:ln>
                  <a:noFill/>
                </a:ln>
                <a:effectLst/>
              </c:spPr>
              <c:txPr>
                <a:bodyPr rot="0" spcFirstLastPara="1" vertOverflow="ellipsis" vert="horz" wrap="square" anchor="ctr" anchorCtr="1"/>
                <a:lstStyle/>
                <a:p>
                  <a:pPr>
                    <a:defRPr lang="ja-JP" sz="1400" b="1"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32C0-4454-B680-DE6B6E88513C}"/>
                </c:ext>
              </c:extLst>
            </c:dLbl>
            <c:dLbl>
              <c:idx val="4"/>
              <c:layout>
                <c:manualLayout>
                  <c:x val="1.2910720167425949E-2"/>
                  <c:y val="0.13873582407744908"/>
                </c:manualLayout>
              </c:layout>
              <c:spPr>
                <a:noFill/>
                <a:ln>
                  <a:noFill/>
                </a:ln>
                <a:effectLst/>
              </c:spPr>
              <c:txPr>
                <a:bodyPr rot="0" spcFirstLastPara="1" vertOverflow="ellipsis" vert="horz" wrap="square" anchor="ctr" anchorCtr="1"/>
                <a:lstStyle/>
                <a:p>
                  <a:pPr>
                    <a:defRPr lang="ja-JP" sz="1400" b="1" i="0" u="none" strike="noStrike" kern="1200" baseline="0">
                      <a:solidFill>
                        <a:schemeClr val="bg1">
                          <a:lumMod val="6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32C0-4454-B680-DE6B6E88513C}"/>
                </c:ext>
              </c:extLst>
            </c:dLbl>
            <c:dLbl>
              <c:idx val="6"/>
              <c:layout>
                <c:manualLayout>
                  <c:x val="-4.405232603058775E-3"/>
                  <c:y val="6.8765480756071112E-2"/>
                </c:manualLayout>
              </c:layout>
              <c:spPr>
                <a:noFill/>
                <a:ln>
                  <a:noFill/>
                </a:ln>
                <a:effectLst/>
              </c:spPr>
              <c:txPr>
                <a:bodyPr rot="0" spcFirstLastPara="1" vertOverflow="ellipsis" vert="horz" wrap="square" anchor="ctr" anchorCtr="1"/>
                <a:lstStyle/>
                <a:p>
                  <a:pPr>
                    <a:defRPr lang="ja-JP" sz="1200" b="0" i="0" u="none" strike="noStrike" kern="1200" baseline="0">
                      <a:solidFill>
                        <a:schemeClr val="bg1">
                          <a:lumMod val="7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32C0-4454-B680-DE6B6E88513C}"/>
                </c:ext>
              </c:extLst>
            </c:dLbl>
            <c:dLbl>
              <c:idx val="8"/>
              <c:layout>
                <c:manualLayout>
                  <c:x val="7.0454828635549598E-3"/>
                  <c:y val="6.4207408602000068E-2"/>
                </c:manualLayout>
              </c:layout>
              <c:spPr>
                <a:noFill/>
                <a:ln>
                  <a:noFill/>
                </a:ln>
                <a:effectLst/>
              </c:spPr>
              <c:txPr>
                <a:bodyPr rot="0" spcFirstLastPara="1" vertOverflow="ellipsis" vert="horz" wrap="square" anchor="ctr" anchorCtr="1"/>
                <a:lstStyle/>
                <a:p>
                  <a:pPr>
                    <a:defRPr lang="ja-JP" sz="1200" b="0" i="0" u="none" strike="noStrike" kern="1200" baseline="0">
                      <a:solidFill>
                        <a:schemeClr val="bg1">
                          <a:lumMod val="7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32C0-4454-B680-DE6B6E88513C}"/>
                </c:ext>
              </c:extLst>
            </c:dLbl>
            <c:dLbl>
              <c:idx val="10"/>
              <c:layout>
                <c:manualLayout>
                  <c:x val="0"/>
                  <c:y val="6.6252082042556087E-2"/>
                </c:manualLayout>
              </c:layout>
              <c:spPr>
                <a:noFill/>
                <a:ln>
                  <a:noFill/>
                </a:ln>
                <a:effectLst/>
              </c:spPr>
              <c:txPr>
                <a:bodyPr rot="0" spcFirstLastPara="1" vertOverflow="ellipsis" vert="horz" wrap="square" anchor="ctr" anchorCtr="1"/>
                <a:lstStyle/>
                <a:p>
                  <a:pPr>
                    <a:defRPr lang="ja-JP" sz="1400" b="0" i="0" u="none" strike="noStrike" kern="1200" baseline="0">
                      <a:solidFill>
                        <a:schemeClr val="bg1">
                          <a:lumMod val="7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32C0-4454-B680-DE6B6E88513C}"/>
                </c:ext>
              </c:extLst>
            </c:dLbl>
            <c:dLbl>
              <c:idx val="12"/>
              <c:layout>
                <c:manualLayout>
                  <c:x val="0"/>
                  <c:y val="6.6230414812267158E-2"/>
                </c:manualLayout>
              </c:layout>
              <c:spPr>
                <a:noFill/>
                <a:ln>
                  <a:noFill/>
                </a:ln>
                <a:effectLst/>
              </c:spPr>
              <c:txPr>
                <a:bodyPr rot="0" spcFirstLastPara="1" vertOverflow="ellipsis" vert="horz" wrap="square" anchor="ctr" anchorCtr="1"/>
                <a:lstStyle/>
                <a:p>
                  <a:pPr>
                    <a:defRPr lang="ja-JP" sz="1400" b="0" i="0" u="none" strike="noStrike" kern="1200" baseline="0">
                      <a:solidFill>
                        <a:schemeClr val="bg1">
                          <a:lumMod val="7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32C0-4454-B680-DE6B6E88513C}"/>
                </c:ext>
              </c:extLst>
            </c:dLbl>
            <c:dLbl>
              <c:idx val="14"/>
              <c:layout>
                <c:manualLayout>
                  <c:x val="1.0333255495898015E-16"/>
                  <c:y val="6.824820991651534E-2"/>
                </c:manualLayout>
              </c:layout>
              <c:spPr>
                <a:noFill/>
                <a:ln>
                  <a:noFill/>
                </a:ln>
                <a:effectLst/>
              </c:spPr>
              <c:txPr>
                <a:bodyPr rot="0" spcFirstLastPara="1" vertOverflow="ellipsis" vert="horz" wrap="square" anchor="ctr" anchorCtr="1"/>
                <a:lstStyle/>
                <a:p>
                  <a:pPr>
                    <a:defRPr lang="ja-JP" sz="1400" b="0" i="0" u="none" strike="noStrike" kern="1200" baseline="0">
                      <a:solidFill>
                        <a:schemeClr val="bg1">
                          <a:lumMod val="7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32C0-4454-B680-DE6B6E88513C}"/>
                </c:ext>
              </c:extLst>
            </c:dLbl>
            <c:dLbl>
              <c:idx val="16"/>
              <c:layout>
                <c:manualLayout>
                  <c:x val="0"/>
                  <c:y val="8.7838677322555667E-2"/>
                </c:manualLayout>
              </c:layout>
              <c:spPr>
                <a:noFill/>
                <a:ln>
                  <a:noFill/>
                </a:ln>
                <a:effectLst/>
              </c:spPr>
              <c:txPr>
                <a:bodyPr rot="0" spcFirstLastPara="1" vertOverflow="ellipsis" vert="horz" wrap="square" anchor="ctr" anchorCtr="1"/>
                <a:lstStyle/>
                <a:p>
                  <a:pPr>
                    <a:defRPr lang="ja-JP" sz="1400" b="0" i="0" u="none" strike="noStrike" kern="1200" baseline="0">
                      <a:solidFill>
                        <a:schemeClr val="bg1">
                          <a:lumMod val="7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32C0-4454-B680-DE6B6E88513C}"/>
                </c:ext>
              </c:extLst>
            </c:dLbl>
            <c:spPr>
              <a:noFill/>
              <a:ln>
                <a:noFill/>
              </a:ln>
              <a:effectLst/>
            </c:spPr>
            <c:txPr>
              <a:bodyPr rot="0" spcFirstLastPara="1" vertOverflow="ellipsis" vert="horz" wrap="square" anchor="ctr" anchorCtr="1"/>
              <a:lstStyle/>
              <a:p>
                <a:pPr>
                  <a:defRPr lang="ja-JP" sz="140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事計F資料用!$D$17:$T$17</c:f>
              <c:numCache>
                <c:formatCode>#,##0_);[Red]\(#,##0\)</c:formatCode>
                <c:ptCount val="17"/>
                <c:pt idx="0">
                  <c:v>3208.0227549800002</c:v>
                </c:pt>
                <c:pt idx="1">
                  <c:v>4463.8998674800005</c:v>
                </c:pt>
                <c:pt idx="2">
                  <c:v>2462.0524490400003</c:v>
                </c:pt>
                <c:pt idx="3">
                  <c:v>3584.4914713999997</c:v>
                </c:pt>
                <c:pt idx="4">
                  <c:v>3153.9058500000001</c:v>
                </c:pt>
                <c:pt idx="5">
                  <c:v>#N/A</c:v>
                </c:pt>
                <c:pt idx="6">
                  <c:v>2374.4130700000001</c:v>
                </c:pt>
                <c:pt idx="7">
                  <c:v>#N/A</c:v>
                </c:pt>
                <c:pt idx="8">
                  <c:v>2116.8689899999999</c:v>
                </c:pt>
                <c:pt idx="9">
                  <c:v>#N/A</c:v>
                </c:pt>
                <c:pt idx="10">
                  <c:v>2081.8140100000001</c:v>
                </c:pt>
                <c:pt idx="11">
                  <c:v>#N/A</c:v>
                </c:pt>
                <c:pt idx="12">
                  <c:v>2068.9096799999998</c:v>
                </c:pt>
                <c:pt idx="13">
                  <c:v>#N/A</c:v>
                </c:pt>
                <c:pt idx="14">
                  <c:v>2060.9836500000001</c:v>
                </c:pt>
                <c:pt idx="15">
                  <c:v>#N/A</c:v>
                </c:pt>
                <c:pt idx="16">
                  <c:v>2107.4195399999999</c:v>
                </c:pt>
              </c:numCache>
            </c:numRef>
          </c:val>
          <c:extLst>
            <c:ext xmlns:c16="http://schemas.microsoft.com/office/drawing/2014/chart" uri="{C3380CC4-5D6E-409C-BE32-E72D297353CC}">
              <c16:uniqueId val="{00000041-32C0-4454-B680-DE6B6E88513C}"/>
            </c:ext>
          </c:extLst>
        </c:ser>
        <c:ser>
          <c:idx val="22"/>
          <c:order val="13"/>
          <c:spPr>
            <a:solidFill>
              <a:schemeClr val="bg1">
                <a:lumMod val="75000"/>
              </a:schemeClr>
            </a:solidFill>
            <a:ln w="3175">
              <a:solidFill>
                <a:schemeClr val="bg1">
                  <a:lumMod val="50000"/>
                </a:schemeClr>
              </a:solid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事計F資料用!$D$21:$U$21</c:f>
              <c:numCache>
                <c:formatCode>General</c:formatCode>
                <c:ptCount val="18"/>
                <c:pt idx="7" formatCode="0">
                  <c:v>77</c:v>
                </c:pt>
              </c:numCache>
            </c:numRef>
          </c:val>
          <c:extLst>
            <c:ext xmlns:c16="http://schemas.microsoft.com/office/drawing/2014/chart" uri="{C3380CC4-5D6E-409C-BE32-E72D297353CC}">
              <c16:uniqueId val="{00000042-32C0-4454-B680-DE6B6E88513C}"/>
            </c:ext>
          </c:extLst>
        </c:ser>
        <c:ser>
          <c:idx val="12"/>
          <c:order val="14"/>
          <c:spPr>
            <a:solidFill>
              <a:srgbClr val="006487">
                <a:alpha val="80000"/>
              </a:srgbClr>
            </a:solidFill>
            <a:ln w="3175">
              <a:solidFill>
                <a:srgbClr val="006487"/>
              </a:solid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事計F資料用!$D$22:$U$22</c:f>
              <c:numCache>
                <c:formatCode>General</c:formatCode>
                <c:ptCount val="18"/>
                <c:pt idx="7" formatCode="0">
                  <c:v>488.72</c:v>
                </c:pt>
                <c:pt idx="9" formatCode="0">
                  <c:v>473.75200000000007</c:v>
                </c:pt>
                <c:pt idx="11" formatCode="0">
                  <c:v>414.13</c:v>
                </c:pt>
                <c:pt idx="13" formatCode="0">
                  <c:v>490.5</c:v>
                </c:pt>
                <c:pt idx="15" formatCode="0">
                  <c:v>411.71</c:v>
                </c:pt>
                <c:pt idx="17" formatCode="0">
                  <c:v>351.48000000000008</c:v>
                </c:pt>
              </c:numCache>
            </c:numRef>
          </c:val>
          <c:extLst>
            <c:ext xmlns:c16="http://schemas.microsoft.com/office/drawing/2014/chart" uri="{C3380CC4-5D6E-409C-BE32-E72D297353CC}">
              <c16:uniqueId val="{00000043-32C0-4454-B680-DE6B6E88513C}"/>
            </c:ext>
          </c:extLst>
        </c:ser>
        <c:ser>
          <c:idx val="14"/>
          <c:order val="15"/>
          <c:spPr>
            <a:solidFill>
              <a:srgbClr val="008EC0">
                <a:alpha val="80000"/>
              </a:srgbClr>
            </a:solidFill>
            <a:ln w="3175">
              <a:solidFill>
                <a:srgbClr val="006487"/>
              </a:solidFill>
            </a:ln>
            <a:effectLst/>
          </c:spPr>
          <c:invertIfNegative val="0"/>
          <c:dLbls>
            <c:dLbl>
              <c:idx val="7"/>
              <c:layout>
                <c:manualLayout>
                  <c:x val="-1.3096793554315085E-3"/>
                  <c:y val="1.575230093900409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32C0-4454-B680-DE6B6E88513C}"/>
                </c:ext>
              </c:extLst>
            </c:dLbl>
            <c:dLbl>
              <c:idx val="9"/>
              <c:layout>
                <c:manualLayout>
                  <c:x val="0"/>
                  <c:y val="1.637657382187620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32C0-4454-B680-DE6B6E88513C}"/>
                </c:ext>
              </c:extLst>
            </c:dLbl>
            <c:dLbl>
              <c:idx val="11"/>
              <c:layout>
                <c:manualLayout>
                  <c:x val="0"/>
                  <c:y val="8.030610882617625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32C0-4454-B680-DE6B6E88513C}"/>
                </c:ext>
              </c:extLst>
            </c:dLbl>
            <c:dLbl>
              <c:idx val="13"/>
              <c:layout>
                <c:manualLayout>
                  <c:x val="0"/>
                  <c:y val="1.254910466184368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32C0-4454-B680-DE6B6E88513C}"/>
                </c:ext>
              </c:extLst>
            </c:dLbl>
            <c:dLbl>
              <c:idx val="15"/>
              <c:layout>
                <c:manualLayout>
                  <c:x val="-1.3096793554316045E-3"/>
                  <c:y val="8.093370820753625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32C0-4454-B680-DE6B6E88513C}"/>
                </c:ext>
              </c:extLst>
            </c:dLbl>
            <c:dLbl>
              <c:idx val="17"/>
              <c:layout>
                <c:manualLayout>
                  <c:x val="0"/>
                  <c:y val="8.301166092956561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32C0-4454-B680-DE6B6E88513C}"/>
                </c:ext>
              </c:extLst>
            </c:dLbl>
            <c:spPr>
              <a:noFill/>
              <a:ln>
                <a:noFill/>
              </a:ln>
              <a:effectLst/>
            </c:spPr>
            <c:txPr>
              <a:bodyPr rot="0" spcFirstLastPara="1" vertOverflow="ellipsis" vert="horz" wrap="square" lIns="38100" tIns="19050" rIns="38100" bIns="19050" anchor="ctr" anchorCtr="1">
                <a:spAutoFit/>
              </a:bodyPr>
              <a:lstStyle/>
              <a:p>
                <a:pPr>
                  <a:defRPr lang="ja-JP" sz="120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事計F資料用!$D$23:$U$23</c:f>
              <c:numCache>
                <c:formatCode>General</c:formatCode>
                <c:ptCount val="18"/>
                <c:pt idx="7" formatCode="0">
                  <c:v>124</c:v>
                </c:pt>
                <c:pt idx="9" formatCode="0">
                  <c:v>68</c:v>
                </c:pt>
                <c:pt idx="11" formatCode="0">
                  <c:v>70</c:v>
                </c:pt>
                <c:pt idx="13" formatCode="0">
                  <c:v>58</c:v>
                </c:pt>
                <c:pt idx="15" formatCode="0">
                  <c:v>60</c:v>
                </c:pt>
                <c:pt idx="17" formatCode="0">
                  <c:v>47</c:v>
                </c:pt>
              </c:numCache>
            </c:numRef>
          </c:val>
          <c:extLst>
            <c:ext xmlns:c16="http://schemas.microsoft.com/office/drawing/2014/chart" uri="{C3380CC4-5D6E-409C-BE32-E72D297353CC}">
              <c16:uniqueId val="{0000004A-32C0-4454-B680-DE6B6E88513C}"/>
            </c:ext>
          </c:extLst>
        </c:ser>
        <c:ser>
          <c:idx val="15"/>
          <c:order val="16"/>
          <c:spPr>
            <a:solidFill>
              <a:srgbClr val="01BCFF">
                <a:alpha val="80000"/>
              </a:srgbClr>
            </a:solidFill>
            <a:ln w="3175">
              <a:solidFill>
                <a:srgbClr val="01BCFF"/>
              </a:solid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事計F資料用!$D$24:$U$24</c:f>
              <c:numCache>
                <c:formatCode>General</c:formatCode>
                <c:ptCount val="18"/>
                <c:pt idx="7" formatCode="0">
                  <c:v>234.49</c:v>
                </c:pt>
                <c:pt idx="9" formatCode="0">
                  <c:v>290.26</c:v>
                </c:pt>
                <c:pt idx="11" formatCode="0">
                  <c:v>265.01</c:v>
                </c:pt>
                <c:pt idx="13" formatCode="0">
                  <c:v>249.60999999999999</c:v>
                </c:pt>
                <c:pt idx="15" formatCode="0">
                  <c:v>244.81999999999996</c:v>
                </c:pt>
                <c:pt idx="17" formatCode="0">
                  <c:v>270.49</c:v>
                </c:pt>
              </c:numCache>
            </c:numRef>
          </c:val>
          <c:extLst>
            <c:ext xmlns:c16="http://schemas.microsoft.com/office/drawing/2014/chart" uri="{C3380CC4-5D6E-409C-BE32-E72D297353CC}">
              <c16:uniqueId val="{0000004B-32C0-4454-B680-DE6B6E88513C}"/>
            </c:ext>
          </c:extLst>
        </c:ser>
        <c:ser>
          <c:idx val="16"/>
          <c:order val="17"/>
          <c:spPr>
            <a:solidFill>
              <a:schemeClr val="accent5">
                <a:lumMod val="80000"/>
                <a:lumOff val="20000"/>
              </a:schemeClr>
            </a:solidFill>
            <a:ln>
              <a:no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事計F資料用!$D$25:$U$25</c:f>
              <c:numCache>
                <c:formatCode>General</c:formatCode>
                <c:ptCount val="18"/>
                <c:pt idx="7" formatCode="0">
                  <c:v>10</c:v>
                </c:pt>
                <c:pt idx="9" formatCode="0">
                  <c:v>10</c:v>
                </c:pt>
                <c:pt idx="11" formatCode="0">
                  <c:v>10</c:v>
                </c:pt>
                <c:pt idx="13" formatCode="0">
                  <c:v>10</c:v>
                </c:pt>
                <c:pt idx="15" formatCode="0">
                  <c:v>10</c:v>
                </c:pt>
                <c:pt idx="17" formatCode="0">
                  <c:v>10</c:v>
                </c:pt>
              </c:numCache>
            </c:numRef>
          </c:val>
          <c:extLst>
            <c:ext xmlns:c16="http://schemas.microsoft.com/office/drawing/2014/chart" uri="{C3380CC4-5D6E-409C-BE32-E72D297353CC}">
              <c16:uniqueId val="{0000004C-32C0-4454-B680-DE6B6E88513C}"/>
            </c:ext>
          </c:extLst>
        </c:ser>
        <c:ser>
          <c:idx val="17"/>
          <c:order val="18"/>
          <c:spPr>
            <a:solidFill>
              <a:srgbClr val="CDF2FF">
                <a:alpha val="80000"/>
              </a:srgbClr>
            </a:solidFill>
            <a:ln w="3175">
              <a:solidFill>
                <a:srgbClr val="01BCF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ja-JP" sz="120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事計F資料用!$D$26:$U$26</c:f>
              <c:numCache>
                <c:formatCode>General</c:formatCode>
                <c:ptCount val="18"/>
                <c:pt idx="7" formatCode="0">
                  <c:v>322.13</c:v>
                </c:pt>
                <c:pt idx="9" formatCode="0">
                  <c:v>339.13</c:v>
                </c:pt>
                <c:pt idx="11" formatCode="0">
                  <c:v>287.13</c:v>
                </c:pt>
                <c:pt idx="13" formatCode="0">
                  <c:v>301.13</c:v>
                </c:pt>
                <c:pt idx="15" formatCode="0">
                  <c:v>296.13</c:v>
                </c:pt>
                <c:pt idx="17" formatCode="0">
                  <c:v>291.13</c:v>
                </c:pt>
              </c:numCache>
            </c:numRef>
          </c:val>
          <c:extLst>
            <c:ext xmlns:c16="http://schemas.microsoft.com/office/drawing/2014/chart" uri="{C3380CC4-5D6E-409C-BE32-E72D297353CC}">
              <c16:uniqueId val="{0000004D-32C0-4454-B680-DE6B6E88513C}"/>
            </c:ext>
          </c:extLst>
        </c:ser>
        <c:ser>
          <c:idx val="18"/>
          <c:order val="19"/>
          <c:spPr>
            <a:solidFill>
              <a:schemeClr val="accent1">
                <a:lumMod val="40000"/>
                <a:lumOff val="60000"/>
                <a:alpha val="80000"/>
              </a:schemeClr>
            </a:solidFill>
            <a:ln w="3175">
              <a:solidFill>
                <a:srgbClr val="01BCFF"/>
              </a:solid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事計F資料用!$D$27:$U$27</c:f>
              <c:numCache>
                <c:formatCode>General</c:formatCode>
                <c:ptCount val="18"/>
                <c:pt idx="7" formatCode="0">
                  <c:v>549.33900000000006</c:v>
                </c:pt>
                <c:pt idx="9" formatCode="0">
                  <c:v>559.51198999999997</c:v>
                </c:pt>
                <c:pt idx="11" formatCode="0">
                  <c:v>504.68900999999994</c:v>
                </c:pt>
                <c:pt idx="13" formatCode="0">
                  <c:v>524.85218000000009</c:v>
                </c:pt>
                <c:pt idx="15" formatCode="0">
                  <c:v>545.46865000000014</c:v>
                </c:pt>
                <c:pt idx="17" formatCode="0">
                  <c:v>590.30204000000003</c:v>
                </c:pt>
              </c:numCache>
            </c:numRef>
          </c:val>
          <c:extLst>
            <c:ext xmlns:c16="http://schemas.microsoft.com/office/drawing/2014/chart" uri="{C3380CC4-5D6E-409C-BE32-E72D297353CC}">
              <c16:uniqueId val="{0000004E-32C0-4454-B680-DE6B6E88513C}"/>
            </c:ext>
          </c:extLst>
        </c:ser>
        <c:ser>
          <c:idx val="19"/>
          <c:order val="20"/>
          <c:spPr>
            <a:solidFill>
              <a:schemeClr val="accent2">
                <a:lumMod val="80000"/>
              </a:schemeClr>
            </a:solidFill>
            <a:ln w="3175">
              <a:solidFill>
                <a:schemeClr val="accent2">
                  <a:lumMod val="75000"/>
                </a:schemeClr>
              </a:solid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事計F資料用!$D$28:$U$28</c:f>
              <c:numCache>
                <c:formatCode>General</c:formatCode>
                <c:ptCount val="18"/>
                <c:pt idx="7">
                  <c:v>24</c:v>
                </c:pt>
              </c:numCache>
            </c:numRef>
          </c:val>
          <c:extLst>
            <c:ext xmlns:c16="http://schemas.microsoft.com/office/drawing/2014/chart" uri="{C3380CC4-5D6E-409C-BE32-E72D297353CC}">
              <c16:uniqueId val="{0000004F-32C0-4454-B680-DE6B6E88513C}"/>
            </c:ext>
          </c:extLst>
        </c:ser>
        <c:ser>
          <c:idx val="20"/>
          <c:order val="21"/>
          <c:spPr>
            <a:solidFill>
              <a:schemeClr val="accent2">
                <a:lumMod val="60000"/>
                <a:lumOff val="40000"/>
                <a:alpha val="80000"/>
              </a:schemeClr>
            </a:solidFill>
            <a:ln w="3175">
              <a:solidFill>
                <a:schemeClr val="accent2">
                  <a:lumMod val="75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ja-JP" sz="120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事計F資料用!$D$29:$U$29</c:f>
              <c:numCache>
                <c:formatCode>General</c:formatCode>
                <c:ptCount val="18"/>
                <c:pt idx="7" formatCode="0">
                  <c:v>205</c:v>
                </c:pt>
                <c:pt idx="9" formatCode="0">
                  <c:v>205</c:v>
                </c:pt>
                <c:pt idx="11" formatCode="0">
                  <c:v>205</c:v>
                </c:pt>
                <c:pt idx="13" formatCode="0">
                  <c:v>205</c:v>
                </c:pt>
                <c:pt idx="15" formatCode="0">
                  <c:v>205</c:v>
                </c:pt>
                <c:pt idx="17" formatCode="0">
                  <c:v>205</c:v>
                </c:pt>
              </c:numCache>
            </c:numRef>
          </c:val>
          <c:extLst>
            <c:ext xmlns:c16="http://schemas.microsoft.com/office/drawing/2014/chart" uri="{C3380CC4-5D6E-409C-BE32-E72D297353CC}">
              <c16:uniqueId val="{00000050-32C0-4454-B680-DE6B6E88513C}"/>
            </c:ext>
          </c:extLst>
        </c:ser>
        <c:ser>
          <c:idx val="21"/>
          <c:order val="22"/>
          <c:spPr>
            <a:solidFill>
              <a:schemeClr val="bg1">
                <a:lumMod val="65000"/>
                <a:alpha val="80000"/>
              </a:schemeClr>
            </a:solidFill>
            <a:ln w="3175">
              <a:solidFill>
                <a:schemeClr val="bg1">
                  <a:lumMod val="50000"/>
                </a:schemeClr>
              </a:solidFill>
            </a:ln>
            <a:effectLst/>
          </c:spPr>
          <c:invertIfNegative val="0"/>
          <c:cat>
            <c:multiLvlStrRef>
              <c:f>事計F資料用!$D$1:$U$2</c:f>
              <c:multiLvlStrCache>
                <c:ptCount val="18"/>
                <c:lvl>
                  <c:pt idx="6">
                    <c:v>旧</c:v>
                  </c:pt>
                  <c:pt idx="7">
                    <c:v>新</c:v>
                  </c:pt>
                  <c:pt idx="8">
                    <c:v>旧</c:v>
                  </c:pt>
                  <c:pt idx="9">
                    <c:v>新</c:v>
                  </c:pt>
                  <c:pt idx="10">
                    <c:v>旧</c:v>
                  </c:pt>
                  <c:pt idx="11">
                    <c:v>新</c:v>
                  </c:pt>
                  <c:pt idx="12">
                    <c:v>旧</c:v>
                  </c:pt>
                  <c:pt idx="13">
                    <c:v>新</c:v>
                  </c:pt>
                  <c:pt idx="14">
                    <c:v>旧</c:v>
                  </c:pt>
                  <c:pt idx="15">
                    <c:v>新</c:v>
                  </c:pt>
                  <c:pt idx="16">
                    <c:v>旧</c:v>
                  </c:pt>
                  <c:pt idx="17">
                    <c:v>新</c:v>
                  </c:pt>
                </c:lvl>
                <c:lvl>
                  <c:pt idx="0">
                    <c:v>2018</c:v>
                  </c:pt>
                  <c:pt idx="1">
                    <c:v>2019</c:v>
                  </c:pt>
                  <c:pt idx="2">
                    <c:v>2020</c:v>
                  </c:pt>
                  <c:pt idx="3">
                    <c:v>2021</c:v>
                  </c:pt>
                  <c:pt idx="4">
                    <c:v>2022</c:v>
                  </c:pt>
                  <c:pt idx="6">
                    <c:v>2023</c:v>
                  </c:pt>
                  <c:pt idx="8">
                    <c:v>2024</c:v>
                  </c:pt>
                  <c:pt idx="10">
                    <c:v>2025</c:v>
                  </c:pt>
                  <c:pt idx="12">
                    <c:v>2026</c:v>
                  </c:pt>
                  <c:pt idx="14">
                    <c:v>2027</c:v>
                  </c:pt>
                  <c:pt idx="16">
                    <c:v>2028</c:v>
                  </c:pt>
                </c:lvl>
              </c:multiLvlStrCache>
            </c:multiLvlStrRef>
          </c:cat>
          <c:val>
            <c:numRef>
              <c:f>事計F資料用!$D$30:$U$30</c:f>
              <c:numCache>
                <c:formatCode>General</c:formatCode>
                <c:ptCount val="18"/>
                <c:pt idx="7" formatCode="0">
                  <c:v>148</c:v>
                </c:pt>
                <c:pt idx="9" formatCode="0">
                  <c:v>13</c:v>
                </c:pt>
                <c:pt idx="11" formatCode="0">
                  <c:v>13</c:v>
                </c:pt>
                <c:pt idx="13" formatCode="0">
                  <c:v>14</c:v>
                </c:pt>
                <c:pt idx="15" formatCode="0">
                  <c:v>14</c:v>
                </c:pt>
                <c:pt idx="17" formatCode="0">
                  <c:v>15.5</c:v>
                </c:pt>
              </c:numCache>
            </c:numRef>
          </c:val>
          <c:extLst>
            <c:ext xmlns:c16="http://schemas.microsoft.com/office/drawing/2014/chart" uri="{C3380CC4-5D6E-409C-BE32-E72D297353CC}">
              <c16:uniqueId val="{00000051-32C0-4454-B680-DE6B6E88513C}"/>
            </c:ext>
          </c:extLst>
        </c:ser>
        <c:dLbls>
          <c:showLegendKey val="0"/>
          <c:showVal val="0"/>
          <c:showCatName val="0"/>
          <c:showSerName val="0"/>
          <c:showPercent val="0"/>
          <c:showBubbleSize val="0"/>
        </c:dLbls>
        <c:gapWidth val="20"/>
        <c:overlap val="100"/>
        <c:axId val="332326736"/>
        <c:axId val="332326408"/>
      </c:barChart>
      <c:lineChart>
        <c:grouping val="standard"/>
        <c:varyColors val="0"/>
        <c:ser>
          <c:idx val="10"/>
          <c:order val="10"/>
          <c:tx>
            <c:strRef>
              <c:f>事計F資料用!$C$14</c:f>
              <c:strCache>
                <c:ptCount val="1"/>
                <c:pt idx="0">
                  <c:v>サービスMHI単体</c:v>
                </c:pt>
              </c:strCache>
            </c:strRef>
          </c:tx>
          <c:spPr>
            <a:ln w="3175" cap="rnd">
              <a:solidFill>
                <a:schemeClr val="accent5">
                  <a:lumMod val="60000"/>
                </a:schemeClr>
              </a:solidFill>
              <a:round/>
            </a:ln>
            <a:effectLst/>
          </c:spPr>
          <c:marker>
            <c:symbol val="circle"/>
            <c:size val="4"/>
            <c:spPr>
              <a:solidFill>
                <a:schemeClr val="accent5"/>
              </a:solidFill>
              <a:ln w="9525">
                <a:solidFill>
                  <a:schemeClr val="accent5">
                    <a:lumMod val="75000"/>
                  </a:schemeClr>
                </a:solidFill>
              </a:ln>
              <a:effectLst/>
            </c:spPr>
          </c:marker>
          <c:dLbls>
            <c:dLbl>
              <c:idx val="0"/>
              <c:layout>
                <c:manualLayout>
                  <c:x val="-3.1460480529829415E-2"/>
                  <c:y val="3.11350733187310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2-32C0-4454-B680-DE6B6E88513C}"/>
                </c:ext>
              </c:extLst>
            </c:dLbl>
            <c:dLbl>
              <c:idx val="1"/>
              <c:layout>
                <c:manualLayout>
                  <c:x val="-3.1454694922333902E-2"/>
                  <c:y val="3.68479574268831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3-32C0-4454-B680-DE6B6E88513C}"/>
                </c:ext>
              </c:extLst>
            </c:dLbl>
            <c:dLbl>
              <c:idx val="2"/>
              <c:layout>
                <c:manualLayout>
                  <c:x val="-3.1448392742740611E-2"/>
                  <c:y val="3.117904089967044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4-32C0-4454-B680-DE6B6E88513C}"/>
                </c:ext>
              </c:extLst>
            </c:dLbl>
            <c:dLbl>
              <c:idx val="3"/>
              <c:layout>
                <c:manualLayout>
                  <c:x val="-2.2229647085174782E-2"/>
                  <c:y val="3.40134991632767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5-32C0-4454-B680-DE6B6E88513C}"/>
                </c:ext>
              </c:extLst>
            </c:dLbl>
            <c:dLbl>
              <c:idx val="4"/>
              <c:layout>
                <c:manualLayout>
                  <c:x val="1.4564417415536187E-2"/>
                  <c:y val="1.10762196501115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6-32C0-4454-B680-DE6B6E88513C}"/>
                </c:ext>
              </c:extLst>
            </c:dLbl>
            <c:dLbl>
              <c:idx val="6"/>
              <c:layout>
                <c:manualLayout>
                  <c:x val="1.9757328153767299E-2"/>
                  <c:y val="0"/>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7-32C0-4454-B680-DE6B6E88513C}"/>
                </c:ext>
              </c:extLst>
            </c:dLbl>
            <c:dLbl>
              <c:idx val="7"/>
              <c:layout>
                <c:manualLayout>
                  <c:x val="-2.5133546320681956E-2"/>
                  <c:y val="2.51987145572793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8-32C0-4454-B680-DE6B6E88513C}"/>
                </c:ext>
              </c:extLst>
            </c:dLbl>
            <c:dLbl>
              <c:idx val="8"/>
              <c:layout>
                <c:manualLayout>
                  <c:x val="2.3708793784520874E-2"/>
                  <c:y val="0"/>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9-32C0-4454-B680-DE6B6E88513C}"/>
                </c:ext>
              </c:extLst>
            </c:dLbl>
            <c:dLbl>
              <c:idx val="9"/>
              <c:layout>
                <c:manualLayout>
                  <c:x val="-2.3574206933881299E-2"/>
                  <c:y val="1.88990359179596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A-32C0-4454-B680-DE6B6E88513C}"/>
                </c:ext>
              </c:extLst>
            </c:dLbl>
            <c:dLbl>
              <c:idx val="10"/>
              <c:layout>
                <c:manualLayout>
                  <c:x val="1.8440172943516235E-2"/>
                  <c:y val="-1.047346817140893E-1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B-32C0-4454-B680-DE6B6E88513C}"/>
                </c:ext>
              </c:extLst>
            </c:dLbl>
            <c:dLbl>
              <c:idx val="11"/>
              <c:layout>
                <c:manualLayout>
                  <c:x val="-2.2919388720051396E-2"/>
                  <c:y val="1.5490394624733167E-2"/>
                </c:manualLayout>
              </c:layout>
              <c:spPr>
                <a:solidFill>
                  <a:schemeClr val="bg1">
                    <a:lumMod val="95000"/>
                    <a:alpha val="60000"/>
                  </a:schemeClr>
                </a:solidFill>
                <a:ln>
                  <a:noFill/>
                </a:ln>
                <a:effectLst/>
              </c:spPr>
              <c:txPr>
                <a:bodyPr rot="0" spcFirstLastPara="1" vertOverflow="ellipsis" vert="horz" wrap="square" lIns="0" tIns="0" rIns="0" bIns="0" anchor="ctr" anchorCtr="1">
                  <a:noAutofit/>
                </a:bodyPr>
                <a:lstStyle/>
                <a:p>
                  <a:pPr>
                    <a:defRPr lang="ja-JP" sz="1200" b="1" i="0" u="none" strike="noStrike" kern="1200" baseline="0">
                      <a:solidFill>
                        <a:srgbClr val="006487"/>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3.6144365852224858E-2"/>
                      <c:h val="6.3731719227560435E-2"/>
                    </c:manualLayout>
                  </c15:layout>
                </c:ext>
                <c:ext xmlns:c16="http://schemas.microsoft.com/office/drawing/2014/chart" uri="{C3380CC4-5D6E-409C-BE32-E72D297353CC}">
                  <c16:uniqueId val="{0000005C-32C0-4454-B680-DE6B6E88513C}"/>
                </c:ext>
              </c:extLst>
            </c:dLbl>
            <c:dLbl>
              <c:idx val="12"/>
              <c:layout>
                <c:manualLayout>
                  <c:x val="1.9757328153767396E-2"/>
                  <c:y val="-1.047346817140893E-1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D-32C0-4454-B680-DE6B6E88513C}"/>
                </c:ext>
              </c:extLst>
            </c:dLbl>
            <c:dLbl>
              <c:idx val="13"/>
              <c:layout>
                <c:manualLayout>
                  <c:x val="-2.2264549042335741E-2"/>
                  <c:y val="1.4082176931575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E-32C0-4454-B680-DE6B6E88513C}"/>
                </c:ext>
              </c:extLst>
            </c:dLbl>
            <c:dLbl>
              <c:idx val="15"/>
              <c:layout>
                <c:manualLayout>
                  <c:x val="-2.2264549042335834E-2"/>
                  <c:y val="8.449306158945419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F-32C0-4454-B680-DE6B6E88513C}"/>
                </c:ext>
              </c:extLst>
            </c:dLbl>
            <c:dLbl>
              <c:idx val="17"/>
              <c:layout>
                <c:manualLayout>
                  <c:x val="-2.2264549042335643E-2"/>
                  <c:y val="1.97150477042058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0-32C0-4454-B680-DE6B6E88513C}"/>
                </c:ext>
              </c:extLst>
            </c:dLbl>
            <c:spPr>
              <a:solidFill>
                <a:schemeClr val="bg1">
                  <a:lumMod val="95000"/>
                  <a:alpha val="60000"/>
                </a:schemeClr>
              </a:solidFill>
              <a:ln>
                <a:noFill/>
              </a:ln>
              <a:effectLst/>
            </c:spPr>
            <c:txPr>
              <a:bodyPr rot="0" spcFirstLastPara="1" vertOverflow="ellipsis" vert="horz" wrap="square" lIns="0" tIns="0" rIns="0" bIns="0" anchor="ctr" anchorCtr="1">
                <a:spAutoFit/>
              </a:bodyPr>
              <a:lstStyle/>
              <a:p>
                <a:pPr>
                  <a:defRPr lang="ja-JP" sz="1200" b="1" i="0" u="none" strike="noStrike" kern="1200" baseline="0">
                    <a:solidFill>
                      <a:srgbClr val="006487"/>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numRef>
              <c:f>事計F資料用!$D$1:$U$1</c:f>
              <c:numCache>
                <c:formatCode>General</c:formatCode>
                <c:ptCount val="18"/>
                <c:pt idx="0">
                  <c:v>2018</c:v>
                </c:pt>
                <c:pt idx="1">
                  <c:v>2019</c:v>
                </c:pt>
                <c:pt idx="2">
                  <c:v>2020</c:v>
                </c:pt>
                <c:pt idx="3">
                  <c:v>2021</c:v>
                </c:pt>
                <c:pt idx="4">
                  <c:v>2022</c:v>
                </c:pt>
                <c:pt idx="6">
                  <c:v>2023</c:v>
                </c:pt>
                <c:pt idx="8">
                  <c:v>2024</c:v>
                </c:pt>
                <c:pt idx="10">
                  <c:v>2025</c:v>
                </c:pt>
                <c:pt idx="12">
                  <c:v>2026</c:v>
                </c:pt>
                <c:pt idx="14">
                  <c:v>2027</c:v>
                </c:pt>
                <c:pt idx="16">
                  <c:v>2028</c:v>
                </c:pt>
              </c:numCache>
            </c:numRef>
          </c:cat>
          <c:val>
            <c:numRef>
              <c:f>事計F資料用!$D$14:$U$14</c:f>
              <c:numCache>
                <c:formatCode>#,##0_);[Red]\(#,##0\)</c:formatCode>
                <c:ptCount val="18"/>
                <c:pt idx="0">
                  <c:v>1219.5227549800002</c:v>
                </c:pt>
                <c:pt idx="1">
                  <c:v>1362.2998674800001</c:v>
                </c:pt>
                <c:pt idx="2">
                  <c:v>1215.9024490400002</c:v>
                </c:pt>
                <c:pt idx="3">
                  <c:v>931.63770099999999</c:v>
                </c:pt>
                <c:pt idx="4">
                  <c:v>1153</c:v>
                </c:pt>
                <c:pt idx="5">
                  <c:v>#N/A</c:v>
                </c:pt>
                <c:pt idx="6">
                  <c:v>#N/A</c:v>
                </c:pt>
                <c:pt idx="7">
                  <c:v>934.21</c:v>
                </c:pt>
                <c:pt idx="8">
                  <c:v>#N/A</c:v>
                </c:pt>
                <c:pt idx="9">
                  <c:v>842.01200000000006</c:v>
                </c:pt>
                <c:pt idx="10">
                  <c:v>#N/A</c:v>
                </c:pt>
                <c:pt idx="11">
                  <c:v>759.14</c:v>
                </c:pt>
                <c:pt idx="12">
                  <c:v>#N/A</c:v>
                </c:pt>
                <c:pt idx="13">
                  <c:v>808.11</c:v>
                </c:pt>
                <c:pt idx="14">
                  <c:v>#N/A</c:v>
                </c:pt>
                <c:pt idx="15">
                  <c:v>726.53</c:v>
                </c:pt>
                <c:pt idx="16">
                  <c:v>#N/A</c:v>
                </c:pt>
                <c:pt idx="17">
                  <c:v>678.97</c:v>
                </c:pt>
              </c:numCache>
            </c:numRef>
          </c:val>
          <c:smooth val="0"/>
          <c:extLst>
            <c:ext xmlns:c16="http://schemas.microsoft.com/office/drawing/2014/chart" uri="{C3380CC4-5D6E-409C-BE32-E72D297353CC}">
              <c16:uniqueId val="{00000061-32C0-4454-B680-DE6B6E88513C}"/>
            </c:ext>
          </c:extLst>
        </c:ser>
        <c:ser>
          <c:idx val="24"/>
          <c:order val="23"/>
          <c:spPr>
            <a:ln w="9525" cap="rnd">
              <a:solidFill>
                <a:schemeClr val="accent1">
                  <a:lumMod val="60000"/>
                  <a:lumOff val="40000"/>
                </a:schemeClr>
              </a:solidFill>
              <a:round/>
            </a:ln>
            <a:effectLst/>
          </c:spPr>
          <c:marker>
            <c:symbol val="circle"/>
            <c:size val="5"/>
            <c:spPr>
              <a:solidFill>
                <a:srgbClr val="00B0F0"/>
              </a:solidFill>
              <a:ln w="9525">
                <a:solidFill>
                  <a:schemeClr val="accent1">
                    <a:lumMod val="60000"/>
                    <a:lumOff val="40000"/>
                  </a:schemeClr>
                </a:solidFill>
              </a:ln>
              <a:effectLst/>
            </c:spPr>
          </c:marker>
          <c:cat>
            <c:numRef>
              <c:f>事計F資料用!$D$1:$U$1</c:f>
              <c:numCache>
                <c:formatCode>General</c:formatCode>
                <c:ptCount val="18"/>
                <c:pt idx="0">
                  <c:v>2018</c:v>
                </c:pt>
                <c:pt idx="1">
                  <c:v>2019</c:v>
                </c:pt>
                <c:pt idx="2">
                  <c:v>2020</c:v>
                </c:pt>
                <c:pt idx="3">
                  <c:v>2021</c:v>
                </c:pt>
                <c:pt idx="4">
                  <c:v>2022</c:v>
                </c:pt>
                <c:pt idx="6">
                  <c:v>2023</c:v>
                </c:pt>
                <c:pt idx="8">
                  <c:v>2024</c:v>
                </c:pt>
                <c:pt idx="10">
                  <c:v>2025</c:v>
                </c:pt>
                <c:pt idx="12">
                  <c:v>2026</c:v>
                </c:pt>
                <c:pt idx="14">
                  <c:v>2027</c:v>
                </c:pt>
                <c:pt idx="16">
                  <c:v>2028</c:v>
                </c:pt>
              </c:numCache>
            </c:numRef>
          </c:cat>
          <c:val>
            <c:numRef>
              <c:f>事計F資料用!$D$33:$U$33</c:f>
              <c:numCache>
                <c:formatCode>#,##0_);[Red]\(#,##0\)</c:formatCode>
                <c:ptCount val="18"/>
                <c:pt idx="0">
                  <c:v>1898.5227549800002</c:v>
                </c:pt>
                <c:pt idx="1">
                  <c:v>2078.2998674800001</c:v>
                </c:pt>
                <c:pt idx="2">
                  <c:v>1909.9024490400002</c:v>
                </c:pt>
                <c:pt idx="3">
                  <c:v>1726.6377010000001</c:v>
                </c:pt>
                <c:pt idx="4">
                  <c:v>2088.87</c:v>
                </c:pt>
                <c:pt idx="5">
                  <c:v>#N/A</c:v>
                </c:pt>
                <c:pt idx="6">
                  <c:v>#N/A</c:v>
                </c:pt>
                <c:pt idx="7">
                  <c:v>1805.6790000000001</c:v>
                </c:pt>
                <c:pt idx="8">
                  <c:v>#N/A</c:v>
                </c:pt>
                <c:pt idx="9">
                  <c:v>1740.65399</c:v>
                </c:pt>
                <c:pt idx="10">
                  <c:v>#N/A</c:v>
                </c:pt>
                <c:pt idx="11">
                  <c:v>1550.95901</c:v>
                </c:pt>
                <c:pt idx="12">
                  <c:v>#N/A</c:v>
                </c:pt>
                <c:pt idx="13">
                  <c:v>1634.0921800000001</c:v>
                </c:pt>
                <c:pt idx="14">
                  <c:v>#N/A</c:v>
                </c:pt>
                <c:pt idx="15">
                  <c:v>1568.1286500000001</c:v>
                </c:pt>
                <c:pt idx="16">
                  <c:v>#N/A</c:v>
                </c:pt>
                <c:pt idx="17">
                  <c:v>1560.4020399999999</c:v>
                </c:pt>
              </c:numCache>
            </c:numRef>
          </c:val>
          <c:smooth val="0"/>
          <c:extLst>
            <c:ext xmlns:c16="http://schemas.microsoft.com/office/drawing/2014/chart" uri="{C3380CC4-5D6E-409C-BE32-E72D297353CC}">
              <c16:uniqueId val="{00000062-32C0-4454-B680-DE6B6E88513C}"/>
            </c:ext>
          </c:extLst>
        </c:ser>
        <c:ser>
          <c:idx val="25"/>
          <c:order val="24"/>
          <c:spPr>
            <a:ln w="28575" cap="rnd">
              <a:noFill/>
              <a:round/>
            </a:ln>
            <a:effectLst/>
          </c:spPr>
          <c:marker>
            <c:symbol val="circle"/>
            <c:size val="5"/>
            <c:spPr>
              <a:solidFill>
                <a:schemeClr val="accent2">
                  <a:lumMod val="60000"/>
                  <a:lumOff val="40000"/>
                </a:schemeClr>
              </a:solidFill>
              <a:ln w="9525">
                <a:solidFill>
                  <a:schemeClr val="accent2">
                    <a:lumMod val="60000"/>
                    <a:lumOff val="40000"/>
                  </a:schemeClr>
                </a:solidFill>
              </a:ln>
              <a:effectLst/>
            </c:spPr>
          </c:marker>
          <c:dLbls>
            <c:dLbl>
              <c:idx val="7"/>
              <c:layout>
                <c:manualLayout>
                  <c:x val="-3.9133219140293565E-2"/>
                  <c:y val="-5.5342955341092501E-2"/>
                </c:manualLayout>
              </c:layout>
              <c:spPr>
                <a:noFill/>
                <a:ln>
                  <a:noFill/>
                </a:ln>
                <a:effectLst/>
              </c:spPr>
              <c:txPr>
                <a:bodyPr rot="0" spcFirstLastPara="1" vertOverflow="ellipsis" vert="horz" wrap="square" lIns="38100" tIns="19050" rIns="38100" bIns="19050" anchor="ctr" anchorCtr="1">
                  <a:spAutoFit/>
                </a:bodyPr>
                <a:lstStyle/>
                <a:p>
                  <a:pPr>
                    <a:defRPr lang="ja-JP" sz="140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3-32C0-4454-B680-DE6B6E88513C}"/>
                </c:ext>
              </c:extLst>
            </c:dLbl>
            <c:dLbl>
              <c:idx val="9"/>
              <c:layout>
                <c:manualLayout>
                  <c:x val="-3.9133219140293468E-2"/>
                  <c:y val="-4.6893649182147085E-2"/>
                </c:manualLayout>
              </c:layout>
              <c:spPr>
                <a:noFill/>
                <a:ln>
                  <a:noFill/>
                </a:ln>
                <a:effectLst/>
              </c:spPr>
              <c:txPr>
                <a:bodyPr rot="0" spcFirstLastPara="1" vertOverflow="ellipsis" vert="horz" wrap="square" lIns="38100" tIns="19050" rIns="38100" bIns="19050" anchor="ctr" anchorCtr="1">
                  <a:spAutoFit/>
                </a:bodyPr>
                <a:lstStyle/>
                <a:p>
                  <a:pPr>
                    <a:defRPr lang="ja-JP" sz="140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4-32C0-4454-B680-DE6B6E88513C}"/>
                </c:ext>
              </c:extLst>
            </c:dLbl>
            <c:dLbl>
              <c:idx val="11"/>
              <c:spPr>
                <a:noFill/>
                <a:ln>
                  <a:noFill/>
                </a:ln>
                <a:effectLst/>
              </c:spPr>
              <c:txPr>
                <a:bodyPr rot="0" spcFirstLastPara="1" vertOverflow="ellipsis" vert="horz" wrap="square" lIns="38100" tIns="19050" rIns="38100" bIns="19050" anchor="ctr" anchorCtr="1">
                  <a:spAutoFit/>
                </a:bodyPr>
                <a:lstStyle/>
                <a:p>
                  <a:pPr>
                    <a:defRPr lang="ja-JP" sz="140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65-32C0-4454-B680-DE6B6E88513C}"/>
                </c:ext>
              </c:extLst>
            </c:dLbl>
            <c:dLbl>
              <c:idx val="13"/>
              <c:layout>
                <c:manualLayout>
                  <c:x val="-3.9133219140293565E-2"/>
                  <c:y val="-4.6893649182147085E-2"/>
                </c:manualLayout>
              </c:layout>
              <c:spPr>
                <a:noFill/>
                <a:ln>
                  <a:noFill/>
                </a:ln>
                <a:effectLst/>
              </c:spPr>
              <c:txPr>
                <a:bodyPr rot="0" spcFirstLastPara="1" vertOverflow="ellipsis" vert="horz" wrap="square" lIns="38100" tIns="19050" rIns="38100" bIns="19050" anchor="ctr" anchorCtr="1">
                  <a:spAutoFit/>
                </a:bodyPr>
                <a:lstStyle/>
                <a:p>
                  <a:pPr>
                    <a:defRPr lang="ja-JP" sz="140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6-32C0-4454-B680-DE6B6E88513C}"/>
                </c:ext>
              </c:extLst>
            </c:dLbl>
            <c:dLbl>
              <c:idx val="15"/>
              <c:layout>
                <c:manualLayout>
                  <c:x val="-3.9133219140293565E-2"/>
                  <c:y val="-4.6893649182147085E-2"/>
                </c:manualLayout>
              </c:layout>
              <c:spPr>
                <a:noFill/>
                <a:ln>
                  <a:noFill/>
                </a:ln>
                <a:effectLst/>
              </c:spPr>
              <c:txPr>
                <a:bodyPr rot="0" spcFirstLastPara="1" vertOverflow="ellipsis" vert="horz" wrap="square" lIns="38100" tIns="19050" rIns="38100" bIns="19050" anchor="ctr" anchorCtr="1">
                  <a:spAutoFit/>
                </a:bodyPr>
                <a:lstStyle/>
                <a:p>
                  <a:pPr>
                    <a:defRPr lang="ja-JP" sz="140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7-32C0-4454-B680-DE6B6E88513C}"/>
                </c:ext>
              </c:extLst>
            </c:dLbl>
            <c:dLbl>
              <c:idx val="17"/>
              <c:layout>
                <c:manualLayout>
                  <c:x val="-3.9133219140293662E-2"/>
                  <c:y val="-4.4077213795831939E-2"/>
                </c:manualLayout>
              </c:layout>
              <c:spPr>
                <a:noFill/>
                <a:ln>
                  <a:noFill/>
                </a:ln>
                <a:effectLst/>
              </c:spPr>
              <c:txPr>
                <a:bodyPr rot="0" spcFirstLastPara="1" vertOverflow="ellipsis" vert="horz" wrap="square" lIns="38100" tIns="19050" rIns="38100" bIns="19050" anchor="ctr" anchorCtr="1">
                  <a:spAutoFit/>
                </a:bodyPr>
                <a:lstStyle/>
                <a:p>
                  <a:pPr>
                    <a:defRPr lang="ja-JP" sz="140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8-32C0-4454-B680-DE6B6E88513C}"/>
                </c:ext>
              </c:extLst>
            </c:dLbl>
            <c:spPr>
              <a:noFill/>
              <a:ln>
                <a:noFill/>
              </a:ln>
              <a:effectLst/>
            </c:spPr>
            <c:txPr>
              <a:bodyPr rot="0" spcFirstLastPara="1" vertOverflow="ellipsis" vert="horz" wrap="square" lIns="38100" tIns="19050" rIns="38100" bIns="19050" anchor="ctr" anchorCtr="1">
                <a:spAutoFit/>
              </a:bodyPr>
              <a:lstStyle/>
              <a:p>
                <a:pPr>
                  <a:defRPr lang="ja-JP" sz="1400" b="0"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事計F資料用!$D$1:$U$1</c:f>
              <c:numCache>
                <c:formatCode>General</c:formatCode>
                <c:ptCount val="18"/>
                <c:pt idx="0">
                  <c:v>2018</c:v>
                </c:pt>
                <c:pt idx="1">
                  <c:v>2019</c:v>
                </c:pt>
                <c:pt idx="2">
                  <c:v>2020</c:v>
                </c:pt>
                <c:pt idx="3">
                  <c:v>2021</c:v>
                </c:pt>
                <c:pt idx="4">
                  <c:v>2022</c:v>
                </c:pt>
                <c:pt idx="6">
                  <c:v>2023</c:v>
                </c:pt>
                <c:pt idx="8">
                  <c:v>2024</c:v>
                </c:pt>
                <c:pt idx="10">
                  <c:v>2025</c:v>
                </c:pt>
                <c:pt idx="12">
                  <c:v>2026</c:v>
                </c:pt>
                <c:pt idx="14">
                  <c:v>2027</c:v>
                </c:pt>
                <c:pt idx="16">
                  <c:v>2028</c:v>
                </c:pt>
              </c:numCache>
            </c:numRef>
          </c:cat>
          <c:val>
            <c:numRef>
              <c:f>事計F資料用!$D$35:$U$35</c:f>
              <c:numCache>
                <c:formatCode>General</c:formatCode>
                <c:ptCount val="18"/>
                <c:pt idx="7" formatCode="#,##0_);[Red]\(#,##0\)">
                  <c:v>2182.6790000000001</c:v>
                </c:pt>
                <c:pt idx="8" formatCode="#,##0_);[Red]\(#,##0\)">
                  <c:v>#N/A</c:v>
                </c:pt>
                <c:pt idx="9" formatCode="#,##0_);[Red]\(#,##0\)">
                  <c:v>1958.65399</c:v>
                </c:pt>
                <c:pt idx="10" formatCode="#,##0_);[Red]\(#,##0\)">
                  <c:v>#N/A</c:v>
                </c:pt>
                <c:pt idx="11" formatCode="#,##0_);[Red]\(#,##0\)">
                  <c:v>1768.95901</c:v>
                </c:pt>
                <c:pt idx="12" formatCode="#,##0_);[Red]\(#,##0\)">
                  <c:v>#N/A</c:v>
                </c:pt>
                <c:pt idx="13" formatCode="#,##0_);[Red]\(#,##0\)">
                  <c:v>1853.0921800000001</c:v>
                </c:pt>
                <c:pt idx="14" formatCode="#,##0_);[Red]\(#,##0\)">
                  <c:v>#N/A</c:v>
                </c:pt>
                <c:pt idx="15" formatCode="#,##0_);[Red]\(#,##0\)">
                  <c:v>1787.1286500000001</c:v>
                </c:pt>
                <c:pt idx="16" formatCode="#,##0_);[Red]\(#,##0\)">
                  <c:v>#N/A</c:v>
                </c:pt>
                <c:pt idx="17" formatCode="#,##0_);[Red]\(#,##0\)">
                  <c:v>1780.9020399999999</c:v>
                </c:pt>
              </c:numCache>
            </c:numRef>
          </c:val>
          <c:smooth val="0"/>
          <c:extLst>
            <c:ext xmlns:c16="http://schemas.microsoft.com/office/drawing/2014/chart" uri="{C3380CC4-5D6E-409C-BE32-E72D297353CC}">
              <c16:uniqueId val="{00000069-32C0-4454-B680-DE6B6E88513C}"/>
            </c:ext>
          </c:extLst>
        </c:ser>
        <c:dLbls>
          <c:showLegendKey val="0"/>
          <c:showVal val="0"/>
          <c:showCatName val="0"/>
          <c:showSerName val="0"/>
          <c:showPercent val="0"/>
          <c:showBubbleSize val="0"/>
        </c:dLbls>
        <c:marker val="1"/>
        <c:smooth val="0"/>
        <c:axId val="332326736"/>
        <c:axId val="332326408"/>
      </c:lineChart>
      <c:lineChart>
        <c:grouping val="standard"/>
        <c:varyColors val="0"/>
        <c:ser>
          <c:idx val="11"/>
          <c:order val="11"/>
          <c:tx>
            <c:strRef>
              <c:f>事計F資料用!$C$15</c:f>
              <c:strCache>
                <c:ptCount val="1"/>
                <c:pt idx="0">
                  <c:v>サービスG会社</c:v>
                </c:pt>
              </c:strCache>
            </c:strRef>
          </c:tx>
          <c:spPr>
            <a:ln w="3175" cap="rnd">
              <a:noFill/>
              <a:round/>
            </a:ln>
            <a:effectLst/>
          </c:spPr>
          <c:marker>
            <c:symbol val="none"/>
          </c:marker>
          <c:dLbls>
            <c:dLbl>
              <c:idx val="0"/>
              <c:layout>
                <c:manualLayout>
                  <c:x val="-2.6023455885930975E-2"/>
                  <c:y val="-1.98412078452448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A-32C0-4454-B680-DE6B6E88513C}"/>
                </c:ext>
              </c:extLst>
            </c:dLbl>
            <c:dLbl>
              <c:idx val="1"/>
              <c:layout>
                <c:manualLayout>
                  <c:x val="-2.2463654245483945E-2"/>
                  <c:y val="-3.117904089967044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B-32C0-4454-B680-DE6B6E88513C}"/>
                </c:ext>
              </c:extLst>
            </c:dLbl>
            <c:dLbl>
              <c:idx val="2"/>
              <c:layout>
                <c:manualLayout>
                  <c:x val="-2.4622409042243328E-2"/>
                  <c:y val="-1.133783305442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C-32C0-4454-B680-DE6B6E88513C}"/>
                </c:ext>
              </c:extLst>
            </c:dLbl>
            <c:dLbl>
              <c:idx val="3"/>
              <c:layout>
                <c:manualLayout>
                  <c:x val="-2.4686773925630769E-2"/>
                  <c:y val="1.9859285886138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D-32C0-4454-B680-DE6B6E88513C}"/>
                </c:ext>
              </c:extLst>
            </c:dLbl>
            <c:dLbl>
              <c:idx val="4"/>
              <c:layout>
                <c:manualLayout>
                  <c:x val="2.3589791175413335E-2"/>
                  <c:y val="-4.83300373618453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E-32C0-4454-B680-DE6B6E88513C}"/>
                </c:ext>
              </c:extLst>
            </c:dLbl>
            <c:dLbl>
              <c:idx val="6"/>
              <c:layout>
                <c:manualLayout>
                  <c:x val="2.1232127137213969E-2"/>
                  <c:y val="-1.047346817140893E-1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F-32C0-4454-B680-DE6B6E88513C}"/>
                </c:ext>
              </c:extLst>
            </c:dLbl>
            <c:dLbl>
              <c:idx val="7"/>
              <c:layout>
                <c:manualLayout>
                  <c:x val="-3.037227152317587E-2"/>
                  <c:y val="2.740794924053615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0-32C0-4454-B680-DE6B6E88513C}"/>
                </c:ext>
              </c:extLst>
            </c:dLbl>
            <c:dLbl>
              <c:idx val="8"/>
              <c:layout>
                <c:manualLayout>
                  <c:x val="1.4646351085958074E-2"/>
                  <c:y val="0"/>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1-32C0-4454-B680-DE6B6E88513C}"/>
                </c:ext>
              </c:extLst>
            </c:dLbl>
            <c:dLbl>
              <c:idx val="9"/>
              <c:layout>
                <c:manualLayout>
                  <c:x val="-3.0372271523175814E-2"/>
                  <c:y val="3.794727402930122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2-32C0-4454-B680-DE6B6E88513C}"/>
                </c:ext>
              </c:extLst>
            </c:dLbl>
            <c:dLbl>
              <c:idx val="10"/>
              <c:layout>
                <c:manualLayout>
                  <c:x val="1.6042314657580794E-2"/>
                  <c:y val="0"/>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3-32C0-4454-B680-DE6B6E88513C}"/>
                </c:ext>
              </c:extLst>
            </c:dLbl>
            <c:dLbl>
              <c:idx val="11"/>
              <c:layout>
                <c:manualLayout>
                  <c:x val="-2.6193587108630168E-2"/>
                  <c:y val="4.22465307947271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4-32C0-4454-B680-DE6B6E88513C}"/>
                </c:ext>
              </c:extLst>
            </c:dLbl>
            <c:dLbl>
              <c:idx val="12"/>
              <c:layout>
                <c:manualLayout>
                  <c:x val="1.3171552102511598E-2"/>
                  <c:y val="0"/>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5-32C0-4454-B680-DE6B6E88513C}"/>
                </c:ext>
              </c:extLst>
            </c:dLbl>
            <c:dLbl>
              <c:idx val="13"/>
              <c:layout>
                <c:manualLayout>
                  <c:x val="-2.4883907753198757E-2"/>
                  <c:y val="2.81643538631514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6-32C0-4454-B680-DE6B6E88513C}"/>
                </c:ext>
              </c:extLst>
            </c:dLbl>
            <c:dLbl>
              <c:idx val="15"/>
              <c:layout>
                <c:manualLayout>
                  <c:x val="-2.7503266464061774E-2"/>
                  <c:y val="5.35122723399876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7-32C0-4454-B680-DE6B6E88513C}"/>
                </c:ext>
              </c:extLst>
            </c:dLbl>
            <c:dLbl>
              <c:idx val="17"/>
              <c:layout>
                <c:manualLayout>
                  <c:x val="-2.4883907753198851E-2"/>
                  <c:y val="5.91451431126179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78-32C0-4454-B680-DE6B6E88513C}"/>
                </c:ext>
              </c:extLst>
            </c:dLbl>
            <c:spPr>
              <a:solidFill>
                <a:schemeClr val="bg1">
                  <a:lumMod val="95000"/>
                  <a:alpha val="60000"/>
                </a:schemeClr>
              </a:solidFill>
              <a:ln>
                <a:noFill/>
              </a:ln>
              <a:effectLst/>
            </c:spPr>
            <c:txPr>
              <a:bodyPr rot="0" spcFirstLastPara="1" vertOverflow="ellipsis" vert="horz" wrap="square" anchor="ctr" anchorCtr="1"/>
              <a:lstStyle/>
              <a:p>
                <a:pPr>
                  <a:defRPr lang="ja-JP" sz="1200" b="1" i="0" u="none" strike="noStrike" kern="1200" baseline="0">
                    <a:solidFill>
                      <a:srgbClr val="01BCFF"/>
                    </a:solidFill>
                    <a:latin typeface="メイリオ" panose="020B0604030504040204" pitchFamily="50" charset="-128"/>
                    <a:ea typeface="メイリオ" panose="020B0604030504040204" pitchFamily="50" charset="-128"/>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事計F資料用!$D$1:$T$1</c:f>
              <c:numCache>
                <c:formatCode>General</c:formatCode>
                <c:ptCount val="17"/>
                <c:pt idx="0">
                  <c:v>2018</c:v>
                </c:pt>
                <c:pt idx="1">
                  <c:v>2019</c:v>
                </c:pt>
                <c:pt idx="2">
                  <c:v>2020</c:v>
                </c:pt>
                <c:pt idx="3">
                  <c:v>2021</c:v>
                </c:pt>
                <c:pt idx="4">
                  <c:v>2022</c:v>
                </c:pt>
                <c:pt idx="6">
                  <c:v>2023</c:v>
                </c:pt>
                <c:pt idx="8">
                  <c:v>2024</c:v>
                </c:pt>
                <c:pt idx="10">
                  <c:v>2025</c:v>
                </c:pt>
                <c:pt idx="12">
                  <c:v>2026</c:v>
                </c:pt>
                <c:pt idx="14">
                  <c:v>2027</c:v>
                </c:pt>
                <c:pt idx="16">
                  <c:v>2028</c:v>
                </c:pt>
              </c:numCache>
            </c:numRef>
          </c:cat>
          <c:val>
            <c:numRef>
              <c:f>事計F資料用!$D$15:$U$15</c:f>
              <c:numCache>
                <c:formatCode>#,##0_);[Red]\(#,##0\)</c:formatCode>
                <c:ptCount val="18"/>
                <c:pt idx="0">
                  <c:v>679</c:v>
                </c:pt>
                <c:pt idx="1">
                  <c:v>716</c:v>
                </c:pt>
                <c:pt idx="2">
                  <c:v>694</c:v>
                </c:pt>
                <c:pt idx="3">
                  <c:v>795</c:v>
                </c:pt>
                <c:pt idx="4">
                  <c:v>935.87</c:v>
                </c:pt>
                <c:pt idx="5">
                  <c:v>#N/A</c:v>
                </c:pt>
                <c:pt idx="6">
                  <c:v>#N/A</c:v>
                </c:pt>
                <c:pt idx="7">
                  <c:v>871.46900000000005</c:v>
                </c:pt>
                <c:pt idx="9">
                  <c:v>898.64198999999996</c:v>
                </c:pt>
                <c:pt idx="11">
                  <c:v>791.81900999999993</c:v>
                </c:pt>
                <c:pt idx="12">
                  <c:v>#N/A</c:v>
                </c:pt>
                <c:pt idx="13">
                  <c:v>825.98218000000008</c:v>
                </c:pt>
                <c:pt idx="14">
                  <c:v>#N/A</c:v>
                </c:pt>
                <c:pt idx="15">
                  <c:v>841.59865000000013</c:v>
                </c:pt>
                <c:pt idx="16">
                  <c:v>#N/A</c:v>
                </c:pt>
                <c:pt idx="17">
                  <c:v>881.43204000000003</c:v>
                </c:pt>
              </c:numCache>
            </c:numRef>
          </c:val>
          <c:smooth val="0"/>
          <c:extLst>
            <c:ext xmlns:c16="http://schemas.microsoft.com/office/drawing/2014/chart" uri="{C3380CC4-5D6E-409C-BE32-E72D297353CC}">
              <c16:uniqueId val="{00000079-32C0-4454-B680-DE6B6E88513C}"/>
            </c:ext>
          </c:extLst>
        </c:ser>
        <c:ser>
          <c:idx val="23"/>
          <c:order val="25"/>
          <c:tx>
            <c:strRef>
              <c:f>事計F資料用!$C$36</c:f>
              <c:strCache>
                <c:ptCount val="1"/>
              </c:strCache>
            </c:strRef>
          </c:tx>
          <c:spPr>
            <a:ln w="19050">
              <a:noFill/>
            </a:ln>
          </c:spPr>
          <c:marker>
            <c:symbol val="none"/>
          </c:marker>
          <c:val>
            <c:numRef>
              <c:f>事計F資料用!$D$36:$U$36</c:f>
              <c:numCache>
                <c:formatCode>#,##0_);[Red]\(#,##0\)</c:formatCode>
                <c:ptCount val="18"/>
                <c:pt idx="0">
                  <c:v>#N/A</c:v>
                </c:pt>
                <c:pt idx="1">
                  <c:v>#N/A</c:v>
                </c:pt>
                <c:pt idx="2">
                  <c:v>#N/A</c:v>
                </c:pt>
                <c:pt idx="3">
                  <c:v>#N/A</c:v>
                </c:pt>
                <c:pt idx="4">
                  <c:v>#N/A</c:v>
                </c:pt>
                <c:pt idx="5">
                  <c:v>#N/A</c:v>
                </c:pt>
                <c:pt idx="6">
                  <c:v>930.59</c:v>
                </c:pt>
                <c:pt idx="7">
                  <c:v>#N/A</c:v>
                </c:pt>
                <c:pt idx="8">
                  <c:v>883.952</c:v>
                </c:pt>
                <c:pt idx="9">
                  <c:v>#N/A</c:v>
                </c:pt>
                <c:pt idx="10">
                  <c:v>819.42</c:v>
                </c:pt>
                <c:pt idx="11">
                  <c:v>#N/A</c:v>
                </c:pt>
                <c:pt idx="12">
                  <c:v>880.39</c:v>
                </c:pt>
                <c:pt idx="13">
                  <c:v>#N/A</c:v>
                </c:pt>
                <c:pt idx="14">
                  <c:v>796.81</c:v>
                </c:pt>
                <c:pt idx="15">
                  <c:v>#N/A</c:v>
                </c:pt>
                <c:pt idx="16">
                  <c:v>761.95</c:v>
                </c:pt>
                <c:pt idx="17">
                  <c:v>#N/A</c:v>
                </c:pt>
              </c:numCache>
            </c:numRef>
          </c:val>
          <c:smooth val="0"/>
          <c:extLst>
            <c:ext xmlns:c16="http://schemas.microsoft.com/office/drawing/2014/chart" uri="{C3380CC4-5D6E-409C-BE32-E72D297353CC}">
              <c16:uniqueId val="{0000007A-32C0-4454-B680-DE6B6E88513C}"/>
            </c:ext>
          </c:extLst>
        </c:ser>
        <c:ser>
          <c:idx val="26"/>
          <c:order val="26"/>
          <c:tx>
            <c:strRef>
              <c:f>事計F資料用!$C$37</c:f>
              <c:strCache>
                <c:ptCount val="1"/>
              </c:strCache>
            </c:strRef>
          </c:tx>
          <c:spPr>
            <a:ln w="19050">
              <a:noFill/>
            </a:ln>
          </c:spPr>
          <c:marker>
            <c:symbol val="none"/>
          </c:marker>
          <c:val>
            <c:numRef>
              <c:f>事計F資料用!$D$37:$U$37</c:f>
              <c:numCache>
                <c:formatCode>#,##0_);[Red]\(#,##0\)</c:formatCode>
                <c:ptCount val="18"/>
                <c:pt idx="0">
                  <c:v>#N/A</c:v>
                </c:pt>
                <c:pt idx="1">
                  <c:v>#N/A</c:v>
                </c:pt>
                <c:pt idx="2">
                  <c:v>#N/A</c:v>
                </c:pt>
                <c:pt idx="3">
                  <c:v>#N/A</c:v>
                </c:pt>
                <c:pt idx="4">
                  <c:v>#N/A</c:v>
                </c:pt>
                <c:pt idx="5">
                  <c:v>#N/A</c:v>
                </c:pt>
                <c:pt idx="6">
                  <c:v>845.59557000000007</c:v>
                </c:pt>
                <c:pt idx="7">
                  <c:v>#N/A</c:v>
                </c:pt>
                <c:pt idx="8">
                  <c:v>829.64198999999996</c:v>
                </c:pt>
                <c:pt idx="9">
                  <c:v>#N/A</c:v>
                </c:pt>
                <c:pt idx="10">
                  <c:v>804.81900999999993</c:v>
                </c:pt>
                <c:pt idx="11">
                  <c:v>#N/A</c:v>
                </c:pt>
                <c:pt idx="12">
                  <c:v>814.98218000000008</c:v>
                </c:pt>
                <c:pt idx="13">
                  <c:v>#N/A</c:v>
                </c:pt>
                <c:pt idx="14">
                  <c:v>835.59865000000013</c:v>
                </c:pt>
                <c:pt idx="15">
                  <c:v>#N/A</c:v>
                </c:pt>
                <c:pt idx="16">
                  <c:v>870.43204000000003</c:v>
                </c:pt>
                <c:pt idx="17">
                  <c:v>#N/A</c:v>
                </c:pt>
              </c:numCache>
            </c:numRef>
          </c:val>
          <c:smooth val="0"/>
          <c:extLst>
            <c:ext xmlns:c16="http://schemas.microsoft.com/office/drawing/2014/chart" uri="{C3380CC4-5D6E-409C-BE32-E72D297353CC}">
              <c16:uniqueId val="{0000007B-32C0-4454-B680-DE6B6E88513C}"/>
            </c:ext>
          </c:extLst>
        </c:ser>
        <c:dLbls>
          <c:showLegendKey val="0"/>
          <c:showVal val="0"/>
          <c:showCatName val="0"/>
          <c:showSerName val="0"/>
          <c:showPercent val="0"/>
          <c:showBubbleSize val="0"/>
        </c:dLbls>
        <c:marker val="1"/>
        <c:smooth val="0"/>
        <c:axId val="940130032"/>
        <c:axId val="940129704"/>
      </c:lineChart>
      <c:catAx>
        <c:axId val="332326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2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p>
        </c:txPr>
        <c:crossAx val="332326408"/>
        <c:crosses val="autoZero"/>
        <c:auto val="1"/>
        <c:lblAlgn val="ctr"/>
        <c:lblOffset val="0"/>
        <c:noMultiLvlLbl val="0"/>
      </c:catAx>
      <c:valAx>
        <c:axId val="332326408"/>
        <c:scaling>
          <c:orientation val="minMax"/>
          <c:max val="5000"/>
          <c:min val="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300" b="0" i="0" u="none" strike="noStrike" kern="1200" baseline="0">
                <a:solidFill>
                  <a:schemeClr val="bg1"/>
                </a:solidFill>
                <a:latin typeface="メイリオ" panose="020B0604030504040204" pitchFamily="50" charset="-128"/>
                <a:ea typeface="メイリオ" panose="020B0604030504040204" pitchFamily="50" charset="-128"/>
                <a:cs typeface="+mn-cs"/>
              </a:defRPr>
            </a:pPr>
            <a:endParaRPr lang="en-US"/>
          </a:p>
        </c:txPr>
        <c:crossAx val="332326736"/>
        <c:crosses val="autoZero"/>
        <c:crossBetween val="between"/>
      </c:valAx>
      <c:valAx>
        <c:axId val="940129704"/>
        <c:scaling>
          <c:orientation val="minMax"/>
          <c:max val="5000"/>
          <c:min val="-1300"/>
        </c:scaling>
        <c:delete val="0"/>
        <c:axPos val="r"/>
        <c:numFmt formatCode="#,##0_);[Red]\(#,##0\)" sourceLinked="1"/>
        <c:majorTickMark val="out"/>
        <c:minorTickMark val="none"/>
        <c:tickLblPos val="nextTo"/>
        <c:spPr>
          <a:noFill/>
          <a:ln>
            <a:noFill/>
          </a:ln>
          <a:effectLst/>
        </c:spPr>
        <c:txPr>
          <a:bodyPr rot="-60000000" spcFirstLastPara="1" vertOverflow="ellipsis" vert="horz" wrap="square" anchor="ctr" anchorCtr="1"/>
          <a:lstStyle/>
          <a:p>
            <a:pPr>
              <a:defRPr lang="ja-JP" sz="600" b="0" i="0" u="none" strike="noStrike" kern="1200" baseline="0">
                <a:solidFill>
                  <a:schemeClr val="bg1"/>
                </a:solidFill>
                <a:latin typeface="メイリオ" panose="020B0604030504040204" pitchFamily="50" charset="-128"/>
                <a:ea typeface="メイリオ" panose="020B0604030504040204" pitchFamily="50" charset="-128"/>
                <a:cs typeface="+mn-cs"/>
              </a:defRPr>
            </a:pPr>
            <a:endParaRPr lang="en-US"/>
          </a:p>
        </c:txPr>
        <c:crossAx val="940130032"/>
        <c:crosses val="max"/>
        <c:crossBetween val="between"/>
      </c:valAx>
      <c:catAx>
        <c:axId val="940130032"/>
        <c:scaling>
          <c:orientation val="minMax"/>
        </c:scaling>
        <c:delete val="1"/>
        <c:axPos val="b"/>
        <c:numFmt formatCode="General" sourceLinked="1"/>
        <c:majorTickMark val="out"/>
        <c:minorTickMark val="none"/>
        <c:tickLblPos val="nextTo"/>
        <c:crossAx val="940129704"/>
        <c:crosses val="autoZero"/>
        <c:auto val="1"/>
        <c:lblAlgn val="ctr"/>
        <c:lblOffset val="100"/>
        <c:noMultiLvlLbl val="0"/>
      </c:catAx>
      <c:spPr>
        <a:noFill/>
        <a:ln>
          <a:noFill/>
        </a:ln>
        <a:effectLst/>
      </c:spPr>
    </c:plotArea>
    <c:plotVisOnly val="1"/>
    <c:dispBlanksAs val="gap"/>
    <c:showDLblsOverMax val="0"/>
  </c:chart>
  <c:spPr>
    <a:noFill/>
    <a:ln w="9525" cap="flat" cmpd="sng" algn="ctr">
      <a:noFill/>
      <a:round/>
    </a:ln>
    <a:effectLst/>
  </c:spPr>
  <c:txPr>
    <a:bodyPr/>
    <a:lstStyle/>
    <a:p>
      <a:pPr>
        <a:defRPr sz="1200">
          <a:latin typeface="メイリオ" panose="020B0604030504040204" pitchFamily="50" charset="-128"/>
          <a:ea typeface="メイリオ" panose="020B0604030504040204" pitchFamily="50" charset="-128"/>
        </a:defRPr>
      </a:pPr>
      <a:endParaRPr lang="en-US"/>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6EBD337-12C5-45AC-92D7-BF79CCFC2773}"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6BC0A49E-C5C5-43C7-96AE-7967885D97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5E392D-78FB-4EBA-9BEE-964E5CD0905C}" type="datetimeFigureOut">
              <a:rPr kumimoji="1" lang="ja-JP" altLang="en-US" smtClean="0"/>
              <a:t>2025/7/30</a:t>
            </a:fld>
            <a:endParaRPr kumimoji="1" lang="ja-JP" altLang="en-US"/>
          </a:p>
        </p:txBody>
      </p:sp>
    </p:spTree>
    <p:extLst>
      <p:ext uri="{BB962C8B-B14F-4D97-AF65-F5344CB8AC3E}">
        <p14:creationId xmlns:p14="http://schemas.microsoft.com/office/powerpoint/2010/main" val="1452104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BA264C-6953-4F22-AEE6-38CCC8CB2F77}" type="datetimeFigureOut">
              <a:rPr kumimoji="1" lang="ja-JP" altLang="en-US" smtClean="0"/>
              <a:t>2025/7/30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80C04-D137-4757-B814-7DAA94ED8486}" type="slidenum">
              <a:rPr kumimoji="1" lang="ja-JP" altLang="en-US" smtClean="0"/>
              <a:t>‹#›</a:t>
            </a:fld>
            <a:endParaRPr kumimoji="1" lang="ja-JP" altLang="en-US"/>
          </a:p>
        </p:txBody>
      </p:sp>
    </p:spTree>
    <p:extLst>
      <p:ext uri="{BB962C8B-B14F-4D97-AF65-F5344CB8AC3E}">
        <p14:creationId xmlns:p14="http://schemas.microsoft.com/office/powerpoint/2010/main" val="12215661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60728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586675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387748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780C04-D137-4757-B814-7DAA94ED8486}"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853904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08725" y="5566335"/>
            <a:ext cx="2387099"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a:t>0000/00/00</a:t>
            </a:r>
            <a:endParaRPr kumimoji="1" lang="ja-JP" altLang="en-US"/>
          </a:p>
        </p:txBody>
      </p:sp>
      <p:sp>
        <p:nvSpPr>
          <p:cNvPr id="16" name="タイトル 2"/>
          <p:cNvSpPr>
            <a:spLocks noGrp="1"/>
          </p:cNvSpPr>
          <p:nvPr>
            <p:ph type="title" hasCustomPrompt="1"/>
          </p:nvPr>
        </p:nvSpPr>
        <p:spPr>
          <a:xfrm>
            <a:off x="308725" y="2699385"/>
            <a:ext cx="8531974"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8" name="テキスト ボックス 17"/>
          <p:cNvSpPr txBox="1"/>
          <p:nvPr userDrawn="1"/>
        </p:nvSpPr>
        <p:spPr>
          <a:xfrm>
            <a:off x="303300" y="5920205"/>
            <a:ext cx="4318925" cy="292388"/>
          </a:xfrm>
          <a:prstGeom prst="rect">
            <a:avLst/>
          </a:prstGeom>
          <a:noFill/>
        </p:spPr>
        <p:txBody>
          <a:bodyPr wrap="square" rtlCol="0" anchor="t">
            <a:spAutoFit/>
          </a:bodyPr>
          <a:lstStyle/>
          <a:p>
            <a:pPr>
              <a:spcBef>
                <a:spcPts val="0"/>
              </a:spcBef>
              <a:spcAft>
                <a:spcPts val="600"/>
              </a:spcAft>
            </a:pPr>
            <a:r>
              <a:rPr kumimoji="1" lang="ja-JP" altLang="en-US" sz="1300" b="1">
                <a:solidFill>
                  <a:schemeClr val="tx1"/>
                </a:solidFill>
                <a:latin typeface="+mn-ea"/>
                <a:ea typeface="+mn-ea"/>
                <a:cs typeface="メイリオ" pitchFamily="50" charset="-128"/>
              </a:rPr>
              <a:t>三菱重工業株式会社</a:t>
            </a:r>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5" y="3361113"/>
            <a:ext cx="8531974"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r>
              <a:rPr kumimoji="1" lang="ja-JP" altLang="en-US"/>
              <a:t>　　　　　　　　　　　　　　　　　　　　　　　　　　　　　　　　●複数の会社名やロゴを記載するレイアウトはスライドマスターにあり                          ●写真付きの表紙レイアウト（</a:t>
            </a:r>
            <a:r>
              <a:rPr kumimoji="1" lang="en-US" altLang="ja-JP"/>
              <a:t>2</a:t>
            </a:r>
            <a:r>
              <a:rPr kumimoji="1" lang="ja-JP" altLang="en-US"/>
              <a:t>種）はスライドマスターにあり                                   </a:t>
            </a:r>
            <a:r>
              <a:rPr kumimoji="1" lang="en-US" altLang="ja-JP"/>
              <a:t>※</a:t>
            </a:r>
            <a:r>
              <a:rPr kumimoji="1" lang="ja-JP" altLang="en-US"/>
              <a:t>スライドマスターの変更は別紙「スライドマスター操作ガイド」をご参照ください</a:t>
            </a:r>
          </a:p>
        </p:txBody>
      </p:sp>
      <p:sp>
        <p:nvSpPr>
          <p:cNvPr id="9"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pic>
        <p:nvPicPr>
          <p:cNvPr id="12" name="図 11">
            <a:extLst>
              <a:ext uri="{FF2B5EF4-FFF2-40B4-BE49-F238E27FC236}">
                <a16:creationId xmlns:a16="http://schemas.microsoft.com/office/drawing/2014/main" id="{9CA45DE1-C1B1-4C0E-B123-54EBEE5258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960231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2">
    <p:spTree>
      <p:nvGrpSpPr>
        <p:cNvPr id="1" name=""/>
        <p:cNvGrpSpPr/>
        <p:nvPr/>
      </p:nvGrpSpPr>
      <p:grpSpPr>
        <a:xfrm>
          <a:off x="0" y="0"/>
          <a:ext cx="0" cy="0"/>
          <a:chOff x="0" y="0"/>
          <a:chExt cx="0" cy="0"/>
        </a:xfrm>
      </p:grpSpPr>
      <p:sp>
        <p:nvSpPr>
          <p:cNvPr id="27" name="タイトル 1"/>
          <p:cNvSpPr>
            <a:spLocks noGrp="1"/>
          </p:cNvSpPr>
          <p:nvPr>
            <p:ph type="title" hasCustomPrompt="1"/>
          </p:nvPr>
        </p:nvSpPr>
        <p:spPr>
          <a:xfrm>
            <a:off x="308725" y="1887960"/>
            <a:ext cx="4312737"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28" name="テキスト プレースホルダー 21"/>
          <p:cNvSpPr>
            <a:spLocks noGrp="1"/>
          </p:cNvSpPr>
          <p:nvPr>
            <p:ph type="body" sz="quarter" idx="12" hasCustomPrompt="1"/>
          </p:nvPr>
        </p:nvSpPr>
        <p:spPr>
          <a:xfrm>
            <a:off x="308724" y="3099948"/>
            <a:ext cx="4312737"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p>
        </p:txBody>
      </p:sp>
      <p:pic>
        <p:nvPicPr>
          <p:cNvPr id="9" name="図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21" name="テキスト プレースホルダー 5"/>
          <p:cNvSpPr>
            <a:spLocks noGrp="1"/>
          </p:cNvSpPr>
          <p:nvPr>
            <p:ph type="body" sz="quarter" idx="13" hasCustomPrompt="1"/>
          </p:nvPr>
        </p:nvSpPr>
        <p:spPr>
          <a:xfrm>
            <a:off x="308725" y="5394339"/>
            <a:ext cx="23870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a:t>0000/00/00</a:t>
            </a:r>
            <a:endParaRPr kumimoji="1" lang="ja-JP" altLang="en-US"/>
          </a:p>
        </p:txBody>
      </p:sp>
      <p:sp>
        <p:nvSpPr>
          <p:cNvPr id="24" name="テキスト ボックス 23"/>
          <p:cNvSpPr txBox="1"/>
          <p:nvPr userDrawn="1"/>
        </p:nvSpPr>
        <p:spPr>
          <a:xfrm>
            <a:off x="303298" y="5748208"/>
            <a:ext cx="4318164" cy="292388"/>
          </a:xfrm>
          <a:prstGeom prst="rect">
            <a:avLst/>
          </a:prstGeom>
          <a:noFill/>
        </p:spPr>
        <p:txBody>
          <a:bodyPr wrap="square" rtlCol="0" anchor="t">
            <a:spAutoFit/>
          </a:bodyPr>
          <a:lstStyle/>
          <a:p>
            <a:pPr>
              <a:spcAft>
                <a:spcPts val="600"/>
              </a:spcAft>
            </a:pPr>
            <a:r>
              <a:rPr kumimoji="1" lang="ja-JP" altLang="en-US" sz="1300" b="1">
                <a:solidFill>
                  <a:schemeClr val="bg1"/>
                </a:solidFill>
                <a:latin typeface="+mn-ea"/>
                <a:ea typeface="+mn-ea"/>
                <a:cs typeface="メイリオ" pitchFamily="50" charset="-128"/>
              </a:rPr>
              <a:t>三菱重工業株式会社</a:t>
            </a:r>
          </a:p>
        </p:txBody>
      </p:sp>
      <p:sp>
        <p:nvSpPr>
          <p:cNvPr id="31"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pic>
        <p:nvPicPr>
          <p:cNvPr id="11" name="図 10">
            <a:extLst>
              <a:ext uri="{FF2B5EF4-FFF2-40B4-BE49-F238E27FC236}">
                <a16:creationId xmlns:a16="http://schemas.microsoft.com/office/drawing/2014/main" id="{C70D38E8-0DE6-47EE-B224-018031CE46D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4157631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3">
    <p:spTree>
      <p:nvGrpSpPr>
        <p:cNvPr id="1" name=""/>
        <p:cNvGrpSpPr/>
        <p:nvPr/>
      </p:nvGrpSpPr>
      <p:grpSpPr>
        <a:xfrm>
          <a:off x="0" y="0"/>
          <a:ext cx="0" cy="0"/>
          <a:chOff x="0" y="0"/>
          <a:chExt cx="0" cy="0"/>
        </a:xfrm>
      </p:grpSpPr>
      <p:pic>
        <p:nvPicPr>
          <p:cNvPr id="4" name="図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6437" y="957110"/>
            <a:ext cx="3651504" cy="5187696"/>
          </a:xfrm>
          <a:prstGeom prst="rect">
            <a:avLst/>
          </a:prstGeom>
        </p:spPr>
      </p:pic>
      <p:pic>
        <p:nvPicPr>
          <p:cNvPr id="1029" name="Picture 5" descr="C:\Users\S04\Desktop\名称未設定-2-01.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973714" y="216547"/>
            <a:ext cx="2964260" cy="516959"/>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プレースホルダー 5"/>
          <p:cNvSpPr>
            <a:spLocks noGrp="1"/>
          </p:cNvSpPr>
          <p:nvPr>
            <p:ph type="body" sz="quarter" idx="13" hasCustomPrompt="1"/>
          </p:nvPr>
        </p:nvSpPr>
        <p:spPr>
          <a:xfrm>
            <a:off x="308725" y="5394339"/>
            <a:ext cx="23870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a:t>0000/00/00</a:t>
            </a:r>
            <a:endParaRPr kumimoji="1" lang="ja-JP" altLang="en-US"/>
          </a:p>
        </p:txBody>
      </p:sp>
      <p:sp>
        <p:nvSpPr>
          <p:cNvPr id="17" name="テキスト ボックス 16"/>
          <p:cNvSpPr txBox="1"/>
          <p:nvPr userDrawn="1"/>
        </p:nvSpPr>
        <p:spPr>
          <a:xfrm>
            <a:off x="303298" y="5748208"/>
            <a:ext cx="3544643" cy="292388"/>
          </a:xfrm>
          <a:prstGeom prst="rect">
            <a:avLst/>
          </a:prstGeom>
          <a:noFill/>
        </p:spPr>
        <p:txBody>
          <a:bodyPr wrap="square" rtlCol="0" anchor="t">
            <a:spAutoFit/>
          </a:bodyPr>
          <a:lstStyle/>
          <a:p>
            <a:pPr>
              <a:spcAft>
                <a:spcPts val="600"/>
              </a:spcAft>
            </a:pPr>
            <a:r>
              <a:rPr kumimoji="1" lang="ja-JP" altLang="en-US" sz="1300" b="1">
                <a:solidFill>
                  <a:schemeClr val="bg1"/>
                </a:solidFill>
                <a:latin typeface="+mn-ea"/>
                <a:ea typeface="+mn-ea"/>
                <a:cs typeface="メイリオ" pitchFamily="50" charset="-128"/>
              </a:rPr>
              <a:t>三菱重工業株式会社</a:t>
            </a:r>
          </a:p>
        </p:txBody>
      </p:sp>
      <p:sp>
        <p:nvSpPr>
          <p:cNvPr id="12" name="タイトル 1"/>
          <p:cNvSpPr>
            <a:spLocks noGrp="1"/>
          </p:cNvSpPr>
          <p:nvPr>
            <p:ph type="title" hasCustomPrompt="1"/>
          </p:nvPr>
        </p:nvSpPr>
        <p:spPr>
          <a:xfrm>
            <a:off x="308725" y="1887960"/>
            <a:ext cx="3536653"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8" name="テキスト プレースホルダー 21"/>
          <p:cNvSpPr>
            <a:spLocks noGrp="1"/>
          </p:cNvSpPr>
          <p:nvPr>
            <p:ph type="body" sz="quarter" idx="12" hasCustomPrompt="1"/>
          </p:nvPr>
        </p:nvSpPr>
        <p:spPr>
          <a:xfrm>
            <a:off x="308724" y="3099948"/>
            <a:ext cx="3539217"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p>
        </p:txBody>
      </p:sp>
      <p:sp>
        <p:nvSpPr>
          <p:cNvPr id="11"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pic>
        <p:nvPicPr>
          <p:cNvPr id="15" name="図 14">
            <a:extLst>
              <a:ext uri="{FF2B5EF4-FFF2-40B4-BE49-F238E27FC236}">
                <a16:creationId xmlns:a16="http://schemas.microsoft.com/office/drawing/2014/main" id="{FA98FA36-DDD8-450D-B9A0-375914A3D8D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287638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コンテンツ">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sp>
        <p:nvSpPr>
          <p:cNvPr id="15" name="タイトル 1"/>
          <p:cNvSpPr>
            <a:spLocks noGrp="1"/>
          </p:cNvSpPr>
          <p:nvPr>
            <p:ph type="title" hasCustomPrompt="1"/>
          </p:nvPr>
        </p:nvSpPr>
        <p:spPr>
          <a:xfrm>
            <a:off x="555459" y="128798"/>
            <a:ext cx="639009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5625" y="797131"/>
            <a:ext cx="6389688" cy="652463"/>
          </a:xfrm>
          <a:prstGeom prst="rect">
            <a:avLst/>
          </a:prstGeom>
        </p:spPr>
        <p:txBody>
          <a:bodyPr/>
          <a:lstStyle>
            <a:lvl1pPr marL="0" marR="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sz="1600">
                <a:latin typeface="+mn-ea"/>
                <a:ea typeface="+mn-ea"/>
                <a:cs typeface="メイリオ" pitchFamily="50" charset="-128"/>
              </a:defRPr>
            </a:lvl1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2" name="テキスト プレースホルダー 18"/>
          <p:cNvSpPr>
            <a:spLocks noGrp="1"/>
          </p:cNvSpPr>
          <p:nvPr>
            <p:ph type="body" sz="quarter" idx="14" hasCustomPrompt="1"/>
          </p:nvPr>
        </p:nvSpPr>
        <p:spPr>
          <a:xfrm>
            <a:off x="552450" y="5434207"/>
            <a:ext cx="8191499" cy="838164"/>
          </a:xfrm>
          <a:prstGeom prst="rect">
            <a:avLst/>
          </a:prstGeom>
        </p:spPr>
        <p:txBody>
          <a:bodyPr numCol="2" spcCol="540000"/>
          <a:lstStyle>
            <a:lvl1pPr marL="0" indent="0">
              <a:lnSpc>
                <a:spcPct val="100000"/>
              </a:lnSpc>
              <a:spcBef>
                <a:spcPts val="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3" name="コンテンツ プレースホルダー 8"/>
          <p:cNvSpPr>
            <a:spLocks noGrp="1"/>
          </p:cNvSpPr>
          <p:nvPr>
            <p:ph sz="quarter" idx="15" hasCustomPrompt="1"/>
          </p:nvPr>
        </p:nvSpPr>
        <p:spPr>
          <a:xfrm>
            <a:off x="555626" y="2517778"/>
            <a:ext cx="4016375"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a:t>オブジェクト</a:t>
            </a:r>
          </a:p>
        </p:txBody>
      </p:sp>
      <p:sp>
        <p:nvSpPr>
          <p:cNvPr id="24" name="コンテンツ プレースホルダー 8"/>
          <p:cNvSpPr>
            <a:spLocks noGrp="1"/>
          </p:cNvSpPr>
          <p:nvPr>
            <p:ph sz="quarter" idx="16" hasCustomPrompt="1"/>
          </p:nvPr>
        </p:nvSpPr>
        <p:spPr>
          <a:xfrm>
            <a:off x="4719665" y="2517778"/>
            <a:ext cx="4016375"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a:t>オブジェクト</a:t>
            </a: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2DAFCD39-86C5-4FFF-A35F-130E48AB77C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4074813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sp>
        <p:nvSpPr>
          <p:cNvPr id="15" name="タイトル 1"/>
          <p:cNvSpPr>
            <a:spLocks noGrp="1"/>
          </p:cNvSpPr>
          <p:nvPr>
            <p:ph type="title" hasCustomPrompt="1"/>
          </p:nvPr>
        </p:nvSpPr>
        <p:spPr>
          <a:xfrm>
            <a:off x="555459" y="128798"/>
            <a:ext cx="639009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5625" y="797131"/>
            <a:ext cx="6389688"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451256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ロゴ">
    <p:spTree>
      <p:nvGrpSpPr>
        <p:cNvPr id="1" name=""/>
        <p:cNvGrpSpPr/>
        <p:nvPr/>
      </p:nvGrpSpPr>
      <p:grpSpPr>
        <a:xfrm>
          <a:off x="0" y="0"/>
          <a:ext cx="0" cy="0"/>
          <a:chOff x="0" y="0"/>
          <a:chExt cx="0" cy="0"/>
        </a:xfrm>
      </p:grpSpPr>
      <p:pic>
        <p:nvPicPr>
          <p:cNvPr id="4" name="Picture 5" descr="C:\Users\S04\Desktop\名称未設定-2-01.jpg">
            <a:extLst>
              <a:ext uri="{FF2B5EF4-FFF2-40B4-BE49-F238E27FC236}">
                <a16:creationId xmlns:a16="http://schemas.microsoft.com/office/drawing/2014/main" id="{F1494654-01F0-42B3-A66A-EAA98DA196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938540" y="241200"/>
            <a:ext cx="2964260" cy="516959"/>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A43E3EA-FD6B-48AF-B1FE-280D2B3402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75919" y="2525032"/>
            <a:ext cx="5286057" cy="1491755"/>
          </a:xfrm>
          <a:prstGeom prst="rect">
            <a:avLst/>
          </a:prstGeom>
          <a:noFill/>
          <a:ln>
            <a:noFill/>
          </a:ln>
        </p:spPr>
      </p:pic>
    </p:spTree>
    <p:extLst>
      <p:ext uri="{BB962C8B-B14F-4D97-AF65-F5344CB8AC3E}">
        <p14:creationId xmlns:p14="http://schemas.microsoft.com/office/powerpoint/2010/main" val="3376938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表紙1　複数">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21" name="テキスト プレースホルダー 5"/>
          <p:cNvSpPr>
            <a:spLocks noGrp="1"/>
          </p:cNvSpPr>
          <p:nvPr>
            <p:ph type="body" sz="quarter" idx="10" hasCustomPrompt="1"/>
          </p:nvPr>
        </p:nvSpPr>
        <p:spPr>
          <a:xfrm>
            <a:off x="308725" y="5291918"/>
            <a:ext cx="2387099"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a:t>0000/00/00</a:t>
            </a:r>
            <a:endParaRPr kumimoji="1" lang="ja-JP" altLang="en-US"/>
          </a:p>
        </p:txBody>
      </p:sp>
      <p:sp>
        <p:nvSpPr>
          <p:cNvPr id="22" name="テキスト ボックス 21"/>
          <p:cNvSpPr txBox="1"/>
          <p:nvPr userDrawn="1"/>
        </p:nvSpPr>
        <p:spPr>
          <a:xfrm>
            <a:off x="303298" y="5645587"/>
            <a:ext cx="4318925" cy="569387"/>
          </a:xfrm>
          <a:prstGeom prst="rect">
            <a:avLst/>
          </a:prstGeom>
          <a:noFill/>
        </p:spPr>
        <p:txBody>
          <a:bodyPr wrap="square" rtlCol="0" anchor="b">
            <a:spAutoFit/>
          </a:bodyPr>
          <a:lstStyle/>
          <a:p>
            <a:pPr>
              <a:spcBef>
                <a:spcPts val="0"/>
              </a:spcBef>
              <a:spcAft>
                <a:spcPts val="600"/>
              </a:spcAft>
            </a:pPr>
            <a:r>
              <a:rPr kumimoji="1" lang="zh-CN" altLang="en-US" sz="1300" b="1">
                <a:solidFill>
                  <a:schemeClr val="tx1"/>
                </a:solidFill>
                <a:latin typeface="+mn-ea"/>
                <a:ea typeface="+mn-ea"/>
                <a:cs typeface="メイリオ" pitchFamily="50" charset="-128"/>
              </a:rPr>
              <a:t>三菱重工業株式会社</a:t>
            </a:r>
          </a:p>
          <a:p>
            <a:pPr>
              <a:spcBef>
                <a:spcPts val="0"/>
              </a:spcBef>
              <a:spcAft>
                <a:spcPts val="600"/>
              </a:spcAft>
            </a:pPr>
            <a:r>
              <a:rPr kumimoji="1" lang="zh-CN" altLang="en-US" sz="1300" b="1">
                <a:solidFill>
                  <a:schemeClr val="tx1"/>
                </a:solidFill>
                <a:latin typeface="+mn-ea"/>
                <a:ea typeface="+mn-ea"/>
                <a:cs typeface="メイリオ" pitchFamily="50" charset="-128"/>
              </a:rPr>
              <a:t>三菱重工□□□□株式会社</a:t>
            </a:r>
          </a:p>
        </p:txBody>
      </p:sp>
      <p:sp>
        <p:nvSpPr>
          <p:cNvPr id="14" name="タイトル 2"/>
          <p:cNvSpPr>
            <a:spLocks noGrp="1"/>
          </p:cNvSpPr>
          <p:nvPr>
            <p:ph type="title" hasCustomPrompt="1"/>
          </p:nvPr>
        </p:nvSpPr>
        <p:spPr>
          <a:xfrm>
            <a:off x="308725" y="2699385"/>
            <a:ext cx="8531974"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8"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5" y="3361113"/>
            <a:ext cx="8531974"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＜複数会社用＞ サブタイトル </a:t>
            </a:r>
            <a:r>
              <a:rPr kumimoji="1" lang="en-US" altLang="ja-JP"/>
              <a:t>16pt</a:t>
            </a:r>
            <a:endParaRPr kumimoji="1" lang="ja-JP" altLang="en-US"/>
          </a:p>
        </p:txBody>
      </p:sp>
      <p:sp>
        <p:nvSpPr>
          <p:cNvPr id="15" name="日付プレースホルダー 32"/>
          <p:cNvSpPr txBox="1">
            <a:spLocks/>
          </p:cNvSpPr>
          <p:nvPr userDrawn="1"/>
        </p:nvSpPr>
        <p:spPr>
          <a:xfrm>
            <a:off x="196437" y="6285248"/>
            <a:ext cx="4408897" cy="365125"/>
          </a:xfrm>
          <a:prstGeom prst="rect">
            <a:avLst/>
          </a:prstGeom>
          <a:ln>
            <a:noFill/>
          </a:ln>
        </p:spPr>
        <p:txBody>
          <a:bodyPr vert="horz" wrap="square" lIns="0" tIns="45720" rIns="91440" bIns="45720" numCol="1" anchor="b"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Mitsubishi Heavy Industries, Ltd.  All Rights Reserved.</a:t>
            </a:r>
          </a:p>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a:t>
            </a:r>
            <a:r>
              <a:rPr lang="en-US" altLang="ja-JP" sz="700">
                <a:solidFill>
                  <a:schemeClr val="tx1"/>
                </a:solidFill>
                <a:latin typeface="+mj-lt"/>
              </a:rPr>
              <a:t>Mitsubishi Heavy Industries </a:t>
            </a:r>
            <a:r>
              <a:rPr kumimoji="1" lang="en-US" altLang="ja-JP" sz="500" kern="1200">
                <a:solidFill>
                  <a:schemeClr val="tx1"/>
                </a:solidFill>
                <a:latin typeface="Arial" pitchFamily="34" charset="0"/>
                <a:ea typeface="ＭＳ Ｐゴシック" pitchFamily="50" charset="-128"/>
                <a:cs typeface="+mn-cs"/>
              </a:rPr>
              <a:t>□□□□</a:t>
            </a:r>
            <a:r>
              <a:rPr lang="en-US" altLang="ja-JP" sz="500">
                <a:solidFill>
                  <a:schemeClr val="tx1"/>
                </a:solidFill>
                <a:latin typeface="+mj-lt"/>
              </a:rPr>
              <a:t>□□□□</a:t>
            </a:r>
            <a:r>
              <a:rPr lang="en-US" altLang="ja-JP" sz="700">
                <a:solidFill>
                  <a:schemeClr val="tx1"/>
                </a:solidFill>
                <a:latin typeface="+mj-lt"/>
              </a:rPr>
              <a:t> Co., Ltd. All Rights Reserved. </a:t>
            </a:r>
          </a:p>
        </p:txBody>
      </p:sp>
      <p:pic>
        <p:nvPicPr>
          <p:cNvPr id="10" name="図 9">
            <a:extLst>
              <a:ext uri="{FF2B5EF4-FFF2-40B4-BE49-F238E27FC236}">
                <a16:creationId xmlns:a16="http://schemas.microsoft.com/office/drawing/2014/main" id="{76430109-F035-43B8-83ED-B26CFFC882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4103758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表紙2　複数">
    <p:spTree>
      <p:nvGrpSpPr>
        <p:cNvPr id="1" name=""/>
        <p:cNvGrpSpPr/>
        <p:nvPr/>
      </p:nvGrpSpPr>
      <p:grpSpPr>
        <a:xfrm>
          <a:off x="0" y="0"/>
          <a:ext cx="0" cy="0"/>
          <a:chOff x="0" y="0"/>
          <a:chExt cx="0" cy="0"/>
        </a:xfrm>
      </p:grpSpPr>
      <p:pic>
        <p:nvPicPr>
          <p:cNvPr id="9" name="図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11" name="テキスト プレースホルダー 5"/>
          <p:cNvSpPr>
            <a:spLocks noGrp="1"/>
          </p:cNvSpPr>
          <p:nvPr>
            <p:ph type="body" sz="quarter" idx="13" hasCustomPrompt="1"/>
          </p:nvPr>
        </p:nvSpPr>
        <p:spPr>
          <a:xfrm>
            <a:off x="308725" y="5119921"/>
            <a:ext cx="23870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a:t>0000/00/00</a:t>
            </a:r>
            <a:endParaRPr kumimoji="1" lang="ja-JP" altLang="en-US"/>
          </a:p>
        </p:txBody>
      </p:sp>
      <p:sp>
        <p:nvSpPr>
          <p:cNvPr id="13" name="テキスト ボックス 12"/>
          <p:cNvSpPr txBox="1"/>
          <p:nvPr userDrawn="1"/>
        </p:nvSpPr>
        <p:spPr>
          <a:xfrm>
            <a:off x="303298" y="5473590"/>
            <a:ext cx="4318164" cy="569387"/>
          </a:xfrm>
          <a:prstGeom prst="rect">
            <a:avLst/>
          </a:prstGeom>
          <a:noFill/>
        </p:spPr>
        <p:txBody>
          <a:bodyPr wrap="square" rtlCol="0" anchor="b">
            <a:spAutoFit/>
          </a:bodyPr>
          <a:lstStyle/>
          <a:p>
            <a:pPr>
              <a:spcAft>
                <a:spcPts val="600"/>
              </a:spcAft>
            </a:pPr>
            <a:r>
              <a:rPr kumimoji="1" lang="zh-CN" altLang="en-US" sz="1300" b="1">
                <a:solidFill>
                  <a:schemeClr val="bg1"/>
                </a:solidFill>
                <a:latin typeface="+mn-ea"/>
                <a:ea typeface="+mn-ea"/>
                <a:cs typeface="メイリオ" pitchFamily="50" charset="-128"/>
              </a:rPr>
              <a:t>三菱重工業株式会社</a:t>
            </a:r>
          </a:p>
          <a:p>
            <a:pPr>
              <a:spcAft>
                <a:spcPts val="600"/>
              </a:spcAft>
            </a:pPr>
            <a:r>
              <a:rPr kumimoji="1" lang="zh-CN" altLang="en-US" sz="1300" b="1">
                <a:solidFill>
                  <a:schemeClr val="bg1"/>
                </a:solidFill>
                <a:latin typeface="+mn-ea"/>
                <a:ea typeface="+mn-ea"/>
                <a:cs typeface="メイリオ" pitchFamily="50" charset="-128"/>
              </a:rPr>
              <a:t>三菱重工□□□□株式会社</a:t>
            </a:r>
          </a:p>
        </p:txBody>
      </p:sp>
      <p:sp>
        <p:nvSpPr>
          <p:cNvPr id="19" name="タイトル 1"/>
          <p:cNvSpPr>
            <a:spLocks noGrp="1"/>
          </p:cNvSpPr>
          <p:nvPr>
            <p:ph type="title" hasCustomPrompt="1"/>
          </p:nvPr>
        </p:nvSpPr>
        <p:spPr>
          <a:xfrm>
            <a:off x="308725" y="1887960"/>
            <a:ext cx="4312737"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20" name="テキスト プレースホルダー 21"/>
          <p:cNvSpPr>
            <a:spLocks noGrp="1"/>
          </p:cNvSpPr>
          <p:nvPr>
            <p:ph type="body" sz="quarter" idx="12" hasCustomPrompt="1"/>
          </p:nvPr>
        </p:nvSpPr>
        <p:spPr>
          <a:xfrm>
            <a:off x="308724" y="3099948"/>
            <a:ext cx="4312737"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＜複数会社用＞ サブタイトル </a:t>
            </a:r>
            <a:r>
              <a:rPr kumimoji="1" lang="en-US" altLang="ja-JP"/>
              <a:t>16pt</a:t>
            </a:r>
          </a:p>
        </p:txBody>
      </p:sp>
      <p:pic>
        <p:nvPicPr>
          <p:cNvPr id="14" name="図 13">
            <a:extLst>
              <a:ext uri="{FF2B5EF4-FFF2-40B4-BE49-F238E27FC236}">
                <a16:creationId xmlns:a16="http://schemas.microsoft.com/office/drawing/2014/main" id="{14B6DD1B-D09E-4F98-8499-6A242624286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
        <p:nvSpPr>
          <p:cNvPr id="10" name="日付プレースホルダー 32">
            <a:extLst>
              <a:ext uri="{FF2B5EF4-FFF2-40B4-BE49-F238E27FC236}">
                <a16:creationId xmlns:a16="http://schemas.microsoft.com/office/drawing/2014/main" id="{23195568-B2FE-4E83-8529-FF5732870F18}"/>
              </a:ext>
            </a:extLst>
          </p:cNvPr>
          <p:cNvSpPr txBox="1">
            <a:spLocks/>
          </p:cNvSpPr>
          <p:nvPr userDrawn="1"/>
        </p:nvSpPr>
        <p:spPr>
          <a:xfrm>
            <a:off x="196437" y="6285248"/>
            <a:ext cx="4408897" cy="365125"/>
          </a:xfrm>
          <a:prstGeom prst="rect">
            <a:avLst/>
          </a:prstGeom>
          <a:ln>
            <a:noFill/>
          </a:ln>
        </p:spPr>
        <p:txBody>
          <a:bodyPr vert="horz" wrap="square" lIns="0" tIns="45720" rIns="91440" bIns="45720" numCol="1" anchor="b"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Mitsubishi Heavy Industries, Ltd.  All Rights Reserved.</a:t>
            </a:r>
          </a:p>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a:t>
            </a:r>
            <a:r>
              <a:rPr lang="en-US" altLang="ja-JP" sz="700">
                <a:solidFill>
                  <a:schemeClr val="tx1"/>
                </a:solidFill>
                <a:latin typeface="+mj-lt"/>
              </a:rPr>
              <a:t>Mitsubishi Heavy Industries </a:t>
            </a:r>
            <a:r>
              <a:rPr kumimoji="1" lang="en-US" altLang="ja-JP" sz="500" kern="1200">
                <a:solidFill>
                  <a:schemeClr val="tx1"/>
                </a:solidFill>
                <a:latin typeface="Arial" pitchFamily="34" charset="0"/>
                <a:ea typeface="ＭＳ Ｐゴシック" pitchFamily="50" charset="-128"/>
                <a:cs typeface="+mn-cs"/>
              </a:rPr>
              <a:t>□□□□</a:t>
            </a:r>
            <a:r>
              <a:rPr lang="en-US" altLang="ja-JP" sz="500">
                <a:solidFill>
                  <a:schemeClr val="tx1"/>
                </a:solidFill>
                <a:latin typeface="+mj-lt"/>
              </a:rPr>
              <a:t>□□□□</a:t>
            </a:r>
            <a:r>
              <a:rPr lang="en-US" altLang="ja-JP" sz="700">
                <a:solidFill>
                  <a:schemeClr val="tx1"/>
                </a:solidFill>
                <a:latin typeface="+mj-lt"/>
              </a:rPr>
              <a:t> Co., Ltd. All Rights Reserved. </a:t>
            </a:r>
          </a:p>
        </p:txBody>
      </p:sp>
    </p:spTree>
    <p:extLst>
      <p:ext uri="{BB962C8B-B14F-4D97-AF65-F5344CB8AC3E}">
        <p14:creationId xmlns:p14="http://schemas.microsoft.com/office/powerpoint/2010/main" val="2361000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表紙3　複数">
    <p:spTree>
      <p:nvGrpSpPr>
        <p:cNvPr id="1" name=""/>
        <p:cNvGrpSpPr/>
        <p:nvPr/>
      </p:nvGrpSpPr>
      <p:grpSpPr>
        <a:xfrm>
          <a:off x="0" y="0"/>
          <a:ext cx="0" cy="0"/>
          <a:chOff x="0" y="0"/>
          <a:chExt cx="0" cy="0"/>
        </a:xfrm>
      </p:grpSpPr>
      <p:pic>
        <p:nvPicPr>
          <p:cNvPr id="4" name="図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6437" y="957110"/>
            <a:ext cx="3651504" cy="5187696"/>
          </a:xfrm>
          <a:prstGeom prst="rect">
            <a:avLst/>
          </a:prstGeom>
        </p:spPr>
      </p:pic>
      <p:pic>
        <p:nvPicPr>
          <p:cNvPr id="1029" name="Picture 5" descr="C:\Users\S04\Desktop\名称未設定-2-01.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973714" y="216547"/>
            <a:ext cx="2964260" cy="516959"/>
          </a:xfrm>
          <a:prstGeom prst="rect">
            <a:avLst/>
          </a:prstGeom>
          <a:noFill/>
          <a:extLst>
            <a:ext uri="{909E8E84-426E-40DD-AFC4-6F175D3DCCD1}">
              <a14:hiddenFill xmlns:a14="http://schemas.microsoft.com/office/drawing/2010/main">
                <a:solidFill>
                  <a:srgbClr val="FFFFFF"/>
                </a:solidFill>
              </a14:hiddenFill>
            </a:ext>
          </a:extLst>
        </p:spPr>
      </p:pic>
      <p:sp>
        <p:nvSpPr>
          <p:cNvPr id="21" name="タイトル 1"/>
          <p:cNvSpPr>
            <a:spLocks noGrp="1"/>
          </p:cNvSpPr>
          <p:nvPr>
            <p:ph type="title" hasCustomPrompt="1"/>
          </p:nvPr>
        </p:nvSpPr>
        <p:spPr>
          <a:xfrm>
            <a:off x="308725" y="1887960"/>
            <a:ext cx="3536653" cy="1139483"/>
          </a:xfrm>
          <a:prstGeom prst="rect">
            <a:avLst/>
          </a:prstGeom>
        </p:spPr>
        <p:txBody>
          <a:bodyPr/>
          <a:lstStyle>
            <a:lvl1pPr>
              <a:lnSpc>
                <a:spcPct val="100000"/>
              </a:lnSpc>
              <a:defRPr sz="3200" b="1">
                <a:solidFill>
                  <a:schemeClr val="bg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24" name="テキスト プレースホルダー 21"/>
          <p:cNvSpPr>
            <a:spLocks noGrp="1"/>
          </p:cNvSpPr>
          <p:nvPr>
            <p:ph type="body" sz="quarter" idx="12" hasCustomPrompt="1"/>
          </p:nvPr>
        </p:nvSpPr>
        <p:spPr>
          <a:xfrm>
            <a:off x="308725" y="3099948"/>
            <a:ext cx="3536653" cy="1590674"/>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bg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＜複数会社用＞ サブタイトル </a:t>
            </a:r>
            <a:r>
              <a:rPr kumimoji="1" lang="en-US" altLang="ja-JP"/>
              <a:t>16pt</a:t>
            </a:r>
          </a:p>
        </p:txBody>
      </p:sp>
      <p:sp>
        <p:nvSpPr>
          <p:cNvPr id="12" name="テキスト ボックス 11">
            <a:extLst>
              <a:ext uri="{FF2B5EF4-FFF2-40B4-BE49-F238E27FC236}">
                <a16:creationId xmlns:a16="http://schemas.microsoft.com/office/drawing/2014/main" id="{D0CAED77-6F20-4DC7-A53A-2E9358F2715E}"/>
              </a:ext>
            </a:extLst>
          </p:cNvPr>
          <p:cNvSpPr txBox="1"/>
          <p:nvPr userDrawn="1"/>
        </p:nvSpPr>
        <p:spPr>
          <a:xfrm>
            <a:off x="303298" y="5473590"/>
            <a:ext cx="4318164" cy="569387"/>
          </a:xfrm>
          <a:prstGeom prst="rect">
            <a:avLst/>
          </a:prstGeom>
          <a:noFill/>
        </p:spPr>
        <p:txBody>
          <a:bodyPr wrap="square" rtlCol="0" anchor="b">
            <a:spAutoFit/>
          </a:bodyPr>
          <a:lstStyle/>
          <a:p>
            <a:pPr>
              <a:spcAft>
                <a:spcPts val="600"/>
              </a:spcAft>
            </a:pPr>
            <a:r>
              <a:rPr kumimoji="1" lang="zh-CN" altLang="en-US" sz="1300" b="1">
                <a:solidFill>
                  <a:schemeClr val="bg1"/>
                </a:solidFill>
                <a:latin typeface="+mn-ea"/>
                <a:ea typeface="+mn-ea"/>
                <a:cs typeface="メイリオ" pitchFamily="50" charset="-128"/>
              </a:rPr>
              <a:t>三菱重工業株式会社</a:t>
            </a:r>
          </a:p>
          <a:p>
            <a:pPr>
              <a:spcAft>
                <a:spcPts val="600"/>
              </a:spcAft>
            </a:pPr>
            <a:r>
              <a:rPr kumimoji="1" lang="zh-CN" altLang="en-US" sz="1300" b="1">
                <a:solidFill>
                  <a:schemeClr val="bg1"/>
                </a:solidFill>
                <a:latin typeface="+mn-ea"/>
                <a:ea typeface="+mn-ea"/>
                <a:cs typeface="メイリオ" pitchFamily="50" charset="-128"/>
              </a:rPr>
              <a:t>三菱重工□□□□株式会社</a:t>
            </a:r>
          </a:p>
        </p:txBody>
      </p:sp>
      <p:sp>
        <p:nvSpPr>
          <p:cNvPr id="15" name="テキスト プレースホルダー 5">
            <a:extLst>
              <a:ext uri="{FF2B5EF4-FFF2-40B4-BE49-F238E27FC236}">
                <a16:creationId xmlns:a16="http://schemas.microsoft.com/office/drawing/2014/main" id="{EC3E18A4-0E49-4DE9-A2B7-70EDC395FB61}"/>
              </a:ext>
            </a:extLst>
          </p:cNvPr>
          <p:cNvSpPr>
            <a:spLocks noGrp="1"/>
          </p:cNvSpPr>
          <p:nvPr>
            <p:ph type="body" sz="quarter" idx="13" hasCustomPrompt="1"/>
          </p:nvPr>
        </p:nvSpPr>
        <p:spPr>
          <a:xfrm>
            <a:off x="308725" y="5119921"/>
            <a:ext cx="2387099" cy="351288"/>
          </a:xfrm>
          <a:prstGeom prst="rect">
            <a:avLst/>
          </a:prstGeom>
        </p:spPr>
        <p:txBody>
          <a:bodyPr anchor="ctr"/>
          <a:lstStyle>
            <a:lvl1pPr marL="0" indent="0">
              <a:lnSpc>
                <a:spcPct val="100000"/>
              </a:lnSpc>
              <a:spcBef>
                <a:spcPts val="0"/>
              </a:spcBef>
              <a:buNone/>
              <a:defRPr sz="1300">
                <a:solidFill>
                  <a:schemeClr val="bg1"/>
                </a:solidFill>
                <a:latin typeface="+mn-ea"/>
                <a:ea typeface="+mn-ea"/>
                <a:cs typeface="メイリオ" pitchFamily="50" charset="-128"/>
              </a:defRPr>
            </a:lvl1pPr>
          </a:lstStyle>
          <a:p>
            <a:pPr lvl="0"/>
            <a:r>
              <a:rPr kumimoji="1" lang="en-US" altLang="ja-JP"/>
              <a:t>0000/00/00</a:t>
            </a:r>
            <a:endParaRPr kumimoji="1" lang="ja-JP" altLang="en-US"/>
          </a:p>
        </p:txBody>
      </p:sp>
      <p:pic>
        <p:nvPicPr>
          <p:cNvPr id="17" name="図 16">
            <a:extLst>
              <a:ext uri="{FF2B5EF4-FFF2-40B4-BE49-F238E27FC236}">
                <a16:creationId xmlns:a16="http://schemas.microsoft.com/office/drawing/2014/main" id="{F6064588-4F98-4A84-B249-D2EC193E866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
        <p:nvSpPr>
          <p:cNvPr id="11" name="日付プレースホルダー 32">
            <a:extLst>
              <a:ext uri="{FF2B5EF4-FFF2-40B4-BE49-F238E27FC236}">
                <a16:creationId xmlns:a16="http://schemas.microsoft.com/office/drawing/2014/main" id="{50CBEAD8-80B6-4A95-A8C7-06DF3FFD79C6}"/>
              </a:ext>
            </a:extLst>
          </p:cNvPr>
          <p:cNvSpPr txBox="1">
            <a:spLocks/>
          </p:cNvSpPr>
          <p:nvPr userDrawn="1"/>
        </p:nvSpPr>
        <p:spPr>
          <a:xfrm>
            <a:off x="196437" y="6285248"/>
            <a:ext cx="4408897" cy="365125"/>
          </a:xfrm>
          <a:prstGeom prst="rect">
            <a:avLst/>
          </a:prstGeom>
          <a:ln>
            <a:noFill/>
          </a:ln>
        </p:spPr>
        <p:txBody>
          <a:bodyPr vert="horz" wrap="square" lIns="0" tIns="45720" rIns="91440" bIns="45720" numCol="1" anchor="b"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Mitsubishi Heavy Industries, Ltd.  All Rights Reserved.</a:t>
            </a:r>
          </a:p>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a:t>
            </a:r>
            <a:r>
              <a:rPr lang="en-US" altLang="ja-JP" sz="700">
                <a:solidFill>
                  <a:schemeClr val="tx1"/>
                </a:solidFill>
                <a:latin typeface="+mj-lt"/>
              </a:rPr>
              <a:t>Mitsubishi Heavy Industries </a:t>
            </a:r>
            <a:r>
              <a:rPr kumimoji="1" lang="en-US" altLang="ja-JP" sz="500" kern="1200">
                <a:solidFill>
                  <a:schemeClr val="tx1"/>
                </a:solidFill>
                <a:latin typeface="Arial" pitchFamily="34" charset="0"/>
                <a:ea typeface="ＭＳ Ｐゴシック" pitchFamily="50" charset="-128"/>
                <a:cs typeface="+mn-cs"/>
              </a:rPr>
              <a:t>□□□□</a:t>
            </a:r>
            <a:r>
              <a:rPr lang="en-US" altLang="ja-JP" sz="500">
                <a:solidFill>
                  <a:schemeClr val="tx1"/>
                </a:solidFill>
                <a:latin typeface="+mj-lt"/>
              </a:rPr>
              <a:t>□□□□</a:t>
            </a:r>
            <a:r>
              <a:rPr lang="en-US" altLang="ja-JP" sz="700">
                <a:solidFill>
                  <a:schemeClr val="tx1"/>
                </a:solidFill>
                <a:latin typeface="+mj-lt"/>
              </a:rPr>
              <a:t> Co., Ltd. All Rights Reserved. </a:t>
            </a:r>
          </a:p>
        </p:txBody>
      </p:sp>
    </p:spTree>
    <p:extLst>
      <p:ext uri="{BB962C8B-B14F-4D97-AF65-F5344CB8AC3E}">
        <p14:creationId xmlns:p14="http://schemas.microsoft.com/office/powerpoint/2010/main" val="954367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タイトル　複数">
    <p:spTree>
      <p:nvGrpSpPr>
        <p:cNvPr id="1" name=""/>
        <p:cNvGrpSpPr/>
        <p:nvPr/>
      </p:nvGrpSpPr>
      <p:grpSpPr>
        <a:xfrm>
          <a:off x="0" y="0"/>
          <a:ext cx="0" cy="0"/>
          <a:chOff x="0" y="0"/>
          <a:chExt cx="0" cy="0"/>
        </a:xfrm>
      </p:grpSpPr>
      <p:pic>
        <p:nvPicPr>
          <p:cNvPr id="6" name="図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5" name="タイトル 2"/>
          <p:cNvSpPr>
            <a:spLocks noGrp="1"/>
          </p:cNvSpPr>
          <p:nvPr>
            <p:ph type="title" hasCustomPrompt="1"/>
          </p:nvPr>
        </p:nvSpPr>
        <p:spPr>
          <a:xfrm>
            <a:off x="308725" y="2699385"/>
            <a:ext cx="8531974"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a:t>章タイトル </a:t>
            </a:r>
            <a:r>
              <a:rPr kumimoji="1" lang="en-US" altLang="ja-JP"/>
              <a:t>32pt</a:t>
            </a:r>
            <a:endParaRPr kumimoji="1" lang="ja-JP" altLang="en-US"/>
          </a:p>
        </p:txBody>
      </p:sp>
      <p:sp>
        <p:nvSpPr>
          <p:cNvPr id="8"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5" y="3361113"/>
            <a:ext cx="8531974"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endParaRPr kumimoji="1" lang="ja-JP" altLang="en-US"/>
          </a:p>
        </p:txBody>
      </p:sp>
      <p:sp>
        <p:nvSpPr>
          <p:cNvPr id="9" name="日付プレースホルダー 32">
            <a:extLst>
              <a:ext uri="{FF2B5EF4-FFF2-40B4-BE49-F238E27FC236}">
                <a16:creationId xmlns:a16="http://schemas.microsoft.com/office/drawing/2014/main" id="{E6F650D6-3EA7-4C01-A14B-F64044A508C8}"/>
              </a:ext>
            </a:extLst>
          </p:cNvPr>
          <p:cNvSpPr txBox="1">
            <a:spLocks/>
          </p:cNvSpPr>
          <p:nvPr userDrawn="1"/>
        </p:nvSpPr>
        <p:spPr>
          <a:xfrm>
            <a:off x="196437" y="6285248"/>
            <a:ext cx="4408897" cy="365125"/>
          </a:xfrm>
          <a:prstGeom prst="rect">
            <a:avLst/>
          </a:prstGeom>
          <a:ln>
            <a:noFill/>
          </a:ln>
        </p:spPr>
        <p:txBody>
          <a:bodyPr vert="horz" wrap="square" lIns="0" tIns="45720" rIns="91440" bIns="45720" numCol="1" anchor="b"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Mitsubishi Heavy Industries, Ltd.  All Rights Reserved.</a:t>
            </a:r>
          </a:p>
          <a:p>
            <a:pPr marL="0" marR="0" indent="0" algn="l" defTabSz="457200" rtl="0" eaLnBrk="1" fontAlgn="base" latinLnBrk="0" hangingPunct="1">
              <a:lnSpc>
                <a:spcPct val="100000"/>
              </a:lnSpc>
              <a:spcBef>
                <a:spcPct val="0"/>
              </a:spcBef>
              <a:spcAft>
                <a:spcPts val="200"/>
              </a:spcAft>
              <a:buClrTx/>
              <a:buSzTx/>
              <a:buFontTx/>
              <a:buNone/>
              <a:tabLst/>
              <a:defRPr/>
            </a:pPr>
            <a:r>
              <a:rPr kumimoji="1" lang="en-US" altLang="ja-JP" sz="700" kern="1200">
                <a:solidFill>
                  <a:schemeClr val="tx1"/>
                </a:solidFill>
                <a:latin typeface="Arial" pitchFamily="34" charset="0"/>
                <a:ea typeface="ＭＳ Ｐゴシック" pitchFamily="50" charset="-128"/>
                <a:cs typeface="+mn-cs"/>
              </a:rPr>
              <a:t>© </a:t>
            </a:r>
            <a:r>
              <a:rPr lang="en-US" altLang="ja-JP" sz="700">
                <a:solidFill>
                  <a:schemeClr val="tx1"/>
                </a:solidFill>
                <a:latin typeface="+mj-lt"/>
              </a:rPr>
              <a:t>Mitsubishi Heavy Industries </a:t>
            </a:r>
            <a:r>
              <a:rPr kumimoji="1" lang="en-US" altLang="ja-JP" sz="500" kern="1200">
                <a:solidFill>
                  <a:schemeClr val="tx1"/>
                </a:solidFill>
                <a:latin typeface="Arial" pitchFamily="34" charset="0"/>
                <a:ea typeface="ＭＳ Ｐゴシック" pitchFamily="50" charset="-128"/>
                <a:cs typeface="+mn-cs"/>
              </a:rPr>
              <a:t>□□□□</a:t>
            </a:r>
            <a:r>
              <a:rPr lang="en-US" altLang="ja-JP" sz="500">
                <a:solidFill>
                  <a:schemeClr val="tx1"/>
                </a:solidFill>
                <a:latin typeface="+mj-lt"/>
              </a:rPr>
              <a:t>□□□□</a:t>
            </a:r>
            <a:r>
              <a:rPr lang="en-US" altLang="ja-JP" sz="700">
                <a:solidFill>
                  <a:schemeClr val="tx1"/>
                </a:solidFill>
                <a:latin typeface="+mj-lt"/>
              </a:rPr>
              <a:t> Co., Ltd. All Rights Reserved. </a:t>
            </a:r>
          </a:p>
        </p:txBody>
      </p:sp>
    </p:spTree>
    <p:extLst>
      <p:ext uri="{BB962C8B-B14F-4D97-AF65-F5344CB8AC3E}">
        <p14:creationId xmlns:p14="http://schemas.microsoft.com/office/powerpoint/2010/main" val="1037657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　複数">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7" name="スライド番号プレースホルダー 5"/>
          <p:cNvSpPr txBox="1">
            <a:spLocks/>
          </p:cNvSpPr>
          <p:nvPr userDrawn="1"/>
        </p:nvSpPr>
        <p:spPr>
          <a:xfrm>
            <a:off x="8374063" y="6356605"/>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sp>
        <p:nvSpPr>
          <p:cNvPr id="15" name="タイトル 1"/>
          <p:cNvSpPr>
            <a:spLocks noGrp="1"/>
          </p:cNvSpPr>
          <p:nvPr>
            <p:ph type="title" hasCustomPrompt="1"/>
          </p:nvPr>
        </p:nvSpPr>
        <p:spPr>
          <a:xfrm>
            <a:off x="555459" y="128795"/>
            <a:ext cx="4466121"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5625" y="797128"/>
            <a:ext cx="6389688" cy="652463"/>
          </a:xfrm>
          <a:prstGeom prst="rect">
            <a:avLst/>
          </a:prstGeom>
        </p:spPr>
        <p:txBody>
          <a:bodyPr/>
          <a:lstStyle>
            <a:lvl1pPr marL="0" indent="0">
              <a:lnSpc>
                <a:spcPct val="120000"/>
              </a:lnSpc>
              <a:spcBef>
                <a:spcPts val="750"/>
              </a:spcBef>
              <a:buNone/>
              <a:defRPr sz="1600" baseline="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450" y="1525209"/>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2" name="テキスト プレースホルダー 18"/>
          <p:cNvSpPr>
            <a:spLocks noGrp="1"/>
          </p:cNvSpPr>
          <p:nvPr>
            <p:ph type="body" sz="quarter" idx="14" hasCustomPrompt="1"/>
          </p:nvPr>
        </p:nvSpPr>
        <p:spPr>
          <a:xfrm>
            <a:off x="552450" y="5434206"/>
            <a:ext cx="8191499" cy="838164"/>
          </a:xfrm>
          <a:prstGeom prst="rect">
            <a:avLst/>
          </a:prstGeom>
        </p:spPr>
        <p:txBody>
          <a:bodyPr numCol="2" spcCol="540000"/>
          <a:lstStyle>
            <a:lvl1pPr marL="0" indent="0">
              <a:lnSpc>
                <a:spcPct val="100000"/>
              </a:lnSpc>
              <a:spcBef>
                <a:spcPts val="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3" name="コンテンツ プレースホルダー 8"/>
          <p:cNvSpPr>
            <a:spLocks noGrp="1"/>
          </p:cNvSpPr>
          <p:nvPr>
            <p:ph sz="quarter" idx="15" hasCustomPrompt="1"/>
          </p:nvPr>
        </p:nvSpPr>
        <p:spPr>
          <a:xfrm>
            <a:off x="555625" y="2517775"/>
            <a:ext cx="4016375"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a:t>オブジェクト</a:t>
            </a:r>
          </a:p>
        </p:txBody>
      </p:sp>
      <p:sp>
        <p:nvSpPr>
          <p:cNvPr id="24" name="コンテンツ プレースホルダー 8"/>
          <p:cNvSpPr>
            <a:spLocks noGrp="1"/>
          </p:cNvSpPr>
          <p:nvPr>
            <p:ph sz="quarter" idx="16" hasCustomPrompt="1"/>
          </p:nvPr>
        </p:nvSpPr>
        <p:spPr>
          <a:xfrm>
            <a:off x="4719661" y="2517775"/>
            <a:ext cx="4016375"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a:t>オブジェクト</a:t>
            </a: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図 13">
            <a:extLst>
              <a:ext uri="{FF2B5EF4-FFF2-40B4-BE49-F238E27FC236}">
                <a16:creationId xmlns:a16="http://schemas.microsoft.com/office/drawing/2014/main" id="{FC839964-AB28-430F-B10B-F4C49E8B10F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
        <p:nvSpPr>
          <p:cNvPr id="13" name="日付プレースホルダー 32">
            <a:extLst>
              <a:ext uri="{FF2B5EF4-FFF2-40B4-BE49-F238E27FC236}">
                <a16:creationId xmlns:a16="http://schemas.microsoft.com/office/drawing/2014/main" id="{3E80F22F-54FB-4D53-B9A4-F7E2397AD669}"/>
              </a:ext>
            </a:extLst>
          </p:cNvPr>
          <p:cNvSpPr txBox="1">
            <a:spLocks/>
          </p:cNvSpPr>
          <p:nvPr userDrawn="1"/>
        </p:nvSpPr>
        <p:spPr>
          <a:xfrm>
            <a:off x="309672" y="6357512"/>
            <a:ext cx="8636208"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r>
              <a:rPr lang="en-US" altLang="ja-JP" sz="700">
                <a:solidFill>
                  <a:schemeClr val="bg1"/>
                </a:solidFill>
                <a:latin typeface="+mn-lt"/>
              </a:rPr>
              <a:t>© Mitsubishi Heavy Industries, Ltd.  All Rights Reserved.</a:t>
            </a:r>
            <a:r>
              <a:rPr lang="ja-JP" altLang="en-US" sz="700">
                <a:solidFill>
                  <a:schemeClr val="bg1"/>
                </a:solidFill>
                <a:latin typeface="+mn-lt"/>
              </a:rPr>
              <a:t>　　　　</a:t>
            </a:r>
            <a:r>
              <a:rPr kumimoji="1" lang="en-US" altLang="ja-JP" sz="700" kern="1200">
                <a:solidFill>
                  <a:schemeClr val="bg1"/>
                </a:solidFill>
                <a:latin typeface="Arial" pitchFamily="34" charset="0"/>
                <a:ea typeface="ＭＳ Ｐゴシック" pitchFamily="50" charset="-128"/>
                <a:cs typeface="+mn-cs"/>
              </a:rPr>
              <a:t>© </a:t>
            </a:r>
            <a:r>
              <a:rPr lang="en-US" altLang="ja-JP" sz="700">
                <a:solidFill>
                  <a:schemeClr val="bg1"/>
                </a:solidFill>
                <a:latin typeface="+mj-lt"/>
              </a:rPr>
              <a:t>Mitsubishi Heavy Industries </a:t>
            </a:r>
            <a:r>
              <a:rPr kumimoji="1" lang="en-US" altLang="ja-JP" sz="500" kern="1200">
                <a:solidFill>
                  <a:schemeClr val="bg1"/>
                </a:solidFill>
                <a:latin typeface="Arial" pitchFamily="34" charset="0"/>
                <a:ea typeface="ＭＳ Ｐゴシック" pitchFamily="50" charset="-128"/>
                <a:cs typeface="+mn-cs"/>
              </a:rPr>
              <a:t>□□□□</a:t>
            </a:r>
            <a:r>
              <a:rPr lang="en-US" altLang="ja-JP" sz="500">
                <a:solidFill>
                  <a:schemeClr val="bg1"/>
                </a:solidFill>
                <a:latin typeface="+mj-lt"/>
              </a:rPr>
              <a:t>□□□□</a:t>
            </a:r>
            <a:r>
              <a:rPr lang="en-US" altLang="ja-JP" sz="700">
                <a:solidFill>
                  <a:schemeClr val="bg1"/>
                </a:solidFill>
                <a:latin typeface="+mj-lt"/>
              </a:rPr>
              <a:t> Co., Ltd. All Rights Reserved. </a:t>
            </a:r>
          </a:p>
        </p:txBody>
      </p:sp>
    </p:spTree>
    <p:extLst>
      <p:ext uri="{BB962C8B-B14F-4D97-AF65-F5344CB8AC3E}">
        <p14:creationId xmlns:p14="http://schemas.microsoft.com/office/powerpoint/2010/main" val="2419797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カラーサンプル　複数">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7" name="スライド番号プレースホルダー 5"/>
          <p:cNvSpPr txBox="1">
            <a:spLocks/>
          </p:cNvSpPr>
          <p:nvPr userDrawn="1"/>
        </p:nvSpPr>
        <p:spPr>
          <a:xfrm>
            <a:off x="8374063" y="6356605"/>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sp>
        <p:nvSpPr>
          <p:cNvPr id="15" name="タイトル 1"/>
          <p:cNvSpPr>
            <a:spLocks noGrp="1"/>
          </p:cNvSpPr>
          <p:nvPr>
            <p:ph type="title" hasCustomPrompt="1"/>
          </p:nvPr>
        </p:nvSpPr>
        <p:spPr>
          <a:xfrm>
            <a:off x="555459" y="128795"/>
            <a:ext cx="4466121"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5625" y="797128"/>
            <a:ext cx="6389688"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450" y="1525209"/>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日付プレースホルダー 32"/>
          <p:cNvSpPr txBox="1">
            <a:spLocks/>
          </p:cNvSpPr>
          <p:nvPr userDrawn="1"/>
        </p:nvSpPr>
        <p:spPr>
          <a:xfrm>
            <a:off x="309672" y="6357512"/>
            <a:ext cx="8636208"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r>
              <a:rPr lang="en-US" altLang="ja-JP" sz="700">
                <a:solidFill>
                  <a:schemeClr val="bg1"/>
                </a:solidFill>
                <a:latin typeface="+mn-lt"/>
              </a:rPr>
              <a:t>© Mitsubishi Heavy Industries, Ltd.  All Rights Reserved.</a:t>
            </a:r>
            <a:r>
              <a:rPr lang="ja-JP" altLang="en-US" sz="700">
                <a:solidFill>
                  <a:schemeClr val="bg1"/>
                </a:solidFill>
                <a:latin typeface="+mn-lt"/>
              </a:rPr>
              <a:t>　　　　</a:t>
            </a:r>
            <a:r>
              <a:rPr kumimoji="1" lang="en-US" altLang="ja-JP" sz="700" kern="1200">
                <a:solidFill>
                  <a:schemeClr val="bg1"/>
                </a:solidFill>
                <a:latin typeface="Arial" pitchFamily="34" charset="0"/>
                <a:ea typeface="ＭＳ Ｐゴシック" pitchFamily="50" charset="-128"/>
                <a:cs typeface="+mn-cs"/>
              </a:rPr>
              <a:t>© </a:t>
            </a:r>
            <a:r>
              <a:rPr lang="en-US" altLang="ja-JP" sz="700">
                <a:solidFill>
                  <a:schemeClr val="bg1"/>
                </a:solidFill>
                <a:latin typeface="+mj-lt"/>
              </a:rPr>
              <a:t>Mitsubishi Heavy Industries </a:t>
            </a:r>
            <a:r>
              <a:rPr kumimoji="1" lang="en-US" altLang="ja-JP" sz="500" kern="1200">
                <a:solidFill>
                  <a:schemeClr val="bg1"/>
                </a:solidFill>
                <a:latin typeface="Arial" pitchFamily="34" charset="0"/>
                <a:ea typeface="ＭＳ Ｐゴシック" pitchFamily="50" charset="-128"/>
                <a:cs typeface="+mn-cs"/>
              </a:rPr>
              <a:t>□□□□</a:t>
            </a:r>
            <a:r>
              <a:rPr lang="en-US" altLang="ja-JP" sz="500">
                <a:solidFill>
                  <a:schemeClr val="bg1"/>
                </a:solidFill>
                <a:latin typeface="+mj-lt"/>
              </a:rPr>
              <a:t>□□□□</a:t>
            </a:r>
            <a:r>
              <a:rPr lang="en-US" altLang="ja-JP" sz="700">
                <a:solidFill>
                  <a:schemeClr val="bg1"/>
                </a:solidFill>
                <a:latin typeface="+mj-lt"/>
              </a:rPr>
              <a:t> Co., Ltd. All Rights Reserved. </a:t>
            </a:r>
          </a:p>
        </p:txBody>
      </p:sp>
      <p:pic>
        <p:nvPicPr>
          <p:cNvPr id="11" name="図 10">
            <a:extLst>
              <a:ext uri="{FF2B5EF4-FFF2-40B4-BE49-F238E27FC236}">
                <a16:creationId xmlns:a16="http://schemas.microsoft.com/office/drawing/2014/main" id="{AAA88AE6-DD0D-4FAC-B5DD-357B3785BBC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1868729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ロゴ　複数">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35ABD339-E6CC-0043-9D43-13B0891737F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75919" y="2525032"/>
            <a:ext cx="5286057" cy="1491755"/>
          </a:xfrm>
          <a:prstGeom prst="rect">
            <a:avLst/>
          </a:prstGeom>
          <a:noFill/>
          <a:ln>
            <a:noFill/>
          </a:ln>
        </p:spPr>
      </p:pic>
      <p:sp>
        <p:nvSpPr>
          <p:cNvPr id="3" name="テキスト ボックス 2">
            <a:extLst>
              <a:ext uri="{FF2B5EF4-FFF2-40B4-BE49-F238E27FC236}">
                <a16:creationId xmlns:a16="http://schemas.microsoft.com/office/drawing/2014/main" id="{3DF01C88-DF10-4A9F-952D-7C2B3549D9FA}"/>
              </a:ext>
            </a:extLst>
          </p:cNvPr>
          <p:cNvSpPr txBox="1"/>
          <p:nvPr userDrawn="1"/>
        </p:nvSpPr>
        <p:spPr>
          <a:xfrm>
            <a:off x="328491" y="5991666"/>
            <a:ext cx="8487018" cy="2923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b">
            <a:spAutoFit/>
          </a:bodyPr>
          <a:lstStyle>
            <a:lvl1pPr algn="ctr">
              <a:spcBef>
                <a:spcPts val="600"/>
              </a:spcBef>
              <a:defRPr sz="1400"/>
            </a:lvl1pPr>
          </a:lstStyle>
          <a:p>
            <a:r>
              <a:rPr lang="ja-JP" altLang="en-US" sz="1300" b="0"/>
              <a:t>三菱重工業株式会社</a:t>
            </a:r>
            <a:endParaRPr sz="1300" b="0"/>
          </a:p>
        </p:txBody>
      </p:sp>
      <p:sp>
        <p:nvSpPr>
          <p:cNvPr id="4" name="テキスト ボックス 3">
            <a:extLst>
              <a:ext uri="{FF2B5EF4-FFF2-40B4-BE49-F238E27FC236}">
                <a16:creationId xmlns:a16="http://schemas.microsoft.com/office/drawing/2014/main" id="{9FAC411E-F635-4DC6-82FE-7ABE10E4435F}"/>
              </a:ext>
            </a:extLst>
          </p:cNvPr>
          <p:cNvSpPr txBox="1"/>
          <p:nvPr userDrawn="1"/>
        </p:nvSpPr>
        <p:spPr>
          <a:xfrm>
            <a:off x="328491" y="6278639"/>
            <a:ext cx="8487018"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spAutoFit/>
          </a:bodyPr>
          <a:lstStyle>
            <a:lvl1pPr algn="ctr">
              <a:spcBef>
                <a:spcPts val="600"/>
              </a:spcBef>
              <a:defRPr sz="1400"/>
            </a:lvl1pPr>
          </a:lstStyle>
          <a:p>
            <a:r>
              <a:rPr lang="zh-CN" altLang="en-US" sz="1300" b="0"/>
              <a:t>三菱重工□□□□株式会社</a:t>
            </a:r>
          </a:p>
        </p:txBody>
      </p:sp>
      <p:pic>
        <p:nvPicPr>
          <p:cNvPr id="6" name="Picture 5" descr="C:\Users\S04\Desktop\名称未設定-2-01.jpg">
            <a:extLst>
              <a:ext uri="{FF2B5EF4-FFF2-40B4-BE49-F238E27FC236}">
                <a16:creationId xmlns:a16="http://schemas.microsoft.com/office/drawing/2014/main" id="{0F3DECED-F1DC-4530-973C-16747220480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938540" y="241200"/>
            <a:ext cx="2964260" cy="516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343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age">
    <p:spTree>
      <p:nvGrpSpPr>
        <p:cNvPr id="1" name=""/>
        <p:cNvGrpSpPr/>
        <p:nvPr/>
      </p:nvGrpSpPr>
      <p:grpSpPr>
        <a:xfrm>
          <a:off x="0" y="0"/>
          <a:ext cx="0" cy="0"/>
          <a:chOff x="0" y="0"/>
          <a:chExt cx="0" cy="0"/>
        </a:xfrm>
      </p:grpSpPr>
      <p:pic>
        <p:nvPicPr>
          <p:cNvPr id="6" name="図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9499" y="201827"/>
            <a:ext cx="8744712" cy="944860"/>
          </a:xfrm>
          <a:prstGeom prst="rect">
            <a:avLst/>
          </a:prstGeom>
        </p:spPr>
      </p:pic>
      <p:sp>
        <p:nvSpPr>
          <p:cNvPr id="7" name="タイトル 1"/>
          <p:cNvSpPr>
            <a:spLocks noGrp="1"/>
          </p:cNvSpPr>
          <p:nvPr>
            <p:ph type="title" hasCustomPrompt="1"/>
          </p:nvPr>
        </p:nvSpPr>
        <p:spPr>
          <a:xfrm>
            <a:off x="313840" y="2601912"/>
            <a:ext cx="8632424" cy="577409"/>
          </a:xfrm>
          <a:prstGeom prst="rect">
            <a:avLst/>
          </a:prstGeom>
        </p:spPr>
        <p:txBody>
          <a:bodyPr lIns="95730" tIns="47866" rIns="95730" bIns="47866"/>
          <a:lstStyle>
            <a:lvl1pPr>
              <a:defRPr sz="3139" b="1" baseline="0"/>
            </a:lvl1pPr>
          </a:lstStyle>
          <a:p>
            <a:r>
              <a:rPr kumimoji="1" lang="ja-JP" altLang="en-US"/>
              <a:t>章タイトルテキスト</a:t>
            </a:r>
          </a:p>
        </p:txBody>
      </p:sp>
      <p:sp>
        <p:nvSpPr>
          <p:cNvPr id="8" name="テキスト プレースホルダー 7"/>
          <p:cNvSpPr>
            <a:spLocks noGrp="1"/>
          </p:cNvSpPr>
          <p:nvPr>
            <p:ph type="body" sz="quarter" idx="12" hasCustomPrompt="1"/>
          </p:nvPr>
        </p:nvSpPr>
        <p:spPr>
          <a:xfrm>
            <a:off x="308736" y="3248720"/>
            <a:ext cx="8632825" cy="1362748"/>
          </a:xfrm>
          <a:prstGeom prst="rect">
            <a:avLst/>
          </a:prstGeom>
        </p:spPr>
        <p:txBody>
          <a:bodyPr lIns="95730" tIns="47866" rIns="95730" bIns="47866"/>
          <a:lstStyle>
            <a:lvl1pPr marL="0" marR="0" indent="0" algn="l" defTabSz="662761" rtl="0" eaLnBrk="1" fontAlgn="auto" latinLnBrk="0" hangingPunct="1">
              <a:lnSpc>
                <a:spcPct val="120000"/>
              </a:lnSpc>
              <a:spcBef>
                <a:spcPts val="726"/>
              </a:spcBef>
              <a:spcAft>
                <a:spcPts val="0"/>
              </a:spcAft>
              <a:buClrTx/>
              <a:buSzTx/>
              <a:buFont typeface="Arial" panose="020B0604020202020204" pitchFamily="34" charset="0"/>
              <a:buNone/>
              <a:tabLst/>
              <a:defRPr sz="1477">
                <a:solidFill>
                  <a:schemeClr val="tx1"/>
                </a:solidFill>
              </a:defRPr>
            </a:lvl1pPr>
          </a:lstStyle>
          <a:p>
            <a:pPr marL="0" marR="0" lvl="0" indent="0" algn="l" defTabSz="662761" rtl="0" eaLnBrk="1" fontAlgn="auto" latinLnBrk="0" hangingPunct="1">
              <a:lnSpc>
                <a:spcPct val="120000"/>
              </a:lnSpc>
              <a:spcBef>
                <a:spcPts val="726"/>
              </a:spcBef>
              <a:spcAft>
                <a:spcPts val="0"/>
              </a:spcAft>
              <a:buClrTx/>
              <a:buSzTx/>
              <a:buFont typeface="Arial" panose="020B0604020202020204" pitchFamily="34" charset="0"/>
              <a:buNone/>
              <a:tabLst/>
              <a:defRPr/>
            </a:pPr>
            <a:r>
              <a:rPr kumimoji="1" lang="ja-JP" altLang="en-US"/>
              <a:t>サブタイトル</a:t>
            </a:r>
            <a:r>
              <a:rPr kumimoji="1" lang="en-US" altLang="ja-JP"/>
              <a:t>16pt</a:t>
            </a:r>
          </a:p>
        </p:txBody>
      </p:sp>
    </p:spTree>
    <p:extLst>
      <p:ext uri="{BB962C8B-B14F-4D97-AF65-F5344CB8AC3E}">
        <p14:creationId xmlns:p14="http://schemas.microsoft.com/office/powerpoint/2010/main" val="2863625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pread/char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1127" y="6408946"/>
            <a:ext cx="8750749" cy="260363"/>
          </a:xfrm>
          <a:prstGeom prst="rect">
            <a:avLst/>
          </a:prstGeom>
        </p:spPr>
      </p:pic>
      <p:sp>
        <p:nvSpPr>
          <p:cNvPr id="4" name="日付プレースホルダー 32"/>
          <p:cNvSpPr txBox="1">
            <a:spLocks/>
          </p:cNvSpPr>
          <p:nvPr userDrawn="1"/>
        </p:nvSpPr>
        <p:spPr>
          <a:xfrm>
            <a:off x="309673" y="6348011"/>
            <a:ext cx="5402356" cy="365125"/>
          </a:xfrm>
          <a:prstGeom prst="rect">
            <a:avLst/>
          </a:prstGeom>
          <a:ln>
            <a:noFill/>
          </a:ln>
        </p:spPr>
        <p:txBody>
          <a:bodyPr vert="horz" wrap="square" lIns="0" tIns="44184" rIns="88366" bIns="44184"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a:solidFill>
                  <a:prstClr val="white"/>
                </a:solidFill>
              </a:rPr>
              <a:t>© 2021 MITSUBISHI HEAVY INDUSTRIES, LTD.  All Rights Reserved.</a:t>
            </a:r>
            <a:endParaRPr lang="ja-JP" altLang="en-US" sz="646">
              <a:solidFill>
                <a:prstClr val="white"/>
              </a:solidFill>
            </a:endParaRPr>
          </a:p>
        </p:txBody>
      </p:sp>
      <p:sp>
        <p:nvSpPr>
          <p:cNvPr id="7" name="スライド番号プレースホルダー 5"/>
          <p:cNvSpPr txBox="1">
            <a:spLocks/>
          </p:cNvSpPr>
          <p:nvPr userDrawn="1"/>
        </p:nvSpPr>
        <p:spPr>
          <a:xfrm>
            <a:off x="8374064" y="6347104"/>
            <a:ext cx="520700" cy="365125"/>
          </a:xfrm>
          <a:prstGeom prst="rect">
            <a:avLst/>
          </a:prstGeom>
          <a:ln>
            <a:noFill/>
          </a:ln>
        </p:spPr>
        <p:txBody>
          <a:bodyPr vert="horz" wrap="square" lIns="88366" tIns="44184" rIns="88366" bIns="44184"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pPr>
                <a:defRPr/>
              </a:pPr>
              <a:t>‹#›</a:t>
            </a:fld>
            <a:endParaRPr lang="en-US" altLang="ja-JP" sz="923"/>
          </a:p>
        </p:txBody>
      </p:sp>
      <p:cxnSp>
        <p:nvCxnSpPr>
          <p:cNvPr id="21" name="直線コネクタ 20"/>
          <p:cNvCxnSpPr/>
          <p:nvPr userDrawn="1"/>
        </p:nvCxnSpPr>
        <p:spPr>
          <a:xfrm>
            <a:off x="225317" y="564204"/>
            <a:ext cx="874851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図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7469" y="136960"/>
            <a:ext cx="1286367" cy="274344"/>
          </a:xfrm>
          <a:prstGeom prst="rect">
            <a:avLst/>
          </a:prstGeom>
        </p:spPr>
      </p:pic>
      <p:sp>
        <p:nvSpPr>
          <p:cNvPr id="15" name="タイトル 1"/>
          <p:cNvSpPr>
            <a:spLocks noGrp="1"/>
          </p:cNvSpPr>
          <p:nvPr>
            <p:ph type="title" hasCustomPrompt="1"/>
          </p:nvPr>
        </p:nvSpPr>
        <p:spPr>
          <a:xfrm>
            <a:off x="555459" y="136978"/>
            <a:ext cx="6390090" cy="349961"/>
          </a:xfrm>
          <a:prstGeom prst="rect">
            <a:avLst/>
          </a:prstGeom>
        </p:spPr>
        <p:txBody>
          <a:bodyPr lIns="95730" tIns="47866" rIns="95730" bIns="47866"/>
          <a:lstStyle>
            <a:lvl1pPr>
              <a:defRPr sz="2123" b="1"/>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5625" y="797142"/>
            <a:ext cx="6389688" cy="652463"/>
          </a:xfrm>
          <a:prstGeom prst="rect">
            <a:avLst/>
          </a:prstGeom>
        </p:spPr>
        <p:txBody>
          <a:bodyPr lIns="95730" tIns="47866" rIns="95730" bIns="47866"/>
          <a:lstStyle>
            <a:lvl1pPr marL="0" indent="0">
              <a:lnSpc>
                <a:spcPct val="120000"/>
              </a:lnSpc>
              <a:buNone/>
              <a:defRPr sz="1477"/>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8588" y="1525209"/>
            <a:ext cx="8081963" cy="838164"/>
          </a:xfrm>
          <a:prstGeom prst="rect">
            <a:avLst/>
          </a:prstGeom>
        </p:spPr>
        <p:txBody>
          <a:bodyPr lIns="95730" tIns="47866" rIns="95730" bIns="47866" numCol="2" spcCol="565333"/>
          <a:lstStyle>
            <a:lvl1pPr marL="0" indent="0">
              <a:lnSpc>
                <a:spcPct val="120000"/>
              </a:lnSpc>
              <a:buNone/>
              <a:defRPr sz="738"/>
            </a:lvl1pPr>
          </a:lstStyle>
          <a:p>
            <a:pPr lvl="0"/>
            <a:r>
              <a:rPr kumimoji="1" lang="ja-JP" altLang="en-US"/>
              <a:t>テキスト </a:t>
            </a:r>
            <a:r>
              <a:rPr kumimoji="1" lang="en-US" altLang="ja-JP"/>
              <a:t>8pt</a:t>
            </a:r>
            <a:endParaRPr kumimoji="1" lang="ja-JP" altLang="en-US"/>
          </a:p>
        </p:txBody>
      </p:sp>
      <p:sp>
        <p:nvSpPr>
          <p:cNvPr id="22" name="テキスト プレースホルダー 18"/>
          <p:cNvSpPr>
            <a:spLocks noGrp="1"/>
          </p:cNvSpPr>
          <p:nvPr>
            <p:ph type="body" sz="quarter" idx="14" hasCustomPrompt="1"/>
          </p:nvPr>
        </p:nvSpPr>
        <p:spPr>
          <a:xfrm>
            <a:off x="558588" y="5434206"/>
            <a:ext cx="8081963" cy="838164"/>
          </a:xfrm>
          <a:prstGeom prst="rect">
            <a:avLst/>
          </a:prstGeom>
        </p:spPr>
        <p:txBody>
          <a:bodyPr lIns="95730" tIns="47866" rIns="95730" bIns="47866" numCol="2" spcCol="565333"/>
          <a:lstStyle>
            <a:lvl1pPr marL="0" indent="0">
              <a:lnSpc>
                <a:spcPct val="120000"/>
              </a:lnSpc>
              <a:buNone/>
              <a:defRPr sz="738"/>
            </a:lvl1pPr>
          </a:lstStyle>
          <a:p>
            <a:pPr lvl="0"/>
            <a:r>
              <a:rPr kumimoji="1" lang="ja-JP" altLang="en-US"/>
              <a:t>テキスト </a:t>
            </a:r>
            <a:r>
              <a:rPr kumimoji="1" lang="en-US" altLang="ja-JP"/>
              <a:t>8pt</a:t>
            </a:r>
            <a:endParaRPr kumimoji="1" lang="ja-JP" altLang="en-US"/>
          </a:p>
        </p:txBody>
      </p:sp>
      <p:sp>
        <p:nvSpPr>
          <p:cNvPr id="23" name="コンテンツ プレースホルダー 8"/>
          <p:cNvSpPr>
            <a:spLocks noGrp="1"/>
          </p:cNvSpPr>
          <p:nvPr>
            <p:ph sz="quarter" idx="15" hasCustomPrompt="1"/>
          </p:nvPr>
        </p:nvSpPr>
        <p:spPr>
          <a:xfrm>
            <a:off x="555638" y="2517789"/>
            <a:ext cx="4016375" cy="2728913"/>
          </a:xfrm>
          <a:prstGeom prst="rect">
            <a:avLst/>
          </a:prstGeom>
        </p:spPr>
        <p:txBody>
          <a:bodyPr lIns="95730" tIns="47866" rIns="95730" bIns="47866"/>
          <a:lstStyle>
            <a:lvl1pPr marL="0" indent="0">
              <a:buNone/>
              <a:defRPr sz="1385"/>
            </a:lvl1pPr>
          </a:lstStyle>
          <a:p>
            <a:pPr lvl="0"/>
            <a:r>
              <a:rPr kumimoji="1" lang="ja-JP" altLang="en-US"/>
              <a:t>オブジェクト</a:t>
            </a:r>
          </a:p>
        </p:txBody>
      </p:sp>
      <p:sp>
        <p:nvSpPr>
          <p:cNvPr id="24" name="コンテンツ プレースホルダー 8"/>
          <p:cNvSpPr>
            <a:spLocks noGrp="1"/>
          </p:cNvSpPr>
          <p:nvPr>
            <p:ph sz="quarter" idx="16" hasCustomPrompt="1"/>
          </p:nvPr>
        </p:nvSpPr>
        <p:spPr>
          <a:xfrm>
            <a:off x="4719676" y="2517789"/>
            <a:ext cx="4016375" cy="2728913"/>
          </a:xfrm>
          <a:prstGeom prst="rect">
            <a:avLst/>
          </a:prstGeom>
        </p:spPr>
        <p:txBody>
          <a:bodyPr lIns="95730" tIns="47866" rIns="95730" bIns="47866"/>
          <a:lstStyle>
            <a:lvl1pPr marL="0" indent="0">
              <a:buNone/>
              <a:defRPr sz="1385"/>
            </a:lvl1pPr>
          </a:lstStyle>
          <a:p>
            <a:pPr lvl="0"/>
            <a:r>
              <a:rPr kumimoji="1" lang="ja-JP" altLang="en-US"/>
              <a:t>オブジェクト</a:t>
            </a:r>
          </a:p>
        </p:txBody>
      </p:sp>
    </p:spTree>
    <p:extLst>
      <p:ext uri="{BB962C8B-B14F-4D97-AF65-F5344CB8AC3E}">
        <p14:creationId xmlns:p14="http://schemas.microsoft.com/office/powerpoint/2010/main" val="3470548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pread/char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1122" y="6408937"/>
            <a:ext cx="8750749" cy="260363"/>
          </a:xfrm>
          <a:prstGeom prst="rect">
            <a:avLst/>
          </a:prstGeom>
        </p:spPr>
      </p:pic>
      <p:sp>
        <p:nvSpPr>
          <p:cNvPr id="4" name="日付プレースホルダー 32"/>
          <p:cNvSpPr txBox="1">
            <a:spLocks/>
          </p:cNvSpPr>
          <p:nvPr userDrawn="1"/>
        </p:nvSpPr>
        <p:spPr>
          <a:xfrm>
            <a:off x="309673" y="6347999"/>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a:solidFill>
                  <a:prstClr val="white"/>
                </a:solidFill>
              </a:rPr>
              <a:t>© 2021 MITSUBISHI HEAVY INDUSTRIES, LTD.  All Rights Reserved.</a:t>
            </a:r>
            <a:endParaRPr lang="ja-JP" altLang="en-US" sz="646">
              <a:solidFill>
                <a:prstClr val="white"/>
              </a:solidFill>
            </a:endParaRPr>
          </a:p>
        </p:txBody>
      </p:sp>
      <p:sp>
        <p:nvSpPr>
          <p:cNvPr id="7" name="スライド番号プレースホルダー 5"/>
          <p:cNvSpPr txBox="1">
            <a:spLocks/>
          </p:cNvSpPr>
          <p:nvPr userDrawn="1"/>
        </p:nvSpPr>
        <p:spPr>
          <a:xfrm>
            <a:off x="8374064" y="6347092"/>
            <a:ext cx="520700" cy="365125"/>
          </a:xfrm>
          <a:prstGeom prst="rect">
            <a:avLst/>
          </a:prstGeom>
          <a:ln>
            <a:noFill/>
          </a:ln>
        </p:spPr>
        <p:txBody>
          <a:bodyPr vert="horz" wrap="square" lIns="84406" tIns="42203" rIns="84406" bIns="422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latin typeface="Arial"/>
              </a:rPr>
              <a:pPr>
                <a:defRPr/>
              </a:pPr>
              <a:t>‹#›</a:t>
            </a:fld>
            <a:endParaRPr lang="en-US" altLang="ja-JP" sz="923">
              <a:latin typeface="Arial"/>
            </a:endParaRPr>
          </a:p>
        </p:txBody>
      </p:sp>
      <p:cxnSp>
        <p:nvCxnSpPr>
          <p:cNvPr id="21" name="直線コネクタ 20"/>
          <p:cNvCxnSpPr/>
          <p:nvPr userDrawn="1"/>
        </p:nvCxnSpPr>
        <p:spPr>
          <a:xfrm>
            <a:off x="225315" y="564204"/>
            <a:ext cx="874851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図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7468" y="136960"/>
            <a:ext cx="1286367" cy="274344"/>
          </a:xfrm>
          <a:prstGeom prst="rect">
            <a:avLst/>
          </a:prstGeom>
        </p:spPr>
      </p:pic>
      <p:sp>
        <p:nvSpPr>
          <p:cNvPr id="15" name="タイトル 1"/>
          <p:cNvSpPr>
            <a:spLocks noGrp="1"/>
          </p:cNvSpPr>
          <p:nvPr>
            <p:ph type="title" hasCustomPrompt="1"/>
          </p:nvPr>
        </p:nvSpPr>
        <p:spPr>
          <a:xfrm>
            <a:off x="555459" y="136965"/>
            <a:ext cx="6390090" cy="349961"/>
          </a:xfrm>
          <a:prstGeom prst="rect">
            <a:avLst/>
          </a:prstGeom>
        </p:spPr>
        <p:txBody>
          <a:bodyPr/>
          <a:lstStyle>
            <a:lvl1pPr>
              <a:defRPr sz="2031" b="1"/>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5625" y="797137"/>
            <a:ext cx="6389688" cy="652463"/>
          </a:xfrm>
          <a:prstGeom prst="rect">
            <a:avLst/>
          </a:prstGeom>
        </p:spPr>
        <p:txBody>
          <a:bodyPr/>
          <a:lstStyle>
            <a:lvl1pPr marL="0" indent="0">
              <a:lnSpc>
                <a:spcPct val="120000"/>
              </a:lnSpc>
              <a:buNone/>
              <a:defRPr sz="1477"/>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8588" y="1525209"/>
            <a:ext cx="8081963" cy="838164"/>
          </a:xfrm>
          <a:prstGeom prst="rect">
            <a:avLst/>
          </a:prstGeom>
        </p:spPr>
        <p:txBody>
          <a:bodyPr numCol="2" spcCol="540000"/>
          <a:lstStyle>
            <a:lvl1pPr marL="0" indent="0">
              <a:lnSpc>
                <a:spcPct val="120000"/>
              </a:lnSpc>
              <a:buNone/>
              <a:defRPr sz="738"/>
            </a:lvl1pPr>
          </a:lstStyle>
          <a:p>
            <a:pPr lvl="0"/>
            <a:r>
              <a:rPr kumimoji="1" lang="ja-JP" altLang="en-US"/>
              <a:t>テキスト </a:t>
            </a:r>
            <a:r>
              <a:rPr kumimoji="1" lang="en-US" altLang="ja-JP"/>
              <a:t>8pt</a:t>
            </a:r>
            <a:endParaRPr kumimoji="1" lang="ja-JP" altLang="en-US"/>
          </a:p>
        </p:txBody>
      </p:sp>
      <p:sp>
        <p:nvSpPr>
          <p:cNvPr id="22" name="テキスト プレースホルダー 18"/>
          <p:cNvSpPr>
            <a:spLocks noGrp="1"/>
          </p:cNvSpPr>
          <p:nvPr>
            <p:ph type="body" sz="quarter" idx="14" hasCustomPrompt="1"/>
          </p:nvPr>
        </p:nvSpPr>
        <p:spPr>
          <a:xfrm>
            <a:off x="558588" y="5434206"/>
            <a:ext cx="8081963" cy="838164"/>
          </a:xfrm>
          <a:prstGeom prst="rect">
            <a:avLst/>
          </a:prstGeom>
        </p:spPr>
        <p:txBody>
          <a:bodyPr numCol="2" spcCol="540000"/>
          <a:lstStyle>
            <a:lvl1pPr marL="0" indent="0">
              <a:lnSpc>
                <a:spcPct val="120000"/>
              </a:lnSpc>
              <a:buNone/>
              <a:defRPr sz="738"/>
            </a:lvl1pPr>
          </a:lstStyle>
          <a:p>
            <a:pPr lvl="0"/>
            <a:r>
              <a:rPr kumimoji="1" lang="ja-JP" altLang="en-US"/>
              <a:t>テキスト </a:t>
            </a:r>
            <a:r>
              <a:rPr kumimoji="1" lang="en-US" altLang="ja-JP"/>
              <a:t>8pt</a:t>
            </a:r>
            <a:endParaRPr kumimoji="1" lang="ja-JP" altLang="en-US"/>
          </a:p>
        </p:txBody>
      </p:sp>
      <p:sp>
        <p:nvSpPr>
          <p:cNvPr id="23" name="コンテンツ プレースホルダー 8"/>
          <p:cNvSpPr>
            <a:spLocks noGrp="1"/>
          </p:cNvSpPr>
          <p:nvPr>
            <p:ph sz="quarter" idx="15" hasCustomPrompt="1"/>
          </p:nvPr>
        </p:nvSpPr>
        <p:spPr>
          <a:xfrm>
            <a:off x="555632" y="2517780"/>
            <a:ext cx="4016375" cy="2728913"/>
          </a:xfrm>
          <a:prstGeom prst="rect">
            <a:avLst/>
          </a:prstGeom>
        </p:spPr>
        <p:txBody>
          <a:bodyPr/>
          <a:lstStyle>
            <a:lvl1pPr marL="0" indent="0">
              <a:buNone/>
              <a:defRPr sz="1292"/>
            </a:lvl1pPr>
          </a:lstStyle>
          <a:p>
            <a:pPr lvl="0"/>
            <a:r>
              <a:rPr kumimoji="1" lang="ja-JP" altLang="en-US"/>
              <a:t>オブジェクト</a:t>
            </a:r>
          </a:p>
        </p:txBody>
      </p:sp>
      <p:sp>
        <p:nvSpPr>
          <p:cNvPr id="24" name="コンテンツ プレースホルダー 8"/>
          <p:cNvSpPr>
            <a:spLocks noGrp="1"/>
          </p:cNvSpPr>
          <p:nvPr>
            <p:ph sz="quarter" idx="16" hasCustomPrompt="1"/>
          </p:nvPr>
        </p:nvSpPr>
        <p:spPr>
          <a:xfrm>
            <a:off x="4719668" y="2517780"/>
            <a:ext cx="4016375" cy="2728913"/>
          </a:xfrm>
          <a:prstGeom prst="rect">
            <a:avLst/>
          </a:prstGeom>
        </p:spPr>
        <p:txBody>
          <a:bodyPr/>
          <a:lstStyle>
            <a:lvl1pPr marL="0" indent="0">
              <a:buNone/>
              <a:defRPr sz="1292"/>
            </a:lvl1pPr>
          </a:lstStyle>
          <a:p>
            <a:pPr lvl="0"/>
            <a:r>
              <a:rPr kumimoji="1" lang="ja-JP" altLang="en-US"/>
              <a:t>オブジェクト</a:t>
            </a:r>
          </a:p>
        </p:txBody>
      </p:sp>
    </p:spTree>
    <p:extLst>
      <p:ext uri="{BB962C8B-B14F-4D97-AF65-F5344CB8AC3E}">
        <p14:creationId xmlns:p14="http://schemas.microsoft.com/office/powerpoint/2010/main" val="13238848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Last page">
    <p:spTree>
      <p:nvGrpSpPr>
        <p:cNvPr id="1" name=""/>
        <p:cNvGrpSpPr/>
        <p:nvPr/>
      </p:nvGrpSpPr>
      <p:grpSpPr>
        <a:xfrm>
          <a:off x="0" y="0"/>
          <a:ext cx="0" cy="0"/>
          <a:chOff x="0" y="0"/>
          <a:chExt cx="0" cy="0"/>
        </a:xfrm>
      </p:grpSpPr>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3363" y="3258297"/>
            <a:ext cx="6017274" cy="341406"/>
          </a:xfrm>
          <a:prstGeom prst="rect">
            <a:avLst/>
          </a:prstGeom>
        </p:spPr>
      </p:pic>
      <p:pic>
        <p:nvPicPr>
          <p:cNvPr id="4" name="図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92364" y="5805146"/>
            <a:ext cx="1249788" cy="743776"/>
          </a:xfrm>
          <a:prstGeom prst="rect">
            <a:avLst/>
          </a:prstGeom>
        </p:spPr>
      </p:pic>
    </p:spTree>
    <p:extLst>
      <p:ext uri="{BB962C8B-B14F-4D97-AF65-F5344CB8AC3E}">
        <p14:creationId xmlns:p14="http://schemas.microsoft.com/office/powerpoint/2010/main" val="10555499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コンテンツ">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9761" y="6407161"/>
            <a:ext cx="8744478" cy="262128"/>
          </a:xfrm>
          <a:prstGeom prst="rect">
            <a:avLst/>
          </a:prstGeom>
        </p:spPr>
      </p:pic>
      <p:sp>
        <p:nvSpPr>
          <p:cNvPr id="4" name="日付プレースホルダー 32"/>
          <p:cNvSpPr txBox="1">
            <a:spLocks/>
          </p:cNvSpPr>
          <p:nvPr userDrawn="1"/>
        </p:nvSpPr>
        <p:spPr>
          <a:xfrm>
            <a:off x="309672" y="6357514"/>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a:solidFill>
                  <a:schemeClr val="bg1"/>
                </a:solidFill>
                <a:latin typeface="+mn-lt"/>
              </a:rPr>
              <a:t>© Mitsubishi Heavy Industries, Ltd.  All Rights Reserved.</a:t>
            </a:r>
            <a:endParaRPr lang="ja-JP" altLang="en-US" sz="646">
              <a:solidFill>
                <a:schemeClr val="bg1"/>
              </a:solidFill>
              <a:latin typeface="+mn-lt"/>
            </a:endParaRPr>
          </a:p>
        </p:txBody>
      </p:sp>
      <p:sp>
        <p:nvSpPr>
          <p:cNvPr id="7" name="スライド番号プレースホルダー 5"/>
          <p:cNvSpPr txBox="1">
            <a:spLocks/>
          </p:cNvSpPr>
          <p:nvPr userDrawn="1"/>
        </p:nvSpPr>
        <p:spPr>
          <a:xfrm>
            <a:off x="8487182" y="6355662"/>
            <a:ext cx="531752" cy="365125"/>
          </a:xfrm>
          <a:prstGeom prst="rect">
            <a:avLst/>
          </a:prstGeom>
          <a:ln w="25400">
            <a:noFill/>
          </a:ln>
        </p:spPr>
        <p:txBody>
          <a:bodyPr vert="horz" wrap="square" lIns="84406" tIns="42203" rIns="84406" bIns="422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lgn="ctr">
              <a:defRPr/>
            </a:pPr>
            <a:fld id="{2336B973-55D6-4CA0-852C-851A571EFE2A}" type="slidenum">
              <a:rPr lang="ja-JP" altLang="en-US" sz="1050" b="0" smtClean="0">
                <a:solidFill>
                  <a:schemeClr val="bg1"/>
                </a:solidFill>
                <a:latin typeface="+mn-ea"/>
                <a:ea typeface="+mn-ea"/>
              </a:rPr>
              <a:pPr algn="ctr">
                <a:defRPr/>
              </a:pPr>
              <a:t>‹#›</a:t>
            </a:fld>
            <a:endParaRPr lang="en-US" altLang="ja-JP" sz="1050" b="0">
              <a:solidFill>
                <a:schemeClr val="bg1"/>
              </a:solidFill>
              <a:latin typeface="+mn-ea"/>
              <a:ea typeface="+mn-ea"/>
            </a:endParaRPr>
          </a:p>
        </p:txBody>
      </p:sp>
      <p:sp>
        <p:nvSpPr>
          <p:cNvPr id="15" name="タイトル 1"/>
          <p:cNvSpPr>
            <a:spLocks noGrp="1"/>
          </p:cNvSpPr>
          <p:nvPr>
            <p:ph type="title" hasCustomPrompt="1"/>
          </p:nvPr>
        </p:nvSpPr>
        <p:spPr>
          <a:xfrm>
            <a:off x="305624" y="128799"/>
            <a:ext cx="6925134" cy="349961"/>
          </a:xfrm>
          <a:prstGeom prst="rect">
            <a:avLst/>
          </a:prstGeom>
        </p:spPr>
        <p:txBody>
          <a:bodyPr lIns="36000" anchor="ctr"/>
          <a:lstStyle>
            <a:lvl1pPr>
              <a:lnSpc>
                <a:spcPct val="100000"/>
              </a:lnSpc>
              <a:defRPr sz="2215" b="1">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altLang="en-US"/>
              <a:t>ページタイトル </a:t>
            </a:r>
            <a:r>
              <a:rPr kumimoji="1" lang="en-US" altLang="ja-JP"/>
              <a:t>24pt </a:t>
            </a:r>
            <a:r>
              <a:rPr kumimoji="1" lang="en-US" altLang="ja-JP" err="1"/>
              <a:t>Meiryo</a:t>
            </a:r>
            <a:r>
              <a:rPr kumimoji="1" lang="en-US" altLang="ja-JP"/>
              <a:t> UI</a:t>
            </a:r>
            <a:endParaRPr kumimoji="1" lang="ja-JP" altLang="en-US"/>
          </a:p>
        </p:txBody>
      </p:sp>
      <p:pic>
        <p:nvPicPr>
          <p:cNvPr id="16" name="図 15">
            <a:extLst>
              <a:ext uri="{FF2B5EF4-FFF2-40B4-BE49-F238E27FC236}">
                <a16:creationId xmlns:a16="http://schemas.microsoft.com/office/drawing/2014/main" id="{ACDB9447-91E2-43E4-82D3-62F8A9DCF31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779693" y="215724"/>
            <a:ext cx="1096615" cy="230108"/>
          </a:xfrm>
          <a:prstGeom prst="rect">
            <a:avLst/>
          </a:prstGeom>
        </p:spPr>
      </p:pic>
      <p:cxnSp>
        <p:nvCxnSpPr>
          <p:cNvPr id="9" name="直線コネクタ 8">
            <a:extLst>
              <a:ext uri="{FF2B5EF4-FFF2-40B4-BE49-F238E27FC236}">
                <a16:creationId xmlns:a16="http://schemas.microsoft.com/office/drawing/2014/main" id="{BBD88A2D-F0AF-442E-A4D9-129CB51BE800}"/>
              </a:ext>
            </a:extLst>
          </p:cNvPr>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084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08726" y="5566335"/>
            <a:ext cx="2387099" cy="351288"/>
          </a:xfrm>
          <a:prstGeom prst="rect">
            <a:avLst/>
          </a:prstGeom>
        </p:spPr>
        <p:txBody>
          <a:bodyPr anchor="ctr"/>
          <a:lstStyle>
            <a:lvl1pPr marL="0" indent="0">
              <a:lnSpc>
                <a:spcPct val="100000"/>
              </a:lnSpc>
              <a:spcBef>
                <a:spcPts val="0"/>
              </a:spcBef>
              <a:buNone/>
              <a:defRPr sz="1200">
                <a:latin typeface="+mn-ea"/>
                <a:ea typeface="+mn-ea"/>
                <a:cs typeface="メイリオ" pitchFamily="50" charset="-128"/>
              </a:defRPr>
            </a:lvl1pPr>
          </a:lstStyle>
          <a:p>
            <a:pPr lvl="0"/>
            <a:r>
              <a:rPr kumimoji="1" lang="en-US" altLang="ja-JP"/>
              <a:t>0000/00/00</a:t>
            </a:r>
            <a:endParaRPr kumimoji="1" lang="ja-JP" altLang="en-US"/>
          </a:p>
        </p:txBody>
      </p:sp>
      <p:sp>
        <p:nvSpPr>
          <p:cNvPr id="16" name="タイトル 2"/>
          <p:cNvSpPr>
            <a:spLocks noGrp="1"/>
          </p:cNvSpPr>
          <p:nvPr>
            <p:ph type="title" hasCustomPrompt="1"/>
          </p:nvPr>
        </p:nvSpPr>
        <p:spPr>
          <a:xfrm>
            <a:off x="308725" y="2699387"/>
            <a:ext cx="8531974" cy="585575"/>
          </a:xfrm>
          <a:prstGeom prst="rect">
            <a:avLst/>
          </a:prstGeom>
        </p:spPr>
        <p:txBody>
          <a:bodyPr/>
          <a:lstStyle>
            <a:lvl1pPr>
              <a:lnSpc>
                <a:spcPct val="100000"/>
              </a:lnSpc>
              <a:spcBef>
                <a:spcPts val="0"/>
              </a:spcBef>
              <a:defRPr sz="2954"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8" name="テキスト ボックス 17"/>
          <p:cNvSpPr txBox="1"/>
          <p:nvPr userDrawn="1"/>
        </p:nvSpPr>
        <p:spPr>
          <a:xfrm>
            <a:off x="303301" y="5920206"/>
            <a:ext cx="4318925" cy="276999"/>
          </a:xfrm>
          <a:prstGeom prst="rect">
            <a:avLst/>
          </a:prstGeom>
          <a:noFill/>
        </p:spPr>
        <p:txBody>
          <a:bodyPr wrap="square" rtlCol="0" anchor="t">
            <a:spAutoFit/>
          </a:bodyPr>
          <a:lstStyle/>
          <a:p>
            <a:pPr>
              <a:spcBef>
                <a:spcPts val="0"/>
              </a:spcBef>
              <a:spcAft>
                <a:spcPts val="554"/>
              </a:spcAft>
            </a:pPr>
            <a:r>
              <a:rPr kumimoji="1" lang="ja-JP" altLang="en-US" sz="1200" b="1">
                <a:solidFill>
                  <a:schemeClr val="tx1"/>
                </a:solidFill>
                <a:latin typeface="+mn-ea"/>
                <a:ea typeface="+mn-ea"/>
                <a:cs typeface="メイリオ" pitchFamily="50" charset="-128"/>
              </a:rPr>
              <a:t>三菱重工業株式会社</a:t>
            </a:r>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5" y="3361113"/>
            <a:ext cx="8531974" cy="1676400"/>
          </a:xfrm>
          <a:prstGeom prst="rect">
            <a:avLst/>
          </a:prstGeom>
        </p:spPr>
        <p:txBody>
          <a:bodyPr/>
          <a:lstStyle>
            <a:lvl1pPr marL="0" marR="0" indent="0" algn="l" defTabSz="633062" rtl="0" eaLnBrk="1" fontAlgn="auto" latinLnBrk="0" hangingPunct="1">
              <a:lnSpc>
                <a:spcPct val="120000"/>
              </a:lnSpc>
              <a:spcBef>
                <a:spcPts val="0"/>
              </a:spcBef>
              <a:spcAft>
                <a:spcPts val="0"/>
              </a:spcAft>
              <a:buClrTx/>
              <a:buSzTx/>
              <a:buFont typeface="Arial" panose="020B0604020202020204" pitchFamily="34" charset="0"/>
              <a:buNone/>
              <a:tabLst/>
              <a:defRPr sz="1477" baseline="0">
                <a:solidFill>
                  <a:schemeClr val="tx1"/>
                </a:solidFill>
                <a:latin typeface="+mn-ea"/>
                <a:ea typeface="+mn-ea"/>
                <a:cs typeface="メイリオ" pitchFamily="50" charset="-128"/>
              </a:defRPr>
            </a:lvl1pPr>
          </a:lstStyle>
          <a:p>
            <a:pPr marL="0" marR="0" lvl="0" indent="0" algn="l" defTabSz="633062"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r>
              <a:rPr kumimoji="1" lang="ja-JP" altLang="en-US"/>
              <a:t>　　　　　　　　　　　　　　　　　　　　　　　　　　　　　　　　●複数の会社名やロゴを記載するレイアウトはスライドマスターにあり                          ●写真付きの表紙レイアウト（</a:t>
            </a:r>
            <a:r>
              <a:rPr kumimoji="1" lang="en-US" altLang="ja-JP"/>
              <a:t>2</a:t>
            </a:r>
            <a:r>
              <a:rPr kumimoji="1" lang="ja-JP" altLang="en-US"/>
              <a:t>種）はスライドマスターにあり                                   </a:t>
            </a:r>
            <a:r>
              <a:rPr kumimoji="1" lang="en-US" altLang="ja-JP"/>
              <a:t>※</a:t>
            </a:r>
            <a:r>
              <a:rPr kumimoji="1" lang="ja-JP" altLang="en-US"/>
              <a:t>スライドマスターの変更は別紙「スライドマスター操作ガイド」をご参照ください</a:t>
            </a:r>
          </a:p>
        </p:txBody>
      </p:sp>
      <p:sp>
        <p:nvSpPr>
          <p:cNvPr id="9" name="日付プレースホルダー 32"/>
          <p:cNvSpPr txBox="1">
            <a:spLocks/>
          </p:cNvSpPr>
          <p:nvPr userDrawn="1"/>
        </p:nvSpPr>
        <p:spPr>
          <a:xfrm>
            <a:off x="196437" y="6370976"/>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a:solidFill>
                  <a:schemeClr val="tx1"/>
                </a:solidFill>
                <a:latin typeface="+mn-lt"/>
              </a:rPr>
              <a:t>© Mitsubishi Heavy Industries, Ltd.  All Rights Reserved.</a:t>
            </a:r>
            <a:endParaRPr lang="ja-JP" altLang="en-US" sz="646">
              <a:solidFill>
                <a:schemeClr val="tx1"/>
              </a:solidFill>
              <a:latin typeface="+mn-lt"/>
            </a:endParaRPr>
          </a:p>
        </p:txBody>
      </p:sp>
      <p:pic>
        <p:nvPicPr>
          <p:cNvPr id="12" name="図 11">
            <a:extLst>
              <a:ext uri="{FF2B5EF4-FFF2-40B4-BE49-F238E27FC236}">
                <a16:creationId xmlns:a16="http://schemas.microsoft.com/office/drawing/2014/main" id="{9CA45DE1-C1B1-4C0E-B123-54EBEE5258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5080" y="6421555"/>
            <a:ext cx="1188000" cy="230108"/>
          </a:xfrm>
          <a:prstGeom prst="rect">
            <a:avLst/>
          </a:prstGeom>
        </p:spPr>
      </p:pic>
    </p:spTree>
    <p:extLst>
      <p:ext uri="{BB962C8B-B14F-4D97-AF65-F5344CB8AC3E}">
        <p14:creationId xmlns:p14="http://schemas.microsoft.com/office/powerpoint/2010/main" val="20816240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ロゴ">
    <p:spTree>
      <p:nvGrpSpPr>
        <p:cNvPr id="1" name=""/>
        <p:cNvGrpSpPr/>
        <p:nvPr/>
      </p:nvGrpSpPr>
      <p:grpSpPr>
        <a:xfrm>
          <a:off x="0" y="0"/>
          <a:ext cx="0" cy="0"/>
          <a:chOff x="0" y="0"/>
          <a:chExt cx="0" cy="0"/>
        </a:xfrm>
      </p:grpSpPr>
      <p:pic>
        <p:nvPicPr>
          <p:cNvPr id="4" name="Picture 5" descr="C:\Users\S04\Desktop\名称未設定-2-01.jpg">
            <a:extLst>
              <a:ext uri="{FF2B5EF4-FFF2-40B4-BE49-F238E27FC236}">
                <a16:creationId xmlns:a16="http://schemas.microsoft.com/office/drawing/2014/main" id="{F1494654-01F0-42B3-A66A-EAA98DA196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938540" y="241201"/>
            <a:ext cx="2964260" cy="516959"/>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A43E3EA-FD6B-48AF-B1FE-280D2B3402F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75920" y="2525034"/>
            <a:ext cx="5286057" cy="1491755"/>
          </a:xfrm>
          <a:prstGeom prst="rect">
            <a:avLst/>
          </a:prstGeom>
          <a:noFill/>
          <a:ln>
            <a:noFill/>
          </a:ln>
        </p:spPr>
      </p:pic>
    </p:spTree>
    <p:extLst>
      <p:ext uri="{BB962C8B-B14F-4D97-AF65-F5344CB8AC3E}">
        <p14:creationId xmlns:p14="http://schemas.microsoft.com/office/powerpoint/2010/main" val="24301307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表紙1">
    <p:spTree>
      <p:nvGrpSpPr>
        <p:cNvPr id="1" name=""/>
        <p:cNvGrpSpPr/>
        <p:nvPr/>
      </p:nvGrpSpPr>
      <p:grpSpPr>
        <a:xfrm>
          <a:off x="0" y="0"/>
          <a:ext cx="0" cy="0"/>
          <a:chOff x="0" y="0"/>
          <a:chExt cx="0" cy="0"/>
        </a:xfrm>
      </p:grpSpPr>
      <p:sp>
        <p:nvSpPr>
          <p:cNvPr id="16" name="タイトル 2"/>
          <p:cNvSpPr>
            <a:spLocks noGrp="1"/>
          </p:cNvSpPr>
          <p:nvPr>
            <p:ph type="title" hasCustomPrompt="1"/>
          </p:nvPr>
        </p:nvSpPr>
        <p:spPr>
          <a:xfrm>
            <a:off x="308725" y="2699385"/>
            <a:ext cx="8531974"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pic>
        <p:nvPicPr>
          <p:cNvPr id="11" name="図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6437" y="201827"/>
            <a:ext cx="8744712" cy="944880"/>
          </a:xfrm>
          <a:prstGeom prst="rect">
            <a:avLst/>
          </a:prstGeom>
        </p:spPr>
      </p:pic>
      <p:sp>
        <p:nvSpPr>
          <p:cNvPr id="9" name="日付プレースホルダー 32"/>
          <p:cNvSpPr txBox="1">
            <a:spLocks/>
          </p:cNvSpPr>
          <p:nvPr userDrawn="1"/>
        </p:nvSpPr>
        <p:spPr>
          <a:xfrm>
            <a:off x="196437" y="6370974"/>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spTree>
    <p:extLst>
      <p:ext uri="{BB962C8B-B14F-4D97-AF65-F5344CB8AC3E}">
        <p14:creationId xmlns:p14="http://schemas.microsoft.com/office/powerpoint/2010/main" val="30732256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コンテンツ">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9761" y="6407161"/>
            <a:ext cx="8744478" cy="262128"/>
          </a:xfrm>
          <a:prstGeom prst="rect">
            <a:avLst/>
          </a:prstGeom>
        </p:spPr>
      </p:pic>
      <p:sp>
        <p:nvSpPr>
          <p:cNvPr id="4" name="日付プレースホルダー 32"/>
          <p:cNvSpPr txBox="1">
            <a:spLocks/>
          </p:cNvSpPr>
          <p:nvPr userDrawn="1"/>
        </p:nvSpPr>
        <p:spPr>
          <a:xfrm>
            <a:off x="309672" y="6357514"/>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a:solidFill>
                  <a:schemeClr val="bg1"/>
                </a:solidFill>
                <a:latin typeface="+mn-lt"/>
              </a:rPr>
              <a:t>© MITSUBISHI HEAVY INDUSTRIES, LTD.  All Rights Reserved.</a:t>
            </a:r>
            <a:endParaRPr lang="ja-JP" altLang="en-US" sz="646">
              <a:solidFill>
                <a:schemeClr val="bg1"/>
              </a:solidFill>
              <a:latin typeface="+mn-lt"/>
            </a:endParaRPr>
          </a:p>
        </p:txBody>
      </p:sp>
      <p:sp>
        <p:nvSpPr>
          <p:cNvPr id="7" name="スライド番号プレースホルダー 5"/>
          <p:cNvSpPr txBox="1">
            <a:spLocks/>
          </p:cNvSpPr>
          <p:nvPr userDrawn="1"/>
        </p:nvSpPr>
        <p:spPr>
          <a:xfrm>
            <a:off x="8374063" y="6356609"/>
            <a:ext cx="520700" cy="365125"/>
          </a:xfrm>
          <a:prstGeom prst="rect">
            <a:avLst/>
          </a:prstGeom>
          <a:ln>
            <a:noFill/>
          </a:ln>
        </p:spPr>
        <p:txBody>
          <a:bodyPr vert="horz" wrap="square" lIns="84406" tIns="42203" rIns="84406" bIns="422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latin typeface="Arial"/>
              </a:rPr>
              <a:pPr>
                <a:defRPr/>
              </a:pPr>
              <a:t>‹#›</a:t>
            </a:fld>
            <a:endParaRPr lang="en-US" altLang="ja-JP" sz="923">
              <a:latin typeface="Arial"/>
            </a:endParaRPr>
          </a:p>
        </p:txBody>
      </p:sp>
      <p:sp>
        <p:nvSpPr>
          <p:cNvPr id="15" name="タイトル 1"/>
          <p:cNvSpPr>
            <a:spLocks noGrp="1"/>
          </p:cNvSpPr>
          <p:nvPr>
            <p:ph type="title" hasCustomPrompt="1"/>
          </p:nvPr>
        </p:nvSpPr>
        <p:spPr>
          <a:xfrm>
            <a:off x="509955" y="128799"/>
            <a:ext cx="6435595" cy="349961"/>
          </a:xfrm>
          <a:prstGeom prst="rect">
            <a:avLst/>
          </a:prstGeom>
        </p:spPr>
        <p:txBody>
          <a:bodyPr/>
          <a:lstStyle>
            <a:lvl1pPr>
              <a:lnSpc>
                <a:spcPct val="100000"/>
              </a:lnSpc>
              <a:defRPr sz="2031"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09954" y="797132"/>
            <a:ext cx="6435359" cy="652463"/>
          </a:xfrm>
          <a:prstGeom prst="rect">
            <a:avLst/>
          </a:prstGeom>
        </p:spPr>
        <p:txBody>
          <a:bodyPr/>
          <a:lstStyle>
            <a:lvl1pPr marL="0" marR="0" indent="0" algn="l" defTabSz="633062" rtl="0" eaLnBrk="1" fontAlgn="auto" latinLnBrk="0" hangingPunct="1">
              <a:lnSpc>
                <a:spcPct val="120000"/>
              </a:lnSpc>
              <a:spcBef>
                <a:spcPts val="692"/>
              </a:spcBef>
              <a:spcAft>
                <a:spcPts val="0"/>
              </a:spcAft>
              <a:buClrTx/>
              <a:buSzTx/>
              <a:buFont typeface="Arial" panose="020B0604020202020204" pitchFamily="34" charset="0"/>
              <a:buNone/>
              <a:tabLst/>
              <a:defRPr sz="1477">
                <a:latin typeface="+mn-ea"/>
                <a:ea typeface="+mn-ea"/>
                <a:cs typeface="メイリオ" pitchFamily="50" charset="-128"/>
              </a:defRPr>
            </a:lvl1pPr>
          </a:lstStyle>
          <a:p>
            <a:pPr marL="0" marR="0" lvl="0" indent="0" algn="l" defTabSz="633062" rtl="0" eaLnBrk="1" fontAlgn="auto" latinLnBrk="0" hangingPunct="1">
              <a:lnSpc>
                <a:spcPct val="120000"/>
              </a:lnSpc>
              <a:spcBef>
                <a:spcPts val="692"/>
              </a:spcBef>
              <a:spcAft>
                <a:spcPts val="0"/>
              </a:spcAft>
              <a:buClrTx/>
              <a:buSzTx/>
              <a:buFont typeface="Arial" panose="020B0604020202020204" pitchFamily="34" charset="0"/>
              <a:buNone/>
              <a:tabLst/>
              <a:defRPr/>
            </a:pPr>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09955" y="1525210"/>
            <a:ext cx="8233996" cy="838164"/>
          </a:xfrm>
          <a:prstGeom prst="rect">
            <a:avLst/>
          </a:prstGeom>
        </p:spPr>
        <p:txBody>
          <a:bodyPr numCol="2" spcCol="540000"/>
          <a:lstStyle>
            <a:lvl1pPr marL="0" indent="0">
              <a:lnSpc>
                <a:spcPct val="120000"/>
              </a:lnSpc>
              <a:spcBef>
                <a:spcPts val="692"/>
              </a:spcBef>
              <a:buNone/>
              <a:defRPr sz="923">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2" name="テキスト プレースホルダー 18"/>
          <p:cNvSpPr>
            <a:spLocks noGrp="1"/>
          </p:cNvSpPr>
          <p:nvPr>
            <p:ph type="body" sz="quarter" idx="14" hasCustomPrompt="1"/>
          </p:nvPr>
        </p:nvSpPr>
        <p:spPr>
          <a:xfrm>
            <a:off x="509954" y="5434207"/>
            <a:ext cx="8233997" cy="838164"/>
          </a:xfrm>
          <a:prstGeom prst="rect">
            <a:avLst/>
          </a:prstGeom>
        </p:spPr>
        <p:txBody>
          <a:bodyPr numCol="2" spcCol="540000"/>
          <a:lstStyle>
            <a:lvl1pPr marL="0" indent="0">
              <a:lnSpc>
                <a:spcPct val="100000"/>
              </a:lnSpc>
              <a:spcBef>
                <a:spcPts val="0"/>
              </a:spcBef>
              <a:buNone/>
              <a:defRPr sz="923">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sp>
        <p:nvSpPr>
          <p:cNvPr id="23" name="コンテンツ プレースホルダー 8"/>
          <p:cNvSpPr>
            <a:spLocks noGrp="1"/>
          </p:cNvSpPr>
          <p:nvPr>
            <p:ph sz="quarter" idx="15" hasCustomPrompt="1"/>
          </p:nvPr>
        </p:nvSpPr>
        <p:spPr>
          <a:xfrm>
            <a:off x="509955" y="2517780"/>
            <a:ext cx="4062048" cy="2728913"/>
          </a:xfrm>
          <a:prstGeom prst="rect">
            <a:avLst/>
          </a:prstGeom>
        </p:spPr>
        <p:txBody>
          <a:bodyPr/>
          <a:lstStyle>
            <a:lvl1pPr marL="0" indent="0">
              <a:lnSpc>
                <a:spcPct val="100000"/>
              </a:lnSpc>
              <a:spcBef>
                <a:spcPts val="0"/>
              </a:spcBef>
              <a:buNone/>
              <a:defRPr sz="1292">
                <a:latin typeface="+mn-ea"/>
                <a:ea typeface="+mn-ea"/>
                <a:cs typeface="メイリオ" pitchFamily="50" charset="-128"/>
              </a:defRPr>
            </a:lvl1pPr>
          </a:lstStyle>
          <a:p>
            <a:pPr lvl="0"/>
            <a:r>
              <a:rPr kumimoji="1" lang="ja-JP" altLang="en-US"/>
              <a:t>オブジェクト</a:t>
            </a:r>
          </a:p>
        </p:txBody>
      </p:sp>
      <p:sp>
        <p:nvSpPr>
          <p:cNvPr id="24" name="コンテンツ プレースホルダー 8"/>
          <p:cNvSpPr>
            <a:spLocks noGrp="1"/>
          </p:cNvSpPr>
          <p:nvPr>
            <p:ph sz="quarter" idx="16" hasCustomPrompt="1"/>
          </p:nvPr>
        </p:nvSpPr>
        <p:spPr>
          <a:xfrm>
            <a:off x="4719666" y="2517780"/>
            <a:ext cx="4016375" cy="2728913"/>
          </a:xfrm>
          <a:prstGeom prst="rect">
            <a:avLst/>
          </a:prstGeom>
        </p:spPr>
        <p:txBody>
          <a:bodyPr/>
          <a:lstStyle>
            <a:lvl1pPr marL="0" indent="0">
              <a:lnSpc>
                <a:spcPct val="100000"/>
              </a:lnSpc>
              <a:spcBef>
                <a:spcPts val="0"/>
              </a:spcBef>
              <a:buNone/>
              <a:defRPr sz="1292">
                <a:latin typeface="+mn-ea"/>
                <a:ea typeface="+mn-ea"/>
                <a:cs typeface="メイリオ" pitchFamily="50" charset="-128"/>
              </a:defRPr>
            </a:lvl1pPr>
          </a:lstStyle>
          <a:p>
            <a:pPr lvl="0"/>
            <a:r>
              <a:rPr kumimoji="1" lang="ja-JP" altLang="en-US"/>
              <a:t>オブジェクト</a:t>
            </a: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793757" y="86759"/>
            <a:ext cx="1222700" cy="37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185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sp>
        <p:nvSpPr>
          <p:cNvPr id="15" name="タイトル 1"/>
          <p:cNvSpPr>
            <a:spLocks noGrp="1"/>
          </p:cNvSpPr>
          <p:nvPr>
            <p:ph type="title" hasCustomPrompt="1"/>
          </p:nvPr>
        </p:nvSpPr>
        <p:spPr>
          <a:xfrm>
            <a:off x="555459" y="128798"/>
            <a:ext cx="6390090"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5625" y="797131"/>
            <a:ext cx="6389688"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1CBBDA9B-E97E-4157-8C9B-E181F614B2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54266" y="169645"/>
            <a:ext cx="1188000" cy="230108"/>
          </a:xfrm>
          <a:prstGeom prst="rect">
            <a:avLst/>
          </a:prstGeom>
        </p:spPr>
      </p:pic>
    </p:spTree>
    <p:extLst>
      <p:ext uri="{BB962C8B-B14F-4D97-AF65-F5344CB8AC3E}">
        <p14:creationId xmlns:p14="http://schemas.microsoft.com/office/powerpoint/2010/main" val="33922837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コンテンツ">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7691865" y="86759"/>
            <a:ext cx="1324592" cy="37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0777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ver 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08726" y="5566335"/>
            <a:ext cx="2387099" cy="351288"/>
          </a:xfrm>
          <a:prstGeom prst="rect">
            <a:avLst/>
          </a:prstGeom>
        </p:spPr>
        <p:txBody>
          <a:bodyPr anchor="ctr"/>
          <a:lstStyle>
            <a:lvl1pPr marL="0" indent="0">
              <a:lnSpc>
                <a:spcPct val="100000"/>
              </a:lnSpc>
              <a:spcBef>
                <a:spcPts val="0"/>
              </a:spcBef>
              <a:buNone/>
              <a:defRPr sz="1400">
                <a:latin typeface="+mj-lt"/>
                <a:ea typeface="+mn-ea"/>
                <a:cs typeface="メイリオ" pitchFamily="50" charset="-128"/>
              </a:defRPr>
            </a:lvl1pPr>
          </a:lstStyle>
          <a:p>
            <a:pPr lvl="0"/>
            <a:r>
              <a:rPr kumimoji="1" lang="en-US" altLang="ja-JP"/>
              <a:t>2020.6.1</a:t>
            </a:r>
            <a:endParaRPr kumimoji="1" lang="ja-JP" altLang="en-US"/>
          </a:p>
        </p:txBody>
      </p:sp>
      <p:sp>
        <p:nvSpPr>
          <p:cNvPr id="16" name="タイトル 2"/>
          <p:cNvSpPr>
            <a:spLocks noGrp="1"/>
          </p:cNvSpPr>
          <p:nvPr>
            <p:ph type="title" hasCustomPrompt="1"/>
          </p:nvPr>
        </p:nvSpPr>
        <p:spPr>
          <a:xfrm>
            <a:off x="308726" y="2699387"/>
            <a:ext cx="8531974" cy="585575"/>
          </a:xfrm>
          <a:prstGeom prst="rect">
            <a:avLst/>
          </a:prstGeom>
        </p:spPr>
        <p:txBody>
          <a:bodyPr/>
          <a:lstStyle>
            <a:lvl1pPr>
              <a:lnSpc>
                <a:spcPct val="100000"/>
              </a:lnSpc>
              <a:spcBef>
                <a:spcPts val="0"/>
              </a:spcBef>
              <a:defRPr sz="3400" b="1" baseline="0">
                <a:solidFill>
                  <a:schemeClr val="tx1"/>
                </a:solidFill>
                <a:latin typeface="+mj-lt"/>
                <a:ea typeface="+mj-ea"/>
                <a:cs typeface="メイリオ" pitchFamily="50" charset="-128"/>
              </a:defRPr>
            </a:lvl1pPr>
          </a:lstStyle>
          <a:p>
            <a:r>
              <a:rPr kumimoji="1" lang="en-US" altLang="ja-JP"/>
              <a:t>Cover Title 34pt</a:t>
            </a:r>
            <a:endParaRPr kumimoji="1" lang="ja-JP" altLang="en-US"/>
          </a:p>
        </p:txBody>
      </p:sp>
      <p:pic>
        <p:nvPicPr>
          <p:cNvPr id="11" name="図 1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6437" y="201827"/>
            <a:ext cx="8744712" cy="944880"/>
          </a:xfrm>
          <a:prstGeom prst="rect">
            <a:avLst/>
          </a:prstGeom>
        </p:spPr>
      </p:pic>
      <p:sp>
        <p:nvSpPr>
          <p:cNvPr id="9" name="日付プレースホルダー 32"/>
          <p:cNvSpPr txBox="1">
            <a:spLocks/>
          </p:cNvSpPr>
          <p:nvPr/>
        </p:nvSpPr>
        <p:spPr>
          <a:xfrm>
            <a:off x="196437" y="6370976"/>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a:solidFill>
                  <a:schemeClr val="tx1"/>
                </a:solidFill>
                <a:latin typeface="Arial" pitchFamily="34" charset="0"/>
                <a:ea typeface="ＭＳ Ｐゴシック" pitchFamily="50" charset="-128"/>
                <a:cs typeface="+mn-cs"/>
              </a:rPr>
              <a:t>Mitsubishi Power, Ltd. All Rights Reserved.</a:t>
            </a:r>
          </a:p>
        </p:txBody>
      </p:sp>
      <p:pic>
        <p:nvPicPr>
          <p:cNvPr id="12" name="図 11">
            <a:extLst>
              <a:ext uri="{FF2B5EF4-FFF2-40B4-BE49-F238E27FC236}">
                <a16:creationId xmlns:a16="http://schemas.microsoft.com/office/drawing/2014/main" id="{8CDFF458-1393-014F-BE1A-73A5114788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01989" y="5994496"/>
            <a:ext cx="1643036" cy="144126"/>
          </a:xfrm>
          <a:prstGeom prst="rect">
            <a:avLst/>
          </a:prstGeom>
        </p:spPr>
      </p:pic>
      <p:pic>
        <p:nvPicPr>
          <p:cNvPr id="14" name="図 13">
            <a:extLst>
              <a:ext uri="{FF2B5EF4-FFF2-40B4-BE49-F238E27FC236}">
                <a16:creationId xmlns:a16="http://schemas.microsoft.com/office/drawing/2014/main" id="{4C2921AB-8C5D-0F4F-B34B-7B8B79D92E5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578588" y="6291194"/>
            <a:ext cx="1257300" cy="304800"/>
          </a:xfrm>
          <a:prstGeom prst="rect">
            <a:avLst/>
          </a:prstGeom>
        </p:spPr>
      </p:pic>
      <p:sp>
        <p:nvSpPr>
          <p:cNvPr id="10" name="テキスト プレースホルダー 21">
            <a:extLst>
              <a:ext uri="{FF2B5EF4-FFF2-40B4-BE49-F238E27FC236}">
                <a16:creationId xmlns:a16="http://schemas.microsoft.com/office/drawing/2014/main" id="{44F6767F-8ABA-4D30-82D5-26C45E22D88F}"/>
              </a:ext>
            </a:extLst>
          </p:cNvPr>
          <p:cNvSpPr>
            <a:spLocks noGrp="1"/>
          </p:cNvSpPr>
          <p:nvPr>
            <p:ph type="body" sz="quarter" idx="14" hasCustomPrompt="1"/>
          </p:nvPr>
        </p:nvSpPr>
        <p:spPr>
          <a:xfrm>
            <a:off x="308726" y="3361113"/>
            <a:ext cx="8531974"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2000" baseline="0">
                <a:solidFill>
                  <a:schemeClr val="tx1"/>
                </a:solidFill>
                <a:latin typeface="+mj-lt"/>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en-US" altLang="ja-JP"/>
              <a:t>Subtitle 20pt</a:t>
            </a:r>
          </a:p>
        </p:txBody>
      </p:sp>
    </p:spTree>
    <p:extLst>
      <p:ext uri="{BB962C8B-B14F-4D97-AF65-F5344CB8AC3E}">
        <p14:creationId xmlns:p14="http://schemas.microsoft.com/office/powerpoint/2010/main" val="29936464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ection Title ">
    <p:spTree>
      <p:nvGrpSpPr>
        <p:cNvPr id="1" name=""/>
        <p:cNvGrpSpPr/>
        <p:nvPr/>
      </p:nvGrpSpPr>
      <p:grpSpPr>
        <a:xfrm>
          <a:off x="0" y="0"/>
          <a:ext cx="0" cy="0"/>
          <a:chOff x="0" y="0"/>
          <a:chExt cx="0" cy="0"/>
        </a:xfrm>
      </p:grpSpPr>
      <p:pic>
        <p:nvPicPr>
          <p:cNvPr id="6" name="図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6437" y="201827"/>
            <a:ext cx="8744712" cy="944880"/>
          </a:xfrm>
          <a:prstGeom prst="rect">
            <a:avLst/>
          </a:prstGeom>
        </p:spPr>
      </p:pic>
      <p:sp>
        <p:nvSpPr>
          <p:cNvPr id="10" name="タイトル 2"/>
          <p:cNvSpPr>
            <a:spLocks noGrp="1"/>
          </p:cNvSpPr>
          <p:nvPr>
            <p:ph type="title" hasCustomPrompt="1"/>
          </p:nvPr>
        </p:nvSpPr>
        <p:spPr>
          <a:xfrm>
            <a:off x="308726" y="2699387"/>
            <a:ext cx="8531974" cy="585575"/>
          </a:xfrm>
          <a:prstGeom prst="rect">
            <a:avLst/>
          </a:prstGeom>
        </p:spPr>
        <p:txBody>
          <a:bodyPr/>
          <a:lstStyle>
            <a:lvl1pPr>
              <a:lnSpc>
                <a:spcPct val="100000"/>
              </a:lnSpc>
              <a:spcBef>
                <a:spcPts val="0"/>
              </a:spcBef>
              <a:defRPr sz="3400" b="1" baseline="0">
                <a:solidFill>
                  <a:schemeClr val="tx1"/>
                </a:solidFill>
                <a:latin typeface="+mj-lt"/>
                <a:ea typeface="+mj-ea"/>
                <a:cs typeface="メイリオ" pitchFamily="50" charset="-128"/>
              </a:defRPr>
            </a:lvl1pPr>
          </a:lstStyle>
          <a:p>
            <a:r>
              <a:rPr kumimoji="1" lang="en-US" altLang="ja-JP"/>
              <a:t>Section Title 34pt</a:t>
            </a:r>
            <a:endParaRPr kumimoji="1" lang="ja-JP" altLang="en-US"/>
          </a:p>
        </p:txBody>
      </p:sp>
      <p:sp>
        <p:nvSpPr>
          <p:cNvPr id="11"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8726" y="3361113"/>
            <a:ext cx="8531974"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2000" baseline="0">
                <a:solidFill>
                  <a:schemeClr val="tx1"/>
                </a:solidFill>
                <a:latin typeface="+mj-lt"/>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en-US" altLang="ja-JP"/>
              <a:t>Subtitle 20pt</a:t>
            </a:r>
          </a:p>
        </p:txBody>
      </p:sp>
      <p:sp>
        <p:nvSpPr>
          <p:cNvPr id="7" name="日付プレースホルダー 32"/>
          <p:cNvSpPr txBox="1">
            <a:spLocks/>
          </p:cNvSpPr>
          <p:nvPr/>
        </p:nvSpPr>
        <p:spPr>
          <a:xfrm>
            <a:off x="196437" y="6370976"/>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a:solidFill>
                  <a:schemeClr val="tx1"/>
                </a:solidFill>
                <a:latin typeface="Arial" pitchFamily="34" charset="0"/>
                <a:ea typeface="ＭＳ Ｐゴシック" pitchFamily="50" charset="-128"/>
                <a:cs typeface="+mn-cs"/>
              </a:rPr>
              <a:t>Mitsubishi Power, Ltd. All Rights Reserved.</a:t>
            </a:r>
          </a:p>
        </p:txBody>
      </p:sp>
    </p:spTree>
    <p:extLst>
      <p:ext uri="{BB962C8B-B14F-4D97-AF65-F5344CB8AC3E}">
        <p14:creationId xmlns:p14="http://schemas.microsoft.com/office/powerpoint/2010/main" val="3926835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s">
    <p:spTree>
      <p:nvGrpSpPr>
        <p:cNvPr id="1" name=""/>
        <p:cNvGrpSpPr/>
        <p:nvPr/>
      </p:nvGrpSpPr>
      <p:grpSpPr>
        <a:xfrm>
          <a:off x="0" y="0"/>
          <a:ext cx="0" cy="0"/>
          <a:chOff x="0" y="0"/>
          <a:chExt cx="0" cy="0"/>
        </a:xfrm>
      </p:grpSpPr>
      <p:pic>
        <p:nvPicPr>
          <p:cNvPr id="2" name="図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4292" y="6589975"/>
            <a:ext cx="8747760" cy="262128"/>
          </a:xfrm>
          <a:prstGeom prst="rect">
            <a:avLst/>
          </a:prstGeom>
        </p:spPr>
      </p:pic>
      <p:sp>
        <p:nvSpPr>
          <p:cNvPr id="4" name="日付プレースホルダー 32"/>
          <p:cNvSpPr txBox="1">
            <a:spLocks/>
          </p:cNvSpPr>
          <p:nvPr/>
        </p:nvSpPr>
        <p:spPr>
          <a:xfrm>
            <a:off x="324870" y="653938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a:solidFill>
                  <a:schemeClr val="bg1"/>
                </a:solidFill>
                <a:latin typeface="Arial" pitchFamily="34" charset="0"/>
                <a:ea typeface="ＭＳ Ｐゴシック" pitchFamily="50" charset="-128"/>
                <a:cs typeface="+mn-cs"/>
              </a:rPr>
              <a:t>Mitsubishi Power, Ltd. All Rights Reserved.</a:t>
            </a:r>
          </a:p>
        </p:txBody>
      </p:sp>
      <p:sp>
        <p:nvSpPr>
          <p:cNvPr id="7" name="スライド番号プレースホルダー 5"/>
          <p:cNvSpPr txBox="1">
            <a:spLocks/>
          </p:cNvSpPr>
          <p:nvPr/>
        </p:nvSpPr>
        <p:spPr>
          <a:xfrm>
            <a:off x="8389261" y="653847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7" name="テキスト プレースホルダー 9"/>
          <p:cNvSpPr>
            <a:spLocks noGrp="1"/>
          </p:cNvSpPr>
          <p:nvPr>
            <p:ph type="body" sz="quarter" idx="10" hasCustomPrompt="1"/>
          </p:nvPr>
        </p:nvSpPr>
        <p:spPr>
          <a:xfrm>
            <a:off x="555625" y="797133"/>
            <a:ext cx="6389688" cy="652463"/>
          </a:xfrm>
          <a:prstGeom prst="rect">
            <a:avLst/>
          </a:prstGeom>
        </p:spPr>
        <p:txBody>
          <a:bodyPr/>
          <a:lstStyle>
            <a:lvl1pPr marL="0" marR="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sz="2000">
                <a:latin typeface="+mj-lt"/>
                <a:ea typeface="+mn-ea"/>
                <a:cs typeface="メイリオ" pitchFamily="50" charset="-128"/>
              </a:defRPr>
            </a:lvl1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kumimoji="1" lang="en-US" altLang="ja-JP"/>
              <a:t>Text 20pt</a:t>
            </a:r>
            <a:endParaRPr kumimoji="1" lang="ja-JP" altLang="en-US"/>
          </a:p>
        </p:txBody>
      </p:sp>
      <p:sp>
        <p:nvSpPr>
          <p:cNvPr id="18"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marR="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sz="1400">
                <a:latin typeface="+mj-lt"/>
                <a:ea typeface="+mn-ea"/>
                <a:cs typeface="メイリオ" pitchFamily="50" charset="-128"/>
              </a:defRPr>
            </a:lvl1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kumimoji="1" lang="en-US" altLang="ja-JP"/>
              <a:t>Text 14pt</a:t>
            </a:r>
          </a:p>
        </p:txBody>
      </p:sp>
      <p:sp>
        <p:nvSpPr>
          <p:cNvPr id="22" name="テキスト プレースホルダー 18"/>
          <p:cNvSpPr>
            <a:spLocks noGrp="1"/>
          </p:cNvSpPr>
          <p:nvPr>
            <p:ph type="body" sz="quarter" idx="14" hasCustomPrompt="1"/>
          </p:nvPr>
        </p:nvSpPr>
        <p:spPr>
          <a:xfrm>
            <a:off x="552450" y="5434207"/>
            <a:ext cx="8191500" cy="838164"/>
          </a:xfrm>
          <a:prstGeom prst="rect">
            <a:avLst/>
          </a:prstGeom>
        </p:spPr>
        <p:txBody>
          <a:bodyPr numCol="2" spcCol="540000"/>
          <a:lstStyle>
            <a:lvl1pPr marL="0" indent="0">
              <a:lnSpc>
                <a:spcPct val="100000"/>
              </a:lnSpc>
              <a:spcBef>
                <a:spcPts val="0"/>
              </a:spcBef>
              <a:buNone/>
              <a:defRPr sz="1400">
                <a:latin typeface="+mj-lt"/>
                <a:ea typeface="+mn-ea"/>
                <a:cs typeface="メイリオ" pitchFamily="50" charset="-128"/>
              </a:defRPr>
            </a:lvl1pPr>
          </a:lstStyle>
          <a:p>
            <a:pPr lvl="0"/>
            <a:r>
              <a:rPr kumimoji="1" lang="en-US" altLang="ja-JP"/>
              <a:t>Text 14pt</a:t>
            </a:r>
          </a:p>
        </p:txBody>
      </p:sp>
      <p:sp>
        <p:nvSpPr>
          <p:cNvPr id="23" name="コンテンツ プレースホルダー 8"/>
          <p:cNvSpPr>
            <a:spLocks noGrp="1"/>
          </p:cNvSpPr>
          <p:nvPr>
            <p:ph sz="quarter" idx="15" hasCustomPrompt="1"/>
          </p:nvPr>
        </p:nvSpPr>
        <p:spPr>
          <a:xfrm>
            <a:off x="555627" y="2517780"/>
            <a:ext cx="4016375" cy="2728913"/>
          </a:xfrm>
          <a:prstGeom prst="rect">
            <a:avLst/>
          </a:prstGeom>
        </p:spPr>
        <p:txBody>
          <a:bodyPr/>
          <a:lstStyle>
            <a:lvl1pPr marL="0" indent="0">
              <a:lnSpc>
                <a:spcPct val="100000"/>
              </a:lnSpc>
              <a:spcBef>
                <a:spcPts val="0"/>
              </a:spcBef>
              <a:buNone/>
              <a:defRPr sz="1400">
                <a:latin typeface="+mj-lt"/>
                <a:ea typeface="+mn-ea"/>
                <a:cs typeface="メイリオ" pitchFamily="50" charset="-128"/>
              </a:defRPr>
            </a:lvl1pPr>
          </a:lstStyle>
          <a:p>
            <a:pPr lvl="0"/>
            <a:r>
              <a:rPr kumimoji="1" lang="en-US" altLang="ja-JP"/>
              <a:t>Object</a:t>
            </a:r>
            <a:endParaRPr kumimoji="1" lang="ja-JP" altLang="en-US"/>
          </a:p>
        </p:txBody>
      </p:sp>
      <p:sp>
        <p:nvSpPr>
          <p:cNvPr id="24" name="コンテンツ プレースホルダー 8"/>
          <p:cNvSpPr>
            <a:spLocks noGrp="1"/>
          </p:cNvSpPr>
          <p:nvPr>
            <p:ph sz="quarter" idx="16" hasCustomPrompt="1"/>
          </p:nvPr>
        </p:nvSpPr>
        <p:spPr>
          <a:xfrm>
            <a:off x="4719666" y="2517780"/>
            <a:ext cx="4016375" cy="2728913"/>
          </a:xfrm>
          <a:prstGeom prst="rect">
            <a:avLst/>
          </a:prstGeom>
        </p:spPr>
        <p:txBody>
          <a:bodyPr/>
          <a:lstStyle>
            <a:lvl1pPr marL="0" indent="0">
              <a:lnSpc>
                <a:spcPct val="100000"/>
              </a:lnSpc>
              <a:spcBef>
                <a:spcPts val="0"/>
              </a:spcBef>
              <a:buNone/>
              <a:defRPr sz="1400">
                <a:latin typeface="+mj-lt"/>
                <a:ea typeface="+mn-ea"/>
                <a:cs typeface="メイリオ" pitchFamily="50" charset="-128"/>
              </a:defRPr>
            </a:lvl1pPr>
          </a:lstStyle>
          <a:p>
            <a:pPr lvl="0"/>
            <a:r>
              <a:rPr kumimoji="1" lang="en-US" altLang="ja-JP"/>
              <a:t>Object</a:t>
            </a:r>
            <a:endParaRPr kumimoji="1" lang="ja-JP" altLang="en-US"/>
          </a:p>
        </p:txBody>
      </p:sp>
      <p:cxnSp>
        <p:nvCxnSpPr>
          <p:cNvPr id="21" name="直線コネクタ 20"/>
          <p:cNvCxnSpPr/>
          <p:nvPr/>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タイトル 1"/>
          <p:cNvSpPr>
            <a:spLocks noGrp="1"/>
          </p:cNvSpPr>
          <p:nvPr>
            <p:ph type="title" hasCustomPrompt="1"/>
          </p:nvPr>
        </p:nvSpPr>
        <p:spPr>
          <a:xfrm>
            <a:off x="555459" y="136961"/>
            <a:ext cx="6390090" cy="349961"/>
          </a:xfrm>
          <a:prstGeom prst="rect">
            <a:avLst/>
          </a:prstGeom>
        </p:spPr>
        <p:txBody>
          <a:bodyPr/>
          <a:lstStyle>
            <a:lvl1pPr>
              <a:defRPr sz="2200" b="1" baseline="0">
                <a:solidFill>
                  <a:schemeClr val="tx1"/>
                </a:solidFill>
                <a:latin typeface="+mj-lt"/>
                <a:cs typeface="Arial" panose="020B0604020202020204" pitchFamily="34" charset="0"/>
              </a:defRPr>
            </a:lvl1pPr>
          </a:lstStyle>
          <a:p>
            <a:r>
              <a:rPr kumimoji="1" lang="en-US" altLang="ja-JP"/>
              <a:t>Page Title 22pt</a:t>
            </a:r>
            <a:endParaRPr kumimoji="1" lang="ja-JP" altLang="en-US"/>
          </a:p>
        </p:txBody>
      </p:sp>
      <p:pic>
        <p:nvPicPr>
          <p:cNvPr id="15" name="図 14">
            <a:extLst>
              <a:ext uri="{FF2B5EF4-FFF2-40B4-BE49-F238E27FC236}">
                <a16:creationId xmlns:a16="http://schemas.microsoft.com/office/drawing/2014/main" id="{67E114E1-A290-FF46-A28C-4E83D858143E}"/>
              </a:ext>
            </a:extLst>
          </p:cNvPr>
          <p:cNvPicPr>
            <a:picLocks noChangeAspect="1"/>
          </p:cNvPicPr>
          <p:nvPr/>
        </p:nvPicPr>
        <p:blipFill>
          <a:blip r:embed="rId3" cstate="email">
            <a:alphaModFix/>
            <a:extLst>
              <a:ext uri="{28A0092B-C50C-407E-A947-70E740481C1C}">
                <a14:useLocalDpi xmlns:a14="http://schemas.microsoft.com/office/drawing/2010/main"/>
              </a:ext>
            </a:extLst>
          </a:blip>
          <a:stretch>
            <a:fillRect/>
          </a:stretch>
        </p:blipFill>
        <p:spPr>
          <a:xfrm>
            <a:off x="7660830" y="136270"/>
            <a:ext cx="1263600" cy="306327"/>
          </a:xfrm>
          <a:prstGeom prst="rect">
            <a:avLst/>
          </a:prstGeom>
        </p:spPr>
      </p:pic>
    </p:spTree>
    <p:extLst>
      <p:ext uri="{BB962C8B-B14F-4D97-AF65-F5344CB8AC3E}">
        <p14:creationId xmlns:p14="http://schemas.microsoft.com/office/powerpoint/2010/main" val="37869358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lor Sample">
    <p:spTree>
      <p:nvGrpSpPr>
        <p:cNvPr id="1" name=""/>
        <p:cNvGrpSpPr/>
        <p:nvPr/>
      </p:nvGrpSpPr>
      <p:grpSpPr>
        <a:xfrm>
          <a:off x="0" y="0"/>
          <a:ext cx="0" cy="0"/>
          <a:chOff x="0" y="0"/>
          <a:chExt cx="0" cy="0"/>
        </a:xfrm>
      </p:grpSpPr>
      <p:pic>
        <p:nvPicPr>
          <p:cNvPr id="2" name="図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8120" y="6589975"/>
            <a:ext cx="8747760" cy="262128"/>
          </a:xfrm>
          <a:prstGeom prst="rect">
            <a:avLst/>
          </a:prstGeom>
        </p:spPr>
      </p:pic>
      <p:sp>
        <p:nvSpPr>
          <p:cNvPr id="4" name="日付プレースホルダー 32"/>
          <p:cNvSpPr txBox="1">
            <a:spLocks/>
          </p:cNvSpPr>
          <p:nvPr/>
        </p:nvSpPr>
        <p:spPr>
          <a:xfrm>
            <a:off x="309672" y="6540328"/>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a:solidFill>
                  <a:schemeClr val="bg1"/>
                </a:solidFill>
                <a:latin typeface="Arial" pitchFamily="34" charset="0"/>
                <a:ea typeface="ＭＳ Ｐゴシック" pitchFamily="50" charset="-128"/>
                <a:cs typeface="+mn-cs"/>
              </a:rPr>
              <a:t>Mitsubishi Power, Ltd. All Rights Reserved.</a:t>
            </a:r>
          </a:p>
        </p:txBody>
      </p:sp>
      <p:sp>
        <p:nvSpPr>
          <p:cNvPr id="7" name="スライド番号プレースホルダー 5"/>
          <p:cNvSpPr txBox="1">
            <a:spLocks/>
          </p:cNvSpPr>
          <p:nvPr/>
        </p:nvSpPr>
        <p:spPr>
          <a:xfrm>
            <a:off x="8374063" y="6539423"/>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cxnSp>
        <p:nvCxnSpPr>
          <p:cNvPr id="21" name="直線コネクタ 20"/>
          <p:cNvCxnSpPr/>
          <p:nvPr/>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p:cNvSpPr>
            <a:spLocks noGrp="1"/>
          </p:cNvSpPr>
          <p:nvPr>
            <p:ph type="body" sz="quarter" idx="10" hasCustomPrompt="1"/>
          </p:nvPr>
        </p:nvSpPr>
        <p:spPr>
          <a:xfrm>
            <a:off x="555625" y="797133"/>
            <a:ext cx="6389688" cy="652463"/>
          </a:xfrm>
          <a:prstGeom prst="rect">
            <a:avLst/>
          </a:prstGeom>
        </p:spPr>
        <p:txBody>
          <a:bodyPr/>
          <a:lstStyle>
            <a:lvl1pPr marL="0" marR="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sz="2000">
                <a:latin typeface="+mj-lt"/>
                <a:ea typeface="+mn-ea"/>
                <a:cs typeface="メイリオ" pitchFamily="50" charset="-128"/>
              </a:defRPr>
            </a:lvl1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kumimoji="1" lang="en-US" altLang="ja-JP"/>
              <a:t>Text 20pt</a:t>
            </a:r>
            <a:endParaRPr kumimoji="1" lang="ja-JP" altLang="en-US"/>
          </a:p>
        </p:txBody>
      </p:sp>
      <p:sp>
        <p:nvSpPr>
          <p:cNvPr id="11" name="テキスト プレースホルダー 18"/>
          <p:cNvSpPr>
            <a:spLocks noGrp="1"/>
          </p:cNvSpPr>
          <p:nvPr>
            <p:ph type="body" sz="quarter" idx="13" hasCustomPrompt="1"/>
          </p:nvPr>
        </p:nvSpPr>
        <p:spPr>
          <a:xfrm>
            <a:off x="552450" y="1525210"/>
            <a:ext cx="8191500" cy="838164"/>
          </a:xfrm>
          <a:prstGeom prst="rect">
            <a:avLst/>
          </a:prstGeom>
        </p:spPr>
        <p:txBody>
          <a:bodyPr numCol="2" spcCol="540000"/>
          <a:lstStyle>
            <a:lvl1pPr marL="0" marR="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sz="1400">
                <a:latin typeface="+mj-lt"/>
                <a:ea typeface="+mn-ea"/>
                <a:cs typeface="メイリオ" pitchFamily="50" charset="-128"/>
              </a:defRPr>
            </a:lvl1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kumimoji="1" lang="en-US" altLang="ja-JP"/>
              <a:t>Text 14pt</a:t>
            </a:r>
          </a:p>
        </p:txBody>
      </p:sp>
      <p:sp>
        <p:nvSpPr>
          <p:cNvPr id="14" name="タイトル 1"/>
          <p:cNvSpPr>
            <a:spLocks noGrp="1"/>
          </p:cNvSpPr>
          <p:nvPr>
            <p:ph type="title" hasCustomPrompt="1"/>
          </p:nvPr>
        </p:nvSpPr>
        <p:spPr>
          <a:xfrm>
            <a:off x="555459" y="136961"/>
            <a:ext cx="6390090" cy="349961"/>
          </a:xfrm>
          <a:prstGeom prst="rect">
            <a:avLst/>
          </a:prstGeom>
        </p:spPr>
        <p:txBody>
          <a:bodyPr/>
          <a:lstStyle>
            <a:lvl1pPr>
              <a:defRPr sz="2200" b="1" baseline="0">
                <a:solidFill>
                  <a:schemeClr val="tx1"/>
                </a:solidFill>
                <a:latin typeface="+mj-lt"/>
                <a:cs typeface="Arial" panose="020B0604020202020204" pitchFamily="34" charset="0"/>
              </a:defRPr>
            </a:lvl1pPr>
          </a:lstStyle>
          <a:p>
            <a:r>
              <a:rPr kumimoji="1" lang="en-US" altLang="ja-JP"/>
              <a:t>Page Title 22pt</a:t>
            </a:r>
            <a:endParaRPr kumimoji="1" lang="ja-JP" altLang="en-US"/>
          </a:p>
        </p:txBody>
      </p:sp>
      <p:pic>
        <p:nvPicPr>
          <p:cNvPr id="12" name="図 11">
            <a:extLst>
              <a:ext uri="{FF2B5EF4-FFF2-40B4-BE49-F238E27FC236}">
                <a16:creationId xmlns:a16="http://schemas.microsoft.com/office/drawing/2014/main" id="{3C70F769-F34D-3B40-A85B-D56C4AFB55B5}"/>
              </a:ext>
            </a:extLst>
          </p:cNvPr>
          <p:cNvPicPr>
            <a:picLocks noChangeAspect="1"/>
          </p:cNvPicPr>
          <p:nvPr/>
        </p:nvPicPr>
        <p:blipFill>
          <a:blip r:embed="rId3" cstate="email">
            <a:alphaModFix/>
            <a:extLst>
              <a:ext uri="{28A0092B-C50C-407E-A947-70E740481C1C}">
                <a14:useLocalDpi xmlns:a14="http://schemas.microsoft.com/office/drawing/2010/main"/>
              </a:ext>
            </a:extLst>
          </a:blip>
          <a:stretch>
            <a:fillRect/>
          </a:stretch>
        </p:blipFill>
        <p:spPr>
          <a:xfrm>
            <a:off x="7660830" y="136270"/>
            <a:ext cx="1263600" cy="306327"/>
          </a:xfrm>
          <a:prstGeom prst="rect">
            <a:avLst/>
          </a:prstGeom>
        </p:spPr>
      </p:pic>
    </p:spTree>
    <p:extLst>
      <p:ext uri="{BB962C8B-B14F-4D97-AF65-F5344CB8AC3E}">
        <p14:creationId xmlns:p14="http://schemas.microsoft.com/office/powerpoint/2010/main" val="2831765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agline">
    <p:spTree>
      <p:nvGrpSpPr>
        <p:cNvPr id="1" name=""/>
        <p:cNvGrpSpPr/>
        <p:nvPr/>
      </p:nvGrpSpPr>
      <p:grpSpPr>
        <a:xfrm>
          <a:off x="0" y="0"/>
          <a:ext cx="0" cy="0"/>
          <a:chOff x="0" y="0"/>
          <a:chExt cx="0" cy="0"/>
        </a:xfrm>
      </p:grpSpPr>
      <p:pic>
        <p:nvPicPr>
          <p:cNvPr id="4" name="図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02000" y="3202823"/>
            <a:ext cx="5940000" cy="357104"/>
          </a:xfrm>
          <a:prstGeom prst="rect">
            <a:avLst/>
          </a:prstGeom>
        </p:spPr>
      </p:pic>
      <p:pic>
        <p:nvPicPr>
          <p:cNvPr id="5" name="図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49515" y="5852495"/>
            <a:ext cx="1229979" cy="736739"/>
          </a:xfrm>
          <a:prstGeom prst="rect">
            <a:avLst/>
          </a:prstGeom>
        </p:spPr>
      </p:pic>
    </p:spTree>
    <p:extLst>
      <p:ext uri="{BB962C8B-B14F-4D97-AF65-F5344CB8AC3E}">
        <p14:creationId xmlns:p14="http://schemas.microsoft.com/office/powerpoint/2010/main" val="9113623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78754F-4571-4F4D-B91B-294E035A580C}"/>
              </a:ext>
            </a:extLst>
          </p:cNvPr>
          <p:cNvSpPr>
            <a:spLocks noGrp="1"/>
          </p:cNvSpPr>
          <p:nvPr>
            <p:ph type="ctrTitle"/>
          </p:nvPr>
        </p:nvSpPr>
        <p:spPr>
          <a:xfrm>
            <a:off x="1143000" y="1122363"/>
            <a:ext cx="6858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D910210-135D-48E9-8881-ED475C19FAEA}"/>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98AB5D0-7793-4FC8-932A-B861D7B40528}"/>
              </a:ext>
            </a:extLst>
          </p:cNvPr>
          <p:cNvSpPr>
            <a:spLocks noGrp="1"/>
          </p:cNvSpPr>
          <p:nvPr>
            <p:ph type="dt" sz="half" idx="10"/>
          </p:nvPr>
        </p:nvSpPr>
        <p:spPr/>
        <p:txBody>
          <a:bodyPr/>
          <a:lstStyle/>
          <a:p>
            <a:fld id="{6AF28596-4C18-4833-BAEC-A910DC1A3DA9}" type="datetimeFigureOut">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ED7B529C-0BD4-4AA1-A4A5-604BDAD6C36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487DD1-7271-429F-B73D-E71642BDC2FD}"/>
              </a:ext>
            </a:extLst>
          </p:cNvPr>
          <p:cNvSpPr>
            <a:spLocks noGrp="1"/>
          </p:cNvSpPr>
          <p:nvPr>
            <p:ph type="sldNum" sz="quarter" idx="12"/>
          </p:nvPr>
        </p:nvSpPr>
        <p:spPr/>
        <p:txBody>
          <a:bodyPr/>
          <a:lstStyle/>
          <a:p>
            <a:fld id="{D1A3F3AB-2904-4184-9EFB-538B33BAD608}" type="slidenum">
              <a:rPr kumimoji="1" lang="ja-JP" altLang="en-US" smtClean="0"/>
              <a:t>‹#›</a:t>
            </a:fld>
            <a:endParaRPr kumimoji="1" lang="ja-JP" altLang="en-US"/>
          </a:p>
        </p:txBody>
      </p:sp>
    </p:spTree>
    <p:extLst>
      <p:ext uri="{BB962C8B-B14F-4D97-AF65-F5344CB8AC3E}">
        <p14:creationId xmlns:p14="http://schemas.microsoft.com/office/powerpoint/2010/main" val="41615370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コンテンツ">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9761" y="6407161"/>
            <a:ext cx="8744478" cy="262128"/>
          </a:xfrm>
          <a:prstGeom prst="rect">
            <a:avLst/>
          </a:prstGeom>
        </p:spPr>
      </p:pic>
      <p:sp>
        <p:nvSpPr>
          <p:cNvPr id="4" name="日付プレースホルダー 32"/>
          <p:cNvSpPr txBox="1">
            <a:spLocks/>
          </p:cNvSpPr>
          <p:nvPr userDrawn="1"/>
        </p:nvSpPr>
        <p:spPr>
          <a:xfrm>
            <a:off x="309672" y="6357514"/>
            <a:ext cx="5402356"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646">
                <a:solidFill>
                  <a:schemeClr val="bg1"/>
                </a:solidFill>
                <a:latin typeface="+mn-lt"/>
              </a:rPr>
              <a:t>© Mitsubishi Heavy Industries, Ltd.  All Rights Reserved.</a:t>
            </a:r>
            <a:endParaRPr lang="ja-JP" altLang="en-US" sz="646">
              <a:solidFill>
                <a:schemeClr val="bg1"/>
              </a:solidFill>
              <a:latin typeface="+mn-lt"/>
            </a:endParaRPr>
          </a:p>
        </p:txBody>
      </p:sp>
      <p:sp>
        <p:nvSpPr>
          <p:cNvPr id="7" name="スライド番号プレースホルダー 5"/>
          <p:cNvSpPr txBox="1">
            <a:spLocks/>
          </p:cNvSpPr>
          <p:nvPr userDrawn="1"/>
        </p:nvSpPr>
        <p:spPr>
          <a:xfrm>
            <a:off x="8487182" y="6355662"/>
            <a:ext cx="531752" cy="365125"/>
          </a:xfrm>
          <a:prstGeom prst="rect">
            <a:avLst/>
          </a:prstGeom>
          <a:ln w="25400">
            <a:noFill/>
          </a:ln>
        </p:spPr>
        <p:txBody>
          <a:bodyPr vert="horz" wrap="square" lIns="84406" tIns="42203" rIns="84406" bIns="422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lgn="ctr">
              <a:defRPr/>
            </a:pPr>
            <a:fld id="{2336B973-55D6-4CA0-852C-851A571EFE2A}" type="slidenum">
              <a:rPr lang="ja-JP" altLang="en-US" sz="1050" b="0" smtClean="0">
                <a:solidFill>
                  <a:schemeClr val="bg1"/>
                </a:solidFill>
                <a:latin typeface="+mn-ea"/>
                <a:ea typeface="+mn-ea"/>
              </a:rPr>
              <a:pPr algn="ctr">
                <a:defRPr/>
              </a:pPr>
              <a:t>‹#›</a:t>
            </a:fld>
            <a:endParaRPr lang="en-US" altLang="ja-JP" sz="1050" b="0">
              <a:solidFill>
                <a:schemeClr val="bg1"/>
              </a:solidFill>
              <a:latin typeface="+mn-ea"/>
              <a:ea typeface="+mn-ea"/>
            </a:endParaRPr>
          </a:p>
        </p:txBody>
      </p:sp>
      <p:sp>
        <p:nvSpPr>
          <p:cNvPr id="15" name="タイトル 1"/>
          <p:cNvSpPr>
            <a:spLocks noGrp="1"/>
          </p:cNvSpPr>
          <p:nvPr>
            <p:ph type="title" hasCustomPrompt="1"/>
          </p:nvPr>
        </p:nvSpPr>
        <p:spPr>
          <a:xfrm>
            <a:off x="305624" y="128799"/>
            <a:ext cx="6925134" cy="349961"/>
          </a:xfrm>
          <a:prstGeom prst="rect">
            <a:avLst/>
          </a:prstGeom>
        </p:spPr>
        <p:txBody>
          <a:bodyPr lIns="36000" anchor="ctr"/>
          <a:lstStyle>
            <a:lvl1pPr>
              <a:lnSpc>
                <a:spcPct val="100000"/>
              </a:lnSpc>
              <a:defRPr sz="2215" b="1">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altLang="en-US"/>
              <a:t>ページタイトル </a:t>
            </a:r>
            <a:r>
              <a:rPr kumimoji="1" lang="en-US" altLang="ja-JP"/>
              <a:t>24pt </a:t>
            </a:r>
            <a:r>
              <a:rPr kumimoji="1" lang="en-US" altLang="ja-JP" err="1"/>
              <a:t>Meiryo</a:t>
            </a:r>
            <a:r>
              <a:rPr kumimoji="1" lang="en-US" altLang="ja-JP"/>
              <a:t> UI</a:t>
            </a:r>
            <a:endParaRPr kumimoji="1" lang="ja-JP" altLang="en-US"/>
          </a:p>
        </p:txBody>
      </p:sp>
      <p:pic>
        <p:nvPicPr>
          <p:cNvPr id="16" name="図 15">
            <a:extLst>
              <a:ext uri="{FF2B5EF4-FFF2-40B4-BE49-F238E27FC236}">
                <a16:creationId xmlns:a16="http://schemas.microsoft.com/office/drawing/2014/main" id="{ACDB9447-91E2-43E4-82D3-62F8A9DCF31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779693" y="215724"/>
            <a:ext cx="1096615" cy="230108"/>
          </a:xfrm>
          <a:prstGeom prst="rect">
            <a:avLst/>
          </a:prstGeom>
        </p:spPr>
      </p:pic>
      <p:cxnSp>
        <p:nvCxnSpPr>
          <p:cNvPr id="9" name="直線コネクタ 8">
            <a:extLst>
              <a:ext uri="{FF2B5EF4-FFF2-40B4-BE49-F238E27FC236}">
                <a16:creationId xmlns:a16="http://schemas.microsoft.com/office/drawing/2014/main" id="{BBD88A2D-F0AF-442E-A4D9-129CB51BE800}"/>
              </a:ext>
            </a:extLst>
          </p:cNvPr>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05450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コンテンツ">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8120" y="6407161"/>
            <a:ext cx="8747760" cy="262128"/>
          </a:xfrm>
          <a:prstGeom prst="rect">
            <a:avLst/>
          </a:prstGeom>
        </p:spPr>
      </p:pic>
      <p:sp>
        <p:nvSpPr>
          <p:cNvPr id="4" name="日付プレースホルダー 32"/>
          <p:cNvSpPr txBox="1">
            <a:spLocks/>
          </p:cNvSpPr>
          <p:nvPr userDrawn="1"/>
        </p:nvSpPr>
        <p:spPr>
          <a:xfrm>
            <a:off x="309672" y="6357512"/>
            <a:ext cx="5402356"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8374063" y="6356607"/>
            <a:ext cx="520700"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cxnSp>
        <p:nvCxnSpPr>
          <p:cNvPr id="21" name="直線コネクタ 20"/>
          <p:cNvCxnSpPr/>
          <p:nvPr userDrawn="1"/>
        </p:nvCxnSpPr>
        <p:spPr>
          <a:xfrm>
            <a:off x="196437" y="564204"/>
            <a:ext cx="87447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7691865" y="86759"/>
            <a:ext cx="1324592" cy="37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5332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588572"/>
      </p:ext>
    </p:extLst>
  </p:cSld>
  <p:clrMap bg1="lt1" tx1="dk1" bg2="lt2" tx2="dk2" accent1="accent1" accent2="accent2" accent3="accent3" accent4="accent4" accent5="accent5" accent6="accent6" hlink="hlink" folHlink="folHlink"/>
  <p:sldLayoutIdLst>
    <p:sldLayoutId id="2147483700" r:id="rId1"/>
    <p:sldLayoutId id="2147483710" r:id="rId2"/>
    <p:sldLayoutId id="2147483712" r:id="rId3"/>
    <p:sldLayoutId id="2147483697" r:id="rId4"/>
    <p:sldLayoutId id="2147483706" r:id="rId5"/>
    <p:sldLayoutId id="2147483699" r:id="rId6"/>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158117"/>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3" r:id="rId3"/>
    <p:sldLayoutId id="2147483714" r:id="rId4"/>
    <p:sldLayoutId id="2147483716" r:id="rId5"/>
    <p:sldLayoutId id="2147483718" r:id="rId6"/>
    <p:sldLayoutId id="2147483720" r:id="rId7"/>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19394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sldNum="0" hdr="0" ftr="0" dt="0"/>
  <p:txStyles>
    <p:titleStyle>
      <a:lvl1pPr algn="l" defTabSz="662761" rtl="0" eaLnBrk="1" latinLnBrk="0" hangingPunct="1">
        <a:lnSpc>
          <a:spcPct val="90000"/>
        </a:lnSpc>
        <a:spcBef>
          <a:spcPct val="0"/>
        </a:spcBef>
        <a:buNone/>
        <a:defRPr kumimoji="1" sz="3139" kern="1200">
          <a:solidFill>
            <a:schemeClr val="tx1"/>
          </a:solidFill>
          <a:latin typeface="+mj-lt"/>
          <a:ea typeface="+mj-ea"/>
          <a:cs typeface="+mj-cs"/>
        </a:defRPr>
      </a:lvl1pPr>
    </p:titleStyle>
    <p:bodyStyle>
      <a:lvl1pPr marL="165692" indent="-165692" algn="l" defTabSz="662761" rtl="0" eaLnBrk="1" latinLnBrk="0" hangingPunct="1">
        <a:lnSpc>
          <a:spcPct val="90000"/>
        </a:lnSpc>
        <a:spcBef>
          <a:spcPts val="726"/>
        </a:spcBef>
        <a:buFont typeface="Arial" panose="020B0604020202020204" pitchFamily="34" charset="0"/>
        <a:buChar char="•"/>
        <a:defRPr kumimoji="1" sz="2031" kern="1200">
          <a:solidFill>
            <a:schemeClr val="tx1"/>
          </a:solidFill>
          <a:latin typeface="+mn-lt"/>
          <a:ea typeface="+mn-ea"/>
          <a:cs typeface="+mn-cs"/>
        </a:defRPr>
      </a:lvl1pPr>
      <a:lvl2pPr marL="497071" indent="-165692" algn="l" defTabSz="662761" rtl="0" eaLnBrk="1" latinLnBrk="0" hangingPunct="1">
        <a:lnSpc>
          <a:spcPct val="90000"/>
        </a:lnSpc>
        <a:spcBef>
          <a:spcPts val="363"/>
        </a:spcBef>
        <a:buFont typeface="Arial" panose="020B0604020202020204" pitchFamily="34" charset="0"/>
        <a:buChar char="•"/>
        <a:defRPr kumimoji="1" sz="1754" kern="1200">
          <a:solidFill>
            <a:schemeClr val="tx1"/>
          </a:solidFill>
          <a:latin typeface="+mn-lt"/>
          <a:ea typeface="+mn-ea"/>
          <a:cs typeface="+mn-cs"/>
        </a:defRPr>
      </a:lvl2pPr>
      <a:lvl3pPr marL="828451" indent="-165692" algn="l" defTabSz="662761" rtl="0" eaLnBrk="1" latinLnBrk="0" hangingPunct="1">
        <a:lnSpc>
          <a:spcPct val="90000"/>
        </a:lnSpc>
        <a:spcBef>
          <a:spcPts val="363"/>
        </a:spcBef>
        <a:buFont typeface="Arial" panose="020B0604020202020204" pitchFamily="34" charset="0"/>
        <a:buChar char="•"/>
        <a:defRPr kumimoji="1" sz="1477" kern="1200">
          <a:solidFill>
            <a:schemeClr val="tx1"/>
          </a:solidFill>
          <a:latin typeface="+mn-lt"/>
          <a:ea typeface="+mn-ea"/>
          <a:cs typeface="+mn-cs"/>
        </a:defRPr>
      </a:lvl3pPr>
      <a:lvl4pPr marL="1159832"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4pPr>
      <a:lvl5pPr marL="149121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5pPr>
      <a:lvl6pPr marL="182259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6pPr>
      <a:lvl7pPr marL="215397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7pPr>
      <a:lvl8pPr marL="2485355"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8pPr>
      <a:lvl9pPr marL="2816736" indent="-165692" algn="l" defTabSz="662761" rtl="0" eaLnBrk="1" latinLnBrk="0" hangingPunct="1">
        <a:lnSpc>
          <a:spcPct val="90000"/>
        </a:lnSpc>
        <a:spcBef>
          <a:spcPts val="363"/>
        </a:spcBef>
        <a:buFont typeface="Arial" panose="020B0604020202020204" pitchFamily="34" charset="0"/>
        <a:buChar char="•"/>
        <a:defRPr kumimoji="1" sz="1385" kern="1200">
          <a:solidFill>
            <a:schemeClr val="tx1"/>
          </a:solidFill>
          <a:latin typeface="+mn-lt"/>
          <a:ea typeface="+mn-ea"/>
          <a:cs typeface="+mn-cs"/>
        </a:defRPr>
      </a:lvl9pPr>
    </p:bodyStyle>
    <p:otherStyle>
      <a:defPPr>
        <a:defRPr lang="en-US"/>
      </a:defPPr>
      <a:lvl1pPr marL="0" algn="l" defTabSz="662761" rtl="0" eaLnBrk="1" latinLnBrk="0" hangingPunct="1">
        <a:defRPr kumimoji="1" sz="1385" kern="1200">
          <a:solidFill>
            <a:schemeClr val="tx1"/>
          </a:solidFill>
          <a:latin typeface="+mn-lt"/>
          <a:ea typeface="+mn-ea"/>
          <a:cs typeface="+mn-cs"/>
        </a:defRPr>
      </a:lvl1pPr>
      <a:lvl2pPr marL="331381" algn="l" defTabSz="662761" rtl="0" eaLnBrk="1" latinLnBrk="0" hangingPunct="1">
        <a:defRPr kumimoji="1" sz="1385" kern="1200">
          <a:solidFill>
            <a:schemeClr val="tx1"/>
          </a:solidFill>
          <a:latin typeface="+mn-lt"/>
          <a:ea typeface="+mn-ea"/>
          <a:cs typeface="+mn-cs"/>
        </a:defRPr>
      </a:lvl2pPr>
      <a:lvl3pPr marL="662761" algn="l" defTabSz="662761" rtl="0" eaLnBrk="1" latinLnBrk="0" hangingPunct="1">
        <a:defRPr kumimoji="1" sz="1385" kern="1200">
          <a:solidFill>
            <a:schemeClr val="tx1"/>
          </a:solidFill>
          <a:latin typeface="+mn-lt"/>
          <a:ea typeface="+mn-ea"/>
          <a:cs typeface="+mn-cs"/>
        </a:defRPr>
      </a:lvl3pPr>
      <a:lvl4pPr marL="994144" algn="l" defTabSz="662761" rtl="0" eaLnBrk="1" latinLnBrk="0" hangingPunct="1">
        <a:defRPr kumimoji="1" sz="1385" kern="1200">
          <a:solidFill>
            <a:schemeClr val="tx1"/>
          </a:solidFill>
          <a:latin typeface="+mn-lt"/>
          <a:ea typeface="+mn-ea"/>
          <a:cs typeface="+mn-cs"/>
        </a:defRPr>
      </a:lvl4pPr>
      <a:lvl5pPr marL="1325522" algn="l" defTabSz="662761" rtl="0" eaLnBrk="1" latinLnBrk="0" hangingPunct="1">
        <a:defRPr kumimoji="1" sz="1385" kern="1200">
          <a:solidFill>
            <a:schemeClr val="tx1"/>
          </a:solidFill>
          <a:latin typeface="+mn-lt"/>
          <a:ea typeface="+mn-ea"/>
          <a:cs typeface="+mn-cs"/>
        </a:defRPr>
      </a:lvl5pPr>
      <a:lvl6pPr marL="1656905" algn="l" defTabSz="662761" rtl="0" eaLnBrk="1" latinLnBrk="0" hangingPunct="1">
        <a:defRPr kumimoji="1" sz="1385" kern="1200">
          <a:solidFill>
            <a:schemeClr val="tx1"/>
          </a:solidFill>
          <a:latin typeface="+mn-lt"/>
          <a:ea typeface="+mn-ea"/>
          <a:cs typeface="+mn-cs"/>
        </a:defRPr>
      </a:lvl6pPr>
      <a:lvl7pPr marL="1988284" algn="l" defTabSz="662761" rtl="0" eaLnBrk="1" latinLnBrk="0" hangingPunct="1">
        <a:defRPr kumimoji="1" sz="1385" kern="1200">
          <a:solidFill>
            <a:schemeClr val="tx1"/>
          </a:solidFill>
          <a:latin typeface="+mn-lt"/>
          <a:ea typeface="+mn-ea"/>
          <a:cs typeface="+mn-cs"/>
        </a:defRPr>
      </a:lvl7pPr>
      <a:lvl8pPr marL="2319665" algn="l" defTabSz="662761" rtl="0" eaLnBrk="1" latinLnBrk="0" hangingPunct="1">
        <a:defRPr kumimoji="1" sz="1385" kern="1200">
          <a:solidFill>
            <a:schemeClr val="tx1"/>
          </a:solidFill>
          <a:latin typeface="+mn-lt"/>
          <a:ea typeface="+mn-ea"/>
          <a:cs typeface="+mn-cs"/>
        </a:defRPr>
      </a:lvl8pPr>
      <a:lvl9pPr marL="2651046" algn="l" defTabSz="662761" rtl="0" eaLnBrk="1" latinLnBrk="0" hangingPunct="1">
        <a:defRPr kumimoji="1" sz="138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2948552"/>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3.xml"/><Relationship Id="rId5" Type="http://schemas.openxmlformats.org/officeDocument/2006/relationships/image" Target="../media/image26.emf"/><Relationship Id="rId4" Type="http://schemas.openxmlformats.org/officeDocument/2006/relationships/image" Target="../media/image25.emf"/></Relationships>
</file>

<file path=ppt/slides/_rels/slide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p:nvPr>
        </p:nvSpPr>
        <p:spPr>
          <a:xfrm>
            <a:off x="395810" y="5409553"/>
            <a:ext cx="2387099" cy="351288"/>
          </a:xfrm>
        </p:spPr>
        <p:txBody>
          <a:bodyPr/>
          <a:lstStyle/>
          <a:p>
            <a:r>
              <a:rPr kumimoji="1" lang="en-US" altLang="ja-JP"/>
              <a:t>2023/5/22</a:t>
            </a:r>
          </a:p>
          <a:p>
            <a:r>
              <a:rPr lang="ja-JP" altLang="en-US"/>
              <a:t>事業戦略部</a:t>
            </a:r>
            <a:endParaRPr kumimoji="1" lang="ja-JP" altLang="en-US"/>
          </a:p>
        </p:txBody>
      </p:sp>
      <p:sp>
        <p:nvSpPr>
          <p:cNvPr id="5" name="タイトル 4"/>
          <p:cNvSpPr>
            <a:spLocks noGrp="1"/>
          </p:cNvSpPr>
          <p:nvPr>
            <p:ph type="title"/>
          </p:nvPr>
        </p:nvSpPr>
        <p:spPr/>
        <p:txBody>
          <a:bodyPr/>
          <a:lstStyle/>
          <a:p>
            <a:pPr algn="ctr"/>
            <a:r>
              <a:rPr lang="en-US" altLang="ja-JP"/>
              <a:t>SPMI</a:t>
            </a:r>
            <a:r>
              <a:rPr lang="ja-JP" altLang="en-US"/>
              <a:t>事業部</a:t>
            </a:r>
            <a:br>
              <a:rPr lang="en-US" altLang="ja-JP"/>
            </a:br>
            <a:r>
              <a:rPr lang="en-US" altLang="ja-JP"/>
              <a:t>WP</a:t>
            </a:r>
            <a:r>
              <a:rPr lang="ja-JP" altLang="en-US"/>
              <a:t>プロジェクト</a:t>
            </a:r>
            <a:br>
              <a:rPr lang="en-US" altLang="ja-JP"/>
            </a:br>
            <a:r>
              <a:rPr lang="ja-JP" altLang="en-US"/>
              <a:t>（業務プロセス改革）</a:t>
            </a:r>
            <a:endParaRPr kumimoji="1" lang="ja-JP" altLang="en-US"/>
          </a:p>
        </p:txBody>
      </p:sp>
      <p:sp>
        <p:nvSpPr>
          <p:cNvPr id="7" name="テキスト プレースホルダー 6"/>
          <p:cNvSpPr>
            <a:spLocks noGrp="1"/>
          </p:cNvSpPr>
          <p:nvPr>
            <p:ph type="body" sz="quarter" idx="14"/>
          </p:nvPr>
        </p:nvSpPr>
        <p:spPr>
          <a:xfrm>
            <a:off x="303301" y="4399790"/>
            <a:ext cx="8531974" cy="1361051"/>
          </a:xfrm>
        </p:spPr>
        <p:txBody>
          <a:bodyPr/>
          <a:lstStyle/>
          <a:p>
            <a:r>
              <a:rPr kumimoji="1" lang="ja-JP" altLang="en-US"/>
              <a:t>キックオフ会議</a:t>
            </a:r>
          </a:p>
        </p:txBody>
      </p:sp>
      <p:sp>
        <p:nvSpPr>
          <p:cNvPr id="2" name="テキスト ボックス 1">
            <a:extLst>
              <a:ext uri="{FF2B5EF4-FFF2-40B4-BE49-F238E27FC236}">
                <a16:creationId xmlns:a16="http://schemas.microsoft.com/office/drawing/2014/main" id="{D6B43F8C-194C-4060-B39C-325E10F74D0D}"/>
              </a:ext>
            </a:extLst>
          </p:cNvPr>
          <p:cNvSpPr txBox="1"/>
          <p:nvPr/>
        </p:nvSpPr>
        <p:spPr>
          <a:xfrm>
            <a:off x="3927566" y="1846218"/>
            <a:ext cx="1018903" cy="461665"/>
          </a:xfrm>
          <a:prstGeom prst="rect">
            <a:avLst/>
          </a:prstGeom>
          <a:noFill/>
          <a:ln w="38100" cmpd="dbl">
            <a:solidFill>
              <a:srgbClr val="FF0000"/>
            </a:solidFill>
          </a:ln>
        </p:spPr>
        <p:txBody>
          <a:bodyPr wrap="square" rtlCol="0" anchor="ctr">
            <a:spAutoFit/>
          </a:bodyPr>
          <a:lstStyle/>
          <a:p>
            <a:pPr algn="ctr"/>
            <a:r>
              <a:rPr kumimoji="1" lang="ja-JP" altLang="en-US" sz="2400">
                <a:solidFill>
                  <a:srgbClr val="FF0000"/>
                </a:solidFill>
              </a:rPr>
              <a:t>極秘</a:t>
            </a:r>
          </a:p>
        </p:txBody>
      </p:sp>
    </p:spTree>
    <p:extLst>
      <p:ext uri="{BB962C8B-B14F-4D97-AF65-F5344CB8AC3E}">
        <p14:creationId xmlns:p14="http://schemas.microsoft.com/office/powerpoint/2010/main" val="485049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2076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p:cNvSpPr>
            <a:spLocks noGrp="1"/>
          </p:cNvSpPr>
          <p:nvPr>
            <p:ph type="title"/>
          </p:nvPr>
        </p:nvSpPr>
        <p:spPr/>
        <p:txBody>
          <a:bodyPr/>
          <a:lstStyle/>
          <a:p>
            <a:r>
              <a:rPr kumimoji="1" lang="ja-JP" altLang="en-US"/>
              <a:t>アジェンダ</a:t>
            </a:r>
          </a:p>
        </p:txBody>
      </p:sp>
      <p:sp>
        <p:nvSpPr>
          <p:cNvPr id="9" name="テキスト プレースホルダー 8"/>
          <p:cNvSpPr>
            <a:spLocks noGrp="1"/>
          </p:cNvSpPr>
          <p:nvPr>
            <p:ph type="body" sz="quarter" idx="10"/>
          </p:nvPr>
        </p:nvSpPr>
        <p:spPr>
          <a:xfrm>
            <a:off x="257452" y="797131"/>
            <a:ext cx="8629096" cy="5506015"/>
          </a:xfrm>
        </p:spPr>
        <p:txBody>
          <a:bodyPr/>
          <a:lstStyle/>
          <a:p>
            <a:pPr marL="342900" indent="-342900">
              <a:buFont typeface="+mj-lt"/>
              <a:buAutoNum type="arabicPeriod"/>
            </a:pPr>
            <a:r>
              <a:rPr lang="ja-JP" altLang="en-US" sz="1800"/>
              <a:t>業務プロセス改革を開始するにあたって</a:t>
            </a:r>
            <a:endParaRPr lang="en-US" altLang="ja-JP" sz="1800">
              <a:solidFill>
                <a:srgbClr val="FF0000"/>
              </a:solidFill>
            </a:endParaRPr>
          </a:p>
          <a:p>
            <a:pPr marL="342900" indent="-342900">
              <a:buFont typeface="+mj-lt"/>
              <a:buAutoNum type="arabicPeriod"/>
            </a:pPr>
            <a:r>
              <a:rPr lang="ja-JP" altLang="en-US" sz="1800"/>
              <a:t>取組みの背景</a:t>
            </a:r>
            <a:endParaRPr lang="en-US" altLang="ja-JP" sz="1800">
              <a:solidFill>
                <a:srgbClr val="FF0000"/>
              </a:solidFill>
            </a:endParaRPr>
          </a:p>
          <a:p>
            <a:r>
              <a:rPr lang="ja-JP" altLang="en-US" sz="1800"/>
              <a:t>　</a:t>
            </a:r>
            <a:r>
              <a:rPr lang="en-US" altLang="ja-JP" sz="1800"/>
              <a:t>2-1. </a:t>
            </a:r>
            <a:r>
              <a:rPr lang="ja-JP" altLang="en-US" sz="1800"/>
              <a:t>厳しい受注計画</a:t>
            </a:r>
            <a:endParaRPr lang="en-US" altLang="ja-JP" sz="1800"/>
          </a:p>
          <a:p>
            <a:r>
              <a:rPr lang="en-US" altLang="ja-JP" sz="1800"/>
              <a:t>   2-2. </a:t>
            </a:r>
            <a:r>
              <a:rPr lang="ja-JP" altLang="en-US" sz="1800"/>
              <a:t>受注方針の見直し</a:t>
            </a:r>
            <a:endParaRPr lang="en-US" altLang="ja-JP" sz="1800"/>
          </a:p>
          <a:p>
            <a:r>
              <a:rPr lang="en-US" altLang="ja-JP" sz="1800"/>
              <a:t>   2-3. </a:t>
            </a:r>
            <a:r>
              <a:rPr lang="ja-JP" altLang="en-US" sz="1800"/>
              <a:t>売上・利益・人員固定費計画の見直し</a:t>
            </a:r>
            <a:endParaRPr lang="en-US" altLang="ja-JP" sz="1800"/>
          </a:p>
          <a:p>
            <a:r>
              <a:rPr lang="ja-JP" altLang="en-US" sz="1800"/>
              <a:t>　</a:t>
            </a:r>
            <a:r>
              <a:rPr lang="en-US" altLang="ja-JP" sz="1800"/>
              <a:t>2-4. </a:t>
            </a:r>
            <a:r>
              <a:rPr lang="ja-JP" altLang="en-US" sz="1800"/>
              <a:t>人員固定費計画の詳細</a:t>
            </a:r>
            <a:endParaRPr lang="en-US" altLang="ja-JP" sz="1800"/>
          </a:p>
          <a:p>
            <a:r>
              <a:rPr lang="ja-JP" altLang="en-US" sz="1800"/>
              <a:t>　</a:t>
            </a:r>
            <a:r>
              <a:rPr lang="en-US" altLang="ja-JP" sz="1800"/>
              <a:t>2-5.</a:t>
            </a:r>
            <a:r>
              <a:rPr lang="ja-JP" altLang="en-US" sz="1800"/>
              <a:t> 収益力の強化に向けた取組み</a:t>
            </a:r>
            <a:endParaRPr lang="en-US" altLang="ja-JP" sz="1800"/>
          </a:p>
          <a:p>
            <a:r>
              <a:rPr lang="ja-JP" altLang="en-US" sz="1800"/>
              <a:t>　</a:t>
            </a:r>
            <a:r>
              <a:rPr lang="en-US" altLang="ja-JP" sz="1800"/>
              <a:t>2-6. </a:t>
            </a:r>
            <a:r>
              <a:rPr lang="ja-JP" altLang="en-US" sz="1800"/>
              <a:t>改革テーマ見直しの必要性</a:t>
            </a:r>
            <a:endParaRPr lang="en-US" altLang="ja-JP" sz="1800"/>
          </a:p>
          <a:p>
            <a:pPr marL="342900" indent="-342900">
              <a:buFont typeface="+mj-lt"/>
              <a:buAutoNum type="arabicPeriod" startAt="3"/>
            </a:pPr>
            <a:r>
              <a:rPr lang="ja-JP" altLang="en-US" sz="1800"/>
              <a:t>遂行体制</a:t>
            </a:r>
            <a:endParaRPr lang="en-US" altLang="ja-JP" sz="1800"/>
          </a:p>
          <a:p>
            <a:pPr marL="342900" indent="-342900">
              <a:buFont typeface="+mj-lt"/>
              <a:buAutoNum type="arabicPeriod" startAt="3"/>
            </a:pPr>
            <a:r>
              <a:rPr lang="ja-JP" altLang="en-US" sz="1800"/>
              <a:t>全体スケジュール</a:t>
            </a:r>
            <a:endParaRPr lang="en-US" altLang="ja-JP" sz="1800"/>
          </a:p>
          <a:p>
            <a:pPr marL="342900" indent="-342900">
              <a:buFont typeface="+mj-lt"/>
              <a:buAutoNum type="arabicPeriod" startAt="3"/>
            </a:pPr>
            <a:r>
              <a:rPr lang="ja-JP" altLang="en-US" sz="1800"/>
              <a:t>推進アプローチについて</a:t>
            </a:r>
            <a:endParaRPr lang="en-US" altLang="ja-JP" sz="1800"/>
          </a:p>
          <a:p>
            <a:pPr marL="342900" indent="-342900">
              <a:buFont typeface="+mj-lt"/>
              <a:buAutoNum type="arabicPeriod" startAt="3"/>
            </a:pPr>
            <a:r>
              <a:rPr lang="ja-JP" altLang="en-US" sz="1800"/>
              <a:t>個別検討会について</a:t>
            </a:r>
            <a:endParaRPr lang="en-US" altLang="ja-JP" sz="1800"/>
          </a:p>
        </p:txBody>
      </p:sp>
    </p:spTree>
    <p:extLst>
      <p:ext uri="{BB962C8B-B14F-4D97-AF65-F5344CB8AC3E}">
        <p14:creationId xmlns:p14="http://schemas.microsoft.com/office/powerpoint/2010/main" val="1569280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10"/>
          <p:cNvSpPr>
            <a:spLocks noGrp="1"/>
          </p:cNvSpPr>
          <p:nvPr>
            <p:ph type="title"/>
          </p:nvPr>
        </p:nvSpPr>
        <p:spPr>
          <a:xfrm>
            <a:off x="449035" y="128799"/>
            <a:ext cx="6925134" cy="349961"/>
          </a:xfrm>
        </p:spPr>
        <p:txBody>
          <a:bodyPr/>
          <a:lstStyle/>
          <a:p>
            <a:r>
              <a:rPr lang="ja-JP" altLang="en-US" sz="2000"/>
              <a:t>１．業務プロセス改革を開始するにあたって</a:t>
            </a:r>
            <a:endParaRPr kumimoji="1" lang="ja-JP" altLang="en-US" sz="2000">
              <a:latin typeface="Meiryo UI" panose="020B0604030504040204" pitchFamily="50" charset="-128"/>
              <a:ea typeface="Meiryo UI" panose="020B0604030504040204" pitchFamily="50" charset="-128"/>
            </a:endParaRPr>
          </a:p>
        </p:txBody>
      </p:sp>
      <p:sp>
        <p:nvSpPr>
          <p:cNvPr id="2" name="テキスト プレースホルダー 1"/>
          <p:cNvSpPr>
            <a:spLocks noGrp="1"/>
          </p:cNvSpPr>
          <p:nvPr>
            <p:ph type="body" sz="quarter" idx="4294967295"/>
          </p:nvPr>
        </p:nvSpPr>
        <p:spPr>
          <a:xfrm>
            <a:off x="194309" y="583263"/>
            <a:ext cx="8755381" cy="5443423"/>
          </a:xfrm>
          <a:prstGeom prst="rect">
            <a:avLst/>
          </a:prstGeom>
        </p:spPr>
        <p:txBody>
          <a:bodyPr/>
          <a:lstStyle/>
          <a:p>
            <a:pPr marL="360363" marR="69970" indent="-360363">
              <a:lnSpc>
                <a:spcPct val="100000"/>
              </a:lnSpc>
              <a:spcBef>
                <a:spcPts val="600"/>
              </a:spcBef>
              <a:buClr>
                <a:schemeClr val="accent2"/>
              </a:buClr>
              <a:buFont typeface="Wingdings" panose="05000000000000000000" pitchFamily="2" charset="2"/>
              <a:buChar char="n"/>
            </a:pPr>
            <a:r>
              <a:rPr lang="ja-JP" altLang="en-US" sz="2000">
                <a:latin typeface="+mn-ea"/>
              </a:rPr>
              <a:t>現在、足元</a:t>
            </a:r>
            <a:r>
              <a:rPr lang="en-US" altLang="ja-JP" sz="2000" b="1">
                <a:latin typeface="+mn-ea"/>
              </a:rPr>
              <a:t>FY23</a:t>
            </a:r>
            <a:r>
              <a:rPr lang="ja-JP" altLang="en-US" sz="2000" b="1">
                <a:latin typeface="+mn-ea"/>
              </a:rPr>
              <a:t>の事業利益上積み</a:t>
            </a:r>
            <a:r>
              <a:rPr lang="ja-JP" altLang="en-US" sz="2000">
                <a:latin typeface="+mn-ea"/>
              </a:rPr>
              <a:t>に向け各種施策に取り組んでいる</a:t>
            </a:r>
            <a:endParaRPr lang="en-US" altLang="ja-JP" sz="2000">
              <a:latin typeface="+mn-ea"/>
            </a:endParaRPr>
          </a:p>
          <a:p>
            <a:pPr marL="360363" marR="69970" indent="-360363">
              <a:lnSpc>
                <a:spcPct val="100000"/>
              </a:lnSpc>
              <a:spcBef>
                <a:spcPts val="400"/>
              </a:spcBef>
              <a:buClr>
                <a:schemeClr val="accent2"/>
              </a:buClr>
              <a:buFont typeface="Wingdings" panose="05000000000000000000" pitchFamily="2" charset="2"/>
              <a:buChar char="n"/>
            </a:pPr>
            <a:r>
              <a:rPr lang="ja-JP" altLang="en-US" sz="2000">
                <a:latin typeface="+mn-ea"/>
              </a:rPr>
              <a:t>一方、</a:t>
            </a:r>
            <a:r>
              <a:rPr lang="ja-JP" altLang="en-US" sz="2000" b="1">
                <a:latin typeface="+mn-ea"/>
              </a:rPr>
              <a:t>「継続的に利益を生み出す</a:t>
            </a:r>
            <a:r>
              <a:rPr lang="en-US" altLang="ja-JP" sz="2000" b="1">
                <a:latin typeface="+mn-ea"/>
              </a:rPr>
              <a:t>SBU</a:t>
            </a:r>
            <a:r>
              <a:rPr lang="ja-JP" altLang="en-US" sz="2000" b="1">
                <a:latin typeface="+mn-ea"/>
              </a:rPr>
              <a:t>」に変革</a:t>
            </a:r>
            <a:r>
              <a:rPr lang="ja-JP" altLang="en-US" sz="2000">
                <a:latin typeface="+mn-ea"/>
              </a:rPr>
              <a:t>するためには、より「抜本的な対策」が必要である。</a:t>
            </a:r>
            <a:endParaRPr lang="en-US" altLang="ja-JP" sz="2000">
              <a:latin typeface="+mn-ea"/>
            </a:endParaRPr>
          </a:p>
          <a:p>
            <a:pPr marL="0" marR="69970" indent="0">
              <a:lnSpc>
                <a:spcPct val="100000"/>
              </a:lnSpc>
              <a:spcBef>
                <a:spcPts val="0"/>
              </a:spcBef>
              <a:buClr>
                <a:schemeClr val="accent2"/>
              </a:buClr>
              <a:buNone/>
            </a:pPr>
            <a:r>
              <a:rPr lang="ja-JP" altLang="en-US" sz="2000">
                <a:latin typeface="+mn-ea"/>
              </a:rPr>
              <a:t>　 </a:t>
            </a:r>
            <a:r>
              <a:rPr lang="en-US" altLang="ja-JP" sz="2000">
                <a:latin typeface="+mn-ea"/>
              </a:rPr>
              <a:t>※</a:t>
            </a:r>
            <a:r>
              <a:rPr lang="ja-JP" altLang="en-US" sz="2000">
                <a:latin typeface="+mn-ea"/>
              </a:rPr>
              <a:t>昨年度の</a:t>
            </a:r>
            <a:r>
              <a:rPr lang="en-US" altLang="ja-JP" sz="2000">
                <a:latin typeface="+mn-ea"/>
              </a:rPr>
              <a:t>21</a:t>
            </a:r>
            <a:r>
              <a:rPr lang="ja-JP" altLang="en-US" sz="2000">
                <a:latin typeface="+mn-ea"/>
              </a:rPr>
              <a:t>事計フォロー本会議で経営幹部</a:t>
            </a:r>
            <a:r>
              <a:rPr lang="en-US" altLang="ja-JP" sz="2000">
                <a:latin typeface="+mn-ea"/>
              </a:rPr>
              <a:t>(</a:t>
            </a:r>
            <a:r>
              <a:rPr lang="en-US" altLang="ja-JP" sz="2000" err="1">
                <a:latin typeface="+mn-ea"/>
              </a:rPr>
              <a:t>CxO</a:t>
            </a:r>
            <a:r>
              <a:rPr lang="en-US" altLang="ja-JP" sz="2000">
                <a:latin typeface="+mn-ea"/>
              </a:rPr>
              <a:t>)</a:t>
            </a:r>
            <a:r>
              <a:rPr lang="ja-JP" altLang="en-US" sz="2000">
                <a:latin typeface="+mn-ea"/>
              </a:rPr>
              <a:t>からも指摘あり</a:t>
            </a:r>
            <a:endParaRPr lang="en-US" altLang="ja-JP" sz="2000">
              <a:latin typeface="+mn-ea"/>
            </a:endParaRPr>
          </a:p>
          <a:p>
            <a:pPr marL="360363" marR="69970" indent="-360363">
              <a:lnSpc>
                <a:spcPct val="100000"/>
              </a:lnSpc>
              <a:spcBef>
                <a:spcPts val="400"/>
              </a:spcBef>
              <a:buClr>
                <a:schemeClr val="accent2"/>
              </a:buClr>
              <a:buFont typeface="Wingdings" panose="05000000000000000000" pitchFamily="2" charset="2"/>
              <a:buChar char="n"/>
            </a:pPr>
            <a:r>
              <a:rPr lang="ja-JP" altLang="en-US" sz="2000">
                <a:latin typeface="+mn-ea"/>
              </a:rPr>
              <a:t>今回、厳しい市場環境を踏まえた受注・財務計画の再精査により、これまでの計画に織込んでいた</a:t>
            </a:r>
            <a:r>
              <a:rPr lang="ja-JP" altLang="en-US" sz="2000" b="1">
                <a:latin typeface="+mn-ea"/>
              </a:rPr>
              <a:t>「新設事業規模縮小による人員・固定費削減」</a:t>
            </a:r>
            <a:r>
              <a:rPr lang="ja-JP" altLang="en-US" sz="2000">
                <a:latin typeface="+mn-ea"/>
              </a:rPr>
              <a:t>に加え、 より抜本的な対策として</a:t>
            </a:r>
            <a:r>
              <a:rPr lang="ja-JP" altLang="en-US" sz="2000" b="1">
                <a:latin typeface="+mn-ea"/>
              </a:rPr>
              <a:t>「新設案件引合の中止」、「業務プロセス改革による更なる人員・固定費削減」</a:t>
            </a:r>
            <a:r>
              <a:rPr lang="ja-JP" altLang="en-US" sz="2000">
                <a:latin typeface="+mn-ea"/>
              </a:rPr>
              <a:t>が必要と判断した</a:t>
            </a:r>
            <a:endParaRPr lang="en-US" altLang="ja-JP" sz="2000">
              <a:latin typeface="+mn-ea"/>
            </a:endParaRPr>
          </a:p>
          <a:p>
            <a:pPr marL="360363" marR="69970" indent="-360363">
              <a:lnSpc>
                <a:spcPct val="100000"/>
              </a:lnSpc>
              <a:spcBef>
                <a:spcPts val="400"/>
              </a:spcBef>
              <a:buClr>
                <a:schemeClr val="accent2"/>
              </a:buClr>
              <a:buFont typeface="Wingdings" panose="05000000000000000000" pitchFamily="2" charset="2"/>
              <a:buChar char="n"/>
            </a:pPr>
            <a:r>
              <a:rPr lang="ja-JP" altLang="en-US" sz="2000">
                <a:latin typeface="+mn-ea"/>
              </a:rPr>
              <a:t>業務プロセス改革は、昨年度はボトムアップで実施したが、部分最適となり固定費削減まで行きつかず。今回はトップダウンで実行し、新設からサービス主体に基本的にゼロ・ベースで見直す。主な標的は、「受注計画プロセス」、「引合見積りプロセス」、「採算管理プロセス」、「操業・繁閑差調整プロセス」、「プロジェクト管理プロセス」 、「山積み人員計画プロセス」等、広範囲にわたる。</a:t>
            </a:r>
            <a:endParaRPr lang="en-US" altLang="ja-JP" sz="2000">
              <a:latin typeface="+mn-ea"/>
            </a:endParaRPr>
          </a:p>
          <a:p>
            <a:pPr marL="360363" marR="69970" indent="-360363">
              <a:lnSpc>
                <a:spcPct val="100000"/>
              </a:lnSpc>
              <a:spcBef>
                <a:spcPts val="400"/>
              </a:spcBef>
              <a:buClr>
                <a:schemeClr val="accent2"/>
              </a:buClr>
              <a:buFont typeface="Wingdings" panose="05000000000000000000" pitchFamily="2" charset="2"/>
              <a:buChar char="n"/>
            </a:pPr>
            <a:r>
              <a:rPr lang="ja-JP" altLang="en-US" sz="2000">
                <a:latin typeface="+mn-ea"/>
              </a:rPr>
              <a:t>また、事業部関係者だけでは固定観念から抜け出せない可能性あり。その為、今回コンサルタントを起用し、外部の知見・手法を取り入れ、効果的な改革テーマを見極めたうえで実行に移したい</a:t>
            </a:r>
            <a:endParaRPr lang="en-US" altLang="ja-JP" sz="2000">
              <a:latin typeface="+mn-ea"/>
            </a:endParaRPr>
          </a:p>
          <a:p>
            <a:pPr marL="360363" marR="69970" indent="-360363">
              <a:lnSpc>
                <a:spcPct val="100000"/>
              </a:lnSpc>
              <a:spcBef>
                <a:spcPts val="400"/>
              </a:spcBef>
              <a:buClr>
                <a:schemeClr val="accent2"/>
              </a:buClr>
              <a:buFont typeface="Wingdings" panose="05000000000000000000" pitchFamily="2" charset="2"/>
              <a:buChar char="n"/>
            </a:pPr>
            <a:r>
              <a:rPr lang="ja-JP" altLang="en-US" sz="2000">
                <a:latin typeface="+mn-ea"/>
              </a:rPr>
              <a:t>今回アサインされたメンバーは、</a:t>
            </a:r>
            <a:r>
              <a:rPr lang="ja-JP" altLang="en-US" sz="2000" b="1">
                <a:latin typeface="+mn-ea"/>
              </a:rPr>
              <a:t>各部門の代表、事業部の幹部として主体性を持って</a:t>
            </a:r>
            <a:r>
              <a:rPr lang="ja-JP" altLang="en-US" sz="2000">
                <a:latin typeface="+mn-ea"/>
              </a:rPr>
              <a:t>本活動に参画して欲しい</a:t>
            </a:r>
            <a:endParaRPr lang="en-US" altLang="ja-JP" sz="2000">
              <a:latin typeface="+mn-ea"/>
            </a:endParaRPr>
          </a:p>
        </p:txBody>
      </p:sp>
    </p:spTree>
    <p:extLst>
      <p:ext uri="{BB962C8B-B14F-4D97-AF65-F5344CB8AC3E}">
        <p14:creationId xmlns:p14="http://schemas.microsoft.com/office/powerpoint/2010/main" val="576463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グラフ 65">
            <a:extLst>
              <a:ext uri="{FF2B5EF4-FFF2-40B4-BE49-F238E27FC236}">
                <a16:creationId xmlns:a16="http://schemas.microsoft.com/office/drawing/2014/main" id="{EA60109A-B80F-464E-9F90-7E3ED5669EAB}"/>
              </a:ext>
            </a:extLst>
          </p:cNvPr>
          <p:cNvGraphicFramePr>
            <a:graphicFrameLocks/>
          </p:cNvGraphicFramePr>
          <p:nvPr/>
        </p:nvGraphicFramePr>
        <p:xfrm>
          <a:off x="281057" y="2028720"/>
          <a:ext cx="8853108" cy="3646059"/>
        </p:xfrm>
        <a:graphic>
          <a:graphicData uri="http://schemas.openxmlformats.org/drawingml/2006/chart">
            <c:chart xmlns:c="http://schemas.openxmlformats.org/drawingml/2006/chart" xmlns:r="http://schemas.openxmlformats.org/officeDocument/2006/relationships" r:id="rId2"/>
          </a:graphicData>
        </a:graphic>
      </p:graphicFrame>
      <p:sp>
        <p:nvSpPr>
          <p:cNvPr id="2" name="タイトル 1">
            <a:extLst>
              <a:ext uri="{FF2B5EF4-FFF2-40B4-BE49-F238E27FC236}">
                <a16:creationId xmlns:a16="http://schemas.microsoft.com/office/drawing/2014/main" id="{D0E2C06A-775D-4862-8EB5-9B7545E99A3E}"/>
              </a:ext>
            </a:extLst>
          </p:cNvPr>
          <p:cNvSpPr>
            <a:spLocks noGrp="1"/>
          </p:cNvSpPr>
          <p:nvPr>
            <p:ph type="title"/>
          </p:nvPr>
        </p:nvSpPr>
        <p:spPr/>
        <p:txBody>
          <a:bodyPr/>
          <a:lstStyle/>
          <a:p>
            <a:r>
              <a:rPr kumimoji="1" lang="ja-JP" altLang="en-US" sz="2000"/>
              <a:t>２</a:t>
            </a:r>
            <a:r>
              <a:rPr kumimoji="1" lang="en-US" altLang="ja-JP" sz="2000"/>
              <a:t>-1</a:t>
            </a:r>
            <a:r>
              <a:rPr kumimoji="1" lang="ja-JP" altLang="en-US" sz="2000"/>
              <a:t>．取組みの背景：厳しい受注計画</a:t>
            </a:r>
          </a:p>
        </p:txBody>
      </p:sp>
      <p:sp>
        <p:nvSpPr>
          <p:cNvPr id="18" name="正方形/長方形 17">
            <a:extLst>
              <a:ext uri="{FF2B5EF4-FFF2-40B4-BE49-F238E27FC236}">
                <a16:creationId xmlns:a16="http://schemas.microsoft.com/office/drawing/2014/main" id="{99454CBC-87C6-43C5-A465-F09DAA063750}"/>
              </a:ext>
            </a:extLst>
          </p:cNvPr>
          <p:cNvSpPr/>
          <p:nvPr/>
        </p:nvSpPr>
        <p:spPr>
          <a:xfrm>
            <a:off x="210313" y="611706"/>
            <a:ext cx="8741663" cy="1129342"/>
          </a:xfrm>
          <a:prstGeom prst="rect">
            <a:avLst/>
          </a:prstGeom>
          <a:solidFill>
            <a:schemeClr val="accent2">
              <a:lumMod val="40000"/>
              <a:lumOff val="60000"/>
            </a:schemeClr>
          </a:solidFill>
          <a:ln w="12700" cap="flat" cmpd="sng" algn="ctr">
            <a:noFill/>
            <a:prstDash val="solid"/>
            <a:miter lim="800000"/>
          </a:ln>
          <a:effectLst/>
        </p:spPr>
        <p:txBody>
          <a:bodyPr rtlCol="0" anchor="t" anchorCtr="0"/>
          <a:lstStyle/>
          <a:p>
            <a:pPr marL="182563" marR="0" lvl="0" indent="-182563"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0" lang="ja-JP" altLang="en-US" sz="1600" b="0" i="0" u="none" strike="noStrike" kern="0" cap="none" spc="0" normalizeH="0" baseline="0" noProof="0">
                <a:ln>
                  <a:noFill/>
                </a:ln>
                <a:solidFill>
                  <a:prstClr val="black"/>
                </a:solidFill>
                <a:effectLst/>
                <a:uLnTx/>
                <a:uFillTx/>
                <a:latin typeface="Meiryo UI"/>
                <a:ea typeface="Meiryo UI"/>
                <a:cs typeface="+mn-cs"/>
              </a:rPr>
              <a:t>事業部全体の受注額は</a:t>
            </a:r>
            <a:r>
              <a:rPr kumimoji="0" lang="en-US" altLang="ja-JP" sz="1600" b="0" i="0" u="none" strike="noStrike" kern="0" cap="none" spc="0" normalizeH="0" baseline="0" noProof="0">
                <a:ln>
                  <a:noFill/>
                </a:ln>
                <a:solidFill>
                  <a:prstClr val="black"/>
                </a:solidFill>
                <a:effectLst/>
                <a:uLnTx/>
                <a:uFillTx/>
                <a:latin typeface="Meiryo UI"/>
                <a:ea typeface="Meiryo UI"/>
                <a:cs typeface="+mn-cs"/>
              </a:rPr>
              <a:t>FY23</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a:t>
            </a:r>
            <a:r>
              <a:rPr kumimoji="0" lang="en-US" altLang="ja-JP" sz="1600" b="0" i="0" u="none" strike="noStrike" kern="0" cap="none" spc="0" normalizeH="0" baseline="0" noProof="0">
                <a:ln>
                  <a:noFill/>
                </a:ln>
                <a:solidFill>
                  <a:prstClr val="black"/>
                </a:solidFill>
                <a:effectLst/>
                <a:uLnTx/>
                <a:uFillTx/>
                <a:latin typeface="Meiryo UI"/>
                <a:ea typeface="Meiryo UI"/>
                <a:cs typeface="+mn-cs"/>
              </a:rPr>
              <a:t>28</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にかけて</a:t>
            </a:r>
            <a:r>
              <a:rPr kumimoji="0" lang="en-US" altLang="ja-JP" sz="1600" b="0" i="0" u="none" strike="noStrike" kern="0" cap="none" spc="0" normalizeH="0" baseline="0" noProof="0">
                <a:ln>
                  <a:noFill/>
                </a:ln>
                <a:solidFill>
                  <a:prstClr val="black"/>
                </a:solidFill>
                <a:effectLst/>
                <a:uLnTx/>
                <a:uFillTx/>
                <a:latin typeface="Meiryo UI"/>
                <a:ea typeface="Meiryo UI"/>
                <a:cs typeface="+mn-cs"/>
              </a:rPr>
              <a:t>2,200</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億円規模から</a:t>
            </a:r>
            <a:r>
              <a:rPr kumimoji="0" lang="en-US" altLang="ja-JP" sz="1600" b="0" i="0" u="none" strike="noStrike" kern="0" cap="none" spc="0" normalizeH="0" baseline="0" noProof="0">
                <a:ln>
                  <a:noFill/>
                </a:ln>
                <a:solidFill>
                  <a:prstClr val="black"/>
                </a:solidFill>
                <a:effectLst/>
                <a:uLnTx/>
                <a:uFillTx/>
                <a:latin typeface="Meiryo UI"/>
                <a:ea typeface="Meiryo UI"/>
                <a:cs typeface="+mn-cs"/>
              </a:rPr>
              <a:t>1,800</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億円規模へ減少する見通し</a:t>
            </a:r>
            <a:endParaRPr kumimoji="0" lang="en-US" altLang="ja-JP" sz="1600" b="0" i="0" u="none" strike="noStrike" kern="0" cap="none" spc="0" normalizeH="0" baseline="0" noProof="0">
              <a:ln>
                <a:noFill/>
              </a:ln>
              <a:solidFill>
                <a:prstClr val="black"/>
              </a:solidFill>
              <a:effectLst/>
              <a:uLnTx/>
              <a:uFillTx/>
              <a:latin typeface="Meiryo UI"/>
              <a:ea typeface="Meiryo UI"/>
              <a:cs typeface="+mn-cs"/>
            </a:endParaRPr>
          </a:p>
          <a:p>
            <a:pPr marL="182563" marR="0" lvl="0" indent="-182563"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0" lang="ja-JP" altLang="en-US" sz="1600" b="0" i="0" u="none" strike="noStrike" kern="0" cap="none" spc="0" normalizeH="0" baseline="0" noProof="0">
                <a:ln>
                  <a:noFill/>
                </a:ln>
                <a:solidFill>
                  <a:prstClr val="black"/>
                </a:solidFill>
                <a:effectLst/>
                <a:uLnTx/>
                <a:uFillTx/>
                <a:latin typeface="Meiryo UI"/>
                <a:ea typeface="Meiryo UI"/>
                <a:cs typeface="+mn-cs"/>
              </a:rPr>
              <a:t>単独新設は一部案件を除き計画から除外。Ｇ会社（</a:t>
            </a:r>
            <a:r>
              <a:rPr kumimoji="0" lang="en-US" altLang="ja-JP" sz="1600" b="0" i="0" u="none" strike="noStrike" kern="0" cap="none" spc="0" normalizeH="0" baseline="0" noProof="0">
                <a:ln>
                  <a:noFill/>
                </a:ln>
                <a:solidFill>
                  <a:prstClr val="black"/>
                </a:solidFill>
                <a:effectLst/>
                <a:uLnTx/>
                <a:uFillTx/>
                <a:latin typeface="Meiryo UI"/>
                <a:ea typeface="Meiryo UI"/>
                <a:cs typeface="+mn-cs"/>
              </a:rPr>
              <a:t>IDS</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）が</a:t>
            </a:r>
            <a:r>
              <a:rPr kumimoji="0" lang="en-US" altLang="ja-JP" sz="1600" b="0" i="0" u="none" strike="noStrike" kern="0" cap="none" spc="0" normalizeH="0" baseline="0" noProof="0">
                <a:ln>
                  <a:noFill/>
                </a:ln>
                <a:solidFill>
                  <a:prstClr val="black"/>
                </a:solidFill>
                <a:effectLst/>
                <a:uLnTx/>
                <a:uFillTx/>
                <a:latin typeface="Meiryo UI"/>
                <a:ea typeface="Meiryo UI"/>
                <a:cs typeface="+mn-cs"/>
              </a:rPr>
              <a:t>200</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億円規模の見通し</a:t>
            </a:r>
            <a:endParaRPr kumimoji="0" lang="en-US" altLang="ja-JP" sz="1600" b="0" i="0" u="none" strike="noStrike" kern="0" cap="none" spc="0" normalizeH="0" baseline="0" noProof="0">
              <a:ln>
                <a:noFill/>
              </a:ln>
              <a:solidFill>
                <a:prstClr val="black"/>
              </a:solidFill>
              <a:effectLst/>
              <a:uLnTx/>
              <a:uFillTx/>
              <a:latin typeface="Meiryo UI"/>
              <a:ea typeface="Meiryo UI"/>
              <a:cs typeface="+mn-cs"/>
            </a:endParaRPr>
          </a:p>
          <a:p>
            <a:pPr marL="182563" marR="0" lvl="0" indent="-182563"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単独</a:t>
            </a:r>
            <a:r>
              <a:rPr kumimoji="1" lang="en-US"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AS</a:t>
            </a:r>
            <a:r>
              <a:rPr kumimoji="1" lang="ja-JP" altLang="en-US"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は</a:t>
            </a:r>
            <a:r>
              <a:rPr kumimoji="1" lang="en-US"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900→700</a:t>
            </a:r>
            <a:r>
              <a:rPr kumimoji="1" lang="ja-JP"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億円規模，</a:t>
            </a:r>
            <a:r>
              <a:rPr kumimoji="1" lang="en-US"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G</a:t>
            </a:r>
            <a:r>
              <a:rPr kumimoji="1" lang="ja-JP"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会社</a:t>
            </a:r>
            <a:r>
              <a:rPr kumimoji="1" lang="en-US"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AS</a:t>
            </a:r>
            <a:r>
              <a:rPr kumimoji="1" lang="ja-JP"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を</a:t>
            </a:r>
            <a:r>
              <a:rPr kumimoji="1" lang="en-US"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900</a:t>
            </a:r>
            <a:r>
              <a:rPr kumimoji="1" lang="ja-JP" altLang="ja-JP" sz="1600" b="0" i="0" u="none" strike="noStrike" kern="1200" cap="none" spc="0" normalizeH="0" baseline="0" noProof="0">
                <a:ln>
                  <a:noFill/>
                </a:ln>
                <a:solidFill>
                  <a:prstClr val="black"/>
                </a:solidFill>
                <a:effectLst/>
                <a:uLnTx/>
                <a:uFillTx/>
                <a:latin typeface="Meiryo UI"/>
                <a:ea typeface="Meiryo UI"/>
                <a:cs typeface="ＭＳ Ｐゴシック" panose="020B0600070205080204" pitchFamily="50" charset="-128"/>
              </a:rPr>
              <a:t>億円規模受注と見込む</a:t>
            </a:r>
          </a:p>
          <a:p>
            <a:pPr marL="182563" marR="0" lvl="0" indent="-182563"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0" lang="en-US" altLang="ja-JP" sz="1600" b="0" i="0" u="none" strike="noStrike" kern="0" cap="none" spc="0" normalizeH="0" baseline="0" noProof="0">
                <a:ln>
                  <a:noFill/>
                </a:ln>
                <a:solidFill>
                  <a:prstClr val="black"/>
                </a:solidFill>
                <a:effectLst/>
                <a:uLnTx/>
                <a:uFillTx/>
                <a:latin typeface="Meiryo UI"/>
                <a:ea typeface="Meiryo UI"/>
                <a:cs typeface="+mn-cs"/>
              </a:rPr>
              <a:t>AS</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は</a:t>
            </a:r>
            <a:r>
              <a:rPr kumimoji="0" lang="ja-JP" altLang="ja-JP" sz="1600" b="0" i="0" u="none" strike="noStrike" kern="0" cap="none" spc="0" normalizeH="0" baseline="0" noProof="0">
                <a:ln>
                  <a:noFill/>
                </a:ln>
                <a:solidFill>
                  <a:prstClr val="black"/>
                </a:solidFill>
                <a:effectLst/>
                <a:uLnTx/>
                <a:uFillTx/>
                <a:latin typeface="Meiryo UI"/>
                <a:ea typeface="Meiryo UI"/>
                <a:cs typeface="+mn-cs"/>
              </a:rPr>
              <a:t>基本的に各定検をベースに積上げ。</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対象が</a:t>
            </a:r>
            <a:r>
              <a:rPr kumimoji="0" lang="en-US" altLang="ja-JP" sz="1600" b="0" i="0" u="none" strike="noStrike" kern="0" cap="none" spc="0" normalizeH="0" baseline="0" noProof="0">
                <a:ln>
                  <a:noFill/>
                </a:ln>
                <a:solidFill>
                  <a:prstClr val="black"/>
                </a:solidFill>
                <a:effectLst/>
                <a:uLnTx/>
                <a:uFillTx/>
                <a:latin typeface="Meiryo UI"/>
                <a:ea typeface="Meiryo UI"/>
                <a:cs typeface="+mn-cs"/>
              </a:rPr>
              <a:t>OEM</a:t>
            </a:r>
            <a:r>
              <a:rPr kumimoji="0" lang="ja-JP" altLang="ja-JP" sz="1600" b="0" i="0" u="none" strike="noStrike" kern="0" cap="none" spc="0" normalizeH="0" baseline="0" noProof="0">
                <a:ln>
                  <a:noFill/>
                </a:ln>
                <a:solidFill>
                  <a:prstClr val="black"/>
                </a:solidFill>
                <a:effectLst/>
                <a:uLnTx/>
                <a:uFillTx/>
                <a:latin typeface="Meiryo UI"/>
                <a:ea typeface="Meiryo UI"/>
                <a:cs typeface="+mn-cs"/>
              </a:rPr>
              <a:t>で</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あって</a:t>
            </a:r>
            <a:r>
              <a:rPr kumimoji="0" lang="ja-JP" altLang="ja-JP" sz="1600" b="0" i="0" u="none" strike="noStrike" kern="0" cap="none" spc="0" normalizeH="0" baseline="0" noProof="0">
                <a:ln>
                  <a:noFill/>
                </a:ln>
                <a:solidFill>
                  <a:prstClr val="black"/>
                </a:solidFill>
                <a:effectLst/>
                <a:uLnTx/>
                <a:uFillTx/>
                <a:latin typeface="Meiryo UI"/>
                <a:ea typeface="Meiryo UI"/>
                <a:cs typeface="+mn-cs"/>
              </a:rPr>
              <a:t>も</a:t>
            </a:r>
            <a:r>
              <a:rPr kumimoji="0" lang="ja-JP" altLang="en-US" sz="1600" b="0" i="0" u="none" strike="noStrike" kern="0" cap="none" spc="0" normalizeH="0" baseline="0" noProof="0">
                <a:ln>
                  <a:noFill/>
                </a:ln>
                <a:solidFill>
                  <a:prstClr val="black"/>
                </a:solidFill>
                <a:effectLst/>
                <a:uLnTx/>
                <a:uFillTx/>
                <a:latin typeface="Meiryo UI"/>
                <a:ea typeface="Meiryo UI"/>
                <a:cs typeface="+mn-cs"/>
              </a:rPr>
              <a:t>大口</a:t>
            </a:r>
            <a:r>
              <a:rPr kumimoji="0" lang="ja-JP" altLang="ja-JP" sz="1600" b="0" i="0" u="none" strike="noStrike" kern="0" cap="none" spc="0" normalizeH="0" baseline="0" noProof="0">
                <a:ln>
                  <a:noFill/>
                </a:ln>
                <a:solidFill>
                  <a:prstClr val="black"/>
                </a:solidFill>
                <a:effectLst/>
                <a:uLnTx/>
                <a:uFillTx/>
                <a:latin typeface="Meiryo UI"/>
                <a:ea typeface="Meiryo UI"/>
                <a:cs typeface="+mn-cs"/>
              </a:rPr>
              <a:t>案件は確度付け</a:t>
            </a:r>
            <a:endParaRPr kumimoji="0" lang="ja-JP" altLang="en-US" sz="1600" b="0" i="0" u="none" strike="noStrike" kern="0" cap="none" spc="0" normalizeH="0" baseline="0" noProof="0">
              <a:ln>
                <a:noFill/>
              </a:ln>
              <a:solidFill>
                <a:prstClr val="black"/>
              </a:solidFill>
              <a:effectLst/>
              <a:uLnTx/>
              <a:uFillTx/>
              <a:latin typeface="Meiryo UI"/>
              <a:ea typeface="Meiryo UI"/>
              <a:cs typeface="+mn-cs"/>
            </a:endParaRPr>
          </a:p>
        </p:txBody>
      </p:sp>
      <p:sp>
        <p:nvSpPr>
          <p:cNvPr id="3" name="テキスト ボックス 2">
            <a:extLst>
              <a:ext uri="{FF2B5EF4-FFF2-40B4-BE49-F238E27FC236}">
                <a16:creationId xmlns:a16="http://schemas.microsoft.com/office/drawing/2014/main" id="{6844CA93-1B95-46E4-8C1E-4D48A9852AD6}"/>
              </a:ext>
            </a:extLst>
          </p:cNvPr>
          <p:cNvSpPr txBox="1"/>
          <p:nvPr/>
        </p:nvSpPr>
        <p:spPr>
          <a:xfrm>
            <a:off x="7067615" y="1864957"/>
            <a:ext cx="542413" cy="2628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新設</a:t>
            </a:r>
          </a:p>
        </p:txBody>
      </p:sp>
      <p:sp>
        <p:nvSpPr>
          <p:cNvPr id="49" name="テキスト ボックス 48">
            <a:extLst>
              <a:ext uri="{FF2B5EF4-FFF2-40B4-BE49-F238E27FC236}">
                <a16:creationId xmlns:a16="http://schemas.microsoft.com/office/drawing/2014/main" id="{306A4797-C458-4410-A590-EB46AFFC38A3}"/>
              </a:ext>
            </a:extLst>
          </p:cNvPr>
          <p:cNvSpPr txBox="1"/>
          <p:nvPr/>
        </p:nvSpPr>
        <p:spPr>
          <a:xfrm>
            <a:off x="6946271" y="2082909"/>
            <a:ext cx="696556" cy="433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1108" b="0" i="0" u="none" strike="noStrike" kern="1200" cap="none" spc="0" normalizeH="0" baseline="0" noProof="0">
                <a:ln>
                  <a:noFill/>
                </a:ln>
                <a:solidFill>
                  <a:prstClr val="black"/>
                </a:solidFill>
                <a:effectLst/>
                <a:uLnTx/>
                <a:uFillTx/>
                <a:latin typeface="Meiryo UI"/>
                <a:ea typeface="Meiryo UI"/>
                <a:cs typeface="+mn-cs"/>
              </a:rPr>
              <a:t>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8" b="0" i="0" u="none" strike="noStrike" kern="1200" cap="none" spc="0" normalizeH="0" baseline="0" noProof="0">
                <a:ln>
                  <a:noFill/>
                </a:ln>
                <a:solidFill>
                  <a:prstClr val="black"/>
                </a:solidFill>
                <a:effectLst/>
                <a:uLnTx/>
                <a:uFillTx/>
                <a:latin typeface="Meiryo UI"/>
                <a:ea typeface="Meiryo UI"/>
                <a:cs typeface="+mn-cs"/>
              </a:rPr>
              <a:t>(G</a:t>
            </a: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会社</a:t>
            </a:r>
            <a:r>
              <a:rPr kumimoji="1" lang="en-US" altLang="ja-JP" sz="1108" b="0" i="0" u="none" strike="noStrike" kern="1200" cap="none" spc="0" normalizeH="0" baseline="0" noProof="0">
                <a:ln>
                  <a:noFill/>
                </a:ln>
                <a:solidFill>
                  <a:prstClr val="black"/>
                </a:solidFill>
                <a:effectLst/>
                <a:uLnTx/>
                <a:uFillTx/>
                <a:latin typeface="Meiryo UI"/>
                <a:ea typeface="Meiryo UI"/>
                <a:cs typeface="+mn-cs"/>
              </a:rPr>
              <a:t>)</a:t>
            </a:r>
            <a:endParaRPr kumimoji="1" lang="ja-JP" altLang="en-US" sz="1108" b="0" i="0" u="none" strike="noStrike" kern="1200" cap="none" spc="0" normalizeH="0" baseline="0" noProof="0">
              <a:ln>
                <a:noFill/>
              </a:ln>
              <a:solidFill>
                <a:prstClr val="black"/>
              </a:solidFill>
              <a:effectLst/>
              <a:uLnTx/>
              <a:uFillTx/>
              <a:latin typeface="Meiryo UI"/>
              <a:ea typeface="Meiryo UI"/>
              <a:cs typeface="+mn-cs"/>
            </a:endParaRPr>
          </a:p>
        </p:txBody>
      </p:sp>
      <p:sp>
        <p:nvSpPr>
          <p:cNvPr id="50" name="テキスト ボックス 49">
            <a:extLst>
              <a:ext uri="{FF2B5EF4-FFF2-40B4-BE49-F238E27FC236}">
                <a16:creationId xmlns:a16="http://schemas.microsoft.com/office/drawing/2014/main" id="{1E93D775-1476-4699-9407-34A0266BAC7E}"/>
              </a:ext>
            </a:extLst>
          </p:cNvPr>
          <p:cNvSpPr txBox="1"/>
          <p:nvPr/>
        </p:nvSpPr>
        <p:spPr>
          <a:xfrm>
            <a:off x="6946271" y="2551850"/>
            <a:ext cx="1286644" cy="433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1108" b="0" i="0" u="none" strike="noStrike" kern="1200" cap="none" spc="0" normalizeH="0" baseline="0" noProof="0">
                <a:ln>
                  <a:noFill/>
                </a:ln>
                <a:solidFill>
                  <a:prstClr val="black"/>
                </a:solidFill>
                <a:effectLst/>
                <a:uLnTx/>
                <a:uFillTx/>
                <a:latin typeface="Meiryo UI"/>
                <a:ea typeface="Meiryo UI"/>
                <a:cs typeface="+mn-cs"/>
              </a:rPr>
              <a:t>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8" b="0" i="0" u="none" strike="noStrike" kern="1200" cap="none" spc="0" normalizeH="0" baseline="0" noProof="0">
                <a:ln>
                  <a:noFill/>
                </a:ln>
                <a:solidFill>
                  <a:prstClr val="black"/>
                </a:solidFill>
                <a:effectLst/>
                <a:uLnTx/>
                <a:uFillTx/>
                <a:latin typeface="Meiryo UI"/>
                <a:ea typeface="Meiryo UI"/>
                <a:cs typeface="+mn-cs"/>
              </a:rPr>
              <a:t> (</a:t>
            </a: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単独</a:t>
            </a:r>
            <a:r>
              <a:rPr kumimoji="1" lang="en-US" altLang="ja-JP" sz="1108" b="0" i="0" u="none" strike="noStrike" kern="1200" cap="none" spc="0" normalizeH="0" baseline="0" noProof="0">
                <a:ln>
                  <a:noFill/>
                </a:ln>
                <a:solidFill>
                  <a:prstClr val="black"/>
                </a:solidFill>
                <a:effectLst/>
                <a:uLnTx/>
                <a:uFillTx/>
                <a:latin typeface="Meiryo UI"/>
                <a:ea typeface="Meiryo UI"/>
                <a:cs typeface="+mn-cs"/>
              </a:rPr>
              <a:t>)</a:t>
            </a:r>
            <a:endParaRPr kumimoji="1" lang="ja-JP" altLang="en-US" sz="1108" b="0" i="0" u="none" strike="noStrike" kern="1200" cap="none" spc="0" normalizeH="0" baseline="0" noProof="0">
              <a:ln>
                <a:noFill/>
              </a:ln>
              <a:solidFill>
                <a:prstClr val="black"/>
              </a:solidFill>
              <a:effectLst/>
              <a:uLnTx/>
              <a:uFillTx/>
              <a:latin typeface="Meiryo UI"/>
              <a:ea typeface="Meiryo UI"/>
              <a:cs typeface="+mn-cs"/>
            </a:endParaRPr>
          </a:p>
        </p:txBody>
      </p:sp>
      <p:sp>
        <p:nvSpPr>
          <p:cNvPr id="4" name="左中かっこ 3">
            <a:extLst>
              <a:ext uri="{FF2B5EF4-FFF2-40B4-BE49-F238E27FC236}">
                <a16:creationId xmlns:a16="http://schemas.microsoft.com/office/drawing/2014/main" id="{55736D33-1165-415C-80B7-87F978B96D5C}"/>
              </a:ext>
            </a:extLst>
          </p:cNvPr>
          <p:cNvSpPr/>
          <p:nvPr/>
        </p:nvSpPr>
        <p:spPr>
          <a:xfrm>
            <a:off x="7541590" y="2464719"/>
            <a:ext cx="70744" cy="6019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51" name="左中かっこ 50">
            <a:extLst>
              <a:ext uri="{FF2B5EF4-FFF2-40B4-BE49-F238E27FC236}">
                <a16:creationId xmlns:a16="http://schemas.microsoft.com/office/drawing/2014/main" id="{A1B11B54-2D6E-4545-8BCE-CFA068F12242}"/>
              </a:ext>
            </a:extLst>
          </p:cNvPr>
          <p:cNvSpPr/>
          <p:nvPr/>
        </p:nvSpPr>
        <p:spPr>
          <a:xfrm>
            <a:off x="7541590" y="2171630"/>
            <a:ext cx="68438" cy="27107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6" name="直線矢印コネクタ 5">
            <a:extLst>
              <a:ext uri="{FF2B5EF4-FFF2-40B4-BE49-F238E27FC236}">
                <a16:creationId xmlns:a16="http://schemas.microsoft.com/office/drawing/2014/main" id="{79676A46-AE30-44C2-9710-3EF72AF912A6}"/>
              </a:ext>
            </a:extLst>
          </p:cNvPr>
          <p:cNvCxnSpPr>
            <a:cxnSpLocks/>
          </p:cNvCxnSpPr>
          <p:nvPr/>
        </p:nvCxnSpPr>
        <p:spPr>
          <a:xfrm>
            <a:off x="684513" y="6287474"/>
            <a:ext cx="185329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A8372722-6DC7-4A61-B8E0-71260C40C780}"/>
              </a:ext>
            </a:extLst>
          </p:cNvPr>
          <p:cNvCxnSpPr>
            <a:cxnSpLocks/>
          </p:cNvCxnSpPr>
          <p:nvPr/>
        </p:nvCxnSpPr>
        <p:spPr>
          <a:xfrm>
            <a:off x="2537804" y="6289661"/>
            <a:ext cx="8897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346465D6-1799-4C83-B2E2-48523EFDEB00}"/>
              </a:ext>
            </a:extLst>
          </p:cNvPr>
          <p:cNvCxnSpPr>
            <a:cxnSpLocks/>
          </p:cNvCxnSpPr>
          <p:nvPr/>
        </p:nvCxnSpPr>
        <p:spPr>
          <a:xfrm>
            <a:off x="3448419" y="6289802"/>
            <a:ext cx="527033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E889A3F4-A019-45B4-8E4B-E50F8E82E89E}"/>
              </a:ext>
            </a:extLst>
          </p:cNvPr>
          <p:cNvSpPr txBox="1"/>
          <p:nvPr/>
        </p:nvSpPr>
        <p:spPr>
          <a:xfrm>
            <a:off x="1379730" y="6170968"/>
            <a:ext cx="522023" cy="183918"/>
          </a:xfrm>
          <a:prstGeom prst="rect">
            <a:avLst/>
          </a:prstGeom>
          <a:solidFill>
            <a:schemeClr val="bg1"/>
          </a:solidFill>
        </p:spPr>
        <p:txBody>
          <a:bodyPr wrap="square" lIns="0" tIns="6646" rIns="0" bIns="664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実績</a:t>
            </a:r>
          </a:p>
        </p:txBody>
      </p:sp>
      <p:sp>
        <p:nvSpPr>
          <p:cNvPr id="54" name="テキスト ボックス 53">
            <a:extLst>
              <a:ext uri="{FF2B5EF4-FFF2-40B4-BE49-F238E27FC236}">
                <a16:creationId xmlns:a16="http://schemas.microsoft.com/office/drawing/2014/main" id="{CAFE4603-3FE4-49C8-8621-9B8494C9C1FD}"/>
              </a:ext>
            </a:extLst>
          </p:cNvPr>
          <p:cNvSpPr txBox="1"/>
          <p:nvPr/>
        </p:nvSpPr>
        <p:spPr>
          <a:xfrm>
            <a:off x="2737093" y="6170968"/>
            <a:ext cx="467474" cy="183918"/>
          </a:xfrm>
          <a:prstGeom prst="rect">
            <a:avLst/>
          </a:prstGeom>
          <a:solidFill>
            <a:schemeClr val="bg1"/>
          </a:solidFill>
        </p:spPr>
        <p:txBody>
          <a:bodyPr wrap="square" lIns="0" tIns="6646" rIns="0" bIns="664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財モニ</a:t>
            </a:r>
          </a:p>
        </p:txBody>
      </p:sp>
      <p:sp>
        <p:nvSpPr>
          <p:cNvPr id="55" name="テキスト ボックス 54">
            <a:extLst>
              <a:ext uri="{FF2B5EF4-FFF2-40B4-BE49-F238E27FC236}">
                <a16:creationId xmlns:a16="http://schemas.microsoft.com/office/drawing/2014/main" id="{848ED0F7-C957-47CD-804D-A1771F9BC29E}"/>
              </a:ext>
            </a:extLst>
          </p:cNvPr>
          <p:cNvSpPr txBox="1"/>
          <p:nvPr/>
        </p:nvSpPr>
        <p:spPr>
          <a:xfrm>
            <a:off x="5860225" y="6181297"/>
            <a:ext cx="522023" cy="183918"/>
          </a:xfrm>
          <a:prstGeom prst="rect">
            <a:avLst/>
          </a:prstGeom>
          <a:solidFill>
            <a:schemeClr val="bg1"/>
          </a:solidFill>
        </p:spPr>
        <p:txBody>
          <a:bodyPr wrap="square" lIns="0" tIns="6646" rIns="0" bIns="664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8" b="0" i="0" u="none" strike="noStrike" kern="1200" cap="none" spc="0" normalizeH="0" baseline="0" noProof="0">
                <a:ln>
                  <a:noFill/>
                </a:ln>
                <a:solidFill>
                  <a:prstClr val="black"/>
                </a:solidFill>
                <a:effectLst/>
                <a:uLnTx/>
                <a:uFillTx/>
                <a:latin typeface="Meiryo UI"/>
                <a:ea typeface="Meiryo UI"/>
                <a:cs typeface="+mn-cs"/>
              </a:rPr>
              <a:t>計画</a:t>
            </a:r>
          </a:p>
        </p:txBody>
      </p:sp>
      <p:cxnSp>
        <p:nvCxnSpPr>
          <p:cNvPr id="10" name="直線コネクタ 9">
            <a:extLst>
              <a:ext uri="{FF2B5EF4-FFF2-40B4-BE49-F238E27FC236}">
                <a16:creationId xmlns:a16="http://schemas.microsoft.com/office/drawing/2014/main" id="{3D484AB4-B118-4999-8270-325EDC4820C5}"/>
              </a:ext>
            </a:extLst>
          </p:cNvPr>
          <p:cNvCxnSpPr>
            <a:cxnSpLocks/>
          </p:cNvCxnSpPr>
          <p:nvPr/>
        </p:nvCxnSpPr>
        <p:spPr>
          <a:xfrm flipV="1">
            <a:off x="2537804" y="2957786"/>
            <a:ext cx="0" cy="3397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07987963-8CE9-4D62-B50F-226E3FBF4EA3}"/>
              </a:ext>
            </a:extLst>
          </p:cNvPr>
          <p:cNvCxnSpPr>
            <a:cxnSpLocks/>
          </p:cNvCxnSpPr>
          <p:nvPr/>
        </p:nvCxnSpPr>
        <p:spPr>
          <a:xfrm flipV="1">
            <a:off x="3427579" y="2957786"/>
            <a:ext cx="0" cy="3397100"/>
          </a:xfrm>
          <a:prstGeom prst="line">
            <a:avLst/>
          </a:prstGeom>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54D2E824-11D8-4929-B524-C2D2F8E6694F}"/>
              </a:ext>
            </a:extLst>
          </p:cNvPr>
          <p:cNvSpPr txBox="1"/>
          <p:nvPr/>
        </p:nvSpPr>
        <p:spPr>
          <a:xfrm>
            <a:off x="1436" y="3349766"/>
            <a:ext cx="696556" cy="3763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23" b="0" i="0" u="none" strike="noStrike" kern="1200" cap="none" spc="0" normalizeH="0" baseline="0" noProof="0">
                <a:ln>
                  <a:noFill/>
                </a:ln>
                <a:solidFill>
                  <a:srgbClr val="CDA11B"/>
                </a:solidFill>
                <a:effectLst/>
                <a:uLnTx/>
                <a:uFillTx/>
                <a:latin typeface="Meiryo UI"/>
                <a:ea typeface="Meiryo UI"/>
                <a:cs typeface="+mn-cs"/>
              </a:rPr>
              <a:t>新設</a:t>
            </a:r>
            <a:endParaRPr kumimoji="1" lang="en-US" altLang="ja-JP" sz="923" b="0" i="0" u="none" strike="noStrike" kern="1200" cap="none" spc="0" normalizeH="0" baseline="0" noProof="0">
              <a:ln>
                <a:noFill/>
              </a:ln>
              <a:solidFill>
                <a:srgbClr val="CDA11B"/>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23" b="0" i="0" u="none" strike="noStrike" kern="1200" cap="none" spc="0" normalizeH="0" baseline="0" noProof="0">
                <a:ln>
                  <a:noFill/>
                </a:ln>
                <a:solidFill>
                  <a:prstClr val="black"/>
                </a:solidFill>
                <a:effectLst/>
                <a:uLnTx/>
                <a:uFillTx/>
                <a:latin typeface="Meiryo UI"/>
                <a:ea typeface="Meiryo UI"/>
                <a:cs typeface="+mn-cs"/>
              </a:rPr>
              <a:t>その他</a:t>
            </a:r>
          </a:p>
        </p:txBody>
      </p:sp>
      <p:sp>
        <p:nvSpPr>
          <p:cNvPr id="60" name="テキスト ボックス 59">
            <a:extLst>
              <a:ext uri="{FF2B5EF4-FFF2-40B4-BE49-F238E27FC236}">
                <a16:creationId xmlns:a16="http://schemas.microsoft.com/office/drawing/2014/main" id="{191F56BF-F7E2-492D-92BF-20288010E97F}"/>
              </a:ext>
            </a:extLst>
          </p:cNvPr>
          <p:cNvSpPr txBox="1"/>
          <p:nvPr/>
        </p:nvSpPr>
        <p:spPr>
          <a:xfrm>
            <a:off x="1437" y="3957045"/>
            <a:ext cx="749853" cy="3763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23" b="0" i="0" u="none" strike="noStrike" kern="1200" cap="none" spc="0" normalizeH="0" baseline="0" noProof="0">
                <a:ln>
                  <a:noFill/>
                </a:ln>
                <a:solidFill>
                  <a:srgbClr val="00B0F0"/>
                </a:solidFill>
                <a:effectLst/>
                <a:uLnTx/>
                <a:uFillTx/>
                <a:latin typeface="Meiryo UI"/>
                <a:ea typeface="Meiryo UI"/>
                <a:cs typeface="+mn-cs"/>
              </a:rPr>
              <a:t>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23" b="0" i="0" u="none" strike="noStrike" kern="1200" cap="none" spc="0" normalizeH="0" baseline="0" noProof="0">
                <a:ln>
                  <a:noFill/>
                </a:ln>
                <a:solidFill>
                  <a:srgbClr val="00B0F0"/>
                </a:solidFill>
                <a:effectLst/>
                <a:uLnTx/>
                <a:uFillTx/>
                <a:latin typeface="Meiryo UI"/>
                <a:ea typeface="Meiryo UI"/>
                <a:cs typeface="+mn-cs"/>
              </a:rPr>
              <a:t>(G</a:t>
            </a:r>
            <a:r>
              <a:rPr kumimoji="1" lang="ja-JP" altLang="en-US" sz="923" b="0" i="0" u="none" strike="noStrike" kern="1200" cap="none" spc="0" normalizeH="0" baseline="0" noProof="0">
                <a:ln>
                  <a:noFill/>
                </a:ln>
                <a:solidFill>
                  <a:srgbClr val="00B0F0"/>
                </a:solidFill>
                <a:effectLst/>
                <a:uLnTx/>
                <a:uFillTx/>
                <a:latin typeface="Meiryo UI"/>
                <a:ea typeface="Meiryo UI"/>
                <a:cs typeface="+mn-cs"/>
              </a:rPr>
              <a:t>会社</a:t>
            </a:r>
            <a:r>
              <a:rPr kumimoji="1" lang="en-US" altLang="ja-JP" sz="923" b="0" i="0" u="none" strike="noStrike" kern="1200" cap="none" spc="0" normalizeH="0" baseline="0" noProof="0">
                <a:ln>
                  <a:noFill/>
                </a:ln>
                <a:solidFill>
                  <a:srgbClr val="00B0F0"/>
                </a:solidFill>
                <a:effectLst/>
                <a:uLnTx/>
                <a:uFillTx/>
                <a:latin typeface="Meiryo UI"/>
                <a:ea typeface="Meiryo UI"/>
                <a:cs typeface="+mn-cs"/>
              </a:rPr>
              <a:t>)</a:t>
            </a:r>
            <a:endParaRPr kumimoji="1" lang="ja-JP" altLang="en-US" sz="923" b="0" i="0" u="none" strike="noStrike" kern="1200" cap="none" spc="0" normalizeH="0" baseline="0" noProof="0">
              <a:ln>
                <a:noFill/>
              </a:ln>
              <a:solidFill>
                <a:srgbClr val="00B0F0"/>
              </a:solidFill>
              <a:effectLst/>
              <a:uLnTx/>
              <a:uFillTx/>
              <a:latin typeface="Meiryo UI"/>
              <a:ea typeface="Meiryo UI"/>
              <a:cs typeface="+mn-cs"/>
            </a:endParaRPr>
          </a:p>
        </p:txBody>
      </p:sp>
      <p:sp>
        <p:nvSpPr>
          <p:cNvPr id="61" name="テキスト ボックス 60">
            <a:extLst>
              <a:ext uri="{FF2B5EF4-FFF2-40B4-BE49-F238E27FC236}">
                <a16:creationId xmlns:a16="http://schemas.microsoft.com/office/drawing/2014/main" id="{1AF8F34A-6F24-4F81-9B44-25DDADA13C20}"/>
              </a:ext>
            </a:extLst>
          </p:cNvPr>
          <p:cNvSpPr txBox="1"/>
          <p:nvPr/>
        </p:nvSpPr>
        <p:spPr>
          <a:xfrm>
            <a:off x="1437" y="4552010"/>
            <a:ext cx="741294" cy="3763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23" b="0" i="0" u="none" strike="noStrike" kern="1200" cap="none" spc="0" normalizeH="0" baseline="0" noProof="0">
                <a:ln>
                  <a:noFill/>
                </a:ln>
                <a:solidFill>
                  <a:srgbClr val="006487"/>
                </a:solidFill>
                <a:effectLst/>
                <a:uLnTx/>
                <a:uFillTx/>
                <a:latin typeface="Meiryo UI"/>
                <a:ea typeface="Meiryo UI"/>
                <a:cs typeface="+mn-cs"/>
              </a:rPr>
              <a:t>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23" b="0" i="0" u="none" strike="noStrike" kern="1200" cap="none" spc="0" normalizeH="0" baseline="0" noProof="0">
                <a:ln>
                  <a:noFill/>
                </a:ln>
                <a:solidFill>
                  <a:srgbClr val="006487"/>
                </a:solidFill>
                <a:effectLst/>
                <a:uLnTx/>
                <a:uFillTx/>
                <a:latin typeface="Meiryo UI"/>
                <a:ea typeface="Meiryo UI"/>
                <a:cs typeface="+mn-cs"/>
              </a:rPr>
              <a:t>(</a:t>
            </a:r>
            <a:r>
              <a:rPr kumimoji="1" lang="ja-JP" altLang="en-US" sz="923" b="0" i="0" u="none" strike="noStrike" kern="1200" cap="none" spc="0" normalizeH="0" baseline="0" noProof="0">
                <a:ln>
                  <a:noFill/>
                </a:ln>
                <a:solidFill>
                  <a:srgbClr val="006487"/>
                </a:solidFill>
                <a:effectLst/>
                <a:uLnTx/>
                <a:uFillTx/>
                <a:latin typeface="Meiryo UI"/>
                <a:ea typeface="Meiryo UI"/>
                <a:cs typeface="+mn-cs"/>
              </a:rPr>
              <a:t>単独</a:t>
            </a:r>
            <a:r>
              <a:rPr kumimoji="1" lang="en-US" altLang="ja-JP" sz="923" b="0" i="0" u="none" strike="noStrike" kern="1200" cap="none" spc="0" normalizeH="0" baseline="0" noProof="0">
                <a:ln>
                  <a:noFill/>
                </a:ln>
                <a:solidFill>
                  <a:srgbClr val="006487"/>
                </a:solidFill>
                <a:effectLst/>
                <a:uLnTx/>
                <a:uFillTx/>
                <a:latin typeface="Meiryo UI"/>
                <a:ea typeface="Meiryo UI"/>
                <a:cs typeface="+mn-cs"/>
              </a:rPr>
              <a:t>)</a:t>
            </a:r>
            <a:endParaRPr kumimoji="1" lang="ja-JP" altLang="en-US" sz="923" b="0" i="0" u="none" strike="noStrike" kern="1200" cap="none" spc="0" normalizeH="0" baseline="0" noProof="0">
              <a:ln>
                <a:noFill/>
              </a:ln>
              <a:solidFill>
                <a:srgbClr val="006487"/>
              </a:solidFill>
              <a:effectLst/>
              <a:uLnTx/>
              <a:uFillTx/>
              <a:latin typeface="Meiryo UI"/>
              <a:ea typeface="Meiryo UI"/>
              <a:cs typeface="+mn-cs"/>
            </a:endParaRPr>
          </a:p>
        </p:txBody>
      </p:sp>
      <p:sp>
        <p:nvSpPr>
          <p:cNvPr id="62" name="左中かっこ 61">
            <a:extLst>
              <a:ext uri="{FF2B5EF4-FFF2-40B4-BE49-F238E27FC236}">
                <a16:creationId xmlns:a16="http://schemas.microsoft.com/office/drawing/2014/main" id="{6A5B1BDF-2856-4EF5-BD71-C0FA1893F0C4}"/>
              </a:ext>
            </a:extLst>
          </p:cNvPr>
          <p:cNvSpPr/>
          <p:nvPr/>
        </p:nvSpPr>
        <p:spPr>
          <a:xfrm>
            <a:off x="471760" y="4374986"/>
            <a:ext cx="132047" cy="699872"/>
          </a:xfrm>
          <a:prstGeom prst="leftBrace">
            <a:avLst/>
          </a:prstGeom>
          <a:ln>
            <a:solidFill>
              <a:srgbClr val="006487"/>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63" name="左中かっこ 62">
            <a:extLst>
              <a:ext uri="{FF2B5EF4-FFF2-40B4-BE49-F238E27FC236}">
                <a16:creationId xmlns:a16="http://schemas.microsoft.com/office/drawing/2014/main" id="{573B5661-BF51-402D-ADD2-5A98808E53B2}"/>
              </a:ext>
            </a:extLst>
          </p:cNvPr>
          <p:cNvSpPr/>
          <p:nvPr/>
        </p:nvSpPr>
        <p:spPr>
          <a:xfrm>
            <a:off x="493028" y="3941435"/>
            <a:ext cx="110780" cy="406887"/>
          </a:xfrm>
          <a:prstGeom prst="leftBrace">
            <a:avLst/>
          </a:prstGeom>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64" name="左中かっこ 63">
            <a:extLst>
              <a:ext uri="{FF2B5EF4-FFF2-40B4-BE49-F238E27FC236}">
                <a16:creationId xmlns:a16="http://schemas.microsoft.com/office/drawing/2014/main" id="{9254AB71-87F7-415E-972D-6855CA9262FC}"/>
              </a:ext>
            </a:extLst>
          </p:cNvPr>
          <p:cNvSpPr/>
          <p:nvPr/>
        </p:nvSpPr>
        <p:spPr>
          <a:xfrm>
            <a:off x="493028" y="3096171"/>
            <a:ext cx="103832" cy="818601"/>
          </a:xfrm>
          <a:prstGeom prst="leftBrac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29" name="テキスト ボックス 28">
            <a:extLst>
              <a:ext uri="{FF2B5EF4-FFF2-40B4-BE49-F238E27FC236}">
                <a16:creationId xmlns:a16="http://schemas.microsoft.com/office/drawing/2014/main" id="{48E8DF58-5E7E-4854-9C11-6182C3587CE5}"/>
              </a:ext>
            </a:extLst>
          </p:cNvPr>
          <p:cNvSpPr txBox="1"/>
          <p:nvPr/>
        </p:nvSpPr>
        <p:spPr>
          <a:xfrm>
            <a:off x="-24759" y="1887511"/>
            <a:ext cx="1638603" cy="2343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23"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en-US" altLang="ja-JP" sz="923"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IGCC</a:t>
            </a:r>
            <a:r>
              <a:rPr kumimoji="1" lang="ja-JP" altLang="en-US" sz="923"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の</a:t>
            </a:r>
            <a:r>
              <a:rPr kumimoji="1" lang="en-US" altLang="ja-JP" sz="923"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LD</a:t>
            </a:r>
            <a:r>
              <a:rPr kumimoji="1" lang="ja-JP" altLang="en-US" sz="923"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影響含む）</a:t>
            </a:r>
          </a:p>
        </p:txBody>
      </p:sp>
      <p:sp>
        <p:nvSpPr>
          <p:cNvPr id="31" name="正方形/長方形 30">
            <a:extLst>
              <a:ext uri="{FF2B5EF4-FFF2-40B4-BE49-F238E27FC236}">
                <a16:creationId xmlns:a16="http://schemas.microsoft.com/office/drawing/2014/main" id="{ABA9064F-6BA8-4F25-9C45-1BBB7B394865}"/>
              </a:ext>
            </a:extLst>
          </p:cNvPr>
          <p:cNvSpPr/>
          <p:nvPr/>
        </p:nvSpPr>
        <p:spPr>
          <a:xfrm>
            <a:off x="1670892" y="4960389"/>
            <a:ext cx="451945" cy="13624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31"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(573)</a:t>
            </a:r>
            <a:endParaRPr kumimoji="1" lang="ja-JP" altLang="en-US" sz="831"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7" name="左中かっこ 6">
            <a:extLst>
              <a:ext uri="{FF2B5EF4-FFF2-40B4-BE49-F238E27FC236}">
                <a16:creationId xmlns:a16="http://schemas.microsoft.com/office/drawing/2014/main" id="{AD79A890-028F-461A-A152-F4F893891034}"/>
              </a:ext>
            </a:extLst>
          </p:cNvPr>
          <p:cNvSpPr/>
          <p:nvPr/>
        </p:nvSpPr>
        <p:spPr>
          <a:xfrm>
            <a:off x="2051647" y="4763005"/>
            <a:ext cx="56548" cy="311853"/>
          </a:xfrm>
          <a:prstGeom prst="leftBrace">
            <a:avLst>
              <a:gd name="adj1" fmla="val 8333"/>
              <a:gd name="adj2" fmla="val 76339"/>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A6A1491F-FE91-407F-AD1E-AC67B19D591A}"/>
              </a:ext>
            </a:extLst>
          </p:cNvPr>
          <p:cNvSpPr/>
          <p:nvPr/>
        </p:nvSpPr>
        <p:spPr>
          <a:xfrm>
            <a:off x="1972630" y="2574958"/>
            <a:ext cx="670469" cy="32875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a:t>
            </a:r>
            <a:endParaRPr kumimoji="1" lang="en-US" altLang="ja-JP"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3,393</a:t>
            </a:r>
            <a:endParaRPr kumimoji="1" lang="ja-JP" altLang="en-US"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33" name="テキスト ボックス 32">
            <a:extLst>
              <a:ext uri="{FF2B5EF4-FFF2-40B4-BE49-F238E27FC236}">
                <a16:creationId xmlns:a16="http://schemas.microsoft.com/office/drawing/2014/main" id="{5B0267F7-27F2-4B3F-B082-CD7FFC700A79}"/>
              </a:ext>
            </a:extLst>
          </p:cNvPr>
          <p:cNvSpPr txBox="1"/>
          <p:nvPr/>
        </p:nvSpPr>
        <p:spPr>
          <a:xfrm>
            <a:off x="1959460" y="2893082"/>
            <a:ext cx="787741" cy="191719"/>
          </a:xfrm>
          <a:prstGeom prst="rect">
            <a:avLst/>
          </a:prstGeom>
          <a:noFill/>
        </p:spPr>
        <p:txBody>
          <a:bodyPr wrap="square">
            <a:spAutoFit/>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en-US" altLang="ja-JP" sz="646" b="0" i="0" u="none" strike="noStrike" kern="1200" cap="none" spc="0" normalizeH="0" baseline="0" noProof="0">
                <a:ln>
                  <a:noFill/>
                </a:ln>
                <a:solidFill>
                  <a:prstClr val="white">
                    <a:lumMod val="65000"/>
                  </a:prstClr>
                </a:solidFill>
                <a:effectLst/>
                <a:uLnTx/>
                <a:uFillTx/>
                <a:latin typeface="Meiryo UI" panose="020B0604030504040204" pitchFamily="50" charset="-128"/>
                <a:ea typeface="Meiryo UI" panose="020B0604030504040204" pitchFamily="50" charset="-128"/>
                <a:cs typeface="+mn-cs"/>
              </a:rPr>
              <a:t>(IGCC</a:t>
            </a:r>
            <a:r>
              <a:rPr kumimoji="1" lang="ja-JP" altLang="en-US" sz="646" b="0" i="0" u="none" strike="noStrike" kern="1200" cap="none" spc="0" normalizeH="0" baseline="0" noProof="0">
                <a:ln>
                  <a:noFill/>
                </a:ln>
                <a:solidFill>
                  <a:prstClr val="white">
                    <a:lumMod val="65000"/>
                  </a:prstClr>
                </a:solidFill>
                <a:effectLst/>
                <a:uLnTx/>
                <a:uFillTx/>
                <a:latin typeface="Meiryo UI" panose="020B0604030504040204" pitchFamily="50" charset="-128"/>
                <a:ea typeface="Meiryo UI" panose="020B0604030504040204" pitchFamily="50" charset="-128"/>
                <a:cs typeface="+mn-cs"/>
              </a:rPr>
              <a:t>▲</a:t>
            </a:r>
            <a:r>
              <a:rPr kumimoji="1" lang="en-US" altLang="ja-JP" sz="646" b="0" i="0" u="none" strike="noStrike" kern="1200" cap="none" spc="0" normalizeH="0" baseline="0" noProof="0">
                <a:ln>
                  <a:noFill/>
                </a:ln>
                <a:solidFill>
                  <a:prstClr val="white">
                    <a:lumMod val="65000"/>
                  </a:prstClr>
                </a:solidFill>
                <a:effectLst/>
                <a:uLnTx/>
                <a:uFillTx/>
                <a:latin typeface="Meiryo UI" panose="020B0604030504040204" pitchFamily="50" charset="-128"/>
                <a:ea typeface="Meiryo UI" panose="020B0604030504040204" pitchFamily="50" charset="-128"/>
                <a:cs typeface="+mn-cs"/>
              </a:rPr>
              <a:t>44)</a:t>
            </a:r>
          </a:p>
        </p:txBody>
      </p:sp>
      <p:sp>
        <p:nvSpPr>
          <p:cNvPr id="36" name="テキスト ボックス 35">
            <a:extLst>
              <a:ext uri="{FF2B5EF4-FFF2-40B4-BE49-F238E27FC236}">
                <a16:creationId xmlns:a16="http://schemas.microsoft.com/office/drawing/2014/main" id="{1DE5DDC0-D0D7-4C20-AEA3-BED487765FE4}"/>
              </a:ext>
            </a:extLst>
          </p:cNvPr>
          <p:cNvSpPr txBox="1"/>
          <p:nvPr/>
        </p:nvSpPr>
        <p:spPr>
          <a:xfrm>
            <a:off x="3585725" y="4977473"/>
            <a:ext cx="604008" cy="2058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38" b="0" i="0" u="none" strike="noStrike" kern="1200" cap="none" spc="0" normalizeH="0" baseline="0" noProof="0">
                <a:ln>
                  <a:noFill/>
                </a:ln>
                <a:solidFill>
                  <a:prstClr val="white">
                    <a:lumMod val="50000"/>
                  </a:prstClr>
                </a:solidFill>
                <a:effectLst/>
                <a:uLnTx/>
                <a:uFillTx/>
                <a:latin typeface="Meiryo UI" panose="020B0604030504040204" pitchFamily="50" charset="-128"/>
                <a:ea typeface="Meiryo UI" panose="020B0604030504040204" pitchFamily="50" charset="-128"/>
                <a:cs typeface="+mn-cs"/>
              </a:rPr>
              <a:t>IGCC LD</a:t>
            </a:r>
            <a:endParaRPr kumimoji="1" lang="ja-JP" altLang="en-US" sz="738" b="0" i="0" u="none" strike="noStrike" kern="1200" cap="none" spc="0" normalizeH="0" baseline="0" noProof="0">
              <a:ln>
                <a:noFill/>
              </a:ln>
              <a:solidFill>
                <a:prstClr val="white">
                  <a:lumMod val="50000"/>
                </a:prstClr>
              </a:solidFill>
              <a:effectLst/>
              <a:uLnTx/>
              <a:uFillTx/>
              <a:latin typeface="Meiryo UI" panose="020B0604030504040204" pitchFamily="50" charset="-128"/>
              <a:ea typeface="Meiryo UI" panose="020B0604030504040204" pitchFamily="50" charset="-128"/>
              <a:cs typeface="+mn-cs"/>
            </a:endParaRPr>
          </a:p>
        </p:txBody>
      </p:sp>
      <p:sp>
        <p:nvSpPr>
          <p:cNvPr id="38" name="正方形/長方形 37">
            <a:extLst>
              <a:ext uri="{FF2B5EF4-FFF2-40B4-BE49-F238E27FC236}">
                <a16:creationId xmlns:a16="http://schemas.microsoft.com/office/drawing/2014/main" id="{756ED46C-BCF3-4FC5-8E85-1B0C53BC0E09}"/>
              </a:ext>
            </a:extLst>
          </p:cNvPr>
          <p:cNvSpPr/>
          <p:nvPr/>
        </p:nvSpPr>
        <p:spPr>
          <a:xfrm>
            <a:off x="2985391" y="4665233"/>
            <a:ext cx="383454" cy="13624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31"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(602)</a:t>
            </a:r>
            <a:endParaRPr kumimoji="1" lang="ja-JP" altLang="en-US" sz="831"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39" name="左中かっこ 38">
            <a:extLst>
              <a:ext uri="{FF2B5EF4-FFF2-40B4-BE49-F238E27FC236}">
                <a16:creationId xmlns:a16="http://schemas.microsoft.com/office/drawing/2014/main" id="{C78977AF-1C55-4EDA-81BF-232A44D44740}"/>
              </a:ext>
            </a:extLst>
          </p:cNvPr>
          <p:cNvSpPr/>
          <p:nvPr/>
        </p:nvSpPr>
        <p:spPr>
          <a:xfrm flipH="1">
            <a:off x="2952772" y="4712548"/>
            <a:ext cx="66069" cy="340482"/>
          </a:xfrm>
          <a:prstGeom prst="leftBrace">
            <a:avLst>
              <a:gd name="adj1" fmla="val 8333"/>
              <a:gd name="adj2" fmla="val 6123"/>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44" name="テキスト ボックス 43">
            <a:extLst>
              <a:ext uri="{FF2B5EF4-FFF2-40B4-BE49-F238E27FC236}">
                <a16:creationId xmlns:a16="http://schemas.microsoft.com/office/drawing/2014/main" id="{EDBF78A9-7F9A-4C8D-98F2-C6A89337A704}"/>
              </a:ext>
            </a:extLst>
          </p:cNvPr>
          <p:cNvSpPr txBox="1"/>
          <p:nvPr/>
        </p:nvSpPr>
        <p:spPr>
          <a:xfrm>
            <a:off x="2383795" y="2226661"/>
            <a:ext cx="550364" cy="2343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23"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*1 </a:t>
            </a:r>
            <a:endParaRPr kumimoji="1" lang="ja-JP" altLang="en-US" sz="923" b="0" i="0" u="none" strike="noStrike" kern="1200" cap="none" spc="0" normalizeH="0" baseline="0" noProof="0">
              <a:ln>
                <a:noFill/>
              </a:ln>
              <a:solidFill>
                <a:prstClr val="black"/>
              </a:solidFill>
              <a:effectLst/>
              <a:uLnTx/>
              <a:uFillTx/>
              <a:latin typeface="Meiryo UI"/>
              <a:ea typeface="Meiryo UI"/>
              <a:cs typeface="+mn-cs"/>
            </a:endParaRPr>
          </a:p>
        </p:txBody>
      </p:sp>
      <p:sp>
        <p:nvSpPr>
          <p:cNvPr id="45" name="テキスト ボックス 44">
            <a:extLst>
              <a:ext uri="{FF2B5EF4-FFF2-40B4-BE49-F238E27FC236}">
                <a16:creationId xmlns:a16="http://schemas.microsoft.com/office/drawing/2014/main" id="{61E44DA8-6BBD-4BC4-B490-D6FBC8578371}"/>
              </a:ext>
            </a:extLst>
          </p:cNvPr>
          <p:cNvSpPr txBox="1"/>
          <p:nvPr/>
        </p:nvSpPr>
        <p:spPr>
          <a:xfrm>
            <a:off x="3025024" y="2588057"/>
            <a:ext cx="550364" cy="2343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23"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*1 </a:t>
            </a:r>
            <a:endParaRPr kumimoji="1" lang="ja-JP" altLang="en-US" sz="923" b="0" i="0" u="none" strike="noStrike" kern="1200" cap="none" spc="0" normalizeH="0" baseline="0" noProof="0">
              <a:ln>
                <a:noFill/>
              </a:ln>
              <a:solidFill>
                <a:prstClr val="black"/>
              </a:solidFill>
              <a:effectLst/>
              <a:uLnTx/>
              <a:uFillTx/>
              <a:latin typeface="Meiryo UI"/>
              <a:ea typeface="Meiryo UI"/>
              <a:cs typeface="+mn-cs"/>
            </a:endParaRPr>
          </a:p>
        </p:txBody>
      </p:sp>
      <p:sp>
        <p:nvSpPr>
          <p:cNvPr id="48" name="正方形/長方形 47">
            <a:extLst>
              <a:ext uri="{FF2B5EF4-FFF2-40B4-BE49-F238E27FC236}">
                <a16:creationId xmlns:a16="http://schemas.microsoft.com/office/drawing/2014/main" id="{26432233-F4D6-42DD-9D37-5C2793BE4A77}"/>
              </a:ext>
            </a:extLst>
          </p:cNvPr>
          <p:cNvSpPr/>
          <p:nvPr/>
        </p:nvSpPr>
        <p:spPr>
          <a:xfrm>
            <a:off x="3025024" y="4847551"/>
            <a:ext cx="402555" cy="13624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31"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(566)</a:t>
            </a:r>
            <a:endParaRPr kumimoji="1" lang="ja-JP" altLang="en-US" sz="831"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65" name="左中かっこ 64">
            <a:extLst>
              <a:ext uri="{FF2B5EF4-FFF2-40B4-BE49-F238E27FC236}">
                <a16:creationId xmlns:a16="http://schemas.microsoft.com/office/drawing/2014/main" id="{30C10EE6-0F21-449D-8AFC-4C9B22952A4B}"/>
              </a:ext>
            </a:extLst>
          </p:cNvPr>
          <p:cNvSpPr/>
          <p:nvPr/>
        </p:nvSpPr>
        <p:spPr>
          <a:xfrm>
            <a:off x="3367556" y="4736358"/>
            <a:ext cx="76101" cy="321433"/>
          </a:xfrm>
          <a:prstGeom prst="leftBrac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67" name="テキスト ボックス 66">
            <a:extLst>
              <a:ext uri="{FF2B5EF4-FFF2-40B4-BE49-F238E27FC236}">
                <a16:creationId xmlns:a16="http://schemas.microsoft.com/office/drawing/2014/main" id="{9FC2FA44-52D9-4066-AED4-A061B45846F4}"/>
              </a:ext>
            </a:extLst>
          </p:cNvPr>
          <p:cNvSpPr txBox="1"/>
          <p:nvPr/>
        </p:nvSpPr>
        <p:spPr>
          <a:xfrm>
            <a:off x="3759795" y="2974707"/>
            <a:ext cx="550364" cy="2201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31"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*1 </a:t>
            </a:r>
            <a:endParaRPr kumimoji="1" lang="ja-JP" altLang="en-US" sz="831" b="0" i="0" u="none" strike="noStrike" kern="1200" cap="none" spc="0" normalizeH="0" baseline="0" noProof="0">
              <a:ln>
                <a:noFill/>
              </a:ln>
              <a:solidFill>
                <a:prstClr val="black"/>
              </a:solidFill>
              <a:effectLst/>
              <a:uLnTx/>
              <a:uFillTx/>
              <a:latin typeface="Meiryo UI"/>
              <a:ea typeface="Meiryo UI"/>
              <a:cs typeface="+mn-cs"/>
            </a:endParaRPr>
          </a:p>
        </p:txBody>
      </p:sp>
      <p:sp>
        <p:nvSpPr>
          <p:cNvPr id="79" name="正方形/長方形 78">
            <a:extLst>
              <a:ext uri="{FF2B5EF4-FFF2-40B4-BE49-F238E27FC236}">
                <a16:creationId xmlns:a16="http://schemas.microsoft.com/office/drawing/2014/main" id="{A28EAA5E-597D-4ADA-A108-52D0D5069988}"/>
              </a:ext>
            </a:extLst>
          </p:cNvPr>
          <p:cNvSpPr/>
          <p:nvPr/>
        </p:nvSpPr>
        <p:spPr>
          <a:xfrm>
            <a:off x="2498063" y="2870867"/>
            <a:ext cx="670469" cy="32875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a:t>
            </a:r>
            <a:endParaRPr kumimoji="1" lang="en-US" altLang="ja-JP"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2,993</a:t>
            </a:r>
            <a:endParaRPr kumimoji="1" lang="ja-JP" altLang="en-US" sz="1200" b="1"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80" name="正方形/長方形 79">
            <a:extLst>
              <a:ext uri="{FF2B5EF4-FFF2-40B4-BE49-F238E27FC236}">
                <a16:creationId xmlns:a16="http://schemas.microsoft.com/office/drawing/2014/main" id="{A13FC45E-CE48-4908-9D3D-22C37FD31BCA}"/>
              </a:ext>
            </a:extLst>
          </p:cNvPr>
          <p:cNvSpPr/>
          <p:nvPr/>
        </p:nvSpPr>
        <p:spPr>
          <a:xfrm>
            <a:off x="3282583" y="3314046"/>
            <a:ext cx="670469" cy="32875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15"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a:t>
            </a:r>
            <a:endParaRPr kumimoji="1" lang="en-US" altLang="ja-JP" sz="1015"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15"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2,297</a:t>
            </a:r>
            <a:endParaRPr kumimoji="1" lang="ja-JP" altLang="en-US" sz="1015"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graphicFrame>
        <p:nvGraphicFramePr>
          <p:cNvPr id="9" name="表 10">
            <a:extLst>
              <a:ext uri="{FF2B5EF4-FFF2-40B4-BE49-F238E27FC236}">
                <a16:creationId xmlns:a16="http://schemas.microsoft.com/office/drawing/2014/main" id="{B58FBA97-5631-487A-8564-74D020101AE1}"/>
              </a:ext>
            </a:extLst>
          </p:cNvPr>
          <p:cNvGraphicFramePr>
            <a:graphicFrameLocks noGrp="1"/>
          </p:cNvGraphicFramePr>
          <p:nvPr/>
        </p:nvGraphicFramePr>
        <p:xfrm>
          <a:off x="3207316" y="5750265"/>
          <a:ext cx="5557347" cy="314196"/>
        </p:xfrm>
        <a:graphic>
          <a:graphicData uri="http://schemas.openxmlformats.org/drawingml/2006/table">
            <a:tbl>
              <a:tblPr firstRow="1" bandRow="1">
                <a:tableStyleId>{5C22544A-7EE6-4342-B048-85BDC9FD1C3A}</a:tableStyleId>
              </a:tblPr>
              <a:tblGrid>
                <a:gridCol w="1080052">
                  <a:extLst>
                    <a:ext uri="{9D8B030D-6E8A-4147-A177-3AD203B41FA5}">
                      <a16:colId xmlns:a16="http://schemas.microsoft.com/office/drawing/2014/main" val="2382195052"/>
                    </a:ext>
                  </a:extLst>
                </a:gridCol>
                <a:gridCol w="895459">
                  <a:extLst>
                    <a:ext uri="{9D8B030D-6E8A-4147-A177-3AD203B41FA5}">
                      <a16:colId xmlns:a16="http://schemas.microsoft.com/office/drawing/2014/main" val="4244530020"/>
                    </a:ext>
                  </a:extLst>
                </a:gridCol>
                <a:gridCol w="895459">
                  <a:extLst>
                    <a:ext uri="{9D8B030D-6E8A-4147-A177-3AD203B41FA5}">
                      <a16:colId xmlns:a16="http://schemas.microsoft.com/office/drawing/2014/main" val="523710215"/>
                    </a:ext>
                  </a:extLst>
                </a:gridCol>
                <a:gridCol w="895459">
                  <a:extLst>
                    <a:ext uri="{9D8B030D-6E8A-4147-A177-3AD203B41FA5}">
                      <a16:colId xmlns:a16="http://schemas.microsoft.com/office/drawing/2014/main" val="2459951852"/>
                    </a:ext>
                  </a:extLst>
                </a:gridCol>
                <a:gridCol w="895459">
                  <a:extLst>
                    <a:ext uri="{9D8B030D-6E8A-4147-A177-3AD203B41FA5}">
                      <a16:colId xmlns:a16="http://schemas.microsoft.com/office/drawing/2014/main" val="1041700402"/>
                    </a:ext>
                  </a:extLst>
                </a:gridCol>
                <a:gridCol w="895459">
                  <a:extLst>
                    <a:ext uri="{9D8B030D-6E8A-4147-A177-3AD203B41FA5}">
                      <a16:colId xmlns:a16="http://schemas.microsoft.com/office/drawing/2014/main" val="2051934475"/>
                    </a:ext>
                  </a:extLst>
                </a:gridCol>
              </a:tblGrid>
              <a:tr h="81629">
                <a:tc>
                  <a:txBody>
                    <a:bodyPr/>
                    <a:lstStyle/>
                    <a:p>
                      <a:pPr algn="ctr"/>
                      <a:r>
                        <a:rPr kumimoji="1" lang="ja-JP" altLang="en-US" sz="900">
                          <a:latin typeface="+mn-lt"/>
                        </a:rPr>
                        <a:t>アンモニア混焼改造</a:t>
                      </a:r>
                    </a:p>
                  </a:txBody>
                  <a:tcPr marL="16615" marR="16615" marT="9969" marB="9969">
                    <a:solidFill>
                      <a:srgbClr val="33839F"/>
                    </a:solidFill>
                  </a:tcPr>
                </a:tc>
                <a:tc>
                  <a:txBody>
                    <a:bodyPr/>
                    <a:lstStyle/>
                    <a:p>
                      <a:pPr algn="ctr"/>
                      <a:r>
                        <a:rPr kumimoji="1" lang="ja-JP" altLang="en-US" sz="900">
                          <a:latin typeface="+mn-lt"/>
                        </a:rPr>
                        <a:t>‘</a:t>
                      </a:r>
                      <a:r>
                        <a:rPr kumimoji="1" lang="en-US" altLang="ja-JP" sz="900">
                          <a:latin typeface="+mn-lt"/>
                        </a:rPr>
                        <a:t>24</a:t>
                      </a:r>
                      <a:endParaRPr kumimoji="1" lang="ja-JP" altLang="en-US" sz="900">
                        <a:latin typeface="+mn-lt"/>
                      </a:endParaRPr>
                    </a:p>
                  </a:txBody>
                  <a:tcPr marL="16615" marR="16615" marT="9969" marB="9969">
                    <a:solidFill>
                      <a:srgbClr val="33839F"/>
                    </a:solidFill>
                  </a:tcPr>
                </a:tc>
                <a:tc>
                  <a:txBody>
                    <a:bodyPr/>
                    <a:lstStyle/>
                    <a:p>
                      <a:pPr algn="ctr"/>
                      <a:r>
                        <a:rPr kumimoji="1" lang="en-US" altLang="ja-JP" sz="900">
                          <a:latin typeface="+mn-lt"/>
                        </a:rPr>
                        <a:t>‘25</a:t>
                      </a:r>
                      <a:endParaRPr kumimoji="1" lang="ja-JP" altLang="en-US" sz="900">
                        <a:latin typeface="+mn-lt"/>
                      </a:endParaRPr>
                    </a:p>
                  </a:txBody>
                  <a:tcPr marL="16615" marR="16615" marT="9969" marB="9969">
                    <a:solidFill>
                      <a:srgbClr val="33839F"/>
                    </a:solidFill>
                  </a:tcPr>
                </a:tc>
                <a:tc>
                  <a:txBody>
                    <a:bodyPr/>
                    <a:lstStyle/>
                    <a:p>
                      <a:pPr algn="ctr"/>
                      <a:r>
                        <a:rPr kumimoji="1" lang="en-US" altLang="ja-JP" sz="900">
                          <a:latin typeface="+mn-lt"/>
                        </a:rPr>
                        <a:t>‘26</a:t>
                      </a:r>
                      <a:endParaRPr kumimoji="1" lang="ja-JP" altLang="en-US" sz="900">
                        <a:latin typeface="+mn-lt"/>
                      </a:endParaRPr>
                    </a:p>
                  </a:txBody>
                  <a:tcPr marL="16615" marR="16615" marT="9969" marB="9969">
                    <a:solidFill>
                      <a:srgbClr val="33839F"/>
                    </a:solidFill>
                  </a:tcPr>
                </a:tc>
                <a:tc>
                  <a:txBody>
                    <a:bodyPr/>
                    <a:lstStyle/>
                    <a:p>
                      <a:pPr algn="ctr"/>
                      <a:r>
                        <a:rPr kumimoji="1" lang="en-US" altLang="ja-JP" sz="900">
                          <a:latin typeface="+mn-lt"/>
                        </a:rPr>
                        <a:t>‘27</a:t>
                      </a:r>
                      <a:endParaRPr kumimoji="1" lang="ja-JP" altLang="en-US" sz="900">
                        <a:latin typeface="+mn-lt"/>
                      </a:endParaRPr>
                    </a:p>
                  </a:txBody>
                  <a:tcPr marL="16615" marR="16615" marT="9969" marB="9969">
                    <a:solidFill>
                      <a:srgbClr val="33839F"/>
                    </a:solidFill>
                  </a:tcPr>
                </a:tc>
                <a:tc>
                  <a:txBody>
                    <a:bodyPr/>
                    <a:lstStyle/>
                    <a:p>
                      <a:pPr algn="ctr"/>
                      <a:r>
                        <a:rPr kumimoji="1" lang="en-US" altLang="ja-JP" sz="900">
                          <a:latin typeface="+mn-lt"/>
                        </a:rPr>
                        <a:t>’28</a:t>
                      </a:r>
                      <a:endParaRPr kumimoji="1" lang="ja-JP" altLang="en-US" sz="900">
                        <a:latin typeface="+mn-lt"/>
                      </a:endParaRPr>
                    </a:p>
                  </a:txBody>
                  <a:tcPr marL="16615" marR="16615" marT="9969" marB="9969">
                    <a:solidFill>
                      <a:srgbClr val="33839F"/>
                    </a:solidFill>
                  </a:tcPr>
                </a:tc>
                <a:extLst>
                  <a:ext uri="{0D108BD9-81ED-4DB2-BD59-A6C34878D82A}">
                    <a16:rowId xmlns:a16="http://schemas.microsoft.com/office/drawing/2014/main" val="1253047272"/>
                  </a:ext>
                </a:extLst>
              </a:tr>
              <a:tr h="81629">
                <a:tc>
                  <a:txBody>
                    <a:bodyPr/>
                    <a:lstStyle/>
                    <a:p>
                      <a:pPr algn="ctr"/>
                      <a:r>
                        <a:rPr kumimoji="1" lang="ja-JP" altLang="en-US" sz="900">
                          <a:latin typeface="+mn-lt"/>
                        </a:rPr>
                        <a:t>受注計画 </a:t>
                      </a:r>
                      <a:r>
                        <a:rPr kumimoji="1" lang="en-US" altLang="ja-JP" sz="900">
                          <a:latin typeface="+mn-lt"/>
                        </a:rPr>
                        <a:t>[</a:t>
                      </a:r>
                      <a:r>
                        <a:rPr kumimoji="1" lang="ja-JP" altLang="en-US" sz="900">
                          <a:latin typeface="+mn-lt"/>
                        </a:rPr>
                        <a:t>億円</a:t>
                      </a:r>
                      <a:r>
                        <a:rPr kumimoji="1" lang="en-US" altLang="ja-JP" sz="900">
                          <a:latin typeface="+mn-lt"/>
                        </a:rPr>
                        <a:t>]</a:t>
                      </a:r>
                      <a:endParaRPr kumimoji="1" lang="ja-JP" altLang="en-US" sz="900">
                        <a:latin typeface="+mn-lt"/>
                      </a:endParaRPr>
                    </a:p>
                  </a:txBody>
                  <a:tcPr marL="16615" marR="16615" marT="9969" marB="9969"/>
                </a:tc>
                <a:tc>
                  <a:txBody>
                    <a:bodyPr/>
                    <a:lstStyle/>
                    <a:p>
                      <a:pPr algn="ctr"/>
                      <a:r>
                        <a:rPr kumimoji="1" lang="en-US" altLang="ja-JP" sz="900">
                          <a:latin typeface="+mn-lt"/>
                        </a:rPr>
                        <a:t>20 </a:t>
                      </a:r>
                      <a:r>
                        <a:rPr kumimoji="1" lang="en-US" altLang="ja-JP" sz="900">
                          <a:solidFill>
                            <a:srgbClr val="FF0000"/>
                          </a:solidFill>
                          <a:latin typeface="+mn-lt"/>
                        </a:rPr>
                        <a:t>(GI</a:t>
                      </a:r>
                      <a:r>
                        <a:rPr kumimoji="1" lang="ja-JP" altLang="en-US" sz="900">
                          <a:solidFill>
                            <a:srgbClr val="FF0000"/>
                          </a:solidFill>
                          <a:latin typeface="+mn-lt"/>
                        </a:rPr>
                        <a:t>基金</a:t>
                      </a:r>
                      <a:r>
                        <a:rPr kumimoji="1" lang="en-US" altLang="ja-JP" sz="900">
                          <a:solidFill>
                            <a:srgbClr val="FF0000"/>
                          </a:solidFill>
                          <a:latin typeface="+mn-lt"/>
                        </a:rPr>
                        <a:t>)</a:t>
                      </a:r>
                      <a:endParaRPr kumimoji="1" lang="ja-JP" altLang="en-US" sz="900">
                        <a:latin typeface="+mn-lt"/>
                      </a:endParaRPr>
                    </a:p>
                  </a:txBody>
                  <a:tcPr marL="16615" marR="16615" marT="9969" marB="9969"/>
                </a:tc>
                <a:tc>
                  <a:txBody>
                    <a:bodyPr/>
                    <a:lstStyle/>
                    <a:p>
                      <a:pPr algn="ctr"/>
                      <a:r>
                        <a:rPr kumimoji="1" lang="en-US" altLang="ja-JP" sz="900">
                          <a:latin typeface="+mn-lt"/>
                        </a:rPr>
                        <a:t>0</a:t>
                      </a:r>
                      <a:endParaRPr kumimoji="1" lang="ja-JP" altLang="en-US" sz="900">
                        <a:latin typeface="+mn-lt"/>
                      </a:endParaRPr>
                    </a:p>
                  </a:txBody>
                  <a:tcPr marL="16615" marR="16615" marT="9969" marB="9969"/>
                </a:tc>
                <a:tc>
                  <a:txBody>
                    <a:bodyPr/>
                    <a:lstStyle/>
                    <a:p>
                      <a:pPr algn="ctr"/>
                      <a:r>
                        <a:rPr kumimoji="1" lang="en-US" altLang="ja-JP" sz="900">
                          <a:latin typeface="+mn-lt"/>
                        </a:rPr>
                        <a:t>30 </a:t>
                      </a:r>
                      <a:r>
                        <a:rPr kumimoji="1" lang="en-US" altLang="ja-JP" sz="900">
                          <a:solidFill>
                            <a:srgbClr val="FF0000"/>
                          </a:solidFill>
                          <a:latin typeface="+mn-lt"/>
                        </a:rPr>
                        <a:t>(GI</a:t>
                      </a:r>
                      <a:r>
                        <a:rPr kumimoji="1" lang="ja-JP" altLang="en-US" sz="900">
                          <a:solidFill>
                            <a:srgbClr val="FF0000"/>
                          </a:solidFill>
                          <a:latin typeface="+mn-lt"/>
                        </a:rPr>
                        <a:t>基金</a:t>
                      </a:r>
                      <a:r>
                        <a:rPr kumimoji="1" lang="en-US" altLang="ja-JP" sz="900">
                          <a:solidFill>
                            <a:srgbClr val="FF0000"/>
                          </a:solidFill>
                          <a:latin typeface="+mn-lt"/>
                        </a:rPr>
                        <a:t>)</a:t>
                      </a:r>
                      <a:endParaRPr kumimoji="1" lang="ja-JP" altLang="en-US" sz="900">
                        <a:solidFill>
                          <a:srgbClr val="FF0000"/>
                        </a:solidFill>
                        <a:latin typeface="+mn-lt"/>
                      </a:endParaRPr>
                    </a:p>
                  </a:txBody>
                  <a:tcPr marL="16615" marR="16615" marT="9969" marB="9969"/>
                </a:tc>
                <a:tc>
                  <a:txBody>
                    <a:bodyPr/>
                    <a:lstStyle/>
                    <a:p>
                      <a:pPr algn="ctr"/>
                      <a:r>
                        <a:rPr kumimoji="1" lang="en-US" altLang="ja-JP" sz="900">
                          <a:latin typeface="+mn-lt"/>
                        </a:rPr>
                        <a:t>7.5</a:t>
                      </a:r>
                      <a:endParaRPr kumimoji="1" lang="ja-JP" altLang="en-US" sz="900">
                        <a:latin typeface="+mn-lt"/>
                      </a:endParaRPr>
                    </a:p>
                  </a:txBody>
                  <a:tcPr marL="16615" marR="16615" marT="9969" marB="9969"/>
                </a:tc>
                <a:tc>
                  <a:txBody>
                    <a:bodyPr/>
                    <a:lstStyle/>
                    <a:p>
                      <a:pPr algn="ctr"/>
                      <a:r>
                        <a:rPr kumimoji="1" lang="en-US" altLang="ja-JP" sz="900">
                          <a:latin typeface="+mn-lt"/>
                        </a:rPr>
                        <a:t>15</a:t>
                      </a:r>
                      <a:endParaRPr kumimoji="1" lang="ja-JP" altLang="en-US" sz="900">
                        <a:latin typeface="+mn-lt"/>
                      </a:endParaRPr>
                    </a:p>
                  </a:txBody>
                  <a:tcPr marL="16615" marR="16615" marT="9969" marB="9969"/>
                </a:tc>
                <a:extLst>
                  <a:ext uri="{0D108BD9-81ED-4DB2-BD59-A6C34878D82A}">
                    <a16:rowId xmlns:a16="http://schemas.microsoft.com/office/drawing/2014/main" val="2771289183"/>
                  </a:ext>
                </a:extLst>
              </a:tr>
            </a:tbl>
          </a:graphicData>
        </a:graphic>
      </p:graphicFrame>
      <p:sp>
        <p:nvSpPr>
          <p:cNvPr id="69" name="左中かっこ 68">
            <a:extLst>
              <a:ext uri="{FF2B5EF4-FFF2-40B4-BE49-F238E27FC236}">
                <a16:creationId xmlns:a16="http://schemas.microsoft.com/office/drawing/2014/main" id="{20AC8548-CAB1-4F5A-A40D-9CFF469308B8}"/>
              </a:ext>
            </a:extLst>
          </p:cNvPr>
          <p:cNvSpPr/>
          <p:nvPr/>
        </p:nvSpPr>
        <p:spPr>
          <a:xfrm>
            <a:off x="7541590" y="1836593"/>
            <a:ext cx="70744" cy="3019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62" b="0" i="0" u="none" strike="noStrike" kern="1200" cap="none" spc="0" normalizeH="0" baseline="0" noProof="0">
              <a:ln>
                <a:noFill/>
              </a:ln>
              <a:solidFill>
                <a:prstClr val="black"/>
              </a:solidFill>
              <a:effectLst/>
              <a:uLnTx/>
              <a:uFillTx/>
              <a:latin typeface="Meiryo UI"/>
              <a:ea typeface="Meiryo UI"/>
              <a:cs typeface="+mn-cs"/>
            </a:endParaRPr>
          </a:p>
        </p:txBody>
      </p:sp>
      <p:sp>
        <p:nvSpPr>
          <p:cNvPr id="78" name="正方形/長方形 77">
            <a:extLst>
              <a:ext uri="{FF2B5EF4-FFF2-40B4-BE49-F238E27FC236}">
                <a16:creationId xmlns:a16="http://schemas.microsoft.com/office/drawing/2014/main" id="{8BC83AAA-1843-4C4C-A206-82231D6B535A}"/>
              </a:ext>
            </a:extLst>
          </p:cNvPr>
          <p:cNvSpPr/>
          <p:nvPr/>
        </p:nvSpPr>
        <p:spPr>
          <a:xfrm>
            <a:off x="2833297" y="1814668"/>
            <a:ext cx="4137430" cy="42007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*1 IGCC</a:t>
            </a:r>
            <a:r>
              <a:rPr kumimoji="1" lang="ja-JP" altLang="en-US"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の</a:t>
            </a:r>
            <a:r>
              <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LD</a:t>
            </a:r>
            <a:r>
              <a:rPr kumimoji="1" lang="ja-JP" altLang="en-US"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を除いた場合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*2 ZAF</a:t>
            </a:r>
            <a:r>
              <a:rPr kumimoji="1" lang="ja-JP" altLang="en-US"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等海外</a:t>
            </a:r>
            <a:r>
              <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G</a:t>
            </a:r>
            <a:r>
              <a:rPr kumimoji="1" lang="ja-JP" altLang="en-US"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会社計上分を含む</a:t>
            </a:r>
            <a:endPar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*3 </a:t>
            </a:r>
            <a:r>
              <a:rPr kumimoji="1" lang="ja-JP" altLang="en-US"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旧が</a:t>
            </a:r>
            <a:r>
              <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12</a:t>
            </a:r>
            <a:r>
              <a:rPr kumimoji="1" lang="ja-JP" altLang="en-US"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月報告値。</a:t>
            </a:r>
            <a:r>
              <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FY23</a:t>
            </a:r>
            <a:r>
              <a:rPr kumimoji="1" lang="ja-JP" altLang="en-US"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rPr>
              <a:t>以降は新旧ともに原子力二次系は除外し集計</a:t>
            </a:r>
            <a:endParaRPr kumimoji="1" lang="en-US" altLang="ja-JP" sz="969" b="0" i="0" u="none" strike="noStrike" kern="1200" cap="none" spc="0" normalizeH="0" baseline="0" noProof="0">
              <a:ln>
                <a:noFill/>
              </a:ln>
              <a:solidFill>
                <a:prstClr val="white">
                  <a:lumMod val="65000"/>
                </a:prstClr>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sp>
        <p:nvSpPr>
          <p:cNvPr id="81" name="正方形/長方形 80">
            <a:extLst>
              <a:ext uri="{FF2B5EF4-FFF2-40B4-BE49-F238E27FC236}">
                <a16:creationId xmlns:a16="http://schemas.microsoft.com/office/drawing/2014/main" id="{8BE42A3B-373D-4238-AF26-FC3CA010AC65}"/>
              </a:ext>
            </a:extLst>
          </p:cNvPr>
          <p:cNvSpPr/>
          <p:nvPr/>
        </p:nvSpPr>
        <p:spPr>
          <a:xfrm>
            <a:off x="4830265" y="3740774"/>
            <a:ext cx="289375" cy="22102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31"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eiryo UI" panose="020B0604030504040204" pitchFamily="50" charset="-128"/>
              </a:rPr>
              <a:t>*2</a:t>
            </a:r>
            <a:endParaRPr kumimoji="1" lang="ja-JP" altLang="en-US" sz="831"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eiryo UI" panose="020B0604030504040204" pitchFamily="50" charset="-128"/>
            </a:endParaRPr>
          </a:p>
        </p:txBody>
      </p:sp>
      <p:pic>
        <p:nvPicPr>
          <p:cNvPr id="15" name="図 14">
            <a:extLst>
              <a:ext uri="{FF2B5EF4-FFF2-40B4-BE49-F238E27FC236}">
                <a16:creationId xmlns:a16="http://schemas.microsoft.com/office/drawing/2014/main" id="{08CCF420-123D-42F0-B039-47532DB7DD25}"/>
              </a:ext>
            </a:extLst>
          </p:cNvPr>
          <p:cNvPicPr>
            <a:picLocks noChangeAspect="1"/>
          </p:cNvPicPr>
          <p:nvPr/>
        </p:nvPicPr>
        <p:blipFill>
          <a:blip r:embed="rId3"/>
          <a:stretch>
            <a:fillRect/>
          </a:stretch>
        </p:blipFill>
        <p:spPr>
          <a:xfrm>
            <a:off x="7660556" y="1765689"/>
            <a:ext cx="1058201" cy="1599750"/>
          </a:xfrm>
          <a:prstGeom prst="rect">
            <a:avLst/>
          </a:prstGeom>
        </p:spPr>
      </p:pic>
      <p:sp>
        <p:nvSpPr>
          <p:cNvPr id="90" name="矢印: 環状 89">
            <a:extLst>
              <a:ext uri="{FF2B5EF4-FFF2-40B4-BE49-F238E27FC236}">
                <a16:creationId xmlns:a16="http://schemas.microsoft.com/office/drawing/2014/main" id="{8992C3B9-6418-4246-9CC7-E3CC45495EE0}"/>
              </a:ext>
            </a:extLst>
          </p:cNvPr>
          <p:cNvSpPr/>
          <p:nvPr/>
        </p:nvSpPr>
        <p:spPr>
          <a:xfrm>
            <a:off x="3680645" y="3243984"/>
            <a:ext cx="467398" cy="377948"/>
          </a:xfrm>
          <a:prstGeom prst="circularArrow">
            <a:avLst>
              <a:gd name="adj1" fmla="val 6914"/>
              <a:gd name="adj2" fmla="val 1142319"/>
              <a:gd name="adj3" fmla="val 20375009"/>
              <a:gd name="adj4" fmla="val 16333832"/>
              <a:gd name="adj5" fmla="val 12333"/>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Meiryo UI"/>
              <a:ea typeface="Meiryo UI"/>
              <a:cs typeface="+mn-cs"/>
            </a:endParaRPr>
          </a:p>
        </p:txBody>
      </p:sp>
      <p:sp>
        <p:nvSpPr>
          <p:cNvPr id="91" name="矢印: 環状 90">
            <a:extLst>
              <a:ext uri="{FF2B5EF4-FFF2-40B4-BE49-F238E27FC236}">
                <a16:creationId xmlns:a16="http://schemas.microsoft.com/office/drawing/2014/main" id="{5BD73610-0134-4506-B5B7-B85D67A526D4}"/>
              </a:ext>
            </a:extLst>
          </p:cNvPr>
          <p:cNvSpPr/>
          <p:nvPr/>
        </p:nvSpPr>
        <p:spPr>
          <a:xfrm>
            <a:off x="5486376" y="3455342"/>
            <a:ext cx="467489" cy="377948"/>
          </a:xfrm>
          <a:prstGeom prst="circularArrow">
            <a:avLst>
              <a:gd name="adj1" fmla="val 6914"/>
              <a:gd name="adj2" fmla="val 1142319"/>
              <a:gd name="adj3" fmla="val 20375009"/>
              <a:gd name="adj4" fmla="val 16333832"/>
              <a:gd name="adj5" fmla="val 12333"/>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Meiryo UI"/>
              <a:ea typeface="Meiryo UI"/>
              <a:cs typeface="+mn-cs"/>
            </a:endParaRPr>
          </a:p>
        </p:txBody>
      </p:sp>
      <p:sp>
        <p:nvSpPr>
          <p:cNvPr id="92" name="矢印: 環状 91">
            <a:extLst>
              <a:ext uri="{FF2B5EF4-FFF2-40B4-BE49-F238E27FC236}">
                <a16:creationId xmlns:a16="http://schemas.microsoft.com/office/drawing/2014/main" id="{F028937F-7EAB-42FD-BF3E-2040220F86A4}"/>
              </a:ext>
            </a:extLst>
          </p:cNvPr>
          <p:cNvSpPr/>
          <p:nvPr/>
        </p:nvSpPr>
        <p:spPr>
          <a:xfrm>
            <a:off x="6371311" y="3455342"/>
            <a:ext cx="467398" cy="377948"/>
          </a:xfrm>
          <a:prstGeom prst="circularArrow">
            <a:avLst>
              <a:gd name="adj1" fmla="val 6914"/>
              <a:gd name="adj2" fmla="val 1142319"/>
              <a:gd name="adj3" fmla="val 20375009"/>
              <a:gd name="adj4" fmla="val 16333832"/>
              <a:gd name="adj5" fmla="val 12333"/>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Meiryo UI"/>
              <a:ea typeface="Meiryo UI"/>
              <a:cs typeface="+mn-cs"/>
            </a:endParaRPr>
          </a:p>
        </p:txBody>
      </p:sp>
      <p:sp>
        <p:nvSpPr>
          <p:cNvPr id="93" name="矢印: 環状 92">
            <a:extLst>
              <a:ext uri="{FF2B5EF4-FFF2-40B4-BE49-F238E27FC236}">
                <a16:creationId xmlns:a16="http://schemas.microsoft.com/office/drawing/2014/main" id="{E8E0CE78-F829-482A-BF21-7AD9467C01CE}"/>
              </a:ext>
            </a:extLst>
          </p:cNvPr>
          <p:cNvSpPr/>
          <p:nvPr/>
        </p:nvSpPr>
        <p:spPr>
          <a:xfrm>
            <a:off x="7286104" y="3478786"/>
            <a:ext cx="467488" cy="377910"/>
          </a:xfrm>
          <a:prstGeom prst="circularArrow">
            <a:avLst>
              <a:gd name="adj1" fmla="val 6914"/>
              <a:gd name="adj2" fmla="val 1142319"/>
              <a:gd name="adj3" fmla="val 20375009"/>
              <a:gd name="adj4" fmla="val 16333832"/>
              <a:gd name="adj5" fmla="val 12333"/>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Meiryo UI"/>
              <a:ea typeface="Meiryo UI"/>
              <a:cs typeface="+mn-cs"/>
            </a:endParaRPr>
          </a:p>
        </p:txBody>
      </p:sp>
      <p:sp>
        <p:nvSpPr>
          <p:cNvPr id="94" name="矢印: 環状 93">
            <a:extLst>
              <a:ext uri="{FF2B5EF4-FFF2-40B4-BE49-F238E27FC236}">
                <a16:creationId xmlns:a16="http://schemas.microsoft.com/office/drawing/2014/main" id="{A024FB9E-7A56-46CD-8185-7BE3CA53C4E4}"/>
              </a:ext>
            </a:extLst>
          </p:cNvPr>
          <p:cNvSpPr/>
          <p:nvPr/>
        </p:nvSpPr>
        <p:spPr>
          <a:xfrm>
            <a:off x="8136333" y="3478786"/>
            <a:ext cx="467399" cy="377910"/>
          </a:xfrm>
          <a:prstGeom prst="circularArrow">
            <a:avLst>
              <a:gd name="adj1" fmla="val 6914"/>
              <a:gd name="adj2" fmla="val 1142319"/>
              <a:gd name="adj3" fmla="val 20375009"/>
              <a:gd name="adj4" fmla="val 16333832"/>
              <a:gd name="adj5" fmla="val 12333"/>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Meiryo UI"/>
              <a:ea typeface="Meiryo UI"/>
              <a:cs typeface="+mn-cs"/>
            </a:endParaRPr>
          </a:p>
        </p:txBody>
      </p:sp>
      <p:sp>
        <p:nvSpPr>
          <p:cNvPr id="95" name="矢印: 環状 94">
            <a:extLst>
              <a:ext uri="{FF2B5EF4-FFF2-40B4-BE49-F238E27FC236}">
                <a16:creationId xmlns:a16="http://schemas.microsoft.com/office/drawing/2014/main" id="{91E9A92B-ED77-4945-890B-446598FF7405}"/>
              </a:ext>
            </a:extLst>
          </p:cNvPr>
          <p:cNvSpPr/>
          <p:nvPr/>
        </p:nvSpPr>
        <p:spPr>
          <a:xfrm>
            <a:off x="4596850" y="3410315"/>
            <a:ext cx="467489" cy="377948"/>
          </a:xfrm>
          <a:prstGeom prst="circularArrow">
            <a:avLst>
              <a:gd name="adj1" fmla="val 6914"/>
              <a:gd name="adj2" fmla="val 1142319"/>
              <a:gd name="adj3" fmla="val 20375009"/>
              <a:gd name="adj4" fmla="val 16333832"/>
              <a:gd name="adj5" fmla="val 12333"/>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white"/>
              </a:solidFill>
              <a:effectLst/>
              <a:uLnTx/>
              <a:uFillTx/>
              <a:latin typeface="Meiryo UI"/>
              <a:ea typeface="Meiryo UI"/>
              <a:cs typeface="+mn-cs"/>
            </a:endParaRPr>
          </a:p>
        </p:txBody>
      </p:sp>
      <p:sp>
        <p:nvSpPr>
          <p:cNvPr id="5" name="正方形/長方形 4">
            <a:extLst>
              <a:ext uri="{FF2B5EF4-FFF2-40B4-BE49-F238E27FC236}">
                <a16:creationId xmlns:a16="http://schemas.microsoft.com/office/drawing/2014/main" id="{AC648511-D1E4-4BB9-8188-5DB82924D85E}"/>
              </a:ext>
            </a:extLst>
          </p:cNvPr>
          <p:cNvSpPr/>
          <p:nvPr/>
        </p:nvSpPr>
        <p:spPr>
          <a:xfrm>
            <a:off x="8814895" y="4246986"/>
            <a:ext cx="329105" cy="1228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テキスト ボックス 67">
            <a:extLst>
              <a:ext uri="{FF2B5EF4-FFF2-40B4-BE49-F238E27FC236}">
                <a16:creationId xmlns:a16="http://schemas.microsoft.com/office/drawing/2014/main" id="{0A27D1E7-9178-4AFD-9D14-85A8A636A236}"/>
              </a:ext>
            </a:extLst>
          </p:cNvPr>
          <p:cNvSpPr txBox="1"/>
          <p:nvPr/>
        </p:nvSpPr>
        <p:spPr>
          <a:xfrm>
            <a:off x="3871652" y="4844026"/>
            <a:ext cx="54241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white"/>
                </a:solidFill>
                <a:effectLst/>
                <a:uLnTx/>
                <a:uFillTx/>
                <a:latin typeface="Meiryo UI"/>
                <a:ea typeface="Meiryo UI"/>
                <a:cs typeface="+mn-cs"/>
              </a:rPr>
              <a:t>▲</a:t>
            </a: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77</a:t>
            </a:r>
            <a:endParaRPr kumimoji="1" lang="ja-JP" altLang="en-US" sz="900" b="0" i="0" u="none" strike="noStrike" kern="1200" cap="none" spc="0" normalizeH="0" baseline="0" noProof="0">
              <a:ln>
                <a:noFill/>
              </a:ln>
              <a:solidFill>
                <a:prstClr val="white"/>
              </a:solidFill>
              <a:effectLst/>
              <a:uLnTx/>
              <a:uFillTx/>
              <a:latin typeface="Meiryo UI"/>
              <a:ea typeface="Meiryo UI"/>
              <a:cs typeface="+mn-cs"/>
            </a:endParaRPr>
          </a:p>
        </p:txBody>
      </p:sp>
      <p:sp>
        <p:nvSpPr>
          <p:cNvPr id="72" name="正方形/長方形 71">
            <a:extLst>
              <a:ext uri="{FF2B5EF4-FFF2-40B4-BE49-F238E27FC236}">
                <a16:creationId xmlns:a16="http://schemas.microsoft.com/office/drawing/2014/main" id="{853DF371-3CB4-4237-88C7-2CF2E23D327B}"/>
              </a:ext>
            </a:extLst>
          </p:cNvPr>
          <p:cNvSpPr/>
          <p:nvPr/>
        </p:nvSpPr>
        <p:spPr>
          <a:xfrm>
            <a:off x="4963494" y="2868867"/>
            <a:ext cx="1952284" cy="279578"/>
          </a:xfrm>
          <a:prstGeom prst="rect">
            <a:avLst/>
          </a:prstGeom>
          <a:solidFill>
            <a:schemeClr val="accent2"/>
          </a:solidFill>
          <a:ln w="9525" cap="flat" cmpd="sng" algn="ctr">
            <a:noFill/>
            <a:prstDash val="solid"/>
            <a:miter lim="800000"/>
          </a:ln>
          <a:effectLst/>
        </p:spPr>
        <p:txBody>
          <a:bodyPr rtlCol="0" anchor="ctr"/>
          <a:lstStyle/>
          <a:p>
            <a:pPr marL="0" marR="0" lvl="0" indent="0" algn="ctr" defTabSz="719445"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（旧が</a:t>
            </a:r>
            <a:r>
              <a:rPr kumimoji="1" lang="en-US" altLang="ja-JP" sz="12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12</a:t>
            </a:r>
            <a:r>
              <a:rPr kumimoji="1" lang="ja-JP" altLang="en-US" sz="12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月報告値）</a:t>
            </a:r>
            <a:endParaRPr kumimoji="1" lang="en-US" altLang="ja-JP" sz="12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aphicFrame>
        <p:nvGraphicFramePr>
          <p:cNvPr id="74" name="表 10">
            <a:extLst>
              <a:ext uri="{FF2B5EF4-FFF2-40B4-BE49-F238E27FC236}">
                <a16:creationId xmlns:a16="http://schemas.microsoft.com/office/drawing/2014/main" id="{C399458F-BA98-40D9-8D50-9AC4AD015234}"/>
              </a:ext>
            </a:extLst>
          </p:cNvPr>
          <p:cNvGraphicFramePr>
            <a:graphicFrameLocks noGrp="1"/>
          </p:cNvGraphicFramePr>
          <p:nvPr/>
        </p:nvGraphicFramePr>
        <p:xfrm>
          <a:off x="3434004" y="2244536"/>
          <a:ext cx="3512022" cy="314196"/>
        </p:xfrm>
        <a:graphic>
          <a:graphicData uri="http://schemas.openxmlformats.org/drawingml/2006/table">
            <a:tbl>
              <a:tblPr firstRow="1" bandRow="1">
                <a:tableStyleId>{5C22544A-7EE6-4342-B048-85BDC9FD1C3A}</a:tableStyleId>
              </a:tblPr>
              <a:tblGrid>
                <a:gridCol w="704638">
                  <a:extLst>
                    <a:ext uri="{9D8B030D-6E8A-4147-A177-3AD203B41FA5}">
                      <a16:colId xmlns:a16="http://schemas.microsoft.com/office/drawing/2014/main" val="2382195052"/>
                    </a:ext>
                  </a:extLst>
                </a:gridCol>
                <a:gridCol w="401192">
                  <a:extLst>
                    <a:ext uri="{9D8B030D-6E8A-4147-A177-3AD203B41FA5}">
                      <a16:colId xmlns:a16="http://schemas.microsoft.com/office/drawing/2014/main" val="1469788277"/>
                    </a:ext>
                  </a:extLst>
                </a:gridCol>
                <a:gridCol w="401192">
                  <a:extLst>
                    <a:ext uri="{9D8B030D-6E8A-4147-A177-3AD203B41FA5}">
                      <a16:colId xmlns:a16="http://schemas.microsoft.com/office/drawing/2014/main" val="4244530020"/>
                    </a:ext>
                  </a:extLst>
                </a:gridCol>
                <a:gridCol w="501250">
                  <a:extLst>
                    <a:ext uri="{9D8B030D-6E8A-4147-A177-3AD203B41FA5}">
                      <a16:colId xmlns:a16="http://schemas.microsoft.com/office/drawing/2014/main" val="523710215"/>
                    </a:ext>
                  </a:extLst>
                </a:gridCol>
                <a:gridCol w="501250">
                  <a:extLst>
                    <a:ext uri="{9D8B030D-6E8A-4147-A177-3AD203B41FA5}">
                      <a16:colId xmlns:a16="http://schemas.microsoft.com/office/drawing/2014/main" val="2459951852"/>
                    </a:ext>
                  </a:extLst>
                </a:gridCol>
                <a:gridCol w="501250">
                  <a:extLst>
                    <a:ext uri="{9D8B030D-6E8A-4147-A177-3AD203B41FA5}">
                      <a16:colId xmlns:a16="http://schemas.microsoft.com/office/drawing/2014/main" val="1041700402"/>
                    </a:ext>
                  </a:extLst>
                </a:gridCol>
                <a:gridCol w="501250">
                  <a:extLst>
                    <a:ext uri="{9D8B030D-6E8A-4147-A177-3AD203B41FA5}">
                      <a16:colId xmlns:a16="http://schemas.microsoft.com/office/drawing/2014/main" val="2051934475"/>
                    </a:ext>
                  </a:extLst>
                </a:gridCol>
              </a:tblGrid>
              <a:tr h="81629">
                <a:tc>
                  <a:txBody>
                    <a:bodyPr/>
                    <a:lstStyle/>
                    <a:p>
                      <a:pPr algn="ctr"/>
                      <a:r>
                        <a:rPr kumimoji="1" lang="ja-JP" altLang="en-US" sz="800">
                          <a:latin typeface="+mn-lt"/>
                        </a:rPr>
                        <a:t>原子力二次系</a:t>
                      </a:r>
                    </a:p>
                  </a:txBody>
                  <a:tcPr marL="16615" marR="16615" marT="9969" marB="9969">
                    <a:solidFill>
                      <a:schemeClr val="bg1">
                        <a:lumMod val="65000"/>
                      </a:schemeClr>
                    </a:solidFill>
                  </a:tcPr>
                </a:tc>
                <a:tc>
                  <a:txBody>
                    <a:bodyPr/>
                    <a:lstStyle/>
                    <a:p>
                      <a:pPr algn="ctr"/>
                      <a:r>
                        <a:rPr kumimoji="1" lang="en-US" altLang="ja-JP" sz="900">
                          <a:latin typeface="+mn-lt"/>
                        </a:rPr>
                        <a:t>’23</a:t>
                      </a:r>
                      <a:endParaRPr kumimoji="1" lang="ja-JP" altLang="en-US" sz="900">
                        <a:latin typeface="+mn-lt"/>
                      </a:endParaRPr>
                    </a:p>
                  </a:txBody>
                  <a:tcPr marL="16615" marR="16615" marT="9969" marB="9969">
                    <a:solidFill>
                      <a:schemeClr val="bg1">
                        <a:lumMod val="65000"/>
                      </a:schemeClr>
                    </a:solidFill>
                  </a:tcPr>
                </a:tc>
                <a:tc>
                  <a:txBody>
                    <a:bodyPr/>
                    <a:lstStyle/>
                    <a:p>
                      <a:pPr algn="ctr"/>
                      <a:r>
                        <a:rPr kumimoji="1" lang="ja-JP" altLang="en-US" sz="900">
                          <a:latin typeface="+mn-lt"/>
                        </a:rPr>
                        <a:t>‘</a:t>
                      </a:r>
                      <a:r>
                        <a:rPr kumimoji="1" lang="en-US" altLang="ja-JP" sz="900">
                          <a:latin typeface="+mn-lt"/>
                        </a:rPr>
                        <a:t>24</a:t>
                      </a:r>
                      <a:endParaRPr kumimoji="1" lang="ja-JP" altLang="en-US" sz="900">
                        <a:latin typeface="+mn-lt"/>
                      </a:endParaRPr>
                    </a:p>
                  </a:txBody>
                  <a:tcPr marL="16615" marR="16615" marT="9969" marB="9969">
                    <a:solidFill>
                      <a:schemeClr val="bg1">
                        <a:lumMod val="65000"/>
                      </a:schemeClr>
                    </a:solidFill>
                  </a:tcPr>
                </a:tc>
                <a:tc>
                  <a:txBody>
                    <a:bodyPr/>
                    <a:lstStyle/>
                    <a:p>
                      <a:pPr algn="ctr"/>
                      <a:r>
                        <a:rPr kumimoji="1" lang="en-US" altLang="ja-JP" sz="900">
                          <a:latin typeface="+mn-lt"/>
                        </a:rPr>
                        <a:t>‘25</a:t>
                      </a:r>
                      <a:endParaRPr kumimoji="1" lang="ja-JP" altLang="en-US" sz="900">
                        <a:latin typeface="+mn-lt"/>
                      </a:endParaRPr>
                    </a:p>
                  </a:txBody>
                  <a:tcPr marL="16615" marR="16615" marT="9969" marB="9969">
                    <a:solidFill>
                      <a:schemeClr val="bg1">
                        <a:lumMod val="65000"/>
                      </a:schemeClr>
                    </a:solidFill>
                  </a:tcPr>
                </a:tc>
                <a:tc>
                  <a:txBody>
                    <a:bodyPr/>
                    <a:lstStyle/>
                    <a:p>
                      <a:pPr algn="ctr"/>
                      <a:r>
                        <a:rPr kumimoji="1" lang="en-US" altLang="ja-JP" sz="900">
                          <a:latin typeface="+mn-lt"/>
                        </a:rPr>
                        <a:t>‘26</a:t>
                      </a:r>
                      <a:endParaRPr kumimoji="1" lang="ja-JP" altLang="en-US" sz="900">
                        <a:latin typeface="+mn-lt"/>
                      </a:endParaRPr>
                    </a:p>
                  </a:txBody>
                  <a:tcPr marL="16615" marR="16615" marT="9969" marB="9969">
                    <a:solidFill>
                      <a:schemeClr val="bg1">
                        <a:lumMod val="65000"/>
                      </a:schemeClr>
                    </a:solidFill>
                  </a:tcPr>
                </a:tc>
                <a:tc>
                  <a:txBody>
                    <a:bodyPr/>
                    <a:lstStyle/>
                    <a:p>
                      <a:pPr algn="ctr"/>
                      <a:r>
                        <a:rPr kumimoji="1" lang="en-US" altLang="ja-JP" sz="900">
                          <a:latin typeface="+mn-lt"/>
                        </a:rPr>
                        <a:t>‘27</a:t>
                      </a:r>
                      <a:endParaRPr kumimoji="1" lang="ja-JP" altLang="en-US" sz="900">
                        <a:latin typeface="+mn-lt"/>
                      </a:endParaRPr>
                    </a:p>
                  </a:txBody>
                  <a:tcPr marL="16615" marR="16615" marT="9969" marB="9969">
                    <a:solidFill>
                      <a:schemeClr val="bg1">
                        <a:lumMod val="65000"/>
                      </a:schemeClr>
                    </a:solidFill>
                  </a:tcPr>
                </a:tc>
                <a:tc>
                  <a:txBody>
                    <a:bodyPr/>
                    <a:lstStyle/>
                    <a:p>
                      <a:pPr algn="ctr"/>
                      <a:r>
                        <a:rPr kumimoji="1" lang="en-US" altLang="ja-JP" sz="900">
                          <a:latin typeface="+mn-lt"/>
                        </a:rPr>
                        <a:t>’28</a:t>
                      </a:r>
                      <a:endParaRPr kumimoji="1" lang="ja-JP" altLang="en-US" sz="900">
                        <a:latin typeface="+mn-lt"/>
                      </a:endParaRPr>
                    </a:p>
                  </a:txBody>
                  <a:tcPr marL="16615" marR="16615" marT="9969" marB="9969">
                    <a:solidFill>
                      <a:schemeClr val="bg1">
                        <a:lumMod val="65000"/>
                      </a:schemeClr>
                    </a:solidFill>
                  </a:tcPr>
                </a:tc>
                <a:extLst>
                  <a:ext uri="{0D108BD9-81ED-4DB2-BD59-A6C34878D82A}">
                    <a16:rowId xmlns:a16="http://schemas.microsoft.com/office/drawing/2014/main" val="1253047272"/>
                  </a:ext>
                </a:extLst>
              </a:tr>
              <a:tr h="81629">
                <a:tc>
                  <a:txBody>
                    <a:bodyPr/>
                    <a:lstStyle/>
                    <a:p>
                      <a:pPr algn="ctr"/>
                      <a:r>
                        <a:rPr kumimoji="1" lang="ja-JP" altLang="en-US" sz="900">
                          <a:latin typeface="+mn-lt"/>
                        </a:rPr>
                        <a:t> </a:t>
                      </a:r>
                      <a:r>
                        <a:rPr kumimoji="1" lang="en-US" altLang="ja-JP" sz="900">
                          <a:latin typeface="+mn-lt"/>
                        </a:rPr>
                        <a:t>[</a:t>
                      </a:r>
                      <a:r>
                        <a:rPr kumimoji="1" lang="ja-JP" altLang="en-US" sz="900">
                          <a:latin typeface="+mn-lt"/>
                        </a:rPr>
                        <a:t>億円</a:t>
                      </a:r>
                      <a:r>
                        <a:rPr kumimoji="1" lang="en-US" altLang="ja-JP" sz="900">
                          <a:latin typeface="+mn-lt"/>
                        </a:rPr>
                        <a:t>]</a:t>
                      </a:r>
                      <a:endParaRPr kumimoji="1" lang="ja-JP" altLang="en-US" sz="900">
                        <a:latin typeface="+mn-lt"/>
                      </a:endParaRPr>
                    </a:p>
                  </a:txBody>
                  <a:tcPr marL="16615" marR="16615" marT="9969" marB="9969">
                    <a:solidFill>
                      <a:schemeClr val="bg1">
                        <a:lumMod val="85000"/>
                      </a:schemeClr>
                    </a:solidFill>
                  </a:tcPr>
                </a:tc>
                <a:tc>
                  <a:txBody>
                    <a:bodyPr/>
                    <a:lstStyle/>
                    <a:p>
                      <a:pPr algn="ctr"/>
                      <a:r>
                        <a:rPr kumimoji="1" lang="en-US" altLang="ja-JP" sz="900">
                          <a:latin typeface="+mn-lt"/>
                        </a:rPr>
                        <a:t>98</a:t>
                      </a:r>
                      <a:endParaRPr kumimoji="1" lang="ja-JP" altLang="en-US" sz="900">
                        <a:latin typeface="+mn-lt"/>
                      </a:endParaRPr>
                    </a:p>
                  </a:txBody>
                  <a:tcPr marL="16615" marR="16615" marT="9969" marB="9969">
                    <a:solidFill>
                      <a:schemeClr val="bg1">
                        <a:lumMod val="85000"/>
                      </a:schemeClr>
                    </a:solidFill>
                  </a:tcPr>
                </a:tc>
                <a:tc>
                  <a:txBody>
                    <a:bodyPr/>
                    <a:lstStyle/>
                    <a:p>
                      <a:pPr algn="ctr"/>
                      <a:r>
                        <a:rPr kumimoji="1" lang="en-US" altLang="ja-JP" sz="900">
                          <a:latin typeface="+mn-lt"/>
                        </a:rPr>
                        <a:t>107</a:t>
                      </a:r>
                      <a:endParaRPr kumimoji="1" lang="ja-JP" altLang="en-US" sz="900">
                        <a:latin typeface="+mn-lt"/>
                      </a:endParaRPr>
                    </a:p>
                  </a:txBody>
                  <a:tcPr marL="16615" marR="16615" marT="9969" marB="9969">
                    <a:solidFill>
                      <a:schemeClr val="bg1">
                        <a:lumMod val="85000"/>
                      </a:schemeClr>
                    </a:solidFill>
                  </a:tcPr>
                </a:tc>
                <a:tc>
                  <a:txBody>
                    <a:bodyPr/>
                    <a:lstStyle/>
                    <a:p>
                      <a:pPr algn="ctr"/>
                      <a:r>
                        <a:rPr kumimoji="1" lang="en-US" altLang="ja-JP" sz="900">
                          <a:latin typeface="+mn-lt"/>
                        </a:rPr>
                        <a:t>97</a:t>
                      </a:r>
                      <a:endParaRPr kumimoji="1" lang="ja-JP" altLang="en-US" sz="900">
                        <a:latin typeface="+mn-lt"/>
                      </a:endParaRPr>
                    </a:p>
                  </a:txBody>
                  <a:tcPr marL="16615" marR="16615" marT="9969" marB="9969">
                    <a:solidFill>
                      <a:schemeClr val="bg1">
                        <a:lumMod val="85000"/>
                      </a:schemeClr>
                    </a:solidFill>
                  </a:tcPr>
                </a:tc>
                <a:tc>
                  <a:txBody>
                    <a:bodyPr/>
                    <a:lstStyle/>
                    <a:p>
                      <a:pPr algn="ctr"/>
                      <a:r>
                        <a:rPr kumimoji="1" lang="en-US" altLang="ja-JP" sz="900">
                          <a:latin typeface="+mn-lt"/>
                        </a:rPr>
                        <a:t>117</a:t>
                      </a:r>
                      <a:endParaRPr kumimoji="1" lang="ja-JP" altLang="en-US" sz="900">
                        <a:solidFill>
                          <a:srgbClr val="FF0000"/>
                        </a:solidFill>
                        <a:latin typeface="+mn-lt"/>
                      </a:endParaRPr>
                    </a:p>
                  </a:txBody>
                  <a:tcPr marL="16615" marR="16615" marT="9969" marB="9969">
                    <a:solidFill>
                      <a:schemeClr val="bg1">
                        <a:lumMod val="85000"/>
                      </a:schemeClr>
                    </a:solidFill>
                  </a:tcPr>
                </a:tc>
                <a:tc>
                  <a:txBody>
                    <a:bodyPr/>
                    <a:lstStyle/>
                    <a:p>
                      <a:pPr algn="ctr"/>
                      <a:r>
                        <a:rPr kumimoji="1" lang="en-US" altLang="ja-JP" sz="900">
                          <a:latin typeface="+mn-lt"/>
                        </a:rPr>
                        <a:t>101</a:t>
                      </a:r>
                      <a:endParaRPr kumimoji="1" lang="ja-JP" altLang="en-US" sz="900">
                        <a:latin typeface="+mn-lt"/>
                      </a:endParaRPr>
                    </a:p>
                  </a:txBody>
                  <a:tcPr marL="16615" marR="16615" marT="9969" marB="9969">
                    <a:solidFill>
                      <a:schemeClr val="bg1">
                        <a:lumMod val="85000"/>
                      </a:schemeClr>
                    </a:solidFill>
                  </a:tcPr>
                </a:tc>
                <a:tc>
                  <a:txBody>
                    <a:bodyPr/>
                    <a:lstStyle/>
                    <a:p>
                      <a:pPr algn="ctr"/>
                      <a:r>
                        <a:rPr kumimoji="1" lang="en-US" altLang="ja-JP" sz="900">
                          <a:latin typeface="+mn-lt"/>
                        </a:rPr>
                        <a:t>124</a:t>
                      </a:r>
                      <a:endParaRPr kumimoji="1" lang="ja-JP" altLang="en-US" sz="900">
                        <a:latin typeface="+mn-lt"/>
                      </a:endParaRPr>
                    </a:p>
                  </a:txBody>
                  <a:tcPr marL="16615" marR="16615" marT="9969" marB="9969">
                    <a:solidFill>
                      <a:schemeClr val="bg1">
                        <a:lumMod val="85000"/>
                      </a:schemeClr>
                    </a:solidFill>
                  </a:tcPr>
                </a:tc>
                <a:extLst>
                  <a:ext uri="{0D108BD9-81ED-4DB2-BD59-A6C34878D82A}">
                    <a16:rowId xmlns:a16="http://schemas.microsoft.com/office/drawing/2014/main" val="2771289183"/>
                  </a:ext>
                </a:extLst>
              </a:tr>
            </a:tbl>
          </a:graphicData>
        </a:graphic>
      </p:graphicFrame>
      <p:sp>
        <p:nvSpPr>
          <p:cNvPr id="73" name="テキスト ボックス 72">
            <a:extLst>
              <a:ext uri="{FF2B5EF4-FFF2-40B4-BE49-F238E27FC236}">
                <a16:creationId xmlns:a16="http://schemas.microsoft.com/office/drawing/2014/main" id="{AAC3EBE3-7C90-40D2-A554-AAE03866C656}"/>
              </a:ext>
            </a:extLst>
          </p:cNvPr>
          <p:cNvSpPr txBox="1"/>
          <p:nvPr/>
        </p:nvSpPr>
        <p:spPr>
          <a:xfrm>
            <a:off x="4117409" y="3285283"/>
            <a:ext cx="550364" cy="2201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31" b="0" i="0" u="none" strike="noStrike" kern="120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eiryo UI" panose="020B0604030504040204" pitchFamily="50" charset="-128"/>
              </a:rPr>
              <a:t>*1 </a:t>
            </a:r>
            <a:endParaRPr kumimoji="1" lang="ja-JP" altLang="en-US" sz="831" b="0" i="0" u="none" strike="noStrike" kern="1200" cap="none" spc="0" normalizeH="0" baseline="0" noProof="0">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3324691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テキスト ボックス 38">
            <a:extLst>
              <a:ext uri="{FF2B5EF4-FFF2-40B4-BE49-F238E27FC236}">
                <a16:creationId xmlns:a16="http://schemas.microsoft.com/office/drawing/2014/main" id="{B9B9BDCB-A25A-485B-B393-979BE38466B5}"/>
              </a:ext>
            </a:extLst>
          </p:cNvPr>
          <p:cNvSpPr txBox="1"/>
          <p:nvPr/>
        </p:nvSpPr>
        <p:spPr>
          <a:xfrm>
            <a:off x="225043" y="127034"/>
            <a:ext cx="7220785" cy="400110"/>
          </a:xfrm>
          <a:prstGeom prst="rect">
            <a:avLst/>
          </a:prstGeom>
          <a:noFill/>
        </p:spPr>
        <p:txBody>
          <a:bodyPr wrap="square" rtlCol="0">
            <a:spAutoFit/>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a:ln>
                  <a:noFill/>
                </a:ln>
                <a:solidFill>
                  <a:prstClr val="black"/>
                </a:solidFill>
                <a:effectLst/>
                <a:uLnTx/>
                <a:uFillTx/>
                <a:latin typeface="Meiryo UI"/>
                <a:ea typeface="Meiryo UI"/>
                <a:cs typeface="+mn-cs"/>
              </a:rPr>
              <a:t>２</a:t>
            </a:r>
            <a:r>
              <a:rPr kumimoji="1" lang="en-US" altLang="ja-JP" sz="2000" b="1" i="0" u="none" strike="noStrike" kern="1200" cap="none" spc="0" normalizeH="0" baseline="0" noProof="0">
                <a:ln>
                  <a:noFill/>
                </a:ln>
                <a:solidFill>
                  <a:prstClr val="black"/>
                </a:solidFill>
                <a:effectLst/>
                <a:uLnTx/>
                <a:uFillTx/>
                <a:latin typeface="Meiryo UI"/>
                <a:ea typeface="Meiryo UI"/>
                <a:cs typeface="+mn-cs"/>
              </a:rPr>
              <a:t>-2</a:t>
            </a:r>
            <a:r>
              <a:rPr kumimoji="1" lang="ja-JP" altLang="en-US" sz="2000" b="1" i="0" u="none" strike="noStrike" kern="1200" cap="none" spc="0" normalizeH="0" baseline="0" noProof="0">
                <a:ln>
                  <a:noFill/>
                </a:ln>
                <a:solidFill>
                  <a:prstClr val="black"/>
                </a:solidFill>
                <a:effectLst/>
                <a:uLnTx/>
                <a:uFillTx/>
                <a:latin typeface="Meiryo UI"/>
                <a:ea typeface="Meiryo UI"/>
                <a:cs typeface="+mn-cs"/>
              </a:rPr>
              <a:t>．取組みの背景：受注方針の見直し</a:t>
            </a:r>
          </a:p>
        </p:txBody>
      </p:sp>
      <p:graphicFrame>
        <p:nvGraphicFramePr>
          <p:cNvPr id="2" name="表 2">
            <a:extLst>
              <a:ext uri="{FF2B5EF4-FFF2-40B4-BE49-F238E27FC236}">
                <a16:creationId xmlns:a16="http://schemas.microsoft.com/office/drawing/2014/main" id="{5A874322-86E9-4AAF-B4FB-29A1CF1ACA9A}"/>
              </a:ext>
            </a:extLst>
          </p:cNvPr>
          <p:cNvGraphicFramePr>
            <a:graphicFrameLocks noGrp="1"/>
          </p:cNvGraphicFramePr>
          <p:nvPr/>
        </p:nvGraphicFramePr>
        <p:xfrm>
          <a:off x="193529" y="1503074"/>
          <a:ext cx="8762064" cy="4480560"/>
        </p:xfrm>
        <a:graphic>
          <a:graphicData uri="http://schemas.openxmlformats.org/drawingml/2006/table">
            <a:tbl>
              <a:tblPr firstRow="1" bandRow="1">
                <a:tableStyleId>{5C22544A-7EE6-4342-B048-85BDC9FD1C3A}</a:tableStyleId>
              </a:tblPr>
              <a:tblGrid>
                <a:gridCol w="770786">
                  <a:extLst>
                    <a:ext uri="{9D8B030D-6E8A-4147-A177-3AD203B41FA5}">
                      <a16:colId xmlns:a16="http://schemas.microsoft.com/office/drawing/2014/main" val="1899927801"/>
                    </a:ext>
                  </a:extLst>
                </a:gridCol>
                <a:gridCol w="954763">
                  <a:extLst>
                    <a:ext uri="{9D8B030D-6E8A-4147-A177-3AD203B41FA5}">
                      <a16:colId xmlns:a16="http://schemas.microsoft.com/office/drawing/2014/main" val="3162763858"/>
                    </a:ext>
                  </a:extLst>
                </a:gridCol>
                <a:gridCol w="1551224">
                  <a:extLst>
                    <a:ext uri="{9D8B030D-6E8A-4147-A177-3AD203B41FA5}">
                      <a16:colId xmlns:a16="http://schemas.microsoft.com/office/drawing/2014/main" val="3216299786"/>
                    </a:ext>
                  </a:extLst>
                </a:gridCol>
                <a:gridCol w="5485291">
                  <a:extLst>
                    <a:ext uri="{9D8B030D-6E8A-4147-A177-3AD203B41FA5}">
                      <a16:colId xmlns:a16="http://schemas.microsoft.com/office/drawing/2014/main" val="67863435"/>
                    </a:ext>
                  </a:extLst>
                </a:gridCol>
              </a:tblGrid>
              <a:tr h="0">
                <a:tc>
                  <a:txBody>
                    <a:bodyPr/>
                    <a:lstStyle/>
                    <a:p>
                      <a:pPr algn="ctr"/>
                      <a:r>
                        <a:rPr kumimoji="1" lang="ja-JP" altLang="en-US" sz="900"/>
                        <a:t>単独</a:t>
                      </a:r>
                      <a:r>
                        <a:rPr kumimoji="1" lang="en-US" altLang="ja-JP" sz="900"/>
                        <a:t>/</a:t>
                      </a:r>
                    </a:p>
                    <a:p>
                      <a:pPr algn="ctr"/>
                      <a:r>
                        <a:rPr kumimoji="1" lang="en-US" altLang="ja-JP" sz="900"/>
                        <a:t>G</a:t>
                      </a:r>
                      <a:r>
                        <a:rPr kumimoji="1" lang="ja-JP" altLang="en-US" sz="900"/>
                        <a:t>会社</a:t>
                      </a:r>
                    </a:p>
                  </a:txBody>
                  <a:tcPr anchor="ctr">
                    <a:lnB w="12700" cap="flat" cmpd="sng" algn="ctr">
                      <a:solidFill>
                        <a:schemeClr val="tx1"/>
                      </a:solidFill>
                      <a:prstDash val="solid"/>
                      <a:round/>
                      <a:headEnd type="none" w="med" len="med"/>
                      <a:tailEnd type="none" w="med" len="med"/>
                    </a:lnB>
                    <a:solidFill>
                      <a:schemeClr val="accent2"/>
                    </a:solidFill>
                  </a:tcPr>
                </a:tc>
                <a:tc>
                  <a:txBody>
                    <a:bodyPr/>
                    <a:lstStyle/>
                    <a:p>
                      <a:pPr algn="ctr"/>
                      <a:r>
                        <a:rPr kumimoji="1" lang="ja-JP" altLang="en-US" sz="1250"/>
                        <a:t>新設</a:t>
                      </a:r>
                      <a:r>
                        <a:rPr kumimoji="1" lang="en-US" altLang="ja-JP" sz="1250"/>
                        <a:t>/AS</a:t>
                      </a:r>
                      <a:endParaRPr kumimoji="1" lang="ja-JP" altLang="en-US" sz="1250"/>
                    </a:p>
                  </a:txBody>
                  <a:tcPr anchor="ctr">
                    <a:lnB w="12700" cap="flat" cmpd="sng" algn="ctr">
                      <a:solidFill>
                        <a:schemeClr val="tx1"/>
                      </a:solidFill>
                      <a:prstDash val="solid"/>
                      <a:round/>
                      <a:headEnd type="none" w="med" len="med"/>
                      <a:tailEnd type="none" w="med" len="med"/>
                    </a:lnB>
                    <a:solidFill>
                      <a:schemeClr val="accent2"/>
                    </a:solidFill>
                  </a:tcPr>
                </a:tc>
                <a:tc>
                  <a:txBody>
                    <a:bodyPr/>
                    <a:lstStyle/>
                    <a:p>
                      <a:pPr algn="ctr"/>
                      <a:r>
                        <a:rPr kumimoji="1" lang="ja-JP" altLang="en-US" sz="1250"/>
                        <a:t>製品セグメント</a:t>
                      </a:r>
                    </a:p>
                  </a:txBody>
                  <a:tcPr anchor="ctr">
                    <a:lnB w="12700" cap="flat" cmpd="sng" algn="ctr">
                      <a:solidFill>
                        <a:schemeClr val="tx1"/>
                      </a:solidFill>
                      <a:prstDash val="solid"/>
                      <a:round/>
                      <a:headEnd type="none" w="med" len="med"/>
                      <a:tailEnd type="none" w="med" len="med"/>
                    </a:lnB>
                    <a:solidFill>
                      <a:schemeClr val="accent2"/>
                    </a:solidFill>
                  </a:tcPr>
                </a:tc>
                <a:tc>
                  <a:txBody>
                    <a:bodyPr/>
                    <a:lstStyle/>
                    <a:p>
                      <a:pPr algn="ctr"/>
                      <a:r>
                        <a:rPr kumimoji="1" lang="en-US" altLang="ja-JP" sz="1250"/>
                        <a:t>FY23</a:t>
                      </a:r>
                      <a:r>
                        <a:rPr kumimoji="1" lang="ja-JP" altLang="en-US" sz="1250"/>
                        <a:t>以降の対応方針</a:t>
                      </a:r>
                    </a:p>
                  </a:txBody>
                  <a:tcPr anchor="ctr">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182749335"/>
                  </a:ext>
                </a:extLst>
              </a:tr>
              <a:tr h="0">
                <a:tc rowSpan="13">
                  <a:txBody>
                    <a:bodyPr/>
                    <a:lstStyle/>
                    <a:p>
                      <a:pPr algn="ctr"/>
                      <a:r>
                        <a:rPr kumimoji="1" lang="ja-JP" altLang="en-US" sz="1200"/>
                        <a:t>単独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pPr algn="ctr"/>
                      <a:r>
                        <a:rPr kumimoji="1" lang="ja-JP" altLang="en-US" sz="1200"/>
                        <a:t>新設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国内石炭焚き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a:t>既受注案件のみ対応（</a:t>
                      </a:r>
                      <a:r>
                        <a:rPr kumimoji="1" lang="en-US" altLang="ja-JP" sz="1200"/>
                        <a:t>JERA</a:t>
                      </a:r>
                      <a:r>
                        <a:rPr kumimoji="1" lang="ja-JP" altLang="en-US" sz="1200"/>
                        <a:t>横須賀以降案件なし）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835245"/>
                  </a:ext>
                </a:extLst>
              </a:tr>
              <a:tr h="0">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1200"/>
                        <a:t>海外石炭焚き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200"/>
                        <a:t>EPC</a:t>
                      </a:r>
                      <a:r>
                        <a:rPr kumimoji="1" lang="ja-JP" altLang="en-US" sz="1200"/>
                        <a:t>／ボイラ単体案件とも対応しない（マシンロック以降案件なし）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8225665"/>
                  </a:ext>
                </a:extLst>
              </a:tr>
              <a:tr h="0">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en-US" altLang="ja-JP" sz="1200"/>
                        <a:t>IGCC</a:t>
                      </a:r>
                      <a:r>
                        <a:rPr kumimoji="1" lang="ja-JP" altLang="en-US" sz="1200"/>
                        <a:t>（</a:t>
                      </a:r>
                      <a:r>
                        <a:rPr kumimoji="1" lang="en-US" altLang="ja-JP" sz="1200"/>
                        <a:t>※</a:t>
                      </a:r>
                      <a:r>
                        <a:rPr kumimoji="1" lang="ja-JP" altLang="en-US" sz="12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a:t>福島復興</a:t>
                      </a:r>
                      <a:r>
                        <a:rPr kumimoji="1" lang="en-US" altLang="ja-JP" sz="1200"/>
                        <a:t>PJ</a:t>
                      </a:r>
                      <a:r>
                        <a:rPr kumimoji="1" lang="ja-JP" altLang="en-US" sz="1200"/>
                        <a:t>の技術課題解決、信頼性向上対策完遂に注力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4517348"/>
                  </a:ext>
                </a:extLst>
              </a:tr>
              <a:tr h="0">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200"/>
                        <a:t>バイオマス</a:t>
                      </a:r>
                      <a:r>
                        <a:rPr kumimoji="1" lang="en-US" altLang="ja-JP" sz="1200"/>
                        <a:t>CFB</a:t>
                      </a:r>
                      <a:endParaRPr kumimoji="1" lang="ja-JP" alt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200"/>
                        <a:t>　　　　 既受注</a:t>
                      </a:r>
                      <a:r>
                        <a:rPr kumimoji="1" lang="en-US" altLang="ja-JP" sz="1200"/>
                        <a:t>6</a:t>
                      </a:r>
                      <a:r>
                        <a:rPr kumimoji="1" lang="ja-JP" altLang="en-US" sz="1200"/>
                        <a:t>案件のみ対応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952576155"/>
                  </a:ext>
                </a:extLst>
              </a:tr>
              <a:tr h="0">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1200"/>
                        <a:t>蒸気タービン単体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200"/>
                        <a:t>　　　　 原則新設引合対応中止、リピート案件など高収益案件のみ対応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51491931"/>
                  </a:ext>
                </a:extLst>
              </a:tr>
              <a:tr h="0">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1200"/>
                        <a:t>地熱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200"/>
                        <a:t>　　　　 既受注案件のみ対応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621325668"/>
                  </a:ext>
                </a:extLst>
              </a:tr>
              <a:tr h="0">
                <a:tc vMerge="1">
                  <a:txBody>
                    <a:bodyPr/>
                    <a:lstStyle/>
                    <a:p>
                      <a:endParaRPr kumimoji="1" lang="ja-JP" altLang="en-US"/>
                    </a:p>
                  </a:txBody>
                  <a:tcPr/>
                </a:tc>
                <a:tc rowSpan="5">
                  <a:txBody>
                    <a:bodyPr/>
                    <a:lstStyle/>
                    <a:p>
                      <a:pPr algn="ctr"/>
                      <a:r>
                        <a:rPr kumimoji="1" lang="en-US" altLang="ja-JP" sz="1200"/>
                        <a:t>AS</a:t>
                      </a:r>
                      <a:endParaRPr kumimoji="1"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国内事業用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a:t>定検、保修等信頼性・効率維持、脱炭素対応、運用性向上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430830"/>
                  </a:ext>
                </a:extLst>
              </a:tr>
              <a:tr h="0">
                <a:tc vMerge="1">
                  <a:txBody>
                    <a:bodyPr/>
                    <a:lstStyle/>
                    <a:p>
                      <a:endParaRPr kumimoji="1" lang="ja-JP" altLang="en-US"/>
                    </a:p>
                  </a:txBody>
                  <a:tcPr/>
                </a:tc>
                <a:tc vMerge="1">
                  <a:txBody>
                    <a:bodyPr/>
                    <a:lstStyle/>
                    <a:p>
                      <a:pPr algn="ctr"/>
                      <a:endParaRPr kumimoji="1" lang="ja-JP" altLang="en-US"/>
                    </a:p>
                  </a:txBody>
                  <a:tcPr anchor="ctr"/>
                </a:tc>
                <a:tc>
                  <a:txBody>
                    <a:bodyPr/>
                    <a:lstStyle/>
                    <a:p>
                      <a:r>
                        <a:rPr kumimoji="1" lang="ja-JP" altLang="en-US" sz="1200"/>
                        <a:t>国内産業用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a:t>信頼性・効率維持、脱炭素対応、運用性向上、</a:t>
                      </a:r>
                      <a:r>
                        <a:rPr kumimoji="1" lang="en-US" altLang="ja-JP" sz="1200"/>
                        <a:t>GT</a:t>
                      </a:r>
                      <a:r>
                        <a:rPr kumimoji="1" lang="ja-JP" altLang="en-US" sz="1200"/>
                        <a:t>コジェネ化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2530972"/>
                  </a:ext>
                </a:extLst>
              </a:tr>
              <a:tr h="0">
                <a:tc vMerge="1">
                  <a:txBody>
                    <a:bodyPr/>
                    <a:lstStyle/>
                    <a:p>
                      <a:endParaRPr kumimoji="1" lang="ja-JP" altLang="en-US"/>
                    </a:p>
                  </a:txBody>
                  <a:tcPr/>
                </a:tc>
                <a:tc vMerge="1">
                  <a:txBody>
                    <a:bodyPr/>
                    <a:lstStyle/>
                    <a:p>
                      <a:pPr algn="ctr"/>
                      <a:endParaRPr kumimoji="1" lang="ja-JP" altLang="en-US"/>
                    </a:p>
                  </a:txBody>
                  <a:tcPr anchor="ctr"/>
                </a:tc>
                <a:tc>
                  <a:txBody>
                    <a:bodyPr/>
                    <a:lstStyle/>
                    <a:p>
                      <a:r>
                        <a:rPr kumimoji="1" lang="ja-JP" altLang="en-US" sz="1200"/>
                        <a:t>海外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200"/>
                        <a:t>アジア（特にインドネシア）と中東（特にサウジとクウェート）に注力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9079967"/>
                  </a:ext>
                </a:extLst>
              </a:tr>
              <a:tr h="0">
                <a:tc vMerge="1">
                  <a:txBody>
                    <a:bodyPr/>
                    <a:lstStyle/>
                    <a:p>
                      <a:endParaRPr kumimoji="1" lang="ja-JP" altLang="en-US"/>
                    </a:p>
                  </a:txBody>
                  <a:tcPr/>
                </a:tc>
                <a:tc vMerge="1">
                  <a:txBody>
                    <a:bodyPr/>
                    <a:lstStyle/>
                    <a:p>
                      <a:endParaRPr kumimoji="1" lang="ja-JP" altLang="en-US"/>
                    </a:p>
                  </a:txBody>
                  <a:tcPr/>
                </a:tc>
                <a:tc>
                  <a:txBody>
                    <a:bodyPr/>
                    <a:lstStyle/>
                    <a:p>
                      <a:r>
                        <a:rPr kumimoji="1" lang="ja-JP" altLang="en-US" sz="1200"/>
                        <a:t>地熱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200"/>
                        <a:t>AS</a:t>
                      </a:r>
                      <a:r>
                        <a:rPr kumimoji="1" lang="ja-JP" altLang="en-US" sz="1200"/>
                        <a:t>継続対応、収益力向上に注力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575186"/>
                  </a:ext>
                </a:extLst>
              </a:tr>
              <a:tr h="187960">
                <a:tc vMerge="1">
                  <a:txBody>
                    <a:bodyPr/>
                    <a:lstStyle/>
                    <a:p>
                      <a:endParaRPr kumimoji="1" lang="ja-JP" altLang="en-US"/>
                    </a:p>
                  </a:txBody>
                  <a:tcPr/>
                </a:tc>
                <a:tc vMerge="1">
                  <a:txBody>
                    <a:bodyPr/>
                    <a:lstStyle/>
                    <a:p>
                      <a:pPr algn="ctr"/>
                      <a:endParaRPr kumimoji="1" lang="ja-JP"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原子力補助ボイラ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kumimoji="1" lang="ja-JP" altLang="en-US" sz="1200"/>
                        <a:t>　　　　 商流・</a:t>
                      </a:r>
                      <a:r>
                        <a:rPr kumimoji="1" lang="en-US" altLang="ja-JP" sz="1200"/>
                        <a:t>QMS</a:t>
                      </a:r>
                      <a:r>
                        <a:rPr kumimoji="1" lang="ja-JP" altLang="en-US" sz="1200"/>
                        <a:t>体制の最適化（呉</a:t>
                      </a:r>
                      <a:r>
                        <a:rPr kumimoji="1" lang="en-US" altLang="ja-JP" sz="1200"/>
                        <a:t>/</a:t>
                      </a:r>
                      <a:r>
                        <a:rPr kumimoji="1" lang="ja-JP" altLang="en-US" sz="1200"/>
                        <a:t>長崎とも部品供給のみとする）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619844220"/>
                  </a:ext>
                </a:extLst>
              </a:tr>
              <a:tr h="0">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rowSpan="2">
                  <a:txBody>
                    <a:bodyPr/>
                    <a:lstStyle/>
                    <a:p>
                      <a:pPr algn="ctr"/>
                      <a:r>
                        <a:rPr kumimoji="1" lang="ja-JP" altLang="en-US" sz="1200"/>
                        <a:t>その他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原子力二次系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kumimoji="1" lang="ja-JP" altLang="en-US" sz="1200"/>
                        <a:t>　　　　 </a:t>
                      </a:r>
                      <a:r>
                        <a:rPr kumimoji="1" lang="en-US" altLang="ja-JP" sz="1200"/>
                        <a:t>GTCC</a:t>
                      </a:r>
                      <a:r>
                        <a:rPr kumimoji="1" lang="ja-JP" altLang="en-US" sz="1200"/>
                        <a:t>事業部へ移管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81654016"/>
                  </a:ext>
                </a:extLst>
              </a:tr>
              <a:tr h="0">
                <a:tc vMerge="1">
                  <a:txBody>
                    <a:bodyPr/>
                    <a:lstStyle/>
                    <a:p>
                      <a:endParaRPr kumimoji="1" lang="ja-JP" altLang="en-US"/>
                    </a:p>
                  </a:txBody>
                  <a:tcPr/>
                </a:tc>
                <a:tc vMerge="1">
                  <a:txBody>
                    <a:bodyPr/>
                    <a:lstStyle/>
                    <a:p>
                      <a:pPr algn="ctr"/>
                      <a:endParaRPr kumimoji="1" lang="ja-JP" altLang="en-US"/>
                    </a:p>
                  </a:txBody>
                  <a:tcPr anchor="ctr"/>
                </a:tc>
                <a:tc>
                  <a:txBody>
                    <a:bodyPr/>
                    <a:lstStyle/>
                    <a:p>
                      <a:r>
                        <a:rPr kumimoji="1" lang="ja-JP" altLang="en-US" sz="1200"/>
                        <a:t>水力委託製造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kumimoji="1" lang="ja-JP" altLang="en-US" sz="1200"/>
                        <a:t>　　　　 </a:t>
                      </a:r>
                      <a:r>
                        <a:rPr kumimoji="1" lang="en-US" altLang="ja-JP" sz="1200"/>
                        <a:t>HM</a:t>
                      </a:r>
                      <a:r>
                        <a:rPr kumimoji="1" lang="ja-JP" altLang="en-US" sz="1200"/>
                        <a:t>水力へ移管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44706278"/>
                  </a:ext>
                </a:extLst>
              </a:tr>
              <a:tr h="0">
                <a:tc rowSpan="2">
                  <a:txBody>
                    <a:bodyPr/>
                    <a:lstStyle/>
                    <a:p>
                      <a:pPr algn="ctr"/>
                      <a:r>
                        <a:rPr kumimoji="1" lang="en-US" altLang="ja-JP" sz="1200"/>
                        <a:t>G</a:t>
                      </a:r>
                      <a:r>
                        <a:rPr kumimoji="1" lang="ja-JP" altLang="en-US" sz="1200"/>
                        <a:t>会社</a:t>
                      </a:r>
                      <a:endParaRPr kumimoji="1" lang="en-US" altLang="ja-JP" sz="1200"/>
                    </a:p>
                    <a:p>
                      <a:pPr algn="ctr"/>
                      <a:r>
                        <a:rPr kumimoji="1" lang="ja-JP" altLang="en-US" sz="1200"/>
                        <a:t>（</a:t>
                      </a:r>
                      <a:r>
                        <a:rPr kumimoji="1" lang="en-US" altLang="ja-JP" sz="1200"/>
                        <a:t>IDS</a:t>
                      </a:r>
                      <a:r>
                        <a:rPr kumimoji="1" lang="ja-JP" altLang="en-US" sz="1200"/>
                        <a:t>）</a:t>
                      </a:r>
                      <a:endParaRPr kumimoji="1" lang="en-US" altLang="ja-JP"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kumimoji="1" lang="ja-JP" altLang="en-US" sz="1200"/>
                        <a:t>新設</a:t>
                      </a:r>
                      <a:r>
                        <a:rPr kumimoji="1" lang="en-US" altLang="ja-JP" sz="1200"/>
                        <a:t>/AS</a:t>
                      </a:r>
                      <a:endParaRPr kumimoji="1"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solidFill>
                            <a:schemeClr val="tx1"/>
                          </a:solidFill>
                        </a:rPr>
                        <a:t>産業用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b="0">
                          <a:solidFill>
                            <a:schemeClr val="tx1"/>
                          </a:solidFill>
                        </a:rPr>
                        <a:t>ニーズの</a:t>
                      </a:r>
                      <a:r>
                        <a:rPr kumimoji="1" lang="ja-JP" altLang="en-US" sz="1200">
                          <a:solidFill>
                            <a:schemeClr val="tx1"/>
                          </a:solidFill>
                        </a:rPr>
                        <a:t>ある</a:t>
                      </a:r>
                      <a:r>
                        <a:rPr kumimoji="1" lang="en-US" altLang="ja-JP" sz="1200">
                          <a:solidFill>
                            <a:schemeClr val="tx1"/>
                          </a:solidFill>
                        </a:rPr>
                        <a:t>FIT</a:t>
                      </a:r>
                      <a:r>
                        <a:rPr kumimoji="1" lang="ja-JP" altLang="en-US" sz="1200">
                          <a:solidFill>
                            <a:schemeClr val="tx1"/>
                          </a:solidFill>
                        </a:rPr>
                        <a:t>等のバイオ（小型</a:t>
                      </a:r>
                      <a:r>
                        <a:rPr kumimoji="1" lang="en-US" altLang="ja-JP" sz="1200">
                          <a:solidFill>
                            <a:schemeClr val="tx1"/>
                          </a:solidFill>
                        </a:rPr>
                        <a:t>2MW</a:t>
                      </a:r>
                      <a:r>
                        <a:rPr kumimoji="1" lang="ja-JP" altLang="en-US" sz="1200">
                          <a:solidFill>
                            <a:schemeClr val="tx1"/>
                          </a:solidFill>
                        </a:rPr>
                        <a:t>）及び産業用エネバラ関連新設は対応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121845"/>
                  </a:ext>
                </a:extLst>
              </a:tr>
              <a:tr h="0">
                <a:tc vMerge="1">
                  <a:txBody>
                    <a:bodyPr/>
                    <a:lstStyle/>
                    <a:p>
                      <a:pPr algn="ctr"/>
                      <a:endParaRPr kumimoji="1" lang="ja-JP" alt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地熱</a:t>
                      </a:r>
                      <a:endParaRPr kumimoji="1" lang="ja-JP" alt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200"/>
                        <a:t>新設</a:t>
                      </a:r>
                      <a:r>
                        <a:rPr kumimoji="1" lang="en-US" altLang="ja-JP" sz="1200"/>
                        <a:t>/AS</a:t>
                      </a:r>
                      <a:r>
                        <a:rPr kumimoji="1" lang="ja-JP" altLang="en-US" sz="1200"/>
                        <a:t>とも継続対応（主に</a:t>
                      </a:r>
                      <a:r>
                        <a:rPr kumimoji="1" lang="en-US" altLang="ja-JP" sz="1200"/>
                        <a:t>10MW</a:t>
                      </a:r>
                      <a:r>
                        <a:rPr kumimoji="1" lang="ja-JP" altLang="en-US" sz="1200"/>
                        <a:t>以下）、設計標準化等による競争力強化に注力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160464"/>
                  </a:ext>
                </a:extLst>
              </a:tr>
            </a:tbl>
          </a:graphicData>
        </a:graphic>
      </p:graphicFrame>
      <p:grpSp>
        <p:nvGrpSpPr>
          <p:cNvPr id="34" name="グループ化 33">
            <a:extLst>
              <a:ext uri="{FF2B5EF4-FFF2-40B4-BE49-F238E27FC236}">
                <a16:creationId xmlns:a16="http://schemas.microsoft.com/office/drawing/2014/main" id="{F88F36AC-8C7A-4CE7-8E6E-7F3A684F4491}"/>
              </a:ext>
            </a:extLst>
          </p:cNvPr>
          <p:cNvGrpSpPr/>
          <p:nvPr/>
        </p:nvGrpSpPr>
        <p:grpSpPr>
          <a:xfrm>
            <a:off x="3409152" y="2705535"/>
            <a:ext cx="648500" cy="276999"/>
            <a:chOff x="3409152" y="2925824"/>
            <a:chExt cx="648500" cy="276999"/>
          </a:xfrm>
        </p:grpSpPr>
        <p:sp>
          <p:nvSpPr>
            <p:cNvPr id="3" name="テキスト ボックス 2">
              <a:extLst>
                <a:ext uri="{FF2B5EF4-FFF2-40B4-BE49-F238E27FC236}">
                  <a16:creationId xmlns:a16="http://schemas.microsoft.com/office/drawing/2014/main" id="{D8BF8628-F542-4A37-92E7-CAE6151AFF13}"/>
                </a:ext>
              </a:extLst>
            </p:cNvPr>
            <p:cNvSpPr txBox="1"/>
            <p:nvPr/>
          </p:nvSpPr>
          <p:spPr>
            <a:xfrm>
              <a:off x="3409152" y="2925824"/>
              <a:ext cx="64850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0000"/>
                  </a:solidFill>
                  <a:effectLst/>
                  <a:uLnTx/>
                  <a:uFillTx/>
                  <a:latin typeface="Meiryo UI"/>
                  <a:ea typeface="Meiryo UI"/>
                  <a:cs typeface="+mn-cs"/>
                </a:rPr>
                <a:t>見直し</a:t>
              </a:r>
            </a:p>
          </p:txBody>
        </p:sp>
        <p:sp>
          <p:nvSpPr>
            <p:cNvPr id="4" name="正方形/長方形 3">
              <a:extLst>
                <a:ext uri="{FF2B5EF4-FFF2-40B4-BE49-F238E27FC236}">
                  <a16:creationId xmlns:a16="http://schemas.microsoft.com/office/drawing/2014/main" id="{057607D7-41BF-4FFA-A15C-C3C3A2135232}"/>
                </a:ext>
              </a:extLst>
            </p:cNvPr>
            <p:cNvSpPr/>
            <p:nvPr/>
          </p:nvSpPr>
          <p:spPr>
            <a:xfrm>
              <a:off x="3518810" y="2958895"/>
              <a:ext cx="432707" cy="1982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35" name="グループ化 34">
            <a:extLst>
              <a:ext uri="{FF2B5EF4-FFF2-40B4-BE49-F238E27FC236}">
                <a16:creationId xmlns:a16="http://schemas.microsoft.com/office/drawing/2014/main" id="{4552A91F-20D0-42D2-AC77-F84C920AD0EF}"/>
              </a:ext>
            </a:extLst>
          </p:cNvPr>
          <p:cNvGrpSpPr/>
          <p:nvPr/>
        </p:nvGrpSpPr>
        <p:grpSpPr>
          <a:xfrm>
            <a:off x="3409152" y="2977499"/>
            <a:ext cx="648500" cy="276999"/>
            <a:chOff x="3409152" y="3231040"/>
            <a:chExt cx="648500" cy="276999"/>
          </a:xfrm>
        </p:grpSpPr>
        <p:sp>
          <p:nvSpPr>
            <p:cNvPr id="12" name="テキスト ボックス 11">
              <a:extLst>
                <a:ext uri="{FF2B5EF4-FFF2-40B4-BE49-F238E27FC236}">
                  <a16:creationId xmlns:a16="http://schemas.microsoft.com/office/drawing/2014/main" id="{CECF6DB9-E027-4D50-9D45-7B7C3C1E0F7A}"/>
                </a:ext>
              </a:extLst>
            </p:cNvPr>
            <p:cNvSpPr txBox="1"/>
            <p:nvPr/>
          </p:nvSpPr>
          <p:spPr>
            <a:xfrm>
              <a:off x="3409152" y="3231040"/>
              <a:ext cx="64850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0000"/>
                  </a:solidFill>
                  <a:effectLst/>
                  <a:uLnTx/>
                  <a:uFillTx/>
                  <a:latin typeface="Meiryo UI"/>
                  <a:ea typeface="Meiryo UI"/>
                  <a:cs typeface="+mn-cs"/>
                </a:rPr>
                <a:t>見直し</a:t>
              </a:r>
            </a:p>
          </p:txBody>
        </p:sp>
        <p:sp>
          <p:nvSpPr>
            <p:cNvPr id="13" name="正方形/長方形 12">
              <a:extLst>
                <a:ext uri="{FF2B5EF4-FFF2-40B4-BE49-F238E27FC236}">
                  <a16:creationId xmlns:a16="http://schemas.microsoft.com/office/drawing/2014/main" id="{F36239E7-0101-4859-8EC1-671056D0886F}"/>
                </a:ext>
              </a:extLst>
            </p:cNvPr>
            <p:cNvSpPr/>
            <p:nvPr/>
          </p:nvSpPr>
          <p:spPr>
            <a:xfrm>
              <a:off x="3518810" y="3264111"/>
              <a:ext cx="432707" cy="1982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36" name="グループ化 35">
            <a:extLst>
              <a:ext uri="{FF2B5EF4-FFF2-40B4-BE49-F238E27FC236}">
                <a16:creationId xmlns:a16="http://schemas.microsoft.com/office/drawing/2014/main" id="{FFF2344D-86B9-4C3B-926B-A0284BC41AEC}"/>
              </a:ext>
            </a:extLst>
          </p:cNvPr>
          <p:cNvGrpSpPr/>
          <p:nvPr/>
        </p:nvGrpSpPr>
        <p:grpSpPr>
          <a:xfrm>
            <a:off x="3409152" y="3238575"/>
            <a:ext cx="648500" cy="276999"/>
            <a:chOff x="3409152" y="3525367"/>
            <a:chExt cx="648500" cy="276999"/>
          </a:xfrm>
        </p:grpSpPr>
        <p:sp>
          <p:nvSpPr>
            <p:cNvPr id="15" name="テキスト ボックス 14">
              <a:extLst>
                <a:ext uri="{FF2B5EF4-FFF2-40B4-BE49-F238E27FC236}">
                  <a16:creationId xmlns:a16="http://schemas.microsoft.com/office/drawing/2014/main" id="{5C9E01B9-099C-4384-8DCF-D44AC59D768A}"/>
                </a:ext>
              </a:extLst>
            </p:cNvPr>
            <p:cNvSpPr txBox="1"/>
            <p:nvPr/>
          </p:nvSpPr>
          <p:spPr>
            <a:xfrm>
              <a:off x="3409152" y="3525367"/>
              <a:ext cx="64850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0000"/>
                  </a:solidFill>
                  <a:effectLst/>
                  <a:uLnTx/>
                  <a:uFillTx/>
                  <a:latin typeface="Meiryo UI"/>
                  <a:ea typeface="Meiryo UI"/>
                  <a:cs typeface="+mn-cs"/>
                </a:rPr>
                <a:t>見直し</a:t>
              </a:r>
            </a:p>
          </p:txBody>
        </p:sp>
        <p:sp>
          <p:nvSpPr>
            <p:cNvPr id="16" name="正方形/長方形 15">
              <a:extLst>
                <a:ext uri="{FF2B5EF4-FFF2-40B4-BE49-F238E27FC236}">
                  <a16:creationId xmlns:a16="http://schemas.microsoft.com/office/drawing/2014/main" id="{6776343D-A93C-493A-8113-911BB0E27664}"/>
                </a:ext>
              </a:extLst>
            </p:cNvPr>
            <p:cNvSpPr/>
            <p:nvPr/>
          </p:nvSpPr>
          <p:spPr>
            <a:xfrm>
              <a:off x="3518810" y="3566602"/>
              <a:ext cx="432707" cy="1982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37" name="グループ化 36">
            <a:extLst>
              <a:ext uri="{FF2B5EF4-FFF2-40B4-BE49-F238E27FC236}">
                <a16:creationId xmlns:a16="http://schemas.microsoft.com/office/drawing/2014/main" id="{015352EA-675D-47D0-A07C-158D5B4D341D}"/>
              </a:ext>
            </a:extLst>
          </p:cNvPr>
          <p:cNvGrpSpPr/>
          <p:nvPr/>
        </p:nvGrpSpPr>
        <p:grpSpPr>
          <a:xfrm>
            <a:off x="3409152" y="4897662"/>
            <a:ext cx="648500" cy="276999"/>
            <a:chOff x="3409152" y="5068076"/>
            <a:chExt cx="648500" cy="276999"/>
          </a:xfrm>
        </p:grpSpPr>
        <p:sp>
          <p:nvSpPr>
            <p:cNvPr id="18" name="テキスト ボックス 17">
              <a:extLst>
                <a:ext uri="{FF2B5EF4-FFF2-40B4-BE49-F238E27FC236}">
                  <a16:creationId xmlns:a16="http://schemas.microsoft.com/office/drawing/2014/main" id="{40278CBF-858C-4E63-83E6-697FF611E5F7}"/>
                </a:ext>
              </a:extLst>
            </p:cNvPr>
            <p:cNvSpPr txBox="1"/>
            <p:nvPr/>
          </p:nvSpPr>
          <p:spPr>
            <a:xfrm>
              <a:off x="3409152" y="5068076"/>
              <a:ext cx="64850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0000"/>
                  </a:solidFill>
                  <a:effectLst/>
                  <a:uLnTx/>
                  <a:uFillTx/>
                  <a:latin typeface="Meiryo UI"/>
                  <a:ea typeface="Meiryo UI"/>
                  <a:cs typeface="+mn-cs"/>
                </a:rPr>
                <a:t>見直し</a:t>
              </a:r>
            </a:p>
          </p:txBody>
        </p:sp>
        <p:sp>
          <p:nvSpPr>
            <p:cNvPr id="19" name="正方形/長方形 18">
              <a:extLst>
                <a:ext uri="{FF2B5EF4-FFF2-40B4-BE49-F238E27FC236}">
                  <a16:creationId xmlns:a16="http://schemas.microsoft.com/office/drawing/2014/main" id="{FD4FCBBC-8A31-4B65-82BB-0E4C8FE48934}"/>
                </a:ext>
              </a:extLst>
            </p:cNvPr>
            <p:cNvSpPr/>
            <p:nvPr/>
          </p:nvSpPr>
          <p:spPr>
            <a:xfrm>
              <a:off x="3518810" y="5101147"/>
              <a:ext cx="432707" cy="1982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38" name="グループ化 37">
            <a:extLst>
              <a:ext uri="{FF2B5EF4-FFF2-40B4-BE49-F238E27FC236}">
                <a16:creationId xmlns:a16="http://schemas.microsoft.com/office/drawing/2014/main" id="{CF28E0C3-1059-4B26-B541-1A639EA119A0}"/>
              </a:ext>
            </a:extLst>
          </p:cNvPr>
          <p:cNvGrpSpPr/>
          <p:nvPr/>
        </p:nvGrpSpPr>
        <p:grpSpPr>
          <a:xfrm>
            <a:off x="3409152" y="5172390"/>
            <a:ext cx="648500" cy="276999"/>
            <a:chOff x="3409152" y="5367741"/>
            <a:chExt cx="648500" cy="276999"/>
          </a:xfrm>
        </p:grpSpPr>
        <p:sp>
          <p:nvSpPr>
            <p:cNvPr id="21" name="テキスト ボックス 20">
              <a:extLst>
                <a:ext uri="{FF2B5EF4-FFF2-40B4-BE49-F238E27FC236}">
                  <a16:creationId xmlns:a16="http://schemas.microsoft.com/office/drawing/2014/main" id="{4707ED72-ADA4-4AEF-AB0E-7AD5DF19D434}"/>
                </a:ext>
              </a:extLst>
            </p:cNvPr>
            <p:cNvSpPr txBox="1"/>
            <p:nvPr/>
          </p:nvSpPr>
          <p:spPr>
            <a:xfrm>
              <a:off x="3409152" y="5367741"/>
              <a:ext cx="64850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0000"/>
                  </a:solidFill>
                  <a:effectLst/>
                  <a:uLnTx/>
                  <a:uFillTx/>
                  <a:latin typeface="Meiryo UI"/>
                  <a:ea typeface="Meiryo UI"/>
                  <a:cs typeface="+mn-cs"/>
                </a:rPr>
                <a:t>見直し</a:t>
              </a:r>
            </a:p>
          </p:txBody>
        </p:sp>
        <p:sp>
          <p:nvSpPr>
            <p:cNvPr id="22" name="正方形/長方形 21">
              <a:extLst>
                <a:ext uri="{FF2B5EF4-FFF2-40B4-BE49-F238E27FC236}">
                  <a16:creationId xmlns:a16="http://schemas.microsoft.com/office/drawing/2014/main" id="{44C070E7-17A5-47FC-9A1F-810BC9ED08E6}"/>
                </a:ext>
              </a:extLst>
            </p:cNvPr>
            <p:cNvSpPr/>
            <p:nvPr/>
          </p:nvSpPr>
          <p:spPr>
            <a:xfrm>
              <a:off x="3518810" y="5400812"/>
              <a:ext cx="432707" cy="1982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41" name="グループ化 40">
            <a:extLst>
              <a:ext uri="{FF2B5EF4-FFF2-40B4-BE49-F238E27FC236}">
                <a16:creationId xmlns:a16="http://schemas.microsoft.com/office/drawing/2014/main" id="{BE15557A-68A9-4001-B0AC-5D9DB381C37E}"/>
              </a:ext>
            </a:extLst>
          </p:cNvPr>
          <p:cNvGrpSpPr/>
          <p:nvPr/>
        </p:nvGrpSpPr>
        <p:grpSpPr>
          <a:xfrm>
            <a:off x="3409152" y="4615258"/>
            <a:ext cx="648500" cy="276999"/>
            <a:chOff x="3409152" y="4746433"/>
            <a:chExt cx="648500" cy="276999"/>
          </a:xfrm>
        </p:grpSpPr>
        <p:sp>
          <p:nvSpPr>
            <p:cNvPr id="28" name="テキスト ボックス 27">
              <a:extLst>
                <a:ext uri="{FF2B5EF4-FFF2-40B4-BE49-F238E27FC236}">
                  <a16:creationId xmlns:a16="http://schemas.microsoft.com/office/drawing/2014/main" id="{44EE468D-C1C1-4F43-9D57-7CC6A7EDC149}"/>
                </a:ext>
              </a:extLst>
            </p:cNvPr>
            <p:cNvSpPr txBox="1"/>
            <p:nvPr/>
          </p:nvSpPr>
          <p:spPr>
            <a:xfrm>
              <a:off x="3409152" y="4746433"/>
              <a:ext cx="64850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FF0000"/>
                  </a:solidFill>
                  <a:effectLst/>
                  <a:uLnTx/>
                  <a:uFillTx/>
                  <a:latin typeface="Meiryo UI"/>
                  <a:ea typeface="Meiryo UI"/>
                  <a:cs typeface="+mn-cs"/>
                </a:rPr>
                <a:t>見直し</a:t>
              </a:r>
            </a:p>
          </p:txBody>
        </p:sp>
        <p:sp>
          <p:nvSpPr>
            <p:cNvPr id="29" name="正方形/長方形 28">
              <a:extLst>
                <a:ext uri="{FF2B5EF4-FFF2-40B4-BE49-F238E27FC236}">
                  <a16:creationId xmlns:a16="http://schemas.microsoft.com/office/drawing/2014/main" id="{5B093EC1-C1E7-45BB-AFCF-258F54852550}"/>
                </a:ext>
              </a:extLst>
            </p:cNvPr>
            <p:cNvSpPr/>
            <p:nvPr/>
          </p:nvSpPr>
          <p:spPr>
            <a:xfrm>
              <a:off x="3518810" y="4779504"/>
              <a:ext cx="432707" cy="1982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30" name="正方形/長方形 29">
            <a:extLst>
              <a:ext uri="{FF2B5EF4-FFF2-40B4-BE49-F238E27FC236}">
                <a16:creationId xmlns:a16="http://schemas.microsoft.com/office/drawing/2014/main" id="{8701817C-EF76-45D3-A3AA-1F1F3B9C4577}"/>
              </a:ext>
            </a:extLst>
          </p:cNvPr>
          <p:cNvSpPr/>
          <p:nvPr/>
        </p:nvSpPr>
        <p:spPr>
          <a:xfrm>
            <a:off x="187562" y="592714"/>
            <a:ext cx="8762909" cy="874491"/>
          </a:xfrm>
          <a:prstGeom prst="rect">
            <a:avLst/>
          </a:prstGeom>
          <a:solidFill>
            <a:schemeClr val="accent2">
              <a:lumMod val="40000"/>
              <a:lumOff val="60000"/>
            </a:schemeClr>
          </a:solidFill>
          <a:ln w="12700" cap="flat" cmpd="sng" algn="ctr">
            <a:noFill/>
            <a:prstDash val="solid"/>
            <a:miter lim="800000"/>
          </a:ln>
          <a:effectLst/>
        </p:spPr>
        <p:txBody>
          <a:bodyPr rtlCol="0" anchor="ctr" anchorCtr="0"/>
          <a:lstStyle/>
          <a:p>
            <a:pPr marL="410318" marR="0" lvl="0" indent="-329720" algn="l" defTabSz="844083"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今回の再検討において、</a:t>
            </a:r>
            <a:r>
              <a:rPr kumimoji="1" lang="en-US" altLang="ja-JP" sz="1800" b="0" i="0" u="none" strike="noStrike" kern="1200" cap="none" spc="0" normalizeH="0" baseline="0" noProof="0">
                <a:ln>
                  <a:noFill/>
                </a:ln>
                <a:solidFill>
                  <a:srgbClr val="000000"/>
                </a:solidFill>
                <a:effectLst/>
                <a:uLnTx/>
                <a:uFillTx/>
                <a:latin typeface="Meiryo UI"/>
                <a:ea typeface="Meiryo UI"/>
                <a:cs typeface="+mn-cs"/>
              </a:rPr>
              <a:t>SPMI</a:t>
            </a: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単独の</a:t>
            </a:r>
            <a:r>
              <a:rPr kumimoji="1" lang="ja-JP" altLang="en-US" sz="1800" b="1" i="0" u="none" strike="noStrike" kern="1200" cap="none" spc="0" normalizeH="0" baseline="0" noProof="0">
                <a:ln>
                  <a:noFill/>
                </a:ln>
                <a:solidFill>
                  <a:srgbClr val="000000"/>
                </a:solidFill>
                <a:effectLst/>
                <a:uLnTx/>
                <a:uFillTx/>
                <a:latin typeface="Meiryo UI"/>
                <a:ea typeface="Meiryo UI"/>
                <a:cs typeface="+mn-cs"/>
              </a:rPr>
              <a:t>新設の引合対応中止を前提に受注計画を見直し</a:t>
            </a:r>
          </a:p>
          <a:p>
            <a:pPr marL="410318" marR="0" lvl="0" indent="-329720" algn="l" defTabSz="844083"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さらに、</a:t>
            </a:r>
            <a:r>
              <a:rPr kumimoji="1" lang="en-US" altLang="ja-JP" sz="1800" b="0" i="0" u="none" strike="noStrike" kern="1200" cap="none" spc="0" normalizeH="0" baseline="0" noProof="0">
                <a:ln>
                  <a:noFill/>
                </a:ln>
                <a:solidFill>
                  <a:srgbClr val="000000"/>
                </a:solidFill>
                <a:effectLst/>
                <a:uLnTx/>
                <a:uFillTx/>
                <a:latin typeface="Meiryo UI"/>
                <a:ea typeface="Meiryo UI"/>
                <a:cs typeface="+mn-cs"/>
              </a:rPr>
              <a:t>IDS</a:t>
            </a: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を含め受注計画を精査し、織り込み数値を見直し</a:t>
            </a:r>
            <a:endParaRPr kumimoji="1" lang="en-US" altLang="ja-JP" sz="1800" b="0" i="0" u="none" strike="noStrike" kern="1200" cap="none" spc="0" normalizeH="0" baseline="0" noProof="0">
              <a:ln>
                <a:noFill/>
              </a:ln>
              <a:solidFill>
                <a:srgbClr val="000000"/>
              </a:solidFill>
              <a:effectLst/>
              <a:uLnTx/>
              <a:uFillTx/>
              <a:latin typeface="Meiryo UI"/>
              <a:ea typeface="Meiryo UI"/>
              <a:cs typeface="+mn-cs"/>
            </a:endParaRPr>
          </a:p>
          <a:p>
            <a:pPr marL="410318" marR="0" lvl="0" indent="-329720" algn="l" defTabSz="844083"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なお、将来事業に必要な試験研究（アンモニア・水素製造装置・</a:t>
            </a:r>
            <a:r>
              <a:rPr kumimoji="1" lang="en-US" altLang="ja-JP" sz="1800" b="0" i="0" u="none" strike="noStrike" kern="1200" cap="none" spc="0" normalizeH="0" baseline="0" noProof="0">
                <a:ln>
                  <a:noFill/>
                </a:ln>
                <a:solidFill>
                  <a:srgbClr val="000000"/>
                </a:solidFill>
                <a:effectLst/>
                <a:uLnTx/>
                <a:uFillTx/>
                <a:latin typeface="Meiryo UI"/>
                <a:ea typeface="Meiryo UI"/>
                <a:cs typeface="+mn-cs"/>
              </a:rPr>
              <a:t>SAF</a:t>
            </a: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）は、固締りで継続</a:t>
            </a:r>
            <a:endParaRPr kumimoji="1" lang="en-US" altLang="ja-JP" sz="1800" b="0" i="0" u="none" strike="noStrike" kern="1200" cap="none" spc="0" normalizeH="0" baseline="0" noProof="0">
              <a:ln>
                <a:noFill/>
              </a:ln>
              <a:solidFill>
                <a:srgbClr val="000000"/>
              </a:solidFill>
              <a:effectLst/>
              <a:uLnTx/>
              <a:uFillTx/>
              <a:latin typeface="Meiryo UI"/>
              <a:ea typeface="Meiryo UI"/>
              <a:cs typeface="+mn-cs"/>
            </a:endParaRPr>
          </a:p>
        </p:txBody>
      </p:sp>
      <p:sp>
        <p:nvSpPr>
          <p:cNvPr id="32" name="テキスト プレースホルダー 6">
            <a:extLst>
              <a:ext uri="{FF2B5EF4-FFF2-40B4-BE49-F238E27FC236}">
                <a16:creationId xmlns:a16="http://schemas.microsoft.com/office/drawing/2014/main" id="{6AACBA12-C955-496F-ADCF-28FC8B02194B}"/>
              </a:ext>
            </a:extLst>
          </p:cNvPr>
          <p:cNvSpPr txBox="1">
            <a:spLocks/>
          </p:cNvSpPr>
          <p:nvPr/>
        </p:nvSpPr>
        <p:spPr>
          <a:xfrm>
            <a:off x="-70133" y="5991948"/>
            <a:ext cx="8809083" cy="247728"/>
          </a:xfrm>
          <a:prstGeom prst="rect">
            <a:avLst/>
          </a:prstGeom>
          <a:noFill/>
          <a:ln>
            <a:noFill/>
          </a:ln>
        </p:spPr>
        <p:txBody>
          <a:bodyPr wrap="none" rtlCol="0">
            <a:noAutofit/>
          </a:bodyPr>
          <a:lstStyle>
            <a:defPPr>
              <a:defRPr lang="ja-JP"/>
            </a:defPPr>
            <a:lvl1pPr marL="342900" indent="-342900">
              <a:spcAft>
                <a:spcPts val="1200"/>
              </a:spcAft>
              <a:buClr>
                <a:srgbClr val="82A0AA">
                  <a:lumMod val="75000"/>
                </a:srgbClr>
              </a:buClr>
              <a:buFont typeface="Wingdings" panose="05000000000000000000" pitchFamily="2" charset="2"/>
              <a:buChar char="n"/>
              <a:defRPr sz="2000">
                <a:solidFill>
                  <a:prstClr val="black"/>
                </a:solidFill>
                <a:latin typeface="Meiryo UI" panose="020B0604030504040204" pitchFamily="50" charset="-128"/>
                <a:ea typeface="Meiryo UI" panose="020B0604030504040204" pitchFamily="50" charset="-128"/>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marL="80598" marR="0" lvl="0" indent="0" algn="l" defTabSz="844083" rtl="0" eaLnBrk="1" fontAlgn="auto" latinLnBrk="0" hangingPunct="1">
              <a:lnSpc>
                <a:spcPts val="1500"/>
              </a:lnSpc>
              <a:spcBef>
                <a:spcPts val="0"/>
              </a:spcBef>
              <a:spcAft>
                <a:spcPts val="0"/>
              </a:spcAft>
              <a:buClr>
                <a:srgbClr val="82A0AA"/>
              </a:buClr>
              <a:buSzTx/>
              <a:buFont typeface="Wingdings" panose="05000000000000000000" pitchFamily="2" charset="2"/>
              <a:buNone/>
              <a:tabLst/>
              <a:defRPr/>
            </a:pPr>
            <a:r>
              <a:rPr kumimoji="1" lang="ja-JP" altLang="en-US" sz="1200" b="0" i="0" u="none" strike="noStrike" kern="1200" cap="none" spc="0" normalizeH="0" baseline="0" noProof="0">
                <a:ln>
                  <a:noFill/>
                </a:ln>
                <a:solidFill>
                  <a:srgbClr val="000000"/>
                </a:solidFill>
                <a:effectLst/>
                <a:uLnTx/>
                <a:uFillTx/>
                <a:latin typeface="Meiryo UI"/>
                <a:ea typeface="Meiryo UI"/>
                <a:cs typeface="+mn-cs"/>
              </a:rPr>
              <a:t>（</a:t>
            </a:r>
            <a:r>
              <a:rPr kumimoji="1" lang="en-US" altLang="ja-JP" sz="1200" b="0" i="0" u="none" strike="noStrike" kern="1200" cap="none" spc="0" normalizeH="0" baseline="0" noProof="0">
                <a:ln>
                  <a:noFill/>
                </a:ln>
                <a:solidFill>
                  <a:srgbClr val="000000"/>
                </a:solidFill>
                <a:effectLst/>
                <a:uLnTx/>
                <a:uFillTx/>
                <a:latin typeface="Meiryo UI"/>
                <a:ea typeface="Meiryo UI"/>
                <a:cs typeface="+mn-cs"/>
              </a:rPr>
              <a:t>※</a:t>
            </a:r>
            <a:r>
              <a:rPr kumimoji="1" lang="ja-JP" altLang="en-US" sz="1200" b="0" i="0" u="none" strike="noStrike" kern="1200" cap="none" spc="0" normalizeH="0" baseline="0" noProof="0">
                <a:ln>
                  <a:noFill/>
                </a:ln>
                <a:solidFill>
                  <a:srgbClr val="000000"/>
                </a:solidFill>
                <a:effectLst/>
                <a:uLnTx/>
                <a:uFillTx/>
                <a:latin typeface="Meiryo UI"/>
                <a:ea typeface="Meiryo UI"/>
                <a:cs typeface="+mn-cs"/>
              </a:rPr>
              <a:t>）福島復興</a:t>
            </a:r>
            <a:r>
              <a:rPr kumimoji="1" lang="en-US" altLang="ja-JP" sz="1200" b="0" i="0" u="none" strike="noStrike" kern="1200" cap="none" spc="0" normalizeH="0" baseline="0" noProof="0">
                <a:ln>
                  <a:noFill/>
                </a:ln>
                <a:solidFill>
                  <a:srgbClr val="000000"/>
                </a:solidFill>
                <a:effectLst/>
                <a:uLnTx/>
                <a:uFillTx/>
                <a:latin typeface="Meiryo UI"/>
                <a:ea typeface="Meiryo UI"/>
                <a:cs typeface="+mn-cs"/>
              </a:rPr>
              <a:t>PJ</a:t>
            </a:r>
            <a:r>
              <a:rPr kumimoji="1" lang="ja-JP" altLang="en-US" sz="1200" b="0" i="0" u="none" strike="noStrike" kern="1200" cap="none" spc="0" normalizeH="0" baseline="0" noProof="0">
                <a:ln>
                  <a:noFill/>
                </a:ln>
                <a:solidFill>
                  <a:srgbClr val="000000"/>
                </a:solidFill>
                <a:effectLst/>
                <a:uLnTx/>
                <a:uFillTx/>
                <a:latin typeface="Meiryo UI"/>
                <a:ea typeface="Meiryo UI"/>
                <a:cs typeface="+mn-cs"/>
              </a:rPr>
              <a:t>の信頼性向上対策完了をもって新設対応を中止する</a:t>
            </a:r>
            <a:endParaRPr kumimoji="1" lang="en-US" altLang="ja-JP" sz="1200" b="0" i="0" u="none" strike="noStrike" kern="1200" cap="none" spc="0" normalizeH="0" baseline="0" noProof="0">
              <a:ln>
                <a:noFill/>
              </a:ln>
              <a:solidFill>
                <a:srgbClr val="000000"/>
              </a:solidFill>
              <a:effectLst/>
              <a:uLnTx/>
              <a:uFillTx/>
              <a:latin typeface="Meiryo UI"/>
              <a:ea typeface="Meiryo UI"/>
              <a:cs typeface="+mn-cs"/>
            </a:endParaRPr>
          </a:p>
        </p:txBody>
      </p:sp>
      <p:sp>
        <p:nvSpPr>
          <p:cNvPr id="5" name="テキスト ボックス 4">
            <a:extLst>
              <a:ext uri="{FF2B5EF4-FFF2-40B4-BE49-F238E27FC236}">
                <a16:creationId xmlns:a16="http://schemas.microsoft.com/office/drawing/2014/main" id="{994976E2-0783-43DC-A2BC-FA615F4CA661}"/>
              </a:ext>
            </a:extLst>
          </p:cNvPr>
          <p:cNvSpPr txBox="1"/>
          <p:nvPr/>
        </p:nvSpPr>
        <p:spPr>
          <a:xfrm>
            <a:off x="5509846" y="3254498"/>
            <a:ext cx="308707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C00000"/>
                </a:solidFill>
                <a:effectLst/>
                <a:uLnTx/>
                <a:uFillTx/>
                <a:latin typeface="Meiryo UI"/>
                <a:ea typeface="Meiryo UI"/>
                <a:cs typeface="+mn-cs"/>
              </a:rPr>
              <a:t>(*)</a:t>
            </a:r>
            <a:r>
              <a:rPr kumimoji="1" lang="ja-JP" altLang="en-US" sz="1200" b="0" i="0" u="none" strike="noStrike" kern="1200" cap="none" spc="0" normalizeH="0" baseline="0" noProof="0">
                <a:ln>
                  <a:noFill/>
                </a:ln>
                <a:solidFill>
                  <a:srgbClr val="C00000"/>
                </a:solidFill>
                <a:effectLst/>
                <a:uLnTx/>
                <a:uFillTx/>
                <a:latin typeface="Meiryo UI"/>
                <a:ea typeface="Meiryo UI"/>
                <a:cs typeface="+mn-cs"/>
              </a:rPr>
              <a:t>木地山、</a:t>
            </a:r>
            <a:r>
              <a:rPr kumimoji="1" lang="en-US" altLang="ja-JP" sz="1200" b="0" i="0" u="none" strike="noStrike" kern="1200" cap="none" spc="0" normalizeH="0" baseline="0" noProof="0">
                <a:ln>
                  <a:noFill/>
                </a:ln>
                <a:solidFill>
                  <a:srgbClr val="C00000"/>
                </a:solidFill>
                <a:effectLst/>
                <a:uLnTx/>
                <a:uFillTx/>
                <a:latin typeface="Meiryo UI"/>
                <a:ea typeface="Meiryo UI"/>
                <a:cs typeface="+mn-cs"/>
              </a:rPr>
              <a:t>Tuli </a:t>
            </a:r>
            <a:r>
              <a:rPr kumimoji="1" lang="en-US" altLang="ja-JP" sz="1200" b="0" i="0" u="none" strike="noStrike" kern="1200" cap="none" spc="0" normalizeH="0" baseline="0" noProof="0" err="1">
                <a:ln>
                  <a:noFill/>
                </a:ln>
                <a:solidFill>
                  <a:srgbClr val="C00000"/>
                </a:solidFill>
                <a:effectLst/>
                <a:uLnTx/>
                <a:uFillTx/>
                <a:latin typeface="Meiryo UI"/>
                <a:ea typeface="Meiryo UI"/>
                <a:cs typeface="+mn-cs"/>
              </a:rPr>
              <a:t>Moye</a:t>
            </a:r>
            <a:r>
              <a:rPr kumimoji="1" lang="ja-JP" altLang="en-US" sz="1200" b="0" i="0" u="none" strike="noStrike" kern="1200" cap="none" spc="0" normalizeH="0" baseline="0" noProof="0">
                <a:ln>
                  <a:noFill/>
                </a:ln>
                <a:solidFill>
                  <a:srgbClr val="C00000"/>
                </a:solidFill>
                <a:effectLst/>
                <a:uLnTx/>
                <a:uFillTx/>
                <a:latin typeface="Meiryo UI"/>
                <a:ea typeface="Meiryo UI"/>
                <a:cs typeface="+mn-cs"/>
              </a:rPr>
              <a:t>は内定済みのため例外</a:t>
            </a:r>
          </a:p>
        </p:txBody>
      </p:sp>
      <p:sp>
        <p:nvSpPr>
          <p:cNvPr id="25" name="テキスト ボックス 24">
            <a:extLst>
              <a:ext uri="{FF2B5EF4-FFF2-40B4-BE49-F238E27FC236}">
                <a16:creationId xmlns:a16="http://schemas.microsoft.com/office/drawing/2014/main" id="{B50A1F95-37B8-4B46-A679-52D597749950}"/>
              </a:ext>
            </a:extLst>
          </p:cNvPr>
          <p:cNvSpPr txBox="1"/>
          <p:nvPr/>
        </p:nvSpPr>
        <p:spPr>
          <a:xfrm>
            <a:off x="7273274" y="3467966"/>
            <a:ext cx="1791977" cy="230832"/>
          </a:xfrm>
          <a:prstGeom prst="rect">
            <a:avLst/>
          </a:prstGeom>
          <a:solidFill>
            <a:schemeClr val="bg1"/>
          </a:solidFill>
          <a:ln w="1905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C00000"/>
                </a:solidFill>
                <a:effectLst/>
                <a:uLnTx/>
                <a:uFillTx/>
                <a:latin typeface="Meiryo UI"/>
                <a:ea typeface="Meiryo UI"/>
                <a:cs typeface="+mn-cs"/>
              </a:rPr>
              <a:t>(*)3/1 </a:t>
            </a:r>
            <a:r>
              <a:rPr kumimoji="1" lang="en-US" altLang="ja-JP" sz="900" b="0" i="0" u="none" strike="noStrike" kern="1200" cap="none" spc="0" normalizeH="0" baseline="0" noProof="0" err="1">
                <a:ln>
                  <a:noFill/>
                </a:ln>
                <a:solidFill>
                  <a:srgbClr val="C00000"/>
                </a:solidFill>
                <a:effectLst/>
                <a:uLnTx/>
                <a:uFillTx/>
                <a:latin typeface="Meiryo UI"/>
                <a:ea typeface="Meiryo UI"/>
                <a:cs typeface="+mn-cs"/>
              </a:rPr>
              <a:t>CxO</a:t>
            </a:r>
            <a:r>
              <a:rPr kumimoji="1" lang="ja-JP" altLang="en-US" sz="900" b="0" i="0" u="none" strike="noStrike" kern="1200" cap="none" spc="0" normalizeH="0" baseline="0" noProof="0">
                <a:ln>
                  <a:noFill/>
                </a:ln>
                <a:solidFill>
                  <a:srgbClr val="C00000"/>
                </a:solidFill>
                <a:effectLst/>
                <a:uLnTx/>
                <a:uFillTx/>
                <a:latin typeface="Meiryo UI"/>
                <a:ea typeface="Meiryo UI"/>
                <a:cs typeface="+mn-cs"/>
              </a:rPr>
              <a:t>報告後の追記事項</a:t>
            </a:r>
          </a:p>
        </p:txBody>
      </p:sp>
    </p:spTree>
    <p:extLst>
      <p:ext uri="{BB962C8B-B14F-4D97-AF65-F5344CB8AC3E}">
        <p14:creationId xmlns:p14="http://schemas.microsoft.com/office/powerpoint/2010/main" val="2377033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CC9F331-4FE0-4F4B-B4D4-9B517630314D}"/>
              </a:ext>
            </a:extLst>
          </p:cNvPr>
          <p:cNvPicPr>
            <a:picLocks noChangeAspect="1"/>
          </p:cNvPicPr>
          <p:nvPr/>
        </p:nvPicPr>
        <p:blipFill rotWithShape="1">
          <a:blip r:embed="rId3"/>
          <a:srcRect b="11529"/>
          <a:stretch/>
        </p:blipFill>
        <p:spPr>
          <a:xfrm>
            <a:off x="596128" y="4781053"/>
            <a:ext cx="3783344" cy="1349887"/>
          </a:xfrm>
          <a:prstGeom prst="rect">
            <a:avLst/>
          </a:prstGeom>
        </p:spPr>
      </p:pic>
      <p:pic>
        <p:nvPicPr>
          <p:cNvPr id="71" name="図 70">
            <a:extLst>
              <a:ext uri="{FF2B5EF4-FFF2-40B4-BE49-F238E27FC236}">
                <a16:creationId xmlns:a16="http://schemas.microsoft.com/office/drawing/2014/main" id="{05D3427C-5BF9-4574-A806-18A09B719BC4}"/>
              </a:ext>
            </a:extLst>
          </p:cNvPr>
          <p:cNvPicPr>
            <a:picLocks noChangeAspect="1"/>
          </p:cNvPicPr>
          <p:nvPr/>
        </p:nvPicPr>
        <p:blipFill>
          <a:blip r:embed="rId4"/>
          <a:stretch>
            <a:fillRect/>
          </a:stretch>
        </p:blipFill>
        <p:spPr>
          <a:xfrm>
            <a:off x="4930488" y="2636683"/>
            <a:ext cx="3975678" cy="1757651"/>
          </a:xfrm>
          <a:prstGeom prst="rect">
            <a:avLst/>
          </a:prstGeom>
        </p:spPr>
      </p:pic>
      <p:pic>
        <p:nvPicPr>
          <p:cNvPr id="69" name="図 68">
            <a:extLst>
              <a:ext uri="{FF2B5EF4-FFF2-40B4-BE49-F238E27FC236}">
                <a16:creationId xmlns:a16="http://schemas.microsoft.com/office/drawing/2014/main" id="{AC4C0D7C-A34B-4479-A27E-0B436F34DB2C}"/>
              </a:ext>
            </a:extLst>
          </p:cNvPr>
          <p:cNvPicPr>
            <a:picLocks noChangeAspect="1"/>
          </p:cNvPicPr>
          <p:nvPr/>
        </p:nvPicPr>
        <p:blipFill>
          <a:blip r:embed="rId5"/>
          <a:stretch>
            <a:fillRect/>
          </a:stretch>
        </p:blipFill>
        <p:spPr>
          <a:xfrm>
            <a:off x="551149" y="2582999"/>
            <a:ext cx="3973363" cy="1893597"/>
          </a:xfrm>
          <a:prstGeom prst="rect">
            <a:avLst/>
          </a:prstGeom>
        </p:spPr>
      </p:pic>
      <p:sp>
        <p:nvSpPr>
          <p:cNvPr id="11" name="タイトル 10"/>
          <p:cNvSpPr>
            <a:spLocks noGrp="1"/>
          </p:cNvSpPr>
          <p:nvPr>
            <p:ph type="title"/>
          </p:nvPr>
        </p:nvSpPr>
        <p:spPr>
          <a:xfrm>
            <a:off x="226053" y="131126"/>
            <a:ext cx="7960004" cy="349961"/>
          </a:xfrm>
        </p:spPr>
        <p:txBody>
          <a:bodyPr/>
          <a:lstStyle/>
          <a:p>
            <a:r>
              <a:rPr lang="en-US" altLang="ja-JP" sz="2000">
                <a:latin typeface="+mn-ea"/>
                <a:ea typeface="+mn-ea"/>
              </a:rPr>
              <a:t>2-3. </a:t>
            </a:r>
            <a:r>
              <a:rPr lang="ja-JP" altLang="en-US" sz="2000">
                <a:latin typeface="+mn-ea"/>
                <a:ea typeface="+mn-ea"/>
              </a:rPr>
              <a:t>取組みの背景：売上・利益・人員固定費計画の見直し</a:t>
            </a:r>
            <a:endParaRPr kumimoji="1" lang="ja-JP" altLang="en-US" sz="2000">
              <a:latin typeface="+mn-ea"/>
              <a:ea typeface="+mn-ea"/>
            </a:endParaRPr>
          </a:p>
        </p:txBody>
      </p:sp>
      <p:sp>
        <p:nvSpPr>
          <p:cNvPr id="5" name="テキスト プレースホルダー 1">
            <a:extLst>
              <a:ext uri="{FF2B5EF4-FFF2-40B4-BE49-F238E27FC236}">
                <a16:creationId xmlns:a16="http://schemas.microsoft.com/office/drawing/2014/main" id="{BAA3158D-95E6-4B26-9BE4-E4AA552F2EEA}"/>
              </a:ext>
            </a:extLst>
          </p:cNvPr>
          <p:cNvSpPr txBox="1">
            <a:spLocks/>
          </p:cNvSpPr>
          <p:nvPr/>
        </p:nvSpPr>
        <p:spPr>
          <a:xfrm>
            <a:off x="4943517" y="2582420"/>
            <a:ext cx="3950281" cy="1958221"/>
          </a:xfrm>
          <a:prstGeom prst="rect">
            <a:avLst/>
          </a:prstGeom>
          <a:ln w="12700">
            <a:solidFill>
              <a:schemeClr val="accent1"/>
            </a:solidFill>
          </a:ln>
        </p:spPr>
        <p:txBody>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ts val="1200"/>
              </a:lnSpc>
              <a:spcBef>
                <a:spcPts val="750"/>
              </a:spcBef>
              <a:spcAft>
                <a:spcPts val="0"/>
              </a:spcAft>
              <a:buClrTx/>
              <a:buSzTx/>
              <a:buFont typeface="Arial" panose="020B0604020202020204" pitchFamily="34" charset="0"/>
              <a:buNone/>
              <a:tabLst/>
              <a:defRPr/>
            </a:pP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sp>
        <p:nvSpPr>
          <p:cNvPr id="6" name="テキスト プレースホルダー 1">
            <a:extLst>
              <a:ext uri="{FF2B5EF4-FFF2-40B4-BE49-F238E27FC236}">
                <a16:creationId xmlns:a16="http://schemas.microsoft.com/office/drawing/2014/main" id="{1D2D53C2-B525-41D0-BCBD-425D7007F44B}"/>
              </a:ext>
            </a:extLst>
          </p:cNvPr>
          <p:cNvSpPr txBox="1">
            <a:spLocks/>
          </p:cNvSpPr>
          <p:nvPr/>
        </p:nvSpPr>
        <p:spPr>
          <a:xfrm>
            <a:off x="4563450" y="2582420"/>
            <a:ext cx="378595" cy="1958221"/>
          </a:xfrm>
          <a:prstGeom prst="rect">
            <a:avLst/>
          </a:prstGeom>
          <a:ln w="12700">
            <a:solidFill>
              <a:schemeClr val="accent1"/>
            </a:solidFill>
          </a:ln>
        </p:spPr>
        <p:txBody>
          <a:bodyPr vert="eaVert" anchor="b"/>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ctr" defTabSz="685800" rtl="0" eaLnBrk="1" fontAlgn="auto" latinLnBrk="0" hangingPunct="1">
              <a:lnSpc>
                <a:spcPts val="1200"/>
              </a:lnSpc>
              <a:spcBef>
                <a:spcPts val="75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rPr>
              <a:t>② 事業利益率</a:t>
            </a: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sp>
        <p:nvSpPr>
          <p:cNvPr id="10" name="テキスト プレースホルダー 1">
            <a:extLst>
              <a:ext uri="{FF2B5EF4-FFF2-40B4-BE49-F238E27FC236}">
                <a16:creationId xmlns:a16="http://schemas.microsoft.com/office/drawing/2014/main" id="{994396A8-A5A4-4E3F-8AF3-BD1F591657F5}"/>
              </a:ext>
            </a:extLst>
          </p:cNvPr>
          <p:cNvSpPr txBox="1">
            <a:spLocks/>
          </p:cNvSpPr>
          <p:nvPr/>
        </p:nvSpPr>
        <p:spPr>
          <a:xfrm>
            <a:off x="4563448" y="4562935"/>
            <a:ext cx="380068" cy="1844458"/>
          </a:xfrm>
          <a:prstGeom prst="rect">
            <a:avLst/>
          </a:prstGeom>
          <a:ln w="12700">
            <a:solidFill>
              <a:schemeClr val="accent1"/>
            </a:solidFill>
          </a:ln>
        </p:spPr>
        <p:txBody>
          <a:bodyPr vert="eaVert" anchor="b"/>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ctr" defTabSz="685800" rtl="0" eaLnBrk="1" fontAlgn="auto" latinLnBrk="0" hangingPunct="1">
              <a:lnSpc>
                <a:spcPts val="1200"/>
              </a:lnSpc>
              <a:spcBef>
                <a:spcPts val="75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rPr>
              <a:t>④ 財務健全性</a:t>
            </a: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sp>
        <p:nvSpPr>
          <p:cNvPr id="13" name="テキスト プレースホルダー 1">
            <a:extLst>
              <a:ext uri="{FF2B5EF4-FFF2-40B4-BE49-F238E27FC236}">
                <a16:creationId xmlns:a16="http://schemas.microsoft.com/office/drawing/2014/main" id="{32C97DBC-82B9-42D1-ABE2-1DCF1CD0D2BA}"/>
              </a:ext>
            </a:extLst>
          </p:cNvPr>
          <p:cNvSpPr txBox="1">
            <a:spLocks/>
          </p:cNvSpPr>
          <p:nvPr/>
        </p:nvSpPr>
        <p:spPr>
          <a:xfrm>
            <a:off x="226277" y="4560188"/>
            <a:ext cx="328728" cy="1844458"/>
          </a:xfrm>
          <a:prstGeom prst="rect">
            <a:avLst/>
          </a:prstGeom>
          <a:ln w="12700">
            <a:solidFill>
              <a:schemeClr val="accent1"/>
            </a:solidFill>
          </a:ln>
        </p:spPr>
        <p:txBody>
          <a:bodyPr vert="eaVert" anchor="b"/>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ctr" defTabSz="685800" rtl="0" eaLnBrk="1" fontAlgn="auto" latinLnBrk="0" hangingPunct="1">
              <a:lnSpc>
                <a:spcPts val="1200"/>
              </a:lnSpc>
              <a:spcBef>
                <a:spcPts val="75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rPr>
              <a:t>③ 人員・固定費</a:t>
            </a: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sp>
        <p:nvSpPr>
          <p:cNvPr id="14" name="テキスト プレースホルダー 1">
            <a:extLst>
              <a:ext uri="{FF2B5EF4-FFF2-40B4-BE49-F238E27FC236}">
                <a16:creationId xmlns:a16="http://schemas.microsoft.com/office/drawing/2014/main" id="{EB0A7A2E-2187-4335-B39C-B08A6A5DDB0A}"/>
              </a:ext>
            </a:extLst>
          </p:cNvPr>
          <p:cNvSpPr txBox="1">
            <a:spLocks/>
          </p:cNvSpPr>
          <p:nvPr/>
        </p:nvSpPr>
        <p:spPr>
          <a:xfrm>
            <a:off x="4943516" y="4562934"/>
            <a:ext cx="3950282" cy="1844458"/>
          </a:xfrm>
          <a:prstGeom prst="rect">
            <a:avLst/>
          </a:prstGeom>
          <a:ln w="12700">
            <a:solidFill>
              <a:schemeClr val="accent1"/>
            </a:solidFill>
          </a:ln>
        </p:spPr>
        <p:txBody>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ts val="1200"/>
              </a:lnSpc>
              <a:spcBef>
                <a:spcPts val="750"/>
              </a:spcBef>
              <a:spcAft>
                <a:spcPts val="0"/>
              </a:spcAft>
              <a:buClrTx/>
              <a:buSzTx/>
              <a:buFont typeface="Arial" panose="020B0604020202020204" pitchFamily="34" charset="0"/>
              <a:buNone/>
              <a:tabLst/>
              <a:defRPr/>
            </a:pP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sp>
        <p:nvSpPr>
          <p:cNvPr id="15" name="テキスト プレースホルダー 1">
            <a:extLst>
              <a:ext uri="{FF2B5EF4-FFF2-40B4-BE49-F238E27FC236}">
                <a16:creationId xmlns:a16="http://schemas.microsoft.com/office/drawing/2014/main" id="{5B1CEA1A-4EF7-4DAB-B999-586E7A36268E}"/>
              </a:ext>
            </a:extLst>
          </p:cNvPr>
          <p:cNvSpPr txBox="1">
            <a:spLocks/>
          </p:cNvSpPr>
          <p:nvPr/>
        </p:nvSpPr>
        <p:spPr>
          <a:xfrm>
            <a:off x="555005" y="4560188"/>
            <a:ext cx="3965652" cy="1844458"/>
          </a:xfrm>
          <a:prstGeom prst="rect">
            <a:avLst/>
          </a:prstGeom>
          <a:ln w="12700">
            <a:solidFill>
              <a:schemeClr val="accent1"/>
            </a:solidFill>
          </a:ln>
        </p:spPr>
        <p:txBody>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ts val="1200"/>
              </a:lnSpc>
              <a:spcBef>
                <a:spcPts val="750"/>
              </a:spcBef>
              <a:spcAft>
                <a:spcPts val="0"/>
              </a:spcAft>
              <a:buClrTx/>
              <a:buSzTx/>
              <a:buFont typeface="Arial" panose="020B0604020202020204" pitchFamily="34" charset="0"/>
              <a:buNone/>
              <a:tabLst/>
              <a:defRPr/>
            </a:pP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graphicFrame>
        <p:nvGraphicFramePr>
          <p:cNvPr id="20" name="表 20">
            <a:extLst>
              <a:ext uri="{FF2B5EF4-FFF2-40B4-BE49-F238E27FC236}">
                <a16:creationId xmlns:a16="http://schemas.microsoft.com/office/drawing/2014/main" id="{6C6B1121-611D-4D97-A613-9A71FC2A5EA7}"/>
              </a:ext>
            </a:extLst>
          </p:cNvPr>
          <p:cNvGraphicFramePr>
            <a:graphicFrameLocks noGrp="1"/>
          </p:cNvGraphicFramePr>
          <p:nvPr/>
        </p:nvGraphicFramePr>
        <p:xfrm>
          <a:off x="192664" y="1153117"/>
          <a:ext cx="8713502" cy="1402080"/>
        </p:xfrm>
        <a:graphic>
          <a:graphicData uri="http://schemas.openxmlformats.org/drawingml/2006/table">
            <a:tbl>
              <a:tblPr firstRow="1" bandRow="1">
                <a:tableStyleId>{5C22544A-7EE6-4342-B048-85BDC9FD1C3A}</a:tableStyleId>
              </a:tblPr>
              <a:tblGrid>
                <a:gridCol w="2268596">
                  <a:extLst>
                    <a:ext uri="{9D8B030D-6E8A-4147-A177-3AD203B41FA5}">
                      <a16:colId xmlns:a16="http://schemas.microsoft.com/office/drawing/2014/main" val="1944078833"/>
                    </a:ext>
                  </a:extLst>
                </a:gridCol>
                <a:gridCol w="6444906">
                  <a:extLst>
                    <a:ext uri="{9D8B030D-6E8A-4147-A177-3AD203B41FA5}">
                      <a16:colId xmlns:a16="http://schemas.microsoft.com/office/drawing/2014/main" val="4084893891"/>
                    </a:ext>
                  </a:extLst>
                </a:gridCol>
              </a:tblGrid>
              <a:tr h="136254">
                <a:tc>
                  <a:txBody>
                    <a:bodyPr/>
                    <a:lstStyle/>
                    <a:p>
                      <a:pPr algn="ctr"/>
                      <a:r>
                        <a:rPr kumimoji="1" lang="ja-JP" altLang="en-US" sz="1200">
                          <a:latin typeface="+mn-ea"/>
                          <a:ea typeface="+mn-ea"/>
                        </a:rPr>
                        <a:t>施策</a:t>
                      </a:r>
                    </a:p>
                  </a:txBody>
                  <a:tcPr>
                    <a:solidFill>
                      <a:schemeClr val="accent2"/>
                    </a:solidFill>
                  </a:tcPr>
                </a:tc>
                <a:tc>
                  <a:txBody>
                    <a:bodyPr/>
                    <a:lstStyle/>
                    <a:p>
                      <a:pPr algn="ctr"/>
                      <a:r>
                        <a:rPr kumimoji="1" lang="ja-JP" altLang="en-US" sz="1200">
                          <a:latin typeface="+mn-ea"/>
                          <a:ea typeface="+mn-ea"/>
                        </a:rPr>
                        <a:t>具体的な取り組み内容</a:t>
                      </a:r>
                    </a:p>
                  </a:txBody>
                  <a:tcPr>
                    <a:solidFill>
                      <a:schemeClr val="accent2"/>
                    </a:solidFill>
                  </a:tcPr>
                </a:tc>
                <a:extLst>
                  <a:ext uri="{0D108BD9-81ED-4DB2-BD59-A6C34878D82A}">
                    <a16:rowId xmlns:a16="http://schemas.microsoft.com/office/drawing/2014/main" val="1591057404"/>
                  </a:ext>
                </a:extLst>
              </a:tr>
              <a:tr h="122358">
                <a:tc>
                  <a:txBody>
                    <a:bodyPr/>
                    <a:lstStyle/>
                    <a:p>
                      <a:r>
                        <a:rPr kumimoji="1" lang="ja-JP" altLang="en-US" sz="1400" b="1">
                          <a:latin typeface="+mn-ea"/>
                          <a:ea typeface="+mn-ea"/>
                        </a:rPr>
                        <a:t>① 新設の引合対応を中止</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新設案件の引合業務はせず既受注案件の遂行のみ、</a:t>
                      </a:r>
                      <a:r>
                        <a:rPr lang="en-US" altLang="ja-JP" sz="1200">
                          <a:latin typeface="+mn-ea"/>
                          <a:ea typeface="+mn-ea"/>
                        </a:rPr>
                        <a:t>AS</a:t>
                      </a:r>
                      <a:r>
                        <a:rPr lang="ja-JP" altLang="en-US" sz="1200">
                          <a:latin typeface="+mn-ea"/>
                          <a:ea typeface="+mn-ea"/>
                        </a:rPr>
                        <a:t>にリソースを集中</a:t>
                      </a:r>
                      <a:endParaRPr kumimoji="1" lang="ja-JP" altLang="en-US" sz="1000">
                        <a:latin typeface="+mn-ea"/>
                        <a:ea typeface="+mn-ea"/>
                      </a:endParaRPr>
                    </a:p>
                  </a:txBody>
                  <a:tcPr/>
                </a:tc>
                <a:extLst>
                  <a:ext uri="{0D108BD9-81ED-4DB2-BD59-A6C34878D82A}">
                    <a16:rowId xmlns:a16="http://schemas.microsoft.com/office/drawing/2014/main" val="1490939185"/>
                  </a:ext>
                </a:extLst>
              </a:tr>
              <a:tr h="268291">
                <a:tc>
                  <a:txBody>
                    <a:bodyPr/>
                    <a:lstStyle/>
                    <a:p>
                      <a:r>
                        <a:rPr lang="ja-JP" altLang="en-US" sz="1400" b="1">
                          <a:latin typeface="+mn-ea"/>
                          <a:ea typeface="+mn-ea"/>
                        </a:rPr>
                        <a:t>② 固定費削減と</a:t>
                      </a:r>
                      <a:endParaRPr lang="en-US" altLang="ja-JP" sz="1400" b="1">
                        <a:latin typeface="+mn-ea"/>
                        <a:ea typeface="+mn-ea"/>
                      </a:endParaRPr>
                    </a:p>
                    <a:p>
                      <a:r>
                        <a:rPr lang="ja-JP" altLang="en-US" sz="1400" b="1">
                          <a:latin typeface="+mn-ea"/>
                          <a:ea typeface="+mn-ea"/>
                        </a:rPr>
                        <a:t>　　収益力強化</a:t>
                      </a:r>
                      <a:endParaRPr kumimoji="1" lang="ja-JP" altLang="en-US" sz="1400" b="1">
                        <a:latin typeface="+mn-ea"/>
                        <a:ea typeface="+mn-ea"/>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人員数最適化（</a:t>
                      </a:r>
                      <a:r>
                        <a:rPr lang="en-US" altLang="ja-JP" sz="1200">
                          <a:latin typeface="+mn-ea"/>
                          <a:ea typeface="+mn-ea"/>
                        </a:rPr>
                        <a:t>※</a:t>
                      </a:r>
                      <a:r>
                        <a:rPr lang="ja-JP" altLang="en-US" sz="1200">
                          <a:latin typeface="+mn-ea"/>
                          <a:ea typeface="+mn-ea"/>
                        </a:rPr>
                        <a:t>単独</a:t>
                      </a:r>
                      <a:r>
                        <a:rPr lang="en-US" altLang="ja-JP" sz="1200">
                          <a:latin typeface="+mn-ea"/>
                          <a:ea typeface="+mn-ea"/>
                        </a:rPr>
                        <a:t>22</a:t>
                      </a:r>
                      <a:r>
                        <a:rPr lang="ja-JP" altLang="en-US" sz="1200">
                          <a:latin typeface="+mn-ea"/>
                          <a:ea typeface="+mn-ea"/>
                        </a:rPr>
                        <a:t>年末</a:t>
                      </a:r>
                      <a:r>
                        <a:rPr lang="en-US" altLang="ja-JP" sz="1200">
                          <a:latin typeface="+mn-ea"/>
                          <a:ea typeface="+mn-ea"/>
                        </a:rPr>
                        <a:t>2,163</a:t>
                      </a:r>
                      <a:r>
                        <a:rPr lang="ja-JP" altLang="en-US" sz="1200">
                          <a:latin typeface="+mn-ea"/>
                          <a:ea typeface="+mn-ea"/>
                        </a:rPr>
                        <a:t>人→</a:t>
                      </a:r>
                      <a:r>
                        <a:rPr lang="en-US" altLang="ja-JP" sz="1200">
                          <a:latin typeface="+mn-ea"/>
                          <a:ea typeface="+mn-ea"/>
                        </a:rPr>
                        <a:t>23</a:t>
                      </a:r>
                      <a:r>
                        <a:rPr lang="ja-JP" altLang="en-US" sz="1200">
                          <a:latin typeface="+mn-ea"/>
                          <a:ea typeface="+mn-ea"/>
                        </a:rPr>
                        <a:t>年末</a:t>
                      </a:r>
                      <a:r>
                        <a:rPr lang="en-US" altLang="ja-JP" sz="1200">
                          <a:latin typeface="+mn-ea"/>
                          <a:ea typeface="+mn-ea"/>
                        </a:rPr>
                        <a:t>1,745</a:t>
                      </a:r>
                      <a:r>
                        <a:rPr lang="ja-JP" altLang="en-US" sz="1200">
                          <a:latin typeface="+mn-ea"/>
                          <a:ea typeface="+mn-ea"/>
                        </a:rPr>
                        <a:t>人→</a:t>
                      </a:r>
                      <a:r>
                        <a:rPr lang="en-US" altLang="ja-JP" sz="1200">
                          <a:latin typeface="+mn-ea"/>
                          <a:ea typeface="+mn-ea"/>
                        </a:rPr>
                        <a:t>26</a:t>
                      </a:r>
                      <a:r>
                        <a:rPr lang="ja-JP" altLang="en-US" sz="1200">
                          <a:latin typeface="+mn-ea"/>
                          <a:ea typeface="+mn-ea"/>
                        </a:rPr>
                        <a:t>年末</a:t>
                      </a:r>
                      <a:r>
                        <a:rPr lang="en-US" altLang="ja-JP" sz="1200">
                          <a:latin typeface="+mn-ea"/>
                          <a:ea typeface="+mn-ea"/>
                        </a:rPr>
                        <a:t>938</a:t>
                      </a:r>
                      <a:r>
                        <a:rPr lang="ja-JP" altLang="en-US" sz="1200">
                          <a:latin typeface="+mn-ea"/>
                          <a:ea typeface="+mn-ea"/>
                        </a:rPr>
                        <a:t>人→</a:t>
                      </a:r>
                      <a:r>
                        <a:rPr lang="en-US" altLang="ja-JP" sz="1200">
                          <a:latin typeface="+mn-ea"/>
                          <a:ea typeface="+mn-ea"/>
                        </a:rPr>
                        <a:t>28</a:t>
                      </a:r>
                      <a:r>
                        <a:rPr lang="ja-JP" altLang="en-US" sz="1200">
                          <a:latin typeface="+mn-ea"/>
                          <a:ea typeface="+mn-ea"/>
                        </a:rPr>
                        <a:t>年末</a:t>
                      </a:r>
                      <a:r>
                        <a:rPr lang="en-US" altLang="ja-JP" sz="1200">
                          <a:latin typeface="+mn-ea"/>
                          <a:ea typeface="+mn-ea"/>
                        </a:rPr>
                        <a:t>885</a:t>
                      </a:r>
                      <a:r>
                        <a:rPr lang="ja-JP" altLang="en-US" sz="1200">
                          <a:latin typeface="+mn-ea"/>
                          <a:ea typeface="+mn-ea"/>
                        </a:rPr>
                        <a:t>人）</a:t>
                      </a:r>
                      <a:endParaRPr lang="en-US" altLang="ja-JP" sz="1200">
                        <a:latin typeface="+mn-ea"/>
                        <a:ea typeface="+mn-ea"/>
                      </a:endParaRPr>
                    </a:p>
                  </a:txBody>
                  <a:tcPr/>
                </a:tc>
                <a:extLst>
                  <a:ext uri="{0D108BD9-81ED-4DB2-BD59-A6C34878D82A}">
                    <a16:rowId xmlns:a16="http://schemas.microsoft.com/office/drawing/2014/main" val="590021522"/>
                  </a:ext>
                </a:extLst>
              </a:tr>
              <a:tr h="268291">
                <a:tc>
                  <a:txBody>
                    <a:bodyPr/>
                    <a:lstStyle/>
                    <a:p>
                      <a:r>
                        <a:rPr kumimoji="1" lang="ja-JP" altLang="en-US" sz="1400" b="1">
                          <a:latin typeface="+mn-ea"/>
                          <a:ea typeface="+mn-ea"/>
                        </a:rPr>
                        <a:t>③ グループ会社管理強化</a:t>
                      </a:r>
                    </a:p>
                  </a:txBody>
                  <a:tcPr/>
                </a:tc>
                <a:tc>
                  <a:txBody>
                    <a:bodyPr/>
                    <a:lstStyle/>
                    <a:p>
                      <a:r>
                        <a:rPr lang="ja-JP" altLang="en-US" sz="1200">
                          <a:latin typeface="+mn-ea"/>
                          <a:ea typeface="+mn-ea"/>
                        </a:rPr>
                        <a:t>海外</a:t>
                      </a:r>
                      <a:r>
                        <a:rPr lang="en-US" altLang="ja-JP" sz="1200">
                          <a:latin typeface="+mn-ea"/>
                          <a:ea typeface="+mn-ea"/>
                        </a:rPr>
                        <a:t>G</a:t>
                      </a:r>
                      <a:r>
                        <a:rPr lang="ja-JP" altLang="en-US" sz="1200">
                          <a:latin typeface="+mn-ea"/>
                          <a:ea typeface="+mn-ea"/>
                        </a:rPr>
                        <a:t>会社と同様に</a:t>
                      </a:r>
                      <a:r>
                        <a:rPr lang="en-US" altLang="ja-JP" sz="1200">
                          <a:latin typeface="+mn-ea"/>
                          <a:ea typeface="+mn-ea"/>
                        </a:rPr>
                        <a:t>IDS</a:t>
                      </a:r>
                      <a:r>
                        <a:rPr lang="ja-JP" altLang="en-US" sz="1200">
                          <a:latin typeface="+mn-ea"/>
                          <a:ea typeface="+mn-ea"/>
                        </a:rPr>
                        <a:t>も構造改革を推進し、収益力を強化する</a:t>
                      </a:r>
                      <a:endParaRPr kumimoji="1" lang="ja-JP" altLang="en-US" sz="1200">
                        <a:latin typeface="+mn-ea"/>
                        <a:ea typeface="+mn-ea"/>
                      </a:endParaRPr>
                    </a:p>
                  </a:txBody>
                  <a:tcPr/>
                </a:tc>
                <a:extLst>
                  <a:ext uri="{0D108BD9-81ED-4DB2-BD59-A6C34878D82A}">
                    <a16:rowId xmlns:a16="http://schemas.microsoft.com/office/drawing/2014/main" val="3109920268"/>
                  </a:ext>
                </a:extLst>
              </a:tr>
            </a:tbl>
          </a:graphicData>
        </a:graphic>
      </p:graphicFrame>
      <p:graphicFrame>
        <p:nvGraphicFramePr>
          <p:cNvPr id="26" name="表 26">
            <a:extLst>
              <a:ext uri="{FF2B5EF4-FFF2-40B4-BE49-F238E27FC236}">
                <a16:creationId xmlns:a16="http://schemas.microsoft.com/office/drawing/2014/main" id="{294A005B-E8C1-4860-8157-29BB3AF8FCBB}"/>
              </a:ext>
            </a:extLst>
          </p:cNvPr>
          <p:cNvGraphicFramePr>
            <a:graphicFrameLocks noGrp="1"/>
          </p:cNvGraphicFramePr>
          <p:nvPr/>
        </p:nvGraphicFramePr>
        <p:xfrm>
          <a:off x="4988492" y="4666582"/>
          <a:ext cx="3781609" cy="1494386"/>
        </p:xfrm>
        <a:graphic>
          <a:graphicData uri="http://schemas.openxmlformats.org/drawingml/2006/table">
            <a:tbl>
              <a:tblPr firstRow="1" bandRow="1">
                <a:tableStyleId>{5C22544A-7EE6-4342-B048-85BDC9FD1C3A}</a:tableStyleId>
              </a:tblPr>
              <a:tblGrid>
                <a:gridCol w="808797">
                  <a:extLst>
                    <a:ext uri="{9D8B030D-6E8A-4147-A177-3AD203B41FA5}">
                      <a16:colId xmlns:a16="http://schemas.microsoft.com/office/drawing/2014/main" val="4076292602"/>
                    </a:ext>
                  </a:extLst>
                </a:gridCol>
                <a:gridCol w="719787">
                  <a:extLst>
                    <a:ext uri="{9D8B030D-6E8A-4147-A177-3AD203B41FA5}">
                      <a16:colId xmlns:a16="http://schemas.microsoft.com/office/drawing/2014/main" val="197389664"/>
                    </a:ext>
                  </a:extLst>
                </a:gridCol>
                <a:gridCol w="751426">
                  <a:extLst>
                    <a:ext uri="{9D8B030D-6E8A-4147-A177-3AD203B41FA5}">
                      <a16:colId xmlns:a16="http://schemas.microsoft.com/office/drawing/2014/main" val="915623137"/>
                    </a:ext>
                  </a:extLst>
                </a:gridCol>
                <a:gridCol w="743517">
                  <a:extLst>
                    <a:ext uri="{9D8B030D-6E8A-4147-A177-3AD203B41FA5}">
                      <a16:colId xmlns:a16="http://schemas.microsoft.com/office/drawing/2014/main" val="229711138"/>
                    </a:ext>
                  </a:extLst>
                </a:gridCol>
                <a:gridCol w="758082">
                  <a:extLst>
                    <a:ext uri="{9D8B030D-6E8A-4147-A177-3AD203B41FA5}">
                      <a16:colId xmlns:a16="http://schemas.microsoft.com/office/drawing/2014/main" val="2708195556"/>
                    </a:ext>
                  </a:extLst>
                </a:gridCol>
              </a:tblGrid>
              <a:tr h="453914">
                <a:tc>
                  <a:txBody>
                    <a:bodyPr/>
                    <a:lstStyle/>
                    <a:p>
                      <a:endParaRPr kumimoji="1" lang="ja-JP" altLang="en-US" sz="1400" b="0">
                        <a:latin typeface="+mn-ea"/>
                        <a:ea typeface="+mn-ea"/>
                      </a:endParaRPr>
                    </a:p>
                  </a:txBody>
                  <a:tcPr marL="36000" marR="36000" anchor="ctr">
                    <a:solidFill>
                      <a:schemeClr val="accent2"/>
                    </a:solidFill>
                  </a:tcPr>
                </a:tc>
                <a:tc>
                  <a:txBody>
                    <a:bodyPr/>
                    <a:lstStyle/>
                    <a:p>
                      <a:pPr algn="ctr"/>
                      <a:r>
                        <a:rPr kumimoji="1" lang="en-US" altLang="ja-JP" sz="1400" b="0">
                          <a:latin typeface="+mn-ea"/>
                          <a:ea typeface="+mn-ea"/>
                        </a:rPr>
                        <a:t>FY22</a:t>
                      </a:r>
                      <a:endParaRPr kumimoji="1" lang="ja-JP" altLang="en-US" sz="1400" b="0">
                        <a:latin typeface="+mn-ea"/>
                        <a:ea typeface="+mn-ea"/>
                      </a:endParaRPr>
                    </a:p>
                  </a:txBody>
                  <a:tcPr marL="36000" marR="36000" anchor="ctr">
                    <a:solidFill>
                      <a:schemeClr val="accent2"/>
                    </a:solidFill>
                  </a:tcPr>
                </a:tc>
                <a:tc>
                  <a:txBody>
                    <a:bodyPr/>
                    <a:lstStyle/>
                    <a:p>
                      <a:pPr algn="ctr"/>
                      <a:r>
                        <a:rPr kumimoji="1" lang="en-US" altLang="ja-JP" sz="1400" b="0">
                          <a:latin typeface="+mn-ea"/>
                          <a:ea typeface="+mn-ea"/>
                        </a:rPr>
                        <a:t>FY24</a:t>
                      </a:r>
                    </a:p>
                  </a:txBody>
                  <a:tcPr marL="36000" marR="36000" anchor="ctr">
                    <a:solidFill>
                      <a:schemeClr val="accent2"/>
                    </a:solidFill>
                  </a:tcPr>
                </a:tc>
                <a:tc>
                  <a:txBody>
                    <a:bodyPr/>
                    <a:lstStyle/>
                    <a:p>
                      <a:pPr algn="ctr"/>
                      <a:r>
                        <a:rPr kumimoji="1" lang="en-US" altLang="ja-JP" sz="1400" b="0">
                          <a:latin typeface="+mn-ea"/>
                          <a:ea typeface="+mn-ea"/>
                        </a:rPr>
                        <a:t>FY26</a:t>
                      </a:r>
                    </a:p>
                  </a:txBody>
                  <a:tcPr marL="36000" marR="36000" anchor="ctr">
                    <a:solidFill>
                      <a:schemeClr val="accent2"/>
                    </a:solidFill>
                  </a:tcPr>
                </a:tc>
                <a:tc>
                  <a:txBody>
                    <a:bodyPr/>
                    <a:lstStyle/>
                    <a:p>
                      <a:pPr algn="ctr"/>
                      <a:r>
                        <a:rPr kumimoji="1" lang="en-US" altLang="ja-JP" sz="1400" b="0">
                          <a:latin typeface="+mn-ea"/>
                          <a:ea typeface="+mn-ea"/>
                        </a:rPr>
                        <a:t>FY28</a:t>
                      </a:r>
                    </a:p>
                  </a:txBody>
                  <a:tcPr marL="36000" marR="36000" anchor="ctr">
                    <a:solidFill>
                      <a:schemeClr val="accent2"/>
                    </a:solidFill>
                  </a:tcPr>
                </a:tc>
                <a:extLst>
                  <a:ext uri="{0D108BD9-81ED-4DB2-BD59-A6C34878D82A}">
                    <a16:rowId xmlns:a16="http://schemas.microsoft.com/office/drawing/2014/main" val="1971004832"/>
                  </a:ext>
                </a:extLst>
              </a:tr>
              <a:tr h="522312">
                <a:tc>
                  <a:txBody>
                    <a:bodyPr/>
                    <a:lstStyle/>
                    <a:p>
                      <a:pPr algn="ctr"/>
                      <a:r>
                        <a:rPr kumimoji="1" lang="en-US" altLang="ja-JP" sz="1400" b="0">
                          <a:latin typeface="+mn-ea"/>
                          <a:ea typeface="+mn-ea"/>
                        </a:rPr>
                        <a:t>SAV</a:t>
                      </a:r>
                      <a:br>
                        <a:rPr kumimoji="1" lang="en-US" altLang="ja-JP" sz="1400" b="0">
                          <a:latin typeface="+mn-ea"/>
                          <a:ea typeface="+mn-ea"/>
                        </a:rPr>
                      </a:br>
                      <a:r>
                        <a:rPr kumimoji="1" lang="ja-JP" altLang="en-US" sz="1400" b="0">
                          <a:latin typeface="+mn-ea"/>
                          <a:ea typeface="+mn-ea"/>
                        </a:rPr>
                        <a:t>（億円）</a:t>
                      </a:r>
                    </a:p>
                  </a:txBody>
                  <a:tcPr marL="36000" marR="36000" anchor="ctr"/>
                </a:tc>
                <a:tc>
                  <a:txBody>
                    <a:bodyPr/>
                    <a:lstStyle/>
                    <a:p>
                      <a:pPr algn="ctr"/>
                      <a:r>
                        <a:rPr kumimoji="1" lang="ja-JP" altLang="en-US" sz="1400" b="0">
                          <a:latin typeface="+mn-ea"/>
                          <a:ea typeface="+mn-ea"/>
                        </a:rPr>
                        <a:t>▲</a:t>
                      </a:r>
                      <a:r>
                        <a:rPr kumimoji="1" lang="en-US" altLang="ja-JP" sz="1400" b="0">
                          <a:latin typeface="+mn-ea"/>
                          <a:ea typeface="+mn-ea"/>
                        </a:rPr>
                        <a:t>258</a:t>
                      </a:r>
                      <a:endParaRPr kumimoji="1" lang="ja-JP" altLang="en-US" sz="1400" b="0">
                        <a:latin typeface="+mn-ea"/>
                        <a:ea typeface="+mn-ea"/>
                      </a:endParaRPr>
                    </a:p>
                  </a:txBody>
                  <a:tcPr marL="36000" marR="36000" anchor="ctr"/>
                </a:tc>
                <a:tc>
                  <a:txBody>
                    <a:bodyPr/>
                    <a:lstStyle/>
                    <a:p>
                      <a:pPr algn="ctr"/>
                      <a:r>
                        <a:rPr kumimoji="1" lang="en-US" altLang="ja-JP" sz="1400" b="0">
                          <a:latin typeface="+mn-ea"/>
                          <a:ea typeface="+mn-ea"/>
                        </a:rPr>
                        <a:t>62</a:t>
                      </a:r>
                    </a:p>
                  </a:txBody>
                  <a:tcPr marL="36000" marR="36000" anchor="ctr"/>
                </a:tc>
                <a:tc>
                  <a:txBody>
                    <a:bodyPr/>
                    <a:lstStyle/>
                    <a:p>
                      <a:pPr algn="ctr"/>
                      <a:r>
                        <a:rPr kumimoji="1" lang="en-US" altLang="ja-JP" sz="1400" b="0">
                          <a:latin typeface="+mn-ea"/>
                          <a:ea typeface="+mn-ea"/>
                        </a:rPr>
                        <a:t>67</a:t>
                      </a:r>
                    </a:p>
                  </a:txBody>
                  <a:tcPr marL="36000" marR="36000" anchor="ctr"/>
                </a:tc>
                <a:tc>
                  <a:txBody>
                    <a:bodyPr/>
                    <a:lstStyle/>
                    <a:p>
                      <a:pPr algn="ctr"/>
                      <a:r>
                        <a:rPr kumimoji="1" lang="en-US" altLang="ja-JP" sz="1400" b="0">
                          <a:latin typeface="+mn-ea"/>
                          <a:ea typeface="+mn-ea"/>
                        </a:rPr>
                        <a:t>32</a:t>
                      </a:r>
                    </a:p>
                  </a:txBody>
                  <a:tcPr marL="36000" marR="36000" anchor="ctr"/>
                </a:tc>
                <a:extLst>
                  <a:ext uri="{0D108BD9-81ED-4DB2-BD59-A6C34878D82A}">
                    <a16:rowId xmlns:a16="http://schemas.microsoft.com/office/drawing/2014/main" val="4165752201"/>
                  </a:ext>
                </a:extLst>
              </a:tr>
              <a:tr h="4539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400" b="0">
                          <a:latin typeface="+mn-ea"/>
                          <a:ea typeface="+mn-ea"/>
                        </a:rPr>
                        <a:t>D/E</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400" b="0">
                          <a:latin typeface="+mn-ea"/>
                          <a:ea typeface="+mn-ea"/>
                        </a:rPr>
                        <a:t>レシオ</a:t>
                      </a:r>
                    </a:p>
                  </a:txBody>
                  <a:tcPr marL="36000" marR="36000" anchor="ctr"/>
                </a:tc>
                <a:tc>
                  <a:txBody>
                    <a:bodyPr/>
                    <a:lstStyle/>
                    <a:p>
                      <a:pPr algn="ctr"/>
                      <a:r>
                        <a:rPr kumimoji="1" lang="en-US" altLang="ja-JP" sz="1400" b="0">
                          <a:latin typeface="+mn-ea"/>
                          <a:ea typeface="+mn-ea"/>
                        </a:rPr>
                        <a:t>1.01</a:t>
                      </a:r>
                      <a:r>
                        <a:rPr kumimoji="1" lang="ja-JP" altLang="en-US" sz="1400" b="0">
                          <a:latin typeface="+mn-ea"/>
                          <a:ea typeface="+mn-ea"/>
                        </a:rPr>
                        <a:t>倍</a:t>
                      </a:r>
                    </a:p>
                  </a:txBody>
                  <a:tcPr marL="36000" marR="36000" anchor="ctr"/>
                </a:tc>
                <a:tc>
                  <a:txBody>
                    <a:bodyPr/>
                    <a:lstStyle/>
                    <a:p>
                      <a:pPr algn="ctr"/>
                      <a:r>
                        <a:rPr kumimoji="1" lang="en-US" altLang="ja-JP" sz="1400" b="0">
                          <a:latin typeface="+mn-ea"/>
                          <a:ea typeface="+mn-ea"/>
                        </a:rPr>
                        <a:t>1.09</a:t>
                      </a:r>
                      <a:r>
                        <a:rPr kumimoji="1" lang="ja-JP" altLang="en-US" sz="1400" b="0">
                          <a:latin typeface="+mn-ea"/>
                          <a:ea typeface="+mn-ea"/>
                        </a:rPr>
                        <a:t>倍</a:t>
                      </a:r>
                    </a:p>
                  </a:txBody>
                  <a:tcPr marL="36000" marR="36000" anchor="ctr"/>
                </a:tc>
                <a:tc>
                  <a:txBody>
                    <a:bodyPr/>
                    <a:lstStyle/>
                    <a:p>
                      <a:pPr algn="ctr"/>
                      <a:r>
                        <a:rPr kumimoji="1" lang="en-US" altLang="ja-JP" sz="1400" b="0">
                          <a:latin typeface="+mn-ea"/>
                          <a:ea typeface="+mn-ea"/>
                        </a:rPr>
                        <a:t>0.83</a:t>
                      </a:r>
                      <a:r>
                        <a:rPr kumimoji="1" lang="ja-JP" altLang="en-US" sz="1400" b="0">
                          <a:latin typeface="+mn-ea"/>
                          <a:ea typeface="+mn-ea"/>
                        </a:rPr>
                        <a:t>倍</a:t>
                      </a:r>
                    </a:p>
                  </a:txBody>
                  <a:tcPr marL="36000" marR="36000" anchor="ctr"/>
                </a:tc>
                <a:tc>
                  <a:txBody>
                    <a:bodyPr/>
                    <a:lstStyle/>
                    <a:p>
                      <a:pPr algn="ctr"/>
                      <a:r>
                        <a:rPr kumimoji="1" lang="en-US" altLang="ja-JP" sz="1400" b="0">
                          <a:latin typeface="+mn-ea"/>
                          <a:ea typeface="+mn-ea"/>
                        </a:rPr>
                        <a:t>0.66</a:t>
                      </a:r>
                      <a:r>
                        <a:rPr kumimoji="1" lang="ja-JP" altLang="en-US" sz="1400" b="0">
                          <a:latin typeface="+mn-ea"/>
                          <a:ea typeface="+mn-ea"/>
                        </a:rPr>
                        <a:t>倍</a:t>
                      </a:r>
                    </a:p>
                  </a:txBody>
                  <a:tcPr marL="36000" marR="36000" anchor="ctr"/>
                </a:tc>
                <a:extLst>
                  <a:ext uri="{0D108BD9-81ED-4DB2-BD59-A6C34878D82A}">
                    <a16:rowId xmlns:a16="http://schemas.microsoft.com/office/drawing/2014/main" val="1924801665"/>
                  </a:ext>
                </a:extLst>
              </a:tr>
            </a:tbl>
          </a:graphicData>
        </a:graphic>
      </p:graphicFrame>
      <p:sp>
        <p:nvSpPr>
          <p:cNvPr id="33" name="テキスト プレースホルダー 1">
            <a:extLst>
              <a:ext uri="{FF2B5EF4-FFF2-40B4-BE49-F238E27FC236}">
                <a16:creationId xmlns:a16="http://schemas.microsoft.com/office/drawing/2014/main" id="{4DA89655-3AC2-40C1-951B-F61123EFD8BF}"/>
              </a:ext>
            </a:extLst>
          </p:cNvPr>
          <p:cNvSpPr txBox="1">
            <a:spLocks/>
          </p:cNvSpPr>
          <p:nvPr/>
        </p:nvSpPr>
        <p:spPr>
          <a:xfrm>
            <a:off x="558503" y="2574573"/>
            <a:ext cx="3965653" cy="1950829"/>
          </a:xfrm>
          <a:prstGeom prst="rect">
            <a:avLst/>
          </a:prstGeom>
          <a:ln w="12700">
            <a:solidFill>
              <a:schemeClr val="accent1"/>
            </a:solidFill>
          </a:ln>
        </p:spPr>
        <p:txBody>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ts val="1200"/>
              </a:lnSpc>
              <a:spcBef>
                <a:spcPts val="750"/>
              </a:spcBef>
              <a:spcAft>
                <a:spcPts val="0"/>
              </a:spcAft>
              <a:buClrTx/>
              <a:buSzTx/>
              <a:buFont typeface="Arial" panose="020B0604020202020204" pitchFamily="34" charset="0"/>
              <a:buNone/>
              <a:tabLst/>
              <a:defRPr/>
            </a:pP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sp>
        <p:nvSpPr>
          <p:cNvPr id="36" name="テキスト プレースホルダー 1">
            <a:extLst>
              <a:ext uri="{FF2B5EF4-FFF2-40B4-BE49-F238E27FC236}">
                <a16:creationId xmlns:a16="http://schemas.microsoft.com/office/drawing/2014/main" id="{7D1FA586-E93B-4D6B-A206-8CACFD47491F}"/>
              </a:ext>
            </a:extLst>
          </p:cNvPr>
          <p:cNvSpPr txBox="1">
            <a:spLocks/>
          </p:cNvSpPr>
          <p:nvPr/>
        </p:nvSpPr>
        <p:spPr>
          <a:xfrm>
            <a:off x="226277" y="2574573"/>
            <a:ext cx="328728" cy="1950828"/>
          </a:xfrm>
          <a:prstGeom prst="rect">
            <a:avLst/>
          </a:prstGeom>
          <a:ln w="12700">
            <a:solidFill>
              <a:schemeClr val="accent1"/>
            </a:solidFill>
          </a:ln>
        </p:spPr>
        <p:txBody>
          <a:bodyPr vert="eaVert" anchor="b"/>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ctr" defTabSz="685800" rtl="0" eaLnBrk="1" fontAlgn="auto" latinLnBrk="0" hangingPunct="1">
              <a:lnSpc>
                <a:spcPts val="1200"/>
              </a:lnSpc>
              <a:spcBef>
                <a:spcPts val="750"/>
              </a:spcBef>
              <a:spcAft>
                <a:spcPts val="0"/>
              </a:spcAft>
              <a:buClrTx/>
              <a:buSzTx/>
              <a:buFont typeface="Arial" panose="020B0604020202020204" pitchFamily="34" charset="0"/>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rPr>
              <a:t>① 売上</a:t>
            </a:r>
            <a:endParaRPr kumimoji="1" lang="en-US" altLang="ja-JP" sz="1400" b="0" i="0" u="none" strike="noStrike" kern="1200" cap="none" spc="0" normalizeH="0" baseline="0" noProof="0">
              <a:ln>
                <a:noFill/>
              </a:ln>
              <a:solidFill>
                <a:prstClr val="black"/>
              </a:solidFill>
              <a:effectLst/>
              <a:uLnTx/>
              <a:uFillTx/>
              <a:latin typeface="Meiryo UI"/>
              <a:ea typeface="Meiryo UI"/>
            </a:endParaRPr>
          </a:p>
        </p:txBody>
      </p:sp>
      <p:sp>
        <p:nvSpPr>
          <p:cNvPr id="52" name="テキスト ボックス 51">
            <a:extLst>
              <a:ext uri="{FF2B5EF4-FFF2-40B4-BE49-F238E27FC236}">
                <a16:creationId xmlns:a16="http://schemas.microsoft.com/office/drawing/2014/main" id="{6786CC15-EC22-43F6-8FB5-0AFE7548F745}"/>
              </a:ext>
            </a:extLst>
          </p:cNvPr>
          <p:cNvSpPr txBox="1"/>
          <p:nvPr/>
        </p:nvSpPr>
        <p:spPr>
          <a:xfrm>
            <a:off x="646410" y="3469494"/>
            <a:ext cx="40130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新設</a:t>
            </a:r>
          </a:p>
        </p:txBody>
      </p:sp>
      <p:sp>
        <p:nvSpPr>
          <p:cNvPr id="53" name="テキスト ボックス 52">
            <a:extLst>
              <a:ext uri="{FF2B5EF4-FFF2-40B4-BE49-F238E27FC236}">
                <a16:creationId xmlns:a16="http://schemas.microsoft.com/office/drawing/2014/main" id="{BF85F811-6012-4481-BBDF-241CE8A6492E}"/>
              </a:ext>
            </a:extLst>
          </p:cNvPr>
          <p:cNvSpPr txBox="1"/>
          <p:nvPr/>
        </p:nvSpPr>
        <p:spPr>
          <a:xfrm>
            <a:off x="619551" y="4157227"/>
            <a:ext cx="435535"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AS</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4" name="テキスト ボックス 53">
            <a:extLst>
              <a:ext uri="{FF2B5EF4-FFF2-40B4-BE49-F238E27FC236}">
                <a16:creationId xmlns:a16="http://schemas.microsoft.com/office/drawing/2014/main" id="{DBD9BBD5-27A3-4444-9BCB-A527805D9602}"/>
              </a:ext>
            </a:extLst>
          </p:cNvPr>
          <p:cNvSpPr txBox="1"/>
          <p:nvPr/>
        </p:nvSpPr>
        <p:spPr>
          <a:xfrm>
            <a:off x="575634" y="2949941"/>
            <a:ext cx="4613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G</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会社</a:t>
            </a:r>
          </a:p>
        </p:txBody>
      </p:sp>
      <p:sp>
        <p:nvSpPr>
          <p:cNvPr id="59" name="テキスト ボックス 58">
            <a:extLst>
              <a:ext uri="{FF2B5EF4-FFF2-40B4-BE49-F238E27FC236}">
                <a16:creationId xmlns:a16="http://schemas.microsoft.com/office/drawing/2014/main" id="{293C2AF6-CE37-41D1-80AB-F056B3B3FBBE}"/>
              </a:ext>
            </a:extLst>
          </p:cNvPr>
          <p:cNvSpPr txBox="1"/>
          <p:nvPr/>
        </p:nvSpPr>
        <p:spPr>
          <a:xfrm>
            <a:off x="847349" y="4379747"/>
            <a:ext cx="3615660" cy="1692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FY18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FY19 FY20</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FY21</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FY22 FY23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FY24</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FY25</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FY26</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FY27</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 </a:t>
            </a:r>
            <a:endParaRPr kumimoji="1" lang="ja-JP" altLang="en-US"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60" name="テキスト ボックス 59">
            <a:extLst>
              <a:ext uri="{FF2B5EF4-FFF2-40B4-BE49-F238E27FC236}">
                <a16:creationId xmlns:a16="http://schemas.microsoft.com/office/drawing/2014/main" id="{8906DAFE-A770-4F30-8222-7DCA7CF31265}"/>
              </a:ext>
            </a:extLst>
          </p:cNvPr>
          <p:cNvSpPr txBox="1"/>
          <p:nvPr/>
        </p:nvSpPr>
        <p:spPr>
          <a:xfrm>
            <a:off x="5061641" y="4388632"/>
            <a:ext cx="3890322" cy="1692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FY18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FY19   FY20  </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FY21  </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FY22   FY23  </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FY24  </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FY25  </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FY26 </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FY27  </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 </a:t>
            </a:r>
            <a:endParaRPr kumimoji="1" lang="ja-JP" altLang="en-US"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61" name="テキスト ボックス 60">
            <a:extLst>
              <a:ext uri="{FF2B5EF4-FFF2-40B4-BE49-F238E27FC236}">
                <a16:creationId xmlns:a16="http://schemas.microsoft.com/office/drawing/2014/main" id="{DE1A428E-CE05-42C5-AE08-8938D4006977}"/>
              </a:ext>
            </a:extLst>
          </p:cNvPr>
          <p:cNvSpPr txBox="1"/>
          <p:nvPr/>
        </p:nvSpPr>
        <p:spPr>
          <a:xfrm>
            <a:off x="4951135" y="3551705"/>
            <a:ext cx="3217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mn-cs"/>
              </a:rPr>
              <a:t>0</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62" name="直線コネクタ 61">
            <a:extLst>
              <a:ext uri="{FF2B5EF4-FFF2-40B4-BE49-F238E27FC236}">
                <a16:creationId xmlns:a16="http://schemas.microsoft.com/office/drawing/2014/main" id="{D22DBDA0-AE57-4444-8B01-7C30B455D073}"/>
              </a:ext>
            </a:extLst>
          </p:cNvPr>
          <p:cNvCxnSpPr>
            <a:cxnSpLocks/>
          </p:cNvCxnSpPr>
          <p:nvPr/>
        </p:nvCxnSpPr>
        <p:spPr>
          <a:xfrm>
            <a:off x="6945556" y="4203989"/>
            <a:ext cx="1824546" cy="5916"/>
          </a:xfrm>
          <a:prstGeom prst="line">
            <a:avLst/>
          </a:prstGeom>
          <a:ln w="6350">
            <a:prstDash val="dash"/>
            <a:tailEnd type="stealth"/>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9AAFA3BF-3D1E-4848-9A87-790DF14B61BF}"/>
              </a:ext>
            </a:extLst>
          </p:cNvPr>
          <p:cNvSpPr txBox="1"/>
          <p:nvPr/>
        </p:nvSpPr>
        <p:spPr>
          <a:xfrm>
            <a:off x="6953375" y="4020819"/>
            <a:ext cx="4613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計画</a:t>
            </a:r>
          </a:p>
        </p:txBody>
      </p:sp>
      <p:sp>
        <p:nvSpPr>
          <p:cNvPr id="66" name="テキスト ボックス 65">
            <a:extLst>
              <a:ext uri="{FF2B5EF4-FFF2-40B4-BE49-F238E27FC236}">
                <a16:creationId xmlns:a16="http://schemas.microsoft.com/office/drawing/2014/main" id="{5906A10D-E045-4B6F-BC43-96B64868B355}"/>
              </a:ext>
            </a:extLst>
          </p:cNvPr>
          <p:cNvSpPr txBox="1"/>
          <p:nvPr/>
        </p:nvSpPr>
        <p:spPr>
          <a:xfrm>
            <a:off x="4078858" y="4601703"/>
            <a:ext cx="384151" cy="200055"/>
          </a:xfrm>
          <a:prstGeom prst="rect">
            <a:avLst/>
          </a:prstGeom>
          <a:noFill/>
          <a:ln>
            <a:solidFill>
              <a:schemeClr val="accent1"/>
            </a:solidFill>
          </a:ln>
        </p:spPr>
        <p:txBody>
          <a:bodyPr wrap="square">
            <a:spAutoFit/>
          </a:bodyPr>
          <a:lstStyle/>
          <a:p>
            <a:pPr marL="0" marR="0" lvl="0" indent="0" algn="ctr" defTabSz="844083" rtl="0" eaLnBrk="1" fontAlgn="auto" latinLnBrk="0" hangingPunct="1">
              <a:lnSpc>
                <a:spcPct val="100000"/>
              </a:lnSpc>
              <a:spcBef>
                <a:spcPts val="0"/>
              </a:spcBef>
              <a:spcAft>
                <a:spcPts val="0"/>
              </a:spcAft>
              <a:buClrTx/>
              <a:buSzTx/>
              <a:buFontTx/>
              <a:buNone/>
              <a:tabLst/>
              <a:defRPr/>
            </a:pPr>
            <a:r>
              <a:rPr kumimoji="1" lang="ja-JP" altLang="en-US" sz="700" b="1" i="0" u="none" strike="noStrike" kern="1200" cap="none" spc="0" normalizeH="0" baseline="0" noProof="0">
                <a:ln>
                  <a:noFill/>
                </a:ln>
                <a:solidFill>
                  <a:prstClr val="black"/>
                </a:solidFill>
                <a:effectLst/>
                <a:uLnTx/>
                <a:uFillTx/>
                <a:latin typeface="Meiryo UI"/>
                <a:ea typeface="Meiryo UI"/>
                <a:cs typeface="+mn-cs"/>
              </a:rPr>
              <a:t>単独</a:t>
            </a:r>
            <a:endParaRPr kumimoji="1" lang="ja-JP" alt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D68412D-2CB5-40A8-A5E4-89B74122383A}"/>
              </a:ext>
            </a:extLst>
          </p:cNvPr>
          <p:cNvSpPr/>
          <p:nvPr/>
        </p:nvSpPr>
        <p:spPr>
          <a:xfrm>
            <a:off x="197625" y="576522"/>
            <a:ext cx="8762909" cy="555331"/>
          </a:xfrm>
          <a:prstGeom prst="rect">
            <a:avLst/>
          </a:prstGeom>
          <a:solidFill>
            <a:schemeClr val="accent2">
              <a:lumMod val="40000"/>
              <a:lumOff val="60000"/>
            </a:schemeClr>
          </a:solidFill>
          <a:ln w="12700" cap="flat" cmpd="sng" algn="ctr">
            <a:noFill/>
            <a:prstDash val="solid"/>
            <a:miter lim="800000"/>
          </a:ln>
          <a:effectLst/>
        </p:spPr>
        <p:txBody>
          <a:bodyPr tIns="0" bIns="36000" rtlCol="0" anchor="t" anchorCtr="0"/>
          <a:lstStyle/>
          <a:p>
            <a:pPr marL="410318" marR="0" lvl="0" indent="-329720" algn="l" defTabSz="844083"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新設の引合対応を中止し</a:t>
            </a:r>
            <a:r>
              <a:rPr kumimoji="1" lang="en-US" altLang="ja-JP" sz="1800" b="0" i="0" u="none" strike="noStrike" kern="1200" cap="none" spc="0" normalizeH="0" baseline="0" noProof="0">
                <a:ln>
                  <a:noFill/>
                </a:ln>
                <a:solidFill>
                  <a:srgbClr val="000000"/>
                </a:solidFill>
                <a:effectLst/>
                <a:uLnTx/>
                <a:uFillTx/>
                <a:latin typeface="Meiryo UI"/>
                <a:ea typeface="Meiryo UI"/>
                <a:cs typeface="+mn-cs"/>
              </a:rPr>
              <a:t>AS</a:t>
            </a: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に特化、継続して収益を上げる体質の</a:t>
            </a:r>
            <a:r>
              <a:rPr kumimoji="1" lang="en-US" altLang="ja-JP" sz="1800" b="0" i="0" u="none" strike="noStrike" kern="1200" cap="none" spc="0" normalizeH="0" baseline="0" noProof="0">
                <a:ln>
                  <a:noFill/>
                </a:ln>
                <a:solidFill>
                  <a:srgbClr val="000000"/>
                </a:solidFill>
                <a:effectLst/>
                <a:uLnTx/>
                <a:uFillTx/>
                <a:latin typeface="Meiryo UI"/>
                <a:ea typeface="Meiryo UI"/>
                <a:cs typeface="+mn-cs"/>
              </a:rPr>
              <a:t>SBU</a:t>
            </a: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に変革</a:t>
            </a:r>
            <a:endParaRPr kumimoji="1" lang="en-US" altLang="ja-JP" sz="1800" b="0" i="0" u="none" strike="noStrike" kern="1200" cap="none" spc="0" normalizeH="0" baseline="0" noProof="0">
              <a:ln>
                <a:noFill/>
              </a:ln>
              <a:solidFill>
                <a:srgbClr val="000000"/>
              </a:solidFill>
              <a:effectLst/>
              <a:uLnTx/>
              <a:uFillTx/>
              <a:latin typeface="Meiryo UI"/>
              <a:ea typeface="Meiryo UI"/>
              <a:cs typeface="+mn-cs"/>
            </a:endParaRPr>
          </a:p>
          <a:p>
            <a:pPr marL="410318" marR="0" lvl="0" indent="-329720" algn="l" defTabSz="844083"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人員・固定費を圧縮し</a:t>
            </a:r>
            <a:r>
              <a:rPr kumimoji="1" lang="en-US" altLang="ja-JP" sz="1800" b="0" i="0" u="none" strike="noStrike" kern="1200" cap="none" spc="0" normalizeH="0" baseline="0" noProof="0">
                <a:ln>
                  <a:noFill/>
                </a:ln>
                <a:solidFill>
                  <a:srgbClr val="000000"/>
                </a:solidFill>
                <a:effectLst/>
                <a:uLnTx/>
                <a:uFillTx/>
                <a:latin typeface="Meiryo UI"/>
                <a:ea typeface="Meiryo UI"/>
                <a:cs typeface="+mn-cs"/>
              </a:rPr>
              <a:t>FY24</a:t>
            </a: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末までに事業利益率</a:t>
            </a:r>
            <a:r>
              <a:rPr kumimoji="1" lang="en-US" altLang="ja-JP" sz="1800" b="0" i="0" u="none" strike="noStrike" kern="1200" cap="none" spc="0" normalizeH="0" baseline="0" noProof="0">
                <a:ln>
                  <a:noFill/>
                </a:ln>
                <a:solidFill>
                  <a:srgbClr val="000000"/>
                </a:solidFill>
                <a:effectLst/>
                <a:uLnTx/>
                <a:uFillTx/>
                <a:latin typeface="Meiryo UI"/>
                <a:ea typeface="Meiryo UI"/>
                <a:cs typeface="+mn-cs"/>
              </a:rPr>
              <a:t>7</a:t>
            </a:r>
            <a:r>
              <a:rPr kumimoji="1" lang="ja-JP" altLang="en-US" sz="1800" b="0" i="0" u="none" strike="noStrike" kern="1200" cap="none" spc="0" normalizeH="0" baseline="0" noProof="0">
                <a:ln>
                  <a:noFill/>
                </a:ln>
                <a:solidFill>
                  <a:srgbClr val="000000"/>
                </a:solidFill>
                <a:effectLst/>
                <a:uLnTx/>
                <a:uFillTx/>
                <a:latin typeface="Meiryo UI"/>
                <a:ea typeface="Meiryo UI"/>
                <a:cs typeface="+mn-cs"/>
              </a:rPr>
              <a:t>％を達成、財務健全化を推進する</a:t>
            </a:r>
            <a:endParaRPr kumimoji="1" lang="en-US" altLang="ja-JP" sz="1800" b="0" i="0" u="none" strike="noStrike" kern="1200" cap="none" spc="0" normalizeH="0" baseline="0" noProof="0">
              <a:ln>
                <a:noFill/>
              </a:ln>
              <a:solidFill>
                <a:srgbClr val="000000"/>
              </a:solidFill>
              <a:effectLst/>
              <a:uLnTx/>
              <a:uFillTx/>
              <a:latin typeface="Meiryo UI"/>
              <a:ea typeface="Meiryo UI"/>
              <a:cs typeface="+mn-cs"/>
            </a:endParaRPr>
          </a:p>
        </p:txBody>
      </p:sp>
      <p:sp>
        <p:nvSpPr>
          <p:cNvPr id="31" name="テキスト ボックス 30">
            <a:extLst>
              <a:ext uri="{FF2B5EF4-FFF2-40B4-BE49-F238E27FC236}">
                <a16:creationId xmlns:a16="http://schemas.microsoft.com/office/drawing/2014/main" id="{C6D9D718-A64E-41E8-93AB-14AC58F05539}"/>
              </a:ext>
            </a:extLst>
          </p:cNvPr>
          <p:cNvSpPr txBox="1"/>
          <p:nvPr/>
        </p:nvSpPr>
        <p:spPr>
          <a:xfrm>
            <a:off x="746638" y="2579923"/>
            <a:ext cx="461351"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億円</a:t>
            </a:r>
          </a:p>
        </p:txBody>
      </p:sp>
      <p:sp>
        <p:nvSpPr>
          <p:cNvPr id="32" name="テキスト ボックス 31">
            <a:extLst>
              <a:ext uri="{FF2B5EF4-FFF2-40B4-BE49-F238E27FC236}">
                <a16:creationId xmlns:a16="http://schemas.microsoft.com/office/drawing/2014/main" id="{8AB66C3F-FAD6-46DA-8B3F-75DFFE88D101}"/>
              </a:ext>
            </a:extLst>
          </p:cNvPr>
          <p:cNvSpPr txBox="1"/>
          <p:nvPr/>
        </p:nvSpPr>
        <p:spPr>
          <a:xfrm>
            <a:off x="4153830" y="5378529"/>
            <a:ext cx="461351"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億円</a:t>
            </a:r>
          </a:p>
        </p:txBody>
      </p:sp>
      <p:sp>
        <p:nvSpPr>
          <p:cNvPr id="34" name="テキスト ボックス 33">
            <a:extLst>
              <a:ext uri="{FF2B5EF4-FFF2-40B4-BE49-F238E27FC236}">
                <a16:creationId xmlns:a16="http://schemas.microsoft.com/office/drawing/2014/main" id="{9B602375-69F4-427E-A938-3FE438B12589}"/>
              </a:ext>
            </a:extLst>
          </p:cNvPr>
          <p:cNvSpPr txBox="1"/>
          <p:nvPr/>
        </p:nvSpPr>
        <p:spPr>
          <a:xfrm>
            <a:off x="4168256" y="5652754"/>
            <a:ext cx="270262"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人</a:t>
            </a:r>
          </a:p>
        </p:txBody>
      </p:sp>
      <p:sp>
        <p:nvSpPr>
          <p:cNvPr id="39" name="テキスト ボックス 38">
            <a:extLst>
              <a:ext uri="{FF2B5EF4-FFF2-40B4-BE49-F238E27FC236}">
                <a16:creationId xmlns:a16="http://schemas.microsoft.com/office/drawing/2014/main" id="{02F67D80-EA4B-4338-A062-4FC1272754DE}"/>
              </a:ext>
            </a:extLst>
          </p:cNvPr>
          <p:cNvSpPr txBox="1"/>
          <p:nvPr/>
        </p:nvSpPr>
        <p:spPr>
          <a:xfrm>
            <a:off x="634681" y="6221232"/>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FY21</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0" name="テキスト ボックス 39">
            <a:extLst>
              <a:ext uri="{FF2B5EF4-FFF2-40B4-BE49-F238E27FC236}">
                <a16:creationId xmlns:a16="http://schemas.microsoft.com/office/drawing/2014/main" id="{7363A1B7-4B6E-4726-A099-0B14D6A3B7A5}"/>
              </a:ext>
            </a:extLst>
          </p:cNvPr>
          <p:cNvSpPr txBox="1"/>
          <p:nvPr/>
        </p:nvSpPr>
        <p:spPr>
          <a:xfrm>
            <a:off x="1035069" y="6222670"/>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1" name="テキスト ボックス 40">
            <a:extLst>
              <a:ext uri="{FF2B5EF4-FFF2-40B4-BE49-F238E27FC236}">
                <a16:creationId xmlns:a16="http://schemas.microsoft.com/office/drawing/2014/main" id="{DA9A0FCF-A2AD-4C0E-8D68-4F144453A039}"/>
              </a:ext>
            </a:extLst>
          </p:cNvPr>
          <p:cNvSpPr txBox="1"/>
          <p:nvPr/>
        </p:nvSpPr>
        <p:spPr>
          <a:xfrm>
            <a:off x="1664438" y="6221231"/>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2" name="テキスト ボックス 41">
            <a:extLst>
              <a:ext uri="{FF2B5EF4-FFF2-40B4-BE49-F238E27FC236}">
                <a16:creationId xmlns:a16="http://schemas.microsoft.com/office/drawing/2014/main" id="{0CDD7DBA-5BF5-487C-8489-AC63B59F79AD}"/>
              </a:ext>
            </a:extLst>
          </p:cNvPr>
          <p:cNvSpPr txBox="1"/>
          <p:nvPr/>
        </p:nvSpPr>
        <p:spPr>
          <a:xfrm>
            <a:off x="2282414" y="6223461"/>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FY24</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3" name="テキスト ボックス 42">
            <a:extLst>
              <a:ext uri="{FF2B5EF4-FFF2-40B4-BE49-F238E27FC236}">
                <a16:creationId xmlns:a16="http://schemas.microsoft.com/office/drawing/2014/main" id="{94BBBAA0-BF7A-4DF2-9EF2-326D835C2565}"/>
              </a:ext>
            </a:extLst>
          </p:cNvPr>
          <p:cNvSpPr txBox="1"/>
          <p:nvPr/>
        </p:nvSpPr>
        <p:spPr>
          <a:xfrm>
            <a:off x="2697886" y="6221231"/>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FY25</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4" name="テキスト ボックス 43">
            <a:extLst>
              <a:ext uri="{FF2B5EF4-FFF2-40B4-BE49-F238E27FC236}">
                <a16:creationId xmlns:a16="http://schemas.microsoft.com/office/drawing/2014/main" id="{8568CBDF-4F32-4CEC-89A4-EF4D80CDBF32}"/>
              </a:ext>
            </a:extLst>
          </p:cNvPr>
          <p:cNvSpPr txBox="1"/>
          <p:nvPr/>
        </p:nvSpPr>
        <p:spPr>
          <a:xfrm>
            <a:off x="3125106" y="6223461"/>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FY26</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5" name="テキスト ボックス 44">
            <a:extLst>
              <a:ext uri="{FF2B5EF4-FFF2-40B4-BE49-F238E27FC236}">
                <a16:creationId xmlns:a16="http://schemas.microsoft.com/office/drawing/2014/main" id="{9F1CB2E0-E3AF-49CD-93D5-108CB44C51BE}"/>
              </a:ext>
            </a:extLst>
          </p:cNvPr>
          <p:cNvSpPr txBox="1"/>
          <p:nvPr/>
        </p:nvSpPr>
        <p:spPr>
          <a:xfrm>
            <a:off x="3508282" y="6229005"/>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FY27</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6" name="テキスト ボックス 45">
            <a:extLst>
              <a:ext uri="{FF2B5EF4-FFF2-40B4-BE49-F238E27FC236}">
                <a16:creationId xmlns:a16="http://schemas.microsoft.com/office/drawing/2014/main" id="{73BE5AA2-EAAC-4988-90E0-D6FF616D1F8E}"/>
              </a:ext>
            </a:extLst>
          </p:cNvPr>
          <p:cNvSpPr txBox="1"/>
          <p:nvPr/>
        </p:nvSpPr>
        <p:spPr>
          <a:xfrm>
            <a:off x="3900867" y="6230931"/>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FY28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末</a:t>
            </a:r>
          </a:p>
        </p:txBody>
      </p:sp>
      <p:sp>
        <p:nvSpPr>
          <p:cNvPr id="47" name="テキスト ボックス 46">
            <a:extLst>
              <a:ext uri="{FF2B5EF4-FFF2-40B4-BE49-F238E27FC236}">
                <a16:creationId xmlns:a16="http://schemas.microsoft.com/office/drawing/2014/main" id="{98DECAA2-D79E-46AE-8805-5726955F3C79}"/>
              </a:ext>
            </a:extLst>
          </p:cNvPr>
          <p:cNvSpPr txBox="1"/>
          <p:nvPr/>
        </p:nvSpPr>
        <p:spPr>
          <a:xfrm>
            <a:off x="1450923" y="6129981"/>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事計</a:t>
            </a:r>
            <a:r>
              <a:rPr kumimoji="1" lang="en-US" altLang="ja-JP" sz="500" b="1" i="0" u="none" strike="noStrike" kern="1200" cap="none" spc="0" normalizeH="0" baseline="0" noProof="0">
                <a:ln>
                  <a:noFill/>
                </a:ln>
                <a:solidFill>
                  <a:prstClr val="black"/>
                </a:solidFill>
                <a:effectLst/>
                <a:uLnTx/>
                <a:uFillTx/>
                <a:latin typeface="Meiryo UI"/>
                <a:ea typeface="Meiryo UI"/>
                <a:cs typeface="+mn-cs"/>
              </a:rPr>
              <a:t>F</a:t>
            </a:r>
          </a:p>
        </p:txBody>
      </p:sp>
      <p:sp>
        <p:nvSpPr>
          <p:cNvPr id="48" name="テキスト ボックス 47">
            <a:extLst>
              <a:ext uri="{FF2B5EF4-FFF2-40B4-BE49-F238E27FC236}">
                <a16:creationId xmlns:a16="http://schemas.microsoft.com/office/drawing/2014/main" id="{ED8923CC-FCBA-4B34-B949-D22546A534A6}"/>
              </a:ext>
            </a:extLst>
          </p:cNvPr>
          <p:cNvSpPr txBox="1"/>
          <p:nvPr/>
        </p:nvSpPr>
        <p:spPr>
          <a:xfrm>
            <a:off x="1856249" y="6125770"/>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見直し</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49" name="テキスト ボックス 48">
            <a:extLst>
              <a:ext uri="{FF2B5EF4-FFF2-40B4-BE49-F238E27FC236}">
                <a16:creationId xmlns:a16="http://schemas.microsoft.com/office/drawing/2014/main" id="{24E6065D-A22F-4F62-B8B4-50790E765B81}"/>
              </a:ext>
            </a:extLst>
          </p:cNvPr>
          <p:cNvSpPr txBox="1"/>
          <p:nvPr/>
        </p:nvSpPr>
        <p:spPr>
          <a:xfrm>
            <a:off x="2273044" y="6130283"/>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見直し</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50" name="テキスト ボックス 49">
            <a:extLst>
              <a:ext uri="{FF2B5EF4-FFF2-40B4-BE49-F238E27FC236}">
                <a16:creationId xmlns:a16="http://schemas.microsoft.com/office/drawing/2014/main" id="{BB8A2EE7-354C-4EFF-A04B-6D708C68BC56}"/>
              </a:ext>
            </a:extLst>
          </p:cNvPr>
          <p:cNvSpPr txBox="1"/>
          <p:nvPr/>
        </p:nvSpPr>
        <p:spPr>
          <a:xfrm>
            <a:off x="2675182" y="6125770"/>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見直し</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51" name="テキスト ボックス 50">
            <a:extLst>
              <a:ext uri="{FF2B5EF4-FFF2-40B4-BE49-F238E27FC236}">
                <a16:creationId xmlns:a16="http://schemas.microsoft.com/office/drawing/2014/main" id="{54D0B79F-C57A-425B-92D4-CD26D80FC72D}"/>
              </a:ext>
            </a:extLst>
          </p:cNvPr>
          <p:cNvSpPr txBox="1"/>
          <p:nvPr/>
        </p:nvSpPr>
        <p:spPr>
          <a:xfrm>
            <a:off x="3100137" y="6130283"/>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見直し</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55" name="テキスト ボックス 54">
            <a:extLst>
              <a:ext uri="{FF2B5EF4-FFF2-40B4-BE49-F238E27FC236}">
                <a16:creationId xmlns:a16="http://schemas.microsoft.com/office/drawing/2014/main" id="{681D7F37-8A5C-4EDB-BC32-87B81E0F1DE0}"/>
              </a:ext>
            </a:extLst>
          </p:cNvPr>
          <p:cNvSpPr txBox="1"/>
          <p:nvPr/>
        </p:nvSpPr>
        <p:spPr>
          <a:xfrm>
            <a:off x="3494833" y="6130283"/>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見直し</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57" name="テキスト ボックス 56">
            <a:extLst>
              <a:ext uri="{FF2B5EF4-FFF2-40B4-BE49-F238E27FC236}">
                <a16:creationId xmlns:a16="http://schemas.microsoft.com/office/drawing/2014/main" id="{C55BBF8B-9398-44A6-9BC8-4087ED4D3FCB}"/>
              </a:ext>
            </a:extLst>
          </p:cNvPr>
          <p:cNvSpPr txBox="1"/>
          <p:nvPr/>
        </p:nvSpPr>
        <p:spPr>
          <a:xfrm>
            <a:off x="3904640" y="6126903"/>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見直し</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58" name="テキスト ボックス 57">
            <a:extLst>
              <a:ext uri="{FF2B5EF4-FFF2-40B4-BE49-F238E27FC236}">
                <a16:creationId xmlns:a16="http://schemas.microsoft.com/office/drawing/2014/main" id="{58A27497-5555-49E4-A964-48349806DF75}"/>
              </a:ext>
            </a:extLst>
          </p:cNvPr>
          <p:cNvSpPr txBox="1"/>
          <p:nvPr/>
        </p:nvSpPr>
        <p:spPr>
          <a:xfrm>
            <a:off x="1041728" y="6129442"/>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見通し</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sp>
        <p:nvSpPr>
          <p:cNvPr id="64" name="テキスト ボックス 63">
            <a:extLst>
              <a:ext uri="{FF2B5EF4-FFF2-40B4-BE49-F238E27FC236}">
                <a16:creationId xmlns:a16="http://schemas.microsoft.com/office/drawing/2014/main" id="{D2609C4C-7531-4FF0-8C08-711C8ED3CA98}"/>
              </a:ext>
            </a:extLst>
          </p:cNvPr>
          <p:cNvSpPr txBox="1"/>
          <p:nvPr/>
        </p:nvSpPr>
        <p:spPr>
          <a:xfrm>
            <a:off x="622137" y="6129441"/>
            <a:ext cx="432041" cy="1692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実績</a:t>
            </a:r>
            <a:endParaRPr kumimoji="1" lang="en-US" altLang="ja-JP" sz="500" b="1" i="0" u="none" strike="noStrike" kern="1200" cap="none" spc="0" normalizeH="0" baseline="0" noProof="0">
              <a:ln>
                <a:noFill/>
              </a:ln>
              <a:solidFill>
                <a:prstClr val="black"/>
              </a:solidFill>
              <a:effectLst/>
              <a:uLnTx/>
              <a:uFillTx/>
              <a:latin typeface="Meiryo UI"/>
              <a:ea typeface="Meiryo UI"/>
              <a:cs typeface="+mn-cs"/>
            </a:endParaRPr>
          </a:p>
        </p:txBody>
      </p:sp>
      <p:cxnSp>
        <p:nvCxnSpPr>
          <p:cNvPr id="70" name="直線コネクタ 69">
            <a:extLst>
              <a:ext uri="{FF2B5EF4-FFF2-40B4-BE49-F238E27FC236}">
                <a16:creationId xmlns:a16="http://schemas.microsoft.com/office/drawing/2014/main" id="{9FAFAC41-9210-4A9E-B545-1464B19C67E9}"/>
              </a:ext>
            </a:extLst>
          </p:cNvPr>
          <p:cNvCxnSpPr/>
          <p:nvPr/>
        </p:nvCxnSpPr>
        <p:spPr>
          <a:xfrm>
            <a:off x="5132210" y="3660119"/>
            <a:ext cx="366259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FFD53D94-DEE5-48EA-84D4-47837341340D}"/>
              </a:ext>
            </a:extLst>
          </p:cNvPr>
          <p:cNvSpPr txBox="1"/>
          <p:nvPr/>
        </p:nvSpPr>
        <p:spPr>
          <a:xfrm>
            <a:off x="4661243" y="6204076"/>
            <a:ext cx="3965652" cy="507831"/>
          </a:xfrm>
          <a:prstGeom prst="rect">
            <a:avLst/>
          </a:prstGeom>
          <a:solidFill>
            <a:srgbClr val="FFFF00"/>
          </a:solidFill>
        </p:spPr>
        <p:txBody>
          <a:bodyPr wrap="square" rtlCol="0">
            <a:spAutoFit/>
          </a:bodyPr>
          <a:lstStyle/>
          <a:p>
            <a:r>
              <a:rPr kumimoji="1" lang="en-US" altLang="ja-JP" sz="900"/>
              <a:t>SAV = </a:t>
            </a:r>
            <a:r>
              <a:rPr kumimoji="1" lang="ja-JP" altLang="en-US" sz="900"/>
              <a:t>税引後事業利益 </a:t>
            </a:r>
            <a:r>
              <a:rPr kumimoji="1" lang="en-US" altLang="ja-JP" sz="900"/>
              <a:t>– </a:t>
            </a:r>
            <a:r>
              <a:rPr kumimoji="1" lang="ja-JP" altLang="en-US" sz="900"/>
              <a:t>資本コスト</a:t>
            </a:r>
            <a:endParaRPr kumimoji="1" lang="en-US" altLang="ja-JP" sz="900"/>
          </a:p>
          <a:p>
            <a:r>
              <a:rPr lang="ja-JP" altLang="en-US" sz="900"/>
              <a:t>株主目線での価値</a:t>
            </a:r>
            <a:r>
              <a:rPr lang="en-US" altLang="ja-JP" sz="900"/>
              <a:t>(</a:t>
            </a:r>
            <a:r>
              <a:rPr lang="ja-JP" altLang="en-US" sz="900"/>
              <a:t>資本調達に掛かるコストを上回る利益</a:t>
            </a:r>
            <a:r>
              <a:rPr lang="en-US" altLang="ja-JP" sz="900"/>
              <a:t>)</a:t>
            </a:r>
            <a:r>
              <a:rPr lang="ja-JP" altLang="en-US" sz="900"/>
              <a:t>を生み出せているかが評価される為、事業利益創出に加えて資産圧縮</a:t>
            </a:r>
            <a:r>
              <a:rPr lang="en-US" altLang="ja-JP" sz="900"/>
              <a:t>(</a:t>
            </a:r>
            <a:r>
              <a:rPr lang="ja-JP" altLang="en-US" sz="900"/>
              <a:t>効率的な経営</a:t>
            </a:r>
            <a:r>
              <a:rPr lang="en-US" altLang="ja-JP" sz="900"/>
              <a:t>)</a:t>
            </a:r>
            <a:r>
              <a:rPr lang="ja-JP" altLang="en-US" sz="900"/>
              <a:t>も求められている。</a:t>
            </a:r>
            <a:endParaRPr kumimoji="1" lang="ja-JP" altLang="en-US" sz="900"/>
          </a:p>
        </p:txBody>
      </p:sp>
    </p:spTree>
    <p:extLst>
      <p:ext uri="{BB962C8B-B14F-4D97-AF65-F5344CB8AC3E}">
        <p14:creationId xmlns:p14="http://schemas.microsoft.com/office/powerpoint/2010/main" val="327721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1C4EEA04-C59B-439F-AA81-8281E8C83E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8298" y="2865943"/>
            <a:ext cx="8887658" cy="3580949"/>
          </a:xfrm>
          <a:prstGeom prst="rect">
            <a:avLst/>
          </a:prstGeom>
        </p:spPr>
      </p:pic>
      <p:sp>
        <p:nvSpPr>
          <p:cNvPr id="5" name="正方形/長方形 4">
            <a:extLst>
              <a:ext uri="{FF2B5EF4-FFF2-40B4-BE49-F238E27FC236}">
                <a16:creationId xmlns:a16="http://schemas.microsoft.com/office/drawing/2014/main" id="{656577CF-E49B-404A-B285-60D421DD93C1}"/>
              </a:ext>
            </a:extLst>
          </p:cNvPr>
          <p:cNvSpPr/>
          <p:nvPr/>
        </p:nvSpPr>
        <p:spPr>
          <a:xfrm>
            <a:off x="148044" y="608709"/>
            <a:ext cx="8816846" cy="233424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marR="0" lvl="0" indent="-285750"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既受注新設工事完了に伴う工事量の急激な減少で、</a:t>
            </a:r>
            <a:r>
              <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FY23</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は</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a:t>
            </a:r>
            <a:r>
              <a:rPr kumimoji="1" lang="en-US" altLang="ja-JP"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391</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名の大幅減員</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が必要。</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FY24</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末までは既受注新設案件を</a:t>
            </a:r>
            <a:r>
              <a:rPr kumimoji="1" lang="ja-JP" altLang="en-US" sz="1600" b="0" i="0" u="none" strike="noStrike" kern="1200" cap="none" spc="0" normalizeH="0" baseline="0" noProof="0">
                <a:ln>
                  <a:noFill/>
                </a:ln>
                <a:solidFill>
                  <a:srgbClr val="44546A">
                    <a:lumMod val="50000"/>
                  </a:srgbClr>
                </a:solidFill>
                <a:effectLst/>
                <a:uLnTx/>
                <a:uFillTx/>
                <a:latin typeface="Meiryo UI"/>
                <a:ea typeface="Meiryo UI"/>
                <a:cs typeface="+mn-cs"/>
              </a:rPr>
              <a:t>確実に遂行するのに必要な</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体制を維持しつつ、以下５施策を実施。</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
                <a:srgbClr val="82A0AA"/>
              </a:buClr>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　　</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① </a:t>
            </a:r>
            <a:r>
              <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AS</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工事に特化した業務フロー・体制への変革及び</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コア人材の投入</a:t>
            </a:r>
            <a:endParaRPr kumimoji="1" lang="en-US" altLang="ja-JP"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
                <a:srgbClr val="82A0AA"/>
              </a:buClr>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　　</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② </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直接員間接作業の低減による</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直工率向上</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及び</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間接員比率低減</a:t>
            </a:r>
            <a:endParaRPr kumimoji="1" lang="en-US" altLang="ja-JP"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
                <a:srgbClr val="82A0AA"/>
              </a:buClr>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　　</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③ </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営業部門の</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自主見積り増加</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による引合人員低減</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
                <a:srgbClr val="82A0AA"/>
              </a:buClr>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　　</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④ </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早期の</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再配置先模索</a:t>
            </a:r>
            <a:endParaRPr kumimoji="1" lang="en-US" altLang="ja-JP"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
                <a:srgbClr val="82A0AA"/>
              </a:buClr>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　　</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⑤ 再雇用者・労派社員も含めた</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固定費管理（</a:t>
            </a:r>
            <a:r>
              <a:rPr kumimoji="1" lang="ja-JP" altLang="en-US" sz="1600" b="1"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頭数でなく人件費・経費を枠で管理する</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
                <a:srgbClr val="82A0AA"/>
              </a:buClr>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　　</a:t>
            </a:r>
            <a:r>
              <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下図は各部申請の再雇用・労派を反映しており、社員での削減に偏った計画である為、再雇用者の</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
                <a:srgbClr val="82A0AA"/>
              </a:buClr>
              <a:buSzTx/>
              <a:buFontTx/>
              <a:buNone/>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　　 　パート化、労派削減・社員代替等により、事業規模縮小に耐えられる固定費規模へ転換する。</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p:txBody>
      </p:sp>
      <p:cxnSp>
        <p:nvCxnSpPr>
          <p:cNvPr id="36" name="直線コネクタ 35">
            <a:extLst>
              <a:ext uri="{FF2B5EF4-FFF2-40B4-BE49-F238E27FC236}">
                <a16:creationId xmlns:a16="http://schemas.microsoft.com/office/drawing/2014/main" id="{D63F56ED-06F1-4737-984B-71343595A62B}"/>
              </a:ext>
            </a:extLst>
          </p:cNvPr>
          <p:cNvCxnSpPr>
            <a:cxnSpLocks/>
          </p:cNvCxnSpPr>
          <p:nvPr/>
        </p:nvCxnSpPr>
        <p:spPr>
          <a:xfrm>
            <a:off x="1079388" y="4203029"/>
            <a:ext cx="2232000"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0161AD3-E8AE-4186-A95D-D83E37303AE6}"/>
              </a:ext>
            </a:extLst>
          </p:cNvPr>
          <p:cNvCxnSpPr>
            <a:cxnSpLocks/>
          </p:cNvCxnSpPr>
          <p:nvPr/>
        </p:nvCxnSpPr>
        <p:spPr>
          <a:xfrm>
            <a:off x="2437945" y="4541746"/>
            <a:ext cx="1812229"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5470255C-8980-42DD-827D-F9D6BAE2BE88}"/>
              </a:ext>
            </a:extLst>
          </p:cNvPr>
          <p:cNvCxnSpPr>
            <a:cxnSpLocks/>
          </p:cNvCxnSpPr>
          <p:nvPr/>
        </p:nvCxnSpPr>
        <p:spPr>
          <a:xfrm>
            <a:off x="3101167" y="4203029"/>
            <a:ext cx="0" cy="288000"/>
          </a:xfrm>
          <a:prstGeom prst="line">
            <a:avLst/>
          </a:prstGeom>
          <a:ln>
            <a:solidFill>
              <a:schemeClr val="accent3"/>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FFF2370A-F24E-4C86-BBCF-02712F1052B5}"/>
              </a:ext>
            </a:extLst>
          </p:cNvPr>
          <p:cNvSpPr txBox="1"/>
          <p:nvPr/>
        </p:nvSpPr>
        <p:spPr>
          <a:xfrm>
            <a:off x="2991501" y="3972668"/>
            <a:ext cx="458780"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srgbClr val="CDA11B"/>
                </a:solidFill>
                <a:effectLst/>
                <a:uLnTx/>
                <a:uFillTx/>
                <a:latin typeface="Meiryo UI"/>
                <a:ea typeface="Meiryo UI"/>
                <a:cs typeface="+mn-cs"/>
              </a:rPr>
              <a:t>391</a:t>
            </a:r>
            <a:endParaRPr kumimoji="1" lang="ja-JP" altLang="en-US" sz="1050" b="1" i="0" u="none" strike="noStrike" kern="1200" cap="none" spc="0" normalizeH="0" baseline="0" noProof="0">
              <a:ln>
                <a:noFill/>
              </a:ln>
              <a:solidFill>
                <a:srgbClr val="CDA11B"/>
              </a:solidFill>
              <a:effectLst/>
              <a:uLnTx/>
              <a:uFillTx/>
              <a:latin typeface="Meiryo UI"/>
              <a:ea typeface="Meiryo UI"/>
              <a:cs typeface="+mn-cs"/>
            </a:endParaRPr>
          </a:p>
        </p:txBody>
      </p:sp>
      <p:cxnSp>
        <p:nvCxnSpPr>
          <p:cNvPr id="43" name="直線コネクタ 42">
            <a:extLst>
              <a:ext uri="{FF2B5EF4-FFF2-40B4-BE49-F238E27FC236}">
                <a16:creationId xmlns:a16="http://schemas.microsoft.com/office/drawing/2014/main" id="{E8D0008D-FBA5-48FC-A234-75DF58D06317}"/>
              </a:ext>
            </a:extLst>
          </p:cNvPr>
          <p:cNvCxnSpPr>
            <a:cxnSpLocks/>
          </p:cNvCxnSpPr>
          <p:nvPr/>
        </p:nvCxnSpPr>
        <p:spPr>
          <a:xfrm>
            <a:off x="3285660" y="4906816"/>
            <a:ext cx="1819197"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97EDBE93-CDA3-4958-BAA9-654E609CBBDD}"/>
              </a:ext>
            </a:extLst>
          </p:cNvPr>
          <p:cNvCxnSpPr>
            <a:cxnSpLocks/>
          </p:cNvCxnSpPr>
          <p:nvPr/>
        </p:nvCxnSpPr>
        <p:spPr>
          <a:xfrm>
            <a:off x="4079141" y="4543659"/>
            <a:ext cx="0" cy="323349"/>
          </a:xfrm>
          <a:prstGeom prst="line">
            <a:avLst/>
          </a:prstGeom>
          <a:ln>
            <a:solidFill>
              <a:schemeClr val="accent3"/>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CDA7F539-F711-4972-9DBD-257A5ECC9023}"/>
              </a:ext>
            </a:extLst>
          </p:cNvPr>
          <p:cNvSpPr txBox="1"/>
          <p:nvPr/>
        </p:nvSpPr>
        <p:spPr>
          <a:xfrm>
            <a:off x="4018826" y="4329091"/>
            <a:ext cx="458780"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srgbClr val="CDA11B"/>
                </a:solidFill>
                <a:effectLst/>
                <a:uLnTx/>
                <a:uFillTx/>
                <a:latin typeface="Meiryo UI"/>
                <a:ea typeface="Meiryo UI"/>
                <a:cs typeface="+mn-cs"/>
              </a:rPr>
              <a:t>437</a:t>
            </a:r>
            <a:endParaRPr kumimoji="1" lang="ja-JP" altLang="en-US" sz="1050" b="1" i="0" u="none" strike="noStrike" kern="1200" cap="none" spc="0" normalizeH="0" baseline="0" noProof="0">
              <a:ln>
                <a:noFill/>
              </a:ln>
              <a:solidFill>
                <a:srgbClr val="CDA11B"/>
              </a:solidFill>
              <a:effectLst/>
              <a:uLnTx/>
              <a:uFillTx/>
              <a:latin typeface="Meiryo UI"/>
              <a:ea typeface="Meiryo UI"/>
              <a:cs typeface="+mn-cs"/>
            </a:endParaRPr>
          </a:p>
        </p:txBody>
      </p:sp>
      <p:cxnSp>
        <p:nvCxnSpPr>
          <p:cNvPr id="53" name="直線コネクタ 52">
            <a:extLst>
              <a:ext uri="{FF2B5EF4-FFF2-40B4-BE49-F238E27FC236}">
                <a16:creationId xmlns:a16="http://schemas.microsoft.com/office/drawing/2014/main" id="{86677EB0-60EA-41D0-8E15-EC648A9C9171}"/>
              </a:ext>
            </a:extLst>
          </p:cNvPr>
          <p:cNvCxnSpPr>
            <a:cxnSpLocks/>
          </p:cNvCxnSpPr>
          <p:nvPr/>
        </p:nvCxnSpPr>
        <p:spPr>
          <a:xfrm>
            <a:off x="5040762" y="4906816"/>
            <a:ext cx="0" cy="216000"/>
          </a:xfrm>
          <a:prstGeom prst="line">
            <a:avLst/>
          </a:prstGeom>
          <a:ln>
            <a:solidFill>
              <a:schemeClr val="accent3"/>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8474C7F7-69B1-4B2B-821B-03525424D2CD}"/>
              </a:ext>
            </a:extLst>
          </p:cNvPr>
          <p:cNvSpPr txBox="1"/>
          <p:nvPr/>
        </p:nvSpPr>
        <p:spPr>
          <a:xfrm>
            <a:off x="4935782" y="4705333"/>
            <a:ext cx="458780"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srgbClr val="CDA11B"/>
                </a:solidFill>
                <a:effectLst/>
                <a:uLnTx/>
                <a:uFillTx/>
                <a:latin typeface="Meiryo UI"/>
                <a:ea typeface="Meiryo UI"/>
                <a:cs typeface="+mn-cs"/>
              </a:rPr>
              <a:t>291</a:t>
            </a:r>
            <a:endParaRPr kumimoji="1" lang="ja-JP" altLang="en-US" sz="1050" b="1" i="0" u="none" strike="noStrike" kern="1200" cap="none" spc="0" normalizeH="0" baseline="0" noProof="0">
              <a:ln>
                <a:noFill/>
              </a:ln>
              <a:solidFill>
                <a:srgbClr val="CDA11B"/>
              </a:solidFill>
              <a:effectLst/>
              <a:uLnTx/>
              <a:uFillTx/>
              <a:latin typeface="Meiryo UI"/>
              <a:ea typeface="Meiryo UI"/>
              <a:cs typeface="+mn-cs"/>
            </a:endParaRPr>
          </a:p>
        </p:txBody>
      </p:sp>
      <p:cxnSp>
        <p:nvCxnSpPr>
          <p:cNvPr id="28" name="直線コネクタ 27">
            <a:extLst>
              <a:ext uri="{FF2B5EF4-FFF2-40B4-BE49-F238E27FC236}">
                <a16:creationId xmlns:a16="http://schemas.microsoft.com/office/drawing/2014/main" id="{628FDAEE-C957-465E-80AA-5C922C1DA682}"/>
              </a:ext>
            </a:extLst>
          </p:cNvPr>
          <p:cNvCxnSpPr>
            <a:cxnSpLocks/>
          </p:cNvCxnSpPr>
          <p:nvPr/>
        </p:nvCxnSpPr>
        <p:spPr>
          <a:xfrm>
            <a:off x="4195257" y="5128885"/>
            <a:ext cx="1819197" cy="0"/>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7" name="タイトル 10">
            <a:extLst>
              <a:ext uri="{FF2B5EF4-FFF2-40B4-BE49-F238E27FC236}">
                <a16:creationId xmlns:a16="http://schemas.microsoft.com/office/drawing/2014/main" id="{32133EBF-1027-4572-B5BF-804814895782}"/>
              </a:ext>
            </a:extLst>
          </p:cNvPr>
          <p:cNvSpPr txBox="1">
            <a:spLocks/>
          </p:cNvSpPr>
          <p:nvPr/>
        </p:nvSpPr>
        <p:spPr>
          <a:xfrm>
            <a:off x="226053" y="131126"/>
            <a:ext cx="7960004" cy="349961"/>
          </a:xfrm>
          <a:prstGeom prst="rect">
            <a:avLst/>
          </a:prstGeom>
        </p:spPr>
        <p:txBody>
          <a:bodyPr lIns="36000" anchor="ctr"/>
          <a:lstStyle>
            <a:lvl1pPr algn="l" defTabSz="662761" rtl="0" eaLnBrk="1" latinLnBrk="0" hangingPunct="1">
              <a:lnSpc>
                <a:spcPct val="100000"/>
              </a:lnSpc>
              <a:spcBef>
                <a:spcPct val="0"/>
              </a:spcBef>
              <a:buNone/>
              <a:defRPr kumimoji="1" sz="2215" b="1"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a:latin typeface="+mn-ea"/>
                <a:ea typeface="+mn-ea"/>
              </a:rPr>
              <a:t>2-4. </a:t>
            </a:r>
            <a:r>
              <a:rPr lang="ja-JP" altLang="en-US" sz="2000">
                <a:latin typeface="+mn-ea"/>
                <a:ea typeface="+mn-ea"/>
              </a:rPr>
              <a:t>取組みの背景：人員固定費計画の詳細</a:t>
            </a:r>
          </a:p>
        </p:txBody>
      </p:sp>
      <p:cxnSp>
        <p:nvCxnSpPr>
          <p:cNvPr id="4" name="直線コネクタ 3">
            <a:extLst>
              <a:ext uri="{FF2B5EF4-FFF2-40B4-BE49-F238E27FC236}">
                <a16:creationId xmlns:a16="http://schemas.microsoft.com/office/drawing/2014/main" id="{719DD081-2876-4952-A644-EEC361506C1A}"/>
              </a:ext>
            </a:extLst>
          </p:cNvPr>
          <p:cNvCxnSpPr/>
          <p:nvPr/>
        </p:nvCxnSpPr>
        <p:spPr>
          <a:xfrm>
            <a:off x="1453877" y="3735978"/>
            <a:ext cx="553556"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E142318-4705-4CAD-9A6A-941586315AF6}"/>
              </a:ext>
            </a:extLst>
          </p:cNvPr>
          <p:cNvSpPr txBox="1"/>
          <p:nvPr/>
        </p:nvSpPr>
        <p:spPr>
          <a:xfrm>
            <a:off x="1687112" y="3472340"/>
            <a:ext cx="687978" cy="246221"/>
          </a:xfrm>
          <a:prstGeom prst="rect">
            <a:avLst/>
          </a:prstGeom>
          <a:noFill/>
        </p:spPr>
        <p:txBody>
          <a:bodyPr wrap="square" rtlCol="0">
            <a:spAutoFit/>
          </a:bodyPr>
          <a:lstStyle/>
          <a:p>
            <a:r>
              <a:rPr kumimoji="1" lang="en-US" altLang="ja-JP" sz="1000" b="1">
                <a:solidFill>
                  <a:srgbClr val="002060"/>
                </a:solidFill>
              </a:rPr>
              <a:t>2,134</a:t>
            </a:r>
            <a:endParaRPr kumimoji="1" lang="ja-JP" altLang="en-US" sz="1000" b="1">
              <a:solidFill>
                <a:srgbClr val="002060"/>
              </a:solidFill>
            </a:endParaRPr>
          </a:p>
        </p:txBody>
      </p:sp>
      <p:sp>
        <p:nvSpPr>
          <p:cNvPr id="18" name="テキスト ボックス 17">
            <a:extLst>
              <a:ext uri="{FF2B5EF4-FFF2-40B4-BE49-F238E27FC236}">
                <a16:creationId xmlns:a16="http://schemas.microsoft.com/office/drawing/2014/main" id="{F348296C-9469-4648-BC1C-D5A6739F29D6}"/>
              </a:ext>
            </a:extLst>
          </p:cNvPr>
          <p:cNvSpPr txBox="1"/>
          <p:nvPr/>
        </p:nvSpPr>
        <p:spPr>
          <a:xfrm>
            <a:off x="3737804" y="3357549"/>
            <a:ext cx="468251" cy="246221"/>
          </a:xfrm>
          <a:prstGeom prst="rect">
            <a:avLst/>
          </a:prstGeom>
          <a:noFill/>
        </p:spPr>
        <p:txBody>
          <a:bodyPr wrap="square" rtlCol="0">
            <a:spAutoFit/>
          </a:bodyPr>
          <a:lstStyle/>
          <a:p>
            <a:r>
              <a:rPr kumimoji="1" lang="en-US" altLang="ja-JP" sz="1000" b="1">
                <a:solidFill>
                  <a:srgbClr val="FF0000"/>
                </a:solidFill>
              </a:rPr>
              <a:t>387</a:t>
            </a:r>
            <a:endParaRPr kumimoji="1" lang="ja-JP" altLang="en-US" sz="1000" b="1">
              <a:solidFill>
                <a:srgbClr val="FF0000"/>
              </a:solidFill>
            </a:endParaRPr>
          </a:p>
        </p:txBody>
      </p:sp>
      <p:cxnSp>
        <p:nvCxnSpPr>
          <p:cNvPr id="19" name="直線コネクタ 18">
            <a:extLst>
              <a:ext uri="{FF2B5EF4-FFF2-40B4-BE49-F238E27FC236}">
                <a16:creationId xmlns:a16="http://schemas.microsoft.com/office/drawing/2014/main" id="{80393A71-0D09-4481-A2EF-4501FCB2E4F0}"/>
              </a:ext>
            </a:extLst>
          </p:cNvPr>
          <p:cNvCxnSpPr/>
          <p:nvPr/>
        </p:nvCxnSpPr>
        <p:spPr>
          <a:xfrm>
            <a:off x="3465270" y="3559931"/>
            <a:ext cx="324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3556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EA1002DA-88C1-48AD-8F3B-6F242BDA7991}"/>
              </a:ext>
            </a:extLst>
          </p:cNvPr>
          <p:cNvPicPr>
            <a:picLocks noChangeAspect="1"/>
          </p:cNvPicPr>
          <p:nvPr/>
        </p:nvPicPr>
        <p:blipFill>
          <a:blip r:embed="rId2"/>
          <a:stretch>
            <a:fillRect/>
          </a:stretch>
        </p:blipFill>
        <p:spPr>
          <a:xfrm>
            <a:off x="0" y="1982667"/>
            <a:ext cx="9144000" cy="4083369"/>
          </a:xfrm>
          <a:prstGeom prst="rect">
            <a:avLst/>
          </a:prstGeom>
        </p:spPr>
      </p:pic>
      <p:sp>
        <p:nvSpPr>
          <p:cNvPr id="8" name="正方形/長方形 7">
            <a:extLst>
              <a:ext uri="{FF2B5EF4-FFF2-40B4-BE49-F238E27FC236}">
                <a16:creationId xmlns:a16="http://schemas.microsoft.com/office/drawing/2014/main" id="{A8F71ED2-89B6-42BA-BD8E-BFE389FC436B}"/>
              </a:ext>
            </a:extLst>
          </p:cNvPr>
          <p:cNvSpPr/>
          <p:nvPr/>
        </p:nvSpPr>
        <p:spPr>
          <a:xfrm>
            <a:off x="163577" y="647676"/>
            <a:ext cx="8816846" cy="90482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285750" marR="0" lvl="0" indent="-285750"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社員・再雇用・労派を合計した部門別人員枠は下表の通り。</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操業変動により業務量に変動無い間接部門においても、</a:t>
            </a:r>
            <a:r>
              <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SG&amp;A</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比率低減の為の大幅な減員を計画。</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p:txBody>
      </p:sp>
      <p:sp>
        <p:nvSpPr>
          <p:cNvPr id="9" name="タイトル 1">
            <a:extLst>
              <a:ext uri="{FF2B5EF4-FFF2-40B4-BE49-F238E27FC236}">
                <a16:creationId xmlns:a16="http://schemas.microsoft.com/office/drawing/2014/main" id="{42A90580-4C11-4049-A673-180AEE12FF68}"/>
              </a:ext>
            </a:extLst>
          </p:cNvPr>
          <p:cNvSpPr>
            <a:spLocks noGrp="1"/>
          </p:cNvSpPr>
          <p:nvPr>
            <p:ph type="title"/>
          </p:nvPr>
        </p:nvSpPr>
        <p:spPr>
          <a:xfrm>
            <a:off x="163577" y="164563"/>
            <a:ext cx="7865446" cy="323041"/>
          </a:xfrm>
        </p:spPr>
        <p:txBody>
          <a:bodyPr/>
          <a:lstStyle/>
          <a:p>
            <a:r>
              <a:rPr lang="ja-JP" altLang="en-US" sz="2000"/>
              <a:t>（参考）社員・再雇用・労派の部門別内訳（～</a:t>
            </a:r>
            <a:r>
              <a:rPr lang="en-US" altLang="ja-JP" sz="2000"/>
              <a:t>FY24</a:t>
            </a:r>
            <a:r>
              <a:rPr lang="ja-JP" altLang="en-US" sz="2000"/>
              <a:t>末）</a:t>
            </a:r>
          </a:p>
        </p:txBody>
      </p:sp>
      <p:sp>
        <p:nvSpPr>
          <p:cNvPr id="15" name="テキスト ボックス 14">
            <a:extLst>
              <a:ext uri="{FF2B5EF4-FFF2-40B4-BE49-F238E27FC236}">
                <a16:creationId xmlns:a16="http://schemas.microsoft.com/office/drawing/2014/main" id="{BF578A83-780F-4F8B-8796-9C19ECB18015}"/>
              </a:ext>
            </a:extLst>
          </p:cNvPr>
          <p:cNvSpPr txBox="1"/>
          <p:nvPr/>
        </p:nvSpPr>
        <p:spPr>
          <a:xfrm>
            <a:off x="-87923" y="2090700"/>
            <a:ext cx="18727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black"/>
                </a:solidFill>
                <a:effectLst/>
                <a:uLnTx/>
                <a:uFillTx/>
                <a:latin typeface="Meiryo UI"/>
                <a:ea typeface="Meiryo UI"/>
                <a:cs typeface="+mn-cs"/>
              </a:rPr>
              <a:t>【FY21</a:t>
            </a:r>
            <a:r>
              <a:rPr kumimoji="1" lang="ja-JP" altLang="en-US" sz="18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1800" b="0" i="0" u="none" strike="noStrike" kern="1200" cap="none" spc="0" normalizeH="0" baseline="0" noProof="0">
                <a:ln>
                  <a:noFill/>
                </a:ln>
                <a:solidFill>
                  <a:prstClr val="black"/>
                </a:solidFill>
                <a:effectLst/>
                <a:uLnTx/>
                <a:uFillTx/>
                <a:latin typeface="Meiryo UI"/>
                <a:ea typeface="Meiryo UI"/>
                <a:cs typeface="+mn-cs"/>
              </a:rPr>
              <a:t>FY24】</a:t>
            </a: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 name="正方形/長方形 1">
            <a:extLst>
              <a:ext uri="{FF2B5EF4-FFF2-40B4-BE49-F238E27FC236}">
                <a16:creationId xmlns:a16="http://schemas.microsoft.com/office/drawing/2014/main" id="{3D53E5CD-6FDA-4352-ADF9-562EB0741FBE}"/>
              </a:ext>
            </a:extLst>
          </p:cNvPr>
          <p:cNvSpPr/>
          <p:nvPr/>
        </p:nvSpPr>
        <p:spPr>
          <a:xfrm>
            <a:off x="5363309" y="1960685"/>
            <a:ext cx="1890346" cy="39125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テキスト ボックス 2">
            <a:extLst>
              <a:ext uri="{FF2B5EF4-FFF2-40B4-BE49-F238E27FC236}">
                <a16:creationId xmlns:a16="http://schemas.microsoft.com/office/drawing/2014/main" id="{2C391FFA-666C-46B8-8143-FC7EDD0FEB5E}"/>
              </a:ext>
            </a:extLst>
          </p:cNvPr>
          <p:cNvSpPr txBox="1"/>
          <p:nvPr/>
        </p:nvSpPr>
        <p:spPr>
          <a:xfrm>
            <a:off x="5279782" y="1683686"/>
            <a:ext cx="205739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FF0000"/>
                </a:solidFill>
                <a:effectLst/>
                <a:uLnTx/>
                <a:uFillTx/>
                <a:latin typeface="Meiryo UI"/>
                <a:ea typeface="Meiryo UI"/>
                <a:cs typeface="+mn-cs"/>
              </a:rPr>
              <a:t>FY23</a:t>
            </a:r>
            <a:r>
              <a:rPr kumimoji="1" lang="ja-JP" altLang="en-US" sz="1200" b="1" i="0" u="none" strike="noStrike" kern="1200" cap="none" spc="0" normalizeH="0" baseline="0" noProof="0">
                <a:ln>
                  <a:noFill/>
                </a:ln>
                <a:solidFill>
                  <a:srgbClr val="FF0000"/>
                </a:solidFill>
                <a:effectLst/>
                <a:uLnTx/>
                <a:uFillTx/>
                <a:latin typeface="Meiryo UI"/>
                <a:ea typeface="Meiryo UI"/>
                <a:cs typeface="+mn-cs"/>
              </a:rPr>
              <a:t>部門費予算枠のベース</a:t>
            </a:r>
          </a:p>
        </p:txBody>
      </p:sp>
      <p:cxnSp>
        <p:nvCxnSpPr>
          <p:cNvPr id="5" name="直線コネクタ 4">
            <a:extLst>
              <a:ext uri="{FF2B5EF4-FFF2-40B4-BE49-F238E27FC236}">
                <a16:creationId xmlns:a16="http://schemas.microsoft.com/office/drawing/2014/main" id="{91E086BB-631E-465C-922D-5853EEA251A5}"/>
              </a:ext>
            </a:extLst>
          </p:cNvPr>
          <p:cNvCxnSpPr/>
          <p:nvPr/>
        </p:nvCxnSpPr>
        <p:spPr>
          <a:xfrm>
            <a:off x="5704115" y="5538651"/>
            <a:ext cx="2880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930D2540-9400-4A40-BE18-2401A154D9AC}"/>
              </a:ext>
            </a:extLst>
          </p:cNvPr>
          <p:cNvSpPr txBox="1"/>
          <p:nvPr/>
        </p:nvSpPr>
        <p:spPr>
          <a:xfrm>
            <a:off x="5967383" y="5413512"/>
            <a:ext cx="468251" cy="215444"/>
          </a:xfrm>
          <a:prstGeom prst="rect">
            <a:avLst/>
          </a:prstGeom>
          <a:noFill/>
        </p:spPr>
        <p:txBody>
          <a:bodyPr wrap="square" rtlCol="0">
            <a:spAutoFit/>
          </a:bodyPr>
          <a:lstStyle/>
          <a:p>
            <a:r>
              <a:rPr kumimoji="1" lang="en-US" altLang="ja-JP" sz="800" b="1"/>
              <a:t>387</a:t>
            </a:r>
            <a:endParaRPr kumimoji="1" lang="ja-JP" altLang="en-US" sz="800" b="1"/>
          </a:p>
        </p:txBody>
      </p:sp>
    </p:spTree>
    <p:extLst>
      <p:ext uri="{BB962C8B-B14F-4D97-AF65-F5344CB8AC3E}">
        <p14:creationId xmlns:p14="http://schemas.microsoft.com/office/powerpoint/2010/main" val="598037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B703A798-E40D-48BB-B888-C13C96FDDF1A}"/>
              </a:ext>
            </a:extLst>
          </p:cNvPr>
          <p:cNvPicPr>
            <a:picLocks noChangeAspect="1"/>
          </p:cNvPicPr>
          <p:nvPr/>
        </p:nvPicPr>
        <p:blipFill>
          <a:blip r:embed="rId2"/>
          <a:stretch>
            <a:fillRect/>
          </a:stretch>
        </p:blipFill>
        <p:spPr>
          <a:xfrm>
            <a:off x="505329" y="1370631"/>
            <a:ext cx="6243813" cy="5456603"/>
          </a:xfrm>
          <a:prstGeom prst="rect">
            <a:avLst/>
          </a:prstGeom>
          <a:solidFill>
            <a:schemeClr val="bg1"/>
          </a:solidFill>
        </p:spPr>
      </p:pic>
      <p:sp>
        <p:nvSpPr>
          <p:cNvPr id="7" name="タイトル 1">
            <a:extLst>
              <a:ext uri="{FF2B5EF4-FFF2-40B4-BE49-F238E27FC236}">
                <a16:creationId xmlns:a16="http://schemas.microsoft.com/office/drawing/2014/main" id="{691D71F9-B20E-4A06-9197-CA23259BA6B8}"/>
              </a:ext>
            </a:extLst>
          </p:cNvPr>
          <p:cNvSpPr txBox="1">
            <a:spLocks/>
          </p:cNvSpPr>
          <p:nvPr/>
        </p:nvSpPr>
        <p:spPr>
          <a:xfrm>
            <a:off x="348576" y="185817"/>
            <a:ext cx="6925134" cy="323041"/>
          </a:xfrm>
          <a:prstGeom prst="rect">
            <a:avLst/>
          </a:prstGeom>
        </p:spPr>
        <p:txBody>
          <a:bodyPr lIns="36000" anchor="ctr"/>
          <a:lstStyle>
            <a:lvl1pPr algn="l" defTabSz="662761" rtl="0" eaLnBrk="1" latinLnBrk="0" hangingPunct="1">
              <a:lnSpc>
                <a:spcPct val="100000"/>
              </a:lnSpc>
              <a:spcBef>
                <a:spcPct val="0"/>
              </a:spcBef>
              <a:buNone/>
              <a:defRPr kumimoji="1" sz="2215" b="1"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l" defTabSz="662761" rtl="0" eaLnBrk="1" fontAlgn="auto" latinLnBrk="0" hangingPunct="1">
              <a:lnSpc>
                <a:spcPct val="100000"/>
              </a:lnSpc>
              <a:spcBef>
                <a:spcPct val="0"/>
              </a:spcBef>
              <a:spcAft>
                <a:spcPts val="0"/>
              </a:spcAft>
              <a:buClrTx/>
              <a:buSzTx/>
              <a:buFontTx/>
              <a:buNone/>
              <a:tabLst/>
              <a:defRPr/>
            </a:pPr>
            <a:r>
              <a:rPr kumimoji="1" lang="ja-JP" altLang="en-US" sz="20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（参考）</a:t>
            </a:r>
            <a:r>
              <a:rPr kumimoji="1" lang="en-US" altLang="ja-JP" sz="20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FY23</a:t>
            </a:r>
            <a:r>
              <a:rPr kumimoji="1" lang="ja-JP" altLang="en-US" sz="2000" b="1"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rPr>
              <a:t>固定費予算枠</a:t>
            </a:r>
          </a:p>
        </p:txBody>
      </p:sp>
      <p:sp>
        <p:nvSpPr>
          <p:cNvPr id="3" name="テキスト ボックス 2">
            <a:extLst>
              <a:ext uri="{FF2B5EF4-FFF2-40B4-BE49-F238E27FC236}">
                <a16:creationId xmlns:a16="http://schemas.microsoft.com/office/drawing/2014/main" id="{6DCCF734-D91C-4174-BA49-B70F3EF8F753}"/>
              </a:ext>
            </a:extLst>
          </p:cNvPr>
          <p:cNvSpPr txBox="1"/>
          <p:nvPr/>
        </p:nvSpPr>
        <p:spPr>
          <a:xfrm>
            <a:off x="405696" y="631968"/>
            <a:ext cx="8332608" cy="615553"/>
          </a:xfrm>
          <a:prstGeom prst="rect">
            <a:avLst/>
          </a:prstGeom>
          <a:solidFill>
            <a:schemeClr val="tx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rgbClr val="63666A"/>
                </a:solidFill>
                <a:effectLst/>
                <a:uLnTx/>
                <a:uFillTx/>
                <a:latin typeface="Arial"/>
                <a:cs typeface="+mn-cs"/>
              </a:rPr>
              <a:t>削減ポイント</a:t>
            </a:r>
            <a:endParaRPr kumimoji="1" lang="en-US" altLang="ja-JP" sz="1800" b="0" i="0" u="none" strike="noStrike" kern="1200" cap="none" spc="0" normalizeH="0" baseline="0" noProof="0">
              <a:ln>
                <a:noFill/>
              </a:ln>
              <a:solidFill>
                <a:srgbClr val="63666A"/>
              </a:solidFill>
              <a:effectLst/>
              <a:uLnTx/>
              <a:uFillTx/>
              <a:latin typeface="Arial"/>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63666A"/>
                </a:solidFill>
                <a:effectLst/>
                <a:uLnTx/>
                <a:uFillTx/>
                <a:latin typeface="Arial"/>
                <a:cs typeface="+mn-cs"/>
              </a:rPr>
              <a:t>・人件費は、最新人員計画反映の確認。経費が</a:t>
            </a:r>
            <a:r>
              <a:rPr kumimoji="1" lang="en-US" altLang="ja-JP" sz="1600" b="0" i="0" u="none" strike="noStrike" kern="1200" cap="none" spc="0" normalizeH="0" baseline="0" noProof="0">
                <a:ln>
                  <a:noFill/>
                </a:ln>
                <a:solidFill>
                  <a:srgbClr val="63666A"/>
                </a:solidFill>
                <a:effectLst/>
                <a:uLnTx/>
                <a:uFillTx/>
                <a:latin typeface="Arial"/>
                <a:cs typeface="+mn-cs"/>
              </a:rPr>
              <a:t>130.4</a:t>
            </a:r>
            <a:r>
              <a:rPr kumimoji="1" lang="ja-JP" altLang="en-US" sz="1600" b="0" i="0" u="none" strike="noStrike" kern="1200" cap="none" spc="0" normalizeH="0" baseline="0" noProof="0">
                <a:ln>
                  <a:noFill/>
                </a:ln>
                <a:solidFill>
                  <a:srgbClr val="63666A"/>
                </a:solidFill>
                <a:effectLst/>
                <a:uLnTx/>
                <a:uFillTx/>
                <a:latin typeface="Arial"/>
                <a:cs typeface="+mn-cs"/>
              </a:rPr>
              <a:t>億円から</a:t>
            </a:r>
            <a:r>
              <a:rPr kumimoji="1" lang="en-US" altLang="ja-JP" sz="1600" b="0" i="0" u="none" strike="noStrike" kern="1200" cap="none" spc="0" normalizeH="0" baseline="0" noProof="0">
                <a:ln>
                  <a:noFill/>
                </a:ln>
                <a:solidFill>
                  <a:srgbClr val="63666A"/>
                </a:solidFill>
                <a:effectLst/>
                <a:uLnTx/>
                <a:uFillTx/>
                <a:latin typeface="Arial"/>
                <a:cs typeface="+mn-cs"/>
              </a:rPr>
              <a:t>153.6</a:t>
            </a:r>
            <a:r>
              <a:rPr kumimoji="1" lang="ja-JP" altLang="en-US" sz="1600" b="0" i="0" u="none" strike="noStrike" kern="1200" cap="none" spc="0" normalizeH="0" baseline="0" noProof="0">
                <a:ln>
                  <a:noFill/>
                </a:ln>
                <a:solidFill>
                  <a:srgbClr val="63666A"/>
                </a:solidFill>
                <a:effectLst/>
                <a:uLnTx/>
                <a:uFillTx/>
                <a:latin typeface="Arial"/>
                <a:cs typeface="+mn-cs"/>
              </a:rPr>
              <a:t>億円にアップの確認</a:t>
            </a:r>
            <a:endParaRPr kumimoji="1" lang="ja-JP" altLang="en-US" sz="1800" b="0" i="0" u="none" strike="noStrike" kern="1200" cap="none" spc="0" normalizeH="0" baseline="0" noProof="0">
              <a:ln>
                <a:noFill/>
              </a:ln>
              <a:solidFill>
                <a:srgbClr val="63666A"/>
              </a:solidFill>
              <a:effectLst/>
              <a:uLnTx/>
              <a:uFillTx/>
              <a:latin typeface="Arial"/>
              <a:cs typeface="+mn-cs"/>
            </a:endParaRPr>
          </a:p>
        </p:txBody>
      </p:sp>
      <p:sp>
        <p:nvSpPr>
          <p:cNvPr id="4" name="テキスト ボックス 3">
            <a:extLst>
              <a:ext uri="{FF2B5EF4-FFF2-40B4-BE49-F238E27FC236}">
                <a16:creationId xmlns:a16="http://schemas.microsoft.com/office/drawing/2014/main" id="{074046C7-38B0-4EE9-8765-83892C5686BF}"/>
              </a:ext>
            </a:extLst>
          </p:cNvPr>
          <p:cNvSpPr txBox="1"/>
          <p:nvPr/>
        </p:nvSpPr>
        <p:spPr>
          <a:xfrm>
            <a:off x="1737945" y="1264119"/>
            <a:ext cx="771378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FF0000"/>
                </a:solidFill>
                <a:effectLst/>
                <a:uLnTx/>
                <a:uFillTx/>
                <a:latin typeface="メイリオ" panose="020B0604030504040204" pitchFamily="50" charset="-128"/>
                <a:ea typeface="メイリオ" panose="020B0604030504040204" pitchFamily="50" charset="-128"/>
                <a:cs typeface="+mn-cs"/>
              </a:rPr>
              <a:t>※</a:t>
            </a:r>
            <a:r>
              <a:rPr kumimoji="1" lang="ja-JP" altLang="en-US" sz="1200" b="0" i="0" u="none" strike="noStrike" kern="1200" cap="none" spc="0" normalizeH="0" baseline="0" noProof="0">
                <a:ln>
                  <a:noFill/>
                </a:ln>
                <a:solidFill>
                  <a:srgbClr val="FF0000"/>
                </a:solidFill>
                <a:effectLst/>
                <a:uLnTx/>
                <a:uFillTx/>
                <a:latin typeface="メイリオ" panose="020B0604030504040204" pitchFamily="50" charset="-128"/>
                <a:ea typeface="メイリオ" panose="020B0604030504040204" pitchFamily="50" charset="-128"/>
                <a:cs typeface="+mn-cs"/>
              </a:rPr>
              <a:t>人件費・物件費・経費の費目別予算枠の遵守は不問であるが、各部の予算枠総額は達成する必要がある。</a:t>
            </a:r>
            <a:endParaRPr kumimoji="1" lang="en-US" altLang="ja-JP" sz="1200" b="0" i="0" u="none" strike="noStrike" kern="1200" cap="none" spc="0" normalizeH="0" baseline="0" noProof="0">
              <a:ln>
                <a:noFill/>
              </a:ln>
              <a:solidFill>
                <a:srgbClr val="FF0000"/>
              </a:solidFill>
              <a:effectLst/>
              <a:uLnTx/>
              <a:uFillTx/>
              <a:latin typeface="メイリオ" panose="020B0604030504040204" pitchFamily="50" charset="-128"/>
              <a:ea typeface="メイリオ" panose="020B0604030504040204" pitchFamily="50" charset="-128"/>
              <a:cs typeface="+mn-cs"/>
            </a:endParaRPr>
          </a:p>
        </p:txBody>
      </p:sp>
    </p:spTree>
    <p:extLst>
      <p:ext uri="{BB962C8B-B14F-4D97-AF65-F5344CB8AC3E}">
        <p14:creationId xmlns:p14="http://schemas.microsoft.com/office/powerpoint/2010/main" val="3335873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10"/>
          <p:cNvSpPr>
            <a:spLocks noGrp="1"/>
          </p:cNvSpPr>
          <p:nvPr>
            <p:ph type="title"/>
          </p:nvPr>
        </p:nvSpPr>
        <p:spPr/>
        <p:txBody>
          <a:bodyPr/>
          <a:lstStyle/>
          <a:p>
            <a:r>
              <a:rPr kumimoji="1" lang="en-US" altLang="ja-JP" sz="2000">
                <a:latin typeface="+mn-ea"/>
                <a:ea typeface="+mn-ea"/>
              </a:rPr>
              <a:t>2-5. </a:t>
            </a:r>
            <a:r>
              <a:rPr kumimoji="1" lang="ja-JP" altLang="en-US" sz="2000">
                <a:latin typeface="+mn-ea"/>
                <a:ea typeface="+mn-ea"/>
              </a:rPr>
              <a:t>取組みの背景：収益力の</a:t>
            </a:r>
            <a:r>
              <a:rPr lang="ja-JP" altLang="en-US" sz="2000">
                <a:latin typeface="+mn-ea"/>
                <a:ea typeface="+mn-ea"/>
              </a:rPr>
              <a:t>強化</a:t>
            </a:r>
            <a:r>
              <a:rPr kumimoji="1" lang="ja-JP" altLang="en-US" sz="2000">
                <a:latin typeface="+mn-ea"/>
                <a:ea typeface="+mn-ea"/>
              </a:rPr>
              <a:t>に向けた取組み</a:t>
            </a:r>
          </a:p>
        </p:txBody>
      </p:sp>
      <p:graphicFrame>
        <p:nvGraphicFramePr>
          <p:cNvPr id="4" name="表 2">
            <a:extLst>
              <a:ext uri="{FF2B5EF4-FFF2-40B4-BE49-F238E27FC236}">
                <a16:creationId xmlns:a16="http://schemas.microsoft.com/office/drawing/2014/main" id="{4215D08B-87C8-4F68-B7E3-11348DBDE86F}"/>
              </a:ext>
            </a:extLst>
          </p:cNvPr>
          <p:cNvGraphicFramePr>
            <a:graphicFrameLocks/>
          </p:cNvGraphicFramePr>
          <p:nvPr/>
        </p:nvGraphicFramePr>
        <p:xfrm>
          <a:off x="186274" y="593829"/>
          <a:ext cx="8771452" cy="5727954"/>
        </p:xfrm>
        <a:graphic>
          <a:graphicData uri="http://schemas.openxmlformats.org/drawingml/2006/table">
            <a:tbl>
              <a:tblPr firstRow="1" bandRow="1">
                <a:tableStyleId>{5C22544A-7EE6-4342-B048-85BDC9FD1C3A}</a:tableStyleId>
              </a:tblPr>
              <a:tblGrid>
                <a:gridCol w="240387">
                  <a:extLst>
                    <a:ext uri="{9D8B030D-6E8A-4147-A177-3AD203B41FA5}">
                      <a16:colId xmlns:a16="http://schemas.microsoft.com/office/drawing/2014/main" val="966003051"/>
                    </a:ext>
                  </a:extLst>
                </a:gridCol>
                <a:gridCol w="1280695">
                  <a:extLst>
                    <a:ext uri="{9D8B030D-6E8A-4147-A177-3AD203B41FA5}">
                      <a16:colId xmlns:a16="http://schemas.microsoft.com/office/drawing/2014/main" val="3967700311"/>
                    </a:ext>
                  </a:extLst>
                </a:gridCol>
                <a:gridCol w="1868735">
                  <a:extLst>
                    <a:ext uri="{9D8B030D-6E8A-4147-A177-3AD203B41FA5}">
                      <a16:colId xmlns:a16="http://schemas.microsoft.com/office/drawing/2014/main" val="734644440"/>
                    </a:ext>
                  </a:extLst>
                </a:gridCol>
                <a:gridCol w="3893344">
                  <a:extLst>
                    <a:ext uri="{9D8B030D-6E8A-4147-A177-3AD203B41FA5}">
                      <a16:colId xmlns:a16="http://schemas.microsoft.com/office/drawing/2014/main" val="3843668752"/>
                    </a:ext>
                  </a:extLst>
                </a:gridCol>
                <a:gridCol w="1488291">
                  <a:extLst>
                    <a:ext uri="{9D8B030D-6E8A-4147-A177-3AD203B41FA5}">
                      <a16:colId xmlns:a16="http://schemas.microsoft.com/office/drawing/2014/main" val="1056448955"/>
                    </a:ext>
                  </a:extLst>
                </a:gridCol>
              </a:tblGrid>
              <a:tr h="290383">
                <a:tc>
                  <a:txBody>
                    <a:bodyPr/>
                    <a:lstStyle/>
                    <a:p>
                      <a:pPr algn="ctr"/>
                      <a:endParaRPr kumimoji="1" lang="ja-JP" altLang="en-US">
                        <a:solidFill>
                          <a:schemeClr val="bg1"/>
                        </a:solidFill>
                        <a:latin typeface="+mn-ea"/>
                        <a:ea typeface="+mn-ea"/>
                      </a:endParaRPr>
                    </a:p>
                  </a:txBody>
                  <a:tcPr>
                    <a:solidFill>
                      <a:schemeClr val="accent2"/>
                    </a:solidFill>
                  </a:tcPr>
                </a:tc>
                <a:tc>
                  <a:txBody>
                    <a:bodyPr/>
                    <a:lstStyle/>
                    <a:p>
                      <a:pPr algn="ctr"/>
                      <a:r>
                        <a:rPr kumimoji="1" lang="ja-JP" altLang="en-US">
                          <a:solidFill>
                            <a:schemeClr val="bg1"/>
                          </a:solidFill>
                          <a:latin typeface="+mn-ea"/>
                          <a:ea typeface="+mn-ea"/>
                        </a:rPr>
                        <a:t>項目</a:t>
                      </a:r>
                    </a:p>
                  </a:txBody>
                  <a:tcPr>
                    <a:solidFill>
                      <a:schemeClr val="accent2"/>
                    </a:solidFill>
                  </a:tcPr>
                </a:tc>
                <a:tc gridSpan="2">
                  <a:txBody>
                    <a:bodyPr/>
                    <a:lstStyle/>
                    <a:p>
                      <a:pPr algn="ctr"/>
                      <a:r>
                        <a:rPr kumimoji="1" lang="en-US" altLang="ja-JP">
                          <a:solidFill>
                            <a:schemeClr val="bg1"/>
                          </a:solidFill>
                          <a:latin typeface="+mn-ea"/>
                          <a:ea typeface="+mn-ea"/>
                        </a:rPr>
                        <a:t>FY24</a:t>
                      </a:r>
                      <a:r>
                        <a:rPr kumimoji="1" lang="ja-JP" altLang="en-US">
                          <a:solidFill>
                            <a:schemeClr val="bg1"/>
                          </a:solidFill>
                          <a:latin typeface="+mn-ea"/>
                          <a:ea typeface="+mn-ea"/>
                        </a:rPr>
                        <a:t>以降の取り組み</a:t>
                      </a:r>
                    </a:p>
                  </a:txBody>
                  <a:tcPr>
                    <a:solidFill>
                      <a:schemeClr val="accent2"/>
                    </a:solidFill>
                  </a:tcPr>
                </a:tc>
                <a:tc hMerge="1">
                  <a:txBody>
                    <a:bodyPr/>
                    <a:lstStyle/>
                    <a:p>
                      <a:pPr algn="ctr"/>
                      <a:r>
                        <a:rPr kumimoji="1" lang="en-US" altLang="ja-JP">
                          <a:solidFill>
                            <a:schemeClr val="bg1"/>
                          </a:solidFill>
                        </a:rPr>
                        <a:t>24</a:t>
                      </a:r>
                      <a:r>
                        <a:rPr kumimoji="1" lang="ja-JP" altLang="en-US">
                          <a:solidFill>
                            <a:schemeClr val="bg1"/>
                          </a:solidFill>
                        </a:rPr>
                        <a:t>年度以降の取り組み</a:t>
                      </a:r>
                    </a:p>
                  </a:txBody>
                  <a:tcPr>
                    <a:solidFill>
                      <a:schemeClr val="accent2"/>
                    </a:solidFill>
                  </a:tcPr>
                </a:tc>
                <a:tc>
                  <a:txBody>
                    <a:bodyPr/>
                    <a:lstStyle/>
                    <a:p>
                      <a:pPr algn="ctr"/>
                      <a:r>
                        <a:rPr kumimoji="1" lang="ja-JP" altLang="en-US">
                          <a:solidFill>
                            <a:schemeClr val="bg1"/>
                          </a:solidFill>
                          <a:latin typeface="+mn-ea"/>
                          <a:ea typeface="+mn-ea"/>
                        </a:rPr>
                        <a:t>効果（億円）</a:t>
                      </a:r>
                    </a:p>
                  </a:txBody>
                  <a:tcPr>
                    <a:solidFill>
                      <a:schemeClr val="accent2"/>
                    </a:solidFill>
                  </a:tcPr>
                </a:tc>
                <a:extLst>
                  <a:ext uri="{0D108BD9-81ED-4DB2-BD59-A6C34878D82A}">
                    <a16:rowId xmlns:a16="http://schemas.microsoft.com/office/drawing/2014/main" val="2964841709"/>
                  </a:ext>
                </a:extLst>
              </a:tr>
              <a:tr h="497382">
                <a:tc>
                  <a:txBody>
                    <a:bodyPr/>
                    <a:lstStyle/>
                    <a:p>
                      <a:r>
                        <a:rPr kumimoji="1" lang="en-US" altLang="ja-JP" sz="1600">
                          <a:latin typeface="+mn-ea"/>
                          <a:ea typeface="+mn-ea"/>
                        </a:rPr>
                        <a:t>1</a:t>
                      </a:r>
                      <a:endParaRPr kumimoji="1" lang="ja-JP" altLang="en-US" sz="1600">
                        <a:latin typeface="+mn-ea"/>
                        <a:ea typeface="+mn-ea"/>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baseline="0">
                          <a:solidFill>
                            <a:schemeClr val="dk1"/>
                          </a:solidFill>
                          <a:latin typeface="+mn-ea"/>
                          <a:ea typeface="+mn-ea"/>
                          <a:cs typeface="+mn-cs"/>
                        </a:rPr>
                        <a:t>人員最適化</a:t>
                      </a:r>
                    </a:p>
                  </a:txBody>
                  <a:tcPr/>
                </a:tc>
                <a:tc gridSpan="2">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人員削減（他事業部への異動）、労派削減</a:t>
                      </a:r>
                      <a:endParaRPr kumimoji="1" lang="en-US" altLang="ja-JP" sz="1400" b="0" i="0" u="none" strike="noStrike" kern="1200" baseline="0">
                        <a:solidFill>
                          <a:schemeClr val="dk1"/>
                        </a:solidFill>
                        <a:latin typeface="+mn-ea"/>
                        <a:ea typeface="+mn-ea"/>
                        <a:cs typeface="+mn-cs"/>
                      </a:endParaRPr>
                    </a:p>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Ａ</a:t>
                      </a:r>
                      <a:r>
                        <a:rPr kumimoji="1" lang="en-US" altLang="ja-JP" sz="1400" b="0" i="0" u="none" strike="noStrike" kern="1200" cap="none" spc="0" normalizeH="0" baseline="0" noProof="0">
                          <a:ln>
                            <a:noFill/>
                          </a:ln>
                          <a:solidFill>
                            <a:prstClr val="black"/>
                          </a:solidFill>
                          <a:effectLst/>
                          <a:uLnTx/>
                          <a:uFillTx/>
                          <a:latin typeface="+mn-ea"/>
                          <a:ea typeface="+mn-ea"/>
                          <a:cs typeface="+mn-cs"/>
                        </a:rPr>
                        <a:t>S</a:t>
                      </a:r>
                      <a:r>
                        <a:rPr kumimoji="1" lang="ja-JP" altLang="en-US" sz="1400" b="0" i="0" u="none" strike="noStrike" kern="1200" cap="none" spc="0" normalizeH="0" baseline="0" noProof="0">
                          <a:ln>
                            <a:noFill/>
                          </a:ln>
                          <a:solidFill>
                            <a:prstClr val="black"/>
                          </a:solidFill>
                          <a:effectLst/>
                          <a:uLnTx/>
                          <a:uFillTx/>
                          <a:latin typeface="+mn-ea"/>
                          <a:ea typeface="+mn-ea"/>
                          <a:cs typeface="+mn-cs"/>
                        </a:rPr>
                        <a:t>事業特化を反映して更なる追加人員対策を検討</a:t>
                      </a:r>
                      <a:endParaRPr kumimoji="1" lang="en-US" altLang="ja-JP" sz="1600" b="0" i="0" u="none" strike="noStrike" kern="1200" baseline="0">
                        <a:solidFill>
                          <a:schemeClr val="dk1"/>
                        </a:solidFill>
                        <a:latin typeface="+mn-ea"/>
                        <a:ea typeface="+mn-ea"/>
                        <a:cs typeface="+mn-cs"/>
                      </a:endParaRPr>
                    </a:p>
                  </a:txBody>
                  <a:tcPr/>
                </a:tc>
                <a:tc hMerge="1">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n-lt"/>
                          <a:ea typeface="+mn-ea"/>
                          <a:cs typeface="+mn-cs"/>
                        </a:rPr>
                        <a:t>人員削減（他事業部への異動）、労派削減</a:t>
                      </a:r>
                      <a:endParaRPr kumimoji="1" lang="en-US" altLang="ja-JP" sz="1400" b="0" i="0" u="none" strike="noStrike" kern="1200" baseline="0">
                        <a:solidFill>
                          <a:schemeClr val="dk1"/>
                        </a:solidFill>
                        <a:latin typeface="+mn-lt"/>
                        <a:ea typeface="+mn-ea"/>
                        <a:cs typeface="+mn-cs"/>
                      </a:endParaRPr>
                    </a:p>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n-lt"/>
                          <a:ea typeface="+mn-ea"/>
                          <a:cs typeface="+mn-cs"/>
                        </a:rPr>
                        <a:t>Ａ</a:t>
                      </a:r>
                      <a:r>
                        <a:rPr kumimoji="1" lang="en-US" altLang="ja-JP" sz="1400" b="0" i="0" u="none" strike="noStrike" kern="1200" cap="none" spc="0" normalizeH="0" baseline="0" noProof="0">
                          <a:ln>
                            <a:noFill/>
                          </a:ln>
                          <a:solidFill>
                            <a:prstClr val="black"/>
                          </a:solidFill>
                          <a:effectLst/>
                          <a:uLnTx/>
                          <a:uFillTx/>
                          <a:latin typeface="+mn-lt"/>
                          <a:ea typeface="+mn-ea"/>
                          <a:cs typeface="+mn-cs"/>
                        </a:rPr>
                        <a:t>S</a:t>
                      </a:r>
                      <a:r>
                        <a:rPr kumimoji="1" lang="ja-JP" altLang="en-US" sz="1400" b="0" i="0" u="none" strike="noStrike" kern="1200" cap="none" spc="0" normalizeH="0" baseline="0" noProof="0">
                          <a:ln>
                            <a:noFill/>
                          </a:ln>
                          <a:solidFill>
                            <a:prstClr val="black"/>
                          </a:solidFill>
                          <a:effectLst/>
                          <a:uLnTx/>
                          <a:uFillTx/>
                          <a:latin typeface="+mn-lt"/>
                          <a:ea typeface="+mn-ea"/>
                          <a:cs typeface="+mn-cs"/>
                        </a:rPr>
                        <a:t>事業特化を反映して更なる追加人員対策を検討。</a:t>
                      </a:r>
                      <a:endParaRPr kumimoji="1" lang="en-US" altLang="ja-JP" sz="1600" b="0" i="0" u="none" strike="noStrike" kern="1200" baseline="0">
                        <a:solidFill>
                          <a:schemeClr val="dk1"/>
                        </a:solidFill>
                        <a:latin typeface="+mn-lt"/>
                        <a:ea typeface="+mn-ea"/>
                        <a:cs typeface="+mn-cs"/>
                      </a:endParaRP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baseline="0">
                          <a:solidFill>
                            <a:schemeClr val="dk1"/>
                          </a:solidFill>
                          <a:latin typeface="+mn-ea"/>
                          <a:ea typeface="+mn-ea"/>
                          <a:cs typeface="+mn-cs"/>
                        </a:rPr>
                        <a:t>54</a:t>
                      </a:r>
                      <a:r>
                        <a:rPr kumimoji="1" lang="ja-JP" altLang="en-US" sz="1200" b="1" i="0" u="none" strike="noStrike" kern="1200" baseline="0">
                          <a:solidFill>
                            <a:schemeClr val="dk1"/>
                          </a:solidFill>
                          <a:latin typeface="+mn-ea"/>
                          <a:ea typeface="+mn-ea"/>
                          <a:cs typeface="+mn-cs"/>
                        </a:rPr>
                        <a:t>億円</a:t>
                      </a:r>
                      <a:endParaRPr kumimoji="1" lang="en-US" altLang="ja-JP" sz="1200" b="1" i="0" u="none" strike="noStrike" kern="1200" baseline="0">
                        <a:solidFill>
                          <a:schemeClr val="dk1"/>
                        </a:solidFill>
                        <a:latin typeface="+mn-ea"/>
                        <a:ea typeface="+mn-ea"/>
                        <a:cs typeface="+mn-cs"/>
                      </a:endParaRPr>
                    </a:p>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dk1"/>
                          </a:solidFill>
                          <a:latin typeface="+mn-ea"/>
                          <a:ea typeface="+mn-ea"/>
                          <a:cs typeface="+mn-cs"/>
                        </a:rPr>
                        <a:t>（</a:t>
                      </a:r>
                      <a:r>
                        <a:rPr kumimoji="1" lang="en-US" altLang="ja-JP" sz="1200" b="0" i="0" u="none" strike="noStrike" kern="1200" baseline="0">
                          <a:solidFill>
                            <a:schemeClr val="dk1"/>
                          </a:solidFill>
                          <a:latin typeface="+mn-ea"/>
                          <a:ea typeface="+mn-ea"/>
                          <a:cs typeface="+mn-cs"/>
                        </a:rPr>
                        <a:t>FY24</a:t>
                      </a:r>
                      <a:r>
                        <a:rPr kumimoji="1" lang="ja-JP" altLang="en-US" sz="1200" b="0" i="0" u="none" strike="noStrike" kern="1200" baseline="0">
                          <a:solidFill>
                            <a:schemeClr val="dk1"/>
                          </a:solidFill>
                          <a:latin typeface="+mn-ea"/>
                          <a:ea typeface="+mn-ea"/>
                          <a:cs typeface="+mn-cs"/>
                        </a:rPr>
                        <a:t>）</a:t>
                      </a:r>
                      <a:endParaRPr kumimoji="1" lang="en-US" altLang="ja-JP" sz="1200" b="0" i="0" u="none" strike="noStrike" kern="1200" baseline="0">
                        <a:solidFill>
                          <a:schemeClr val="dk1"/>
                        </a:solidFill>
                        <a:latin typeface="+mn-ea"/>
                        <a:ea typeface="+mn-ea"/>
                        <a:cs typeface="+mn-cs"/>
                      </a:endParaRPr>
                    </a:p>
                  </a:txBody>
                  <a:tcPr/>
                </a:tc>
                <a:extLst>
                  <a:ext uri="{0D108BD9-81ED-4DB2-BD59-A6C34878D82A}">
                    <a16:rowId xmlns:a16="http://schemas.microsoft.com/office/drawing/2014/main" val="2265507900"/>
                  </a:ext>
                </a:extLst>
              </a:tr>
              <a:tr h="702186">
                <a:tc>
                  <a:txBody>
                    <a:bodyPr/>
                    <a:lstStyle/>
                    <a:p>
                      <a:r>
                        <a:rPr kumimoji="1" lang="en-US" altLang="ja-JP" sz="1600">
                          <a:latin typeface="+mn-ea"/>
                          <a:ea typeface="+mn-ea"/>
                        </a:rPr>
                        <a:t>2</a:t>
                      </a:r>
                    </a:p>
                  </a:txBody>
                  <a:tcPr/>
                </a:tc>
                <a:tc>
                  <a:txBody>
                    <a:bodyPr/>
                    <a:lstStyle/>
                    <a:p>
                      <a:r>
                        <a:rPr kumimoji="1" lang="ja-JP" altLang="en-US" sz="1400">
                          <a:latin typeface="+mn-ea"/>
                          <a:ea typeface="+mn-ea"/>
                        </a:rPr>
                        <a:t>組織体制</a:t>
                      </a:r>
                    </a:p>
                  </a:txBody>
                  <a:tcPr/>
                </a:tc>
                <a:tc gridSpan="2">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2023/4/1</a:t>
                      </a:r>
                      <a:r>
                        <a:rPr kumimoji="1" lang="ja-JP" altLang="en-US" sz="1400" b="0" i="0" u="none" strike="noStrike" kern="1200" cap="none" spc="0" normalizeH="0" baseline="0" noProof="0">
                          <a:ln>
                            <a:noFill/>
                          </a:ln>
                          <a:solidFill>
                            <a:prstClr val="black"/>
                          </a:solidFill>
                          <a:effectLst/>
                          <a:uLnTx/>
                          <a:uFillTx/>
                          <a:latin typeface="+mn-ea"/>
                          <a:ea typeface="+mn-ea"/>
                          <a:cs typeface="+mn-cs"/>
                        </a:rPr>
                        <a:t>付組織統合で</a:t>
                      </a:r>
                      <a:r>
                        <a:rPr kumimoji="1" lang="en-US" altLang="ja-JP" sz="1400" b="0" i="0" u="none" strike="noStrike" kern="1200" cap="none" spc="0" normalizeH="0" baseline="0" noProof="0">
                          <a:ln>
                            <a:noFill/>
                          </a:ln>
                          <a:solidFill>
                            <a:prstClr val="black"/>
                          </a:solidFill>
                          <a:effectLst/>
                          <a:uLnTx/>
                          <a:uFillTx/>
                          <a:latin typeface="+mn-ea"/>
                          <a:ea typeface="+mn-ea"/>
                          <a:cs typeface="+mn-cs"/>
                        </a:rPr>
                        <a:t>SPMI『19</a:t>
                      </a:r>
                      <a:r>
                        <a:rPr kumimoji="1" lang="ja-JP" altLang="en-US" sz="1400" b="0" i="0" u="none" strike="noStrike" kern="1200" cap="none" spc="0" normalizeH="0" baseline="0" noProof="0">
                          <a:ln>
                            <a:noFill/>
                          </a:ln>
                          <a:solidFill>
                            <a:prstClr val="black"/>
                          </a:solidFill>
                          <a:effectLst/>
                          <a:uLnTx/>
                          <a:uFillTx/>
                          <a:latin typeface="+mn-ea"/>
                          <a:ea typeface="+mn-ea"/>
                          <a:cs typeface="+mn-cs"/>
                        </a:rPr>
                        <a:t>部</a:t>
                      </a:r>
                      <a:r>
                        <a:rPr kumimoji="1" lang="en-US" altLang="ja-JP" sz="1400" b="0" i="0" u="none" strike="noStrike" kern="1200" cap="none" spc="0" normalizeH="0" baseline="0" noProof="0">
                          <a:ln>
                            <a:noFill/>
                          </a:ln>
                          <a:solidFill>
                            <a:prstClr val="black"/>
                          </a:solidFill>
                          <a:effectLst/>
                          <a:uLnTx/>
                          <a:uFillTx/>
                          <a:latin typeface="+mn-ea"/>
                          <a:ea typeface="+mn-ea"/>
                          <a:cs typeface="+mn-cs"/>
                        </a:rPr>
                        <a:t>5</a:t>
                      </a:r>
                      <a:r>
                        <a:rPr kumimoji="1" lang="ja-JP" altLang="en-US" sz="1400" b="0" i="0" u="none" strike="noStrike" kern="1200" cap="none" spc="0" normalizeH="0" baseline="0" noProof="0">
                          <a:ln>
                            <a:noFill/>
                          </a:ln>
                          <a:solidFill>
                            <a:prstClr val="black"/>
                          </a:solidFill>
                          <a:effectLst/>
                          <a:uLnTx/>
                          <a:uFillTx/>
                          <a:latin typeface="+mn-ea"/>
                          <a:ea typeface="+mn-ea"/>
                          <a:cs typeface="+mn-cs"/>
                        </a:rPr>
                        <a:t>室</a:t>
                      </a:r>
                      <a:r>
                        <a:rPr kumimoji="1" lang="en-US" altLang="ja-JP" sz="1400" b="0" i="0" u="none" strike="noStrike" kern="1200" cap="none" spc="0" normalizeH="0" baseline="0" noProof="0">
                          <a:ln>
                            <a:noFill/>
                          </a:ln>
                          <a:solidFill>
                            <a:prstClr val="black"/>
                          </a:solidFill>
                          <a:effectLst/>
                          <a:uLnTx/>
                          <a:uFillTx/>
                          <a:latin typeface="+mn-ea"/>
                          <a:ea typeface="+mn-ea"/>
                          <a:cs typeface="+mn-cs"/>
                        </a:rPr>
                        <a:t>88</a:t>
                      </a:r>
                      <a:r>
                        <a:rPr kumimoji="1" lang="ja-JP" altLang="en-US" sz="1400" b="0" i="0" u="none" strike="noStrike" kern="1200" cap="none" spc="0" normalizeH="0" baseline="0" noProof="0">
                          <a:ln>
                            <a:noFill/>
                          </a:ln>
                          <a:solidFill>
                            <a:prstClr val="black"/>
                          </a:solidFill>
                          <a:effectLst/>
                          <a:uLnTx/>
                          <a:uFillTx/>
                          <a:latin typeface="+mn-ea"/>
                          <a:ea typeface="+mn-ea"/>
                          <a:cs typeface="+mn-cs"/>
                        </a:rPr>
                        <a:t>課</a:t>
                      </a:r>
                      <a:r>
                        <a:rPr kumimoji="1" lang="en-US" altLang="ja-JP" sz="1400" b="0" i="0" u="none" strike="noStrike" kern="1200" cap="none" spc="0" normalizeH="0" baseline="0" noProof="0">
                          <a:ln>
                            <a:noFill/>
                          </a:ln>
                          <a:solidFill>
                            <a:prstClr val="black"/>
                          </a:solidFill>
                          <a:effectLst/>
                          <a:uLnTx/>
                          <a:uFillTx/>
                          <a:latin typeface="+mn-ea"/>
                          <a:ea typeface="+mn-ea"/>
                          <a:cs typeface="+mn-cs"/>
                        </a:rPr>
                        <a:t>』</a:t>
                      </a:r>
                      <a:r>
                        <a:rPr kumimoji="1" lang="ja-JP" altLang="en-US" sz="1400" b="0" i="0" u="none" strike="noStrike" kern="1200" cap="none" spc="0" normalizeH="0" baseline="0" noProof="0">
                          <a:ln>
                            <a:noFill/>
                          </a:ln>
                          <a:solidFill>
                            <a:prstClr val="black"/>
                          </a:solidFill>
                          <a:effectLst/>
                          <a:uLnTx/>
                          <a:uFillTx/>
                          <a:latin typeface="+mn-ea"/>
                          <a:ea typeface="+mn-ea"/>
                          <a:cs typeface="+mn-cs"/>
                        </a:rPr>
                        <a:t>は</a:t>
                      </a:r>
                      <a:r>
                        <a:rPr kumimoji="1" lang="en-US" altLang="ja-JP" sz="1400" b="0" i="0" u="none" strike="noStrike" kern="1200" cap="none" spc="0" normalizeH="0" baseline="0" noProof="0">
                          <a:ln>
                            <a:noFill/>
                          </a:ln>
                          <a:solidFill>
                            <a:prstClr val="black"/>
                          </a:solidFill>
                          <a:effectLst/>
                          <a:uLnTx/>
                          <a:uFillTx/>
                          <a:latin typeface="+mn-ea"/>
                          <a:ea typeface="+mn-ea"/>
                          <a:cs typeface="+mn-cs"/>
                        </a:rPr>
                        <a:t>『9</a:t>
                      </a:r>
                      <a:r>
                        <a:rPr kumimoji="1" lang="ja-JP" altLang="en-US" sz="1400" b="0" i="0" u="none" strike="noStrike" kern="1200" cap="none" spc="0" normalizeH="0" baseline="0" noProof="0">
                          <a:ln>
                            <a:noFill/>
                          </a:ln>
                          <a:solidFill>
                            <a:prstClr val="black"/>
                          </a:solidFill>
                          <a:effectLst/>
                          <a:uLnTx/>
                          <a:uFillTx/>
                          <a:latin typeface="+mn-ea"/>
                          <a:ea typeface="+mn-ea"/>
                          <a:cs typeface="+mn-cs"/>
                        </a:rPr>
                        <a:t>部</a:t>
                      </a:r>
                      <a:r>
                        <a:rPr kumimoji="1" lang="en-US" altLang="ja-JP" sz="1400" b="0" i="0" u="none" strike="noStrike" kern="1200" cap="none" spc="0" normalizeH="0" baseline="0" noProof="0">
                          <a:ln>
                            <a:noFill/>
                          </a:ln>
                          <a:solidFill>
                            <a:prstClr val="black"/>
                          </a:solidFill>
                          <a:effectLst/>
                          <a:uLnTx/>
                          <a:uFillTx/>
                          <a:latin typeface="+mn-ea"/>
                          <a:ea typeface="+mn-ea"/>
                          <a:cs typeface="+mn-cs"/>
                        </a:rPr>
                        <a:t>2</a:t>
                      </a:r>
                      <a:r>
                        <a:rPr kumimoji="1" lang="ja-JP" altLang="en-US" sz="1400" b="0" i="0" u="none" strike="noStrike" kern="1200" cap="none" spc="0" normalizeH="0" baseline="0" noProof="0">
                          <a:ln>
                            <a:noFill/>
                          </a:ln>
                          <a:solidFill>
                            <a:prstClr val="black"/>
                          </a:solidFill>
                          <a:effectLst/>
                          <a:uLnTx/>
                          <a:uFillTx/>
                          <a:latin typeface="+mn-ea"/>
                          <a:ea typeface="+mn-ea"/>
                          <a:cs typeface="+mn-cs"/>
                        </a:rPr>
                        <a:t>室</a:t>
                      </a:r>
                      <a:r>
                        <a:rPr kumimoji="1" lang="en-US" altLang="ja-JP" sz="1400" b="0" i="0" u="none" strike="noStrike" kern="1200" cap="none" spc="0" normalizeH="0" baseline="0" noProof="0">
                          <a:ln>
                            <a:noFill/>
                          </a:ln>
                          <a:solidFill>
                            <a:prstClr val="black"/>
                          </a:solidFill>
                          <a:effectLst/>
                          <a:uLnTx/>
                          <a:uFillTx/>
                          <a:latin typeface="+mn-ea"/>
                          <a:ea typeface="+mn-ea"/>
                          <a:cs typeface="+mn-cs"/>
                        </a:rPr>
                        <a:t>61</a:t>
                      </a:r>
                      <a:r>
                        <a:rPr kumimoji="1" lang="ja-JP" altLang="en-US" sz="1400" b="0" i="0" u="none" strike="noStrike" kern="1200" cap="none" spc="0" normalizeH="0" baseline="0" noProof="0">
                          <a:ln>
                            <a:noFill/>
                          </a:ln>
                          <a:solidFill>
                            <a:prstClr val="black"/>
                          </a:solidFill>
                          <a:effectLst/>
                          <a:uLnTx/>
                          <a:uFillTx/>
                          <a:latin typeface="+mn-ea"/>
                          <a:ea typeface="+mn-ea"/>
                          <a:cs typeface="+mn-cs"/>
                        </a:rPr>
                        <a:t>課</a:t>
                      </a:r>
                      <a:r>
                        <a:rPr kumimoji="1" lang="en-US" altLang="ja-JP" sz="1400" b="0" i="0" u="none" strike="noStrike" kern="1200" cap="none" spc="0" normalizeH="0" baseline="0" noProof="0">
                          <a:ln>
                            <a:noFill/>
                          </a:ln>
                          <a:solidFill>
                            <a:prstClr val="black"/>
                          </a:solidFill>
                          <a:effectLst/>
                          <a:uLnTx/>
                          <a:uFillTx/>
                          <a:latin typeface="+mn-ea"/>
                          <a:ea typeface="+mn-ea"/>
                          <a:cs typeface="+mn-cs"/>
                        </a:rPr>
                        <a:t>』</a:t>
                      </a:r>
                      <a:r>
                        <a:rPr kumimoji="1" lang="ja-JP" altLang="en-US" sz="1400" b="0" i="0" u="none" strike="noStrike" kern="1200" cap="none" spc="0" normalizeH="0" baseline="0" noProof="0">
                          <a:ln>
                            <a:noFill/>
                          </a:ln>
                          <a:solidFill>
                            <a:prstClr val="black"/>
                          </a:solidFill>
                          <a:effectLst/>
                          <a:uLnTx/>
                          <a:uFillTx/>
                          <a:latin typeface="+mn-ea"/>
                          <a:ea typeface="+mn-ea"/>
                          <a:cs typeface="+mn-cs"/>
                        </a:rPr>
                        <a:t>へ削減済</a:t>
                      </a:r>
                      <a:endParaRPr kumimoji="1" lang="ja-JP" altLang="en-US" sz="1400" b="0" i="0" u="none" strike="noStrike" kern="1200" baseline="0">
                        <a:solidFill>
                          <a:schemeClr val="dk1"/>
                        </a:solidFill>
                        <a:latin typeface="+mn-ea"/>
                        <a:ea typeface="+mn-ea"/>
                        <a:cs typeface="+mn-cs"/>
                      </a:endParaRPr>
                    </a:p>
                    <a:p>
                      <a:r>
                        <a:rPr kumimoji="1" lang="en-US" altLang="ja-JP" sz="1400" b="0" i="0" u="none" strike="noStrike" kern="1200" baseline="0">
                          <a:solidFill>
                            <a:schemeClr val="dk1"/>
                          </a:solidFill>
                          <a:latin typeface="+mn-ea"/>
                          <a:ea typeface="+mn-ea"/>
                          <a:cs typeface="+mn-cs"/>
                        </a:rPr>
                        <a:t>AS</a:t>
                      </a:r>
                      <a:r>
                        <a:rPr kumimoji="1" lang="ja-JP" altLang="en-US" sz="1400" b="0" i="0" u="none" strike="noStrike" kern="1200" baseline="0">
                          <a:solidFill>
                            <a:schemeClr val="dk1"/>
                          </a:solidFill>
                          <a:latin typeface="+mn-ea"/>
                          <a:ea typeface="+mn-ea"/>
                          <a:cs typeface="+mn-cs"/>
                        </a:rPr>
                        <a:t>事業特化による新設対応組織の更なる統合の推進を検討</a:t>
                      </a:r>
                      <a:br>
                        <a:rPr kumimoji="1" lang="en-US" altLang="ja-JP" sz="1400" b="0" i="0" u="none" strike="noStrike" kern="1200" baseline="0">
                          <a:solidFill>
                            <a:schemeClr val="dk1"/>
                          </a:solidFill>
                          <a:latin typeface="+mn-ea"/>
                          <a:ea typeface="+mn-ea"/>
                          <a:cs typeface="+mn-cs"/>
                        </a:rPr>
                      </a:br>
                      <a:r>
                        <a:rPr kumimoji="1" lang="ja-JP" altLang="en-US" sz="1400" b="0" i="0" u="none" strike="noStrike" kern="1200" baseline="0">
                          <a:solidFill>
                            <a:schemeClr val="dk1"/>
                          </a:solidFill>
                          <a:latin typeface="+mn-ea"/>
                          <a:ea typeface="+mn-ea"/>
                          <a:cs typeface="+mn-cs"/>
                        </a:rPr>
                        <a:t>（間接員削減）</a:t>
                      </a:r>
                    </a:p>
                  </a:txBody>
                  <a:tcPr/>
                </a:tc>
                <a:tc hMerge="1">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prstClr val="black"/>
                          </a:solidFill>
                          <a:effectLst/>
                          <a:uLnTx/>
                          <a:uFillTx/>
                          <a:latin typeface="+mn-lt"/>
                          <a:ea typeface="+mn-ea"/>
                          <a:cs typeface="+mn-cs"/>
                        </a:rPr>
                        <a:t>2023/4/1</a:t>
                      </a:r>
                      <a:r>
                        <a:rPr kumimoji="1" lang="ja-JP" altLang="en-US" sz="1400" b="0" i="0" u="none" strike="noStrike" kern="1200" cap="none" spc="0" normalizeH="0" baseline="0" noProof="0">
                          <a:ln>
                            <a:noFill/>
                          </a:ln>
                          <a:solidFill>
                            <a:prstClr val="black"/>
                          </a:solidFill>
                          <a:effectLst/>
                          <a:uLnTx/>
                          <a:uFillTx/>
                          <a:latin typeface="+mn-lt"/>
                          <a:ea typeface="+mn-ea"/>
                          <a:cs typeface="+mn-cs"/>
                        </a:rPr>
                        <a:t>付組織統合で</a:t>
                      </a:r>
                      <a:r>
                        <a:rPr kumimoji="1" lang="en-US" altLang="ja-JP" sz="1400" b="0" i="0" u="none" strike="noStrike" kern="1200" cap="none" spc="0" normalizeH="0" baseline="0" noProof="0">
                          <a:ln>
                            <a:noFill/>
                          </a:ln>
                          <a:solidFill>
                            <a:prstClr val="black"/>
                          </a:solidFill>
                          <a:effectLst/>
                          <a:uLnTx/>
                          <a:uFillTx/>
                          <a:latin typeface="+mn-lt"/>
                          <a:ea typeface="+mn-ea"/>
                          <a:cs typeface="+mn-cs"/>
                        </a:rPr>
                        <a:t>SPMI『19</a:t>
                      </a:r>
                      <a:r>
                        <a:rPr kumimoji="1" lang="ja-JP" altLang="en-US" sz="1400" b="0" i="0" u="none" strike="noStrike" kern="1200" cap="none" spc="0" normalizeH="0" baseline="0" noProof="0">
                          <a:ln>
                            <a:noFill/>
                          </a:ln>
                          <a:solidFill>
                            <a:prstClr val="black"/>
                          </a:solidFill>
                          <a:effectLst/>
                          <a:uLnTx/>
                          <a:uFillTx/>
                          <a:latin typeface="+mn-lt"/>
                          <a:ea typeface="+mn-ea"/>
                          <a:cs typeface="+mn-cs"/>
                        </a:rPr>
                        <a:t>部</a:t>
                      </a:r>
                      <a:r>
                        <a:rPr kumimoji="1" lang="en-US" altLang="ja-JP" sz="1400" b="0" i="0" u="none" strike="noStrike" kern="1200" cap="none" spc="0" normalizeH="0" baseline="0" noProof="0">
                          <a:ln>
                            <a:noFill/>
                          </a:ln>
                          <a:solidFill>
                            <a:prstClr val="black"/>
                          </a:solidFill>
                          <a:effectLst/>
                          <a:uLnTx/>
                          <a:uFillTx/>
                          <a:latin typeface="+mn-lt"/>
                          <a:ea typeface="+mn-ea"/>
                          <a:cs typeface="+mn-cs"/>
                        </a:rPr>
                        <a:t>5</a:t>
                      </a:r>
                      <a:r>
                        <a:rPr kumimoji="1" lang="ja-JP" altLang="en-US" sz="1400" b="0" i="0" u="none" strike="noStrike" kern="1200" cap="none" spc="0" normalizeH="0" baseline="0" noProof="0">
                          <a:ln>
                            <a:noFill/>
                          </a:ln>
                          <a:solidFill>
                            <a:prstClr val="black"/>
                          </a:solidFill>
                          <a:effectLst/>
                          <a:uLnTx/>
                          <a:uFillTx/>
                          <a:latin typeface="+mn-lt"/>
                          <a:ea typeface="+mn-ea"/>
                          <a:cs typeface="+mn-cs"/>
                        </a:rPr>
                        <a:t>室</a:t>
                      </a:r>
                      <a:r>
                        <a:rPr kumimoji="1" lang="en-US" altLang="ja-JP" sz="1400" b="0" i="0" u="none" strike="noStrike" kern="1200" cap="none" spc="0" normalizeH="0" baseline="0" noProof="0">
                          <a:ln>
                            <a:noFill/>
                          </a:ln>
                          <a:solidFill>
                            <a:prstClr val="black"/>
                          </a:solidFill>
                          <a:effectLst/>
                          <a:uLnTx/>
                          <a:uFillTx/>
                          <a:latin typeface="+mn-lt"/>
                          <a:ea typeface="+mn-ea"/>
                          <a:cs typeface="+mn-cs"/>
                        </a:rPr>
                        <a:t>88</a:t>
                      </a:r>
                      <a:r>
                        <a:rPr kumimoji="1" lang="ja-JP" altLang="en-US" sz="1400" b="0" i="0" u="none" strike="noStrike" kern="1200" cap="none" spc="0" normalizeH="0" baseline="0" noProof="0">
                          <a:ln>
                            <a:noFill/>
                          </a:ln>
                          <a:solidFill>
                            <a:prstClr val="black"/>
                          </a:solidFill>
                          <a:effectLst/>
                          <a:uLnTx/>
                          <a:uFillTx/>
                          <a:latin typeface="+mn-lt"/>
                          <a:ea typeface="+mn-ea"/>
                          <a:cs typeface="+mn-cs"/>
                        </a:rPr>
                        <a:t>課</a:t>
                      </a:r>
                      <a:r>
                        <a:rPr kumimoji="1" lang="en-US" altLang="ja-JP" sz="1400" b="0" i="0" u="none" strike="noStrike" kern="1200" cap="none" spc="0" normalizeH="0" baseline="0" noProof="0">
                          <a:ln>
                            <a:noFill/>
                          </a:ln>
                          <a:solidFill>
                            <a:prstClr val="black"/>
                          </a:solidFill>
                          <a:effectLst/>
                          <a:uLnTx/>
                          <a:uFillTx/>
                          <a:latin typeface="+mn-lt"/>
                          <a:ea typeface="+mn-ea"/>
                          <a:cs typeface="+mn-cs"/>
                        </a:rPr>
                        <a:t>』</a:t>
                      </a:r>
                      <a:r>
                        <a:rPr kumimoji="1" lang="ja-JP" altLang="en-US" sz="1400" b="0" i="0" u="none" strike="noStrike" kern="1200" cap="none" spc="0" normalizeH="0" baseline="0" noProof="0">
                          <a:ln>
                            <a:noFill/>
                          </a:ln>
                          <a:solidFill>
                            <a:prstClr val="black"/>
                          </a:solidFill>
                          <a:effectLst/>
                          <a:uLnTx/>
                          <a:uFillTx/>
                          <a:latin typeface="+mn-lt"/>
                          <a:ea typeface="+mn-ea"/>
                          <a:cs typeface="+mn-cs"/>
                        </a:rPr>
                        <a:t>は</a:t>
                      </a:r>
                      <a:r>
                        <a:rPr kumimoji="1" lang="en-US" altLang="ja-JP" sz="1400" b="0" i="0" u="none" strike="noStrike" kern="1200" cap="none" spc="0" normalizeH="0" baseline="0" noProof="0">
                          <a:ln>
                            <a:noFill/>
                          </a:ln>
                          <a:solidFill>
                            <a:prstClr val="black"/>
                          </a:solidFill>
                          <a:effectLst/>
                          <a:uLnTx/>
                          <a:uFillTx/>
                          <a:latin typeface="+mn-lt"/>
                          <a:ea typeface="+mn-ea"/>
                          <a:cs typeface="+mn-cs"/>
                        </a:rPr>
                        <a:t>『9</a:t>
                      </a:r>
                      <a:r>
                        <a:rPr kumimoji="1" lang="ja-JP" altLang="en-US" sz="1400" b="0" i="0" u="none" strike="noStrike" kern="1200" cap="none" spc="0" normalizeH="0" baseline="0" noProof="0">
                          <a:ln>
                            <a:noFill/>
                          </a:ln>
                          <a:solidFill>
                            <a:prstClr val="black"/>
                          </a:solidFill>
                          <a:effectLst/>
                          <a:uLnTx/>
                          <a:uFillTx/>
                          <a:latin typeface="+mn-lt"/>
                          <a:ea typeface="+mn-ea"/>
                          <a:cs typeface="+mn-cs"/>
                        </a:rPr>
                        <a:t>部</a:t>
                      </a:r>
                      <a:r>
                        <a:rPr kumimoji="1" lang="en-US" altLang="ja-JP" sz="1400" b="0" i="0" u="none" strike="noStrike" kern="1200" cap="none" spc="0" normalizeH="0" baseline="0" noProof="0">
                          <a:ln>
                            <a:noFill/>
                          </a:ln>
                          <a:solidFill>
                            <a:prstClr val="black"/>
                          </a:solidFill>
                          <a:effectLst/>
                          <a:uLnTx/>
                          <a:uFillTx/>
                          <a:latin typeface="+mn-lt"/>
                          <a:ea typeface="+mn-ea"/>
                          <a:cs typeface="+mn-cs"/>
                        </a:rPr>
                        <a:t>2</a:t>
                      </a:r>
                      <a:r>
                        <a:rPr kumimoji="1" lang="ja-JP" altLang="en-US" sz="1400" b="0" i="0" u="none" strike="noStrike" kern="1200" cap="none" spc="0" normalizeH="0" baseline="0" noProof="0">
                          <a:ln>
                            <a:noFill/>
                          </a:ln>
                          <a:solidFill>
                            <a:prstClr val="black"/>
                          </a:solidFill>
                          <a:effectLst/>
                          <a:uLnTx/>
                          <a:uFillTx/>
                          <a:latin typeface="+mn-lt"/>
                          <a:ea typeface="+mn-ea"/>
                          <a:cs typeface="+mn-cs"/>
                        </a:rPr>
                        <a:t>室</a:t>
                      </a:r>
                      <a:r>
                        <a:rPr kumimoji="1" lang="en-US" altLang="ja-JP" sz="1400" b="0" i="0" u="none" strike="noStrike" kern="1200" cap="none" spc="0" normalizeH="0" baseline="0" noProof="0">
                          <a:ln>
                            <a:noFill/>
                          </a:ln>
                          <a:solidFill>
                            <a:prstClr val="black"/>
                          </a:solidFill>
                          <a:effectLst/>
                          <a:uLnTx/>
                          <a:uFillTx/>
                          <a:latin typeface="+mn-lt"/>
                          <a:ea typeface="+mn-ea"/>
                          <a:cs typeface="+mn-cs"/>
                        </a:rPr>
                        <a:t>61</a:t>
                      </a:r>
                      <a:r>
                        <a:rPr kumimoji="1" lang="ja-JP" altLang="en-US" sz="1400" b="0" i="0" u="none" strike="noStrike" kern="1200" cap="none" spc="0" normalizeH="0" baseline="0" noProof="0">
                          <a:ln>
                            <a:noFill/>
                          </a:ln>
                          <a:solidFill>
                            <a:prstClr val="black"/>
                          </a:solidFill>
                          <a:effectLst/>
                          <a:uLnTx/>
                          <a:uFillTx/>
                          <a:latin typeface="+mn-lt"/>
                          <a:ea typeface="+mn-ea"/>
                          <a:cs typeface="+mn-cs"/>
                        </a:rPr>
                        <a:t>課</a:t>
                      </a:r>
                      <a:r>
                        <a:rPr kumimoji="1" lang="en-US" altLang="ja-JP" sz="1400" b="0" i="0" u="none" strike="noStrike" kern="1200" cap="none" spc="0" normalizeH="0" baseline="0" noProof="0">
                          <a:ln>
                            <a:noFill/>
                          </a:ln>
                          <a:solidFill>
                            <a:prstClr val="black"/>
                          </a:solidFill>
                          <a:effectLst/>
                          <a:uLnTx/>
                          <a:uFillTx/>
                          <a:latin typeface="+mn-lt"/>
                          <a:ea typeface="+mn-ea"/>
                          <a:cs typeface="+mn-cs"/>
                        </a:rPr>
                        <a:t>』</a:t>
                      </a:r>
                      <a:r>
                        <a:rPr kumimoji="1" lang="ja-JP" altLang="en-US" sz="1400" b="0" i="0" u="none" strike="noStrike" kern="1200" cap="none" spc="0" normalizeH="0" baseline="0" noProof="0">
                          <a:ln>
                            <a:noFill/>
                          </a:ln>
                          <a:solidFill>
                            <a:prstClr val="black"/>
                          </a:solidFill>
                          <a:effectLst/>
                          <a:uLnTx/>
                          <a:uFillTx/>
                          <a:latin typeface="+mn-lt"/>
                          <a:ea typeface="+mn-ea"/>
                          <a:cs typeface="+mn-cs"/>
                        </a:rPr>
                        <a:t>へ削減。</a:t>
                      </a:r>
                      <a:endParaRPr kumimoji="1" lang="ja-JP" altLang="en-US" sz="1400" b="0" i="0" u="none" strike="noStrike" kern="1200" baseline="0">
                        <a:solidFill>
                          <a:schemeClr val="dk1"/>
                        </a:solidFill>
                        <a:latin typeface="+mn-lt"/>
                        <a:ea typeface="+mn-ea"/>
                        <a:cs typeface="+mn-cs"/>
                      </a:endParaRPr>
                    </a:p>
                    <a:p>
                      <a:r>
                        <a:rPr kumimoji="1" lang="en-US" altLang="ja-JP" sz="1400" b="0" i="0" u="none" strike="noStrike" kern="1200" baseline="0">
                          <a:solidFill>
                            <a:schemeClr val="dk1"/>
                          </a:solidFill>
                          <a:latin typeface="+mn-lt"/>
                          <a:ea typeface="+mn-ea"/>
                          <a:cs typeface="+mn-cs"/>
                        </a:rPr>
                        <a:t>AS</a:t>
                      </a:r>
                      <a:r>
                        <a:rPr kumimoji="1" lang="ja-JP" altLang="en-US" sz="1400" b="0" i="0" u="none" strike="noStrike" kern="1200" baseline="0">
                          <a:solidFill>
                            <a:schemeClr val="dk1"/>
                          </a:solidFill>
                          <a:latin typeface="+mn-lt"/>
                          <a:ea typeface="+mn-ea"/>
                          <a:cs typeface="+mn-cs"/>
                        </a:rPr>
                        <a:t>事業特化による新設対応組織の更なる統合の推進。（間接員削減）</a:t>
                      </a:r>
                    </a:p>
                  </a:txBody>
                  <a:tcPr/>
                </a:tc>
                <a:tc>
                  <a:txBody>
                    <a:bodyPr/>
                    <a:lstStyle/>
                    <a:p>
                      <a:pPr algn="ctr"/>
                      <a:r>
                        <a:rPr kumimoji="1" lang="en-US" altLang="ja-JP" sz="1200" b="0" i="0" u="none" strike="noStrike" kern="1200" baseline="0">
                          <a:solidFill>
                            <a:schemeClr val="dk1"/>
                          </a:solidFill>
                          <a:latin typeface="+mn-ea"/>
                          <a:ea typeface="+mn-ea"/>
                          <a:cs typeface="+mn-cs"/>
                        </a:rPr>
                        <a:t>-</a:t>
                      </a:r>
                      <a:endParaRPr kumimoji="1" lang="ja-JP" altLang="en-US" sz="1200" b="0" i="0" u="none" strike="noStrike" kern="1200" baseline="0">
                        <a:solidFill>
                          <a:schemeClr val="dk1"/>
                        </a:solidFill>
                        <a:latin typeface="+mn-ea"/>
                        <a:ea typeface="+mn-ea"/>
                        <a:cs typeface="+mn-cs"/>
                      </a:endParaRPr>
                    </a:p>
                  </a:txBody>
                  <a:tcPr anchor="ctr"/>
                </a:tc>
                <a:extLst>
                  <a:ext uri="{0D108BD9-81ED-4DB2-BD59-A6C34878D82A}">
                    <a16:rowId xmlns:a16="http://schemas.microsoft.com/office/drawing/2014/main" val="779828711"/>
                  </a:ext>
                </a:extLst>
              </a:tr>
              <a:tr h="497382">
                <a:tc>
                  <a:txBody>
                    <a:bodyPr/>
                    <a:lstStyle/>
                    <a:p>
                      <a:r>
                        <a:rPr kumimoji="1" lang="en-US" altLang="ja-JP" sz="1600">
                          <a:latin typeface="+mn-ea"/>
                          <a:ea typeface="+mn-ea"/>
                        </a:rPr>
                        <a:t>3</a:t>
                      </a:r>
                      <a:endParaRPr kumimoji="1" lang="ja-JP" altLang="en-US" sz="1600">
                        <a:latin typeface="+mn-ea"/>
                        <a:ea typeface="+mn-ea"/>
                      </a:endParaRPr>
                    </a:p>
                  </a:txBody>
                  <a:tcPr/>
                </a:tc>
                <a:tc>
                  <a:txBody>
                    <a:bodyPr/>
                    <a:lstStyle/>
                    <a:p>
                      <a:r>
                        <a:rPr kumimoji="1" lang="ja-JP" altLang="en-US" sz="1400">
                          <a:latin typeface="+mn-ea"/>
                          <a:ea typeface="+mn-ea"/>
                        </a:rPr>
                        <a:t>工場再編</a:t>
                      </a:r>
                    </a:p>
                  </a:txBody>
                  <a:tcPr/>
                </a:tc>
                <a:tc gridSpan="2">
                  <a:txBody>
                    <a:bodyPr/>
                    <a:lstStyle/>
                    <a:p>
                      <a:r>
                        <a:rPr kumimoji="1" lang="ja-JP" altLang="en-US" sz="1400">
                          <a:latin typeface="+mn-ea"/>
                          <a:ea typeface="+mn-ea"/>
                        </a:rPr>
                        <a:t>工場・設備のスリム化、長崎と呉の一体運営の加速化</a:t>
                      </a:r>
                      <a:endParaRPr kumimoji="1" lang="en-US" altLang="ja-JP" sz="1400">
                        <a:latin typeface="+mn-ea"/>
                        <a:ea typeface="+mn-ea"/>
                      </a:endParaRPr>
                    </a:p>
                    <a:p>
                      <a:r>
                        <a:rPr kumimoji="1" lang="ja-JP" altLang="en-US" sz="1400">
                          <a:latin typeface="+mn-ea"/>
                          <a:ea typeface="+mn-ea"/>
                        </a:rPr>
                        <a:t>（</a:t>
                      </a:r>
                      <a:r>
                        <a:rPr kumimoji="1" lang="en-US" altLang="ja-JP" sz="1400">
                          <a:latin typeface="+mn-ea"/>
                          <a:ea typeface="+mn-ea"/>
                        </a:rPr>
                        <a:t>IT</a:t>
                      </a:r>
                      <a:r>
                        <a:rPr kumimoji="1" lang="ja-JP" altLang="en-US" sz="1400">
                          <a:latin typeface="+mn-ea"/>
                          <a:ea typeface="+mn-ea"/>
                        </a:rPr>
                        <a:t>費含む経費削減）</a:t>
                      </a:r>
                    </a:p>
                  </a:txBody>
                  <a:tcPr/>
                </a:tc>
                <a:tc hMerge="1">
                  <a:txBody>
                    <a:bodyPr/>
                    <a:lstStyle/>
                    <a:p>
                      <a:r>
                        <a:rPr kumimoji="1" lang="ja-JP" altLang="en-US" sz="1400"/>
                        <a:t>呉工場は</a:t>
                      </a:r>
                      <a:r>
                        <a:rPr kumimoji="1" lang="en-US" altLang="ja-JP" sz="1400"/>
                        <a:t>FY23</a:t>
                      </a:r>
                      <a:r>
                        <a:rPr kumimoji="1" lang="ja-JP" altLang="en-US" sz="1400"/>
                        <a:t>末を目途に長崎に統合し一体運営（物件費・管理費・</a:t>
                      </a:r>
                      <a:r>
                        <a:rPr kumimoji="1" lang="en-US" altLang="ja-JP" sz="1400"/>
                        <a:t>IT</a:t>
                      </a:r>
                      <a:r>
                        <a:rPr kumimoji="1" lang="ja-JP" altLang="en-US" sz="1400"/>
                        <a:t>費削減）</a:t>
                      </a: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今後織込み予定</a:t>
                      </a:r>
                    </a:p>
                    <a:p>
                      <a:pPr algn="ctr"/>
                      <a:r>
                        <a:rPr kumimoji="1" lang="ja-JP" altLang="en-US" sz="1200">
                          <a:latin typeface="+mn-ea"/>
                          <a:ea typeface="+mn-ea"/>
                        </a:rPr>
                        <a:t>（</a:t>
                      </a:r>
                      <a:r>
                        <a:rPr kumimoji="1" lang="en-US" altLang="ja-JP" sz="1200">
                          <a:latin typeface="+mn-ea"/>
                          <a:ea typeface="+mn-ea"/>
                        </a:rPr>
                        <a:t>FY24</a:t>
                      </a:r>
                      <a:r>
                        <a:rPr kumimoji="1" lang="ja-JP" altLang="en-US" sz="1200">
                          <a:latin typeface="+mn-ea"/>
                          <a:ea typeface="+mn-ea"/>
                        </a:rPr>
                        <a:t>以降</a:t>
                      </a:r>
                      <a:r>
                        <a:rPr kumimoji="1" lang="en-US" altLang="ja-JP" sz="1200">
                          <a:latin typeface="+mn-ea"/>
                          <a:ea typeface="+mn-ea"/>
                        </a:rPr>
                        <a:t>/</a:t>
                      </a:r>
                      <a:r>
                        <a:rPr kumimoji="1" lang="ja-JP" altLang="en-US" sz="1200">
                          <a:latin typeface="+mn-ea"/>
                          <a:ea typeface="+mn-ea"/>
                        </a:rPr>
                        <a:t>年）</a:t>
                      </a:r>
                    </a:p>
                  </a:txBody>
                  <a:tcPr/>
                </a:tc>
                <a:extLst>
                  <a:ext uri="{0D108BD9-81ED-4DB2-BD59-A6C34878D82A}">
                    <a16:rowId xmlns:a16="http://schemas.microsoft.com/office/drawing/2014/main" val="877422356"/>
                  </a:ext>
                </a:extLst>
              </a:tr>
              <a:tr h="497382">
                <a:tc rowSpan="5">
                  <a:txBody>
                    <a:bodyPr/>
                    <a:lstStyle/>
                    <a:p>
                      <a:r>
                        <a:rPr kumimoji="1" lang="en-US" altLang="ja-JP" sz="1600">
                          <a:latin typeface="+mn-ea"/>
                          <a:ea typeface="+mn-ea"/>
                        </a:rPr>
                        <a:t>4</a:t>
                      </a:r>
                    </a:p>
                    <a:p>
                      <a:endParaRPr kumimoji="1" lang="ja-JP" altLang="en-US" sz="1600">
                        <a:latin typeface="+mn-ea"/>
                        <a:ea typeface="+mn-ea"/>
                      </a:endParaRPr>
                    </a:p>
                  </a:txBody>
                  <a:tcPr/>
                </a:tc>
                <a:tc rowSpan="5">
                  <a:txBody>
                    <a:bodyPr/>
                    <a:lstStyle/>
                    <a:p>
                      <a:r>
                        <a:rPr kumimoji="1" lang="ja-JP" altLang="en-US" sz="1400">
                          <a:latin typeface="+mn-ea"/>
                          <a:ea typeface="+mn-ea"/>
                        </a:rPr>
                        <a:t>業務プロセス</a:t>
                      </a:r>
                      <a:endParaRPr kumimoji="1" lang="en-US" altLang="ja-JP" sz="1400">
                        <a:latin typeface="+mn-ea"/>
                        <a:ea typeface="+mn-ea"/>
                      </a:endParaRPr>
                    </a:p>
                    <a:p>
                      <a:r>
                        <a:rPr kumimoji="1" lang="ja-JP" altLang="en-US" sz="1400">
                          <a:latin typeface="+mn-ea"/>
                          <a:ea typeface="+mn-ea"/>
                        </a:rPr>
                        <a:t>改革</a:t>
                      </a:r>
                    </a:p>
                  </a:txBody>
                  <a:tcPr/>
                </a:tc>
                <a:tc rowSpan="5">
                  <a:txBody>
                    <a:bodyPr/>
                    <a:lstStyle/>
                    <a:p>
                      <a:r>
                        <a:rPr kumimoji="1" lang="ja-JP" altLang="en-US" sz="1400">
                          <a:latin typeface="+mn-ea"/>
                          <a:ea typeface="+mn-ea"/>
                        </a:rPr>
                        <a:t>業務プロセス改善活動</a:t>
                      </a:r>
                      <a:endParaRPr kumimoji="1" lang="en-US" altLang="ja-JP" sz="1400">
                        <a:latin typeface="+mn-ea"/>
                        <a:ea typeface="+mn-ea"/>
                      </a:endParaRPr>
                    </a:p>
                    <a:p>
                      <a:r>
                        <a:rPr kumimoji="1" lang="ja-JP" altLang="en-US" sz="1400">
                          <a:latin typeface="+mn-ea"/>
                          <a:ea typeface="+mn-ea"/>
                        </a:rPr>
                        <a:t>①見積リードタイム半減</a:t>
                      </a:r>
                      <a:endParaRPr kumimoji="1" lang="en-US" altLang="ja-JP" sz="1400">
                        <a:latin typeface="+mn-ea"/>
                        <a:ea typeface="+mn-ea"/>
                      </a:endParaRPr>
                    </a:p>
                    <a:p>
                      <a:r>
                        <a:rPr kumimoji="1" lang="ja-JP" altLang="en-US" sz="1400">
                          <a:latin typeface="+mn-ea"/>
                          <a:ea typeface="+mn-ea"/>
                        </a:rPr>
                        <a:t>②</a:t>
                      </a:r>
                      <a:r>
                        <a:rPr kumimoji="1" lang="en-US" altLang="ja-JP" sz="1400">
                          <a:latin typeface="+mn-ea"/>
                          <a:ea typeface="+mn-ea"/>
                        </a:rPr>
                        <a:t>CRM</a:t>
                      </a:r>
                      <a:r>
                        <a:rPr kumimoji="1" lang="ja-JP" altLang="en-US" sz="1400">
                          <a:latin typeface="+mn-ea"/>
                          <a:ea typeface="+mn-ea"/>
                        </a:rPr>
                        <a:t>活用でお客様</a:t>
                      </a:r>
                      <a:br>
                        <a:rPr kumimoji="1" lang="en-US" altLang="ja-JP" sz="1400">
                          <a:latin typeface="+mn-ea"/>
                          <a:ea typeface="+mn-ea"/>
                        </a:rPr>
                      </a:br>
                      <a:r>
                        <a:rPr kumimoji="1" lang="ja-JP" altLang="en-US" sz="1400">
                          <a:latin typeface="+mn-ea"/>
                          <a:ea typeface="+mn-ea"/>
                        </a:rPr>
                        <a:t>　提案状況見える化</a:t>
                      </a:r>
                      <a:endParaRPr kumimoji="1" lang="en-US" altLang="ja-JP" sz="1400">
                        <a:latin typeface="+mn-ea"/>
                        <a:ea typeface="+mn-ea"/>
                      </a:endParaRPr>
                    </a:p>
                    <a:p>
                      <a:r>
                        <a:rPr kumimoji="1" lang="ja-JP" altLang="en-US" sz="1400">
                          <a:latin typeface="+mn-ea"/>
                          <a:ea typeface="+mn-ea"/>
                        </a:rPr>
                        <a:t>③</a:t>
                      </a:r>
                      <a:r>
                        <a:rPr kumimoji="1" lang="en-US" altLang="ja-JP" sz="1400">
                          <a:latin typeface="+mn-ea"/>
                          <a:ea typeface="+mn-ea"/>
                        </a:rPr>
                        <a:t>TA</a:t>
                      </a:r>
                      <a:r>
                        <a:rPr kumimoji="1" lang="ja-JP" altLang="en-US" sz="1400">
                          <a:latin typeface="+mn-ea"/>
                          <a:ea typeface="+mn-ea"/>
                        </a:rPr>
                        <a:t>派遣平準化</a:t>
                      </a:r>
                      <a:endParaRPr kumimoji="1" lang="en-US" altLang="ja-JP" sz="1400">
                        <a:latin typeface="+mn-ea"/>
                        <a:ea typeface="+mn-ea"/>
                      </a:endParaRPr>
                    </a:p>
                    <a:p>
                      <a:r>
                        <a:rPr kumimoji="1" lang="ja-JP" altLang="en-US" sz="1400">
                          <a:latin typeface="+mn-ea"/>
                          <a:ea typeface="+mn-ea"/>
                        </a:rPr>
                        <a:t>④</a:t>
                      </a:r>
                      <a:r>
                        <a:rPr kumimoji="1" lang="en-US" altLang="ja-JP" sz="1400">
                          <a:latin typeface="+mn-ea"/>
                          <a:ea typeface="+mn-ea"/>
                        </a:rPr>
                        <a:t>AS</a:t>
                      </a:r>
                      <a:r>
                        <a:rPr kumimoji="1" lang="ja-JP" altLang="en-US" sz="1400">
                          <a:latin typeface="+mn-ea"/>
                          <a:ea typeface="+mn-ea"/>
                        </a:rPr>
                        <a:t>事業に合わせた</a:t>
                      </a:r>
                      <a:br>
                        <a:rPr kumimoji="1" lang="en-US" altLang="ja-JP" sz="1400">
                          <a:latin typeface="+mn-ea"/>
                          <a:ea typeface="+mn-ea"/>
                        </a:rPr>
                      </a:br>
                      <a:r>
                        <a:rPr kumimoji="1" lang="ja-JP" altLang="en-US" sz="1400">
                          <a:latin typeface="+mn-ea"/>
                          <a:ea typeface="+mn-ea"/>
                        </a:rPr>
                        <a:t>　体制作り</a:t>
                      </a:r>
                    </a:p>
                  </a:txBody>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新設同様の積上げ方式の見積を取りやめ、実績等に基づく効率的な見積対応とする（引合費削減）</a:t>
                      </a: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mn-ea"/>
                          <a:ea typeface="+mn-ea"/>
                          <a:cs typeface="+mn-cs"/>
                        </a:rPr>
                        <a:t>FY23</a:t>
                      </a:r>
                      <a:r>
                        <a:rPr kumimoji="1" lang="ja-JP" altLang="en-US" sz="1200" b="0" i="0" u="none" strike="noStrike" kern="1200" cap="none" spc="0" normalizeH="0" baseline="0" noProof="0">
                          <a:ln>
                            <a:noFill/>
                          </a:ln>
                          <a:solidFill>
                            <a:prstClr val="black"/>
                          </a:solidFill>
                          <a:effectLst/>
                          <a:uLnTx/>
                          <a:uFillTx/>
                          <a:latin typeface="+mn-ea"/>
                          <a:ea typeface="+mn-ea"/>
                          <a:cs typeface="+mn-cs"/>
                        </a:rPr>
                        <a:t>以降反映済み</a:t>
                      </a:r>
                    </a:p>
                  </a:txBody>
                  <a:tcPr anchor="ctr"/>
                </a:tc>
                <a:extLst>
                  <a:ext uri="{0D108BD9-81ED-4DB2-BD59-A6C34878D82A}">
                    <a16:rowId xmlns:a16="http://schemas.microsoft.com/office/drawing/2014/main" val="3302471050"/>
                  </a:ext>
                </a:extLst>
              </a:tr>
              <a:tr h="497382">
                <a:tc vMerge="1">
                  <a:txBody>
                    <a:bodyPr/>
                    <a:lstStyle/>
                    <a:p>
                      <a:r>
                        <a:rPr kumimoji="1" lang="en-US" altLang="ja-JP" sz="1400">
                          <a:latin typeface="Meiryo UI" panose="020B0604030504040204" pitchFamily="50" charset="-128"/>
                          <a:ea typeface="Meiryo UI" panose="020B0604030504040204" pitchFamily="50" charset="-128"/>
                        </a:rPr>
                        <a:t>6</a:t>
                      </a:r>
                    </a:p>
                    <a:p>
                      <a:r>
                        <a:rPr kumimoji="1" lang="en-US" altLang="ja-JP" sz="1400">
                          <a:latin typeface="Meiryo UI" panose="020B0604030504040204" pitchFamily="50" charset="-128"/>
                          <a:ea typeface="Meiryo UI" panose="020B0604030504040204" pitchFamily="50" charset="-128"/>
                        </a:rPr>
                        <a:t>7</a:t>
                      </a:r>
                    </a:p>
                    <a:p>
                      <a:r>
                        <a:rPr kumimoji="1" lang="en-US" altLang="ja-JP" sz="1400">
                          <a:latin typeface="Meiryo UI" panose="020B0604030504040204" pitchFamily="50" charset="-128"/>
                          <a:ea typeface="Meiryo UI" panose="020B0604030504040204" pitchFamily="50" charset="-128"/>
                        </a:rPr>
                        <a:t>8</a:t>
                      </a:r>
                      <a:endParaRPr kumimoji="1" lang="ja-JP" altLang="en-US" sz="1400">
                        <a:latin typeface="Meiryo UI" panose="020B0604030504040204" pitchFamily="50" charset="-128"/>
                        <a:ea typeface="Meiryo UI" panose="020B0604030504040204" pitchFamily="50" charset="-128"/>
                      </a:endParaRPr>
                    </a:p>
                  </a:txBody>
                  <a:tcPr/>
                </a:tc>
                <a:tc vMerge="1">
                  <a:txBody>
                    <a:bodyPr/>
                    <a:lstStyle/>
                    <a:p>
                      <a:endParaRPr kumimoji="1" lang="ja-JP" altLang="en-US">
                        <a:latin typeface="Meiryo UI" panose="020B0604030504040204" pitchFamily="50" charset="-128"/>
                        <a:ea typeface="Meiryo UI" panose="020B0604030504040204" pitchFamily="50" charset="-128"/>
                      </a:endParaRPr>
                    </a:p>
                  </a:txBody>
                  <a:tcPr/>
                </a:tc>
                <a:tc vMerge="1">
                  <a:txBody>
                    <a:bodyPr/>
                    <a:lstStyle/>
                    <a:p>
                      <a:endParaRPr kumimoji="1" lang="ja-JP" altLang="en-US" sz="1400"/>
                    </a:p>
                  </a:txBody>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縦割りの所掌区分を改め、直接部門の多能工化への転換を図る。</a:t>
                      </a:r>
                      <a:r>
                        <a:rPr kumimoji="1" lang="ja-JP" altLang="en-US" sz="1400" b="0" i="0" u="none" strike="noStrike" kern="1200" cap="none" spc="0" normalizeH="0" baseline="0" noProof="0">
                          <a:ln>
                            <a:noFill/>
                          </a:ln>
                          <a:solidFill>
                            <a:prstClr val="black"/>
                          </a:solidFill>
                          <a:effectLst/>
                          <a:uLnTx/>
                          <a:uFillTx/>
                          <a:latin typeface="+mn-ea"/>
                          <a:ea typeface="+mn-ea"/>
                          <a:cs typeface="+mn-cs"/>
                        </a:rPr>
                        <a:t>現地工事体制はスリム化</a:t>
                      </a:r>
                      <a:endParaRPr kumimoji="1" lang="ja-JP" altLang="en-US" sz="1400">
                        <a:latin typeface="+mn-ea"/>
                        <a:ea typeface="+mn-ea"/>
                      </a:endParaRP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dk1"/>
                          </a:solidFill>
                          <a:latin typeface="+mn-ea"/>
                          <a:ea typeface="+mn-ea"/>
                          <a:cs typeface="+mn-cs"/>
                        </a:rPr>
                        <a:t>人員計画に織込済</a:t>
                      </a:r>
                    </a:p>
                  </a:txBody>
                  <a:tcPr anchor="ctr"/>
                </a:tc>
                <a:extLst>
                  <a:ext uri="{0D108BD9-81ED-4DB2-BD59-A6C34878D82A}">
                    <a16:rowId xmlns:a16="http://schemas.microsoft.com/office/drawing/2014/main" val="326608164"/>
                  </a:ext>
                </a:extLst>
              </a:tr>
              <a:tr h="0">
                <a:tc vMerge="1">
                  <a:txBody>
                    <a:bodyPr/>
                    <a:lstStyle/>
                    <a:p>
                      <a:r>
                        <a:rPr kumimoji="1" lang="en-US" altLang="ja-JP" sz="1400">
                          <a:latin typeface="Meiryo UI" panose="020B0604030504040204" pitchFamily="50" charset="-128"/>
                          <a:ea typeface="Meiryo UI" panose="020B0604030504040204" pitchFamily="50" charset="-128"/>
                        </a:rPr>
                        <a:t>8</a:t>
                      </a:r>
                      <a:endParaRPr kumimoji="1" lang="ja-JP" altLang="en-US" sz="1400">
                        <a:latin typeface="Meiryo UI" panose="020B0604030504040204" pitchFamily="50" charset="-128"/>
                        <a:ea typeface="Meiryo UI" panose="020B0604030504040204" pitchFamily="50" charset="-128"/>
                      </a:endParaRPr>
                    </a:p>
                  </a:txBody>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a:solidFill>
                          <a:schemeClr val="dk1"/>
                        </a:solidFill>
                        <a:latin typeface="+mn-lt"/>
                        <a:ea typeface="+mn-ea"/>
                        <a:cs typeface="+mn-cs"/>
                      </a:endParaRPr>
                    </a:p>
                  </a:txBody>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baseline="0">
                        <a:solidFill>
                          <a:schemeClr val="dk1"/>
                        </a:solidFill>
                        <a:latin typeface="Meiryo UI" panose="020B0604030504040204" pitchFamily="50" charset="-128"/>
                        <a:ea typeface="Meiryo UI" panose="020B0604030504040204" pitchFamily="50" charset="-128"/>
                        <a:cs typeface="+mn-cs"/>
                      </a:endParaRPr>
                    </a:p>
                  </a:txBody>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ja-JP" sz="1400" b="0" i="0" u="none" strike="noStrike" kern="1200" cap="none" spc="0" normalizeH="0" baseline="0" noProof="0">
                          <a:ln>
                            <a:noFill/>
                          </a:ln>
                          <a:solidFill>
                            <a:prstClr val="black"/>
                          </a:solidFill>
                          <a:effectLst/>
                          <a:uLnTx/>
                          <a:uFillTx/>
                          <a:latin typeface="+mn-ea"/>
                          <a:ea typeface="+mn-ea"/>
                          <a:cs typeface="Times New Roman" panose="02020603050405020304" pitchFamily="18" charset="0"/>
                        </a:rPr>
                        <a:t>伺い、会議体、改善活動見直しで、</a:t>
                      </a:r>
                      <a:r>
                        <a:rPr kumimoji="1" lang="ja-JP" altLang="en-US" sz="1400" b="0" i="0" u="none" strike="noStrike" kern="1200" cap="none" spc="0" normalizeH="0" baseline="0" noProof="0">
                          <a:ln>
                            <a:noFill/>
                          </a:ln>
                          <a:solidFill>
                            <a:prstClr val="black"/>
                          </a:solidFill>
                          <a:effectLst/>
                          <a:uLnTx/>
                          <a:uFillTx/>
                          <a:latin typeface="+mn-ea"/>
                          <a:ea typeface="+mn-ea"/>
                          <a:cs typeface="Times New Roman" panose="02020603050405020304" pitchFamily="18" charset="0"/>
                        </a:rPr>
                        <a:t>間接時間低減</a:t>
                      </a:r>
                      <a:endParaRPr kumimoji="1" lang="en-US" altLang="ja-JP" sz="1200" b="0" i="0" u="none" strike="noStrike" kern="1200" baseline="0">
                        <a:solidFill>
                          <a:schemeClr val="dk1"/>
                        </a:solidFill>
                        <a:latin typeface="+mn-ea"/>
                        <a:ea typeface="+mn-ea"/>
                        <a:cs typeface="+mn-cs"/>
                      </a:endParaRP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dk1"/>
                          </a:solidFill>
                          <a:latin typeface="+mn-ea"/>
                          <a:ea typeface="+mn-ea"/>
                          <a:cs typeface="+mn-cs"/>
                        </a:rPr>
                        <a:t>人員計画に織込済</a:t>
                      </a:r>
                      <a:endParaRPr kumimoji="1" lang="en-US" altLang="ja-JP" sz="1200" b="0" i="0" u="none" strike="noStrike" kern="1200" baseline="0">
                        <a:solidFill>
                          <a:schemeClr val="dk1"/>
                        </a:solidFill>
                        <a:latin typeface="+mn-ea"/>
                        <a:ea typeface="+mn-ea"/>
                        <a:cs typeface="+mn-cs"/>
                      </a:endParaRPr>
                    </a:p>
                  </a:txBody>
                  <a:tcPr anchor="ctr"/>
                </a:tc>
                <a:extLst>
                  <a:ext uri="{0D108BD9-81ED-4DB2-BD59-A6C34878D82A}">
                    <a16:rowId xmlns:a16="http://schemas.microsoft.com/office/drawing/2014/main" val="4096193730"/>
                  </a:ext>
                </a:extLst>
              </a:tr>
              <a:tr h="292578">
                <a:tc vMerge="1">
                  <a:txBody>
                    <a:bodyPr/>
                    <a:lstStyle/>
                    <a:p>
                      <a:endParaRPr kumimoji="1" lang="ja-JP" altLang="en-US" sz="1600">
                        <a:latin typeface="Meiryo UI" panose="020B0604030504040204" pitchFamily="50" charset="-128"/>
                        <a:ea typeface="Meiryo UI" panose="020B0604030504040204" pitchFamily="50" charset="-128"/>
                      </a:endParaRPr>
                    </a:p>
                  </a:txBody>
                  <a:tcPr/>
                </a:tc>
                <a:tc vMerge="1">
                  <a:txBody>
                    <a:bodyPr/>
                    <a:lstStyle/>
                    <a:p>
                      <a:endParaRPr kumimoji="1" lang="ja-JP" altLang="en-US" sz="1400">
                        <a:latin typeface="Meiryo UI" panose="020B0604030504040204" pitchFamily="50" charset="-128"/>
                        <a:ea typeface="Meiryo UI" panose="020B0604030504040204" pitchFamily="50" charset="-128"/>
                      </a:endParaRPr>
                    </a:p>
                  </a:txBody>
                  <a:tcPr/>
                </a:tc>
                <a:tc vMerge="1">
                  <a:txBody>
                    <a:bodyPr/>
                    <a:lstStyle/>
                    <a:p>
                      <a:endParaRPr kumimoji="1" lang="ja-JP" altLang="en-US" sz="1400"/>
                    </a:p>
                  </a:txBody>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baseline="0">
                          <a:solidFill>
                            <a:schemeClr val="dk1"/>
                          </a:solidFill>
                          <a:latin typeface="+mn-ea"/>
                          <a:ea typeface="+mn-ea"/>
                          <a:cs typeface="+mn-cs"/>
                        </a:rPr>
                        <a:t>売価アップ（ダイナミックプライシング導入等による）</a:t>
                      </a:r>
                      <a:endParaRPr kumimoji="1" lang="en-US" altLang="ja-JP" sz="1400" b="0" i="0" u="none" strike="noStrike" kern="1200" baseline="0">
                        <a:solidFill>
                          <a:schemeClr val="dk1"/>
                        </a:solidFill>
                        <a:latin typeface="+mn-ea"/>
                        <a:ea typeface="+mn-ea"/>
                        <a:cs typeface="+mn-cs"/>
                      </a:endParaRP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今後織込み予定</a:t>
                      </a:r>
                    </a:p>
                  </a:txBody>
                  <a:tcPr anchor="ctr"/>
                </a:tc>
                <a:extLst>
                  <a:ext uri="{0D108BD9-81ED-4DB2-BD59-A6C34878D82A}">
                    <a16:rowId xmlns:a16="http://schemas.microsoft.com/office/drawing/2014/main" val="2959491879"/>
                  </a:ext>
                </a:extLst>
              </a:tr>
              <a:tr h="0">
                <a:tc vMerge="1">
                  <a:txBody>
                    <a:bodyPr/>
                    <a:lstStyle/>
                    <a:p>
                      <a:endParaRPr kumimoji="1" lang="ja-JP" altLang="en-US" sz="1600">
                        <a:latin typeface="Meiryo UI" panose="020B0604030504040204" pitchFamily="50" charset="-128"/>
                        <a:ea typeface="Meiryo UI" panose="020B0604030504040204" pitchFamily="50" charset="-128"/>
                      </a:endParaRPr>
                    </a:p>
                  </a:txBody>
                  <a:tcPr/>
                </a:tc>
                <a:tc vMerge="1">
                  <a:txBody>
                    <a:bodyPr/>
                    <a:lstStyle/>
                    <a:p>
                      <a:endParaRPr kumimoji="1" lang="ja-JP" altLang="en-US" sz="1400">
                        <a:latin typeface="Meiryo UI" panose="020B0604030504040204" pitchFamily="50" charset="-128"/>
                        <a:ea typeface="Meiryo UI" panose="020B0604030504040204" pitchFamily="50" charset="-128"/>
                      </a:endParaRPr>
                    </a:p>
                  </a:txBody>
                  <a:tcPr/>
                </a:tc>
                <a:tc vMerge="1">
                  <a:txBody>
                    <a:bodyPr/>
                    <a:lstStyle/>
                    <a:p>
                      <a:endParaRPr kumimoji="1" lang="ja-JP" altLang="en-US" sz="1400"/>
                    </a:p>
                  </a:txBody>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baseline="0">
                          <a:solidFill>
                            <a:schemeClr val="dk1"/>
                          </a:solidFill>
                          <a:latin typeface="+mn-ea"/>
                          <a:ea typeface="+mn-ea"/>
                          <a:cs typeface="+mn-cs"/>
                        </a:rPr>
                        <a:t>新設プラント対応中止による</a:t>
                      </a:r>
                      <a:r>
                        <a:rPr kumimoji="1" lang="en-US" altLang="ja-JP" sz="1400" b="0" i="0" u="none" strike="noStrike" kern="1200" baseline="0">
                          <a:solidFill>
                            <a:schemeClr val="dk1"/>
                          </a:solidFill>
                          <a:latin typeface="+mn-ea"/>
                          <a:ea typeface="+mn-ea"/>
                          <a:cs typeface="+mn-cs"/>
                        </a:rPr>
                        <a:t>IT</a:t>
                      </a:r>
                      <a:r>
                        <a:rPr kumimoji="1" lang="ja-JP" altLang="en-US" sz="1400" b="0" i="0" u="none" strike="noStrike" kern="1200" baseline="0">
                          <a:solidFill>
                            <a:schemeClr val="dk1"/>
                          </a:solidFill>
                          <a:latin typeface="+mn-ea"/>
                          <a:ea typeface="+mn-ea"/>
                          <a:cs typeface="+mn-cs"/>
                        </a:rPr>
                        <a:t>費用削減</a:t>
                      </a:r>
                      <a:endParaRPr kumimoji="1" lang="en-US" altLang="ja-JP" sz="1400" b="0" i="0" u="none" strike="noStrike" kern="1200" baseline="0">
                        <a:solidFill>
                          <a:schemeClr val="dk1"/>
                        </a:solidFill>
                        <a:latin typeface="+mn-ea"/>
                        <a:ea typeface="+mn-ea"/>
                        <a:cs typeface="+mn-cs"/>
                      </a:endParaRP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baseline="0">
                          <a:solidFill>
                            <a:schemeClr val="dk1"/>
                          </a:solidFill>
                          <a:latin typeface="+mn-ea"/>
                          <a:ea typeface="+mn-ea"/>
                          <a:cs typeface="+mn-cs"/>
                        </a:rPr>
                        <a:t>13</a:t>
                      </a:r>
                      <a:r>
                        <a:rPr kumimoji="1" lang="ja-JP" altLang="en-US" sz="1200" b="1" i="0" u="none" strike="noStrike" kern="1200" baseline="0">
                          <a:solidFill>
                            <a:schemeClr val="dk1"/>
                          </a:solidFill>
                          <a:latin typeface="+mn-ea"/>
                          <a:ea typeface="+mn-ea"/>
                          <a:cs typeface="+mn-cs"/>
                        </a:rPr>
                        <a:t>億円</a:t>
                      </a:r>
                      <a:endParaRPr kumimoji="1" lang="en-US" altLang="ja-JP" sz="1200" b="1" i="0" u="none" strike="noStrike" kern="1200" baseline="0">
                        <a:solidFill>
                          <a:schemeClr val="dk1"/>
                        </a:solidFill>
                        <a:latin typeface="+mn-ea"/>
                        <a:ea typeface="+mn-ea"/>
                        <a:cs typeface="+mn-cs"/>
                      </a:endParaRPr>
                    </a:p>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dk1"/>
                          </a:solidFill>
                          <a:latin typeface="+mn-ea"/>
                          <a:ea typeface="+mn-ea"/>
                          <a:cs typeface="+mn-cs"/>
                        </a:rPr>
                        <a:t>（</a:t>
                      </a:r>
                      <a:r>
                        <a:rPr kumimoji="1" lang="en-US" altLang="ja-JP" sz="1200" b="0" i="0" u="none" strike="noStrike" kern="1200" baseline="0">
                          <a:solidFill>
                            <a:schemeClr val="dk1"/>
                          </a:solidFill>
                          <a:latin typeface="+mn-ea"/>
                          <a:ea typeface="+mn-ea"/>
                          <a:cs typeface="+mn-cs"/>
                        </a:rPr>
                        <a:t>FY24</a:t>
                      </a:r>
                      <a:r>
                        <a:rPr kumimoji="1" lang="ja-JP" altLang="en-US" sz="1200" b="0" i="0" u="none" strike="noStrike" kern="1200" baseline="0">
                          <a:solidFill>
                            <a:schemeClr val="dk1"/>
                          </a:solidFill>
                          <a:latin typeface="+mn-ea"/>
                          <a:ea typeface="+mn-ea"/>
                          <a:cs typeface="+mn-cs"/>
                        </a:rPr>
                        <a:t>以降</a:t>
                      </a:r>
                      <a:r>
                        <a:rPr kumimoji="1" lang="en-US" altLang="ja-JP" sz="1200" b="0" i="0" u="none" strike="noStrike" kern="1200" baseline="0">
                          <a:solidFill>
                            <a:schemeClr val="dk1"/>
                          </a:solidFill>
                          <a:latin typeface="+mn-ea"/>
                          <a:ea typeface="+mn-ea"/>
                          <a:cs typeface="+mn-cs"/>
                        </a:rPr>
                        <a:t>/</a:t>
                      </a:r>
                      <a:r>
                        <a:rPr kumimoji="1" lang="ja-JP" altLang="en-US" sz="1200" b="0" i="0" u="none" strike="noStrike" kern="1200" baseline="0">
                          <a:solidFill>
                            <a:schemeClr val="dk1"/>
                          </a:solidFill>
                          <a:latin typeface="+mn-ea"/>
                          <a:ea typeface="+mn-ea"/>
                          <a:cs typeface="+mn-cs"/>
                        </a:rPr>
                        <a:t>年）</a:t>
                      </a:r>
                    </a:p>
                  </a:txBody>
                  <a:tcPr anchor="ctr"/>
                </a:tc>
                <a:extLst>
                  <a:ext uri="{0D108BD9-81ED-4DB2-BD59-A6C34878D82A}">
                    <a16:rowId xmlns:a16="http://schemas.microsoft.com/office/drawing/2014/main" val="3673118607"/>
                  </a:ext>
                </a:extLst>
              </a:tr>
              <a:tr h="497382">
                <a:tc>
                  <a:txBody>
                    <a:bodyPr/>
                    <a:lstStyle/>
                    <a:p>
                      <a:r>
                        <a:rPr kumimoji="1" lang="en-US" altLang="ja-JP" sz="1600">
                          <a:latin typeface="+mn-ea"/>
                          <a:ea typeface="+mn-ea"/>
                        </a:rPr>
                        <a:t>5</a:t>
                      </a:r>
                      <a:endParaRPr kumimoji="1" lang="ja-JP" altLang="en-US" sz="1600">
                        <a:latin typeface="+mn-ea"/>
                        <a:ea typeface="+mn-ea"/>
                      </a:endParaRPr>
                    </a:p>
                  </a:txBody>
                  <a:tcPr/>
                </a:tc>
                <a:tc>
                  <a:txBody>
                    <a:bodyPr/>
                    <a:lstStyle/>
                    <a:p>
                      <a:pPr marL="0" marR="0" lvl="0" indent="0" algn="l" defTabSz="717973"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G</a:t>
                      </a:r>
                      <a:r>
                        <a:rPr kumimoji="1" lang="ja-JP" altLang="en-US" sz="1400">
                          <a:latin typeface="+mn-ea"/>
                          <a:ea typeface="+mn-ea"/>
                        </a:rPr>
                        <a:t>会社改革</a:t>
                      </a:r>
                    </a:p>
                  </a:txBody>
                  <a:tcPr/>
                </a:tc>
                <a:tc gridSpan="2">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IDS</a:t>
                      </a:r>
                      <a:r>
                        <a:rPr kumimoji="1" lang="ja-JP" altLang="en-US" sz="1400">
                          <a:latin typeface="+mn-ea"/>
                          <a:ea typeface="+mn-ea"/>
                        </a:rPr>
                        <a:t>構造改革、</a:t>
                      </a:r>
                      <a:r>
                        <a:rPr kumimoji="1" lang="en-US" altLang="ja-JP" sz="1400">
                          <a:latin typeface="+mn-ea"/>
                          <a:ea typeface="+mn-ea"/>
                        </a:rPr>
                        <a:t>EDE</a:t>
                      </a:r>
                      <a:r>
                        <a:rPr kumimoji="1" lang="ja-JP" altLang="en-US" sz="1400">
                          <a:latin typeface="+mn-ea"/>
                          <a:ea typeface="+mn-ea"/>
                        </a:rPr>
                        <a:t>、</a:t>
                      </a:r>
                      <a:r>
                        <a:rPr kumimoji="1" lang="en-US" altLang="ja-JP" sz="1400">
                          <a:latin typeface="+mn-ea"/>
                          <a:ea typeface="+mn-ea"/>
                        </a:rPr>
                        <a:t>CBC</a:t>
                      </a:r>
                      <a:r>
                        <a:rPr kumimoji="1" lang="ja-JP" altLang="en-US" sz="1400">
                          <a:latin typeface="+mn-ea"/>
                          <a:ea typeface="+mn-ea"/>
                        </a:rPr>
                        <a:t>、</a:t>
                      </a:r>
                      <a:r>
                        <a:rPr kumimoji="1" lang="en-US" altLang="ja-JP" sz="1400">
                          <a:latin typeface="+mn-ea"/>
                          <a:ea typeface="+mn-ea"/>
                        </a:rPr>
                        <a:t>PHL</a:t>
                      </a:r>
                      <a:r>
                        <a:rPr kumimoji="1" lang="ja-JP" altLang="en-US" sz="1400">
                          <a:latin typeface="+mn-ea"/>
                          <a:ea typeface="+mn-ea"/>
                        </a:rPr>
                        <a:t>でリストラ推進、</a:t>
                      </a:r>
                      <a:r>
                        <a:rPr kumimoji="1" lang="en-US" altLang="ja-JP" sz="1400">
                          <a:latin typeface="+mn-ea"/>
                          <a:ea typeface="+mn-ea"/>
                        </a:rPr>
                        <a:t>LMB/LMTG</a:t>
                      </a:r>
                      <a:r>
                        <a:rPr kumimoji="1" lang="ja-JP" altLang="en-US" sz="1400">
                          <a:latin typeface="+mn-ea"/>
                          <a:ea typeface="+mn-ea"/>
                        </a:rPr>
                        <a:t>は持ち分</a:t>
                      </a:r>
                      <a:br>
                        <a:rPr kumimoji="1" lang="en-US" altLang="ja-JP" sz="1400">
                          <a:latin typeface="+mn-ea"/>
                          <a:ea typeface="+mn-ea"/>
                        </a:rPr>
                      </a:br>
                      <a:r>
                        <a:rPr kumimoji="1" lang="ja-JP" altLang="en-US" sz="1400">
                          <a:latin typeface="+mn-ea"/>
                          <a:ea typeface="+mn-ea"/>
                        </a:rPr>
                        <a:t>売却交渉</a:t>
                      </a:r>
                    </a:p>
                  </a:txBody>
                  <a:tcPr/>
                </a:tc>
                <a:tc hMerge="1">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EDE</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CBC</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PHL</a:t>
                      </a:r>
                      <a:r>
                        <a:rPr kumimoji="1" lang="ja-JP" altLang="en-US" sz="1400">
                          <a:latin typeface="Meiryo UI" panose="020B0604030504040204" pitchFamily="50" charset="-128"/>
                          <a:ea typeface="Meiryo UI" panose="020B0604030504040204" pitchFamily="50" charset="-128"/>
                        </a:rPr>
                        <a:t>でリストラ推進</a:t>
                      </a:r>
                    </a:p>
                    <a:p>
                      <a:r>
                        <a:rPr kumimoji="1" lang="ja-JP" altLang="en-US" sz="1400">
                          <a:latin typeface="Meiryo UI" panose="020B0604030504040204" pitchFamily="50" charset="-128"/>
                          <a:ea typeface="Meiryo UI" panose="020B0604030504040204" pitchFamily="50" charset="-128"/>
                        </a:rPr>
                        <a:t>エンジと</a:t>
                      </a:r>
                      <a:r>
                        <a:rPr kumimoji="1" lang="en-US" altLang="ja-JP" sz="1400">
                          <a:latin typeface="Meiryo UI" panose="020B0604030504040204" pitchFamily="50" charset="-128"/>
                          <a:ea typeface="Meiryo UI" panose="020B0604030504040204" pitchFamily="50" charset="-128"/>
                        </a:rPr>
                        <a:t>CS</a:t>
                      </a:r>
                      <a:r>
                        <a:rPr kumimoji="1" lang="ja-JP" altLang="en-US" sz="1400">
                          <a:latin typeface="Meiryo UI" panose="020B0604030504040204" pitchFamily="50" charset="-128"/>
                          <a:ea typeface="Meiryo UI" panose="020B0604030504040204" pitchFamily="50" charset="-128"/>
                        </a:rPr>
                        <a:t>は他事業部へ移管、</a:t>
                      </a:r>
                      <a:r>
                        <a:rPr kumimoji="1" lang="en-US" altLang="ja-JP" sz="1400">
                          <a:latin typeface="Meiryo UI" panose="020B0604030504040204" pitchFamily="50" charset="-128"/>
                          <a:ea typeface="Meiryo UI" panose="020B0604030504040204" pitchFamily="50" charset="-128"/>
                        </a:rPr>
                        <a:t>EDE</a:t>
                      </a:r>
                      <a:r>
                        <a:rPr kumimoji="1" lang="ja-JP" altLang="en-US" sz="1400">
                          <a:latin typeface="Meiryo UI" panose="020B0604030504040204" pitchFamily="50" charset="-128"/>
                          <a:ea typeface="Meiryo UI" panose="020B0604030504040204" pitchFamily="50" charset="-128"/>
                        </a:rPr>
                        <a:t>と</a:t>
                      </a:r>
                      <a:r>
                        <a:rPr kumimoji="1" lang="en-US" altLang="ja-JP" sz="1400">
                          <a:latin typeface="Meiryo UI" panose="020B0604030504040204" pitchFamily="50" charset="-128"/>
                          <a:ea typeface="Meiryo UI" panose="020B0604030504040204" pitchFamily="50" charset="-128"/>
                        </a:rPr>
                        <a:t>CBC</a:t>
                      </a:r>
                      <a:r>
                        <a:rPr kumimoji="1" lang="ja-JP" altLang="en-US" sz="1400">
                          <a:latin typeface="Meiryo UI" panose="020B0604030504040204" pitchFamily="50" charset="-128"/>
                          <a:ea typeface="Meiryo UI" panose="020B0604030504040204" pitchFamily="50" charset="-128"/>
                        </a:rPr>
                        <a:t>は撤退、</a:t>
                      </a:r>
                      <a:r>
                        <a:rPr kumimoji="1" lang="en-US" altLang="ja-JP" sz="1400">
                          <a:latin typeface="Meiryo UI" panose="020B0604030504040204" pitchFamily="50" charset="-128"/>
                          <a:ea typeface="Meiryo UI" panose="020B0604030504040204" pitchFamily="50" charset="-128"/>
                        </a:rPr>
                        <a:t>LMB/LMTG</a:t>
                      </a:r>
                      <a:r>
                        <a:rPr kumimoji="1" lang="ja-JP" altLang="en-US" sz="1400">
                          <a:latin typeface="Meiryo UI" panose="020B0604030504040204" pitchFamily="50" charset="-128"/>
                          <a:ea typeface="Meiryo UI" panose="020B0604030504040204" pitchFamily="50" charset="-128"/>
                        </a:rPr>
                        <a:t>は持ち分売却交渉</a:t>
                      </a:r>
                    </a:p>
                  </a:txBody>
                  <a:tcPr/>
                </a:tc>
                <a:tc>
                  <a:txBody>
                    <a:bodyPr/>
                    <a:lstStyle/>
                    <a:p>
                      <a:pPr algn="ctr"/>
                      <a:r>
                        <a:rPr kumimoji="1" lang="en-US" altLang="ja-JP" sz="1200">
                          <a:latin typeface="+mn-ea"/>
                          <a:ea typeface="+mn-ea"/>
                        </a:rPr>
                        <a:t>IDS:</a:t>
                      </a:r>
                      <a:r>
                        <a:rPr kumimoji="1" lang="en-US" altLang="ja-JP" sz="1200" b="1">
                          <a:latin typeface="+mn-ea"/>
                          <a:ea typeface="+mn-ea"/>
                        </a:rPr>
                        <a:t>16</a:t>
                      </a:r>
                      <a:r>
                        <a:rPr kumimoji="1" lang="ja-JP" altLang="en-US" sz="1200" b="1">
                          <a:latin typeface="+mn-ea"/>
                          <a:ea typeface="+mn-ea"/>
                        </a:rPr>
                        <a:t>億円</a:t>
                      </a:r>
                      <a:endParaRPr kumimoji="1" lang="en-US" altLang="ja-JP" sz="1200" b="1">
                        <a:latin typeface="+mn-ea"/>
                        <a:ea typeface="+mn-ea"/>
                      </a:endParaRPr>
                    </a:p>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dk1"/>
                          </a:solidFill>
                          <a:latin typeface="+mn-ea"/>
                          <a:ea typeface="+mn-ea"/>
                          <a:cs typeface="+mn-cs"/>
                        </a:rPr>
                        <a:t>（</a:t>
                      </a:r>
                      <a:r>
                        <a:rPr kumimoji="1" lang="en-US" altLang="ja-JP" sz="1200" b="0" i="0" u="none" strike="noStrike" kern="1200" baseline="0">
                          <a:solidFill>
                            <a:schemeClr val="dk1"/>
                          </a:solidFill>
                          <a:latin typeface="+mn-ea"/>
                          <a:ea typeface="+mn-ea"/>
                          <a:cs typeface="+mn-cs"/>
                        </a:rPr>
                        <a:t>FY24</a:t>
                      </a:r>
                      <a:r>
                        <a:rPr kumimoji="1" lang="ja-JP" altLang="en-US" sz="1200" b="0" i="0" u="none" strike="noStrike" kern="1200" baseline="0">
                          <a:solidFill>
                            <a:schemeClr val="dk1"/>
                          </a:solidFill>
                          <a:latin typeface="+mn-ea"/>
                          <a:ea typeface="+mn-ea"/>
                          <a:cs typeface="+mn-cs"/>
                        </a:rPr>
                        <a:t>以降</a:t>
                      </a:r>
                      <a:r>
                        <a:rPr kumimoji="1" lang="en-US" altLang="ja-JP" sz="1200" b="0" i="0" u="none" strike="noStrike" kern="1200" baseline="0">
                          <a:solidFill>
                            <a:schemeClr val="dk1"/>
                          </a:solidFill>
                          <a:latin typeface="+mn-ea"/>
                          <a:ea typeface="+mn-ea"/>
                          <a:cs typeface="+mn-cs"/>
                        </a:rPr>
                        <a:t>/</a:t>
                      </a:r>
                      <a:r>
                        <a:rPr kumimoji="1" lang="ja-JP" altLang="en-US" sz="1200" b="0" i="0" u="none" strike="noStrike" kern="1200" baseline="0">
                          <a:solidFill>
                            <a:schemeClr val="dk1"/>
                          </a:solidFill>
                          <a:latin typeface="+mn-ea"/>
                          <a:ea typeface="+mn-ea"/>
                          <a:cs typeface="+mn-cs"/>
                        </a:rPr>
                        <a:t>年）</a:t>
                      </a:r>
                    </a:p>
                  </a:txBody>
                  <a:tcPr/>
                </a:tc>
                <a:extLst>
                  <a:ext uri="{0D108BD9-81ED-4DB2-BD59-A6C34878D82A}">
                    <a16:rowId xmlns:a16="http://schemas.microsoft.com/office/drawing/2014/main" val="1076353904"/>
                  </a:ext>
                </a:extLst>
              </a:tr>
              <a:tr h="497382">
                <a:tc>
                  <a:txBody>
                    <a:bodyPr/>
                    <a:lstStyle/>
                    <a:p>
                      <a:r>
                        <a:rPr kumimoji="1" lang="en-US" altLang="ja-JP" sz="1600">
                          <a:latin typeface="+mn-ea"/>
                          <a:ea typeface="+mn-ea"/>
                        </a:rPr>
                        <a:t>6</a:t>
                      </a:r>
                      <a:endParaRPr kumimoji="1" lang="ja-JP" altLang="en-US" sz="1600">
                        <a:latin typeface="+mn-ea"/>
                        <a:ea typeface="+mn-ea"/>
                      </a:endParaRPr>
                    </a:p>
                  </a:txBody>
                  <a:tcPr/>
                </a:tc>
                <a:tc>
                  <a:txBody>
                    <a:bodyPr/>
                    <a:lstStyle/>
                    <a:p>
                      <a:pPr marL="0" marR="0" lvl="0" indent="0" algn="l" defTabSz="717973"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baseline="0">
                          <a:solidFill>
                            <a:schemeClr val="dk1"/>
                          </a:solidFill>
                          <a:latin typeface="+mn-ea"/>
                          <a:ea typeface="+mn-ea"/>
                          <a:cs typeface="+mn-cs"/>
                        </a:rPr>
                        <a:t>社員意識改革</a:t>
                      </a:r>
                      <a:endParaRPr kumimoji="1" lang="ja-JP" altLang="en-US" sz="1400">
                        <a:latin typeface="+mn-ea"/>
                        <a:ea typeface="+mn-ea"/>
                      </a:endParaRPr>
                    </a:p>
                  </a:txBody>
                  <a:tcPr/>
                </a:tc>
                <a:tc gridSpan="2">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パネルディスカッションでの経営状況の事業部内共有と意見交換</a:t>
                      </a:r>
                      <a:endParaRPr kumimoji="1" lang="ja-JP" altLang="en-US" sz="1400">
                        <a:latin typeface="+mn-ea"/>
                        <a:ea typeface="+mn-ea"/>
                      </a:endParaRPr>
                    </a:p>
                    <a:p>
                      <a:r>
                        <a:rPr kumimoji="1" lang="ja-JP" altLang="en-US" sz="1400" b="0" i="0" u="none" strike="noStrike" kern="1200" baseline="0">
                          <a:solidFill>
                            <a:schemeClr val="dk1"/>
                          </a:solidFill>
                          <a:latin typeface="+mn-ea"/>
                          <a:ea typeface="+mn-ea"/>
                          <a:cs typeface="+mn-cs"/>
                        </a:rPr>
                        <a:t>数値目標を前提にした全事業部活動で危機意識の浸透</a:t>
                      </a:r>
                      <a:endParaRPr kumimoji="1" lang="ja-JP" altLang="en-US" sz="1400">
                        <a:latin typeface="+mn-ea"/>
                        <a:ea typeface="+mn-ea"/>
                      </a:endParaRPr>
                    </a:p>
                  </a:txBody>
                  <a:tcPr/>
                </a:tc>
                <a:tc hMerge="1">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n-lt"/>
                          <a:ea typeface="+mn-ea"/>
                          <a:cs typeface="+mn-cs"/>
                        </a:rPr>
                        <a:t>パネルディスカッションでの経営状況の事業部内共有と意見交換</a:t>
                      </a:r>
                      <a:endParaRPr kumimoji="1" lang="ja-JP" altLang="en-US" sz="1400">
                        <a:latin typeface="Meiryo UI" panose="020B0604030504040204" pitchFamily="50" charset="-128"/>
                        <a:ea typeface="Meiryo UI" panose="020B0604030504040204" pitchFamily="50" charset="-128"/>
                      </a:endParaRPr>
                    </a:p>
                    <a:p>
                      <a:r>
                        <a:rPr kumimoji="1" lang="ja-JP" altLang="en-US" sz="1400" b="0" i="0" u="none" strike="noStrike" kern="1200" baseline="0">
                          <a:solidFill>
                            <a:schemeClr val="dk1"/>
                          </a:solidFill>
                          <a:latin typeface="+mn-lt"/>
                          <a:ea typeface="+mn-ea"/>
                          <a:cs typeface="+mn-cs"/>
                        </a:rPr>
                        <a:t>数値目標を前提にした全事業部活動で危機意識の浸透</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baseline="0">
                          <a:solidFill>
                            <a:schemeClr val="dk1"/>
                          </a:solidFill>
                          <a:latin typeface="+mn-ea"/>
                          <a:ea typeface="+mn-ea"/>
                          <a:cs typeface="+mn-cs"/>
                        </a:rPr>
                        <a:t>-</a:t>
                      </a:r>
                      <a:endParaRPr kumimoji="1" lang="ja-JP" altLang="en-US" sz="1200" b="0" i="0" u="none" strike="noStrike" kern="1200" baseline="0">
                        <a:solidFill>
                          <a:schemeClr val="dk1"/>
                        </a:solidFill>
                        <a:latin typeface="+mn-ea"/>
                        <a:ea typeface="+mn-ea"/>
                        <a:cs typeface="+mn-cs"/>
                      </a:endParaRPr>
                    </a:p>
                  </a:txBody>
                  <a:tcPr anchor="ctr"/>
                </a:tc>
                <a:extLst>
                  <a:ext uri="{0D108BD9-81ED-4DB2-BD59-A6C34878D82A}">
                    <a16:rowId xmlns:a16="http://schemas.microsoft.com/office/drawing/2014/main" val="1866948265"/>
                  </a:ext>
                </a:extLst>
              </a:tr>
              <a:tr h="460547">
                <a:tc gridSpan="2">
                  <a:txBody>
                    <a:bodyPr/>
                    <a:lstStyle/>
                    <a:p>
                      <a:pPr marL="0" marR="0" lvl="0" indent="0" algn="l" defTabSz="717973"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合計</a:t>
                      </a:r>
                    </a:p>
                  </a:txBody>
                  <a:tcPr/>
                </a:tc>
                <a:tc hMerge="1">
                  <a:txBody>
                    <a:bodyPr/>
                    <a:lstStyle/>
                    <a:p>
                      <a:pPr marL="0" marR="0" lvl="0" indent="0" algn="l" defTabSz="717973"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合計</a:t>
                      </a:r>
                    </a:p>
                  </a:txBody>
                  <a:tcPr/>
                </a:tc>
                <a:tc gridSpan="3">
                  <a:txBody>
                    <a:bodyPr/>
                    <a:lstStyle/>
                    <a:p>
                      <a:pPr marL="0" marR="0" lvl="0" indent="0" algn="r" defTabSz="662761"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baseline="0">
                          <a:solidFill>
                            <a:schemeClr val="dk1"/>
                          </a:solidFill>
                          <a:latin typeface="+mn-ea"/>
                          <a:ea typeface="+mn-ea"/>
                          <a:cs typeface="+mn-cs"/>
                        </a:rPr>
                        <a:t>単独：</a:t>
                      </a:r>
                      <a:r>
                        <a:rPr kumimoji="1" lang="en-US" altLang="ja-JP" sz="1400" b="1" i="0" u="none" strike="noStrike" kern="1200" baseline="0">
                          <a:solidFill>
                            <a:schemeClr val="dk1"/>
                          </a:solidFill>
                          <a:latin typeface="+mn-ea"/>
                          <a:ea typeface="+mn-ea"/>
                          <a:cs typeface="+mn-cs"/>
                        </a:rPr>
                        <a:t>67</a:t>
                      </a:r>
                      <a:r>
                        <a:rPr kumimoji="1" lang="ja-JP" altLang="en-US" sz="1400" b="1" i="0" u="none" strike="noStrike" kern="1200" baseline="0">
                          <a:solidFill>
                            <a:schemeClr val="dk1"/>
                          </a:solidFill>
                          <a:latin typeface="+mn-ea"/>
                          <a:ea typeface="+mn-ea"/>
                          <a:cs typeface="+mn-cs"/>
                        </a:rPr>
                        <a:t>億円（</a:t>
                      </a:r>
                      <a:r>
                        <a:rPr kumimoji="1" lang="en-US" altLang="ja-JP" sz="1400" b="1" i="0" u="none" strike="noStrike" kern="1200" baseline="0">
                          <a:solidFill>
                            <a:schemeClr val="dk1"/>
                          </a:solidFill>
                          <a:latin typeface="+mn-ea"/>
                          <a:ea typeface="+mn-ea"/>
                          <a:cs typeface="+mn-cs"/>
                        </a:rPr>
                        <a:t>FY24</a:t>
                      </a:r>
                      <a:r>
                        <a:rPr kumimoji="1" lang="ja-JP" altLang="en-US" sz="1400" b="1" i="0" u="none" strike="noStrike" kern="1200" baseline="0">
                          <a:solidFill>
                            <a:schemeClr val="dk1"/>
                          </a:solidFill>
                          <a:latin typeface="+mn-ea"/>
                          <a:ea typeface="+mn-ea"/>
                          <a:cs typeface="+mn-cs"/>
                        </a:rPr>
                        <a:t>）</a:t>
                      </a:r>
                      <a:endParaRPr kumimoji="1" lang="en-US" altLang="ja-JP" sz="1400" b="1" i="0" u="none" strike="noStrike" kern="1200" baseline="0">
                        <a:solidFill>
                          <a:schemeClr val="dk1"/>
                        </a:solidFill>
                        <a:latin typeface="+mn-ea"/>
                        <a:ea typeface="+mn-ea"/>
                        <a:cs typeface="+mn-cs"/>
                      </a:endParaRPr>
                    </a:p>
                    <a:p>
                      <a:pPr marL="0" marR="0" lvl="0" indent="0" algn="r" defTabSz="662761"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baseline="0">
                          <a:solidFill>
                            <a:schemeClr val="dk1"/>
                          </a:solidFill>
                          <a:latin typeface="+mn-ea"/>
                          <a:ea typeface="+mn-ea"/>
                          <a:cs typeface="+mn-cs"/>
                        </a:rPr>
                        <a:t>IDS</a:t>
                      </a:r>
                      <a:r>
                        <a:rPr kumimoji="1" lang="ja-JP" altLang="en-US" sz="1400" b="1" i="0" u="none" strike="noStrike" kern="1200" baseline="0">
                          <a:solidFill>
                            <a:schemeClr val="dk1"/>
                          </a:solidFill>
                          <a:latin typeface="+mn-ea"/>
                          <a:ea typeface="+mn-ea"/>
                          <a:cs typeface="+mn-cs"/>
                        </a:rPr>
                        <a:t>：</a:t>
                      </a:r>
                      <a:r>
                        <a:rPr kumimoji="1" lang="en-US" altLang="ja-JP" sz="1400" b="1" i="0" u="none" strike="noStrike" kern="1200" baseline="0">
                          <a:solidFill>
                            <a:schemeClr val="dk1"/>
                          </a:solidFill>
                          <a:latin typeface="+mn-ea"/>
                          <a:ea typeface="+mn-ea"/>
                          <a:cs typeface="+mn-cs"/>
                        </a:rPr>
                        <a:t>16</a:t>
                      </a:r>
                      <a:r>
                        <a:rPr kumimoji="1" lang="ja-JP" altLang="en-US" sz="1400" b="1" i="0" u="none" strike="noStrike" kern="1200" baseline="0">
                          <a:solidFill>
                            <a:schemeClr val="dk1"/>
                          </a:solidFill>
                          <a:latin typeface="+mn-ea"/>
                          <a:ea typeface="+mn-ea"/>
                          <a:cs typeface="+mn-cs"/>
                        </a:rPr>
                        <a:t>億円（</a:t>
                      </a:r>
                      <a:r>
                        <a:rPr kumimoji="1" lang="en-US" altLang="ja-JP" sz="1400" b="1" i="0" u="none" strike="noStrike" kern="1200" baseline="0">
                          <a:solidFill>
                            <a:schemeClr val="dk1"/>
                          </a:solidFill>
                          <a:latin typeface="+mn-ea"/>
                          <a:ea typeface="+mn-ea"/>
                          <a:cs typeface="+mn-cs"/>
                        </a:rPr>
                        <a:t>FY24</a:t>
                      </a:r>
                      <a:r>
                        <a:rPr kumimoji="1" lang="ja-JP" altLang="en-US" sz="1400" b="1" i="0" u="none" strike="noStrike" kern="1200" baseline="0">
                          <a:solidFill>
                            <a:schemeClr val="dk1"/>
                          </a:solidFill>
                          <a:latin typeface="+mn-ea"/>
                          <a:ea typeface="+mn-ea"/>
                          <a:cs typeface="+mn-cs"/>
                        </a:rPr>
                        <a:t>）</a:t>
                      </a:r>
                      <a:endParaRPr kumimoji="1" lang="ja-JP" altLang="en-US" sz="1200" b="1" i="0" u="none" strike="noStrike" kern="1200" baseline="0">
                        <a:solidFill>
                          <a:schemeClr val="dk1"/>
                        </a:solidFill>
                        <a:latin typeface="+mn-ea"/>
                        <a:ea typeface="+mn-ea"/>
                        <a:cs typeface="+mn-cs"/>
                      </a:endParaRPr>
                    </a:p>
                  </a:txBody>
                  <a:tcPr/>
                </a:tc>
                <a:tc hMerge="1">
                  <a:txBody>
                    <a:bodyPr/>
                    <a:lstStyle/>
                    <a:p>
                      <a:endParaRPr kumimoji="1" lang="ja-JP" altLang="en-US"/>
                    </a:p>
                  </a:txBody>
                  <a:tcPr/>
                </a:tc>
                <a:tc hMerge="1">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baseline="0">
                          <a:solidFill>
                            <a:schemeClr val="dk1"/>
                          </a:solidFill>
                          <a:latin typeface="+mn-ea"/>
                          <a:ea typeface="+mn-ea"/>
                          <a:cs typeface="+mn-cs"/>
                        </a:rPr>
                        <a:t>単独：</a:t>
                      </a:r>
                      <a:r>
                        <a:rPr kumimoji="1" lang="en-US" altLang="ja-JP" sz="1400" b="1" i="0" u="none" strike="noStrike" kern="1200" baseline="0">
                          <a:solidFill>
                            <a:schemeClr val="dk1"/>
                          </a:solidFill>
                          <a:latin typeface="+mn-ea"/>
                          <a:ea typeface="+mn-ea"/>
                          <a:cs typeface="+mn-cs"/>
                        </a:rPr>
                        <a:t>165</a:t>
                      </a:r>
                      <a:r>
                        <a:rPr kumimoji="1" lang="ja-JP" altLang="en-US" sz="1400" b="1" i="0" u="none" strike="noStrike" kern="1200" baseline="0">
                          <a:solidFill>
                            <a:schemeClr val="dk1"/>
                          </a:solidFill>
                          <a:latin typeface="+mn-ea"/>
                          <a:ea typeface="+mn-ea"/>
                          <a:cs typeface="+mn-cs"/>
                        </a:rPr>
                        <a:t>億円</a:t>
                      </a:r>
                      <a:endParaRPr kumimoji="1" lang="en-US" altLang="ja-JP" sz="1400" b="1" i="0" u="none" strike="noStrike" kern="1200" baseline="0">
                        <a:solidFill>
                          <a:schemeClr val="dk1"/>
                        </a:solidFill>
                        <a:latin typeface="+mn-ea"/>
                        <a:ea typeface="+mn-ea"/>
                        <a:cs typeface="+mn-cs"/>
                      </a:endParaRPr>
                    </a:p>
                    <a:p>
                      <a:pPr marL="0" marR="0" lvl="0" indent="0" algn="l" defTabSz="662761"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baseline="0">
                          <a:solidFill>
                            <a:schemeClr val="dk1"/>
                          </a:solidFill>
                          <a:latin typeface="+mn-ea"/>
                          <a:ea typeface="+mn-ea"/>
                          <a:cs typeface="+mn-cs"/>
                        </a:rPr>
                        <a:t>IDS</a:t>
                      </a:r>
                      <a:r>
                        <a:rPr kumimoji="1" lang="ja-JP" altLang="en-US" sz="1400" b="1" i="0" u="none" strike="noStrike" kern="1200" baseline="0">
                          <a:solidFill>
                            <a:schemeClr val="dk1"/>
                          </a:solidFill>
                          <a:latin typeface="+mn-ea"/>
                          <a:ea typeface="+mn-ea"/>
                          <a:cs typeface="+mn-cs"/>
                        </a:rPr>
                        <a:t>：</a:t>
                      </a:r>
                      <a:r>
                        <a:rPr kumimoji="1" lang="en-US" altLang="ja-JP" sz="1400" b="1" i="0" u="none" strike="noStrike" kern="1200" baseline="0">
                          <a:solidFill>
                            <a:schemeClr val="dk1"/>
                          </a:solidFill>
                          <a:latin typeface="+mn-ea"/>
                          <a:ea typeface="+mn-ea"/>
                          <a:cs typeface="+mn-cs"/>
                        </a:rPr>
                        <a:t>16</a:t>
                      </a:r>
                      <a:r>
                        <a:rPr kumimoji="1" lang="ja-JP" altLang="en-US" sz="1400" b="1" i="0" u="none" strike="noStrike" kern="1200" baseline="0">
                          <a:solidFill>
                            <a:schemeClr val="dk1"/>
                          </a:solidFill>
                          <a:latin typeface="+mn-ea"/>
                          <a:ea typeface="+mn-ea"/>
                          <a:cs typeface="+mn-cs"/>
                        </a:rPr>
                        <a:t>億円</a:t>
                      </a:r>
                      <a:endParaRPr kumimoji="1" lang="ja-JP" altLang="en-US" sz="1200" b="1" i="0" u="none" strike="noStrike" kern="1200" baseline="0">
                        <a:solidFill>
                          <a:schemeClr val="dk1"/>
                        </a:solidFill>
                        <a:latin typeface="+mn-ea"/>
                        <a:ea typeface="+mn-ea"/>
                        <a:cs typeface="+mn-cs"/>
                      </a:endParaRPr>
                    </a:p>
                  </a:txBody>
                  <a:tcPr anchor="ctr"/>
                </a:tc>
                <a:extLst>
                  <a:ext uri="{0D108BD9-81ED-4DB2-BD59-A6C34878D82A}">
                    <a16:rowId xmlns:a16="http://schemas.microsoft.com/office/drawing/2014/main" val="3312132928"/>
                  </a:ext>
                </a:extLst>
              </a:tr>
            </a:tbl>
          </a:graphicData>
        </a:graphic>
      </p:graphicFrame>
      <p:sp>
        <p:nvSpPr>
          <p:cNvPr id="5" name="正方形/長方形 4">
            <a:extLst>
              <a:ext uri="{FF2B5EF4-FFF2-40B4-BE49-F238E27FC236}">
                <a16:creationId xmlns:a16="http://schemas.microsoft.com/office/drawing/2014/main" id="{CEB549D9-5938-4683-B1C1-C874E0608081}"/>
              </a:ext>
            </a:extLst>
          </p:cNvPr>
          <p:cNvSpPr/>
          <p:nvPr/>
        </p:nvSpPr>
        <p:spPr>
          <a:xfrm>
            <a:off x="186274" y="2642532"/>
            <a:ext cx="8771452" cy="2130804"/>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noFill/>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矢印: 下 5">
            <a:extLst>
              <a:ext uri="{FF2B5EF4-FFF2-40B4-BE49-F238E27FC236}">
                <a16:creationId xmlns:a16="http://schemas.microsoft.com/office/drawing/2014/main" id="{A952154B-66FA-4487-A19E-E6D993C025F5}"/>
              </a:ext>
            </a:extLst>
          </p:cNvPr>
          <p:cNvSpPr/>
          <p:nvPr/>
        </p:nvSpPr>
        <p:spPr>
          <a:xfrm rot="2777567">
            <a:off x="6882090" y="1815521"/>
            <a:ext cx="716170" cy="799557"/>
          </a:xfrm>
          <a:prstGeom prst="down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テキスト ボックス 6">
            <a:extLst>
              <a:ext uri="{FF2B5EF4-FFF2-40B4-BE49-F238E27FC236}">
                <a16:creationId xmlns:a16="http://schemas.microsoft.com/office/drawing/2014/main" id="{26C98D19-AD2D-4539-A164-C29720E0CC79}"/>
              </a:ext>
            </a:extLst>
          </p:cNvPr>
          <p:cNvSpPr txBox="1"/>
          <p:nvPr/>
        </p:nvSpPr>
        <p:spPr>
          <a:xfrm>
            <a:off x="7524925" y="1057013"/>
            <a:ext cx="1493240" cy="923330"/>
          </a:xfrm>
          <a:prstGeom prst="rect">
            <a:avLst/>
          </a:prstGeom>
          <a:solidFill>
            <a:schemeClr val="bg1"/>
          </a:solidFill>
          <a:ln>
            <a:solidFill>
              <a:schemeClr val="tx1"/>
            </a:solidFill>
          </a:ln>
        </p:spPr>
        <p:txBody>
          <a:bodyPr wrap="square" rtlCol="0">
            <a:spAutoFit/>
          </a:bodyPr>
          <a:lstStyle/>
          <a:p>
            <a:r>
              <a:rPr kumimoji="1" lang="ja-JP" altLang="en-US"/>
              <a:t>今回コンサルを加えてここを具体化する</a:t>
            </a:r>
          </a:p>
        </p:txBody>
      </p:sp>
    </p:spTree>
    <p:extLst>
      <p:ext uri="{BB962C8B-B14F-4D97-AF65-F5344CB8AC3E}">
        <p14:creationId xmlns:p14="http://schemas.microsoft.com/office/powerpoint/2010/main" val="1699410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404682-64A0-4EB4-B9FD-D7185879EF40}"/>
              </a:ext>
            </a:extLst>
          </p:cNvPr>
          <p:cNvSpPr>
            <a:spLocks noGrp="1"/>
          </p:cNvSpPr>
          <p:nvPr>
            <p:ph type="title"/>
          </p:nvPr>
        </p:nvSpPr>
        <p:spPr>
          <a:xfrm>
            <a:off x="128739" y="138894"/>
            <a:ext cx="7169044" cy="349961"/>
          </a:xfrm>
        </p:spPr>
        <p:txBody>
          <a:bodyPr/>
          <a:lstStyle/>
          <a:p>
            <a:r>
              <a:rPr kumimoji="1" lang="en-US" altLang="ja-JP" sz="2000"/>
              <a:t>2-6. </a:t>
            </a:r>
            <a:r>
              <a:rPr kumimoji="1" lang="ja-JP" altLang="en-US" sz="2000"/>
              <a:t>取組みの背景：改革テーマ見直しの必要性</a:t>
            </a:r>
          </a:p>
        </p:txBody>
      </p:sp>
      <p:sp>
        <p:nvSpPr>
          <p:cNvPr id="4" name="テキスト ボックス 3">
            <a:extLst>
              <a:ext uri="{FF2B5EF4-FFF2-40B4-BE49-F238E27FC236}">
                <a16:creationId xmlns:a16="http://schemas.microsoft.com/office/drawing/2014/main" id="{88F376A4-D2BC-4D43-8B15-9AEEF78D3230}"/>
              </a:ext>
            </a:extLst>
          </p:cNvPr>
          <p:cNvSpPr txBox="1"/>
          <p:nvPr/>
        </p:nvSpPr>
        <p:spPr>
          <a:xfrm>
            <a:off x="-69667" y="2419529"/>
            <a:ext cx="3413760" cy="338554"/>
          </a:xfrm>
          <a:prstGeom prst="rect">
            <a:avLst/>
          </a:prstGeom>
          <a:noFill/>
        </p:spPr>
        <p:txBody>
          <a:bodyPr wrap="square" rtlCol="0">
            <a:spAutoFit/>
          </a:bodyPr>
          <a:lstStyle/>
          <a:p>
            <a:r>
              <a:rPr kumimoji="1" lang="en-US" altLang="ja-JP" sz="1600" b="1"/>
              <a:t>【</a:t>
            </a:r>
            <a:r>
              <a:rPr kumimoji="1" lang="ja-JP" altLang="en-US" sz="1600" b="1"/>
              <a:t>取組み中の改革テーマ（例）</a:t>
            </a:r>
            <a:r>
              <a:rPr lang="en-US" altLang="ja-JP" sz="1600" b="1"/>
              <a:t>】</a:t>
            </a:r>
            <a:endParaRPr kumimoji="1" lang="en-US" altLang="ja-JP" sz="1600" b="1"/>
          </a:p>
        </p:txBody>
      </p:sp>
      <p:sp>
        <p:nvSpPr>
          <p:cNvPr id="5" name="テキスト ボックス 4">
            <a:extLst>
              <a:ext uri="{FF2B5EF4-FFF2-40B4-BE49-F238E27FC236}">
                <a16:creationId xmlns:a16="http://schemas.microsoft.com/office/drawing/2014/main" id="{AE30F65A-A0DC-45DE-9571-A51B85D2DFA9}"/>
              </a:ext>
            </a:extLst>
          </p:cNvPr>
          <p:cNvSpPr txBox="1"/>
          <p:nvPr/>
        </p:nvSpPr>
        <p:spPr>
          <a:xfrm>
            <a:off x="60959" y="585527"/>
            <a:ext cx="9022081" cy="1846659"/>
          </a:xfrm>
          <a:prstGeom prst="rect">
            <a:avLst/>
          </a:prstGeom>
          <a:solidFill>
            <a:schemeClr val="bg2">
              <a:lumMod val="40000"/>
              <a:lumOff val="60000"/>
            </a:schemeClr>
          </a:solidFill>
        </p:spPr>
        <p:txBody>
          <a:bodyPr wrap="square" rtlCol="0">
            <a:spAutoFit/>
          </a:bodyPr>
          <a:lstStyle/>
          <a:p>
            <a:r>
              <a:rPr kumimoji="1" lang="ja-JP" altLang="en-US" sz="1600">
                <a:latin typeface="+mj-ea"/>
                <a:ea typeface="+mj-ea"/>
              </a:rPr>
              <a:t>■以下改革テーマについて、事業部として、なぜ必要か</a:t>
            </a:r>
            <a:r>
              <a:rPr kumimoji="1" lang="en-US" altLang="ja-JP" sz="1600">
                <a:latin typeface="+mj-ea"/>
                <a:ea typeface="+mj-ea"/>
              </a:rPr>
              <a:t>(Why)</a:t>
            </a:r>
            <a:r>
              <a:rPr kumimoji="1" lang="ja-JP" altLang="en-US" sz="1600">
                <a:latin typeface="+mj-ea"/>
                <a:ea typeface="+mj-ea"/>
              </a:rPr>
              <a:t>、</a:t>
            </a:r>
            <a:r>
              <a:rPr lang="ja-JP" altLang="en-US" sz="1600">
                <a:latin typeface="+mj-ea"/>
                <a:ea typeface="+mj-ea"/>
              </a:rPr>
              <a:t>何をすべきか</a:t>
            </a:r>
            <a:r>
              <a:rPr lang="en-US" altLang="ja-JP" sz="1600">
                <a:latin typeface="+mj-ea"/>
                <a:ea typeface="+mj-ea"/>
              </a:rPr>
              <a:t>(What)</a:t>
            </a:r>
            <a:r>
              <a:rPr lang="ja-JP" altLang="en-US" sz="1600">
                <a:latin typeface="+mj-ea"/>
                <a:ea typeface="+mj-ea"/>
              </a:rPr>
              <a:t>、</a:t>
            </a:r>
            <a:endParaRPr lang="en-US" altLang="ja-JP" sz="1600">
              <a:latin typeface="+mj-ea"/>
              <a:ea typeface="+mj-ea"/>
            </a:endParaRPr>
          </a:p>
          <a:p>
            <a:r>
              <a:rPr lang="ja-JP" altLang="en-US" sz="1600">
                <a:latin typeface="+mj-ea"/>
                <a:ea typeface="+mj-ea"/>
              </a:rPr>
              <a:t>　どのようにすべきか</a:t>
            </a:r>
            <a:r>
              <a:rPr lang="en-US" altLang="ja-JP" sz="1600">
                <a:latin typeface="+mj-ea"/>
                <a:ea typeface="+mj-ea"/>
              </a:rPr>
              <a:t>(How)</a:t>
            </a:r>
            <a:r>
              <a:rPr lang="ja-JP" altLang="en-US" sz="1600">
                <a:latin typeface="+mj-ea"/>
                <a:ea typeface="+mj-ea"/>
              </a:rPr>
              <a:t>、明確にせぬまま個別の活動を開始していた。</a:t>
            </a:r>
            <a:endParaRPr lang="en-US" altLang="ja-JP" sz="1600">
              <a:latin typeface="+mj-ea"/>
              <a:ea typeface="+mj-ea"/>
            </a:endParaRPr>
          </a:p>
          <a:p>
            <a:r>
              <a:rPr lang="ja-JP" altLang="en-US" sz="1600">
                <a:latin typeface="+mj-ea"/>
                <a:ea typeface="+mj-ea"/>
              </a:rPr>
              <a:t>■その為、視野が狭く個別最適となり、全体として効果が出にくくなっている。</a:t>
            </a:r>
            <a:endParaRPr lang="en-US" altLang="ja-JP" sz="1600">
              <a:latin typeface="+mj-ea"/>
              <a:ea typeface="+mj-ea"/>
            </a:endParaRPr>
          </a:p>
          <a:p>
            <a:r>
              <a:rPr lang="ja-JP" altLang="en-US" sz="1600">
                <a:latin typeface="+mj-ea"/>
                <a:ea typeface="+mj-ea"/>
              </a:rPr>
              <a:t>■よって、</a:t>
            </a:r>
            <a:r>
              <a:rPr lang="ja-JP" altLang="en-US" sz="1600" b="1">
                <a:latin typeface="+mj-ea"/>
                <a:ea typeface="+mj-ea"/>
              </a:rPr>
              <a:t>外部知見・手法を取り入れ、</a:t>
            </a:r>
            <a:r>
              <a:rPr lang="en-US" altLang="ja-JP" sz="1600" b="1">
                <a:latin typeface="+mj-ea"/>
                <a:ea typeface="+mj-ea"/>
              </a:rPr>
              <a:t>8/E</a:t>
            </a:r>
            <a:r>
              <a:rPr lang="ja-JP" altLang="en-US" sz="1600" b="1">
                <a:latin typeface="+mj-ea"/>
                <a:ea typeface="+mj-ea"/>
              </a:rPr>
              <a:t>までに改めて</a:t>
            </a:r>
            <a:r>
              <a:rPr lang="en-US" altLang="ja-JP" sz="1600" b="1" err="1">
                <a:latin typeface="+mj-ea"/>
                <a:ea typeface="+mj-ea"/>
              </a:rPr>
              <a:t>Why,What,How</a:t>
            </a:r>
            <a:r>
              <a:rPr lang="ja-JP" altLang="en-US" sz="1600" b="1">
                <a:latin typeface="+mj-ea"/>
                <a:ea typeface="+mj-ea"/>
              </a:rPr>
              <a:t>の</a:t>
            </a:r>
            <a:endParaRPr lang="en-US" altLang="ja-JP" sz="1600" b="1">
              <a:latin typeface="+mj-ea"/>
              <a:ea typeface="+mj-ea"/>
            </a:endParaRPr>
          </a:p>
          <a:p>
            <a:r>
              <a:rPr lang="ja-JP" altLang="en-US" sz="1600" b="1">
                <a:latin typeface="+mj-ea"/>
                <a:ea typeface="+mj-ea"/>
              </a:rPr>
              <a:t>　</a:t>
            </a:r>
            <a:r>
              <a:rPr lang="en-US" altLang="ja-JP" sz="1600" b="1">
                <a:latin typeface="+mj-ea"/>
                <a:ea typeface="+mj-ea"/>
              </a:rPr>
              <a:t>3</a:t>
            </a:r>
            <a:r>
              <a:rPr lang="ja-JP" altLang="en-US" sz="1600" b="1">
                <a:latin typeface="+mj-ea"/>
                <a:ea typeface="+mj-ea"/>
              </a:rPr>
              <a:t>要素を突き詰める。</a:t>
            </a:r>
            <a:r>
              <a:rPr lang="en-US" altLang="ja-JP" sz="1600" b="1">
                <a:latin typeface="+mj-ea"/>
                <a:ea typeface="+mj-ea"/>
              </a:rPr>
              <a:t>(STEP1)</a:t>
            </a:r>
          </a:p>
          <a:p>
            <a:r>
              <a:rPr lang="ja-JP" altLang="en-US" sz="1600">
                <a:latin typeface="+mj-ea"/>
                <a:ea typeface="+mj-ea"/>
              </a:rPr>
              <a:t>　</a:t>
            </a:r>
            <a:r>
              <a:rPr lang="en-US" altLang="ja-JP" sz="1600">
                <a:latin typeface="+mj-ea"/>
                <a:ea typeface="+mj-ea"/>
              </a:rPr>
              <a:t>※9</a:t>
            </a:r>
            <a:r>
              <a:rPr lang="ja-JP" altLang="en-US" sz="1600">
                <a:latin typeface="+mj-ea"/>
                <a:ea typeface="+mj-ea"/>
              </a:rPr>
              <a:t>月以降に</a:t>
            </a:r>
            <a:r>
              <a:rPr lang="en-US" altLang="ja-JP" sz="1600">
                <a:latin typeface="+mj-ea"/>
                <a:ea typeface="+mj-ea"/>
              </a:rPr>
              <a:t>STEP2</a:t>
            </a:r>
            <a:r>
              <a:rPr lang="ja-JP" altLang="en-US" sz="1600">
                <a:latin typeface="+mj-ea"/>
                <a:ea typeface="+mj-ea"/>
              </a:rPr>
              <a:t>として個別テーマの具体化も進めていくが、既に取組み中の</a:t>
            </a:r>
            <a:endParaRPr lang="en-US" altLang="ja-JP" sz="1600">
              <a:latin typeface="+mj-ea"/>
              <a:ea typeface="+mj-ea"/>
            </a:endParaRPr>
          </a:p>
          <a:p>
            <a:r>
              <a:rPr lang="ja-JP" altLang="en-US" sz="1600">
                <a:latin typeface="+mj-ea"/>
                <a:ea typeface="+mj-ea"/>
              </a:rPr>
              <a:t>　　改革テーマは適宜</a:t>
            </a:r>
            <a:r>
              <a:rPr lang="en-US" altLang="ja-JP" sz="1600">
                <a:latin typeface="+mj-ea"/>
                <a:ea typeface="+mj-ea"/>
              </a:rPr>
              <a:t>STEP1</a:t>
            </a:r>
            <a:r>
              <a:rPr lang="ja-JP" altLang="en-US" sz="1600">
                <a:latin typeface="+mj-ea"/>
                <a:ea typeface="+mj-ea"/>
              </a:rPr>
              <a:t>の状況を反映しながら併行して進める。</a:t>
            </a:r>
            <a:endParaRPr lang="en-US" altLang="ja-JP" sz="1600">
              <a:latin typeface="+mj-ea"/>
              <a:ea typeface="+mj-ea"/>
            </a:endParaRPr>
          </a:p>
        </p:txBody>
      </p:sp>
      <p:graphicFrame>
        <p:nvGraphicFramePr>
          <p:cNvPr id="6" name="表 6">
            <a:extLst>
              <a:ext uri="{FF2B5EF4-FFF2-40B4-BE49-F238E27FC236}">
                <a16:creationId xmlns:a16="http://schemas.microsoft.com/office/drawing/2014/main" id="{70BDF847-32FB-4F32-82FA-21DCF756A922}"/>
              </a:ext>
            </a:extLst>
          </p:cNvPr>
          <p:cNvGraphicFramePr>
            <a:graphicFrameLocks noGrp="1"/>
          </p:cNvGraphicFramePr>
          <p:nvPr>
            <p:extLst>
              <p:ext uri="{D42A27DB-BD31-4B8C-83A1-F6EECF244321}">
                <p14:modId xmlns:p14="http://schemas.microsoft.com/office/powerpoint/2010/main" val="3333757662"/>
              </p:ext>
            </p:extLst>
          </p:nvPr>
        </p:nvGraphicFramePr>
        <p:xfrm>
          <a:off x="209004" y="2703838"/>
          <a:ext cx="8725990" cy="3776494"/>
        </p:xfrm>
        <a:graphic>
          <a:graphicData uri="http://schemas.openxmlformats.org/drawingml/2006/table">
            <a:tbl>
              <a:tblPr firstRow="1" bandRow="1">
                <a:tableStyleId>{5C22544A-7EE6-4342-B048-85BDC9FD1C3A}</a:tableStyleId>
              </a:tblPr>
              <a:tblGrid>
                <a:gridCol w="496391">
                  <a:extLst>
                    <a:ext uri="{9D8B030D-6E8A-4147-A177-3AD203B41FA5}">
                      <a16:colId xmlns:a16="http://schemas.microsoft.com/office/drawing/2014/main" val="684037477"/>
                    </a:ext>
                  </a:extLst>
                </a:gridCol>
                <a:gridCol w="661850">
                  <a:extLst>
                    <a:ext uri="{9D8B030D-6E8A-4147-A177-3AD203B41FA5}">
                      <a16:colId xmlns:a16="http://schemas.microsoft.com/office/drawing/2014/main" val="4053341167"/>
                    </a:ext>
                  </a:extLst>
                </a:gridCol>
                <a:gridCol w="2629988">
                  <a:extLst>
                    <a:ext uri="{9D8B030D-6E8A-4147-A177-3AD203B41FA5}">
                      <a16:colId xmlns:a16="http://schemas.microsoft.com/office/drawing/2014/main" val="856023910"/>
                    </a:ext>
                  </a:extLst>
                </a:gridCol>
                <a:gridCol w="4937761">
                  <a:extLst>
                    <a:ext uri="{9D8B030D-6E8A-4147-A177-3AD203B41FA5}">
                      <a16:colId xmlns:a16="http://schemas.microsoft.com/office/drawing/2014/main" val="2867849741"/>
                    </a:ext>
                  </a:extLst>
                </a:gridCol>
              </a:tblGrid>
              <a:tr h="339920">
                <a:tc>
                  <a:txBody>
                    <a:bodyPr/>
                    <a:lstStyle/>
                    <a:p>
                      <a:r>
                        <a:rPr kumimoji="1" lang="en-US" altLang="ja-JP"/>
                        <a:t>No.</a:t>
                      </a:r>
                      <a:endParaRPr kumimoji="1" lang="ja-JP" altLang="en-US"/>
                    </a:p>
                  </a:txBody>
                  <a:tcPr/>
                </a:tc>
                <a:tc>
                  <a:txBody>
                    <a:bodyPr/>
                    <a:lstStyle/>
                    <a:p>
                      <a:r>
                        <a:rPr kumimoji="1" lang="ja-JP" altLang="en-US"/>
                        <a:t>分類</a:t>
                      </a:r>
                    </a:p>
                  </a:txBody>
                  <a:tcPr/>
                </a:tc>
                <a:tc>
                  <a:txBody>
                    <a:bodyPr/>
                    <a:lstStyle/>
                    <a:p>
                      <a:r>
                        <a:rPr kumimoji="1" lang="ja-JP" altLang="en-US"/>
                        <a:t>改革テーマ</a:t>
                      </a:r>
                    </a:p>
                  </a:txBody>
                  <a:tcPr/>
                </a:tc>
                <a:tc>
                  <a:txBody>
                    <a:bodyPr/>
                    <a:lstStyle/>
                    <a:p>
                      <a:r>
                        <a:rPr kumimoji="1" lang="ja-JP" altLang="en-US"/>
                        <a:t>内容</a:t>
                      </a:r>
                    </a:p>
                  </a:txBody>
                  <a:tcPr/>
                </a:tc>
                <a:extLst>
                  <a:ext uri="{0D108BD9-81ED-4DB2-BD59-A6C34878D82A}">
                    <a16:rowId xmlns:a16="http://schemas.microsoft.com/office/drawing/2014/main" val="396064764"/>
                  </a:ext>
                </a:extLst>
              </a:tr>
              <a:tr h="460987">
                <a:tc>
                  <a:txBody>
                    <a:bodyPr/>
                    <a:lstStyle/>
                    <a:p>
                      <a:r>
                        <a:rPr kumimoji="1" lang="en-US" altLang="ja-JP"/>
                        <a:t>1</a:t>
                      </a:r>
                      <a:endParaRPr kumimoji="1" lang="ja-JP" altLang="en-US"/>
                    </a:p>
                  </a:txBody>
                  <a:tcPr/>
                </a:tc>
                <a:tc rowSpan="4">
                  <a:txBody>
                    <a:bodyPr/>
                    <a:lstStyle/>
                    <a:p>
                      <a:r>
                        <a:rPr kumimoji="1" lang="en-US" altLang="ja-JP"/>
                        <a:t>FY22</a:t>
                      </a:r>
                      <a:r>
                        <a:rPr kumimoji="1" lang="ja-JP" altLang="en-US"/>
                        <a:t>から継続</a:t>
                      </a:r>
                    </a:p>
                  </a:txBody>
                  <a:tcPr/>
                </a:tc>
                <a:tc>
                  <a:txBody>
                    <a:bodyPr/>
                    <a:lstStyle/>
                    <a:p>
                      <a:r>
                        <a:rPr kumimoji="1" lang="ja-JP" altLang="en-US"/>
                        <a:t>見積りリードタイム短縮</a:t>
                      </a:r>
                    </a:p>
                  </a:txBody>
                  <a:tcPr/>
                </a:tc>
                <a:tc>
                  <a:txBody>
                    <a:bodyPr/>
                    <a:lstStyle/>
                    <a:p>
                      <a:r>
                        <a:rPr kumimoji="1" lang="ja-JP" altLang="en-US"/>
                        <a:t>見積りリードタイム短縮する事で受注率の向上及び引合費削減を狙うもの</a:t>
                      </a:r>
                      <a:endParaRPr kumimoji="1" lang="en-US" altLang="ja-JP"/>
                    </a:p>
                  </a:txBody>
                  <a:tcPr/>
                </a:tc>
                <a:extLst>
                  <a:ext uri="{0D108BD9-81ED-4DB2-BD59-A6C34878D82A}">
                    <a16:rowId xmlns:a16="http://schemas.microsoft.com/office/drawing/2014/main" val="3097372093"/>
                  </a:ext>
                </a:extLst>
              </a:tr>
              <a:tr h="460987">
                <a:tc>
                  <a:txBody>
                    <a:bodyPr/>
                    <a:lstStyle/>
                    <a:p>
                      <a:r>
                        <a:rPr kumimoji="1" lang="en-US" altLang="ja-JP"/>
                        <a:t>2</a:t>
                      </a:r>
                      <a:endParaRPr kumimoji="1" lang="ja-JP" altLang="en-US"/>
                    </a:p>
                  </a:txBody>
                  <a:tcPr/>
                </a:tc>
                <a:tc vMerge="1">
                  <a:txBody>
                    <a:bodyPr/>
                    <a:lstStyle/>
                    <a:p>
                      <a:endParaRPr kumimoji="1" lang="ja-JP" altLang="en-US"/>
                    </a:p>
                  </a:txBody>
                  <a:tcPr/>
                </a:tc>
                <a:tc>
                  <a:txBody>
                    <a:bodyPr/>
                    <a:lstStyle/>
                    <a:p>
                      <a:r>
                        <a:rPr kumimoji="1" lang="en-US" altLang="ja-JP"/>
                        <a:t>CRM</a:t>
                      </a:r>
                      <a:r>
                        <a:rPr kumimoji="1" lang="ja-JP" altLang="en-US"/>
                        <a:t>活用でのお客様提案状況見える化</a:t>
                      </a:r>
                    </a:p>
                  </a:txBody>
                  <a:tcPr/>
                </a:tc>
                <a:tc>
                  <a:txBody>
                    <a:bodyPr/>
                    <a:lstStyle/>
                    <a:p>
                      <a:r>
                        <a:rPr kumimoji="1" lang="ja-JP" altLang="en-US"/>
                        <a:t>お客様提案状況見える化し、戦略的な受注活動に繋げるもの</a:t>
                      </a:r>
                    </a:p>
                  </a:txBody>
                  <a:tcPr/>
                </a:tc>
                <a:extLst>
                  <a:ext uri="{0D108BD9-81ED-4DB2-BD59-A6C34878D82A}">
                    <a16:rowId xmlns:a16="http://schemas.microsoft.com/office/drawing/2014/main" val="2049844976"/>
                  </a:ext>
                </a:extLst>
              </a:tr>
              <a:tr h="460987">
                <a:tc>
                  <a:txBody>
                    <a:bodyPr/>
                    <a:lstStyle/>
                    <a:p>
                      <a:r>
                        <a:rPr kumimoji="1" lang="en-US" altLang="ja-JP"/>
                        <a:t>3</a:t>
                      </a:r>
                      <a:endParaRPr kumimoji="1" lang="ja-JP" altLang="en-US"/>
                    </a:p>
                  </a:txBody>
                  <a:tcPr/>
                </a:tc>
                <a:tc vMerge="1">
                  <a:txBody>
                    <a:bodyPr/>
                    <a:lstStyle/>
                    <a:p>
                      <a:endParaRPr kumimoji="1" lang="ja-JP" altLang="en-US"/>
                    </a:p>
                  </a:txBody>
                  <a:tcPr/>
                </a:tc>
                <a:tc>
                  <a:txBody>
                    <a:bodyPr/>
                    <a:lstStyle/>
                    <a:p>
                      <a:r>
                        <a:rPr kumimoji="1" lang="en-US" altLang="ja-JP"/>
                        <a:t>TA</a:t>
                      </a:r>
                      <a:r>
                        <a:rPr kumimoji="1" lang="ja-JP" altLang="en-US"/>
                        <a:t>派遣平準化</a:t>
                      </a:r>
                    </a:p>
                  </a:txBody>
                  <a:tcPr/>
                </a:tc>
                <a:tc>
                  <a:txBody>
                    <a:bodyPr/>
                    <a:lstStyle/>
                    <a:p>
                      <a:r>
                        <a:rPr kumimoji="1" lang="en-US" altLang="ja-JP"/>
                        <a:t>TA</a:t>
                      </a:r>
                      <a:r>
                        <a:rPr kumimoji="1" lang="ja-JP" altLang="en-US"/>
                        <a:t>不足解消する為、顧客への</a:t>
                      </a:r>
                      <a:r>
                        <a:rPr kumimoji="1" lang="en-US" altLang="ja-JP"/>
                        <a:t>TA</a:t>
                      </a:r>
                      <a:r>
                        <a:rPr kumimoji="1" lang="ja-JP" altLang="en-US"/>
                        <a:t>派遣時期調整を促すもの</a:t>
                      </a:r>
                    </a:p>
                  </a:txBody>
                  <a:tcPr/>
                </a:tc>
                <a:extLst>
                  <a:ext uri="{0D108BD9-81ED-4DB2-BD59-A6C34878D82A}">
                    <a16:rowId xmlns:a16="http://schemas.microsoft.com/office/drawing/2014/main" val="2947814080"/>
                  </a:ext>
                </a:extLst>
              </a:tr>
              <a:tr h="460987">
                <a:tc>
                  <a:txBody>
                    <a:bodyPr/>
                    <a:lstStyle/>
                    <a:p>
                      <a:r>
                        <a:rPr kumimoji="1" lang="en-US" altLang="ja-JP"/>
                        <a:t>4</a:t>
                      </a:r>
                      <a:endParaRPr kumimoji="1" lang="ja-JP" altLang="en-US"/>
                    </a:p>
                  </a:txBody>
                  <a:tcPr/>
                </a:tc>
                <a:tc vMerge="1">
                  <a:txBody>
                    <a:bodyPr/>
                    <a:lstStyle/>
                    <a:p>
                      <a:endParaRPr kumimoji="1" lang="ja-JP" altLang="en-US"/>
                    </a:p>
                  </a:txBody>
                  <a:tcPr/>
                </a:tc>
                <a:tc>
                  <a:txBody>
                    <a:bodyPr/>
                    <a:lstStyle/>
                    <a:p>
                      <a:r>
                        <a:rPr kumimoji="1" lang="ja-JP" altLang="en-US"/>
                        <a:t>モチベーション向上活動</a:t>
                      </a:r>
                    </a:p>
                  </a:txBody>
                  <a:tcPr/>
                </a:tc>
                <a:tc>
                  <a:txBody>
                    <a:bodyPr/>
                    <a:lstStyle/>
                    <a:p>
                      <a:r>
                        <a:rPr kumimoji="1" lang="ja-JP" altLang="en-US"/>
                        <a:t>パネルディスカッション開催、タウンミーティングの開催等</a:t>
                      </a:r>
                    </a:p>
                  </a:txBody>
                  <a:tcPr/>
                </a:tc>
                <a:extLst>
                  <a:ext uri="{0D108BD9-81ED-4DB2-BD59-A6C34878D82A}">
                    <a16:rowId xmlns:a16="http://schemas.microsoft.com/office/drawing/2014/main" val="4129191280"/>
                  </a:ext>
                </a:extLst>
              </a:tr>
              <a:tr h="460987">
                <a:tc>
                  <a:txBody>
                    <a:bodyPr/>
                    <a:lstStyle/>
                    <a:p>
                      <a:r>
                        <a:rPr kumimoji="1" lang="en-US" altLang="ja-JP"/>
                        <a:t>5</a:t>
                      </a:r>
                      <a:endParaRPr kumimoji="1" lang="ja-JP" altLang="en-US"/>
                    </a:p>
                  </a:txBody>
                  <a:tcPr/>
                </a:tc>
                <a:tc rowSpan="3">
                  <a:txBody>
                    <a:bodyPr/>
                    <a:lstStyle/>
                    <a:p>
                      <a:r>
                        <a:rPr kumimoji="1" lang="en-US" altLang="ja-JP"/>
                        <a:t>FY23</a:t>
                      </a:r>
                      <a:r>
                        <a:rPr kumimoji="1" lang="ja-JP" altLang="en-US"/>
                        <a:t>開始</a:t>
                      </a:r>
                    </a:p>
                  </a:txBody>
                  <a:tcPr/>
                </a:tc>
                <a:tc>
                  <a:txBody>
                    <a:bodyPr/>
                    <a:lstStyle/>
                    <a:p>
                      <a:r>
                        <a:rPr kumimoji="1" lang="en-US" altLang="ja-JP"/>
                        <a:t>One Team</a:t>
                      </a:r>
                      <a:r>
                        <a:rPr kumimoji="1" lang="ja-JP" altLang="en-US"/>
                        <a:t>活動</a:t>
                      </a:r>
                    </a:p>
                  </a:txBody>
                  <a:tcPr/>
                </a:tc>
                <a:tc>
                  <a:txBody>
                    <a:bodyPr/>
                    <a:lstStyle/>
                    <a:p>
                      <a:r>
                        <a:rPr kumimoji="1" lang="en-US" altLang="ja-JP"/>
                        <a:t>AS</a:t>
                      </a:r>
                      <a:r>
                        <a:rPr kumimoji="1" lang="ja-JP" altLang="en-US"/>
                        <a:t>事業中心となる事で回収が困難となる固定費を回収出来る商談の仕組み作り</a:t>
                      </a:r>
                    </a:p>
                  </a:txBody>
                  <a:tcPr/>
                </a:tc>
                <a:extLst>
                  <a:ext uri="{0D108BD9-81ED-4DB2-BD59-A6C34878D82A}">
                    <a16:rowId xmlns:a16="http://schemas.microsoft.com/office/drawing/2014/main" val="1045605064"/>
                  </a:ext>
                </a:extLst>
              </a:tr>
              <a:tr h="460987">
                <a:tc>
                  <a:txBody>
                    <a:bodyPr/>
                    <a:lstStyle/>
                    <a:p>
                      <a:r>
                        <a:rPr kumimoji="1" lang="en-US" altLang="ja-JP"/>
                        <a:t>6</a:t>
                      </a:r>
                      <a:endParaRPr kumimoji="1" lang="ja-JP" altLang="en-US"/>
                    </a:p>
                  </a:txBody>
                  <a:tcPr/>
                </a:tc>
                <a:tc vMerge="1">
                  <a:txBody>
                    <a:bodyPr/>
                    <a:lstStyle/>
                    <a:p>
                      <a:endParaRPr kumimoji="1" lang="ja-JP" altLang="en-US"/>
                    </a:p>
                  </a:txBody>
                  <a:tcPr/>
                </a:tc>
                <a:tc>
                  <a:txBody>
                    <a:bodyPr/>
                    <a:lstStyle/>
                    <a:p>
                      <a:r>
                        <a:rPr kumimoji="1" lang="ja-JP" altLang="en-US"/>
                        <a:t>部門費人員協議会</a:t>
                      </a:r>
                    </a:p>
                  </a:txBody>
                  <a:tcPr/>
                </a:tc>
                <a:tc>
                  <a:txBody>
                    <a:bodyPr/>
                    <a:lstStyle/>
                    <a:p>
                      <a:r>
                        <a:rPr kumimoji="1" lang="en-US" altLang="ja-JP"/>
                        <a:t>AS</a:t>
                      </a:r>
                      <a:r>
                        <a:rPr kumimoji="1" lang="ja-JP" altLang="en-US"/>
                        <a:t>事業中心となる事で減少する操業に合わせた部門費人員対策</a:t>
                      </a:r>
                    </a:p>
                  </a:txBody>
                  <a:tcPr/>
                </a:tc>
                <a:extLst>
                  <a:ext uri="{0D108BD9-81ED-4DB2-BD59-A6C34878D82A}">
                    <a16:rowId xmlns:a16="http://schemas.microsoft.com/office/drawing/2014/main" val="1920180703"/>
                  </a:ext>
                </a:extLst>
              </a:tr>
              <a:tr h="460987">
                <a:tc>
                  <a:txBody>
                    <a:bodyPr/>
                    <a:lstStyle/>
                    <a:p>
                      <a:r>
                        <a:rPr kumimoji="1" lang="en-US" altLang="ja-JP"/>
                        <a:t>7</a:t>
                      </a:r>
                      <a:endParaRPr kumimoji="1" lang="ja-JP" altLang="en-US"/>
                    </a:p>
                  </a:txBody>
                  <a:tcPr/>
                </a:tc>
                <a:tc vMerge="1">
                  <a:txBody>
                    <a:bodyPr/>
                    <a:lstStyle/>
                    <a:p>
                      <a:endParaRPr kumimoji="1" lang="ja-JP" altLang="en-US"/>
                    </a:p>
                  </a:txBody>
                  <a:tcPr/>
                </a:tc>
                <a:tc>
                  <a:txBody>
                    <a:bodyPr/>
                    <a:lstStyle/>
                    <a:p>
                      <a:r>
                        <a:rPr kumimoji="1" lang="ja-JP" altLang="en-US"/>
                        <a:t>引合費削減活動</a:t>
                      </a:r>
                    </a:p>
                  </a:txBody>
                  <a:tcPr/>
                </a:tc>
                <a:tc>
                  <a:txBody>
                    <a:bodyPr/>
                    <a:lstStyle/>
                    <a:p>
                      <a:r>
                        <a:rPr kumimoji="1" lang="en-US" altLang="ja-JP"/>
                        <a:t>AS</a:t>
                      </a:r>
                      <a:r>
                        <a:rPr kumimoji="1" lang="ja-JP" altLang="en-US"/>
                        <a:t>事業中心となる事で増加する売上高</a:t>
                      </a:r>
                      <a:r>
                        <a:rPr kumimoji="1" lang="en-US" altLang="ja-JP"/>
                        <a:t>SG&amp;A</a:t>
                      </a:r>
                      <a:r>
                        <a:rPr kumimoji="1" lang="ja-JP" altLang="en-US"/>
                        <a:t>比率に対し、目標とする引合費まで削減する活動</a:t>
                      </a:r>
                    </a:p>
                  </a:txBody>
                  <a:tcPr/>
                </a:tc>
                <a:extLst>
                  <a:ext uri="{0D108BD9-81ED-4DB2-BD59-A6C34878D82A}">
                    <a16:rowId xmlns:a16="http://schemas.microsoft.com/office/drawing/2014/main" val="3405961936"/>
                  </a:ext>
                </a:extLst>
              </a:tr>
            </a:tbl>
          </a:graphicData>
        </a:graphic>
      </p:graphicFrame>
    </p:spTree>
    <p:extLst>
      <p:ext uri="{BB962C8B-B14F-4D97-AF65-F5344CB8AC3E}">
        <p14:creationId xmlns:p14="http://schemas.microsoft.com/office/powerpoint/2010/main" val="2144783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FE5ED6E6-ACA2-4157-9B77-ED832473DD5E}"/>
              </a:ext>
            </a:extLst>
          </p:cNvPr>
          <p:cNvSpPr>
            <a:spLocks noGrp="1"/>
          </p:cNvSpPr>
          <p:nvPr>
            <p:ph type="title"/>
          </p:nvPr>
        </p:nvSpPr>
        <p:spPr>
          <a:xfrm>
            <a:off x="302608" y="182148"/>
            <a:ext cx="7575300" cy="323041"/>
          </a:xfrm>
        </p:spPr>
        <p:txBody>
          <a:bodyPr/>
          <a:lstStyle/>
          <a:p>
            <a:r>
              <a:rPr lang="ja-JP" altLang="en-US" sz="2000"/>
              <a:t>３．遂行体制</a:t>
            </a:r>
            <a:r>
              <a:rPr lang="en-US" altLang="ja-JP" sz="2000"/>
              <a:t>_</a:t>
            </a:r>
            <a:r>
              <a:rPr lang="en-US" altLang="ja-JP" sz="1800"/>
              <a:t>SPMI</a:t>
            </a:r>
            <a:r>
              <a:rPr lang="ja-JP" altLang="en-US" sz="1800"/>
              <a:t>事業部 アクションプラン遂行体制</a:t>
            </a:r>
            <a:endParaRPr lang="ja-JP" altLang="en-US" sz="2000"/>
          </a:p>
        </p:txBody>
      </p:sp>
      <p:sp>
        <p:nvSpPr>
          <p:cNvPr id="5" name="正方形/長方形 4">
            <a:extLst>
              <a:ext uri="{FF2B5EF4-FFF2-40B4-BE49-F238E27FC236}">
                <a16:creationId xmlns:a16="http://schemas.microsoft.com/office/drawing/2014/main" id="{66E341F4-72ED-4C1D-AB9A-0984ACE93A0C}"/>
              </a:ext>
            </a:extLst>
          </p:cNvPr>
          <p:cNvSpPr/>
          <p:nvPr/>
        </p:nvSpPr>
        <p:spPr>
          <a:xfrm>
            <a:off x="139335" y="629792"/>
            <a:ext cx="8816846" cy="61365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285750" marR="0" lvl="0" indent="-285750" algn="l" defTabSz="914400" rtl="0" eaLnBrk="1" fontAlgn="auto" latinLnBrk="0" hangingPunct="1">
              <a:lnSpc>
                <a:spcPct val="100000"/>
              </a:lnSpc>
              <a:spcBef>
                <a:spcPts val="0"/>
              </a:spcBef>
              <a:spcAft>
                <a:spcPts val="0"/>
              </a:spcAft>
              <a:buClr>
                <a:srgbClr val="82A0AA"/>
              </a:buClr>
              <a:buSzTx/>
              <a:buFont typeface="Wingdings" panose="05000000000000000000" pitchFamily="2" charset="2"/>
              <a:buChar char="n"/>
              <a:tabLst/>
              <a:defRPr/>
            </a:pP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アクションプラン達成に向けて、業務プロセス改革活動を中心に対外的な</a:t>
            </a:r>
            <a:r>
              <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One team</a:t>
            </a:r>
            <a:r>
              <a:rPr kumimoji="1" lang="ja-JP" altLang="en-US"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rPr>
              <a:t>活動と社内的な人員対策協議会を同一メンバーで横通ししながら、活動を開始。</a:t>
            </a:r>
            <a:endParaRPr kumimoji="1" lang="en-US" altLang="ja-JP" sz="1600" b="0" i="0" u="none" strike="noStrike" kern="1200" cap="none" spc="0" normalizeH="0" baseline="0" noProof="0">
              <a:ln>
                <a:noFill/>
              </a:ln>
              <a:solidFill>
                <a:prstClr val="black"/>
              </a:solidFill>
              <a:effectLst/>
              <a:uLnTx/>
              <a:uFillTx/>
              <a:latin typeface="Meiryo UI"/>
              <a:ea typeface="Meiryo UI"/>
              <a:cs typeface="Meiryo UI" panose="020B0604030504040204" pitchFamily="50" charset="-128"/>
            </a:endParaRPr>
          </a:p>
        </p:txBody>
      </p:sp>
      <p:graphicFrame>
        <p:nvGraphicFramePr>
          <p:cNvPr id="6" name="表 6">
            <a:extLst>
              <a:ext uri="{FF2B5EF4-FFF2-40B4-BE49-F238E27FC236}">
                <a16:creationId xmlns:a16="http://schemas.microsoft.com/office/drawing/2014/main" id="{561D4341-E590-49EB-B1DC-875826B2EAB8}"/>
              </a:ext>
            </a:extLst>
          </p:cNvPr>
          <p:cNvGraphicFramePr>
            <a:graphicFrameLocks noGrp="1"/>
          </p:cNvGraphicFramePr>
          <p:nvPr/>
        </p:nvGraphicFramePr>
        <p:xfrm>
          <a:off x="6677639" y="4349894"/>
          <a:ext cx="2390475" cy="2098016"/>
        </p:xfrm>
        <a:graphic>
          <a:graphicData uri="http://schemas.openxmlformats.org/drawingml/2006/table">
            <a:tbl>
              <a:tblPr firstRow="1" bandRow="1">
                <a:tableStyleId>{69012ECD-51FC-41F1-AA8D-1B2483CD663E}</a:tableStyleId>
              </a:tblPr>
              <a:tblGrid>
                <a:gridCol w="327170">
                  <a:extLst>
                    <a:ext uri="{9D8B030D-6E8A-4147-A177-3AD203B41FA5}">
                      <a16:colId xmlns:a16="http://schemas.microsoft.com/office/drawing/2014/main" val="181185088"/>
                    </a:ext>
                  </a:extLst>
                </a:gridCol>
                <a:gridCol w="2063305">
                  <a:extLst>
                    <a:ext uri="{9D8B030D-6E8A-4147-A177-3AD203B41FA5}">
                      <a16:colId xmlns:a16="http://schemas.microsoft.com/office/drawing/2014/main" val="1872250611"/>
                    </a:ext>
                  </a:extLst>
                </a:gridCol>
              </a:tblGrid>
              <a:tr h="307040">
                <a:tc gridSpan="2">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solidFill>
                          <a:effectLst/>
                          <a:uLnTx/>
                          <a:uFillTx/>
                          <a:latin typeface="+mn-lt"/>
                          <a:ea typeface="+mn-ea"/>
                          <a:cs typeface="+mn-cs"/>
                        </a:rPr>
                        <a:t>人員に関連する課題・施策</a:t>
                      </a:r>
                      <a:endParaRPr kumimoji="1" lang="ja-JP" altLang="en-US" sz="1200"/>
                    </a:p>
                  </a:txBody>
                  <a:tcPr anchor="ctr">
                    <a:lnR w="12700" cap="flat" cmpd="sng" algn="ctr">
                      <a:solidFill>
                        <a:schemeClr val="tx1"/>
                      </a:solidFill>
                      <a:prstDash val="solid"/>
                      <a:round/>
                      <a:headEnd type="none" w="med" len="med"/>
                      <a:tailEnd type="none" w="med" len="med"/>
                    </a:lnR>
                  </a:tcPr>
                </a:tc>
                <a:tc hMerge="1">
                  <a:txBody>
                    <a:bodyPr/>
                    <a:lstStyle/>
                    <a:p>
                      <a:pPr algn="ctr"/>
                      <a:endParaRPr kumimoji="1" lang="ja-JP"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4683476"/>
                  </a:ext>
                </a:extLst>
              </a:tr>
              <a:tr h="298496">
                <a:tc>
                  <a:txBody>
                    <a:bodyPr/>
                    <a:lstStyle/>
                    <a:p>
                      <a:pPr algn="ctr"/>
                      <a:r>
                        <a:rPr kumimoji="1" lang="ja-JP" altLang="en-US" sz="1200"/>
                        <a:t>①</a:t>
                      </a:r>
                    </a:p>
                  </a:txBody>
                  <a:tcPr anchor="ctr">
                    <a:lnR w="12700" cap="flat" cmpd="sng" algn="ctr">
                      <a:solidFill>
                        <a:schemeClr val="tx1"/>
                      </a:solidFill>
                      <a:prstDash val="solid"/>
                      <a:round/>
                      <a:headEnd type="none" w="med" len="med"/>
                      <a:tailEnd type="none" w="med" len="med"/>
                    </a:lnR>
                  </a:tcPr>
                </a:tc>
                <a:tc>
                  <a:txBody>
                    <a:bodyPr/>
                    <a:lstStyle/>
                    <a:p>
                      <a:r>
                        <a:rPr kumimoji="1" lang="en-US" altLang="ja-JP" sz="1200"/>
                        <a:t>AS</a:t>
                      </a:r>
                      <a:r>
                        <a:rPr kumimoji="1" lang="ja-JP" altLang="en-US" sz="1200"/>
                        <a:t>へのコア人材投入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3322783"/>
                  </a:ext>
                </a:extLst>
              </a:tr>
              <a:tr h="298496">
                <a:tc>
                  <a:txBody>
                    <a:bodyPr/>
                    <a:lstStyle/>
                    <a:p>
                      <a:pPr algn="ctr"/>
                      <a:r>
                        <a:rPr kumimoji="1" lang="ja-JP" altLang="en-US" sz="1200"/>
                        <a:t>②</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100"/>
                        <a:t>直工率向上・間接員比率低減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6139730"/>
                  </a:ext>
                </a:extLst>
              </a:tr>
              <a:tr h="298496">
                <a:tc>
                  <a:txBody>
                    <a:bodyPr/>
                    <a:lstStyle/>
                    <a:p>
                      <a:pPr algn="ctr"/>
                      <a:r>
                        <a:rPr kumimoji="1" lang="ja-JP" altLang="en-US" sz="1200"/>
                        <a:t>③</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t>引合人員他の低減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03944237"/>
                  </a:ext>
                </a:extLst>
              </a:tr>
              <a:tr h="298496">
                <a:tc>
                  <a:txBody>
                    <a:bodyPr/>
                    <a:lstStyle/>
                    <a:p>
                      <a:pPr algn="ctr"/>
                      <a:r>
                        <a:rPr kumimoji="1" lang="ja-JP" altLang="en-US" sz="1200"/>
                        <a:t>④</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t>労派削減・社員代替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41162248"/>
                  </a:ext>
                </a:extLst>
              </a:tr>
              <a:tr h="298496">
                <a:tc>
                  <a:txBody>
                    <a:bodyPr/>
                    <a:lstStyle/>
                    <a:p>
                      <a:pPr algn="ctr"/>
                      <a:r>
                        <a:rPr kumimoji="1" lang="ja-JP" altLang="en-US" sz="1200"/>
                        <a:t>⑤</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t>再雇用計画の見直し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875188"/>
                  </a:ext>
                </a:extLst>
              </a:tr>
              <a:tr h="298496">
                <a:tc>
                  <a:txBody>
                    <a:bodyPr/>
                    <a:lstStyle/>
                    <a:p>
                      <a:pPr algn="ctr"/>
                      <a:r>
                        <a:rPr kumimoji="1" lang="ja-JP" altLang="en-US" sz="1200"/>
                        <a:t>⑥</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t>再配置先の模索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85361539"/>
                  </a:ext>
                </a:extLst>
              </a:tr>
            </a:tbl>
          </a:graphicData>
        </a:graphic>
      </p:graphicFrame>
      <p:graphicFrame>
        <p:nvGraphicFramePr>
          <p:cNvPr id="7" name="表 7">
            <a:extLst>
              <a:ext uri="{FF2B5EF4-FFF2-40B4-BE49-F238E27FC236}">
                <a16:creationId xmlns:a16="http://schemas.microsoft.com/office/drawing/2014/main" id="{0E562117-9C56-4A1D-8542-31A36206966C}"/>
              </a:ext>
            </a:extLst>
          </p:cNvPr>
          <p:cNvGraphicFramePr>
            <a:graphicFrameLocks noGrp="1"/>
          </p:cNvGraphicFramePr>
          <p:nvPr/>
        </p:nvGraphicFramePr>
        <p:xfrm>
          <a:off x="139335" y="1430924"/>
          <a:ext cx="2570964" cy="1216856"/>
        </p:xfrm>
        <a:graphic>
          <a:graphicData uri="http://schemas.openxmlformats.org/drawingml/2006/table">
            <a:tbl>
              <a:tblPr firstRow="1" bandRow="1">
                <a:tableStyleId>{5C22544A-7EE6-4342-B048-85BDC9FD1C3A}</a:tableStyleId>
              </a:tblPr>
              <a:tblGrid>
                <a:gridCol w="1110555">
                  <a:extLst>
                    <a:ext uri="{9D8B030D-6E8A-4147-A177-3AD203B41FA5}">
                      <a16:colId xmlns:a16="http://schemas.microsoft.com/office/drawing/2014/main" val="2161415629"/>
                    </a:ext>
                  </a:extLst>
                </a:gridCol>
                <a:gridCol w="1460409">
                  <a:extLst>
                    <a:ext uri="{9D8B030D-6E8A-4147-A177-3AD203B41FA5}">
                      <a16:colId xmlns:a16="http://schemas.microsoft.com/office/drawing/2014/main" val="68443970"/>
                    </a:ext>
                  </a:extLst>
                </a:gridCol>
              </a:tblGrid>
              <a:tr h="302456">
                <a:tc gridSpan="2">
                  <a:txBody>
                    <a:bodyPr/>
                    <a:lstStyle/>
                    <a:p>
                      <a:pPr algn="ctr"/>
                      <a:r>
                        <a:rPr kumimoji="1" lang="en-US" altLang="ja-JP" sz="1200"/>
                        <a:t>One Team</a:t>
                      </a:r>
                      <a:r>
                        <a:rPr kumimoji="1" lang="ja-JP" altLang="en-US" sz="1200"/>
                        <a:t>活動</a:t>
                      </a:r>
                    </a:p>
                  </a:txBody>
                  <a:tcPr anchor="ctr">
                    <a:solidFill>
                      <a:schemeClr val="accent4">
                        <a:lumMod val="75000"/>
                      </a:schemeClr>
                    </a:solidFill>
                  </a:tcPr>
                </a:tc>
                <a:tc hMerge="1">
                  <a:txBody>
                    <a:bodyPr/>
                    <a:lstStyle/>
                    <a:p>
                      <a:pPr algn="ctr"/>
                      <a:endParaRPr kumimoji="1" lang="ja-JP" altLang="en-US"/>
                    </a:p>
                  </a:txBody>
                  <a:tcPr/>
                </a:tc>
                <a:extLst>
                  <a:ext uri="{0D108BD9-81ED-4DB2-BD59-A6C34878D82A}">
                    <a16:rowId xmlns:a16="http://schemas.microsoft.com/office/drawing/2014/main" val="1133376183"/>
                  </a:ext>
                </a:extLst>
              </a:tr>
              <a:tr h="250618">
                <a:tc>
                  <a:txBody>
                    <a:bodyPr/>
                    <a:lstStyle/>
                    <a:p>
                      <a:pPr algn="ctr"/>
                      <a:r>
                        <a:rPr kumimoji="1" lang="ja-JP" altLang="en-US" sz="1200"/>
                        <a:t>責任者</a:t>
                      </a:r>
                    </a:p>
                  </a:txBody>
                  <a:tcPr anchor="ctr"/>
                </a:tc>
                <a:tc>
                  <a:txBody>
                    <a:bodyPr/>
                    <a:lstStyle/>
                    <a:p>
                      <a:pPr algn="ctr"/>
                      <a:r>
                        <a:rPr kumimoji="1" lang="ja-JP" altLang="en-US" sz="1200"/>
                        <a:t>事務局</a:t>
                      </a:r>
                    </a:p>
                  </a:txBody>
                  <a:tcPr anchor="ctr"/>
                </a:tc>
                <a:extLst>
                  <a:ext uri="{0D108BD9-81ED-4DB2-BD59-A6C34878D82A}">
                    <a16:rowId xmlns:a16="http://schemas.microsoft.com/office/drawing/2014/main" val="4184990949"/>
                  </a:ext>
                </a:extLst>
              </a:tr>
              <a:tr h="601683">
                <a:tc>
                  <a:txBody>
                    <a:bodyPr/>
                    <a:lstStyle/>
                    <a:p>
                      <a:pPr algn="ctr"/>
                      <a:r>
                        <a:rPr kumimoji="1" lang="ja-JP" altLang="en-US" sz="1200"/>
                        <a:t>清水</a:t>
                      </a:r>
                      <a:endParaRPr kumimoji="1" lang="en-US" altLang="ja-JP" sz="1200"/>
                    </a:p>
                    <a:p>
                      <a:pPr algn="ctr"/>
                      <a:r>
                        <a:rPr kumimoji="1" lang="ja-JP" altLang="en-US" sz="1200"/>
                        <a:t>事業部長代理</a:t>
                      </a:r>
                      <a:endParaRPr kumimoji="1" lang="en-US" altLang="ja-JP" sz="1200"/>
                    </a:p>
                  </a:txBody>
                  <a:tcPr anchor="ctr"/>
                </a:tc>
                <a:tc>
                  <a:txBody>
                    <a:bodyPr/>
                    <a:lstStyle/>
                    <a:p>
                      <a:pPr algn="l"/>
                      <a:r>
                        <a:rPr kumimoji="1" lang="ja-JP" altLang="en-US" sz="1200"/>
                        <a:t>営業部：河島部長</a:t>
                      </a:r>
                      <a:endParaRPr kumimoji="1" lang="en-US" altLang="ja-JP" sz="1200"/>
                    </a:p>
                    <a:p>
                      <a:pPr algn="l"/>
                      <a:r>
                        <a:rPr kumimoji="1" lang="ja-JP" altLang="en-US" sz="1200"/>
                        <a:t>　　　　　　小野次長</a:t>
                      </a:r>
                      <a:endParaRPr kumimoji="1" lang="en-US" altLang="ja-JP" sz="1200"/>
                    </a:p>
                    <a:p>
                      <a:pPr algn="l"/>
                      <a:r>
                        <a:rPr kumimoji="1" lang="ja-JP" altLang="en-US" sz="1200"/>
                        <a:t>　　　　　  平野</a:t>
                      </a:r>
                      <a:r>
                        <a:rPr kumimoji="1" lang="en-US" altLang="ja-JP" sz="1200"/>
                        <a:t>G</a:t>
                      </a:r>
                      <a:r>
                        <a:rPr kumimoji="1" lang="ja-JP" altLang="en-US" sz="1200"/>
                        <a:t>長</a:t>
                      </a:r>
                    </a:p>
                  </a:txBody>
                  <a:tcPr anchor="ctr"/>
                </a:tc>
                <a:extLst>
                  <a:ext uri="{0D108BD9-81ED-4DB2-BD59-A6C34878D82A}">
                    <a16:rowId xmlns:a16="http://schemas.microsoft.com/office/drawing/2014/main" val="3482637743"/>
                  </a:ext>
                </a:extLst>
              </a:tr>
            </a:tbl>
          </a:graphicData>
        </a:graphic>
      </p:graphicFrame>
      <p:graphicFrame>
        <p:nvGraphicFramePr>
          <p:cNvPr id="8" name="表 7">
            <a:extLst>
              <a:ext uri="{FF2B5EF4-FFF2-40B4-BE49-F238E27FC236}">
                <a16:creationId xmlns:a16="http://schemas.microsoft.com/office/drawing/2014/main" id="{A5198A2F-465A-4F20-BDC1-3B494EEE2960}"/>
              </a:ext>
            </a:extLst>
          </p:cNvPr>
          <p:cNvGraphicFramePr>
            <a:graphicFrameLocks noGrp="1"/>
          </p:cNvGraphicFramePr>
          <p:nvPr>
            <p:extLst>
              <p:ext uri="{D42A27DB-BD31-4B8C-83A1-F6EECF244321}">
                <p14:modId xmlns:p14="http://schemas.microsoft.com/office/powerpoint/2010/main" val="58769390"/>
              </p:ext>
            </p:extLst>
          </p:nvPr>
        </p:nvGraphicFramePr>
        <p:xfrm>
          <a:off x="3274945" y="1433790"/>
          <a:ext cx="2570964" cy="1218900"/>
        </p:xfrm>
        <a:graphic>
          <a:graphicData uri="http://schemas.openxmlformats.org/drawingml/2006/table">
            <a:tbl>
              <a:tblPr firstRow="1" bandRow="1">
                <a:tableStyleId>{00A15C55-8517-42AA-B614-E9B94910E393}</a:tableStyleId>
              </a:tblPr>
              <a:tblGrid>
                <a:gridCol w="1086040">
                  <a:extLst>
                    <a:ext uri="{9D8B030D-6E8A-4147-A177-3AD203B41FA5}">
                      <a16:colId xmlns:a16="http://schemas.microsoft.com/office/drawing/2014/main" val="1166532944"/>
                    </a:ext>
                  </a:extLst>
                </a:gridCol>
                <a:gridCol w="1484924">
                  <a:extLst>
                    <a:ext uri="{9D8B030D-6E8A-4147-A177-3AD203B41FA5}">
                      <a16:colId xmlns:a16="http://schemas.microsoft.com/office/drawing/2014/main" val="2161415629"/>
                    </a:ext>
                  </a:extLst>
                </a:gridCol>
              </a:tblGrid>
              <a:tr h="276669">
                <a:tc gridSpan="2">
                  <a:txBody>
                    <a:bodyPr/>
                    <a:lstStyle/>
                    <a:p>
                      <a:pPr algn="ctr"/>
                      <a:r>
                        <a:rPr kumimoji="1" lang="ja-JP" altLang="en-US" sz="1200"/>
                        <a:t>業務プロセス改革</a:t>
                      </a:r>
                    </a:p>
                  </a:txBody>
                  <a:tcPr anchor="ctr">
                    <a:lnL w="28575" cap="flat" cmpd="sng" algn="ctr">
                      <a:solidFill>
                        <a:schemeClr val="tx1"/>
                      </a:solidFill>
                      <a:prstDash val="sysDash"/>
                      <a:round/>
                      <a:headEnd type="none" w="med" len="med"/>
                      <a:tailEnd type="none" w="med" len="med"/>
                    </a:lnL>
                    <a:lnR w="28575" cap="flat" cmpd="sng" algn="ctr">
                      <a:solidFill>
                        <a:schemeClr val="tx1"/>
                      </a:solidFill>
                      <a:prstDash val="sysDash"/>
                      <a:round/>
                      <a:headEnd type="none" w="med" len="med"/>
                      <a:tailEnd type="none" w="med" len="med"/>
                    </a:lnR>
                    <a:lnT w="28575" cap="flat" cmpd="sng" algn="ctr">
                      <a:solidFill>
                        <a:schemeClr val="tx1"/>
                      </a:solidFill>
                      <a:prstDash val="sysDash"/>
                      <a:round/>
                      <a:headEnd type="none" w="med" len="med"/>
                      <a:tailEnd type="none" w="med" len="med"/>
                    </a:lnT>
                    <a:solidFill>
                      <a:schemeClr val="accent1">
                        <a:lumMod val="75000"/>
                        <a:lumOff val="25000"/>
                      </a:schemeClr>
                    </a:solidFill>
                  </a:tcPr>
                </a:tc>
                <a:tc hMerge="1">
                  <a:txBody>
                    <a:bodyPr/>
                    <a:lstStyle/>
                    <a:p>
                      <a:pPr algn="ctr"/>
                      <a:r>
                        <a:rPr kumimoji="1" lang="ja-JP" altLang="en-US"/>
                        <a:t>業務プロセス改革事務局</a:t>
                      </a:r>
                    </a:p>
                  </a:txBody>
                  <a:tcPr/>
                </a:tc>
                <a:extLst>
                  <a:ext uri="{0D108BD9-81ED-4DB2-BD59-A6C34878D82A}">
                    <a16:rowId xmlns:a16="http://schemas.microsoft.com/office/drawing/2014/main" val="1133376183"/>
                  </a:ext>
                </a:extLst>
              </a:tr>
              <a:tr h="302151">
                <a:tc>
                  <a:txBody>
                    <a:bodyPr/>
                    <a:lstStyle/>
                    <a:p>
                      <a:pPr algn="ctr"/>
                      <a:r>
                        <a:rPr kumimoji="1" lang="ja-JP" altLang="en-US" sz="1200"/>
                        <a:t>責任者</a:t>
                      </a:r>
                    </a:p>
                  </a:txBody>
                  <a:tcPr anchor="ctr">
                    <a:lnL w="28575" cap="flat" cmpd="sng" algn="ctr">
                      <a:solidFill>
                        <a:schemeClr val="tx1"/>
                      </a:solidFill>
                      <a:prstDash val="sysDash"/>
                      <a:round/>
                      <a:headEnd type="none" w="med" len="med"/>
                      <a:tailEnd type="none" w="med" len="med"/>
                    </a:lnL>
                  </a:tcPr>
                </a:tc>
                <a:tc>
                  <a:txBody>
                    <a:bodyPr/>
                    <a:lstStyle/>
                    <a:p>
                      <a:pPr algn="ctr"/>
                      <a:r>
                        <a:rPr kumimoji="1" lang="ja-JP" altLang="en-US" sz="1200"/>
                        <a:t>事務局</a:t>
                      </a:r>
                    </a:p>
                  </a:txBody>
                  <a:tcPr anchor="ctr">
                    <a:lnR w="28575" cap="flat" cmpd="sng" algn="ctr">
                      <a:solidFill>
                        <a:schemeClr val="tx1"/>
                      </a:solidFill>
                      <a:prstDash val="sysDash"/>
                      <a:round/>
                      <a:headEnd type="none" w="med" len="med"/>
                      <a:tailEnd type="none" w="med" len="med"/>
                    </a:lnR>
                  </a:tcPr>
                </a:tc>
                <a:extLst>
                  <a:ext uri="{0D108BD9-81ED-4DB2-BD59-A6C34878D82A}">
                    <a16:rowId xmlns:a16="http://schemas.microsoft.com/office/drawing/2014/main" val="2125229510"/>
                  </a:ext>
                </a:extLst>
              </a:tr>
              <a:tr h="485918">
                <a:tc>
                  <a:txBody>
                    <a:bodyPr/>
                    <a:lstStyle/>
                    <a:p>
                      <a:pPr algn="ctr"/>
                      <a:r>
                        <a:rPr kumimoji="1" lang="ja-JP" altLang="en-US" sz="1200"/>
                        <a:t>並河</a:t>
                      </a:r>
                      <a:endParaRPr kumimoji="1" lang="en-US" altLang="ja-JP" sz="1200"/>
                    </a:p>
                    <a:p>
                      <a:pPr algn="ctr"/>
                      <a:r>
                        <a:rPr kumimoji="1" lang="ja-JP" altLang="en-US" sz="1200"/>
                        <a:t>副事業部長</a:t>
                      </a:r>
                    </a:p>
                  </a:txBody>
                  <a:tcPr anchor="ctr">
                    <a:lnL w="28575" cap="flat" cmpd="sng" algn="ctr">
                      <a:solidFill>
                        <a:schemeClr val="tx1"/>
                      </a:solidFill>
                      <a:prstDash val="sysDash"/>
                      <a:round/>
                      <a:headEnd type="none" w="med" len="med"/>
                      <a:tailEnd type="none" w="med" len="med"/>
                    </a:lnL>
                    <a:lnB w="28575" cap="flat" cmpd="sng" algn="ctr">
                      <a:solidFill>
                        <a:schemeClr val="tx1"/>
                      </a:solidFill>
                      <a:prstDash val="sysDash"/>
                      <a:round/>
                      <a:headEnd type="none" w="med" len="med"/>
                      <a:tailEnd type="none" w="med" len="med"/>
                    </a:lnB>
                  </a:tcPr>
                </a:tc>
                <a:tc>
                  <a:txBody>
                    <a:bodyPr/>
                    <a:lstStyle/>
                    <a:p>
                      <a:pPr algn="l"/>
                      <a:r>
                        <a:rPr kumimoji="1" lang="ja-JP" altLang="en-US" sz="1200"/>
                        <a:t>事業戦：磯崎部長</a:t>
                      </a:r>
                      <a:endParaRPr kumimoji="1" lang="en-US" altLang="ja-JP" sz="1200"/>
                    </a:p>
                    <a:p>
                      <a:pPr algn="l"/>
                      <a:r>
                        <a:rPr kumimoji="1" lang="ja-JP" altLang="en-US" sz="1200"/>
                        <a:t>　　　　　　園田次長</a:t>
                      </a:r>
                      <a:endParaRPr kumimoji="1" lang="en-US" altLang="ja-JP" sz="1200"/>
                    </a:p>
                    <a:p>
                      <a:pPr algn="l"/>
                      <a:r>
                        <a:rPr kumimoji="1" lang="ja-JP" altLang="en-US" sz="1200"/>
                        <a:t>　　　　　　山内主席</a:t>
                      </a:r>
                    </a:p>
                  </a:txBody>
                  <a:tcPr anchor="ctr">
                    <a:lnR w="28575" cap="flat" cmpd="sng" algn="ctr">
                      <a:solidFill>
                        <a:schemeClr val="tx1"/>
                      </a:solidFill>
                      <a:prstDash val="sysDash"/>
                      <a:round/>
                      <a:headEnd type="none" w="med" len="med"/>
                      <a:tailEnd type="none" w="med" len="med"/>
                    </a:lnR>
                    <a:lnB w="28575"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482637743"/>
                  </a:ext>
                </a:extLst>
              </a:tr>
            </a:tbl>
          </a:graphicData>
        </a:graphic>
      </p:graphicFrame>
      <p:graphicFrame>
        <p:nvGraphicFramePr>
          <p:cNvPr id="11" name="表 11">
            <a:extLst>
              <a:ext uri="{FF2B5EF4-FFF2-40B4-BE49-F238E27FC236}">
                <a16:creationId xmlns:a16="http://schemas.microsoft.com/office/drawing/2014/main" id="{858AF710-417D-4BE5-9A59-7EEDEA5399D2}"/>
              </a:ext>
            </a:extLst>
          </p:cNvPr>
          <p:cNvGraphicFramePr>
            <a:graphicFrameLocks noGrp="1"/>
          </p:cNvGraphicFramePr>
          <p:nvPr>
            <p:extLst>
              <p:ext uri="{D42A27DB-BD31-4B8C-83A1-F6EECF244321}">
                <p14:modId xmlns:p14="http://schemas.microsoft.com/office/powerpoint/2010/main" val="1977242154"/>
              </p:ext>
            </p:extLst>
          </p:nvPr>
        </p:nvGraphicFramePr>
        <p:xfrm>
          <a:off x="201859" y="2787588"/>
          <a:ext cx="8534402" cy="1500084"/>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175963055"/>
                    </a:ext>
                  </a:extLst>
                </a:gridCol>
                <a:gridCol w="1066800">
                  <a:extLst>
                    <a:ext uri="{9D8B030D-6E8A-4147-A177-3AD203B41FA5}">
                      <a16:colId xmlns:a16="http://schemas.microsoft.com/office/drawing/2014/main" val="2312073628"/>
                    </a:ext>
                  </a:extLst>
                </a:gridCol>
                <a:gridCol w="1066800">
                  <a:extLst>
                    <a:ext uri="{9D8B030D-6E8A-4147-A177-3AD203B41FA5}">
                      <a16:colId xmlns:a16="http://schemas.microsoft.com/office/drawing/2014/main" val="1931767733"/>
                    </a:ext>
                  </a:extLst>
                </a:gridCol>
                <a:gridCol w="1066801">
                  <a:extLst>
                    <a:ext uri="{9D8B030D-6E8A-4147-A177-3AD203B41FA5}">
                      <a16:colId xmlns:a16="http://schemas.microsoft.com/office/drawing/2014/main" val="2519924718"/>
                    </a:ext>
                  </a:extLst>
                </a:gridCol>
                <a:gridCol w="1066801">
                  <a:extLst>
                    <a:ext uri="{9D8B030D-6E8A-4147-A177-3AD203B41FA5}">
                      <a16:colId xmlns:a16="http://schemas.microsoft.com/office/drawing/2014/main" val="2518340633"/>
                    </a:ext>
                  </a:extLst>
                </a:gridCol>
                <a:gridCol w="1066800">
                  <a:extLst>
                    <a:ext uri="{9D8B030D-6E8A-4147-A177-3AD203B41FA5}">
                      <a16:colId xmlns:a16="http://schemas.microsoft.com/office/drawing/2014/main" val="684578688"/>
                    </a:ext>
                  </a:extLst>
                </a:gridCol>
                <a:gridCol w="1066800">
                  <a:extLst>
                    <a:ext uri="{9D8B030D-6E8A-4147-A177-3AD203B41FA5}">
                      <a16:colId xmlns:a16="http://schemas.microsoft.com/office/drawing/2014/main" val="2738256750"/>
                    </a:ext>
                  </a:extLst>
                </a:gridCol>
                <a:gridCol w="1066800">
                  <a:extLst>
                    <a:ext uri="{9D8B030D-6E8A-4147-A177-3AD203B41FA5}">
                      <a16:colId xmlns:a16="http://schemas.microsoft.com/office/drawing/2014/main" val="1413586835"/>
                    </a:ext>
                  </a:extLst>
                </a:gridCol>
              </a:tblGrid>
              <a:tr h="266488">
                <a:tc gridSpan="8">
                  <a:txBody>
                    <a:bodyPr/>
                    <a:lstStyle/>
                    <a:p>
                      <a:pPr algn="ctr"/>
                      <a:r>
                        <a:rPr kumimoji="1" lang="ja-JP" altLang="en-US"/>
                        <a:t>各部遂行体制</a:t>
                      </a:r>
                    </a:p>
                  </a:txBody>
                  <a:tcPr anchor="ctr"/>
                </a:tc>
                <a:tc hMerge="1">
                  <a:txBody>
                    <a:bodyPr/>
                    <a:lstStyle/>
                    <a:p>
                      <a:pPr algn="ctr"/>
                      <a:endParaRPr kumimoji="1" lang="ja-JP" altLang="en-US"/>
                    </a:p>
                  </a:txBody>
                  <a:tcPr anchor="ctr"/>
                </a:tc>
                <a:tc hMerge="1">
                  <a:txBody>
                    <a:bodyPr/>
                    <a:lstStyle/>
                    <a:p>
                      <a:pPr algn="ctr"/>
                      <a:endParaRPr kumimoji="1" lang="ja-JP" altLang="en-US"/>
                    </a:p>
                  </a:txBody>
                  <a:tcPr anchor="ctr"/>
                </a:tc>
                <a:tc hMerge="1">
                  <a:txBody>
                    <a:bodyPr/>
                    <a:lstStyle/>
                    <a:p>
                      <a:pPr algn="ctr"/>
                      <a:endParaRPr kumimoji="1" lang="ja-JP" altLang="en-US"/>
                    </a:p>
                  </a:txBody>
                  <a:tcPr anchor="ctr"/>
                </a:tc>
                <a:tc hMerge="1">
                  <a:txBody>
                    <a:bodyPr/>
                    <a:lstStyle/>
                    <a:p>
                      <a:pPr algn="ctr"/>
                      <a:endParaRPr kumimoji="1" lang="ja-JP" altLang="en-US"/>
                    </a:p>
                  </a:txBody>
                  <a:tcPr anchor="ctr"/>
                </a:tc>
                <a:tc hMerge="1">
                  <a:txBody>
                    <a:bodyPr/>
                    <a:lstStyle/>
                    <a:p>
                      <a:pPr algn="ctr"/>
                      <a:endParaRPr kumimoji="1" lang="ja-JP" altLang="en-US"/>
                    </a:p>
                  </a:txBody>
                  <a:tcPr anchor="ctr"/>
                </a:tc>
                <a:tc hMerge="1">
                  <a:txBody>
                    <a:bodyPr/>
                    <a:lstStyle/>
                    <a:p>
                      <a:pPr algn="ctr"/>
                      <a:endParaRPr kumimoji="1" lang="ja-JP" altLang="en-US"/>
                    </a:p>
                  </a:txBody>
                  <a:tcPr anchor="ctr"/>
                </a:tc>
                <a:tc hMerge="1">
                  <a:txBody>
                    <a:bodyPr/>
                    <a:lstStyle/>
                    <a:p>
                      <a:pPr algn="ctr"/>
                      <a:endParaRPr kumimoji="1" lang="ja-JP" altLang="en-US"/>
                    </a:p>
                  </a:txBody>
                  <a:tcPr anchor="ctr"/>
                </a:tc>
                <a:extLst>
                  <a:ext uri="{0D108BD9-81ED-4DB2-BD59-A6C34878D82A}">
                    <a16:rowId xmlns:a16="http://schemas.microsoft.com/office/drawing/2014/main" val="1901531935"/>
                  </a:ext>
                </a:extLst>
              </a:tr>
              <a:tr h="341991">
                <a:tc>
                  <a:txBody>
                    <a:bodyPr/>
                    <a:lstStyle/>
                    <a:p>
                      <a:pPr algn="ctr"/>
                      <a:r>
                        <a:rPr kumimoji="1" lang="ja-JP" altLang="en-US"/>
                        <a:t>長品証</a:t>
                      </a:r>
                    </a:p>
                  </a:txBody>
                  <a:tcPr anchor="ctr"/>
                </a:tc>
                <a:tc>
                  <a:txBody>
                    <a:bodyPr/>
                    <a:lstStyle/>
                    <a:p>
                      <a:pPr algn="ctr"/>
                      <a:r>
                        <a:rPr kumimoji="1" lang="ja-JP" altLang="en-US"/>
                        <a:t>長調達</a:t>
                      </a:r>
                    </a:p>
                  </a:txBody>
                  <a:tcPr anchor="ctr"/>
                </a:tc>
                <a:tc>
                  <a:txBody>
                    <a:bodyPr/>
                    <a:lstStyle/>
                    <a:p>
                      <a:pPr algn="ctr"/>
                      <a:r>
                        <a:rPr kumimoji="1" lang="ja-JP" altLang="en-US"/>
                        <a:t>営業部</a:t>
                      </a:r>
                    </a:p>
                  </a:txBody>
                  <a:tcPr anchor="ctr"/>
                </a:tc>
                <a:tc>
                  <a:txBody>
                    <a:bodyPr/>
                    <a:lstStyle/>
                    <a:p>
                      <a:pPr algn="ctr"/>
                      <a:r>
                        <a:rPr kumimoji="1" lang="ja-JP" altLang="en-US"/>
                        <a:t>計画部</a:t>
                      </a:r>
                    </a:p>
                  </a:txBody>
                  <a:tcPr anchor="ctr"/>
                </a:tc>
                <a:tc>
                  <a:txBody>
                    <a:bodyPr/>
                    <a:lstStyle/>
                    <a:p>
                      <a:pPr algn="ctr"/>
                      <a:r>
                        <a:rPr kumimoji="1" lang="ja-JP" altLang="en-US"/>
                        <a:t>プ推部</a:t>
                      </a:r>
                    </a:p>
                  </a:txBody>
                  <a:tcPr anchor="ctr"/>
                </a:tc>
                <a:tc>
                  <a:txBody>
                    <a:bodyPr/>
                    <a:lstStyle/>
                    <a:p>
                      <a:pPr algn="ctr"/>
                      <a:r>
                        <a:rPr kumimoji="1" lang="ja-JP" altLang="en-US"/>
                        <a:t>技術部</a:t>
                      </a:r>
                    </a:p>
                  </a:txBody>
                  <a:tcPr anchor="ctr"/>
                </a:tc>
                <a:tc>
                  <a:txBody>
                    <a:bodyPr/>
                    <a:lstStyle/>
                    <a:p>
                      <a:pPr algn="ctr"/>
                      <a:r>
                        <a:rPr kumimoji="1" lang="ja-JP" altLang="en-US"/>
                        <a:t>製造部</a:t>
                      </a:r>
                    </a:p>
                  </a:txBody>
                  <a:tcPr anchor="ctr"/>
                </a:tc>
                <a:tc>
                  <a:txBody>
                    <a:bodyPr/>
                    <a:lstStyle/>
                    <a:p>
                      <a:pPr algn="ctr"/>
                      <a:r>
                        <a:rPr kumimoji="1" lang="ja-JP" altLang="en-US"/>
                        <a:t>建設部</a:t>
                      </a:r>
                    </a:p>
                  </a:txBody>
                  <a:tcPr anchor="ctr"/>
                </a:tc>
                <a:extLst>
                  <a:ext uri="{0D108BD9-81ED-4DB2-BD59-A6C34878D82A}">
                    <a16:rowId xmlns:a16="http://schemas.microsoft.com/office/drawing/2014/main" val="2116192126"/>
                  </a:ext>
                </a:extLst>
              </a:tr>
              <a:tr h="341991">
                <a:tc>
                  <a:txBody>
                    <a:bodyPr/>
                    <a:lstStyle/>
                    <a:p>
                      <a:pPr algn="ctr"/>
                      <a:r>
                        <a:rPr kumimoji="1" lang="ja-JP" altLang="en-US"/>
                        <a:t>森永部長</a:t>
                      </a:r>
                    </a:p>
                  </a:txBody>
                  <a:tcPr anchor="ctr"/>
                </a:tc>
                <a:tc>
                  <a:txBody>
                    <a:bodyPr/>
                    <a:lstStyle/>
                    <a:p>
                      <a:pPr algn="ctr"/>
                      <a:r>
                        <a:rPr kumimoji="1" lang="ja-JP" altLang="en-US"/>
                        <a:t>常吉部長</a:t>
                      </a:r>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河島部長</a:t>
                      </a:r>
                      <a:endParaRPr kumimoji="1" lang="ja-JP" altLang="en-US"/>
                    </a:p>
                  </a:txBody>
                  <a:tcPr anchor="ctr"/>
                </a:tc>
                <a:tc>
                  <a:txBody>
                    <a:bodyPr/>
                    <a:lstStyle/>
                    <a:p>
                      <a:pPr algn="ctr"/>
                      <a:r>
                        <a:rPr kumimoji="1" lang="ja-JP" altLang="en-US" sz="1385" b="0" i="0" u="none" strike="noStrike" kern="1200" cap="none" spc="0" normalizeH="0" baseline="0" noProof="0">
                          <a:ln>
                            <a:noFill/>
                          </a:ln>
                          <a:solidFill>
                            <a:schemeClr val="tx1"/>
                          </a:solidFill>
                          <a:effectLst/>
                          <a:uLnTx/>
                          <a:uFillTx/>
                          <a:latin typeface="Meiryo UI"/>
                          <a:ea typeface="Meiryo UI"/>
                          <a:cs typeface="+mn-cs"/>
                        </a:rPr>
                        <a:t>石井部長</a:t>
                      </a:r>
                      <a:endParaRPr kumimoji="1" lang="ja-JP" altLang="en-US">
                        <a:solidFill>
                          <a:schemeClr val="tx1"/>
                        </a:solidFill>
                      </a:endParaRPr>
                    </a:p>
                  </a:txBody>
                  <a:tcPr anchor="ctr"/>
                </a:tc>
                <a:tc>
                  <a:txBody>
                    <a:bodyPr/>
                    <a:lstStyle/>
                    <a:p>
                      <a:pPr algn="ctr"/>
                      <a:r>
                        <a:rPr kumimoji="1" lang="ja-JP" altLang="en-US" sz="1385" b="0" i="0" u="none" strike="noStrike" kern="1200" cap="none" spc="0" normalizeH="0" baseline="0" noProof="0">
                          <a:ln>
                            <a:noFill/>
                          </a:ln>
                          <a:solidFill>
                            <a:schemeClr val="tx1"/>
                          </a:solidFill>
                          <a:effectLst/>
                          <a:uLnTx/>
                          <a:uFillTx/>
                          <a:latin typeface="Meiryo UI"/>
                          <a:ea typeface="Meiryo UI"/>
                          <a:cs typeface="+mn-cs"/>
                        </a:rPr>
                        <a:t>真鍋部長</a:t>
                      </a:r>
                      <a:endParaRPr kumimoji="1" lang="ja-JP" altLang="en-US">
                        <a:solidFill>
                          <a:schemeClr val="tx1"/>
                        </a:solidFill>
                      </a:endParaRPr>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石原部長</a:t>
                      </a:r>
                      <a:endParaRPr kumimoji="1" lang="ja-JP" altLang="en-US"/>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鶴崎部長</a:t>
                      </a:r>
                      <a:endParaRPr kumimoji="1" lang="ja-JP" altLang="en-US"/>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酒井部長</a:t>
                      </a:r>
                      <a:endParaRPr kumimoji="1" lang="ja-JP" altLang="en-US"/>
                    </a:p>
                  </a:txBody>
                  <a:tcPr anchor="ctr"/>
                </a:tc>
                <a:extLst>
                  <a:ext uri="{0D108BD9-81ED-4DB2-BD59-A6C34878D82A}">
                    <a16:rowId xmlns:a16="http://schemas.microsoft.com/office/drawing/2014/main" val="3498220876"/>
                  </a:ext>
                </a:extLst>
              </a:tr>
              <a:tr h="341991">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岡本主席</a:t>
                      </a:r>
                      <a:endParaRPr kumimoji="1" lang="ja-JP" altLang="en-US"/>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有田次長</a:t>
                      </a:r>
                      <a:endParaRPr kumimoji="1" lang="ja-JP" altLang="en-US"/>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小寺主席</a:t>
                      </a:r>
                      <a:endParaRPr kumimoji="1" lang="ja-JP" altLang="en-US"/>
                    </a:p>
                  </a:txBody>
                  <a:tcPr anchor="ctr"/>
                </a:tc>
                <a:tc>
                  <a:txBody>
                    <a:bodyPr/>
                    <a:lstStyle/>
                    <a:p>
                      <a:pPr algn="ctr"/>
                      <a:r>
                        <a:rPr kumimoji="1" lang="ja-JP" altLang="en-US">
                          <a:solidFill>
                            <a:schemeClr val="tx1"/>
                          </a:solidFill>
                        </a:rPr>
                        <a:t>金山次長</a:t>
                      </a:r>
                    </a:p>
                  </a:txBody>
                  <a:tcPr anchor="ctr"/>
                </a:tc>
                <a:tc>
                  <a:txBody>
                    <a:bodyPr/>
                    <a:lstStyle/>
                    <a:p>
                      <a:pPr algn="ctr"/>
                      <a:r>
                        <a:rPr kumimoji="1" lang="ja-JP" altLang="en-US" sz="1385" b="0" i="0" u="none" strike="noStrike" kern="1200" cap="none" spc="0" normalizeH="0" baseline="0" noProof="0">
                          <a:ln>
                            <a:noFill/>
                          </a:ln>
                          <a:solidFill>
                            <a:schemeClr val="tx1"/>
                          </a:solidFill>
                          <a:effectLst/>
                          <a:uLnTx/>
                          <a:uFillTx/>
                          <a:latin typeface="Meiryo UI"/>
                          <a:ea typeface="Meiryo UI"/>
                          <a:cs typeface="+mn-cs"/>
                        </a:rPr>
                        <a:t>道岡次長</a:t>
                      </a:r>
                      <a:endParaRPr kumimoji="1" lang="ja-JP" altLang="en-US">
                        <a:solidFill>
                          <a:schemeClr val="tx1"/>
                        </a:solidFill>
                      </a:endParaRPr>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三城次長</a:t>
                      </a:r>
                      <a:endParaRPr kumimoji="1" lang="en-US" altLang="ja-JP" sz="1385" b="0" i="0" u="none" strike="noStrike" kern="1200" cap="none" spc="0" normalizeH="0" baseline="0" noProof="0">
                        <a:ln>
                          <a:noFill/>
                        </a:ln>
                        <a:solidFill>
                          <a:prstClr val="black"/>
                        </a:solidFill>
                        <a:effectLst/>
                        <a:uLnTx/>
                        <a:uFillTx/>
                        <a:latin typeface="Meiryo UI"/>
                        <a:ea typeface="Meiryo UI"/>
                        <a:cs typeface="+mn-cs"/>
                      </a:endParaRPr>
                    </a:p>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岩元次長</a:t>
                      </a:r>
                      <a:endParaRPr kumimoji="1" lang="ja-JP" altLang="en-US"/>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川口主幹</a:t>
                      </a:r>
                      <a:endParaRPr kumimoji="1" lang="ja-JP" altLang="en-US"/>
                    </a:p>
                  </a:txBody>
                  <a:tcPr anchor="ctr"/>
                </a:tc>
                <a:tc>
                  <a:txBody>
                    <a:bodyPr/>
                    <a:lstStyle/>
                    <a:p>
                      <a:pPr algn="ctr"/>
                      <a:r>
                        <a:rPr kumimoji="1" lang="ja-JP" altLang="en-US" sz="1385" b="0" i="0" u="none" strike="noStrike" kern="1200" cap="none" spc="0" normalizeH="0" baseline="0" noProof="0">
                          <a:ln>
                            <a:noFill/>
                          </a:ln>
                          <a:solidFill>
                            <a:prstClr val="black"/>
                          </a:solidFill>
                          <a:effectLst/>
                          <a:uLnTx/>
                          <a:uFillTx/>
                          <a:latin typeface="Meiryo UI"/>
                          <a:ea typeface="Meiryo UI"/>
                          <a:cs typeface="+mn-cs"/>
                        </a:rPr>
                        <a:t>川津次長</a:t>
                      </a:r>
                      <a:endParaRPr kumimoji="1" lang="ja-JP" altLang="en-US"/>
                    </a:p>
                  </a:txBody>
                  <a:tcPr anchor="ctr"/>
                </a:tc>
                <a:extLst>
                  <a:ext uri="{0D108BD9-81ED-4DB2-BD59-A6C34878D82A}">
                    <a16:rowId xmlns:a16="http://schemas.microsoft.com/office/drawing/2014/main" val="299180727"/>
                  </a:ext>
                </a:extLst>
              </a:tr>
            </a:tbl>
          </a:graphicData>
        </a:graphic>
      </p:graphicFrame>
      <p:sp>
        <p:nvSpPr>
          <p:cNvPr id="12" name="矢印: 左右 11">
            <a:extLst>
              <a:ext uri="{FF2B5EF4-FFF2-40B4-BE49-F238E27FC236}">
                <a16:creationId xmlns:a16="http://schemas.microsoft.com/office/drawing/2014/main" id="{72AB4F5B-18B7-4CEC-A6A1-E95F5BE6D34A}"/>
              </a:ext>
            </a:extLst>
          </p:cNvPr>
          <p:cNvSpPr/>
          <p:nvPr/>
        </p:nvSpPr>
        <p:spPr>
          <a:xfrm>
            <a:off x="2573367" y="1791662"/>
            <a:ext cx="751916" cy="515336"/>
          </a:xfrm>
          <a:prstGeom prst="leftRightArrow">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連携</a:t>
            </a:r>
          </a:p>
        </p:txBody>
      </p:sp>
      <p:graphicFrame>
        <p:nvGraphicFramePr>
          <p:cNvPr id="9" name="表 7">
            <a:extLst>
              <a:ext uri="{FF2B5EF4-FFF2-40B4-BE49-F238E27FC236}">
                <a16:creationId xmlns:a16="http://schemas.microsoft.com/office/drawing/2014/main" id="{2261EE7E-4554-4E9B-BBCF-F85203EB94F0}"/>
              </a:ext>
            </a:extLst>
          </p:cNvPr>
          <p:cNvGraphicFramePr>
            <a:graphicFrameLocks noGrp="1"/>
          </p:cNvGraphicFramePr>
          <p:nvPr>
            <p:extLst>
              <p:ext uri="{D42A27DB-BD31-4B8C-83A1-F6EECF244321}">
                <p14:modId xmlns:p14="http://schemas.microsoft.com/office/powerpoint/2010/main" val="672093196"/>
              </p:ext>
            </p:extLst>
          </p:nvPr>
        </p:nvGraphicFramePr>
        <p:xfrm>
          <a:off x="6497150" y="1430923"/>
          <a:ext cx="2570964" cy="1244992"/>
        </p:xfrm>
        <a:graphic>
          <a:graphicData uri="http://schemas.openxmlformats.org/drawingml/2006/table">
            <a:tbl>
              <a:tblPr firstRow="1" bandRow="1">
                <a:tableStyleId>{5C22544A-7EE6-4342-B048-85BDC9FD1C3A}</a:tableStyleId>
              </a:tblPr>
              <a:tblGrid>
                <a:gridCol w="1110555">
                  <a:extLst>
                    <a:ext uri="{9D8B030D-6E8A-4147-A177-3AD203B41FA5}">
                      <a16:colId xmlns:a16="http://schemas.microsoft.com/office/drawing/2014/main" val="2161415629"/>
                    </a:ext>
                  </a:extLst>
                </a:gridCol>
                <a:gridCol w="1460409">
                  <a:extLst>
                    <a:ext uri="{9D8B030D-6E8A-4147-A177-3AD203B41FA5}">
                      <a16:colId xmlns:a16="http://schemas.microsoft.com/office/drawing/2014/main" val="68443970"/>
                    </a:ext>
                  </a:extLst>
                </a:gridCol>
              </a:tblGrid>
              <a:tr h="302456">
                <a:tc gridSpan="2">
                  <a:txBody>
                    <a:bodyPr/>
                    <a:lstStyle/>
                    <a:p>
                      <a:pPr algn="ctr"/>
                      <a:r>
                        <a:rPr kumimoji="1" lang="en-US" altLang="ja-JP" sz="1200"/>
                        <a:t>SPMI</a:t>
                      </a:r>
                      <a:r>
                        <a:rPr kumimoji="1" lang="ja-JP" altLang="en-US" sz="1200"/>
                        <a:t>人員対策協議会</a:t>
                      </a:r>
                    </a:p>
                  </a:txBody>
                  <a:tcPr anchor="ctr"/>
                </a:tc>
                <a:tc hMerge="1">
                  <a:txBody>
                    <a:bodyPr/>
                    <a:lstStyle/>
                    <a:p>
                      <a:pPr algn="ctr"/>
                      <a:endParaRPr kumimoji="1" lang="ja-JP" altLang="en-US"/>
                    </a:p>
                  </a:txBody>
                  <a:tcPr/>
                </a:tc>
                <a:extLst>
                  <a:ext uri="{0D108BD9-81ED-4DB2-BD59-A6C34878D82A}">
                    <a16:rowId xmlns:a16="http://schemas.microsoft.com/office/drawing/2014/main" val="1133376183"/>
                  </a:ext>
                </a:extLst>
              </a:tr>
              <a:tr h="302456">
                <a:tc>
                  <a:txBody>
                    <a:bodyPr/>
                    <a:lstStyle/>
                    <a:p>
                      <a:pPr algn="ctr"/>
                      <a:r>
                        <a:rPr kumimoji="1" lang="ja-JP" altLang="en-US" sz="1200"/>
                        <a:t>責任者</a:t>
                      </a:r>
                    </a:p>
                  </a:txBody>
                  <a:tcPr anchor="ctr"/>
                </a:tc>
                <a:tc>
                  <a:txBody>
                    <a:bodyPr/>
                    <a:lstStyle/>
                    <a:p>
                      <a:pPr algn="ctr"/>
                      <a:r>
                        <a:rPr kumimoji="1" lang="ja-JP" altLang="en-US" sz="1200"/>
                        <a:t>事務局</a:t>
                      </a:r>
                    </a:p>
                  </a:txBody>
                  <a:tcPr anchor="ctr"/>
                </a:tc>
                <a:extLst>
                  <a:ext uri="{0D108BD9-81ED-4DB2-BD59-A6C34878D82A}">
                    <a16:rowId xmlns:a16="http://schemas.microsoft.com/office/drawing/2014/main" val="4184990949"/>
                  </a:ext>
                </a:extLst>
              </a:tr>
              <a:tr h="601683">
                <a:tc>
                  <a:txBody>
                    <a:bodyPr/>
                    <a:lstStyle/>
                    <a:p>
                      <a:pPr algn="ctr"/>
                      <a:r>
                        <a:rPr kumimoji="1" lang="ja-JP" altLang="en-US" sz="1200"/>
                        <a:t>小西</a:t>
                      </a:r>
                      <a:endParaRPr kumimoji="1" lang="en-US" altLang="ja-JP" sz="1200"/>
                    </a:p>
                    <a:p>
                      <a:pPr algn="ctr"/>
                      <a:r>
                        <a:rPr kumimoji="1" lang="ja-JP" altLang="en-US" sz="1200"/>
                        <a:t>事業部長代理</a:t>
                      </a:r>
                      <a:endParaRPr kumimoji="1" lang="en-US" altLang="ja-JP" sz="1200"/>
                    </a:p>
                  </a:txBody>
                  <a:tcPr anchor="ctr"/>
                </a:tc>
                <a:tc>
                  <a:txBody>
                    <a:bodyPr/>
                    <a:lstStyle/>
                    <a:p>
                      <a:pPr algn="l"/>
                      <a:r>
                        <a:rPr kumimoji="1" lang="ja-JP" altLang="en-US" sz="1200"/>
                        <a:t>事業戦：磯崎部長　</a:t>
                      </a:r>
                      <a:endParaRPr kumimoji="1" lang="en-US" altLang="ja-JP" sz="1200"/>
                    </a:p>
                    <a:p>
                      <a:pPr algn="l"/>
                      <a:r>
                        <a:rPr kumimoji="1" lang="ja-JP" altLang="en-US" sz="1200"/>
                        <a:t>　　　　　　園田次長</a:t>
                      </a:r>
                      <a:endParaRPr kumimoji="1" lang="en-US" altLang="ja-JP" sz="1200"/>
                    </a:p>
                    <a:p>
                      <a:pPr algn="l"/>
                      <a:r>
                        <a:rPr kumimoji="1" lang="ja-JP" altLang="en-US" sz="1200"/>
                        <a:t>　　　　　  清田主任</a:t>
                      </a:r>
                    </a:p>
                  </a:txBody>
                  <a:tcPr anchor="ctr"/>
                </a:tc>
                <a:extLst>
                  <a:ext uri="{0D108BD9-81ED-4DB2-BD59-A6C34878D82A}">
                    <a16:rowId xmlns:a16="http://schemas.microsoft.com/office/drawing/2014/main" val="3482637743"/>
                  </a:ext>
                </a:extLst>
              </a:tr>
            </a:tbl>
          </a:graphicData>
        </a:graphic>
      </p:graphicFrame>
      <p:sp>
        <p:nvSpPr>
          <p:cNvPr id="10" name="矢印: 左右 9">
            <a:extLst>
              <a:ext uri="{FF2B5EF4-FFF2-40B4-BE49-F238E27FC236}">
                <a16:creationId xmlns:a16="http://schemas.microsoft.com/office/drawing/2014/main" id="{EF8B84DA-0EF2-45CB-BF2E-1A04553E0159}"/>
              </a:ext>
            </a:extLst>
          </p:cNvPr>
          <p:cNvSpPr/>
          <p:nvPr/>
        </p:nvSpPr>
        <p:spPr>
          <a:xfrm>
            <a:off x="5795108" y="1774289"/>
            <a:ext cx="752844" cy="515336"/>
          </a:xfrm>
          <a:prstGeom prst="leftRightArrow">
            <a:avLst/>
          </a:pr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連携</a:t>
            </a:r>
          </a:p>
        </p:txBody>
      </p:sp>
      <p:graphicFrame>
        <p:nvGraphicFramePr>
          <p:cNvPr id="13" name="表 6">
            <a:extLst>
              <a:ext uri="{FF2B5EF4-FFF2-40B4-BE49-F238E27FC236}">
                <a16:creationId xmlns:a16="http://schemas.microsoft.com/office/drawing/2014/main" id="{7B1981F5-0E9C-42C8-8D42-6BE0CBD48214}"/>
              </a:ext>
            </a:extLst>
          </p:cNvPr>
          <p:cNvGraphicFramePr>
            <a:graphicFrameLocks noGrp="1"/>
          </p:cNvGraphicFramePr>
          <p:nvPr/>
        </p:nvGraphicFramePr>
        <p:xfrm>
          <a:off x="2946826" y="4349894"/>
          <a:ext cx="3601128" cy="1958224"/>
        </p:xfrm>
        <a:graphic>
          <a:graphicData uri="http://schemas.openxmlformats.org/drawingml/2006/table">
            <a:tbl>
              <a:tblPr firstRow="1" bandRow="1">
                <a:tableStyleId>{69012ECD-51FC-41F1-AA8D-1B2483CD663E}</a:tableStyleId>
              </a:tblPr>
              <a:tblGrid>
                <a:gridCol w="501051">
                  <a:extLst>
                    <a:ext uri="{9D8B030D-6E8A-4147-A177-3AD203B41FA5}">
                      <a16:colId xmlns:a16="http://schemas.microsoft.com/office/drawing/2014/main" val="181185088"/>
                    </a:ext>
                  </a:extLst>
                </a:gridCol>
                <a:gridCol w="3100077">
                  <a:extLst>
                    <a:ext uri="{9D8B030D-6E8A-4147-A177-3AD203B41FA5}">
                      <a16:colId xmlns:a16="http://schemas.microsoft.com/office/drawing/2014/main" val="1872250611"/>
                    </a:ext>
                  </a:extLst>
                </a:gridCol>
              </a:tblGrid>
              <a:tr h="307040">
                <a:tc gridSpan="2">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prstClr val="white"/>
                          </a:solidFill>
                          <a:effectLst/>
                          <a:uLnTx/>
                          <a:uFillTx/>
                          <a:latin typeface="+mn-lt"/>
                          <a:ea typeface="+mn-ea"/>
                          <a:cs typeface="+mn-cs"/>
                        </a:rPr>
                        <a:t>業務プロセスに関連する課題・施策</a:t>
                      </a:r>
                      <a:endParaRPr kumimoji="1" lang="ja-JP" altLang="en-US" sz="1400"/>
                    </a:p>
                  </a:txBody>
                  <a:tcPr anchor="ctr">
                    <a:lnR w="12700" cap="flat" cmpd="sng" algn="ctr">
                      <a:solidFill>
                        <a:schemeClr val="tx1"/>
                      </a:solidFill>
                      <a:prstDash val="solid"/>
                      <a:round/>
                      <a:headEnd type="none" w="med" len="med"/>
                      <a:tailEnd type="none" w="med" len="med"/>
                    </a:lnR>
                    <a:solidFill>
                      <a:schemeClr val="accent1">
                        <a:lumMod val="75000"/>
                        <a:lumOff val="25000"/>
                      </a:schemeClr>
                    </a:solidFill>
                  </a:tcPr>
                </a:tc>
                <a:tc hMerge="1">
                  <a:txBody>
                    <a:bodyPr/>
                    <a:lstStyle/>
                    <a:p>
                      <a:pPr algn="ctr"/>
                      <a:endParaRPr kumimoji="1" lang="ja-JP"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4683476"/>
                  </a:ext>
                </a:extLst>
              </a:tr>
              <a:tr h="298496">
                <a:tc>
                  <a:txBody>
                    <a:bodyPr/>
                    <a:lstStyle/>
                    <a:p>
                      <a:pPr algn="ctr"/>
                      <a:r>
                        <a:rPr kumimoji="1" lang="ja-JP" altLang="en-US" sz="1200"/>
                        <a:t>①</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t>業務の幅拡大</a:t>
                      </a:r>
                      <a:r>
                        <a:rPr kumimoji="1" lang="en-US" altLang="ja-JP" sz="1200"/>
                        <a:t>(</a:t>
                      </a:r>
                      <a:r>
                        <a:rPr kumimoji="1" lang="ja-JP" altLang="en-US" sz="1200"/>
                        <a:t>多能工化</a:t>
                      </a:r>
                      <a:r>
                        <a:rPr kumimoji="1" lang="en-US" altLang="ja-JP" sz="1200"/>
                        <a:t>)</a:t>
                      </a:r>
                      <a:r>
                        <a:rPr kumimoji="1" lang="ja-JP" altLang="en-US" sz="1200"/>
                        <a:t>の検討・推進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3322783"/>
                  </a:ext>
                </a:extLst>
              </a:tr>
              <a:tr h="298496">
                <a:tc>
                  <a:txBody>
                    <a:bodyPr/>
                    <a:lstStyle/>
                    <a:p>
                      <a:pPr algn="ctr"/>
                      <a:r>
                        <a:rPr kumimoji="1" lang="ja-JP" altLang="en-US" sz="1200"/>
                        <a:t>②</a:t>
                      </a:r>
                    </a:p>
                  </a:txBody>
                  <a:tcPr anchor="ctr">
                    <a:lnR w="12700" cap="flat" cmpd="sng" algn="ctr">
                      <a:solidFill>
                        <a:schemeClr val="tx1"/>
                      </a:solidFill>
                      <a:prstDash val="solid"/>
                      <a:round/>
                      <a:headEnd type="none" w="med" len="med"/>
                      <a:tailEnd type="none" w="med" len="med"/>
                    </a:lnR>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200"/>
                        <a:t>会議・改善活動の集約・効率化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45588422"/>
                  </a:ext>
                </a:extLst>
              </a:tr>
              <a:tr h="298496">
                <a:tc>
                  <a:txBody>
                    <a:bodyPr/>
                    <a:lstStyle/>
                    <a:p>
                      <a:pPr algn="ctr"/>
                      <a:r>
                        <a:rPr kumimoji="1" lang="ja-JP" altLang="en-US" sz="1200"/>
                        <a:t>③</a:t>
                      </a:r>
                      <a:r>
                        <a:rPr kumimoji="1" lang="en-US" altLang="ja-JP" sz="1200"/>
                        <a:t>-1</a:t>
                      </a:r>
                      <a:endParaRPr kumimoji="1" lang="ja-JP" altLang="en-US" sz="1200"/>
                    </a:p>
                  </a:txBody>
                  <a:tcPr anchor="ctr">
                    <a:lnR w="12700" cap="flat" cmpd="sng" algn="ctr">
                      <a:solidFill>
                        <a:schemeClr val="tx1"/>
                      </a:solidFill>
                      <a:prstDash val="solid"/>
                      <a:round/>
                      <a:headEnd type="none" w="med" len="med"/>
                      <a:tailEnd type="none" w="med" len="med"/>
                    </a:lnR>
                  </a:tcPr>
                </a:tc>
                <a:tc>
                  <a:txBody>
                    <a:bodyPr/>
                    <a:lstStyle/>
                    <a:p>
                      <a:r>
                        <a:rPr kumimoji="1" lang="en-US" altLang="ja-JP" sz="1200"/>
                        <a:t>AS</a:t>
                      </a:r>
                      <a:r>
                        <a:rPr kumimoji="1" lang="ja-JP" altLang="en-US" sz="1200"/>
                        <a:t>特化の業務フロー：引合・見積業務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18267511"/>
                  </a:ext>
                </a:extLst>
              </a:tr>
              <a:tr h="298496">
                <a:tc>
                  <a:txBody>
                    <a:bodyPr/>
                    <a:lstStyle/>
                    <a:p>
                      <a:pPr algn="ctr"/>
                      <a:r>
                        <a:rPr kumimoji="1" lang="ja-JP" altLang="en-US" sz="1200"/>
                        <a:t>③</a:t>
                      </a:r>
                      <a:r>
                        <a:rPr kumimoji="1" lang="en-US" altLang="ja-JP" sz="1200"/>
                        <a:t>-2</a:t>
                      </a:r>
                      <a:endParaRPr kumimoji="1" lang="ja-JP" altLang="en-US" sz="1200"/>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t>同上：その他フローの</a:t>
                      </a:r>
                      <a:r>
                        <a:rPr kumimoji="1" lang="en-US" altLang="ja-JP" sz="1200"/>
                        <a:t>AS</a:t>
                      </a:r>
                      <a:r>
                        <a:rPr kumimoji="1" lang="ja-JP" altLang="en-US" sz="1200"/>
                        <a:t>最適化検討</a:t>
                      </a:r>
                      <a:endParaRPr kumimoji="1" lang="en-US" altLang="ja-JP" sz="1200"/>
                    </a:p>
                    <a:p>
                      <a:r>
                        <a:rPr kumimoji="1" lang="en-US" altLang="ja-JP" sz="1200"/>
                        <a:t>(</a:t>
                      </a:r>
                      <a:r>
                        <a:rPr kumimoji="1" lang="ja-JP" altLang="en-US" sz="1200"/>
                        <a:t>現地工事体制・</a:t>
                      </a:r>
                      <a:r>
                        <a:rPr kumimoji="1" lang="en-US" altLang="ja-JP" sz="1200"/>
                        <a:t>AS</a:t>
                      </a:r>
                      <a:r>
                        <a:rPr kumimoji="1" lang="ja-JP" altLang="en-US" sz="1200"/>
                        <a:t>コストフォローの仕組等</a:t>
                      </a:r>
                      <a:r>
                        <a:rPr kumimoji="1" lang="en-US" altLang="ja-JP" sz="1200"/>
                        <a:t>)</a:t>
                      </a:r>
                      <a:endParaRPr kumimoji="1" lang="ja-JP" alt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6139730"/>
                  </a:ext>
                </a:extLst>
              </a:tr>
              <a:tr h="298496">
                <a:tc>
                  <a:txBody>
                    <a:bodyPr/>
                    <a:lstStyle/>
                    <a:p>
                      <a:pPr algn="ctr"/>
                      <a:r>
                        <a:rPr kumimoji="1" lang="ja-JP" altLang="en-US" sz="1200"/>
                        <a:t>④</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t>社内分業制（社員</a:t>
                      </a:r>
                      <a:r>
                        <a:rPr kumimoji="1" lang="en-US" altLang="ja-JP" sz="1200"/>
                        <a:t>/</a:t>
                      </a:r>
                      <a:r>
                        <a:rPr kumimoji="1" lang="ja-JP" altLang="en-US" sz="1200"/>
                        <a:t>労派）の見直し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75546640"/>
                  </a:ext>
                </a:extLst>
              </a:tr>
            </a:tbl>
          </a:graphicData>
        </a:graphic>
      </p:graphicFrame>
      <p:cxnSp>
        <p:nvCxnSpPr>
          <p:cNvPr id="3" name="直線矢印コネクタ 2">
            <a:extLst>
              <a:ext uri="{FF2B5EF4-FFF2-40B4-BE49-F238E27FC236}">
                <a16:creationId xmlns:a16="http://schemas.microsoft.com/office/drawing/2014/main" id="{514B7B60-772D-47ED-9785-3897E8DB6BCB}"/>
              </a:ext>
            </a:extLst>
          </p:cNvPr>
          <p:cNvCxnSpPr>
            <a:cxnSpLocks/>
          </p:cNvCxnSpPr>
          <p:nvPr/>
        </p:nvCxnSpPr>
        <p:spPr>
          <a:xfrm flipH="1">
            <a:off x="6098190" y="4812102"/>
            <a:ext cx="65723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1C8A64E5-C45D-4B46-BD37-DAB3245ABD3D}"/>
              </a:ext>
            </a:extLst>
          </p:cNvPr>
          <p:cNvCxnSpPr>
            <a:cxnSpLocks/>
            <a:endCxn id="25" idx="1"/>
          </p:cNvCxnSpPr>
          <p:nvPr/>
        </p:nvCxnSpPr>
        <p:spPr>
          <a:xfrm flipV="1">
            <a:off x="6111135" y="5705530"/>
            <a:ext cx="644292" cy="452474"/>
          </a:xfrm>
          <a:prstGeom prst="bentConnector3">
            <a:avLst>
              <a:gd name="adj1" fmla="val 60416"/>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34344475-7CE0-4330-BA02-BF4F81DD10D9}"/>
              </a:ext>
            </a:extLst>
          </p:cNvPr>
          <p:cNvSpPr/>
          <p:nvPr/>
        </p:nvSpPr>
        <p:spPr>
          <a:xfrm>
            <a:off x="5931981" y="6053351"/>
            <a:ext cx="163462" cy="218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正方形/長方形 24">
            <a:extLst>
              <a:ext uri="{FF2B5EF4-FFF2-40B4-BE49-F238E27FC236}">
                <a16:creationId xmlns:a16="http://schemas.microsoft.com/office/drawing/2014/main" id="{BCC7484B-0D31-452C-824A-B6D7503F7496}"/>
              </a:ext>
            </a:extLst>
          </p:cNvPr>
          <p:cNvSpPr/>
          <p:nvPr/>
        </p:nvSpPr>
        <p:spPr>
          <a:xfrm>
            <a:off x="6755427" y="5596498"/>
            <a:ext cx="163462" cy="218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テキスト ボックス 32">
            <a:extLst>
              <a:ext uri="{FF2B5EF4-FFF2-40B4-BE49-F238E27FC236}">
                <a16:creationId xmlns:a16="http://schemas.microsoft.com/office/drawing/2014/main" id="{DF2E5D08-B71D-494F-94C1-7F1DB768CC4F}"/>
              </a:ext>
            </a:extLst>
          </p:cNvPr>
          <p:cNvSpPr txBox="1"/>
          <p:nvPr/>
        </p:nvSpPr>
        <p:spPr>
          <a:xfrm>
            <a:off x="6144797" y="4716187"/>
            <a:ext cx="46800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highlight>
                  <a:srgbClr val="C0C0C0"/>
                </a:highlight>
                <a:uLnTx/>
                <a:uFillTx/>
                <a:latin typeface="Meiryo UI"/>
                <a:ea typeface="Meiryo UI"/>
                <a:cs typeface="+mn-cs"/>
              </a:rPr>
              <a:t>関連</a:t>
            </a:r>
          </a:p>
        </p:txBody>
      </p:sp>
      <p:sp>
        <p:nvSpPr>
          <p:cNvPr id="36" name="テキスト ボックス 35">
            <a:extLst>
              <a:ext uri="{FF2B5EF4-FFF2-40B4-BE49-F238E27FC236}">
                <a16:creationId xmlns:a16="http://schemas.microsoft.com/office/drawing/2014/main" id="{75F02587-5FCD-4379-B3FD-79EA096134BA}"/>
              </a:ext>
            </a:extLst>
          </p:cNvPr>
          <p:cNvSpPr txBox="1"/>
          <p:nvPr/>
        </p:nvSpPr>
        <p:spPr>
          <a:xfrm>
            <a:off x="6112376" y="6055971"/>
            <a:ext cx="46800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highlight>
                  <a:srgbClr val="C0C0C0"/>
                </a:highlight>
                <a:uLnTx/>
                <a:uFillTx/>
                <a:latin typeface="Meiryo UI"/>
                <a:ea typeface="Meiryo UI"/>
                <a:cs typeface="+mn-cs"/>
              </a:rPr>
              <a:t>関連</a:t>
            </a:r>
          </a:p>
        </p:txBody>
      </p:sp>
      <p:cxnSp>
        <p:nvCxnSpPr>
          <p:cNvPr id="38" name="直線矢印コネクタ 37">
            <a:extLst>
              <a:ext uri="{FF2B5EF4-FFF2-40B4-BE49-F238E27FC236}">
                <a16:creationId xmlns:a16="http://schemas.microsoft.com/office/drawing/2014/main" id="{F07BB8C2-8CF1-404E-AFD4-E050AC1881E3}"/>
              </a:ext>
            </a:extLst>
          </p:cNvPr>
          <p:cNvCxnSpPr>
            <a:cxnSpLocks/>
          </p:cNvCxnSpPr>
          <p:nvPr/>
        </p:nvCxnSpPr>
        <p:spPr>
          <a:xfrm flipH="1">
            <a:off x="6098190" y="5108548"/>
            <a:ext cx="65723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F1CA6AFA-AFDC-41DB-B709-F2C0FF1F5001}"/>
              </a:ext>
            </a:extLst>
          </p:cNvPr>
          <p:cNvSpPr txBox="1"/>
          <p:nvPr/>
        </p:nvSpPr>
        <p:spPr>
          <a:xfrm>
            <a:off x="6144797" y="5012633"/>
            <a:ext cx="46800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highlight>
                  <a:srgbClr val="C0C0C0"/>
                </a:highlight>
                <a:uLnTx/>
                <a:uFillTx/>
                <a:latin typeface="Meiryo UI"/>
                <a:ea typeface="Meiryo UI"/>
                <a:cs typeface="+mn-cs"/>
              </a:rPr>
              <a:t>関連</a:t>
            </a:r>
          </a:p>
        </p:txBody>
      </p:sp>
      <p:cxnSp>
        <p:nvCxnSpPr>
          <p:cNvPr id="40" name="直線矢印コネクタ 39">
            <a:extLst>
              <a:ext uri="{FF2B5EF4-FFF2-40B4-BE49-F238E27FC236}">
                <a16:creationId xmlns:a16="http://schemas.microsoft.com/office/drawing/2014/main" id="{D08EBD76-6D1B-4F16-A0F5-B6730EC8A3F1}"/>
              </a:ext>
            </a:extLst>
          </p:cNvPr>
          <p:cNvCxnSpPr>
            <a:cxnSpLocks/>
          </p:cNvCxnSpPr>
          <p:nvPr/>
        </p:nvCxnSpPr>
        <p:spPr>
          <a:xfrm flipH="1">
            <a:off x="6111135" y="5403625"/>
            <a:ext cx="65723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4752C0D-5AFE-4AD3-846B-AD35BAAC7B01}"/>
              </a:ext>
            </a:extLst>
          </p:cNvPr>
          <p:cNvCxnSpPr>
            <a:cxnSpLocks/>
          </p:cNvCxnSpPr>
          <p:nvPr/>
        </p:nvCxnSpPr>
        <p:spPr>
          <a:xfrm flipV="1">
            <a:off x="6111135" y="5405834"/>
            <a:ext cx="646579" cy="262039"/>
          </a:xfrm>
          <a:prstGeom prst="bentConnector3">
            <a:avLst>
              <a:gd name="adj1" fmla="val 21456"/>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EB5D4A54-7B5A-407C-B6C2-28FE24DFCDB4}"/>
              </a:ext>
            </a:extLst>
          </p:cNvPr>
          <p:cNvSpPr txBox="1"/>
          <p:nvPr/>
        </p:nvSpPr>
        <p:spPr>
          <a:xfrm>
            <a:off x="6157742" y="5307710"/>
            <a:ext cx="46800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highlight>
                  <a:srgbClr val="C0C0C0"/>
                </a:highlight>
                <a:uLnTx/>
                <a:uFillTx/>
                <a:latin typeface="Meiryo UI"/>
                <a:ea typeface="Meiryo UI"/>
                <a:cs typeface="+mn-cs"/>
              </a:rPr>
              <a:t>関連</a:t>
            </a:r>
          </a:p>
        </p:txBody>
      </p:sp>
      <p:graphicFrame>
        <p:nvGraphicFramePr>
          <p:cNvPr id="24" name="表 6">
            <a:extLst>
              <a:ext uri="{FF2B5EF4-FFF2-40B4-BE49-F238E27FC236}">
                <a16:creationId xmlns:a16="http://schemas.microsoft.com/office/drawing/2014/main" id="{3A58A97A-D561-4811-80B7-8104FFD595E8}"/>
              </a:ext>
            </a:extLst>
          </p:cNvPr>
          <p:cNvGraphicFramePr>
            <a:graphicFrameLocks noGrp="1"/>
          </p:cNvGraphicFramePr>
          <p:nvPr/>
        </p:nvGraphicFramePr>
        <p:xfrm>
          <a:off x="76839" y="4287672"/>
          <a:ext cx="2821355" cy="2169344"/>
        </p:xfrm>
        <a:graphic>
          <a:graphicData uri="http://schemas.openxmlformats.org/drawingml/2006/table">
            <a:tbl>
              <a:tblPr firstRow="1" bandRow="1">
                <a:tableStyleId>{69012ECD-51FC-41F1-AA8D-1B2483CD663E}</a:tableStyleId>
              </a:tblPr>
              <a:tblGrid>
                <a:gridCol w="462610">
                  <a:extLst>
                    <a:ext uri="{9D8B030D-6E8A-4147-A177-3AD203B41FA5}">
                      <a16:colId xmlns:a16="http://schemas.microsoft.com/office/drawing/2014/main" val="181185088"/>
                    </a:ext>
                  </a:extLst>
                </a:gridCol>
                <a:gridCol w="2358745">
                  <a:extLst>
                    <a:ext uri="{9D8B030D-6E8A-4147-A177-3AD203B41FA5}">
                      <a16:colId xmlns:a16="http://schemas.microsoft.com/office/drawing/2014/main" val="1872250611"/>
                    </a:ext>
                  </a:extLst>
                </a:gridCol>
              </a:tblGrid>
              <a:tr h="240763">
                <a:tc gridSpan="2">
                  <a:txBody>
                    <a:bodyPr/>
                    <a:lstStyle/>
                    <a:p>
                      <a:pPr marL="0" marR="0" lvl="0" indent="0" algn="ctr" defTabSz="662761"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white"/>
                          </a:solidFill>
                          <a:effectLst/>
                          <a:uLnTx/>
                          <a:uFillTx/>
                          <a:latin typeface="+mn-lt"/>
                          <a:ea typeface="+mn-ea"/>
                          <a:cs typeface="+mn-cs"/>
                        </a:rPr>
                        <a:t>One team</a:t>
                      </a:r>
                      <a:r>
                        <a:rPr kumimoji="1" lang="ja-JP" altLang="en-US" sz="1400" b="1" i="0" u="none" strike="noStrike" kern="1200" cap="none" spc="0" normalizeH="0" baseline="0" noProof="0">
                          <a:ln>
                            <a:noFill/>
                          </a:ln>
                          <a:solidFill>
                            <a:prstClr val="white"/>
                          </a:solidFill>
                          <a:effectLst/>
                          <a:uLnTx/>
                          <a:uFillTx/>
                          <a:latin typeface="+mn-lt"/>
                          <a:ea typeface="+mn-ea"/>
                          <a:cs typeface="+mn-cs"/>
                        </a:rPr>
                        <a:t>活動に関連する課題</a:t>
                      </a:r>
                      <a:endParaRPr kumimoji="1" lang="en-US" altLang="ja-JP" sz="1400" b="1" i="0" u="none" strike="noStrike" kern="1200" cap="none" spc="0" normalizeH="0" baseline="0" noProof="0">
                        <a:ln>
                          <a:noFill/>
                        </a:ln>
                        <a:solidFill>
                          <a:prstClr val="white"/>
                        </a:solidFill>
                        <a:effectLst/>
                        <a:uLnTx/>
                        <a:uFillTx/>
                        <a:latin typeface="+mn-lt"/>
                        <a:ea typeface="+mn-ea"/>
                        <a:cs typeface="+mn-cs"/>
                      </a:endParaRPr>
                    </a:p>
                    <a:p>
                      <a:pPr marL="0" marR="0" lvl="0" indent="0" algn="ctr" defTabSz="662761"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prstClr val="white"/>
                          </a:solidFill>
                          <a:effectLst/>
                          <a:uLnTx/>
                          <a:uFillTx/>
                          <a:latin typeface="+mn-lt"/>
                          <a:ea typeface="+mn-ea"/>
                          <a:cs typeface="+mn-cs"/>
                        </a:rPr>
                        <a:t>・施策</a:t>
                      </a:r>
                      <a:endParaRPr kumimoji="1" lang="ja-JP" altLang="en-US" sz="1400"/>
                    </a:p>
                  </a:txBody>
                  <a:tcPr anchor="ctr">
                    <a:lnR w="12700" cap="flat" cmpd="sng" algn="ctr">
                      <a:solidFill>
                        <a:schemeClr val="tx1"/>
                      </a:solidFill>
                      <a:prstDash val="solid"/>
                      <a:round/>
                      <a:headEnd type="none" w="med" len="med"/>
                      <a:tailEnd type="none" w="med" len="med"/>
                    </a:lnR>
                    <a:solidFill>
                      <a:schemeClr val="accent4">
                        <a:lumMod val="75000"/>
                      </a:schemeClr>
                    </a:solidFill>
                  </a:tcPr>
                </a:tc>
                <a:tc hMerge="1">
                  <a:txBody>
                    <a:bodyPr/>
                    <a:lstStyle/>
                    <a:p>
                      <a:pPr algn="ctr"/>
                      <a:endParaRPr kumimoji="1" lang="ja-JP"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4683476"/>
                  </a:ext>
                </a:extLst>
              </a:tr>
              <a:tr h="298496">
                <a:tc>
                  <a:txBody>
                    <a:bodyPr/>
                    <a:lstStyle/>
                    <a:p>
                      <a:pPr algn="ctr"/>
                      <a:r>
                        <a:rPr kumimoji="1" lang="ja-JP" altLang="en-US" sz="1200"/>
                        <a:t>①</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solidFill>
                            <a:schemeClr val="tx1"/>
                          </a:solidFill>
                        </a:rPr>
                        <a:t>現状分析、商材素案検討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3322783"/>
                  </a:ext>
                </a:extLst>
              </a:tr>
              <a:tr h="298496">
                <a:tc>
                  <a:txBody>
                    <a:bodyPr/>
                    <a:lstStyle/>
                    <a:p>
                      <a:pPr algn="ctr"/>
                      <a:r>
                        <a:rPr kumimoji="1" lang="ja-JP" altLang="en-US" sz="1200"/>
                        <a:t>②</a:t>
                      </a:r>
                    </a:p>
                  </a:txBody>
                  <a:tcPr anchor="ctr">
                    <a:lnR w="12700" cap="flat" cmpd="sng" algn="ctr">
                      <a:solidFill>
                        <a:schemeClr val="tx1"/>
                      </a:solidFill>
                      <a:prstDash val="solid"/>
                      <a:round/>
                      <a:headEnd type="none" w="med" len="med"/>
                      <a:tailEnd type="none" w="med" len="med"/>
                    </a:lnR>
                  </a:tcPr>
                </a:tc>
                <a:tc>
                  <a:txBody>
                    <a:bodyPr/>
                    <a:lstStyle/>
                    <a:p>
                      <a:r>
                        <a:rPr kumimoji="1" lang="en-US" altLang="ja-JP" sz="1200">
                          <a:solidFill>
                            <a:schemeClr val="tx1"/>
                          </a:solidFill>
                        </a:rPr>
                        <a:t>GTCC</a:t>
                      </a:r>
                      <a:r>
                        <a:rPr kumimoji="1" lang="ja-JP" altLang="en-US" sz="1200">
                          <a:solidFill>
                            <a:schemeClr val="tx1"/>
                          </a:solidFill>
                        </a:rPr>
                        <a:t>事業部および国営戦との横通し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6139730"/>
                  </a:ext>
                </a:extLst>
              </a:tr>
              <a:tr h="298496">
                <a:tc>
                  <a:txBody>
                    <a:bodyPr/>
                    <a:lstStyle/>
                    <a:p>
                      <a:pPr algn="ctr"/>
                      <a:r>
                        <a:rPr kumimoji="1" lang="ja-JP" altLang="en-US" sz="1200"/>
                        <a:t>③</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solidFill>
                            <a:schemeClr val="tx1"/>
                          </a:solidFill>
                        </a:rPr>
                        <a:t>支社、代理店への横通し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03944237"/>
                  </a:ext>
                </a:extLst>
              </a:tr>
              <a:tr h="298496">
                <a:tc>
                  <a:txBody>
                    <a:bodyPr/>
                    <a:lstStyle/>
                    <a:p>
                      <a:pPr algn="ctr"/>
                      <a:r>
                        <a:rPr kumimoji="1" lang="ja-JP" altLang="en-US" sz="1200"/>
                        <a:t>④</a:t>
                      </a:r>
                    </a:p>
                  </a:txBody>
                  <a:tcPr anchor="ctr">
                    <a:lnR w="12700" cap="flat" cmpd="sng" algn="ctr">
                      <a:solidFill>
                        <a:schemeClr val="tx1"/>
                      </a:solidFill>
                      <a:prstDash val="solid"/>
                      <a:round/>
                      <a:headEnd type="none" w="med" len="med"/>
                      <a:tailEnd type="none" w="med" len="med"/>
                    </a:lnR>
                  </a:tcPr>
                </a:tc>
                <a:tc>
                  <a:txBody>
                    <a:bodyPr/>
                    <a:lstStyle/>
                    <a:p>
                      <a:pPr marL="0" marR="0" lvl="0" indent="0" algn="l" defTabSz="662761" rtl="0" eaLnBrk="1" fontAlgn="auto" latinLnBrk="0" hangingPunct="1">
                        <a:lnSpc>
                          <a:spcPct val="100000"/>
                        </a:lnSpc>
                        <a:spcBef>
                          <a:spcPts val="0"/>
                        </a:spcBef>
                        <a:spcAft>
                          <a:spcPts val="0"/>
                        </a:spcAft>
                        <a:buClrTx/>
                        <a:buSzTx/>
                        <a:buFontTx/>
                        <a:buNone/>
                        <a:tabLst/>
                        <a:defRPr/>
                      </a:pPr>
                      <a:r>
                        <a:rPr kumimoji="1" lang="ja-JP" altLang="en-US" sz="1200">
                          <a:solidFill>
                            <a:schemeClr val="tx1"/>
                          </a:solidFill>
                        </a:rPr>
                        <a:t>お客様への乙波方法検討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75546640"/>
                  </a:ext>
                </a:extLst>
              </a:tr>
              <a:tr h="298496">
                <a:tc>
                  <a:txBody>
                    <a:bodyPr/>
                    <a:lstStyle/>
                    <a:p>
                      <a:pPr algn="ctr"/>
                      <a:r>
                        <a:rPr kumimoji="1" lang="ja-JP" altLang="en-US" sz="1200"/>
                        <a:t>⑤</a:t>
                      </a:r>
                    </a:p>
                  </a:txBody>
                  <a:tcPr anchor="ctr">
                    <a:lnR w="12700" cap="flat" cmpd="sng" algn="ctr">
                      <a:solidFill>
                        <a:schemeClr val="tx1"/>
                      </a:solidFill>
                      <a:prstDash val="solid"/>
                      <a:round/>
                      <a:headEnd type="none" w="med" len="med"/>
                      <a:tailEnd type="none" w="med" len="med"/>
                    </a:lnR>
                  </a:tcPr>
                </a:tc>
                <a:tc>
                  <a:txBody>
                    <a:bodyPr/>
                    <a:lstStyle/>
                    <a:p>
                      <a:r>
                        <a:rPr kumimoji="1" lang="ja-JP" altLang="en-US" sz="1200">
                          <a:solidFill>
                            <a:schemeClr val="tx1"/>
                          </a:solidFill>
                        </a:rPr>
                        <a:t>お客様への説明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875188"/>
                  </a:ext>
                </a:extLst>
              </a:tr>
            </a:tbl>
          </a:graphicData>
        </a:graphic>
      </p:graphicFrame>
    </p:spTree>
    <p:extLst>
      <p:ext uri="{BB962C8B-B14F-4D97-AF65-F5344CB8AC3E}">
        <p14:creationId xmlns:p14="http://schemas.microsoft.com/office/powerpoint/2010/main" val="3599099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正方形/長方形 128">
            <a:extLst>
              <a:ext uri="{FF2B5EF4-FFF2-40B4-BE49-F238E27FC236}">
                <a16:creationId xmlns:a16="http://schemas.microsoft.com/office/drawing/2014/main" id="{9FBCF53B-0C44-48D7-AD04-09D8826CD3D1}"/>
              </a:ext>
            </a:extLst>
          </p:cNvPr>
          <p:cNvSpPr/>
          <p:nvPr/>
        </p:nvSpPr>
        <p:spPr>
          <a:xfrm>
            <a:off x="209153" y="1594657"/>
            <a:ext cx="4973601" cy="4594452"/>
          </a:xfrm>
          <a:prstGeom prst="rect">
            <a:avLst/>
          </a:prstGeom>
          <a:solidFill>
            <a:schemeClr val="accent1">
              <a:lumMod val="20000"/>
              <a:lumOff val="80000"/>
            </a:schemeClr>
          </a:solidFill>
          <a:ln w="12700" cap="flat" cmpd="sng" algn="ctr">
            <a:noFill/>
            <a:prstDash val="solid"/>
            <a:miter lim="800000"/>
          </a:ln>
          <a:effectLst/>
        </p:spPr>
        <p:txBody>
          <a:bodyPr rtlCol="0" anchor="b"/>
          <a:lstStyle/>
          <a:p>
            <a:pPr marL="0" marR="0" lvl="0" indent="0" algn="l" defTabSz="694393" rtl="0" eaLnBrk="1" fontAlgn="auto" latinLnBrk="0" hangingPunct="1">
              <a:lnSpc>
                <a:spcPct val="100000"/>
              </a:lnSpc>
              <a:spcBef>
                <a:spcPts val="0"/>
              </a:spcBef>
              <a:spcAft>
                <a:spcPts val="0"/>
              </a:spcAft>
              <a:buClrTx/>
              <a:buSzTx/>
              <a:buFontTx/>
              <a:buNone/>
              <a:tabLst/>
              <a:defRPr/>
            </a:pPr>
            <a:endParaRPr kumimoji="0" lang="ja-JP" altLang="en-US" sz="1367" b="0" i="0" u="none" strike="noStrike" kern="0" cap="none" spc="0" normalizeH="0" baseline="0" noProof="0">
              <a:ln>
                <a:noFill/>
              </a:ln>
              <a:solidFill>
                <a:srgbClr val="006487"/>
              </a:solidFill>
              <a:effectLst/>
              <a:uLnTx/>
              <a:uFillTx/>
              <a:latin typeface="メイリオ"/>
              <a:ea typeface="メイリオ"/>
              <a:cs typeface="+mn-cs"/>
            </a:endParaRPr>
          </a:p>
        </p:txBody>
      </p:sp>
      <p:sp>
        <p:nvSpPr>
          <p:cNvPr id="2" name="タイトル 1">
            <a:extLst>
              <a:ext uri="{FF2B5EF4-FFF2-40B4-BE49-F238E27FC236}">
                <a16:creationId xmlns:a16="http://schemas.microsoft.com/office/drawing/2014/main" id="{38ED38B6-EDA5-467E-9841-0A429F197100}"/>
              </a:ext>
            </a:extLst>
          </p:cNvPr>
          <p:cNvSpPr>
            <a:spLocks noGrp="1"/>
          </p:cNvSpPr>
          <p:nvPr>
            <p:ph type="title"/>
          </p:nvPr>
        </p:nvSpPr>
        <p:spPr>
          <a:xfrm>
            <a:off x="436055" y="130403"/>
            <a:ext cx="6390090" cy="349961"/>
          </a:xfrm>
        </p:spPr>
        <p:txBody>
          <a:bodyPr/>
          <a:lstStyle/>
          <a:p>
            <a:r>
              <a:rPr lang="en-US" altLang="ja-JP" sz="2000">
                <a:latin typeface="+mn-ea"/>
                <a:ea typeface="+mn-ea"/>
              </a:rPr>
              <a:t>3. </a:t>
            </a:r>
            <a:r>
              <a:rPr lang="ja-JP" altLang="en-US" sz="2000">
                <a:latin typeface="+mn-ea"/>
                <a:ea typeface="+mn-ea"/>
              </a:rPr>
              <a:t>遂行</a:t>
            </a:r>
            <a:r>
              <a:rPr lang="ja-JP" altLang="ja-JP" sz="2000">
                <a:latin typeface="+mn-ea"/>
                <a:ea typeface="+mn-ea"/>
              </a:rPr>
              <a:t>体制</a:t>
            </a:r>
            <a:r>
              <a:rPr lang="en-US" altLang="ja-JP" sz="2000">
                <a:latin typeface="+mn-ea"/>
                <a:ea typeface="+mn-ea"/>
              </a:rPr>
              <a:t>_</a:t>
            </a:r>
            <a:r>
              <a:rPr lang="ja-JP" altLang="en-US" sz="1800">
                <a:latin typeface="+mn-ea"/>
                <a:ea typeface="+mn-ea"/>
              </a:rPr>
              <a:t>業務プロセス改革詳細</a:t>
            </a:r>
            <a:endParaRPr kumimoji="1" lang="ja-JP" altLang="en-US">
              <a:latin typeface="+mn-ea"/>
              <a:ea typeface="+mn-ea"/>
            </a:endParaRPr>
          </a:p>
        </p:txBody>
      </p:sp>
      <p:sp>
        <p:nvSpPr>
          <p:cNvPr id="7" name="正方形/長方形 6">
            <a:extLst>
              <a:ext uri="{FF2B5EF4-FFF2-40B4-BE49-F238E27FC236}">
                <a16:creationId xmlns:a16="http://schemas.microsoft.com/office/drawing/2014/main" id="{87B97DCD-AF60-4066-98DA-6BDE6756587E}"/>
              </a:ext>
            </a:extLst>
          </p:cNvPr>
          <p:cNvSpPr/>
          <p:nvPr/>
        </p:nvSpPr>
        <p:spPr>
          <a:xfrm>
            <a:off x="209153" y="1594657"/>
            <a:ext cx="8748783" cy="2576289"/>
          </a:xfrm>
          <a:prstGeom prst="rect">
            <a:avLst/>
          </a:prstGeom>
          <a:solidFill>
            <a:schemeClr val="accent1">
              <a:lumMod val="20000"/>
              <a:lumOff val="80000"/>
            </a:schemeClr>
          </a:solidFill>
          <a:ln w="12700" cap="flat" cmpd="sng" algn="ctr">
            <a:noFill/>
            <a:prstDash val="solid"/>
            <a:miter lim="800000"/>
          </a:ln>
          <a:effectLst/>
        </p:spPr>
        <p:txBody>
          <a:bodyPr rtlCol="0" anchor="t"/>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006487"/>
                </a:solidFill>
                <a:effectLst/>
                <a:uLnTx/>
                <a:uFillTx/>
                <a:latin typeface="メイリオ"/>
                <a:ea typeface="メイリオ"/>
                <a:cs typeface="+mn-cs"/>
              </a:rPr>
              <a:t>業務変革チーム</a:t>
            </a:r>
            <a:r>
              <a:rPr kumimoji="0" lang="ja-JP" altLang="en-US" sz="1400" b="0" i="0" u="none" strike="noStrike" kern="0" cap="none" spc="0" normalizeH="0" baseline="0" noProof="0">
                <a:ln>
                  <a:noFill/>
                </a:ln>
                <a:solidFill>
                  <a:srgbClr val="006487"/>
                </a:solidFill>
                <a:effectLst/>
                <a:uLnTx/>
                <a:uFillTx/>
                <a:latin typeface="メイリオ"/>
                <a:ea typeface="メイリオ"/>
                <a:cs typeface="+mn-cs"/>
              </a:rPr>
              <a:t>（仮称）</a:t>
            </a:r>
            <a:r>
              <a:rPr kumimoji="0" lang="ja-JP" altLang="en-US" sz="1400" b="1" i="0" u="none" strike="noStrike" kern="0" cap="none" spc="0" normalizeH="0" baseline="0" noProof="0">
                <a:ln>
                  <a:noFill/>
                </a:ln>
                <a:solidFill>
                  <a:srgbClr val="006487"/>
                </a:solidFill>
                <a:effectLst/>
                <a:uLnTx/>
                <a:uFillTx/>
                <a:latin typeface="メイリオ"/>
                <a:ea typeface="メイリオ"/>
                <a:cs typeface="+mn-cs"/>
              </a:rPr>
              <a:t>：プロジェクトの推進、全体定例会の開催</a:t>
            </a:r>
          </a:p>
        </p:txBody>
      </p:sp>
      <p:sp>
        <p:nvSpPr>
          <p:cNvPr id="37" name="テキスト ボックス 36">
            <a:extLst>
              <a:ext uri="{FF2B5EF4-FFF2-40B4-BE49-F238E27FC236}">
                <a16:creationId xmlns:a16="http://schemas.microsoft.com/office/drawing/2014/main" id="{1F6555DE-5851-461F-92BC-DFD9CBB002F4}"/>
              </a:ext>
            </a:extLst>
          </p:cNvPr>
          <p:cNvSpPr txBox="1"/>
          <p:nvPr/>
        </p:nvSpPr>
        <p:spPr>
          <a:xfrm>
            <a:off x="5475129" y="4123219"/>
            <a:ext cx="800219" cy="215444"/>
          </a:xfrm>
          <a:prstGeom prst="wedgeRectCallout">
            <a:avLst>
              <a:gd name="adj1" fmla="val -58689"/>
              <a:gd name="adj2" fmla="val -6523"/>
            </a:avLst>
          </a:prstGeom>
          <a:solidFill>
            <a:schemeClr val="accent3"/>
          </a:solidFill>
        </p:spPr>
        <p:txBody>
          <a:bodyPr wrap="none" rtlCol="0" anchor="ctr">
            <a:spAutoFit/>
          </a:bodyP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FFFFFF"/>
                </a:solidFill>
                <a:effectLst/>
                <a:uLnTx/>
                <a:uFillTx/>
                <a:latin typeface="メイリオ"/>
                <a:ea typeface="メイリオ"/>
                <a:cs typeface="+mn-cs"/>
              </a:rPr>
              <a:t>討議フォロー</a:t>
            </a:r>
          </a:p>
        </p:txBody>
      </p:sp>
      <p:sp>
        <p:nvSpPr>
          <p:cNvPr id="47" name="正方形/長方形 46">
            <a:extLst>
              <a:ext uri="{FF2B5EF4-FFF2-40B4-BE49-F238E27FC236}">
                <a16:creationId xmlns:a16="http://schemas.microsoft.com/office/drawing/2014/main" id="{E8BFF56D-5C77-43CD-BE5C-3BBBA03626FF}"/>
              </a:ext>
            </a:extLst>
          </p:cNvPr>
          <p:cNvSpPr/>
          <p:nvPr/>
        </p:nvSpPr>
        <p:spPr>
          <a:xfrm>
            <a:off x="5717922" y="1762374"/>
            <a:ext cx="3158895" cy="457435"/>
          </a:xfrm>
          <a:prstGeom prst="rect">
            <a:avLst/>
          </a:prstGeom>
          <a:solidFill>
            <a:srgbClr val="FFFFFF"/>
          </a:solidFill>
          <a:ln w="12700" cap="flat" cmpd="sng" algn="ctr">
            <a:solidFill>
              <a:schemeClr val="accent2"/>
            </a:solidFill>
            <a:prstDash val="solid"/>
            <a:miter lim="800000"/>
          </a:ln>
          <a:effectLst/>
        </p:spPr>
        <p:txBody>
          <a:bodyPr rtlCol="0" anchor="ct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6487"/>
                </a:solidFill>
                <a:effectLst/>
                <a:uLnTx/>
                <a:uFillTx/>
                <a:latin typeface="メイリオ"/>
                <a:ea typeface="メイリオ"/>
                <a:cs typeface="+mn-cs"/>
              </a:rPr>
              <a:t>事務局メンバー</a:t>
            </a:r>
            <a:endParaRPr kumimoji="0" lang="en-US" altLang="ja-JP" sz="1100" b="1" i="0" u="none" strike="noStrike" kern="0" cap="none" spc="0" normalizeH="0" baseline="0" noProof="0">
              <a:ln>
                <a:noFill/>
              </a:ln>
              <a:solidFill>
                <a:srgbClr val="006487"/>
              </a:solidFill>
              <a:effectLst/>
              <a:uLnTx/>
              <a:uFillTx/>
              <a:latin typeface="メイリオ"/>
              <a:ea typeface="メイリオ"/>
              <a:cs typeface="+mn-cs"/>
            </a:endParaRPr>
          </a:p>
          <a:p>
            <a:pPr marL="171450" marR="0" lvl="0" indent="-171450" algn="l" defTabSz="6943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00" b="0" i="0" u="none" strike="noStrike" kern="0" cap="none" spc="0" normalizeH="0" baseline="0" noProof="0">
                <a:ln>
                  <a:noFill/>
                </a:ln>
                <a:solidFill>
                  <a:srgbClr val="006487"/>
                </a:solidFill>
                <a:effectLst/>
                <a:uLnTx/>
                <a:uFillTx/>
                <a:latin typeface="メイリオ"/>
                <a:ea typeface="メイリオ"/>
                <a:cs typeface="+mn-cs"/>
              </a:rPr>
              <a:t>PJ</a:t>
            </a:r>
            <a:r>
              <a:rPr kumimoji="0" lang="ja-JP" altLang="en-US" sz="1000" b="0" i="0" u="none" strike="noStrike" kern="0" cap="none" spc="0" normalizeH="0" baseline="0" noProof="0">
                <a:ln>
                  <a:noFill/>
                </a:ln>
                <a:solidFill>
                  <a:srgbClr val="006487"/>
                </a:solidFill>
                <a:effectLst/>
                <a:uLnTx/>
                <a:uFillTx/>
                <a:latin typeface="メイリオ"/>
                <a:ea typeface="メイリオ"/>
                <a:cs typeface="+mn-cs"/>
              </a:rPr>
              <a:t>全体定例や部門定例での討議フォローを担う</a:t>
            </a:r>
            <a:endParaRPr kumimoji="0" lang="en-US" altLang="ja-JP" sz="1000" b="0" i="0" u="none" strike="noStrike" kern="0" cap="none" spc="0" normalizeH="0" baseline="0" noProof="0">
              <a:ln>
                <a:noFill/>
              </a:ln>
              <a:solidFill>
                <a:srgbClr val="006487"/>
              </a:solidFill>
              <a:effectLst/>
              <a:uLnTx/>
              <a:uFillTx/>
              <a:latin typeface="メイリオ"/>
              <a:ea typeface="メイリオ"/>
              <a:cs typeface="+mn-cs"/>
            </a:endParaRPr>
          </a:p>
        </p:txBody>
      </p:sp>
      <p:sp>
        <p:nvSpPr>
          <p:cNvPr id="50" name="正方形/長方形 49">
            <a:extLst>
              <a:ext uri="{FF2B5EF4-FFF2-40B4-BE49-F238E27FC236}">
                <a16:creationId xmlns:a16="http://schemas.microsoft.com/office/drawing/2014/main" id="{8BFE5EEB-3AE3-4FE6-ADD6-5ECCA8DEAC76}"/>
              </a:ext>
            </a:extLst>
          </p:cNvPr>
          <p:cNvSpPr/>
          <p:nvPr/>
        </p:nvSpPr>
        <p:spPr>
          <a:xfrm>
            <a:off x="361931" y="2080896"/>
            <a:ext cx="2355280" cy="648000"/>
          </a:xfrm>
          <a:prstGeom prst="rect">
            <a:avLst/>
          </a:prstGeom>
          <a:solidFill>
            <a:srgbClr val="FFFFFF"/>
          </a:solidFill>
          <a:ln w="12700" cap="flat" cmpd="sng" algn="ctr">
            <a:solidFill>
              <a:schemeClr val="accent2"/>
            </a:solidFill>
            <a:prstDash val="solid"/>
            <a:miter lim="800000"/>
          </a:ln>
          <a:effectLst/>
        </p:spPr>
        <p:txBody>
          <a:bodyPr rtlCol="0" anchor="ct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6487"/>
                </a:solidFill>
                <a:effectLst/>
                <a:uLnTx/>
                <a:uFillTx/>
                <a:latin typeface="メイリオ"/>
                <a:ea typeface="メイリオ"/>
                <a:cs typeface="+mn-cs"/>
              </a:rPr>
              <a:t>プロジェクトオーナー</a:t>
            </a:r>
            <a:endParaRPr kumimoji="0" lang="en-US" altLang="ja-JP" sz="1100" b="1" i="0" u="none" strike="noStrike" kern="0" cap="none" spc="0" normalizeH="0" baseline="0" noProof="0">
              <a:ln>
                <a:noFill/>
              </a:ln>
              <a:solidFill>
                <a:srgbClr val="006487"/>
              </a:solidFill>
              <a:effectLst/>
              <a:uLnTx/>
              <a:uFillTx/>
              <a:latin typeface="メイリオ"/>
              <a:ea typeface="メイリオ"/>
              <a:cs typeface="+mn-cs"/>
            </a:endParaRPr>
          </a:p>
          <a:p>
            <a:pPr marL="0" marR="0" lvl="0" indent="0" algn="ctr" defTabSz="694393" rtl="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006487"/>
                </a:solidFill>
                <a:effectLst/>
                <a:uLnTx/>
                <a:uFillTx/>
                <a:latin typeface="メイリオ"/>
                <a:ea typeface="メイリオ"/>
                <a:cs typeface="+mn-cs"/>
              </a:rPr>
              <a:t>SPMI</a:t>
            </a:r>
            <a:r>
              <a:rPr kumimoji="0" lang="ja-JP" altLang="en-US" sz="1100" b="0" i="0" u="none" strike="noStrike" kern="0" cap="none" spc="0" normalizeH="0" baseline="0" noProof="0">
                <a:ln>
                  <a:noFill/>
                </a:ln>
                <a:solidFill>
                  <a:srgbClr val="006487"/>
                </a:solidFill>
                <a:effectLst/>
                <a:uLnTx/>
                <a:uFillTx/>
                <a:latin typeface="メイリオ"/>
                <a:ea typeface="メイリオ"/>
                <a:cs typeface="+mn-cs"/>
              </a:rPr>
              <a:t>事業部</a:t>
            </a:r>
            <a:endParaRPr kumimoji="0" lang="en-US" altLang="ja-JP" sz="1100" b="0" i="0" u="none" strike="noStrike" kern="0" cap="none" spc="0" normalizeH="0" baseline="0" noProof="0">
              <a:ln>
                <a:noFill/>
              </a:ln>
              <a:solidFill>
                <a:srgbClr val="006487"/>
              </a:solidFill>
              <a:effectLst/>
              <a:uLnTx/>
              <a:uFillTx/>
              <a:latin typeface="メイリオ"/>
              <a:ea typeface="メイリオ"/>
              <a:cs typeface="+mn-cs"/>
            </a:endParaRPr>
          </a:p>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6487"/>
                </a:solidFill>
                <a:effectLst/>
                <a:uLnTx/>
                <a:uFillTx/>
                <a:latin typeface="メイリオ"/>
                <a:ea typeface="メイリオ"/>
                <a:cs typeface="+mn-cs"/>
              </a:rPr>
              <a:t>並河 副事業部長</a:t>
            </a:r>
            <a:endParaRPr kumimoji="0" lang="en-US" altLang="ja-JP" sz="1100" b="0" i="0" u="none" strike="noStrike" kern="0" cap="none" spc="0" normalizeH="0" baseline="0" noProof="0">
              <a:ln>
                <a:noFill/>
              </a:ln>
              <a:solidFill>
                <a:srgbClr val="006487"/>
              </a:solidFill>
              <a:effectLst/>
              <a:uLnTx/>
              <a:uFillTx/>
              <a:latin typeface="メイリオ"/>
              <a:ea typeface="メイリオ"/>
              <a:cs typeface="+mn-cs"/>
            </a:endParaRPr>
          </a:p>
        </p:txBody>
      </p:sp>
      <p:graphicFrame>
        <p:nvGraphicFramePr>
          <p:cNvPr id="79" name="表 78">
            <a:extLst>
              <a:ext uri="{FF2B5EF4-FFF2-40B4-BE49-F238E27FC236}">
                <a16:creationId xmlns:a16="http://schemas.microsoft.com/office/drawing/2014/main" id="{B2EED268-E4A7-400E-A22D-8C76FA979A12}"/>
              </a:ext>
            </a:extLst>
          </p:cNvPr>
          <p:cNvGraphicFramePr>
            <a:graphicFrameLocks noGrp="1"/>
          </p:cNvGraphicFramePr>
          <p:nvPr/>
        </p:nvGraphicFramePr>
        <p:xfrm>
          <a:off x="451151" y="3577348"/>
          <a:ext cx="1980000" cy="571500"/>
        </p:xfrm>
        <a:graphic>
          <a:graphicData uri="http://schemas.openxmlformats.org/drawingml/2006/table">
            <a:tbl>
              <a:tblPr firstRow="1" bandRow="1"/>
              <a:tblGrid>
                <a:gridCol w="758461">
                  <a:extLst>
                    <a:ext uri="{9D8B030D-6E8A-4147-A177-3AD203B41FA5}">
                      <a16:colId xmlns:a16="http://schemas.microsoft.com/office/drawing/2014/main" val="1579690086"/>
                    </a:ext>
                  </a:extLst>
                </a:gridCol>
                <a:gridCol w="1221539">
                  <a:extLst>
                    <a:ext uri="{9D8B030D-6E8A-4147-A177-3AD203B41FA5}">
                      <a16:colId xmlns:a16="http://schemas.microsoft.com/office/drawing/2014/main" val="662483136"/>
                    </a:ext>
                  </a:extLst>
                </a:gridCol>
              </a:tblGrid>
              <a:tr h="160020">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chemeClr val="bg1"/>
                          </a:solidFill>
                          <a:latin typeface="+mj-ea"/>
                          <a:ea typeface="+mj-ea"/>
                        </a:rPr>
                        <a:t>長品証</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森永部長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岡本主席</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graphicFrame>
        <p:nvGraphicFramePr>
          <p:cNvPr id="80" name="表 79">
            <a:extLst>
              <a:ext uri="{FF2B5EF4-FFF2-40B4-BE49-F238E27FC236}">
                <a16:creationId xmlns:a16="http://schemas.microsoft.com/office/drawing/2014/main" id="{EAB9E490-5529-4EA6-BA6C-FAEC7A48AA81}"/>
              </a:ext>
            </a:extLst>
          </p:cNvPr>
          <p:cNvGraphicFramePr>
            <a:graphicFrameLocks noGrp="1"/>
          </p:cNvGraphicFramePr>
          <p:nvPr/>
        </p:nvGraphicFramePr>
        <p:xfrm>
          <a:off x="2508825" y="3577348"/>
          <a:ext cx="1980001" cy="593598"/>
        </p:xfrm>
        <a:graphic>
          <a:graphicData uri="http://schemas.openxmlformats.org/drawingml/2006/table">
            <a:tbl>
              <a:tblPr firstRow="1" bandRow="1"/>
              <a:tblGrid>
                <a:gridCol w="758468">
                  <a:extLst>
                    <a:ext uri="{9D8B030D-6E8A-4147-A177-3AD203B41FA5}">
                      <a16:colId xmlns:a16="http://schemas.microsoft.com/office/drawing/2014/main" val="1579690086"/>
                    </a:ext>
                  </a:extLst>
                </a:gridCol>
                <a:gridCol w="1221533">
                  <a:extLst>
                    <a:ext uri="{9D8B030D-6E8A-4147-A177-3AD203B41FA5}">
                      <a16:colId xmlns:a16="http://schemas.microsoft.com/office/drawing/2014/main" val="662483136"/>
                    </a:ext>
                  </a:extLst>
                </a:gridCol>
              </a:tblGrid>
              <a:tr h="201549">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chemeClr val="bg1"/>
                          </a:solidFill>
                          <a:latin typeface="+mj-ea"/>
                          <a:ea typeface="+mj-ea"/>
                        </a:rPr>
                        <a:t>プロジェクト推進部</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201549">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9301">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真鍋部長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道岡次長</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graphicFrame>
        <p:nvGraphicFramePr>
          <p:cNvPr id="81" name="表 80">
            <a:extLst>
              <a:ext uri="{FF2B5EF4-FFF2-40B4-BE49-F238E27FC236}">
                <a16:creationId xmlns:a16="http://schemas.microsoft.com/office/drawing/2014/main" id="{C06E9398-6486-42CA-AF42-B13C83460703}"/>
              </a:ext>
            </a:extLst>
          </p:cNvPr>
          <p:cNvGraphicFramePr>
            <a:graphicFrameLocks noGrp="1"/>
          </p:cNvGraphicFramePr>
          <p:nvPr/>
        </p:nvGraphicFramePr>
        <p:xfrm>
          <a:off x="2508825" y="4208231"/>
          <a:ext cx="1980001" cy="571500"/>
        </p:xfrm>
        <a:graphic>
          <a:graphicData uri="http://schemas.openxmlformats.org/drawingml/2006/table">
            <a:tbl>
              <a:tblPr firstRow="1" bandRow="1"/>
              <a:tblGrid>
                <a:gridCol w="758468">
                  <a:extLst>
                    <a:ext uri="{9D8B030D-6E8A-4147-A177-3AD203B41FA5}">
                      <a16:colId xmlns:a16="http://schemas.microsoft.com/office/drawing/2014/main" val="1579690086"/>
                    </a:ext>
                  </a:extLst>
                </a:gridCol>
                <a:gridCol w="1221533">
                  <a:extLst>
                    <a:ext uri="{9D8B030D-6E8A-4147-A177-3AD203B41FA5}">
                      <a16:colId xmlns:a16="http://schemas.microsoft.com/office/drawing/2014/main" val="662483136"/>
                    </a:ext>
                  </a:extLst>
                </a:gridCol>
              </a:tblGrid>
              <a:tr h="160020">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chemeClr val="bg1"/>
                          </a:solidFill>
                          <a:latin typeface="+mj-ea"/>
                          <a:ea typeface="+mj-ea"/>
                        </a:rPr>
                        <a:t>技術部</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石原部長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三城次長・岩元次長</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graphicFrame>
        <p:nvGraphicFramePr>
          <p:cNvPr id="82" name="表 81">
            <a:extLst>
              <a:ext uri="{FF2B5EF4-FFF2-40B4-BE49-F238E27FC236}">
                <a16:creationId xmlns:a16="http://schemas.microsoft.com/office/drawing/2014/main" id="{A0F9D43D-3144-47F5-B24C-2B712F74B48B}"/>
              </a:ext>
            </a:extLst>
          </p:cNvPr>
          <p:cNvGraphicFramePr>
            <a:graphicFrameLocks noGrp="1"/>
          </p:cNvGraphicFramePr>
          <p:nvPr/>
        </p:nvGraphicFramePr>
        <p:xfrm>
          <a:off x="451151" y="4207631"/>
          <a:ext cx="1980001" cy="571500"/>
        </p:xfrm>
        <a:graphic>
          <a:graphicData uri="http://schemas.openxmlformats.org/drawingml/2006/table">
            <a:tbl>
              <a:tblPr firstRow="1" bandRow="1"/>
              <a:tblGrid>
                <a:gridCol w="758468">
                  <a:extLst>
                    <a:ext uri="{9D8B030D-6E8A-4147-A177-3AD203B41FA5}">
                      <a16:colId xmlns:a16="http://schemas.microsoft.com/office/drawing/2014/main" val="1579690086"/>
                    </a:ext>
                  </a:extLst>
                </a:gridCol>
                <a:gridCol w="1221533">
                  <a:extLst>
                    <a:ext uri="{9D8B030D-6E8A-4147-A177-3AD203B41FA5}">
                      <a16:colId xmlns:a16="http://schemas.microsoft.com/office/drawing/2014/main" val="662483136"/>
                    </a:ext>
                  </a:extLst>
                </a:gridCol>
              </a:tblGrid>
              <a:tr h="160020">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marL="0" algn="ctr" defTabSz="534552" rtl="0" eaLnBrk="1" latinLnBrk="0" hangingPunct="1"/>
                      <a:r>
                        <a:rPr kumimoji="1" lang="ja-JP" altLang="en-US" sz="800" kern="1200">
                          <a:solidFill>
                            <a:schemeClr val="bg1"/>
                          </a:solidFill>
                          <a:latin typeface="+mn-ea"/>
                          <a:ea typeface="+mn-ea"/>
                          <a:cs typeface="+mn-cs"/>
                        </a:rPr>
                        <a:t>長調達</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marL="0" algn="ctr" defTabSz="534552" rtl="0" eaLnBrk="1" latinLnBrk="0" hangingPunct="1"/>
                      <a:r>
                        <a:rPr kumimoji="1" lang="ja-JP" altLang="en-US" sz="800" kern="1200">
                          <a:solidFill>
                            <a:schemeClr val="tx1"/>
                          </a:solidFill>
                          <a:latin typeface="+mn-ea"/>
                          <a:ea typeface="+mn-ea"/>
                          <a:cs typeface="+mn-cs"/>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n-ea"/>
                          <a:ea typeface="+mn-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常吉部長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有田次長</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graphicFrame>
        <p:nvGraphicFramePr>
          <p:cNvPr id="83" name="表 82">
            <a:extLst>
              <a:ext uri="{FF2B5EF4-FFF2-40B4-BE49-F238E27FC236}">
                <a16:creationId xmlns:a16="http://schemas.microsoft.com/office/drawing/2014/main" id="{7AB11C10-C6DC-4969-9180-91F4A98E383C}"/>
              </a:ext>
            </a:extLst>
          </p:cNvPr>
          <p:cNvGraphicFramePr>
            <a:graphicFrameLocks noGrp="1"/>
          </p:cNvGraphicFramePr>
          <p:nvPr/>
        </p:nvGraphicFramePr>
        <p:xfrm>
          <a:off x="2508825" y="4838215"/>
          <a:ext cx="1980001" cy="571500"/>
        </p:xfrm>
        <a:graphic>
          <a:graphicData uri="http://schemas.openxmlformats.org/drawingml/2006/table">
            <a:tbl>
              <a:tblPr firstRow="1" bandRow="1"/>
              <a:tblGrid>
                <a:gridCol w="758468">
                  <a:extLst>
                    <a:ext uri="{9D8B030D-6E8A-4147-A177-3AD203B41FA5}">
                      <a16:colId xmlns:a16="http://schemas.microsoft.com/office/drawing/2014/main" val="1579690086"/>
                    </a:ext>
                  </a:extLst>
                </a:gridCol>
                <a:gridCol w="1221533">
                  <a:extLst>
                    <a:ext uri="{9D8B030D-6E8A-4147-A177-3AD203B41FA5}">
                      <a16:colId xmlns:a16="http://schemas.microsoft.com/office/drawing/2014/main" val="662483136"/>
                    </a:ext>
                  </a:extLst>
                </a:gridCol>
              </a:tblGrid>
              <a:tr h="160020">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chemeClr val="bg1"/>
                          </a:solidFill>
                          <a:latin typeface="+mj-ea"/>
                          <a:ea typeface="+mj-ea"/>
                        </a:rPr>
                        <a:t>製造部</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鶴崎部長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川口主幹</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graphicFrame>
        <p:nvGraphicFramePr>
          <p:cNvPr id="84" name="表 83">
            <a:extLst>
              <a:ext uri="{FF2B5EF4-FFF2-40B4-BE49-F238E27FC236}">
                <a16:creationId xmlns:a16="http://schemas.microsoft.com/office/drawing/2014/main" id="{5042251C-04DD-46A2-8CCF-787A8CF03348}"/>
              </a:ext>
            </a:extLst>
          </p:cNvPr>
          <p:cNvGraphicFramePr>
            <a:graphicFrameLocks noGrp="1"/>
          </p:cNvGraphicFramePr>
          <p:nvPr/>
        </p:nvGraphicFramePr>
        <p:xfrm>
          <a:off x="451151" y="4837914"/>
          <a:ext cx="1980001" cy="571500"/>
        </p:xfrm>
        <a:graphic>
          <a:graphicData uri="http://schemas.openxmlformats.org/drawingml/2006/table">
            <a:tbl>
              <a:tblPr firstRow="1" bandRow="1"/>
              <a:tblGrid>
                <a:gridCol w="758468">
                  <a:extLst>
                    <a:ext uri="{9D8B030D-6E8A-4147-A177-3AD203B41FA5}">
                      <a16:colId xmlns:a16="http://schemas.microsoft.com/office/drawing/2014/main" val="1579690086"/>
                    </a:ext>
                  </a:extLst>
                </a:gridCol>
                <a:gridCol w="1221533">
                  <a:extLst>
                    <a:ext uri="{9D8B030D-6E8A-4147-A177-3AD203B41FA5}">
                      <a16:colId xmlns:a16="http://schemas.microsoft.com/office/drawing/2014/main" val="662483136"/>
                    </a:ext>
                  </a:extLst>
                </a:gridCol>
              </a:tblGrid>
              <a:tr h="160020">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chemeClr val="bg1"/>
                          </a:solidFill>
                          <a:latin typeface="+mj-ea"/>
                          <a:ea typeface="+mj-ea"/>
                        </a:rPr>
                        <a:t>営業部</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河島部長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小寺主席</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graphicFrame>
        <p:nvGraphicFramePr>
          <p:cNvPr id="85" name="表 84">
            <a:extLst>
              <a:ext uri="{FF2B5EF4-FFF2-40B4-BE49-F238E27FC236}">
                <a16:creationId xmlns:a16="http://schemas.microsoft.com/office/drawing/2014/main" id="{D512B165-AE2D-4814-9282-9BF0BCEA13E7}"/>
              </a:ext>
            </a:extLst>
          </p:cNvPr>
          <p:cNvGraphicFramePr>
            <a:graphicFrameLocks noGrp="1"/>
          </p:cNvGraphicFramePr>
          <p:nvPr/>
        </p:nvGraphicFramePr>
        <p:xfrm>
          <a:off x="451151" y="5468198"/>
          <a:ext cx="1980000" cy="571500"/>
        </p:xfrm>
        <a:graphic>
          <a:graphicData uri="http://schemas.openxmlformats.org/drawingml/2006/table">
            <a:tbl>
              <a:tblPr firstRow="1" bandRow="1"/>
              <a:tblGrid>
                <a:gridCol w="758465">
                  <a:extLst>
                    <a:ext uri="{9D8B030D-6E8A-4147-A177-3AD203B41FA5}">
                      <a16:colId xmlns:a16="http://schemas.microsoft.com/office/drawing/2014/main" val="1579690086"/>
                    </a:ext>
                  </a:extLst>
                </a:gridCol>
                <a:gridCol w="1221535">
                  <a:extLst>
                    <a:ext uri="{9D8B030D-6E8A-4147-A177-3AD203B41FA5}">
                      <a16:colId xmlns:a16="http://schemas.microsoft.com/office/drawing/2014/main" val="662483136"/>
                    </a:ext>
                  </a:extLst>
                </a:gridCol>
              </a:tblGrid>
              <a:tr h="160020">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chemeClr val="bg1"/>
                          </a:solidFill>
                          <a:latin typeface="+mj-ea"/>
                          <a:ea typeface="+mj-ea"/>
                        </a:rPr>
                        <a:t>計画部</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石井部長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金山次長</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graphicFrame>
        <p:nvGraphicFramePr>
          <p:cNvPr id="86" name="表 85">
            <a:extLst>
              <a:ext uri="{FF2B5EF4-FFF2-40B4-BE49-F238E27FC236}">
                <a16:creationId xmlns:a16="http://schemas.microsoft.com/office/drawing/2014/main" id="{A13B6FA0-D35C-4711-8916-F622E8CF6A98}"/>
              </a:ext>
            </a:extLst>
          </p:cNvPr>
          <p:cNvGraphicFramePr>
            <a:graphicFrameLocks noGrp="1"/>
          </p:cNvGraphicFramePr>
          <p:nvPr/>
        </p:nvGraphicFramePr>
        <p:xfrm>
          <a:off x="2508825" y="5468198"/>
          <a:ext cx="1980001" cy="571500"/>
        </p:xfrm>
        <a:graphic>
          <a:graphicData uri="http://schemas.openxmlformats.org/drawingml/2006/table">
            <a:tbl>
              <a:tblPr firstRow="1" bandRow="1"/>
              <a:tblGrid>
                <a:gridCol w="758468">
                  <a:extLst>
                    <a:ext uri="{9D8B030D-6E8A-4147-A177-3AD203B41FA5}">
                      <a16:colId xmlns:a16="http://schemas.microsoft.com/office/drawing/2014/main" val="1579690086"/>
                    </a:ext>
                  </a:extLst>
                </a:gridCol>
                <a:gridCol w="1221533">
                  <a:extLst>
                    <a:ext uri="{9D8B030D-6E8A-4147-A177-3AD203B41FA5}">
                      <a16:colId xmlns:a16="http://schemas.microsoft.com/office/drawing/2014/main" val="662483136"/>
                    </a:ext>
                  </a:extLst>
                </a:gridCol>
              </a:tblGrid>
              <a:tr h="160020">
                <a:tc gridSpan="2">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chemeClr val="bg1"/>
                          </a:solidFill>
                          <a:latin typeface="+mj-ea"/>
                          <a:ea typeface="+mj-ea"/>
                        </a:rPr>
                        <a:t>建設部</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tc hMerge="1">
                  <a:txBody>
                    <a:bodyPr/>
                    <a:lstStyle/>
                    <a:p>
                      <a:endParaRPr kumimoji="1" lang="ja-JP" altLang="en-US"/>
                    </a:p>
                  </a:txBody>
                  <a:tcPr/>
                </a:tc>
                <a:extLst>
                  <a:ext uri="{0D108BD9-81ED-4DB2-BD59-A6C34878D82A}">
                    <a16:rowId xmlns:a16="http://schemas.microsoft.com/office/drawing/2014/main" val="3030322843"/>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責任者</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3CFE7"/>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企画担当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1E7F3"/>
                    </a:solidFill>
                  </a:tcPr>
                </a:tc>
                <a:extLst>
                  <a:ext uri="{0D108BD9-81ED-4DB2-BD59-A6C34878D82A}">
                    <a16:rowId xmlns:a16="http://schemas.microsoft.com/office/drawing/2014/main" val="4156156361"/>
                  </a:ext>
                </a:extLst>
              </a:tr>
              <a:tr h="160020">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酒井部長</a:t>
                      </a:r>
                      <a:endParaRPr kumimoji="1" lang="en-US" altLang="ja-JP" sz="800">
                        <a:solidFill>
                          <a:srgbClr val="FF0000"/>
                        </a:solidFill>
                        <a:latin typeface="+mj-ea"/>
                        <a:ea typeface="+mj-ea"/>
                        <a:cs typeface="Meiryo UI" panose="020B0604030504040204" pitchFamily="50" charset="-128"/>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solidFill>
                            <a:srgbClr val="FF0000"/>
                          </a:solidFill>
                          <a:latin typeface="+mj-ea"/>
                          <a:ea typeface="+mj-ea"/>
                          <a:cs typeface="Meiryo UI" panose="020B0604030504040204" pitchFamily="50" charset="-128"/>
                        </a:rPr>
                        <a:t>川津次長</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62103706"/>
                  </a:ext>
                </a:extLst>
              </a:tr>
            </a:tbl>
          </a:graphicData>
        </a:graphic>
      </p:graphicFrame>
      <p:cxnSp>
        <p:nvCxnSpPr>
          <p:cNvPr id="118" name="カギ線コネクタ 65">
            <a:extLst>
              <a:ext uri="{FF2B5EF4-FFF2-40B4-BE49-F238E27FC236}">
                <a16:creationId xmlns:a16="http://schemas.microsoft.com/office/drawing/2014/main" id="{5DECC238-7C99-400D-B622-2376E80399E5}"/>
              </a:ext>
            </a:extLst>
          </p:cNvPr>
          <p:cNvCxnSpPr>
            <a:cxnSpLocks/>
            <a:stCxn id="70" idx="3"/>
            <a:endCxn id="130" idx="2"/>
          </p:cNvCxnSpPr>
          <p:nvPr/>
        </p:nvCxnSpPr>
        <p:spPr>
          <a:xfrm>
            <a:off x="3544020" y="3127453"/>
            <a:ext cx="1763110" cy="1473657"/>
          </a:xfrm>
          <a:prstGeom prst="bentConnector3">
            <a:avLst>
              <a:gd name="adj1" fmla="val 68631"/>
            </a:avLst>
          </a:prstGeom>
          <a:noFill/>
          <a:ln w="28575" cap="flat" cmpd="sng" algn="ctr">
            <a:solidFill>
              <a:srgbClr val="404040">
                <a:lumMod val="60000"/>
                <a:lumOff val="40000"/>
              </a:srgbClr>
            </a:solidFill>
            <a:prstDash val="solid"/>
            <a:miter lim="800000"/>
            <a:headEnd type="none"/>
            <a:tailEnd type="triangle"/>
          </a:ln>
          <a:effectLst/>
        </p:spPr>
      </p:cxnSp>
      <p:cxnSp>
        <p:nvCxnSpPr>
          <p:cNvPr id="159" name="カギ線コネクタ 65">
            <a:extLst>
              <a:ext uri="{FF2B5EF4-FFF2-40B4-BE49-F238E27FC236}">
                <a16:creationId xmlns:a16="http://schemas.microsoft.com/office/drawing/2014/main" id="{9490F359-01D5-443A-A15F-C2667728C09C}"/>
              </a:ext>
            </a:extLst>
          </p:cNvPr>
          <p:cNvCxnSpPr>
            <a:cxnSpLocks/>
            <a:stCxn id="47" idx="1"/>
            <a:endCxn id="130" idx="0"/>
          </p:cNvCxnSpPr>
          <p:nvPr/>
        </p:nvCxnSpPr>
        <p:spPr>
          <a:xfrm rot="10800000" flipV="1">
            <a:off x="5361314" y="1991091"/>
            <a:ext cx="356608" cy="2513627"/>
          </a:xfrm>
          <a:prstGeom prst="bentConnector2">
            <a:avLst/>
          </a:prstGeom>
          <a:noFill/>
          <a:ln w="28575" cap="flat" cmpd="sng" algn="ctr">
            <a:solidFill>
              <a:srgbClr val="404040">
                <a:lumMod val="60000"/>
                <a:lumOff val="40000"/>
              </a:srgbClr>
            </a:solidFill>
            <a:prstDash val="solid"/>
            <a:miter lim="800000"/>
            <a:headEnd type="none"/>
            <a:tailEnd type="triangle"/>
          </a:ln>
          <a:effectLst/>
        </p:spPr>
      </p:cxnSp>
      <p:sp>
        <p:nvSpPr>
          <p:cNvPr id="166" name="テキスト ボックス 165">
            <a:extLst>
              <a:ext uri="{FF2B5EF4-FFF2-40B4-BE49-F238E27FC236}">
                <a16:creationId xmlns:a16="http://schemas.microsoft.com/office/drawing/2014/main" id="{4AABC531-ADFD-44B5-9B69-C6DFD8DECA60}"/>
              </a:ext>
            </a:extLst>
          </p:cNvPr>
          <p:cNvSpPr txBox="1"/>
          <p:nvPr/>
        </p:nvSpPr>
        <p:spPr>
          <a:xfrm>
            <a:off x="4639261" y="4755833"/>
            <a:ext cx="595035" cy="338554"/>
          </a:xfrm>
          <a:prstGeom prst="wedgeRectCallout">
            <a:avLst>
              <a:gd name="adj1" fmla="val -25218"/>
              <a:gd name="adj2" fmla="val -85917"/>
            </a:avLst>
          </a:prstGeom>
          <a:solidFill>
            <a:schemeClr val="accent3"/>
          </a:solidFill>
        </p:spPr>
        <p:txBody>
          <a:bodyPr wrap="none" rtlCol="0" anchor="ctr">
            <a:spAutoFit/>
          </a:bodyP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FFFFFF"/>
                </a:solidFill>
                <a:effectLst/>
                <a:uLnTx/>
                <a:uFillTx/>
                <a:latin typeface="メイリオ"/>
                <a:ea typeface="メイリオ"/>
                <a:cs typeface="+mn-cs"/>
              </a:rPr>
              <a:t>周知・</a:t>
            </a:r>
            <a:endParaRPr kumimoji="0" lang="en-US" altLang="ja-JP" sz="800" b="0" i="0" u="none" strike="noStrike" kern="0" cap="none" spc="0" normalizeH="0" baseline="0" noProof="0">
              <a:ln>
                <a:noFill/>
              </a:ln>
              <a:solidFill>
                <a:srgbClr val="FFFFFF"/>
              </a:solidFill>
              <a:effectLst/>
              <a:uLnTx/>
              <a:uFillTx/>
              <a:latin typeface="メイリオ"/>
              <a:ea typeface="メイリオ"/>
              <a:cs typeface="+mn-cs"/>
            </a:endParaRPr>
          </a:p>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FFFFFF"/>
                </a:solidFill>
                <a:effectLst/>
                <a:uLnTx/>
                <a:uFillTx/>
                <a:latin typeface="メイリオ"/>
                <a:ea typeface="メイリオ"/>
                <a:cs typeface="+mn-cs"/>
              </a:rPr>
              <a:t>意見収集</a:t>
            </a:r>
          </a:p>
        </p:txBody>
      </p:sp>
      <p:sp>
        <p:nvSpPr>
          <p:cNvPr id="40" name="テキスト プレースホルダー 8">
            <a:extLst>
              <a:ext uri="{FF2B5EF4-FFF2-40B4-BE49-F238E27FC236}">
                <a16:creationId xmlns:a16="http://schemas.microsoft.com/office/drawing/2014/main" id="{D813C6DB-D201-41B6-BCC3-F2370C664CAF}"/>
              </a:ext>
            </a:extLst>
          </p:cNvPr>
          <p:cNvSpPr txBox="1">
            <a:spLocks/>
          </p:cNvSpPr>
          <p:nvPr/>
        </p:nvSpPr>
        <p:spPr>
          <a:xfrm>
            <a:off x="178525" y="667939"/>
            <a:ext cx="8786949" cy="727474"/>
          </a:xfrm>
          <a:prstGeom prst="rect">
            <a:avLst/>
          </a:prstGeom>
          <a:solidFill>
            <a:schemeClr val="bg2">
              <a:lumMod val="40000"/>
              <a:lumOff val="60000"/>
            </a:schemeClr>
          </a:solidFill>
        </p:spPr>
        <p:txBody>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lang="ja-JP" altLang="en-US">
                <a:solidFill>
                  <a:srgbClr val="000000"/>
                </a:solidFill>
                <a:latin typeface="メイリオ"/>
                <a:ea typeface="メイリオ"/>
              </a:rPr>
              <a:t>■全体定例会においては、各部で</a:t>
            </a:r>
            <a:r>
              <a:rPr kumimoji="1" lang="ja-JP" altLang="en-US" sz="1600" b="0" i="0" u="none" strike="noStrike" kern="1200" cap="none" spc="0" normalizeH="0" baseline="0" noProof="0">
                <a:ln>
                  <a:noFill/>
                </a:ln>
                <a:solidFill>
                  <a:srgbClr val="000000"/>
                </a:solidFill>
                <a:effectLst/>
                <a:uLnTx/>
                <a:uFillTx/>
                <a:latin typeface="メイリオ"/>
                <a:ea typeface="メイリオ"/>
              </a:rPr>
              <a:t>選定された“企画担当”が主体性を持って議論する。</a:t>
            </a:r>
            <a:endParaRPr kumimoji="1" lang="en-US" altLang="ja-JP" sz="1600" b="0" i="0" u="none" strike="noStrike" kern="1200" cap="none" spc="0" normalizeH="0" baseline="0" noProof="0">
              <a:ln>
                <a:noFill/>
              </a:ln>
              <a:solidFill>
                <a:srgbClr val="000000"/>
              </a:solidFill>
              <a:effectLst/>
              <a:uLnTx/>
              <a:uFillTx/>
              <a:latin typeface="メイリオ"/>
              <a:ea typeface="メイリオ"/>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srgbClr val="000000"/>
                </a:solidFill>
                <a:effectLst/>
                <a:uLnTx/>
                <a:uFillTx/>
                <a:latin typeface="メイリオ"/>
                <a:ea typeface="メイリオ"/>
              </a:rPr>
              <a:t>■個別に検討が必要な事項は個別検討会を開催する。</a:t>
            </a:r>
            <a:endParaRPr kumimoji="1" lang="en-US" altLang="ja-JP" sz="1600" b="0" i="0" u="none" strike="noStrike" kern="1200" cap="none" spc="0" normalizeH="0" baseline="0" noProof="0">
              <a:ln>
                <a:noFill/>
              </a:ln>
              <a:solidFill>
                <a:srgbClr val="000000"/>
              </a:solidFill>
              <a:effectLst/>
              <a:uLnTx/>
              <a:uFillTx/>
              <a:latin typeface="メイリオ"/>
              <a:ea typeface="メイリオ"/>
            </a:endParaRPr>
          </a:p>
        </p:txBody>
      </p:sp>
      <p:sp>
        <p:nvSpPr>
          <p:cNvPr id="70" name="正方形/長方形 69">
            <a:extLst>
              <a:ext uri="{FF2B5EF4-FFF2-40B4-BE49-F238E27FC236}">
                <a16:creationId xmlns:a16="http://schemas.microsoft.com/office/drawing/2014/main" id="{EEAB010E-D415-4FAF-9ABB-92197AD86F6E}"/>
              </a:ext>
            </a:extLst>
          </p:cNvPr>
          <p:cNvSpPr/>
          <p:nvPr/>
        </p:nvSpPr>
        <p:spPr>
          <a:xfrm>
            <a:off x="361931" y="2803453"/>
            <a:ext cx="3182089" cy="648000"/>
          </a:xfrm>
          <a:prstGeom prst="rect">
            <a:avLst/>
          </a:prstGeom>
          <a:solidFill>
            <a:srgbClr val="FFFFFF"/>
          </a:solidFill>
          <a:ln w="12700" cap="flat" cmpd="sng" algn="ctr">
            <a:solidFill>
              <a:schemeClr val="accent2"/>
            </a:solidFill>
            <a:prstDash val="solid"/>
            <a:miter lim="800000"/>
          </a:ln>
          <a:effectLst/>
        </p:spPr>
        <p:txBody>
          <a:bodyPr rtlCol="0" anchor="ct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6487"/>
                </a:solidFill>
                <a:effectLst/>
                <a:uLnTx/>
                <a:uFillTx/>
                <a:latin typeface="メイリオ"/>
                <a:ea typeface="メイリオ"/>
                <a:cs typeface="+mn-cs"/>
              </a:rPr>
              <a:t>各部門</a:t>
            </a:r>
            <a:r>
              <a:rPr kumimoji="0" lang="ja-JP" altLang="en-US" sz="1100" b="1" kern="0">
                <a:solidFill>
                  <a:srgbClr val="006487"/>
                </a:solidFill>
                <a:latin typeface="メイリオ"/>
                <a:ea typeface="メイリオ"/>
              </a:rPr>
              <a:t>企画担当</a:t>
            </a:r>
            <a:endParaRPr kumimoji="0" lang="en-US" altLang="ja-JP" sz="800" b="0" i="0" u="none" strike="noStrike" kern="0" cap="none" spc="0" normalizeH="0" baseline="0" noProof="0">
              <a:ln>
                <a:noFill/>
              </a:ln>
              <a:solidFill>
                <a:srgbClr val="FF0000"/>
              </a:solidFill>
              <a:effectLst/>
              <a:uLnTx/>
              <a:uFillTx/>
              <a:latin typeface="メイリオ"/>
              <a:ea typeface="メイリオ"/>
              <a:cs typeface="+mn-cs"/>
            </a:endParaRPr>
          </a:p>
          <a:p>
            <a:pPr marL="171450" marR="0" lvl="0" indent="-171450" algn="l" defTabSz="6943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00" kern="0">
                <a:solidFill>
                  <a:srgbClr val="006487"/>
                </a:solidFill>
                <a:latin typeface="メイリオ"/>
                <a:ea typeface="メイリオ"/>
              </a:rPr>
              <a:t>One Team</a:t>
            </a:r>
            <a:r>
              <a:rPr kumimoji="0" lang="ja-JP" altLang="en-US" sz="1000" kern="0">
                <a:solidFill>
                  <a:srgbClr val="006487"/>
                </a:solidFill>
                <a:latin typeface="メイリオ"/>
                <a:ea typeface="メイリオ"/>
              </a:rPr>
              <a:t>活動、部門費人員協議会と兼務・連携</a:t>
            </a:r>
            <a:endParaRPr kumimoji="0" lang="en-US" altLang="ja-JP" sz="1000" b="0" i="0" u="none" strike="noStrike" kern="0" cap="none" spc="0" normalizeH="0" baseline="0" noProof="0">
              <a:ln>
                <a:noFill/>
              </a:ln>
              <a:solidFill>
                <a:srgbClr val="006487"/>
              </a:solidFill>
              <a:effectLst/>
              <a:uLnTx/>
              <a:uFillTx/>
              <a:latin typeface="メイリオ"/>
              <a:ea typeface="メイリオ"/>
              <a:cs typeface="+mn-cs"/>
            </a:endParaRPr>
          </a:p>
          <a:p>
            <a:pPr marL="171450" marR="0" lvl="0" indent="-171450" algn="l" defTabSz="6943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0" i="0" u="none" strike="noStrike" kern="0" cap="none" spc="0" normalizeH="0" baseline="0" noProof="0">
                <a:ln>
                  <a:noFill/>
                </a:ln>
                <a:solidFill>
                  <a:srgbClr val="006487"/>
                </a:solidFill>
                <a:effectLst/>
                <a:uLnTx/>
                <a:uFillTx/>
                <a:latin typeface="メイリオ"/>
                <a:ea typeface="メイリオ"/>
                <a:cs typeface="+mn-cs"/>
              </a:rPr>
              <a:t>全体定例の参加や</a:t>
            </a:r>
            <a:r>
              <a:rPr kumimoji="0" lang="ja-JP" altLang="en-US" sz="1000" kern="0">
                <a:solidFill>
                  <a:srgbClr val="006487"/>
                </a:solidFill>
                <a:latin typeface="メイリオ"/>
                <a:ea typeface="メイリオ"/>
              </a:rPr>
              <a:t>個別検討会の開催</a:t>
            </a:r>
            <a:r>
              <a:rPr kumimoji="0" lang="ja-JP" altLang="en-US" sz="1000" b="0" i="0" u="none" strike="noStrike" kern="0" cap="none" spc="0" normalizeH="0" baseline="0" noProof="0">
                <a:ln>
                  <a:noFill/>
                </a:ln>
                <a:solidFill>
                  <a:srgbClr val="006487"/>
                </a:solidFill>
                <a:effectLst/>
                <a:uLnTx/>
                <a:uFillTx/>
                <a:latin typeface="メイリオ"/>
                <a:ea typeface="メイリオ"/>
                <a:cs typeface="+mn-cs"/>
              </a:rPr>
              <a:t>を担う</a:t>
            </a:r>
          </a:p>
        </p:txBody>
      </p:sp>
      <p:graphicFrame>
        <p:nvGraphicFramePr>
          <p:cNvPr id="48" name="表 47">
            <a:extLst>
              <a:ext uri="{FF2B5EF4-FFF2-40B4-BE49-F238E27FC236}">
                <a16:creationId xmlns:a16="http://schemas.microsoft.com/office/drawing/2014/main" id="{3D47EAAC-1564-4DEF-A6F4-144A9933B01D}"/>
              </a:ext>
            </a:extLst>
          </p:cNvPr>
          <p:cNvGraphicFramePr>
            <a:graphicFrameLocks noGrp="1"/>
          </p:cNvGraphicFramePr>
          <p:nvPr>
            <p:extLst>
              <p:ext uri="{D42A27DB-BD31-4B8C-83A1-F6EECF244321}">
                <p14:modId xmlns:p14="http://schemas.microsoft.com/office/powerpoint/2010/main" val="1654789260"/>
              </p:ext>
            </p:extLst>
          </p:nvPr>
        </p:nvGraphicFramePr>
        <p:xfrm>
          <a:off x="5717922" y="2275081"/>
          <a:ext cx="3129586" cy="635889"/>
        </p:xfrm>
        <a:graphic>
          <a:graphicData uri="http://schemas.openxmlformats.org/drawingml/2006/table">
            <a:tbl>
              <a:tblPr firstRow="1" bandRow="1"/>
              <a:tblGrid>
                <a:gridCol w="3129586">
                  <a:extLst>
                    <a:ext uri="{9D8B030D-6E8A-4147-A177-3AD203B41FA5}">
                      <a16:colId xmlns:a16="http://schemas.microsoft.com/office/drawing/2014/main" val="1579690086"/>
                    </a:ext>
                  </a:extLst>
                </a:gridCol>
              </a:tblGrid>
              <a:tr h="201549">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en-US" altLang="ja-JP" sz="800">
                          <a:solidFill>
                            <a:schemeClr val="bg1"/>
                          </a:solidFill>
                          <a:latin typeface="+mj-ea"/>
                          <a:ea typeface="+mj-ea"/>
                        </a:rPr>
                        <a:t>MHI</a:t>
                      </a:r>
                      <a:r>
                        <a:rPr kumimoji="1" lang="ja-JP" altLang="en-US" sz="800">
                          <a:solidFill>
                            <a:schemeClr val="bg1"/>
                          </a:solidFill>
                          <a:latin typeface="+mj-ea"/>
                          <a:ea typeface="+mj-ea"/>
                        </a:rPr>
                        <a:t>事務局メンバー</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030322843"/>
                  </a:ext>
                </a:extLst>
              </a:tr>
              <a:tr h="201549">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ja-JP" altLang="en-US" sz="800">
                          <a:latin typeface="+mj-ea"/>
                          <a:ea typeface="+mj-ea"/>
                        </a:rPr>
                        <a:t>事業戦：磯崎部長、園田次長、山内主席</a:t>
                      </a:r>
                      <a:endParaRPr kumimoji="1" lang="en-US" altLang="ja-JP" sz="800">
                        <a:latin typeface="+mj-ea"/>
                        <a:ea typeface="+mj-ea"/>
                      </a:endParaRPr>
                    </a:p>
                    <a:p>
                      <a:pPr algn="ctr"/>
                      <a:r>
                        <a:rPr kumimoji="1" lang="en-US" altLang="ja-JP" sz="800">
                          <a:latin typeface="+mj-ea"/>
                          <a:ea typeface="+mj-ea"/>
                        </a:rPr>
                        <a:t>DI</a:t>
                      </a:r>
                      <a:r>
                        <a:rPr kumimoji="1" lang="ja-JP" altLang="en-US" sz="800">
                          <a:latin typeface="+mj-ea"/>
                          <a:ea typeface="+mj-ea"/>
                        </a:rPr>
                        <a:t>総：石井主席</a:t>
                      </a:r>
                      <a:endParaRPr kumimoji="1" lang="en-US" altLang="ja-JP" sz="800">
                        <a:latin typeface="+mj-ea"/>
                        <a:ea typeface="+mj-ea"/>
                      </a:endParaRPr>
                    </a:p>
                    <a:p>
                      <a:pPr algn="ctr"/>
                      <a:r>
                        <a:rPr kumimoji="1" lang="ja-JP" altLang="en-US" sz="800">
                          <a:latin typeface="+mj-ea"/>
                          <a:ea typeface="+mj-ea"/>
                        </a:rPr>
                        <a:t>財経部：村岡主席</a:t>
                      </a:r>
                    </a:p>
                  </a:txBody>
                  <a:tcPr marL="68580" marR="68580" marT="34290" marB="34290">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156156361"/>
                  </a:ext>
                </a:extLst>
              </a:tr>
            </a:tbl>
          </a:graphicData>
        </a:graphic>
      </p:graphicFrame>
      <p:graphicFrame>
        <p:nvGraphicFramePr>
          <p:cNvPr id="39" name="表 38">
            <a:extLst>
              <a:ext uri="{FF2B5EF4-FFF2-40B4-BE49-F238E27FC236}">
                <a16:creationId xmlns:a16="http://schemas.microsoft.com/office/drawing/2014/main" id="{CDC1FE06-F8CA-4B14-9E7F-69A1ABD335FF}"/>
              </a:ext>
            </a:extLst>
          </p:cNvPr>
          <p:cNvGraphicFramePr>
            <a:graphicFrameLocks noGrp="1"/>
          </p:cNvGraphicFramePr>
          <p:nvPr>
            <p:extLst>
              <p:ext uri="{D42A27DB-BD31-4B8C-83A1-F6EECF244321}">
                <p14:modId xmlns:p14="http://schemas.microsoft.com/office/powerpoint/2010/main" val="3049226532"/>
              </p:ext>
            </p:extLst>
          </p:nvPr>
        </p:nvGraphicFramePr>
        <p:xfrm>
          <a:off x="5717922" y="2946975"/>
          <a:ext cx="3129586" cy="403098"/>
        </p:xfrm>
        <a:graphic>
          <a:graphicData uri="http://schemas.openxmlformats.org/drawingml/2006/table">
            <a:tbl>
              <a:tblPr firstRow="1" bandRow="1"/>
              <a:tblGrid>
                <a:gridCol w="3129586">
                  <a:extLst>
                    <a:ext uri="{9D8B030D-6E8A-4147-A177-3AD203B41FA5}">
                      <a16:colId xmlns:a16="http://schemas.microsoft.com/office/drawing/2014/main" val="1579690086"/>
                    </a:ext>
                  </a:extLst>
                </a:gridCol>
              </a:tblGrid>
              <a:tr h="201549">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algn="ctr"/>
                      <a:r>
                        <a:rPr kumimoji="1" lang="en-US" altLang="ja-JP" sz="800">
                          <a:solidFill>
                            <a:schemeClr val="bg1"/>
                          </a:solidFill>
                          <a:latin typeface="+mj-ea"/>
                          <a:ea typeface="+mj-ea"/>
                        </a:rPr>
                        <a:t>PMO</a:t>
                      </a:r>
                      <a:endParaRPr kumimoji="1" lang="ja-JP" altLang="en-US" sz="800">
                        <a:solidFill>
                          <a:schemeClr val="bg1"/>
                        </a:solidFill>
                        <a:latin typeface="+mj-ea"/>
                        <a:ea typeface="+mj-ea"/>
                      </a:endParaRP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030322843"/>
                  </a:ext>
                </a:extLst>
              </a:tr>
              <a:tr h="201549">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lvl="0" algn="ctr" eaLnBrk="0" hangingPunct="0">
                        <a:lnSpc>
                          <a:spcPct val="90000"/>
                        </a:lnSpc>
                        <a:spcBef>
                          <a:spcPct val="0"/>
                        </a:spcBef>
                        <a:defRPr/>
                      </a:pPr>
                      <a:r>
                        <a:rPr lang="en-US" altLang="ja-JP" sz="800" kern="0">
                          <a:solidFill>
                            <a:srgbClr val="000000"/>
                          </a:solidFill>
                          <a:latin typeface="メイリオ"/>
                          <a:ea typeface="メイリオ"/>
                        </a:rPr>
                        <a:t>NTT</a:t>
                      </a:r>
                      <a:r>
                        <a:rPr lang="ja-JP" altLang="en-US" sz="800" kern="0">
                          <a:solidFill>
                            <a:srgbClr val="000000"/>
                          </a:solidFill>
                          <a:latin typeface="メイリオ"/>
                          <a:ea typeface="メイリオ"/>
                        </a:rPr>
                        <a:t>データ</a:t>
                      </a:r>
                      <a:r>
                        <a:rPr kumimoji="1" lang="ja-JP" altLang="en-US" sz="800" b="0" i="0" u="none" strike="noStrike" kern="0" cap="none" spc="0" normalizeH="0" baseline="0">
                          <a:ln>
                            <a:noFill/>
                          </a:ln>
                          <a:solidFill>
                            <a:srgbClr val="000000"/>
                          </a:solidFill>
                          <a:effectLst/>
                          <a:uLnTx/>
                          <a:uFillTx/>
                          <a:latin typeface="メイリオ"/>
                          <a:ea typeface="メイリオ"/>
                          <a:cs typeface="+mn-cs"/>
                        </a:rPr>
                        <a:t>　</a:t>
                      </a:r>
                      <a:r>
                        <a:rPr kumimoji="1" lang="ja-JP" altLang="en-US" sz="800" b="0" i="0" u="none" strike="noStrike" kern="0" cap="none" spc="0" normalizeH="0" baseline="0" noProof="0">
                          <a:ln>
                            <a:noFill/>
                          </a:ln>
                          <a:solidFill>
                            <a:srgbClr val="000000"/>
                          </a:solidFill>
                          <a:effectLst/>
                          <a:uLnTx/>
                          <a:uFillTx/>
                          <a:latin typeface="メイリオ"/>
                          <a:ea typeface="メイリオ"/>
                          <a:cs typeface="+mn-cs"/>
                        </a:rPr>
                        <a:t>大理 博紀</a:t>
                      </a:r>
                      <a:endParaRPr kumimoji="1" lang="en-US" altLang="ja-JP" sz="700" b="0" i="0" u="none" strike="noStrike" kern="0" cap="none" spc="0" normalizeH="0" baseline="0" noProof="0">
                        <a:ln>
                          <a:noFill/>
                        </a:ln>
                        <a:solidFill>
                          <a:srgbClr val="000000"/>
                        </a:solidFill>
                        <a:effectLst/>
                        <a:uLnTx/>
                        <a:uFillTx/>
                        <a:latin typeface="メイリオ"/>
                        <a:ea typeface="メイリオ"/>
                        <a:cs typeface="+mn-cs"/>
                      </a:endParaRPr>
                    </a:p>
                  </a:txBody>
                  <a:tcPr marL="68580" marR="68580" marT="34290" marB="34290">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156156361"/>
                  </a:ext>
                </a:extLst>
              </a:tr>
            </a:tbl>
          </a:graphicData>
        </a:graphic>
      </p:graphicFrame>
      <p:graphicFrame>
        <p:nvGraphicFramePr>
          <p:cNvPr id="41" name="表 40">
            <a:extLst>
              <a:ext uri="{FF2B5EF4-FFF2-40B4-BE49-F238E27FC236}">
                <a16:creationId xmlns:a16="http://schemas.microsoft.com/office/drawing/2014/main" id="{C8FD01BA-D6A4-46EA-ABD3-038468AD7BD6}"/>
              </a:ext>
            </a:extLst>
          </p:cNvPr>
          <p:cNvGraphicFramePr>
            <a:graphicFrameLocks noGrp="1"/>
          </p:cNvGraphicFramePr>
          <p:nvPr>
            <p:extLst>
              <p:ext uri="{D42A27DB-BD31-4B8C-83A1-F6EECF244321}">
                <p14:modId xmlns:p14="http://schemas.microsoft.com/office/powerpoint/2010/main" val="22667023"/>
              </p:ext>
            </p:extLst>
          </p:nvPr>
        </p:nvGraphicFramePr>
        <p:xfrm>
          <a:off x="5717922" y="3386077"/>
          <a:ext cx="3129586" cy="602361"/>
        </p:xfrm>
        <a:graphic>
          <a:graphicData uri="http://schemas.openxmlformats.org/drawingml/2006/table">
            <a:tbl>
              <a:tblPr firstRow="1" bandRow="1"/>
              <a:tblGrid>
                <a:gridCol w="3129586">
                  <a:extLst>
                    <a:ext uri="{9D8B030D-6E8A-4147-A177-3AD203B41FA5}">
                      <a16:colId xmlns:a16="http://schemas.microsoft.com/office/drawing/2014/main" val="1579690086"/>
                    </a:ext>
                  </a:extLst>
                </a:gridCol>
              </a:tblGrid>
              <a:tr h="201549">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marL="0" marR="0" lvl="0" indent="0" algn="ctr" defTabSz="685783" rtl="0" eaLnBrk="0" fontAlgn="base" latinLnBrk="0" hangingPunct="0">
                        <a:lnSpc>
                          <a:spcPct val="90000"/>
                        </a:lnSpc>
                        <a:spcBef>
                          <a:spcPct val="0"/>
                        </a:spcBef>
                        <a:spcAft>
                          <a:spcPct val="0"/>
                        </a:spcAft>
                        <a:buClrTx/>
                        <a:buSzTx/>
                        <a:buFontTx/>
                        <a:buNone/>
                        <a:tabLst/>
                        <a:defRPr/>
                      </a:pPr>
                      <a:r>
                        <a:rPr kumimoji="1" lang="ja-JP" altLang="en-US" sz="800" b="0" i="0" u="none" strike="noStrike" kern="0" cap="none" spc="0" normalizeH="0" baseline="0" noProof="0">
                          <a:ln>
                            <a:noFill/>
                          </a:ln>
                          <a:solidFill>
                            <a:srgbClr val="FFFFFF"/>
                          </a:solidFill>
                          <a:effectLst/>
                          <a:uLnTx/>
                          <a:uFillTx/>
                          <a:latin typeface="メイリオ"/>
                          <a:ea typeface="メイリオ"/>
                          <a:cs typeface="Meiryo UI" panose="020B0604030504040204" pitchFamily="50" charset="-128"/>
                        </a:rPr>
                        <a:t>リード・実施担当</a:t>
                      </a:r>
                    </a:p>
                  </a:txBody>
                  <a:tcPr marL="68580" marR="68580" marT="34290" marB="34290">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030322843"/>
                  </a:ext>
                </a:extLst>
              </a:tr>
              <a:tr h="201549">
                <a:tc>
                  <a:txBody>
                    <a:bodyPr/>
                    <a:lstStyle>
                      <a:lvl1pPr marL="0" algn="l" defTabSz="534552" rtl="0" eaLnBrk="1" latinLnBrk="0" hangingPunct="1">
                        <a:defRPr kumimoji="1" sz="2105" kern="1200">
                          <a:solidFill>
                            <a:schemeClr val="tx1"/>
                          </a:solidFill>
                          <a:latin typeface="HGP創英角ｺﾞｼｯｸUB"/>
                          <a:ea typeface="HGP創英角ｺﾞｼｯｸUB"/>
                        </a:defRPr>
                      </a:lvl1pPr>
                      <a:lvl2pPr marL="534552" algn="l" defTabSz="534552" rtl="0" eaLnBrk="1" latinLnBrk="0" hangingPunct="1">
                        <a:defRPr kumimoji="1" sz="2105" kern="1200">
                          <a:solidFill>
                            <a:schemeClr val="tx1"/>
                          </a:solidFill>
                          <a:latin typeface="HGP創英角ｺﾞｼｯｸUB"/>
                          <a:ea typeface="HGP創英角ｺﾞｼｯｸUB"/>
                        </a:defRPr>
                      </a:lvl2pPr>
                      <a:lvl3pPr marL="1069107" algn="l" defTabSz="534552" rtl="0" eaLnBrk="1" latinLnBrk="0" hangingPunct="1">
                        <a:defRPr kumimoji="1" sz="2105" kern="1200">
                          <a:solidFill>
                            <a:schemeClr val="tx1"/>
                          </a:solidFill>
                          <a:latin typeface="HGP創英角ｺﾞｼｯｸUB"/>
                          <a:ea typeface="HGP創英角ｺﾞｼｯｸUB"/>
                        </a:defRPr>
                      </a:lvl3pPr>
                      <a:lvl4pPr marL="1603659" algn="l" defTabSz="534552" rtl="0" eaLnBrk="1" latinLnBrk="0" hangingPunct="1">
                        <a:defRPr kumimoji="1" sz="2105" kern="1200">
                          <a:solidFill>
                            <a:schemeClr val="tx1"/>
                          </a:solidFill>
                          <a:latin typeface="HGP創英角ｺﾞｼｯｸUB"/>
                          <a:ea typeface="HGP創英角ｺﾞｼｯｸUB"/>
                        </a:defRPr>
                      </a:lvl4pPr>
                      <a:lvl5pPr marL="2138212" algn="l" defTabSz="534552" rtl="0" eaLnBrk="1" latinLnBrk="0" hangingPunct="1">
                        <a:defRPr kumimoji="1" sz="2105" kern="1200">
                          <a:solidFill>
                            <a:schemeClr val="tx1"/>
                          </a:solidFill>
                          <a:latin typeface="HGP創英角ｺﾞｼｯｸUB"/>
                          <a:ea typeface="HGP創英角ｺﾞｼｯｸUB"/>
                        </a:defRPr>
                      </a:lvl5pPr>
                      <a:lvl6pPr marL="2672764" algn="l" defTabSz="534552" rtl="0" eaLnBrk="1" latinLnBrk="0" hangingPunct="1">
                        <a:defRPr kumimoji="1" sz="2105" kern="1200">
                          <a:solidFill>
                            <a:schemeClr val="tx1"/>
                          </a:solidFill>
                          <a:latin typeface="HGP創英角ｺﾞｼｯｸUB"/>
                          <a:ea typeface="HGP創英角ｺﾞｼｯｸUB"/>
                        </a:defRPr>
                      </a:lvl6pPr>
                      <a:lvl7pPr marL="3207314" algn="l" defTabSz="534552" rtl="0" eaLnBrk="1" latinLnBrk="0" hangingPunct="1">
                        <a:defRPr kumimoji="1" sz="2105" kern="1200">
                          <a:solidFill>
                            <a:schemeClr val="tx1"/>
                          </a:solidFill>
                          <a:latin typeface="HGP創英角ｺﾞｼｯｸUB"/>
                          <a:ea typeface="HGP創英角ｺﾞｼｯｸUB"/>
                        </a:defRPr>
                      </a:lvl7pPr>
                      <a:lvl8pPr marL="3741868" algn="l" defTabSz="534552" rtl="0" eaLnBrk="1" latinLnBrk="0" hangingPunct="1">
                        <a:defRPr kumimoji="1" sz="2105" kern="1200">
                          <a:solidFill>
                            <a:schemeClr val="tx1"/>
                          </a:solidFill>
                          <a:latin typeface="HGP創英角ｺﾞｼｯｸUB"/>
                          <a:ea typeface="HGP創英角ｺﾞｼｯｸUB"/>
                        </a:defRPr>
                      </a:lvl8pPr>
                      <a:lvl9pPr marL="4276420" algn="l" defTabSz="534552" rtl="0" eaLnBrk="1" latinLnBrk="0" hangingPunct="1">
                        <a:defRPr kumimoji="1" sz="2105" kern="1200">
                          <a:solidFill>
                            <a:schemeClr val="tx1"/>
                          </a:solidFill>
                          <a:latin typeface="HGP創英角ｺﾞｼｯｸUB"/>
                          <a:ea typeface="HGP創英角ｺﾞｼｯｸUB"/>
                        </a:defRPr>
                      </a:lvl9pPr>
                    </a:lstStyle>
                    <a:p>
                      <a:pPr lvl="0" algn="ctr" eaLnBrk="0" hangingPunct="0">
                        <a:lnSpc>
                          <a:spcPct val="90000"/>
                        </a:lnSpc>
                        <a:spcBef>
                          <a:spcPct val="0"/>
                        </a:spcBef>
                        <a:defRPr/>
                      </a:pPr>
                      <a:r>
                        <a:rPr lang="ja-JP" altLang="en-US" sz="800" kern="0">
                          <a:solidFill>
                            <a:srgbClr val="000000"/>
                          </a:solidFill>
                          <a:latin typeface="メイリオ"/>
                          <a:ea typeface="メイリオ"/>
                        </a:rPr>
                        <a:t>クニエ　小川 </a:t>
                      </a:r>
                      <a:r>
                        <a:rPr kumimoji="1" lang="ja-JP" altLang="en-US" sz="800" b="0" i="0" u="none" strike="noStrike" kern="0" cap="none" spc="0" normalizeH="0" baseline="0" noProof="0">
                          <a:ln>
                            <a:noFill/>
                          </a:ln>
                          <a:solidFill>
                            <a:srgbClr val="000000"/>
                          </a:solidFill>
                          <a:effectLst/>
                          <a:uLnTx/>
                          <a:uFillTx/>
                          <a:latin typeface="メイリオ"/>
                          <a:ea typeface="メイリオ"/>
                          <a:cs typeface="+mn-cs"/>
                        </a:rPr>
                        <a:t>敬造</a:t>
                      </a:r>
                      <a:r>
                        <a:rPr kumimoji="1" lang="en-US" altLang="ja-JP" sz="800" b="0" i="0" u="none" strike="noStrike" kern="0" cap="none" spc="0" normalizeH="0" baseline="0" noProof="0">
                          <a:ln>
                            <a:noFill/>
                          </a:ln>
                          <a:solidFill>
                            <a:srgbClr val="000000"/>
                          </a:solidFill>
                          <a:effectLst/>
                          <a:uLnTx/>
                          <a:uFillTx/>
                          <a:latin typeface="メイリオ"/>
                          <a:ea typeface="メイリオ"/>
                          <a:cs typeface="+mn-cs"/>
                        </a:rPr>
                        <a:t> </a:t>
                      </a:r>
                    </a:p>
                    <a:p>
                      <a:pPr lvl="0" algn="ctr" eaLnBrk="0" hangingPunct="0">
                        <a:lnSpc>
                          <a:spcPct val="90000"/>
                        </a:lnSpc>
                        <a:spcBef>
                          <a:spcPct val="0"/>
                        </a:spcBef>
                        <a:defRPr/>
                      </a:pPr>
                      <a:r>
                        <a:rPr kumimoji="1" lang="en-US" altLang="ja-JP" sz="800" b="0" i="0" u="none" strike="noStrike" kern="0" cap="none" spc="0" normalizeH="0" baseline="0" noProof="0">
                          <a:ln>
                            <a:noFill/>
                          </a:ln>
                          <a:solidFill>
                            <a:srgbClr val="000000"/>
                          </a:solidFill>
                          <a:effectLst/>
                          <a:uLnTx/>
                          <a:uFillTx/>
                          <a:latin typeface="メイリオ"/>
                          <a:ea typeface="メイリオ"/>
                          <a:cs typeface="+mn-cs"/>
                        </a:rPr>
                        <a:t>            </a:t>
                      </a:r>
                      <a:r>
                        <a:rPr kumimoji="1" lang="ja-JP" altLang="en-US" sz="800" b="0" i="0" u="none" strike="noStrike" kern="0" cap="none" spc="0" normalizeH="0" baseline="0" noProof="0">
                          <a:ln>
                            <a:noFill/>
                          </a:ln>
                          <a:solidFill>
                            <a:srgbClr val="000000"/>
                          </a:solidFill>
                          <a:effectLst/>
                          <a:uLnTx/>
                          <a:uFillTx/>
                          <a:latin typeface="メイリオ"/>
                          <a:ea typeface="メイリオ"/>
                          <a:cs typeface="+mn-cs"/>
                        </a:rPr>
                        <a:t>稲村 研吾</a:t>
                      </a:r>
                      <a:endParaRPr kumimoji="1" lang="en-US" altLang="ja-JP" sz="800" b="0" i="0" u="none" strike="noStrike" kern="0" cap="none" spc="0" normalizeH="0" baseline="0" noProof="0">
                        <a:ln>
                          <a:noFill/>
                        </a:ln>
                        <a:solidFill>
                          <a:srgbClr val="000000"/>
                        </a:solidFill>
                        <a:effectLst/>
                        <a:uLnTx/>
                        <a:uFillTx/>
                        <a:latin typeface="メイリオ"/>
                        <a:ea typeface="メイリオ"/>
                        <a:cs typeface="+mn-cs"/>
                      </a:endParaRPr>
                    </a:p>
                    <a:p>
                      <a:pPr lvl="0" algn="ctr" eaLnBrk="0" hangingPunct="0">
                        <a:lnSpc>
                          <a:spcPct val="90000"/>
                        </a:lnSpc>
                        <a:spcBef>
                          <a:spcPct val="0"/>
                        </a:spcBef>
                        <a:defRPr/>
                      </a:pPr>
                      <a:r>
                        <a:rPr kumimoji="1" lang="en-US" altLang="ja-JP" sz="800" b="0" i="0" u="none" strike="noStrike" kern="0" cap="none" spc="0" normalizeH="0" baseline="0" noProof="0">
                          <a:ln>
                            <a:noFill/>
                          </a:ln>
                          <a:solidFill>
                            <a:srgbClr val="000000"/>
                          </a:solidFill>
                          <a:effectLst/>
                          <a:uLnTx/>
                          <a:uFillTx/>
                          <a:latin typeface="メイリオ"/>
                          <a:ea typeface="メイリオ"/>
                          <a:cs typeface="+mn-cs"/>
                        </a:rPr>
                        <a:t>            </a:t>
                      </a:r>
                      <a:r>
                        <a:rPr kumimoji="1" lang="ja-JP" altLang="en-US" sz="800" b="0" i="0" u="none" strike="noStrike" kern="0" cap="none" spc="0" normalizeH="0" baseline="0" noProof="0">
                          <a:ln>
                            <a:noFill/>
                          </a:ln>
                          <a:solidFill>
                            <a:srgbClr val="000000"/>
                          </a:solidFill>
                          <a:effectLst/>
                          <a:uLnTx/>
                          <a:uFillTx/>
                          <a:latin typeface="メイリオ"/>
                          <a:ea typeface="メイリオ"/>
                          <a:cs typeface="+mn-cs"/>
                        </a:rPr>
                        <a:t>鷲崎 淳一</a:t>
                      </a:r>
                      <a:endParaRPr kumimoji="1" lang="en-US" altLang="ja-JP" sz="700" b="0" i="0" u="none" strike="noStrike" kern="0" cap="none" spc="0" normalizeH="0" baseline="0" noProof="0">
                        <a:ln>
                          <a:noFill/>
                        </a:ln>
                        <a:solidFill>
                          <a:srgbClr val="000000"/>
                        </a:solidFill>
                        <a:effectLst/>
                        <a:uLnTx/>
                        <a:uFillTx/>
                        <a:latin typeface="メイリオ"/>
                        <a:ea typeface="メイリオ"/>
                        <a:cs typeface="+mn-cs"/>
                      </a:endParaRPr>
                    </a:p>
                  </a:txBody>
                  <a:tcPr marL="68580" marR="68580" marT="34290" marB="34290">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156156361"/>
                  </a:ext>
                </a:extLst>
              </a:tr>
            </a:tbl>
          </a:graphicData>
        </a:graphic>
      </p:graphicFrame>
      <p:sp>
        <p:nvSpPr>
          <p:cNvPr id="130" name="楕円 129">
            <a:extLst>
              <a:ext uri="{FF2B5EF4-FFF2-40B4-BE49-F238E27FC236}">
                <a16:creationId xmlns:a16="http://schemas.microsoft.com/office/drawing/2014/main" id="{024EACCE-A877-4107-A031-C307F8AFB264}"/>
              </a:ext>
            </a:extLst>
          </p:cNvPr>
          <p:cNvSpPr/>
          <p:nvPr/>
        </p:nvSpPr>
        <p:spPr>
          <a:xfrm>
            <a:off x="5307130" y="4504719"/>
            <a:ext cx="108368" cy="1927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Arial"/>
              <a:ea typeface="メイリオ"/>
              <a:cs typeface="+mn-cs"/>
            </a:endParaRPr>
          </a:p>
        </p:txBody>
      </p:sp>
      <p:sp>
        <p:nvSpPr>
          <p:cNvPr id="52" name="正方形/長方形 51">
            <a:extLst>
              <a:ext uri="{FF2B5EF4-FFF2-40B4-BE49-F238E27FC236}">
                <a16:creationId xmlns:a16="http://schemas.microsoft.com/office/drawing/2014/main" id="{B618EBB1-2D3B-42A9-933B-5B4AAB00995E}"/>
              </a:ext>
            </a:extLst>
          </p:cNvPr>
          <p:cNvSpPr/>
          <p:nvPr/>
        </p:nvSpPr>
        <p:spPr>
          <a:xfrm>
            <a:off x="5305576" y="4484866"/>
            <a:ext cx="3659897" cy="1704244"/>
          </a:xfrm>
          <a:prstGeom prst="rect">
            <a:avLst/>
          </a:prstGeom>
          <a:solidFill>
            <a:schemeClr val="accent3">
              <a:lumMod val="20000"/>
              <a:lumOff val="80000"/>
            </a:schemeClr>
          </a:solidFill>
          <a:ln w="12700" cap="flat" cmpd="sng" algn="ctr">
            <a:noFill/>
            <a:prstDash val="solid"/>
            <a:miter lim="800000"/>
          </a:ln>
          <a:effectLst/>
        </p:spPr>
        <p:txBody>
          <a:bodyPr rtlCol="0" anchor="t"/>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67783"/>
                </a:solidFill>
                <a:effectLst/>
                <a:uLnTx/>
                <a:uFillTx/>
                <a:latin typeface="メイリオ"/>
                <a:ea typeface="メイリオ"/>
                <a:cs typeface="+mn-cs"/>
              </a:rPr>
              <a:t>個別検討会</a:t>
            </a:r>
            <a:endParaRPr kumimoji="0" lang="en-US" altLang="ja-JP" sz="1200" b="1" i="0" u="none" strike="noStrike" kern="0" cap="none" spc="0" normalizeH="0" baseline="0" noProof="0">
              <a:ln>
                <a:noFill/>
              </a:ln>
              <a:solidFill>
                <a:srgbClr val="567783"/>
              </a:solidFill>
              <a:effectLst/>
              <a:uLnTx/>
              <a:uFillTx/>
              <a:latin typeface="メイリオ"/>
              <a:ea typeface="メイリオ"/>
              <a:cs typeface="+mn-cs"/>
            </a:endParaRPr>
          </a:p>
          <a:p>
            <a:pPr lvl="0" defTabSz="694393">
              <a:defRPr/>
            </a:pPr>
            <a:r>
              <a:rPr kumimoji="0" lang="ja-JP" altLang="en-US" sz="1200" kern="0">
                <a:solidFill>
                  <a:srgbClr val="567783"/>
                </a:solidFill>
                <a:latin typeface="メイリオ"/>
              </a:rPr>
              <a:t>検討テーマに関係する関連部門を対象とする</a:t>
            </a:r>
            <a:br>
              <a:rPr kumimoji="0" lang="en-US" altLang="ja-JP" sz="1200" kern="0">
                <a:solidFill>
                  <a:srgbClr val="567783"/>
                </a:solidFill>
                <a:latin typeface="メイリオ"/>
              </a:rPr>
            </a:br>
            <a:r>
              <a:rPr kumimoji="0" lang="ja-JP" altLang="en-US" sz="1200" kern="0">
                <a:solidFill>
                  <a:srgbClr val="567783"/>
                </a:solidFill>
                <a:latin typeface="メイリオ"/>
              </a:rPr>
              <a:t>検討会を実施</a:t>
            </a:r>
            <a:endParaRPr kumimoji="0" lang="ja-JP" altLang="en-US" sz="1200" b="0" i="0" u="none" strike="noStrike" kern="0" cap="none" spc="0" normalizeH="0" baseline="0" noProof="0">
              <a:ln>
                <a:noFill/>
              </a:ln>
              <a:solidFill>
                <a:srgbClr val="567783"/>
              </a:solidFill>
              <a:effectLst/>
              <a:uLnTx/>
              <a:uFillTx/>
              <a:latin typeface="メイリオ"/>
              <a:ea typeface="メイリオ"/>
              <a:cs typeface="+mn-cs"/>
            </a:endParaRPr>
          </a:p>
        </p:txBody>
      </p:sp>
      <p:sp>
        <p:nvSpPr>
          <p:cNvPr id="53" name="正方形/長方形 52">
            <a:extLst>
              <a:ext uri="{FF2B5EF4-FFF2-40B4-BE49-F238E27FC236}">
                <a16:creationId xmlns:a16="http://schemas.microsoft.com/office/drawing/2014/main" id="{4657A922-D3C3-4877-A6AB-8A6173C8083C}"/>
              </a:ext>
            </a:extLst>
          </p:cNvPr>
          <p:cNvSpPr/>
          <p:nvPr/>
        </p:nvSpPr>
        <p:spPr>
          <a:xfrm>
            <a:off x="5382883" y="5291462"/>
            <a:ext cx="966957" cy="249390"/>
          </a:xfrm>
          <a:prstGeom prst="rect">
            <a:avLst/>
          </a:prstGeom>
          <a:solidFill>
            <a:srgbClr val="FFFFFF">
              <a:lumMod val="75000"/>
            </a:srgbClr>
          </a:solidFill>
          <a:ln w="12700" cap="flat" cmpd="sng" algn="ctr">
            <a:solidFill>
              <a:srgbClr val="C2CEE6">
                <a:shade val="50000"/>
              </a:srgbClr>
            </a:solidFill>
            <a:prstDash val="solid"/>
            <a:miter lim="800000"/>
          </a:ln>
          <a:effectLst/>
        </p:spPr>
        <p:txBody>
          <a:bodyPr vert="horz" rtlCol="0" anchor="ctr"/>
          <a:lstStyle/>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関連部門</a:t>
            </a:r>
            <a:r>
              <a:rPr kumimoji="0" lang="en-US" altLang="ja-JP"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A</a:t>
            </a:r>
            <a:endPar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endParaRPr>
          </a:p>
        </p:txBody>
      </p:sp>
      <p:sp>
        <p:nvSpPr>
          <p:cNvPr id="54" name="テキスト ボックス 53">
            <a:extLst>
              <a:ext uri="{FF2B5EF4-FFF2-40B4-BE49-F238E27FC236}">
                <a16:creationId xmlns:a16="http://schemas.microsoft.com/office/drawing/2014/main" id="{B6BF1619-E34E-4D10-836A-C0CA96E246C2}"/>
              </a:ext>
            </a:extLst>
          </p:cNvPr>
          <p:cNvSpPr txBox="1"/>
          <p:nvPr/>
        </p:nvSpPr>
        <p:spPr>
          <a:xfrm rot="10800000">
            <a:off x="8471998" y="5295046"/>
            <a:ext cx="569388" cy="246221"/>
          </a:xfrm>
          <a:prstGeom prst="rect">
            <a:avLst/>
          </a:prstGeom>
          <a:noFill/>
        </p:spPr>
        <p:txBody>
          <a:bodyPr vert="horz" wrap="none" rtlCol="0">
            <a:spAutoFit/>
          </a:bodyPr>
          <a:lstStyle/>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000" kern="0">
                <a:solidFill>
                  <a:srgbClr val="FFFFFF">
                    <a:lumMod val="50000"/>
                  </a:srgbClr>
                </a:solidFill>
                <a:latin typeface="メイリオ"/>
                <a:ea typeface="メイリオ"/>
              </a:rPr>
              <a:t>・・・</a:t>
            </a:r>
            <a:endParaRPr kumimoji="0" lang="ja-JP" altLang="en-US" sz="1000" i="0" u="none" strike="noStrike" kern="0" cap="none" spc="0" normalizeH="0" baseline="0" noProof="0">
              <a:ln>
                <a:noFill/>
              </a:ln>
              <a:solidFill>
                <a:srgbClr val="FFFFFF">
                  <a:lumMod val="50000"/>
                </a:srgbClr>
              </a:solidFill>
              <a:effectLst/>
              <a:uLnTx/>
              <a:uFillTx/>
              <a:latin typeface="メイリオ"/>
              <a:ea typeface="メイリオ"/>
              <a:cs typeface="+mn-cs"/>
            </a:endParaRPr>
          </a:p>
        </p:txBody>
      </p:sp>
      <p:sp>
        <p:nvSpPr>
          <p:cNvPr id="55" name="正方形/長方形 54">
            <a:extLst>
              <a:ext uri="{FF2B5EF4-FFF2-40B4-BE49-F238E27FC236}">
                <a16:creationId xmlns:a16="http://schemas.microsoft.com/office/drawing/2014/main" id="{D80FDE24-4351-4EB3-860B-6C4AA143B7E5}"/>
              </a:ext>
            </a:extLst>
          </p:cNvPr>
          <p:cNvSpPr/>
          <p:nvPr/>
        </p:nvSpPr>
        <p:spPr>
          <a:xfrm>
            <a:off x="6465406" y="5291462"/>
            <a:ext cx="966957" cy="249390"/>
          </a:xfrm>
          <a:prstGeom prst="rect">
            <a:avLst/>
          </a:prstGeom>
          <a:solidFill>
            <a:srgbClr val="FFFFFF">
              <a:lumMod val="75000"/>
            </a:srgbClr>
          </a:solidFill>
          <a:ln w="12700" cap="flat" cmpd="sng" algn="ctr">
            <a:solidFill>
              <a:srgbClr val="C2CEE6">
                <a:shade val="50000"/>
              </a:srgbClr>
            </a:solidFill>
            <a:prstDash val="solid"/>
            <a:miter lim="800000"/>
          </a:ln>
          <a:effectLst/>
        </p:spPr>
        <p:txBody>
          <a:bodyPr vert="horz" rtlCol="0" anchor="ctr"/>
          <a:lstStyle/>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関連部門</a:t>
            </a:r>
            <a:r>
              <a:rPr kumimoji="0" lang="en-US" altLang="ja-JP"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B</a:t>
            </a:r>
            <a:endPar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endParaRPr>
          </a:p>
        </p:txBody>
      </p:sp>
      <p:sp>
        <p:nvSpPr>
          <p:cNvPr id="56" name="正方形/長方形 55">
            <a:extLst>
              <a:ext uri="{FF2B5EF4-FFF2-40B4-BE49-F238E27FC236}">
                <a16:creationId xmlns:a16="http://schemas.microsoft.com/office/drawing/2014/main" id="{B4E45DD4-D352-41C3-B2C6-2FE4CFB0D8DB}"/>
              </a:ext>
            </a:extLst>
          </p:cNvPr>
          <p:cNvSpPr/>
          <p:nvPr/>
        </p:nvSpPr>
        <p:spPr>
          <a:xfrm>
            <a:off x="7547929" y="5291462"/>
            <a:ext cx="966957" cy="249390"/>
          </a:xfrm>
          <a:prstGeom prst="rect">
            <a:avLst/>
          </a:prstGeom>
          <a:solidFill>
            <a:srgbClr val="FFFFFF">
              <a:lumMod val="75000"/>
            </a:srgbClr>
          </a:solidFill>
          <a:ln w="12700" cap="flat" cmpd="sng" algn="ctr">
            <a:solidFill>
              <a:srgbClr val="C2CEE6">
                <a:shade val="50000"/>
              </a:srgbClr>
            </a:solidFill>
            <a:prstDash val="solid"/>
            <a:miter lim="800000"/>
          </a:ln>
          <a:effectLst/>
        </p:spPr>
        <p:txBody>
          <a:bodyPr vert="horz" rtlCol="0" anchor="ctr"/>
          <a:lstStyle/>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関連部門</a:t>
            </a:r>
            <a:r>
              <a:rPr kumimoji="0" lang="en-US" altLang="ja-JP"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C</a:t>
            </a:r>
            <a:endPar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endParaRPr>
          </a:p>
        </p:txBody>
      </p:sp>
    </p:spTree>
    <p:extLst>
      <p:ext uri="{BB962C8B-B14F-4D97-AF65-F5344CB8AC3E}">
        <p14:creationId xmlns:p14="http://schemas.microsoft.com/office/powerpoint/2010/main" val="1947786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9CA047E-827C-4A8E-B830-A76FE096F84C}"/>
              </a:ext>
            </a:extLst>
          </p:cNvPr>
          <p:cNvSpPr>
            <a:spLocks noGrp="1"/>
          </p:cNvSpPr>
          <p:nvPr>
            <p:ph type="title"/>
          </p:nvPr>
        </p:nvSpPr>
        <p:spPr>
          <a:xfrm>
            <a:off x="248235" y="135110"/>
            <a:ext cx="6390090" cy="349961"/>
          </a:xfrm>
        </p:spPr>
        <p:txBody>
          <a:bodyPr/>
          <a:lstStyle/>
          <a:p>
            <a:r>
              <a:rPr lang="ja-JP" altLang="en-US" sz="2000"/>
              <a:t>４</a:t>
            </a:r>
            <a:r>
              <a:rPr lang="en-US" altLang="ja-JP" sz="2000"/>
              <a:t>. </a:t>
            </a:r>
            <a:r>
              <a:rPr lang="ja-JP" altLang="en-US" sz="2000"/>
              <a:t>全体スケジュール</a:t>
            </a:r>
          </a:p>
        </p:txBody>
      </p:sp>
      <p:sp>
        <p:nvSpPr>
          <p:cNvPr id="6" name="テキスト プレースホルダー 5">
            <a:extLst>
              <a:ext uri="{FF2B5EF4-FFF2-40B4-BE49-F238E27FC236}">
                <a16:creationId xmlns:a16="http://schemas.microsoft.com/office/drawing/2014/main" id="{34CF8142-356C-41EE-B40A-18FBD066C772}"/>
              </a:ext>
            </a:extLst>
          </p:cNvPr>
          <p:cNvSpPr>
            <a:spLocks noGrp="1"/>
          </p:cNvSpPr>
          <p:nvPr>
            <p:ph type="body" sz="quarter" idx="10"/>
          </p:nvPr>
        </p:nvSpPr>
        <p:spPr>
          <a:xfrm>
            <a:off x="204452" y="640409"/>
            <a:ext cx="8746594" cy="682187"/>
          </a:xfrm>
          <a:solidFill>
            <a:schemeClr val="bg2">
              <a:lumMod val="40000"/>
              <a:lumOff val="60000"/>
            </a:schemeClr>
          </a:solidFill>
        </p:spPr>
        <p:txBody>
          <a:bodyPr/>
          <a:lstStyle/>
          <a:p>
            <a:pPr>
              <a:lnSpc>
                <a:spcPct val="100000"/>
              </a:lnSpc>
              <a:spcBef>
                <a:spcPts val="0"/>
              </a:spcBef>
            </a:pPr>
            <a:r>
              <a:rPr lang="ja-JP" altLang="en-US" sz="1400"/>
              <a:t>■毎週全体定例会を開催し、検討事項のディスカッションを推進する。</a:t>
            </a:r>
            <a:endParaRPr lang="en-US" altLang="ja-JP" sz="1400"/>
          </a:p>
          <a:p>
            <a:pPr>
              <a:lnSpc>
                <a:spcPct val="100000"/>
              </a:lnSpc>
              <a:spcBef>
                <a:spcPts val="0"/>
              </a:spcBef>
            </a:pPr>
            <a:r>
              <a:rPr lang="ja-JP" altLang="en-US" sz="1400" b="1"/>
              <a:t>■各部や個別テーマを議論する必要があれば個別検討会を開催し、定例の場でディスカッションする。</a:t>
            </a:r>
            <a:endParaRPr lang="en-US" altLang="ja-JP" sz="1400" b="1"/>
          </a:p>
          <a:p>
            <a:pPr>
              <a:lnSpc>
                <a:spcPct val="100000"/>
              </a:lnSpc>
              <a:spcBef>
                <a:spcPts val="0"/>
              </a:spcBef>
            </a:pPr>
            <a:r>
              <a:rPr lang="ja-JP" altLang="en-US" sz="1400"/>
              <a:t>■スケジュールは暫定とし、状況に合わせて調整する。</a:t>
            </a:r>
          </a:p>
        </p:txBody>
      </p:sp>
      <p:sp>
        <p:nvSpPr>
          <p:cNvPr id="7" name="テキスト プレースホルダー 6">
            <a:extLst>
              <a:ext uri="{FF2B5EF4-FFF2-40B4-BE49-F238E27FC236}">
                <a16:creationId xmlns:a16="http://schemas.microsoft.com/office/drawing/2014/main" id="{3D398013-9A03-4539-8597-D62248EFF5D3}"/>
              </a:ext>
            </a:extLst>
          </p:cNvPr>
          <p:cNvSpPr>
            <a:spLocks noGrp="1"/>
          </p:cNvSpPr>
          <p:nvPr>
            <p:ph type="body" sz="quarter" idx="13"/>
          </p:nvPr>
        </p:nvSpPr>
        <p:spPr>
          <a:xfrm>
            <a:off x="560839" y="1491654"/>
            <a:ext cx="8191500" cy="838164"/>
          </a:xfrm>
        </p:spPr>
        <p:txBody>
          <a:bodyPr/>
          <a:lstStyle/>
          <a:p>
            <a:endParaRPr lang="ja-JP" altLang="en-US"/>
          </a:p>
        </p:txBody>
      </p:sp>
      <p:graphicFrame>
        <p:nvGraphicFramePr>
          <p:cNvPr id="8" name="表 6">
            <a:extLst>
              <a:ext uri="{FF2B5EF4-FFF2-40B4-BE49-F238E27FC236}">
                <a16:creationId xmlns:a16="http://schemas.microsoft.com/office/drawing/2014/main" id="{F523ADE5-7448-4AF9-A02F-D1DC22C160CB}"/>
              </a:ext>
            </a:extLst>
          </p:cNvPr>
          <p:cNvGraphicFramePr>
            <a:graphicFrameLocks noGrp="1"/>
          </p:cNvGraphicFramePr>
          <p:nvPr>
            <p:extLst>
              <p:ext uri="{D42A27DB-BD31-4B8C-83A1-F6EECF244321}">
                <p14:modId xmlns:p14="http://schemas.microsoft.com/office/powerpoint/2010/main" val="3483081657"/>
              </p:ext>
            </p:extLst>
          </p:nvPr>
        </p:nvGraphicFramePr>
        <p:xfrm>
          <a:off x="204452" y="1380631"/>
          <a:ext cx="8746594" cy="4995002"/>
        </p:xfrm>
        <a:graphic>
          <a:graphicData uri="http://schemas.openxmlformats.org/drawingml/2006/table">
            <a:tbl>
              <a:tblPr firstRow="1" bandRow="1"/>
              <a:tblGrid>
                <a:gridCol w="495364">
                  <a:extLst>
                    <a:ext uri="{9D8B030D-6E8A-4147-A177-3AD203B41FA5}">
                      <a16:colId xmlns:a16="http://schemas.microsoft.com/office/drawing/2014/main" val="2528415366"/>
                    </a:ext>
                  </a:extLst>
                </a:gridCol>
                <a:gridCol w="550082">
                  <a:extLst>
                    <a:ext uri="{9D8B030D-6E8A-4147-A177-3AD203B41FA5}">
                      <a16:colId xmlns:a16="http://schemas.microsoft.com/office/drawing/2014/main" val="2522273980"/>
                    </a:ext>
                  </a:extLst>
                </a:gridCol>
                <a:gridCol w="550082">
                  <a:extLst>
                    <a:ext uri="{9D8B030D-6E8A-4147-A177-3AD203B41FA5}">
                      <a16:colId xmlns:a16="http://schemas.microsoft.com/office/drawing/2014/main" val="1449766409"/>
                    </a:ext>
                  </a:extLst>
                </a:gridCol>
                <a:gridCol w="550082">
                  <a:extLst>
                    <a:ext uri="{9D8B030D-6E8A-4147-A177-3AD203B41FA5}">
                      <a16:colId xmlns:a16="http://schemas.microsoft.com/office/drawing/2014/main" val="2096386984"/>
                    </a:ext>
                  </a:extLst>
                </a:gridCol>
                <a:gridCol w="550082">
                  <a:extLst>
                    <a:ext uri="{9D8B030D-6E8A-4147-A177-3AD203B41FA5}">
                      <a16:colId xmlns:a16="http://schemas.microsoft.com/office/drawing/2014/main" val="1640386851"/>
                    </a:ext>
                  </a:extLst>
                </a:gridCol>
                <a:gridCol w="550082">
                  <a:extLst>
                    <a:ext uri="{9D8B030D-6E8A-4147-A177-3AD203B41FA5}">
                      <a16:colId xmlns:a16="http://schemas.microsoft.com/office/drawing/2014/main" val="308110734"/>
                    </a:ext>
                  </a:extLst>
                </a:gridCol>
                <a:gridCol w="550082">
                  <a:extLst>
                    <a:ext uri="{9D8B030D-6E8A-4147-A177-3AD203B41FA5}">
                      <a16:colId xmlns:a16="http://schemas.microsoft.com/office/drawing/2014/main" val="3774709983"/>
                    </a:ext>
                  </a:extLst>
                </a:gridCol>
                <a:gridCol w="550082">
                  <a:extLst>
                    <a:ext uri="{9D8B030D-6E8A-4147-A177-3AD203B41FA5}">
                      <a16:colId xmlns:a16="http://schemas.microsoft.com/office/drawing/2014/main" val="3652453408"/>
                    </a:ext>
                  </a:extLst>
                </a:gridCol>
                <a:gridCol w="550082">
                  <a:extLst>
                    <a:ext uri="{9D8B030D-6E8A-4147-A177-3AD203B41FA5}">
                      <a16:colId xmlns:a16="http://schemas.microsoft.com/office/drawing/2014/main" val="3763300674"/>
                    </a:ext>
                  </a:extLst>
                </a:gridCol>
                <a:gridCol w="550082">
                  <a:extLst>
                    <a:ext uri="{9D8B030D-6E8A-4147-A177-3AD203B41FA5}">
                      <a16:colId xmlns:a16="http://schemas.microsoft.com/office/drawing/2014/main" val="317567408"/>
                    </a:ext>
                  </a:extLst>
                </a:gridCol>
                <a:gridCol w="550082">
                  <a:extLst>
                    <a:ext uri="{9D8B030D-6E8A-4147-A177-3AD203B41FA5}">
                      <a16:colId xmlns:a16="http://schemas.microsoft.com/office/drawing/2014/main" val="1112860288"/>
                    </a:ext>
                  </a:extLst>
                </a:gridCol>
                <a:gridCol w="550082">
                  <a:extLst>
                    <a:ext uri="{9D8B030D-6E8A-4147-A177-3AD203B41FA5}">
                      <a16:colId xmlns:a16="http://schemas.microsoft.com/office/drawing/2014/main" val="2754829247"/>
                    </a:ext>
                  </a:extLst>
                </a:gridCol>
                <a:gridCol w="550082">
                  <a:extLst>
                    <a:ext uri="{9D8B030D-6E8A-4147-A177-3AD203B41FA5}">
                      <a16:colId xmlns:a16="http://schemas.microsoft.com/office/drawing/2014/main" val="3444555321"/>
                    </a:ext>
                  </a:extLst>
                </a:gridCol>
                <a:gridCol w="550082">
                  <a:extLst>
                    <a:ext uri="{9D8B030D-6E8A-4147-A177-3AD203B41FA5}">
                      <a16:colId xmlns:a16="http://schemas.microsoft.com/office/drawing/2014/main" val="2837332813"/>
                    </a:ext>
                  </a:extLst>
                </a:gridCol>
                <a:gridCol w="550082">
                  <a:extLst>
                    <a:ext uri="{9D8B030D-6E8A-4147-A177-3AD203B41FA5}">
                      <a16:colId xmlns:a16="http://schemas.microsoft.com/office/drawing/2014/main" val="2293546310"/>
                    </a:ext>
                  </a:extLst>
                </a:gridCol>
                <a:gridCol w="550082">
                  <a:extLst>
                    <a:ext uri="{9D8B030D-6E8A-4147-A177-3AD203B41FA5}">
                      <a16:colId xmlns:a16="http://schemas.microsoft.com/office/drawing/2014/main" val="2893310377"/>
                    </a:ext>
                  </a:extLst>
                </a:gridCol>
              </a:tblGrid>
              <a:tr h="0">
                <a:tc rowSpan="2">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endParaRPr kumimoji="1" lang="ja-JP" altLang="en-US" sz="1000">
                        <a:latin typeface="+mn-ea"/>
                        <a:ea typeface="+mn-ea"/>
                      </a:endParaRPr>
                    </a:p>
                  </a:txBody>
                  <a:tcPr>
                    <a:lnL w="12700" cap="flat" cmpd="sng" algn="ctr">
                      <a:solidFill>
                        <a:srgbClr val="404040">
                          <a:lumMod val="60000"/>
                          <a:lumOff val="40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5</a:t>
                      </a:r>
                      <a:r>
                        <a:rPr kumimoji="1" lang="ja-JP" altLang="en-US" sz="1200">
                          <a:solidFill>
                            <a:schemeClr val="tx1"/>
                          </a:solidFill>
                          <a:latin typeface="Meiryo UI" panose="020B0604030504040204" pitchFamily="50" charset="-128"/>
                          <a:ea typeface="Meiryo UI" panose="020B0604030504040204" pitchFamily="50" charset="-128"/>
                        </a:rPr>
                        <a:t>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kumimoji="1" lang="ja-JP" altLang="en-US"/>
                    </a:p>
                  </a:txBody>
                  <a:tcPr/>
                </a:tc>
                <a:tc gridSpan="4">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6</a:t>
                      </a:r>
                      <a:r>
                        <a:rPr kumimoji="1" lang="ja-JP" altLang="en-US" sz="1200">
                          <a:solidFill>
                            <a:schemeClr val="tx1"/>
                          </a:solidFill>
                          <a:latin typeface="Meiryo UI" panose="020B0604030504040204" pitchFamily="50" charset="-128"/>
                          <a:ea typeface="Meiryo UI" panose="020B0604030504040204" pitchFamily="50" charset="-128"/>
                        </a:rPr>
                        <a:t>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400">
                        <a:solidFill>
                          <a:schemeClr val="bg1"/>
                        </a:solidFill>
                        <a:latin typeface="+mn-ea"/>
                        <a:ea typeface="+mn-ea"/>
                      </a:endParaRPr>
                    </a:p>
                  </a:txBody>
                  <a:tcPr>
                    <a:lnL w="12700" cap="flat" cmpd="sng" algn="ctr">
                      <a:solidFill>
                        <a:schemeClr val="bg1"/>
                      </a:solidFill>
                      <a:prstDash val="sysDot"/>
                      <a:round/>
                      <a:headEnd type="none" w="med" len="med"/>
                      <a:tailEnd type="none" w="med" len="med"/>
                    </a:lnL>
                    <a:lnR w="12700" cap="flat" cmpd="sng" algn="ctr">
                      <a:solidFill>
                        <a:schemeClr val="bg1"/>
                      </a:solidFill>
                      <a:prstDash val="sysDot"/>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6785C1"/>
                    </a:solidFill>
                  </a:tcPr>
                </a:tc>
                <a:tc gridSpan="5">
                  <a:txBody>
                    <a:bodyPr/>
                    <a:lstStyle/>
                    <a:p>
                      <a:pPr algn="ctr"/>
                      <a:r>
                        <a:rPr kumimoji="1" lang="en-US" altLang="ja-JP" sz="1200">
                          <a:solidFill>
                            <a:schemeClr val="tx1"/>
                          </a:solidFill>
                          <a:latin typeface="Meiryo UI" panose="020B0604030504040204" pitchFamily="50" charset="-128"/>
                          <a:ea typeface="Meiryo UI" panose="020B0604030504040204" pitchFamily="50" charset="-128"/>
                        </a:rPr>
                        <a:t>7</a:t>
                      </a:r>
                      <a:r>
                        <a:rPr kumimoji="1" lang="ja-JP" altLang="en-US" sz="1200">
                          <a:solidFill>
                            <a:schemeClr val="tx1"/>
                          </a:solidFill>
                          <a:latin typeface="Meiryo UI" panose="020B0604030504040204" pitchFamily="50" charset="-128"/>
                          <a:ea typeface="Meiryo UI" panose="020B0604030504040204" pitchFamily="50" charset="-128"/>
                        </a:rPr>
                        <a:t>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ysDot"/>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kumimoji="1" lang="ja-JP" altLang="en-US" sz="1400">
                        <a:solidFill>
                          <a:schemeClr val="bg1"/>
                        </a:solidFill>
                        <a:latin typeface="+mn-ea"/>
                        <a:ea typeface="+mn-ea"/>
                      </a:endParaRPr>
                    </a:p>
                  </a:txBody>
                  <a:tcPr>
                    <a:lnL w="12700" cap="flat" cmpd="sng" algn="ctr">
                      <a:solidFill>
                        <a:schemeClr val="bg1"/>
                      </a:solidFill>
                      <a:prstDash val="sysDot"/>
                      <a:round/>
                      <a:headEnd type="none" w="med" len="med"/>
                      <a:tailEnd type="none" w="med" len="med"/>
                    </a:lnL>
                    <a:lnR w="12700" cap="flat" cmpd="sng" algn="ctr">
                      <a:solidFill>
                        <a:schemeClr val="bg1"/>
                      </a:solidFill>
                      <a:prstDash val="sysDot"/>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6785C1"/>
                    </a:solidFill>
                  </a:tcPr>
                </a:tc>
                <a:tc hMerge="1">
                  <a:txBody>
                    <a:bodyPr/>
                    <a:lstStyle/>
                    <a:p>
                      <a:pPr algn="ctr"/>
                      <a:endParaRPr kumimoji="1" lang="ja-JP" altLang="en-US" sz="1400">
                        <a:solidFill>
                          <a:schemeClr val="bg1"/>
                        </a:solidFill>
                        <a:latin typeface="+mn-ea"/>
                        <a:ea typeface="+mn-ea"/>
                      </a:endParaRPr>
                    </a:p>
                  </a:txBody>
                  <a:tcPr>
                    <a:lnL w="12700" cap="flat" cmpd="sng" algn="ctr">
                      <a:solidFill>
                        <a:schemeClr val="bg1"/>
                      </a:solidFill>
                      <a:prstDash val="sysDot"/>
                      <a:round/>
                      <a:headEnd type="none" w="med" len="med"/>
                      <a:tailEnd type="none" w="med" len="med"/>
                    </a:lnL>
                    <a:lnR w="12700" cap="flat" cmpd="sng" algn="ctr">
                      <a:solidFill>
                        <a:schemeClr val="bg1"/>
                      </a:solidFill>
                      <a:prstDash val="sysDot"/>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6785C1"/>
                    </a:solidFill>
                  </a:tcPr>
                </a:tc>
                <a:tc hMerge="1">
                  <a:txBody>
                    <a:bodyPr/>
                    <a:lstStyle/>
                    <a:p>
                      <a:pPr algn="ctr"/>
                      <a:endParaRPr kumimoji="1" lang="ja-JP" altLang="en-US" sz="1400">
                        <a:solidFill>
                          <a:schemeClr val="bg1"/>
                        </a:solidFill>
                        <a:latin typeface="+mn-ea"/>
                        <a:ea typeface="+mn-ea"/>
                      </a:endParaRPr>
                    </a:p>
                  </a:txBody>
                  <a:tcPr>
                    <a:lnL w="12700" cap="flat" cmpd="sng" algn="ctr">
                      <a:solidFill>
                        <a:schemeClr val="bg1"/>
                      </a:solidFill>
                      <a:prstDash val="sysDot"/>
                      <a:round/>
                      <a:headEnd type="none" w="med" len="med"/>
                      <a:tailEnd type="none" w="med" len="med"/>
                    </a:lnL>
                    <a:lnR w="12700" cap="flat" cmpd="sng" algn="ctr">
                      <a:solidFill>
                        <a:schemeClr val="bg1"/>
                      </a:solidFill>
                      <a:prstDash val="sysDot"/>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solidFill>
                      <a:srgbClr val="6785C1"/>
                    </a:solidFill>
                  </a:tcPr>
                </a:tc>
                <a:tc gridSpan="4">
                  <a:txBody>
                    <a:bodyPr/>
                    <a:lstStyle/>
                    <a:p>
                      <a:pPr algn="ctr"/>
                      <a:r>
                        <a:rPr kumimoji="1" lang="en-US" altLang="ja-JP" sz="1200">
                          <a:solidFill>
                            <a:schemeClr val="tx1"/>
                          </a:solidFill>
                          <a:latin typeface="Meiryo UI" panose="020B0604030504040204" pitchFamily="50" charset="-128"/>
                          <a:ea typeface="Meiryo UI" panose="020B0604030504040204" pitchFamily="50" charset="-128"/>
                        </a:rPr>
                        <a:t>8</a:t>
                      </a:r>
                      <a:r>
                        <a:rPr kumimoji="1" lang="ja-JP" altLang="en-US" sz="1200">
                          <a:solidFill>
                            <a:schemeClr val="tx1"/>
                          </a:solidFill>
                          <a:latin typeface="Meiryo UI" panose="020B0604030504040204" pitchFamily="50" charset="-128"/>
                          <a:ea typeface="Meiryo UI" panose="020B0604030504040204" pitchFamily="50" charset="-128"/>
                        </a:rPr>
                        <a:t>月</a:t>
                      </a:r>
                    </a:p>
                  </a:txBody>
                  <a:tcPr>
                    <a:lnL w="12700" cap="flat" cmpd="sng" algn="ctr">
                      <a:solidFill>
                        <a:schemeClr val="tx1"/>
                      </a:solidFill>
                      <a:prstDash val="solid"/>
                      <a:round/>
                      <a:headEnd type="none" w="med" len="med"/>
                      <a:tailEnd type="none" w="med" len="med"/>
                    </a:lnL>
                    <a:lnR w="12700" cap="flat" cmpd="sng" algn="ctr">
                      <a:solidFill>
                        <a:srgbClr val="FFFFFF"/>
                      </a:solidFill>
                      <a:prstDash val="sysDot"/>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ysDot"/>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85940776"/>
                  </a:ext>
                </a:extLst>
              </a:tr>
              <a:tr h="0">
                <a:tc vMerge="1">
                  <a:txBody>
                    <a:bodyPr/>
                    <a:lstStyle/>
                    <a:p>
                      <a:endParaRPr kumimoji="1" lang="ja-JP" altLang="en-US"/>
                    </a:p>
                  </a:txBody>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22</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29</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5</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12</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19</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26</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200">
                          <a:solidFill>
                            <a:schemeClr val="tx1"/>
                          </a:solidFill>
                          <a:latin typeface="Meiryo UI" panose="020B0604030504040204" pitchFamily="50" charset="-128"/>
                          <a:ea typeface="Meiryo UI" panose="020B0604030504040204" pitchFamily="50" charset="-128"/>
                        </a:rPr>
                        <a:t>3</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10</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17</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24</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en-US" altLang="ja-JP" sz="1200">
                          <a:solidFill>
                            <a:schemeClr val="tx1"/>
                          </a:solidFill>
                          <a:latin typeface="Meiryo UI" panose="020B0604030504040204" pitchFamily="50" charset="-128"/>
                          <a:ea typeface="Meiryo UI" panose="020B0604030504040204" pitchFamily="50" charset="-128"/>
                        </a:rPr>
                        <a:t>31</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200">
                          <a:solidFill>
                            <a:schemeClr val="tx1"/>
                          </a:solidFill>
                          <a:latin typeface="Meiryo UI" panose="020B0604030504040204" pitchFamily="50" charset="-128"/>
                          <a:ea typeface="Meiryo UI" panose="020B0604030504040204" pitchFamily="50" charset="-128"/>
                        </a:rPr>
                        <a:t>7</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200">
                          <a:solidFill>
                            <a:schemeClr val="tx1"/>
                          </a:solidFill>
                          <a:latin typeface="Meiryo UI" panose="020B0604030504040204" pitchFamily="50" charset="-128"/>
                          <a:ea typeface="Meiryo UI" panose="020B0604030504040204" pitchFamily="50" charset="-128"/>
                        </a:rPr>
                        <a:t>14</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200">
                          <a:solidFill>
                            <a:schemeClr val="tx1"/>
                          </a:solidFill>
                          <a:latin typeface="Meiryo UI" panose="020B0604030504040204" pitchFamily="50" charset="-128"/>
                          <a:ea typeface="Meiryo UI" panose="020B0604030504040204" pitchFamily="50" charset="-128"/>
                        </a:rPr>
                        <a:t>21</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en-US" altLang="ja-JP" sz="1200">
                          <a:solidFill>
                            <a:schemeClr val="tx1"/>
                          </a:solidFill>
                          <a:latin typeface="Meiryo UI" panose="020B0604030504040204" pitchFamily="50" charset="-128"/>
                          <a:ea typeface="Meiryo UI" panose="020B0604030504040204" pitchFamily="50" charset="-128"/>
                        </a:rPr>
                        <a:t>28</a:t>
                      </a:r>
                      <a:r>
                        <a:rPr kumimoji="1" lang="ja-JP" altLang="en-US" sz="1200">
                          <a:solidFill>
                            <a:schemeClr val="tx1"/>
                          </a:solidFill>
                          <a:latin typeface="Meiryo UI" panose="020B0604030504040204" pitchFamily="50" charset="-128"/>
                          <a:ea typeface="Meiryo UI" panose="020B0604030504040204" pitchFamily="50" charset="-128"/>
                        </a:rPr>
                        <a:t>週</a:t>
                      </a:r>
                    </a:p>
                  </a:txBody>
                  <a:tcPr>
                    <a:lnL w="12700" cap="flat" cmpd="sng" algn="ctr">
                      <a:solidFill>
                        <a:schemeClr val="tx1"/>
                      </a:solidFill>
                      <a:prstDash val="solid"/>
                      <a:round/>
                      <a:headEnd type="none" w="med" len="med"/>
                      <a:tailEnd type="none" w="med" len="med"/>
                    </a:lnL>
                    <a:lnR w="12700" cap="flat" cmpd="sng" algn="ctr">
                      <a:solidFill>
                        <a:srgbClr val="FFFFFF"/>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266863058"/>
                  </a:ext>
                </a:extLst>
              </a:tr>
              <a:tr h="385271">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r>
                        <a:rPr kumimoji="1" lang="ja-JP" altLang="en-US" sz="1000">
                          <a:solidFill>
                            <a:srgbClr val="000000"/>
                          </a:solidFill>
                          <a:latin typeface="+mn-ea"/>
                          <a:ea typeface="+mn-ea"/>
                        </a:rPr>
                        <a:t>会議体</a:t>
                      </a:r>
                    </a:p>
                  </a:txBody>
                  <a:tcPr anchor="ctr">
                    <a:lnL w="12700" cap="flat" cmpd="sng" algn="ctr">
                      <a:solidFill>
                        <a:srgbClr val="404040">
                          <a:lumMod val="60000"/>
                          <a:lumOff val="40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ja-JP" altLang="en-US" sz="1000" b="0">
                          <a:solidFill>
                            <a:srgbClr val="000000"/>
                          </a:solidFill>
                          <a:latin typeface="Meiryo UI" panose="020B0604030504040204" pitchFamily="50" charset="-128"/>
                          <a:ea typeface="Meiryo UI" panose="020B0604030504040204" pitchFamily="50" charset="-128"/>
                        </a:rPr>
                        <a:t>キックオフ</a:t>
                      </a:r>
                      <a:endParaRPr kumimoji="1" lang="en-US" altLang="ja-JP" sz="1000" b="0">
                        <a:solidFill>
                          <a:srgbClr val="000000"/>
                        </a:solidFill>
                        <a:latin typeface="Meiryo UI" panose="020B0604030504040204" pitchFamily="50" charset="-128"/>
                        <a:ea typeface="Meiryo UI" panose="020B0604030504040204" pitchFamily="50" charset="-128"/>
                      </a:endParaRPr>
                    </a:p>
                    <a:p>
                      <a:pPr algn="ctr"/>
                      <a:r>
                        <a:rPr kumimoji="1" lang="en-US" altLang="ja-JP" sz="1000" b="0">
                          <a:solidFill>
                            <a:srgbClr val="000000"/>
                          </a:solidFill>
                          <a:latin typeface="Meiryo UI" panose="020B0604030504040204" pitchFamily="50" charset="-128"/>
                          <a:ea typeface="Meiryo UI" panose="020B0604030504040204" pitchFamily="50" charset="-128"/>
                        </a:rPr>
                        <a:t>5/22</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algn="ct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#1</a:t>
                      </a:r>
                    </a:p>
                    <a:p>
                      <a:pPr algn="ctr"/>
                      <a:r>
                        <a:rPr kumimoji="1" lang="en-US" altLang="ja-JP" sz="1000" b="0">
                          <a:solidFill>
                            <a:srgbClr val="000000"/>
                          </a:solidFill>
                          <a:latin typeface="Meiryo UI" panose="020B0604030504040204" pitchFamily="50" charset="-128"/>
                          <a:ea typeface="Meiryo UI" panose="020B0604030504040204" pitchFamily="50" charset="-128"/>
                        </a:rPr>
                        <a:t>5/31</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2</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6/5</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3</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6/12</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4</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6/19</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6/26</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6</a:t>
                      </a:r>
                    </a:p>
                    <a:p>
                      <a:pPr algn="ctr"/>
                      <a:r>
                        <a:rPr kumimoji="1" lang="en-US" altLang="ja-JP" sz="1000" b="0">
                          <a:solidFill>
                            <a:srgbClr val="000000"/>
                          </a:solidFill>
                          <a:latin typeface="Meiryo UI" panose="020B0604030504040204" pitchFamily="50" charset="-128"/>
                          <a:ea typeface="Meiryo UI" panose="020B0604030504040204" pitchFamily="50" charset="-128"/>
                        </a:rPr>
                        <a:t>7/3</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7/10</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7/25</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solidFill>
                            <a:srgbClr val="000000"/>
                          </a:solidFill>
                          <a:latin typeface="Meiryo UI" panose="020B0604030504040204" pitchFamily="50" charset="-128"/>
                          <a:ea typeface="Meiryo UI" panose="020B0604030504040204" pitchFamily="50" charset="-128"/>
                        </a:rPr>
                        <a:t>定例</a:t>
                      </a:r>
                      <a:r>
                        <a:rPr kumimoji="1" lang="en-US" altLang="ja-JP" sz="1000" b="0">
                          <a:solidFill>
                            <a:srgbClr val="000000"/>
                          </a:solidFill>
                          <a:latin typeface="Meiryo UI" panose="020B0604030504040204" pitchFamily="50" charset="-128"/>
                          <a:ea typeface="Meiryo UI" panose="020B0604030504040204" pitchFamily="50" charset="-128"/>
                        </a:rPr>
                        <a:t>#9</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8/1</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a:solidFill>
                            <a:srgbClr val="000000"/>
                          </a:solidFill>
                          <a:latin typeface="Meiryo UI" panose="020B0604030504040204" pitchFamily="50" charset="-128"/>
                          <a:ea typeface="Meiryo UI" panose="020B0604030504040204" pitchFamily="50" charset="-128"/>
                        </a:rPr>
                        <a:t>定例＃</a:t>
                      </a:r>
                      <a:r>
                        <a:rPr kumimoji="1" lang="en-US" altLang="ja-JP" sz="800" b="0">
                          <a:solidFill>
                            <a:srgbClr val="000000"/>
                          </a:solidFill>
                          <a:latin typeface="Meiryo UI" panose="020B0604030504040204" pitchFamily="50" charset="-128"/>
                          <a:ea typeface="Meiryo UI" panose="020B0604030504040204" pitchFamily="50" charset="-128"/>
                        </a:rPr>
                        <a:t>10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8/8 </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800" b="0">
                          <a:solidFill>
                            <a:srgbClr val="000000"/>
                          </a:solidFill>
                          <a:latin typeface="Meiryo UI" panose="020B0604030504040204" pitchFamily="50" charset="-128"/>
                          <a:ea typeface="Meiryo UI" panose="020B0604030504040204" pitchFamily="50" charset="-128"/>
                        </a:rPr>
                        <a:t>定例＃</a:t>
                      </a:r>
                      <a:r>
                        <a:rPr kumimoji="1" lang="en-US" altLang="ja-JP" sz="800" b="0">
                          <a:solidFill>
                            <a:srgbClr val="000000"/>
                          </a:solidFill>
                          <a:latin typeface="Meiryo UI" panose="020B0604030504040204" pitchFamily="50" charset="-128"/>
                          <a:ea typeface="Meiryo UI" panose="020B0604030504040204" pitchFamily="50" charset="-128"/>
                        </a:rPr>
                        <a:t>11</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8/22</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800" b="0">
                          <a:solidFill>
                            <a:srgbClr val="000000"/>
                          </a:solidFill>
                          <a:latin typeface="Meiryo UI" panose="020B0604030504040204" pitchFamily="50" charset="-128"/>
                          <a:ea typeface="Meiryo UI" panose="020B0604030504040204" pitchFamily="50" charset="-128"/>
                        </a:rPr>
                        <a:t>定例＃</a:t>
                      </a:r>
                      <a:r>
                        <a:rPr kumimoji="1" lang="en-US" altLang="ja-JP" sz="800" b="0">
                          <a:solidFill>
                            <a:srgbClr val="000000"/>
                          </a:solidFill>
                          <a:latin typeface="Meiryo UI" panose="020B0604030504040204" pitchFamily="50" charset="-128"/>
                          <a:ea typeface="Meiryo UI" panose="020B0604030504040204" pitchFamily="50" charset="-128"/>
                        </a:rPr>
                        <a:t>12</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ja-JP" sz="1000" b="0">
                          <a:solidFill>
                            <a:srgbClr val="000000"/>
                          </a:solidFill>
                          <a:latin typeface="Meiryo UI" panose="020B0604030504040204" pitchFamily="50" charset="-128"/>
                          <a:ea typeface="Meiryo UI" panose="020B0604030504040204" pitchFamily="50" charset="-128"/>
                        </a:rPr>
                        <a:t>8/29</a:t>
                      </a:r>
                      <a:endParaRPr kumimoji="1" lang="ja-JP" altLang="en-US" sz="1000" b="0">
                        <a:solidFill>
                          <a:srgbClr val="000000"/>
                        </a:solidFill>
                        <a:latin typeface="Meiryo UI" panose="020B0604030504040204" pitchFamily="50" charset="-128"/>
                        <a:ea typeface="Meiryo UI" panose="020B0604030504040204" pitchFamily="50" charset="-128"/>
                      </a:endParaRPr>
                    </a:p>
                  </a:txBody>
                  <a:tcPr marL="36000" marR="36000" anchor="ctr">
                    <a:lnL w="12700" cap="flat" cmpd="sng" algn="ctr">
                      <a:solidFill>
                        <a:schemeClr val="tx1"/>
                      </a:solidFill>
                      <a:prstDash val="solid"/>
                      <a:round/>
                      <a:headEnd type="none" w="med" len="med"/>
                      <a:tailEnd type="none" w="med" len="med"/>
                    </a:lnL>
                    <a:lnR w="12700" cap="flat" cmpd="sng" algn="ctr">
                      <a:solidFill>
                        <a:srgbClr val="404040">
                          <a:lumMod val="60000"/>
                          <a:lumOff val="40000"/>
                        </a:srgbClr>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47667036"/>
                  </a:ext>
                </a:extLst>
              </a:tr>
              <a:tr h="4050122">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r>
                        <a:rPr kumimoji="1" lang="ja-JP" altLang="en-US" sz="1000">
                          <a:solidFill>
                            <a:srgbClr val="000000"/>
                          </a:solidFill>
                          <a:latin typeface="+mn-ea"/>
                          <a:ea typeface="+mn-ea"/>
                        </a:rPr>
                        <a:t>検討</a:t>
                      </a:r>
                    </a:p>
                  </a:txBody>
                  <a:tcPr anchor="ctr">
                    <a:lnL w="12700" cap="flat" cmpd="sng" algn="ctr">
                      <a:solidFill>
                        <a:srgbClr val="404040">
                          <a:lumMod val="60000"/>
                          <a:lumOff val="40000"/>
                        </a:srgb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609555" rtl="0" eaLnBrk="1" latinLnBrk="0" hangingPunct="1">
                        <a:defRPr kumimoji="1" sz="2400" kern="1200">
                          <a:solidFill>
                            <a:schemeClr val="tx1"/>
                          </a:solidFill>
                          <a:latin typeface="Arial"/>
                          <a:ea typeface="Meiryo UI"/>
                        </a:defRPr>
                      </a:lvl1pPr>
                      <a:lvl2pPr marL="609555" algn="l" defTabSz="609555" rtl="0" eaLnBrk="1" latinLnBrk="0" hangingPunct="1">
                        <a:defRPr kumimoji="1" sz="2400" kern="1200">
                          <a:solidFill>
                            <a:schemeClr val="tx1"/>
                          </a:solidFill>
                          <a:latin typeface="Arial"/>
                          <a:ea typeface="Meiryo UI"/>
                        </a:defRPr>
                      </a:lvl2pPr>
                      <a:lvl3pPr marL="1219110" algn="l" defTabSz="609555" rtl="0" eaLnBrk="1" latinLnBrk="0" hangingPunct="1">
                        <a:defRPr kumimoji="1" sz="2400" kern="1200">
                          <a:solidFill>
                            <a:schemeClr val="tx1"/>
                          </a:solidFill>
                          <a:latin typeface="Arial"/>
                          <a:ea typeface="Meiryo UI"/>
                        </a:defRPr>
                      </a:lvl3pPr>
                      <a:lvl4pPr marL="1828664" algn="l" defTabSz="609555" rtl="0" eaLnBrk="1" latinLnBrk="0" hangingPunct="1">
                        <a:defRPr kumimoji="1" sz="2400" kern="1200">
                          <a:solidFill>
                            <a:schemeClr val="tx1"/>
                          </a:solidFill>
                          <a:latin typeface="Arial"/>
                          <a:ea typeface="Meiryo UI"/>
                        </a:defRPr>
                      </a:lvl4pPr>
                      <a:lvl5pPr marL="2438218" algn="l" defTabSz="609555" rtl="0" eaLnBrk="1" latinLnBrk="0" hangingPunct="1">
                        <a:defRPr kumimoji="1" sz="2400" kern="1200">
                          <a:solidFill>
                            <a:schemeClr val="tx1"/>
                          </a:solidFill>
                          <a:latin typeface="Arial"/>
                          <a:ea typeface="Meiryo UI"/>
                        </a:defRPr>
                      </a:lvl5pPr>
                      <a:lvl6pPr marL="3047772" algn="l" defTabSz="609555" rtl="0" eaLnBrk="1" latinLnBrk="0" hangingPunct="1">
                        <a:defRPr kumimoji="1" sz="2400" kern="1200">
                          <a:solidFill>
                            <a:schemeClr val="tx1"/>
                          </a:solidFill>
                          <a:latin typeface="Arial"/>
                          <a:ea typeface="Meiryo UI"/>
                        </a:defRPr>
                      </a:lvl6pPr>
                      <a:lvl7pPr marL="3657327" algn="l" defTabSz="609555" rtl="0" eaLnBrk="1" latinLnBrk="0" hangingPunct="1">
                        <a:defRPr kumimoji="1" sz="2400" kern="1200">
                          <a:solidFill>
                            <a:schemeClr val="tx1"/>
                          </a:solidFill>
                          <a:latin typeface="Arial"/>
                          <a:ea typeface="Meiryo UI"/>
                        </a:defRPr>
                      </a:lvl7pPr>
                      <a:lvl8pPr marL="4266880" algn="l" defTabSz="609555" rtl="0" eaLnBrk="1" latinLnBrk="0" hangingPunct="1">
                        <a:defRPr kumimoji="1" sz="2400" kern="1200">
                          <a:solidFill>
                            <a:schemeClr val="tx1"/>
                          </a:solidFill>
                          <a:latin typeface="Arial"/>
                          <a:ea typeface="Meiryo UI"/>
                        </a:defRPr>
                      </a:lvl8pPr>
                      <a:lvl9pPr marL="4876435" algn="l" defTabSz="609555" rtl="0" eaLnBrk="1" latinLnBrk="0" hangingPunct="1">
                        <a:defRPr kumimoji="1" sz="24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200">
                        <a:solidFill>
                          <a:srgbClr val="000000"/>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rgbClr val="404040">
                          <a:lumMod val="60000"/>
                          <a:lumOff val="40000"/>
                        </a:srgbClr>
                      </a:solidFill>
                      <a:prstDash val="solid"/>
                      <a:round/>
                      <a:headEnd type="none" w="med" len="med"/>
                      <a:tailEnd type="none" w="med" len="med"/>
                    </a:lnR>
                    <a:lnT w="12700" cap="flat" cmpd="sng" algn="ctr">
                      <a:solidFill>
                        <a:srgbClr val="404040">
                          <a:lumMod val="60000"/>
                          <a:lumOff val="40000"/>
                        </a:srgbClr>
                      </a:solidFill>
                      <a:prstDash val="solid"/>
                      <a:round/>
                      <a:headEnd type="none" w="med" len="med"/>
                      <a:tailEnd type="none" w="med" len="med"/>
                    </a:lnT>
                    <a:lnB w="12700" cap="flat" cmpd="sng" algn="ctr">
                      <a:solidFill>
                        <a:srgbClr val="404040">
                          <a:lumMod val="60000"/>
                          <a:lumOff val="4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9786185"/>
                  </a:ext>
                </a:extLst>
              </a:tr>
            </a:tbl>
          </a:graphicData>
        </a:graphic>
      </p:graphicFrame>
      <p:sp>
        <p:nvSpPr>
          <p:cNvPr id="24" name="正方形/長方形 23">
            <a:extLst>
              <a:ext uri="{FF2B5EF4-FFF2-40B4-BE49-F238E27FC236}">
                <a16:creationId xmlns:a16="http://schemas.microsoft.com/office/drawing/2014/main" id="{C72BBBFC-26DD-4FF5-9C23-CA319FE4291B}"/>
              </a:ext>
            </a:extLst>
          </p:cNvPr>
          <p:cNvSpPr/>
          <p:nvPr/>
        </p:nvSpPr>
        <p:spPr>
          <a:xfrm>
            <a:off x="1254034" y="3186726"/>
            <a:ext cx="1315658" cy="489600"/>
          </a:xfrm>
          <a:prstGeom prst="rect">
            <a:avLst/>
          </a:prstGeom>
          <a:solidFill>
            <a:schemeClr val="accent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FFFFFF"/>
                </a:solidFill>
                <a:effectLst/>
                <a:uLnTx/>
                <a:uFillTx/>
                <a:latin typeface="Arial"/>
                <a:ea typeface="Meiryo UI"/>
                <a:cs typeface="+mn-cs"/>
              </a:rPr>
              <a:t>2.</a:t>
            </a:r>
            <a:r>
              <a:rPr kumimoji="0" lang="ja-JP" altLang="en-US" sz="1100" b="0" i="0" u="none" strike="noStrike" kern="0" cap="none" spc="0" normalizeH="0" baseline="0" noProof="0">
                <a:ln>
                  <a:noFill/>
                </a:ln>
                <a:solidFill>
                  <a:srgbClr val="FFFFFF"/>
                </a:solidFill>
                <a:effectLst/>
                <a:uLnTx/>
                <a:uFillTx/>
                <a:latin typeface="Arial"/>
                <a:ea typeface="Meiryo UI"/>
                <a:cs typeface="+mn-cs"/>
              </a:rPr>
              <a:t>ターゲット顧客の特定</a:t>
            </a:r>
          </a:p>
        </p:txBody>
      </p:sp>
      <p:sp>
        <p:nvSpPr>
          <p:cNvPr id="25" name="正方形/長方形 24">
            <a:extLst>
              <a:ext uri="{FF2B5EF4-FFF2-40B4-BE49-F238E27FC236}">
                <a16:creationId xmlns:a16="http://schemas.microsoft.com/office/drawing/2014/main" id="{9F9EEB54-1101-4CEE-92FA-7581F1EFD9A0}"/>
              </a:ext>
            </a:extLst>
          </p:cNvPr>
          <p:cNvSpPr/>
          <p:nvPr/>
        </p:nvSpPr>
        <p:spPr>
          <a:xfrm>
            <a:off x="777126" y="2634040"/>
            <a:ext cx="951006" cy="489600"/>
          </a:xfrm>
          <a:prstGeom prst="rect">
            <a:avLst/>
          </a:prstGeom>
          <a:solidFill>
            <a:schemeClr val="accent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62000" rtl="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a:ln>
                  <a:noFill/>
                </a:ln>
                <a:solidFill>
                  <a:srgbClr val="FFFFFF"/>
                </a:solidFill>
                <a:effectLst/>
                <a:uLnTx/>
                <a:uFillTx/>
                <a:latin typeface="Meiryo UI"/>
                <a:ea typeface="Meiryo UI"/>
                <a:cs typeface="+mn-cs"/>
              </a:rPr>
              <a:t>1.</a:t>
            </a:r>
            <a:r>
              <a:rPr kumimoji="0" lang="ja-JP" altLang="en-US" sz="1100" b="0" i="0" u="none" strike="noStrike" kern="0" cap="none" spc="0" normalizeH="0" baseline="0" noProof="0">
                <a:ln>
                  <a:noFill/>
                </a:ln>
                <a:solidFill>
                  <a:srgbClr val="FFFFFF"/>
                </a:solidFill>
                <a:effectLst/>
                <a:uLnTx/>
                <a:uFillTx/>
                <a:latin typeface="Meiryo UI"/>
                <a:ea typeface="Meiryo UI"/>
                <a:cs typeface="+mn-cs"/>
              </a:rPr>
              <a:t>事業計画・事業課題の確認</a:t>
            </a:r>
          </a:p>
        </p:txBody>
      </p:sp>
      <p:sp>
        <p:nvSpPr>
          <p:cNvPr id="26" name="正方形/長方形 25">
            <a:extLst>
              <a:ext uri="{FF2B5EF4-FFF2-40B4-BE49-F238E27FC236}">
                <a16:creationId xmlns:a16="http://schemas.microsoft.com/office/drawing/2014/main" id="{7D03F6C9-878A-4A97-8779-3875D9D47FFE}"/>
              </a:ext>
            </a:extLst>
          </p:cNvPr>
          <p:cNvSpPr/>
          <p:nvPr/>
        </p:nvSpPr>
        <p:spPr>
          <a:xfrm>
            <a:off x="2764520" y="3186726"/>
            <a:ext cx="1121241" cy="489600"/>
          </a:xfrm>
          <a:prstGeom prst="rect">
            <a:avLst/>
          </a:prstGeom>
          <a:solidFill>
            <a:schemeClr val="accent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FFFFFF"/>
                </a:solidFill>
                <a:effectLst/>
                <a:uLnTx/>
                <a:uFillTx/>
                <a:latin typeface="Arial"/>
                <a:ea typeface="Meiryo UI"/>
                <a:cs typeface="+mn-cs"/>
              </a:rPr>
              <a:t>3.</a:t>
            </a:r>
            <a:r>
              <a:rPr kumimoji="0" lang="ja-JP" altLang="en-US" sz="1100" b="0" i="0" u="none" strike="noStrike" kern="0" cap="none" spc="0" normalizeH="0" baseline="0" noProof="0">
                <a:ln>
                  <a:noFill/>
                </a:ln>
                <a:solidFill>
                  <a:srgbClr val="FFFFFF"/>
                </a:solidFill>
                <a:effectLst/>
                <a:uLnTx/>
                <a:uFillTx/>
                <a:latin typeface="Arial"/>
                <a:ea typeface="Meiryo UI"/>
                <a:cs typeface="+mn-cs"/>
              </a:rPr>
              <a:t>ターゲット顧客の行動分析</a:t>
            </a:r>
          </a:p>
        </p:txBody>
      </p:sp>
      <p:sp>
        <p:nvSpPr>
          <p:cNvPr id="27" name="正方形/長方形 26">
            <a:extLst>
              <a:ext uri="{FF2B5EF4-FFF2-40B4-BE49-F238E27FC236}">
                <a16:creationId xmlns:a16="http://schemas.microsoft.com/office/drawing/2014/main" id="{C44A69E9-EB04-4340-9411-BCA483B6591B}"/>
              </a:ext>
            </a:extLst>
          </p:cNvPr>
          <p:cNvSpPr/>
          <p:nvPr/>
        </p:nvSpPr>
        <p:spPr>
          <a:xfrm>
            <a:off x="4786784" y="4399541"/>
            <a:ext cx="2144889" cy="489600"/>
          </a:xfrm>
          <a:prstGeom prst="rect">
            <a:avLst/>
          </a:prstGeom>
          <a:solidFill>
            <a:schemeClr val="accent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FFFFFF"/>
                </a:solidFill>
                <a:effectLst/>
                <a:uLnTx/>
                <a:uFillTx/>
                <a:latin typeface="Arial"/>
                <a:ea typeface="Meiryo UI"/>
                <a:cs typeface="+mn-cs"/>
              </a:rPr>
              <a:t>5.</a:t>
            </a:r>
            <a:r>
              <a:rPr kumimoji="0" lang="ja-JP" altLang="en-US" sz="1100" b="0" i="0" u="none" strike="noStrike" kern="0" cap="none" spc="0" normalizeH="0" baseline="0" noProof="0">
                <a:ln>
                  <a:noFill/>
                </a:ln>
                <a:solidFill>
                  <a:srgbClr val="FFFFFF"/>
                </a:solidFill>
                <a:effectLst/>
                <a:uLnTx/>
                <a:uFillTx/>
                <a:latin typeface="Arial"/>
                <a:ea typeface="Meiryo UI"/>
                <a:cs typeface="+mn-cs"/>
              </a:rPr>
              <a:t>サービス事業に向けた改革テーマ整理　</a:t>
            </a:r>
          </a:p>
        </p:txBody>
      </p:sp>
      <p:sp>
        <p:nvSpPr>
          <p:cNvPr id="28" name="正方形/長方形 27">
            <a:extLst>
              <a:ext uri="{FF2B5EF4-FFF2-40B4-BE49-F238E27FC236}">
                <a16:creationId xmlns:a16="http://schemas.microsoft.com/office/drawing/2014/main" id="{DCFFA454-8EF4-457E-BEC9-19A4071FC09E}"/>
              </a:ext>
            </a:extLst>
          </p:cNvPr>
          <p:cNvSpPr/>
          <p:nvPr/>
        </p:nvSpPr>
        <p:spPr>
          <a:xfrm>
            <a:off x="6865846" y="5263498"/>
            <a:ext cx="1355938" cy="489600"/>
          </a:xfrm>
          <a:prstGeom prst="rect">
            <a:avLst/>
          </a:prstGeom>
          <a:solidFill>
            <a:schemeClr val="accent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FFFFFF"/>
                </a:solidFill>
                <a:effectLst/>
                <a:uLnTx/>
                <a:uFillTx/>
                <a:latin typeface="Arial"/>
                <a:ea typeface="Meiryo UI"/>
                <a:cs typeface="+mn-cs"/>
              </a:rPr>
              <a:t>6.</a:t>
            </a:r>
            <a:r>
              <a:rPr kumimoji="0" lang="ja-JP" altLang="en-US" sz="1100" b="0" i="0" u="none" strike="noStrike" kern="0" cap="none" spc="0" normalizeH="0" baseline="0" noProof="0">
                <a:ln>
                  <a:noFill/>
                </a:ln>
                <a:solidFill>
                  <a:srgbClr val="FFFFFF"/>
                </a:solidFill>
                <a:effectLst/>
                <a:uLnTx/>
                <a:uFillTx/>
                <a:latin typeface="Arial"/>
                <a:ea typeface="Meiryo UI"/>
                <a:cs typeface="+mn-cs"/>
              </a:rPr>
              <a:t>検討施策の優先順位</a:t>
            </a:r>
          </a:p>
        </p:txBody>
      </p:sp>
      <p:sp>
        <p:nvSpPr>
          <p:cNvPr id="29" name="正方形/長方形 28">
            <a:extLst>
              <a:ext uri="{FF2B5EF4-FFF2-40B4-BE49-F238E27FC236}">
                <a16:creationId xmlns:a16="http://schemas.microsoft.com/office/drawing/2014/main" id="{54E36B46-F465-4E54-9D6E-91EDFF42B202}"/>
              </a:ext>
            </a:extLst>
          </p:cNvPr>
          <p:cNvSpPr/>
          <p:nvPr/>
        </p:nvSpPr>
        <p:spPr>
          <a:xfrm>
            <a:off x="7451817" y="5816069"/>
            <a:ext cx="1355938" cy="489600"/>
          </a:xfrm>
          <a:prstGeom prst="rect">
            <a:avLst/>
          </a:prstGeom>
          <a:solidFill>
            <a:schemeClr val="accent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FFFFFF"/>
                </a:solidFill>
                <a:effectLst/>
                <a:uLnTx/>
                <a:uFillTx/>
                <a:latin typeface="Arial"/>
                <a:ea typeface="Meiryo UI"/>
                <a:cs typeface="+mn-cs"/>
              </a:rPr>
              <a:t>7.</a:t>
            </a:r>
            <a:r>
              <a:rPr kumimoji="0" lang="ja-JP" altLang="en-US" sz="1100" b="0" i="0" u="none" strike="noStrike" kern="0" cap="none" spc="0" normalizeH="0" baseline="0" noProof="0">
                <a:ln>
                  <a:noFill/>
                </a:ln>
                <a:solidFill>
                  <a:srgbClr val="FFFFFF"/>
                </a:solidFill>
                <a:effectLst/>
                <a:uLnTx/>
                <a:uFillTx/>
                <a:latin typeface="Arial"/>
                <a:ea typeface="Meiryo UI"/>
                <a:cs typeface="+mn-cs"/>
              </a:rPr>
              <a:t>優先順位を考慮した変革ロードマップ</a:t>
            </a:r>
          </a:p>
        </p:txBody>
      </p:sp>
      <p:sp>
        <p:nvSpPr>
          <p:cNvPr id="30" name="正方形/長方形 29">
            <a:extLst>
              <a:ext uri="{FF2B5EF4-FFF2-40B4-BE49-F238E27FC236}">
                <a16:creationId xmlns:a16="http://schemas.microsoft.com/office/drawing/2014/main" id="{B7A4B558-9BA2-439C-B780-595B445E8E3E}"/>
              </a:ext>
            </a:extLst>
          </p:cNvPr>
          <p:cNvSpPr/>
          <p:nvPr/>
        </p:nvSpPr>
        <p:spPr>
          <a:xfrm>
            <a:off x="3644215" y="3782864"/>
            <a:ext cx="1355938" cy="489600"/>
          </a:xfrm>
          <a:prstGeom prst="rect">
            <a:avLst/>
          </a:prstGeom>
          <a:solidFill>
            <a:schemeClr val="accent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srgbClr val="FFFFFF"/>
                </a:solidFill>
                <a:effectLst/>
                <a:uLnTx/>
                <a:uFillTx/>
                <a:latin typeface="Arial"/>
                <a:ea typeface="Meiryo UI"/>
                <a:cs typeface="+mn-cs"/>
              </a:rPr>
              <a:t>4.</a:t>
            </a:r>
            <a:r>
              <a:rPr kumimoji="0" lang="ja-JP" altLang="en-US" sz="1100" b="0" i="0" u="none" strike="noStrike" kern="0" cap="none" spc="0" normalizeH="0" baseline="0" noProof="0">
                <a:ln>
                  <a:noFill/>
                </a:ln>
                <a:solidFill>
                  <a:srgbClr val="FFFFFF"/>
                </a:solidFill>
                <a:effectLst/>
                <a:uLnTx/>
                <a:uFillTx/>
                <a:latin typeface="Arial"/>
                <a:ea typeface="Meiryo UI"/>
                <a:cs typeface="+mn-cs"/>
              </a:rPr>
              <a:t>お客様起点に</a:t>
            </a:r>
            <a:br>
              <a:rPr kumimoji="0" lang="en-US" altLang="ja-JP" sz="1100" b="0" i="0" u="none" strike="noStrike" kern="0" cap="none" spc="0" normalizeH="0" baseline="0" noProof="0">
                <a:ln>
                  <a:noFill/>
                </a:ln>
                <a:solidFill>
                  <a:srgbClr val="FFFFFF"/>
                </a:solidFill>
                <a:effectLst/>
                <a:uLnTx/>
                <a:uFillTx/>
                <a:latin typeface="Arial"/>
                <a:ea typeface="Meiryo UI"/>
                <a:cs typeface="+mn-cs"/>
              </a:rPr>
            </a:br>
            <a:r>
              <a:rPr kumimoji="0" lang="ja-JP" altLang="en-US" sz="1100" b="0" i="0" u="none" strike="noStrike" kern="0" cap="none" spc="0" normalizeH="0" baseline="0" noProof="0">
                <a:ln>
                  <a:noFill/>
                </a:ln>
                <a:solidFill>
                  <a:srgbClr val="FFFFFF"/>
                </a:solidFill>
                <a:effectLst/>
                <a:uLnTx/>
                <a:uFillTx/>
                <a:latin typeface="Arial"/>
                <a:ea typeface="Meiryo UI"/>
                <a:cs typeface="+mn-cs"/>
              </a:rPr>
              <a:t>全ての業務プロセスを見直し</a:t>
            </a:r>
          </a:p>
        </p:txBody>
      </p:sp>
      <p:sp>
        <p:nvSpPr>
          <p:cNvPr id="31" name="Rectangle 10">
            <a:extLst>
              <a:ext uri="{FF2B5EF4-FFF2-40B4-BE49-F238E27FC236}">
                <a16:creationId xmlns:a16="http://schemas.microsoft.com/office/drawing/2014/main" id="{0A14AFB9-CAA8-4B69-AE8C-6F21C2716108}"/>
              </a:ext>
            </a:extLst>
          </p:cNvPr>
          <p:cNvSpPr>
            <a:spLocks noChangeArrowheads="1"/>
          </p:cNvSpPr>
          <p:nvPr/>
        </p:nvSpPr>
        <p:spPr bwMode="auto">
          <a:xfrm>
            <a:off x="4786784" y="4914430"/>
            <a:ext cx="3248041" cy="293462"/>
          </a:xfrm>
          <a:prstGeom prst="rect">
            <a:avLst/>
          </a:prstGeom>
          <a:solidFill>
            <a:schemeClr val="accent2"/>
          </a:solidFill>
          <a:ln w="12700">
            <a:solidFill>
              <a:srgbClr val="FFFFFF"/>
            </a:solidFill>
            <a:miter lim="800000"/>
            <a:headEnd type="none" w="sm" len="sm"/>
            <a:tailEnd type="none" w="sm" len="sm"/>
          </a:ln>
          <a:effectLst>
            <a:outerShdw dist="35921" dir="2700000" algn="ctr" rotWithShape="0">
              <a:srgbClr val="E1E7F3"/>
            </a:outerShdw>
          </a:effectLst>
        </p:spPr>
        <p:txBody>
          <a:bodyPr lIns="72000" tIns="36000" rIns="72000" bIns="36000" anchor="ctr"/>
          <a:lstStyle/>
          <a:p>
            <a:pPr marL="0" marR="0" lvl="0" indent="0" algn="ctr" defTabSz="762000" rtl="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a:ln>
                  <a:noFill/>
                </a:ln>
                <a:solidFill>
                  <a:srgbClr val="FFFFFF"/>
                </a:solidFill>
                <a:effectLst/>
                <a:uLnTx/>
                <a:uFillTx/>
                <a:latin typeface="Meiryo UI"/>
                <a:ea typeface="Meiryo UI"/>
                <a:cs typeface="+mn-cs"/>
              </a:rPr>
              <a:t>フィジビリティスタディ</a:t>
            </a:r>
            <a:r>
              <a:rPr kumimoji="0" lang="ja-JP" altLang="en-US" sz="1050" b="1" i="0" u="none" strike="noStrike" kern="0" cap="none" spc="0" normalizeH="0" baseline="0" noProof="0">
                <a:ln>
                  <a:noFill/>
                </a:ln>
                <a:solidFill>
                  <a:srgbClr val="FFFFFF"/>
                </a:solidFill>
                <a:effectLst/>
                <a:uLnTx/>
                <a:uFillTx/>
                <a:latin typeface="Meiryo UI"/>
                <a:ea typeface="Meiryo UI"/>
                <a:cs typeface="+mn-cs"/>
              </a:rPr>
              <a:t>（優先度が高い１テーマを想定）</a:t>
            </a:r>
            <a:endParaRPr kumimoji="0" lang="en-US" altLang="ja-JP" sz="1100" b="1" i="0" u="none" strike="noStrike" kern="0" cap="none" spc="0" normalizeH="0" baseline="0" noProof="0">
              <a:ln>
                <a:noFill/>
              </a:ln>
              <a:solidFill>
                <a:srgbClr val="FFFFFF"/>
              </a:solidFill>
              <a:effectLst/>
              <a:uLnTx/>
              <a:uFillTx/>
              <a:latin typeface="Meiryo UI"/>
              <a:ea typeface="Meiryo UI"/>
              <a:cs typeface="+mn-cs"/>
            </a:endParaRPr>
          </a:p>
        </p:txBody>
      </p:sp>
      <p:cxnSp>
        <p:nvCxnSpPr>
          <p:cNvPr id="36" name="コネクタ: カギ線 35">
            <a:extLst>
              <a:ext uri="{FF2B5EF4-FFF2-40B4-BE49-F238E27FC236}">
                <a16:creationId xmlns:a16="http://schemas.microsoft.com/office/drawing/2014/main" id="{E8E7F60F-C5AF-40F9-8A95-C3D4130FDB95}"/>
              </a:ext>
            </a:extLst>
          </p:cNvPr>
          <p:cNvCxnSpPr>
            <a:cxnSpLocks/>
            <a:stCxn id="25" idx="3"/>
            <a:endCxn id="24" idx="0"/>
          </p:cNvCxnSpPr>
          <p:nvPr/>
        </p:nvCxnSpPr>
        <p:spPr>
          <a:xfrm>
            <a:off x="1728132" y="2878840"/>
            <a:ext cx="183731" cy="307886"/>
          </a:xfrm>
          <a:prstGeom prst="bentConnector2">
            <a:avLst/>
          </a:prstGeom>
          <a:noFill/>
          <a:ln w="19050" cap="flat" cmpd="sng" algn="ctr">
            <a:solidFill>
              <a:srgbClr val="002060"/>
            </a:solidFill>
            <a:prstDash val="sysDot"/>
            <a:tailEnd type="arrow"/>
          </a:ln>
          <a:effectLst/>
        </p:spPr>
      </p:cxnSp>
      <p:cxnSp>
        <p:nvCxnSpPr>
          <p:cNvPr id="41" name="AutoShape 19">
            <a:extLst>
              <a:ext uri="{FF2B5EF4-FFF2-40B4-BE49-F238E27FC236}">
                <a16:creationId xmlns:a16="http://schemas.microsoft.com/office/drawing/2014/main" id="{9BCCEB15-1AB8-450B-B603-0C7AA9AB7B43}"/>
              </a:ext>
            </a:extLst>
          </p:cNvPr>
          <p:cNvCxnSpPr>
            <a:cxnSpLocks noChangeShapeType="1"/>
            <a:stCxn id="24" idx="3"/>
            <a:endCxn id="26" idx="1"/>
          </p:cNvCxnSpPr>
          <p:nvPr/>
        </p:nvCxnSpPr>
        <p:spPr bwMode="auto">
          <a:xfrm>
            <a:off x="2569692" y="3431526"/>
            <a:ext cx="194828" cy="0"/>
          </a:xfrm>
          <a:prstGeom prst="straightConnector1">
            <a:avLst/>
          </a:prstGeom>
          <a:noFill/>
          <a:ln w="19050" cmpd="sng">
            <a:solidFill>
              <a:srgbClr val="002060"/>
            </a:solidFill>
            <a:prstDash val="sysDot"/>
            <a:round/>
            <a:headEnd/>
            <a:tailEnd type="arrow" w="med" len="med"/>
          </a:ln>
          <a:extLst>
            <a:ext uri="{909E8E84-426E-40DD-AFC4-6F175D3DCCD1}">
              <a14:hiddenFill xmlns:a14="http://schemas.microsoft.com/office/drawing/2010/main">
                <a:noFill/>
              </a14:hiddenFill>
            </a:ext>
          </a:extLst>
        </p:spPr>
      </p:cxnSp>
      <p:cxnSp>
        <p:nvCxnSpPr>
          <p:cNvPr id="44" name="コネクタ: カギ線 43">
            <a:extLst>
              <a:ext uri="{FF2B5EF4-FFF2-40B4-BE49-F238E27FC236}">
                <a16:creationId xmlns:a16="http://schemas.microsoft.com/office/drawing/2014/main" id="{D52488CD-EEBA-464C-A307-4A5F2A48E9CF}"/>
              </a:ext>
            </a:extLst>
          </p:cNvPr>
          <p:cNvCxnSpPr>
            <a:cxnSpLocks/>
            <a:stCxn id="26" idx="3"/>
            <a:endCxn id="30" idx="0"/>
          </p:cNvCxnSpPr>
          <p:nvPr/>
        </p:nvCxnSpPr>
        <p:spPr>
          <a:xfrm>
            <a:off x="3885761" y="3431526"/>
            <a:ext cx="436423" cy="351338"/>
          </a:xfrm>
          <a:prstGeom prst="bentConnector2">
            <a:avLst/>
          </a:prstGeom>
          <a:noFill/>
          <a:ln w="19050" cap="flat" cmpd="sng" algn="ctr">
            <a:solidFill>
              <a:srgbClr val="002060"/>
            </a:solidFill>
            <a:prstDash val="sysDot"/>
            <a:tailEnd type="arrow"/>
          </a:ln>
          <a:effectLst/>
        </p:spPr>
      </p:cxnSp>
      <p:cxnSp>
        <p:nvCxnSpPr>
          <p:cNvPr id="47" name="コネクタ: カギ線 46">
            <a:extLst>
              <a:ext uri="{FF2B5EF4-FFF2-40B4-BE49-F238E27FC236}">
                <a16:creationId xmlns:a16="http://schemas.microsoft.com/office/drawing/2014/main" id="{41A2C87C-BE7E-4C0F-A0EA-B0004BB616F4}"/>
              </a:ext>
            </a:extLst>
          </p:cNvPr>
          <p:cNvCxnSpPr>
            <a:cxnSpLocks/>
            <a:stCxn id="30" idx="3"/>
            <a:endCxn id="27" idx="0"/>
          </p:cNvCxnSpPr>
          <p:nvPr/>
        </p:nvCxnSpPr>
        <p:spPr>
          <a:xfrm>
            <a:off x="5000153" y="4027664"/>
            <a:ext cx="859076" cy="371877"/>
          </a:xfrm>
          <a:prstGeom prst="bentConnector2">
            <a:avLst/>
          </a:prstGeom>
          <a:noFill/>
          <a:ln w="19050" cap="flat" cmpd="sng" algn="ctr">
            <a:solidFill>
              <a:srgbClr val="002060"/>
            </a:solidFill>
            <a:prstDash val="sysDot"/>
            <a:tailEnd type="arrow"/>
          </a:ln>
          <a:effectLst/>
        </p:spPr>
      </p:cxnSp>
      <p:cxnSp>
        <p:nvCxnSpPr>
          <p:cNvPr id="51" name="コネクタ: カギ線 50">
            <a:extLst>
              <a:ext uri="{FF2B5EF4-FFF2-40B4-BE49-F238E27FC236}">
                <a16:creationId xmlns:a16="http://schemas.microsoft.com/office/drawing/2014/main" id="{7C7B6A4E-A850-4F04-8737-51FFF7A11E69}"/>
              </a:ext>
            </a:extLst>
          </p:cNvPr>
          <p:cNvCxnSpPr>
            <a:cxnSpLocks/>
            <a:stCxn id="31" idx="2"/>
            <a:endCxn id="28" idx="1"/>
          </p:cNvCxnSpPr>
          <p:nvPr/>
        </p:nvCxnSpPr>
        <p:spPr>
          <a:xfrm rot="16200000" flipH="1">
            <a:off x="6488122" y="5130574"/>
            <a:ext cx="300406" cy="455041"/>
          </a:xfrm>
          <a:prstGeom prst="bentConnector2">
            <a:avLst/>
          </a:prstGeom>
          <a:noFill/>
          <a:ln w="19050" cap="flat" cmpd="sng" algn="ctr">
            <a:solidFill>
              <a:srgbClr val="002060"/>
            </a:solidFill>
            <a:prstDash val="sysDot"/>
            <a:tailEnd type="arrow"/>
          </a:ln>
          <a:effectLst/>
        </p:spPr>
      </p:cxnSp>
      <p:cxnSp>
        <p:nvCxnSpPr>
          <p:cNvPr id="55" name="コネクタ: カギ線 54">
            <a:extLst>
              <a:ext uri="{FF2B5EF4-FFF2-40B4-BE49-F238E27FC236}">
                <a16:creationId xmlns:a16="http://schemas.microsoft.com/office/drawing/2014/main" id="{61EC41F5-7ECA-4B0B-8C04-9F6752EAFFAF}"/>
              </a:ext>
            </a:extLst>
          </p:cNvPr>
          <p:cNvCxnSpPr>
            <a:cxnSpLocks/>
            <a:endCxn id="29" idx="1"/>
          </p:cNvCxnSpPr>
          <p:nvPr/>
        </p:nvCxnSpPr>
        <p:spPr>
          <a:xfrm rot="16200000" flipH="1">
            <a:off x="7194348" y="5803399"/>
            <a:ext cx="307771" cy="207168"/>
          </a:xfrm>
          <a:prstGeom prst="bentConnector2">
            <a:avLst/>
          </a:prstGeom>
          <a:noFill/>
          <a:ln w="19050" cap="flat" cmpd="sng" algn="ctr">
            <a:solidFill>
              <a:srgbClr val="002060"/>
            </a:solidFill>
            <a:prstDash val="sysDot"/>
            <a:tailEnd type="arrow"/>
          </a:ln>
          <a:effectLst/>
        </p:spPr>
      </p:cxnSp>
      <p:sp>
        <p:nvSpPr>
          <p:cNvPr id="58" name="Text Box 58">
            <a:extLst>
              <a:ext uri="{FF2B5EF4-FFF2-40B4-BE49-F238E27FC236}">
                <a16:creationId xmlns:a16="http://schemas.microsoft.com/office/drawing/2014/main" id="{DA62DC5C-EC8E-479D-A807-E4D6AA3CFCAD}"/>
              </a:ext>
            </a:extLst>
          </p:cNvPr>
          <p:cNvSpPr txBox="1">
            <a:spLocks noChangeArrowheads="1"/>
          </p:cNvSpPr>
          <p:nvPr/>
        </p:nvSpPr>
        <p:spPr bwMode="auto">
          <a:xfrm>
            <a:off x="777126" y="3700567"/>
            <a:ext cx="1792565" cy="705091"/>
          </a:xfrm>
          <a:prstGeom prst="rect">
            <a:avLst/>
          </a:prstGeom>
          <a:solidFill>
            <a:srgbClr val="FFFFFF">
              <a:alpha val="89804"/>
            </a:srgbClr>
          </a:solidFill>
          <a:ln>
            <a:noFill/>
          </a:ln>
        </p:spPr>
        <p:txBody>
          <a:bodyPr lIns="0" tIns="72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71450" marR="0" lvl="0" indent="-171450" algn="l" defTabSz="3556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サービス事業を推進する上での、ターゲット顧客を特定</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p>
            <a:pPr marL="171450" marR="0" lvl="0" indent="-171450" algn="l" defTabSz="3556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市場の声（健在・潜在ニーズ・要望）の確認</a:t>
            </a:r>
          </a:p>
        </p:txBody>
      </p:sp>
      <p:sp>
        <p:nvSpPr>
          <p:cNvPr id="59" name="Text Box 58">
            <a:extLst>
              <a:ext uri="{FF2B5EF4-FFF2-40B4-BE49-F238E27FC236}">
                <a16:creationId xmlns:a16="http://schemas.microsoft.com/office/drawing/2014/main" id="{8CD38507-7FD4-4625-BEA5-1FA243CB7B36}"/>
              </a:ext>
            </a:extLst>
          </p:cNvPr>
          <p:cNvSpPr txBox="1">
            <a:spLocks noChangeArrowheads="1"/>
          </p:cNvSpPr>
          <p:nvPr/>
        </p:nvSpPr>
        <p:spPr bwMode="auto">
          <a:xfrm>
            <a:off x="814761" y="2321639"/>
            <a:ext cx="3070999" cy="351246"/>
          </a:xfrm>
          <a:prstGeom prst="rect">
            <a:avLst/>
          </a:prstGeom>
          <a:noFill/>
          <a:ln>
            <a:noFill/>
          </a:ln>
        </p:spPr>
        <p:txBody>
          <a:bodyPr lIns="0" tIns="72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80975" marR="0" lvl="0" indent="-180975" algn="l" defTabSz="355600" rtl="0" eaLnBrk="0" fontAlgn="auto" latinLnBrk="0" hangingPunct="0">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srgbClr val="000000"/>
                </a:solidFill>
                <a:effectLst>
                  <a:glow rad="228600">
                    <a:srgbClr val="BC4328">
                      <a:satMod val="175000"/>
                      <a:alpha val="40000"/>
                    </a:srgbClr>
                  </a:glow>
                </a:effectLst>
                <a:uLnTx/>
                <a:uFillTx/>
                <a:latin typeface="Meiryo UI"/>
                <a:ea typeface="Meiryo UI"/>
                <a:cs typeface="+mn-cs"/>
              </a:rPr>
              <a:t>ステップ①</a:t>
            </a:r>
            <a:r>
              <a:rPr kumimoji="1" lang="ja-JP" altLang="en-US" sz="1050" b="0" i="0" u="none" strike="noStrike" kern="1200" cap="none" spc="0" normalizeH="0" baseline="0" noProof="0">
                <a:ln>
                  <a:noFill/>
                </a:ln>
                <a:solidFill>
                  <a:srgbClr val="000000"/>
                </a:solidFill>
                <a:effectLst/>
                <a:highlight>
                  <a:srgbClr val="FFFFFF"/>
                </a:highlight>
                <a:uLnTx/>
                <a:uFillTx/>
                <a:latin typeface="Meiryo UI"/>
                <a:ea typeface="Meiryo UI"/>
                <a:cs typeface="+mn-cs"/>
              </a:rPr>
              <a:t>これまでの検討内容からクイックに大方針を定義</a:t>
            </a:r>
            <a:endParaRPr kumimoji="1" lang="en-US" altLang="ja-JP" sz="1050" b="0" i="0" u="none" strike="noStrike" kern="1200" cap="none" spc="0" normalizeH="0" baseline="0" noProof="0">
              <a:ln>
                <a:noFill/>
              </a:ln>
              <a:solidFill>
                <a:srgbClr val="000000"/>
              </a:solidFill>
              <a:effectLst/>
              <a:highlight>
                <a:srgbClr val="FFFFFF"/>
              </a:highlight>
              <a:uLnTx/>
              <a:uFillTx/>
              <a:latin typeface="Meiryo UI"/>
              <a:ea typeface="Meiryo UI"/>
              <a:cs typeface="+mn-cs"/>
            </a:endParaRPr>
          </a:p>
        </p:txBody>
      </p:sp>
      <p:sp>
        <p:nvSpPr>
          <p:cNvPr id="70" name="Text Box 58">
            <a:extLst>
              <a:ext uri="{FF2B5EF4-FFF2-40B4-BE49-F238E27FC236}">
                <a16:creationId xmlns:a16="http://schemas.microsoft.com/office/drawing/2014/main" id="{4D4BC8AA-822A-48EF-B7E5-1D7C6D94477B}"/>
              </a:ext>
            </a:extLst>
          </p:cNvPr>
          <p:cNvSpPr txBox="1">
            <a:spLocks noChangeArrowheads="1"/>
          </p:cNvSpPr>
          <p:nvPr/>
        </p:nvSpPr>
        <p:spPr bwMode="auto">
          <a:xfrm>
            <a:off x="1896068" y="4567618"/>
            <a:ext cx="1491532" cy="1311119"/>
          </a:xfrm>
          <a:prstGeom prst="rect">
            <a:avLst/>
          </a:prstGeom>
          <a:solidFill>
            <a:srgbClr val="FFFFFF">
              <a:alpha val="89804"/>
            </a:srgbClr>
          </a:solidFill>
          <a:ln>
            <a:noFill/>
          </a:ln>
        </p:spPr>
        <p:txBody>
          <a:bodyPr lIns="0" tIns="72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71450" marR="0" lvl="0" indent="-171450" algn="l" defTabSz="3556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ターゲット顧客の設備計画・運用、定期点検、故障対応時の活動を時系列に整理</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p>
            <a:pPr marL="171450" marR="0" lvl="0" indent="-171450" algn="l" defTabSz="3556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求められる市場の声（健在・潜在ニーズ・要望）を整理</a:t>
            </a:r>
          </a:p>
        </p:txBody>
      </p:sp>
      <p:sp>
        <p:nvSpPr>
          <p:cNvPr id="71" name="Text Box 58">
            <a:extLst>
              <a:ext uri="{FF2B5EF4-FFF2-40B4-BE49-F238E27FC236}">
                <a16:creationId xmlns:a16="http://schemas.microsoft.com/office/drawing/2014/main" id="{204742FC-4281-4607-944B-9A96DCA9CF13}"/>
              </a:ext>
            </a:extLst>
          </p:cNvPr>
          <p:cNvSpPr txBox="1">
            <a:spLocks noChangeArrowheads="1"/>
          </p:cNvSpPr>
          <p:nvPr/>
        </p:nvSpPr>
        <p:spPr bwMode="auto">
          <a:xfrm>
            <a:off x="4711394" y="2618778"/>
            <a:ext cx="1685490" cy="883477"/>
          </a:xfrm>
          <a:prstGeom prst="rect">
            <a:avLst/>
          </a:prstGeom>
          <a:solidFill>
            <a:srgbClr val="FFFFFF">
              <a:alpha val="89804"/>
            </a:srgbClr>
          </a:solidFill>
          <a:ln>
            <a:noFill/>
          </a:ln>
        </p:spPr>
        <p:txBody>
          <a:bodyPr lIns="0" tIns="72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71450" marR="0" lvl="0" indent="-171450" algn="l" defTabSz="3556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サービス事業を運営する際に備えておくべき機能（行動）を描き、業務の流れを再構築する</a:t>
            </a:r>
          </a:p>
        </p:txBody>
      </p:sp>
      <p:cxnSp>
        <p:nvCxnSpPr>
          <p:cNvPr id="73" name="直線コネクタ 72">
            <a:extLst>
              <a:ext uri="{FF2B5EF4-FFF2-40B4-BE49-F238E27FC236}">
                <a16:creationId xmlns:a16="http://schemas.microsoft.com/office/drawing/2014/main" id="{32562006-292B-4E14-9D2A-FBEC9DC89EB3}"/>
              </a:ext>
            </a:extLst>
          </p:cNvPr>
          <p:cNvCxnSpPr>
            <a:cxnSpLocks/>
            <a:endCxn id="70" idx="0"/>
          </p:cNvCxnSpPr>
          <p:nvPr/>
        </p:nvCxnSpPr>
        <p:spPr>
          <a:xfrm flipH="1">
            <a:off x="2641834" y="3697166"/>
            <a:ext cx="703592" cy="870452"/>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87A0FD1A-4B5D-49A9-ABF4-B04AD66416C9}"/>
              </a:ext>
            </a:extLst>
          </p:cNvPr>
          <p:cNvCxnSpPr>
            <a:cxnSpLocks/>
          </p:cNvCxnSpPr>
          <p:nvPr/>
        </p:nvCxnSpPr>
        <p:spPr>
          <a:xfrm flipH="1">
            <a:off x="4572000" y="2929453"/>
            <a:ext cx="139394" cy="767713"/>
          </a:xfrm>
          <a:prstGeom prst="line">
            <a:avLst/>
          </a:prstGeom>
        </p:spPr>
        <p:style>
          <a:lnRef idx="1">
            <a:schemeClr val="accent1"/>
          </a:lnRef>
          <a:fillRef idx="0">
            <a:schemeClr val="accent1"/>
          </a:fillRef>
          <a:effectRef idx="0">
            <a:schemeClr val="accent1"/>
          </a:effectRef>
          <a:fontRef idx="minor">
            <a:schemeClr val="tx1"/>
          </a:fontRef>
        </p:style>
      </p:cxnSp>
      <p:sp>
        <p:nvSpPr>
          <p:cNvPr id="77" name="Text Box 58">
            <a:extLst>
              <a:ext uri="{FF2B5EF4-FFF2-40B4-BE49-F238E27FC236}">
                <a16:creationId xmlns:a16="http://schemas.microsoft.com/office/drawing/2014/main" id="{2D64F67C-13D2-49C2-A31D-588E2459B088}"/>
              </a:ext>
            </a:extLst>
          </p:cNvPr>
          <p:cNvSpPr txBox="1">
            <a:spLocks noChangeArrowheads="1"/>
          </p:cNvSpPr>
          <p:nvPr/>
        </p:nvSpPr>
        <p:spPr bwMode="auto">
          <a:xfrm>
            <a:off x="5999731" y="3787287"/>
            <a:ext cx="2718018" cy="587503"/>
          </a:xfrm>
          <a:prstGeom prst="rect">
            <a:avLst/>
          </a:prstGeom>
          <a:solidFill>
            <a:srgbClr val="FFFFFF">
              <a:alpha val="89804"/>
            </a:srgbClr>
          </a:solidFill>
          <a:ln>
            <a:noFill/>
          </a:ln>
        </p:spPr>
        <p:txBody>
          <a:bodyPr lIns="0" tIns="72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71450" marR="0" lvl="0" indent="-171450" algn="l" defTabSz="3556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ターゲット顧客の行動分析とサービス業務・機能整理をもとに、現状とのギャップ（制約事項）から変革テーマを導出</a:t>
            </a:r>
          </a:p>
        </p:txBody>
      </p:sp>
      <p:sp>
        <p:nvSpPr>
          <p:cNvPr id="78" name="Text Box 58">
            <a:extLst>
              <a:ext uri="{FF2B5EF4-FFF2-40B4-BE49-F238E27FC236}">
                <a16:creationId xmlns:a16="http://schemas.microsoft.com/office/drawing/2014/main" id="{9579E504-5A7C-47D2-A753-A2DBA4B0E844}"/>
              </a:ext>
            </a:extLst>
          </p:cNvPr>
          <p:cNvSpPr txBox="1">
            <a:spLocks noChangeArrowheads="1"/>
          </p:cNvSpPr>
          <p:nvPr/>
        </p:nvSpPr>
        <p:spPr bwMode="auto">
          <a:xfrm>
            <a:off x="5000153" y="5568451"/>
            <a:ext cx="1572659" cy="800308"/>
          </a:xfrm>
          <a:prstGeom prst="rect">
            <a:avLst/>
          </a:prstGeom>
          <a:solidFill>
            <a:srgbClr val="FFFFFF">
              <a:alpha val="89804"/>
            </a:srgbClr>
          </a:solidFill>
          <a:ln>
            <a:noFill/>
          </a:ln>
        </p:spPr>
        <p:txBody>
          <a:bodyPr lIns="0" tIns="72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71450" marR="0" lvl="0" indent="-171450" algn="l" defTabSz="3556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目標、テーマごとのあるべき姿および、業務視点での変革施策をもとに、優先度を評価</a:t>
            </a:r>
            <a:endParaRPr kumimoji="1" lang="ja-JP" altLang="en-US" sz="1050" b="0" i="0" u="none" strike="noStrike" kern="1200" cap="none" spc="0" normalizeH="0" baseline="0" noProof="0">
              <a:ln>
                <a:noFill/>
              </a:ln>
              <a:solidFill>
                <a:srgbClr val="000000"/>
              </a:solidFill>
              <a:effectLst/>
              <a:uLnTx/>
              <a:uFillTx/>
              <a:latin typeface="Meiryo UI"/>
              <a:ea typeface="Meiryo UI"/>
              <a:cs typeface="+mn-cs"/>
            </a:endParaRPr>
          </a:p>
        </p:txBody>
      </p:sp>
      <p:cxnSp>
        <p:nvCxnSpPr>
          <p:cNvPr id="79" name="直線コネクタ 78">
            <a:extLst>
              <a:ext uri="{FF2B5EF4-FFF2-40B4-BE49-F238E27FC236}">
                <a16:creationId xmlns:a16="http://schemas.microsoft.com/office/drawing/2014/main" id="{B3BE28FE-B35D-4D35-991A-4478012EF6E0}"/>
              </a:ext>
            </a:extLst>
          </p:cNvPr>
          <p:cNvCxnSpPr>
            <a:cxnSpLocks/>
          </p:cNvCxnSpPr>
          <p:nvPr/>
        </p:nvCxnSpPr>
        <p:spPr>
          <a:xfrm flipH="1">
            <a:off x="6596056" y="5753097"/>
            <a:ext cx="389495" cy="258434"/>
          </a:xfrm>
          <a:prstGeom prst="line">
            <a:avLst/>
          </a:prstGeom>
        </p:spPr>
        <p:style>
          <a:lnRef idx="1">
            <a:schemeClr val="accent1"/>
          </a:lnRef>
          <a:fillRef idx="0">
            <a:schemeClr val="accent1"/>
          </a:fillRef>
          <a:effectRef idx="0">
            <a:schemeClr val="accent1"/>
          </a:effectRef>
          <a:fontRef idx="minor">
            <a:schemeClr val="tx1"/>
          </a:fontRef>
        </p:style>
      </p:cxnSp>
      <p:sp>
        <p:nvSpPr>
          <p:cNvPr id="82" name="角丸四角形 2">
            <a:extLst>
              <a:ext uri="{FF2B5EF4-FFF2-40B4-BE49-F238E27FC236}">
                <a16:creationId xmlns:a16="http://schemas.microsoft.com/office/drawing/2014/main" id="{C1E5C556-C8FE-46CA-B273-77C5F65E4F4D}"/>
              </a:ext>
            </a:extLst>
          </p:cNvPr>
          <p:cNvSpPr/>
          <p:nvPr/>
        </p:nvSpPr>
        <p:spPr>
          <a:xfrm>
            <a:off x="5999731" y="3503171"/>
            <a:ext cx="1120248" cy="307772"/>
          </a:xfrm>
          <a:prstGeom prst="roundRect">
            <a:avLst>
              <a:gd name="adj" fmla="val 8520"/>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80975" marR="0" lvl="0" indent="-180975" algn="ctr" defTabSz="914400" rtl="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glow rad="228600">
                    <a:srgbClr val="BC4328">
                      <a:satMod val="175000"/>
                      <a:alpha val="40000"/>
                    </a:srgbClr>
                  </a:glow>
                </a:effectLst>
                <a:uLnTx/>
                <a:uFillTx/>
                <a:latin typeface="Meiryo UI"/>
                <a:ea typeface="Meiryo UI"/>
                <a:cs typeface="+mn-cs"/>
              </a:rPr>
              <a:t>ステップ②</a:t>
            </a:r>
            <a:endParaRPr kumimoji="0" lang="en-US" altLang="ja-JP" sz="1050" b="0" i="0" u="none" strike="noStrike" kern="0" cap="none" spc="0" normalizeH="0" baseline="0" noProof="0">
              <a:ln>
                <a:noFill/>
              </a:ln>
              <a:solidFill>
                <a:srgbClr val="000000"/>
              </a:solidFill>
              <a:effectLst/>
              <a:uLnTx/>
              <a:uFillTx/>
              <a:latin typeface="Meiryo UI"/>
              <a:ea typeface="Meiryo UI"/>
              <a:cs typeface="+mn-cs"/>
            </a:endParaRPr>
          </a:p>
        </p:txBody>
      </p:sp>
      <p:sp>
        <p:nvSpPr>
          <p:cNvPr id="83" name="角丸四角形 37">
            <a:extLst>
              <a:ext uri="{FF2B5EF4-FFF2-40B4-BE49-F238E27FC236}">
                <a16:creationId xmlns:a16="http://schemas.microsoft.com/office/drawing/2014/main" id="{2194DBA4-8C84-4291-84FB-CB33FFAAEB30}"/>
              </a:ext>
            </a:extLst>
          </p:cNvPr>
          <p:cNvSpPr/>
          <p:nvPr/>
        </p:nvSpPr>
        <p:spPr>
          <a:xfrm>
            <a:off x="3966729" y="4417691"/>
            <a:ext cx="780975" cy="299854"/>
          </a:xfrm>
          <a:prstGeom prst="roundRect">
            <a:avLst>
              <a:gd name="adj" fmla="val 9034"/>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80975" marR="0" lvl="0" indent="-180975" algn="l" defTabSz="914400" rtl="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glow rad="228600">
                    <a:srgbClr val="BC4328">
                      <a:satMod val="175000"/>
                      <a:alpha val="40000"/>
                    </a:srgbClr>
                  </a:glow>
                </a:effectLst>
                <a:uLnTx/>
                <a:uFillTx/>
                <a:latin typeface="Meiryo UI"/>
                <a:ea typeface="Meiryo UI"/>
                <a:cs typeface="+mn-cs"/>
              </a:rPr>
              <a:t>ステップ③</a:t>
            </a:r>
            <a:endParaRPr kumimoji="0" lang="en-US" altLang="ja-JP"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84" name="角丸四角形 42">
            <a:extLst>
              <a:ext uri="{FF2B5EF4-FFF2-40B4-BE49-F238E27FC236}">
                <a16:creationId xmlns:a16="http://schemas.microsoft.com/office/drawing/2014/main" id="{2B4A1108-FE89-4CBB-8EDC-7B375D7FE0B5}"/>
              </a:ext>
            </a:extLst>
          </p:cNvPr>
          <p:cNvSpPr/>
          <p:nvPr/>
        </p:nvSpPr>
        <p:spPr>
          <a:xfrm>
            <a:off x="8034825" y="5494716"/>
            <a:ext cx="744690" cy="292832"/>
          </a:xfrm>
          <a:prstGeom prst="roundRect">
            <a:avLst>
              <a:gd name="adj" fmla="val 12625"/>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80975" marR="0" lvl="0" indent="-180975" algn="r" defTabSz="914400" rtl="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glow rad="228600">
                    <a:srgbClr val="BC4328">
                      <a:satMod val="175000"/>
                      <a:alpha val="40000"/>
                    </a:srgbClr>
                  </a:glow>
                </a:effectLst>
                <a:uLnTx/>
                <a:uFillTx/>
                <a:latin typeface="Meiryo UI"/>
                <a:ea typeface="Meiryo UI"/>
                <a:cs typeface="+mn-cs"/>
              </a:rPr>
              <a:t>ステップ④</a:t>
            </a:r>
            <a:endParaRPr kumimoji="0" lang="en-US" altLang="ja-JP" sz="1050" b="0" i="0" u="none" strike="noStrike" kern="0" cap="none" spc="0" normalizeH="0" baseline="0" noProof="0">
              <a:ln>
                <a:noFill/>
              </a:ln>
              <a:solidFill>
                <a:srgbClr val="000000"/>
              </a:solidFill>
              <a:effectLst/>
              <a:uLnTx/>
              <a:uFillTx/>
              <a:latin typeface="Meiryo UI"/>
              <a:ea typeface="Meiryo UI"/>
              <a:cs typeface="+mn-cs"/>
            </a:endParaRPr>
          </a:p>
        </p:txBody>
      </p:sp>
      <p:sp>
        <p:nvSpPr>
          <p:cNvPr id="2" name="正方形/長方形 1">
            <a:extLst>
              <a:ext uri="{FF2B5EF4-FFF2-40B4-BE49-F238E27FC236}">
                <a16:creationId xmlns:a16="http://schemas.microsoft.com/office/drawing/2014/main" id="{52295236-2ECB-4BF1-92AC-DFAFB64E8ACB}"/>
              </a:ext>
            </a:extLst>
          </p:cNvPr>
          <p:cNvSpPr/>
          <p:nvPr/>
        </p:nvSpPr>
        <p:spPr>
          <a:xfrm>
            <a:off x="1149531" y="3147881"/>
            <a:ext cx="2917372" cy="586480"/>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56B82AA7-7015-4443-B02D-251CFC006046}"/>
              </a:ext>
            </a:extLst>
          </p:cNvPr>
          <p:cNvSpPr txBox="1"/>
          <p:nvPr/>
        </p:nvSpPr>
        <p:spPr>
          <a:xfrm>
            <a:off x="2801469" y="2626854"/>
            <a:ext cx="1685491" cy="600164"/>
          </a:xfrm>
          <a:prstGeom prst="rect">
            <a:avLst/>
          </a:prstGeom>
          <a:solidFill>
            <a:srgbClr val="FFFF00"/>
          </a:solidFill>
        </p:spPr>
        <p:txBody>
          <a:bodyPr wrap="square" rtlCol="0">
            <a:spAutoFit/>
          </a:bodyPr>
          <a:lstStyle/>
          <a:p>
            <a:pPr algn="ctr"/>
            <a:r>
              <a:rPr lang="ja-JP" altLang="en-US" sz="1100"/>
              <a:t>まずは顧客分析を</a:t>
            </a:r>
            <a:endParaRPr lang="en-US" altLang="ja-JP" sz="1100"/>
          </a:p>
          <a:p>
            <a:pPr algn="ctr"/>
            <a:r>
              <a:rPr lang="ja-JP" altLang="en-US" sz="1100"/>
              <a:t>営業部中心に開始する</a:t>
            </a:r>
            <a:endParaRPr lang="en-US" altLang="ja-JP" sz="1100"/>
          </a:p>
          <a:p>
            <a:pPr algn="ctr"/>
            <a:r>
              <a:rPr kumimoji="1" lang="en-US" altLang="ja-JP" sz="1100"/>
              <a:t>(</a:t>
            </a:r>
            <a:r>
              <a:rPr kumimoji="1" lang="ja-JP" altLang="en-US" sz="1100"/>
              <a:t>別途会議案内予定</a:t>
            </a:r>
            <a:r>
              <a:rPr kumimoji="1" lang="en-US" altLang="ja-JP" sz="1100"/>
              <a:t>)</a:t>
            </a:r>
            <a:endParaRPr kumimoji="1" lang="ja-JP" altLang="en-US" sz="1100"/>
          </a:p>
        </p:txBody>
      </p:sp>
    </p:spTree>
    <p:extLst>
      <p:ext uri="{BB962C8B-B14F-4D97-AF65-F5344CB8AC3E}">
        <p14:creationId xmlns:p14="http://schemas.microsoft.com/office/powerpoint/2010/main" val="4133372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4">
            <a:extLst>
              <a:ext uri="{FF2B5EF4-FFF2-40B4-BE49-F238E27FC236}">
                <a16:creationId xmlns:a16="http://schemas.microsoft.com/office/drawing/2014/main" id="{C732C824-1027-4853-BF10-D4F6E74EF1DC}"/>
              </a:ext>
            </a:extLst>
          </p:cNvPr>
          <p:cNvSpPr txBox="1">
            <a:spLocks/>
          </p:cNvSpPr>
          <p:nvPr/>
        </p:nvSpPr>
        <p:spPr>
          <a:xfrm>
            <a:off x="248235" y="135110"/>
            <a:ext cx="6390090"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t>５</a:t>
            </a:r>
            <a:r>
              <a:rPr lang="en-US" altLang="ja-JP" sz="2000"/>
              <a:t>. </a:t>
            </a:r>
            <a:r>
              <a:rPr lang="ja-JP" altLang="en-US" sz="2000"/>
              <a:t>推進アプローチについて</a:t>
            </a:r>
          </a:p>
        </p:txBody>
      </p:sp>
      <p:sp>
        <p:nvSpPr>
          <p:cNvPr id="5" name="テキスト ボックス 6">
            <a:extLst>
              <a:ext uri="{FF2B5EF4-FFF2-40B4-BE49-F238E27FC236}">
                <a16:creationId xmlns:a16="http://schemas.microsoft.com/office/drawing/2014/main" id="{C2856355-1E09-4CC1-AD75-5A4AC0B178D0}"/>
              </a:ext>
            </a:extLst>
          </p:cNvPr>
          <p:cNvSpPr txBox="1">
            <a:spLocks noChangeArrowheads="1"/>
          </p:cNvSpPr>
          <p:nvPr/>
        </p:nvSpPr>
        <p:spPr bwMode="auto">
          <a:xfrm>
            <a:off x="775634" y="2540921"/>
            <a:ext cx="2446481" cy="25391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ＭＳ Ｐゴシック" panose="020B0600070205080204" pitchFamily="50" charset="-128"/>
              </a:defRPr>
            </a:lvl1pPr>
            <a:lvl2pPr marL="742950" indent="-285750">
              <a:defRPr kumimoji="1" sz="2400">
                <a:solidFill>
                  <a:schemeClr val="tx1"/>
                </a:solidFill>
                <a:latin typeface="Arial" panose="020B0604020202020204" pitchFamily="34" charset="0"/>
                <a:ea typeface="ＭＳ Ｐゴシック" panose="020B0600070205080204" pitchFamily="50" charset="-128"/>
              </a:defRPr>
            </a:lvl2pPr>
            <a:lvl3pPr marL="1143000" indent="-228600">
              <a:defRPr kumimoji="1" sz="2400">
                <a:solidFill>
                  <a:schemeClr val="tx1"/>
                </a:solidFill>
                <a:latin typeface="Arial" panose="020B0604020202020204" pitchFamily="34" charset="0"/>
                <a:ea typeface="ＭＳ Ｐゴシック" panose="020B0600070205080204" pitchFamily="50" charset="-128"/>
              </a:defRPr>
            </a:lvl3pPr>
            <a:lvl4pPr marL="1600200" indent="-228600">
              <a:defRPr kumimoji="1" sz="2400">
                <a:solidFill>
                  <a:schemeClr val="tx1"/>
                </a:solidFill>
                <a:latin typeface="Arial" panose="020B0604020202020204" pitchFamily="34" charset="0"/>
                <a:ea typeface="ＭＳ Ｐゴシック" panose="020B0600070205080204" pitchFamily="50" charset="-128"/>
              </a:defRPr>
            </a:lvl4pPr>
            <a:lvl5pPr marL="2057400" indent="-228600">
              <a:defRPr kumimoji="1" sz="2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9pPr>
          </a:lstStyle>
          <a:p>
            <a:pPr algn="ctr"/>
            <a:r>
              <a:rPr lang="ja-JP" altLang="en-US" sz="1050">
                <a:solidFill>
                  <a:srgbClr val="000000"/>
                </a:solidFill>
                <a:latin typeface="メイリオ" panose="020B0604030504040204" pitchFamily="50" charset="-128"/>
                <a:ea typeface="メイリオ" panose="020B0604030504040204" pitchFamily="50" charset="-128"/>
              </a:rPr>
              <a:t>業務改革に向けた計画策定</a:t>
            </a:r>
          </a:p>
        </p:txBody>
      </p:sp>
      <p:sp>
        <p:nvSpPr>
          <p:cNvPr id="8" name="ホームベース 10">
            <a:extLst>
              <a:ext uri="{FF2B5EF4-FFF2-40B4-BE49-F238E27FC236}">
                <a16:creationId xmlns:a16="http://schemas.microsoft.com/office/drawing/2014/main" id="{5D98B5C1-9B5B-4120-8154-0FF52ED351B9}"/>
              </a:ext>
            </a:extLst>
          </p:cNvPr>
          <p:cNvSpPr>
            <a:spLocks noChangeArrowheads="1"/>
          </p:cNvSpPr>
          <p:nvPr/>
        </p:nvSpPr>
        <p:spPr bwMode="auto">
          <a:xfrm>
            <a:off x="775634" y="2024702"/>
            <a:ext cx="2446481" cy="243000"/>
          </a:xfrm>
          <a:prstGeom prst="homePlate">
            <a:avLst>
              <a:gd name="adj" fmla="val 32979"/>
            </a:avLst>
          </a:prstGeom>
          <a:solidFill>
            <a:srgbClr val="FFFFFF">
              <a:lumMod val="50000"/>
            </a:srgbClr>
          </a:solidFill>
          <a:ln w="12700" algn="ctr">
            <a:solidFill>
              <a:srgbClr val="FFFFFF"/>
            </a:solidFill>
            <a:miter lim="800000"/>
            <a:headEnd/>
            <a:tailEnd/>
          </a:ln>
          <a:effectLst/>
        </p:spPr>
        <p:txBody>
          <a:bodyPr wrap="none" anchor="ctr"/>
          <a:lstStyle/>
          <a:p>
            <a:pPr marL="133350" marR="0" lvl="0" indent="-133350" algn="ctr" defTabSz="685800" eaLnBrk="1" fontAlgn="auto" latinLnBrk="0" hangingPunct="1">
              <a:lnSpc>
                <a:spcPts val="1500"/>
              </a:lnSpc>
              <a:spcBef>
                <a:spcPts val="0"/>
              </a:spcBef>
              <a:spcAft>
                <a:spcPts val="1200"/>
              </a:spcAft>
              <a:buClr>
                <a:srgbClr val="FF0000"/>
              </a:buClr>
              <a:buSzTx/>
              <a:buFontTx/>
              <a:buNone/>
              <a:tabLst/>
              <a:defRPr/>
            </a:pPr>
            <a:r>
              <a:rPr kumimoji="0" lang="ja-JP" altLang="en-US" sz="135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変革立上期</a:t>
            </a:r>
          </a:p>
        </p:txBody>
      </p:sp>
      <p:sp>
        <p:nvSpPr>
          <p:cNvPr id="9" name="ホームベース 11">
            <a:extLst>
              <a:ext uri="{FF2B5EF4-FFF2-40B4-BE49-F238E27FC236}">
                <a16:creationId xmlns:a16="http://schemas.microsoft.com/office/drawing/2014/main" id="{B582074A-9497-4E57-8883-6BF0A43CD697}"/>
              </a:ext>
            </a:extLst>
          </p:cNvPr>
          <p:cNvSpPr>
            <a:spLocks noChangeArrowheads="1"/>
          </p:cNvSpPr>
          <p:nvPr/>
        </p:nvSpPr>
        <p:spPr bwMode="auto">
          <a:xfrm>
            <a:off x="3526428" y="2024702"/>
            <a:ext cx="2446481" cy="243000"/>
          </a:xfrm>
          <a:prstGeom prst="homePlate">
            <a:avLst>
              <a:gd name="adj" fmla="val 32979"/>
            </a:avLst>
          </a:prstGeom>
          <a:solidFill>
            <a:srgbClr val="FFFFFF">
              <a:lumMod val="50000"/>
            </a:srgbClr>
          </a:solidFill>
          <a:ln w="12700" algn="ctr">
            <a:solidFill>
              <a:srgbClr val="FFFFFF"/>
            </a:solidFill>
            <a:miter lim="800000"/>
            <a:headEnd/>
            <a:tailEnd/>
          </a:ln>
          <a:effectLst/>
        </p:spPr>
        <p:txBody>
          <a:bodyPr wrap="none" anchor="ctr"/>
          <a:lstStyle/>
          <a:p>
            <a:pPr marL="133350" marR="0" lvl="0" indent="-133350" algn="ctr" defTabSz="685800" eaLnBrk="1" fontAlgn="auto" latinLnBrk="0" hangingPunct="1">
              <a:lnSpc>
                <a:spcPts val="1500"/>
              </a:lnSpc>
              <a:spcBef>
                <a:spcPts val="0"/>
              </a:spcBef>
              <a:spcAft>
                <a:spcPts val="1200"/>
              </a:spcAft>
              <a:buClr>
                <a:srgbClr val="FF0000"/>
              </a:buClr>
              <a:buSzTx/>
              <a:buFontTx/>
              <a:buNone/>
              <a:tabLst/>
              <a:defRPr/>
            </a:pPr>
            <a:r>
              <a:rPr kumimoji="0" lang="ja-JP" altLang="en-US" sz="135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業務変革期</a:t>
            </a:r>
          </a:p>
        </p:txBody>
      </p:sp>
      <p:sp>
        <p:nvSpPr>
          <p:cNvPr id="10" name="ホームベース 12">
            <a:extLst>
              <a:ext uri="{FF2B5EF4-FFF2-40B4-BE49-F238E27FC236}">
                <a16:creationId xmlns:a16="http://schemas.microsoft.com/office/drawing/2014/main" id="{76C868A8-F231-41B6-AB77-6A25CD554B8B}"/>
              </a:ext>
            </a:extLst>
          </p:cNvPr>
          <p:cNvSpPr>
            <a:spLocks noChangeArrowheads="1"/>
          </p:cNvSpPr>
          <p:nvPr/>
        </p:nvSpPr>
        <p:spPr bwMode="auto">
          <a:xfrm>
            <a:off x="6268692" y="2024702"/>
            <a:ext cx="2446481" cy="243000"/>
          </a:xfrm>
          <a:prstGeom prst="homePlate">
            <a:avLst>
              <a:gd name="adj" fmla="val 32979"/>
            </a:avLst>
          </a:prstGeom>
          <a:solidFill>
            <a:srgbClr val="FFFFFF">
              <a:lumMod val="50000"/>
            </a:srgbClr>
          </a:solidFill>
          <a:ln w="12700" algn="ctr">
            <a:solidFill>
              <a:srgbClr val="FFFFFF"/>
            </a:solidFill>
            <a:miter lim="800000"/>
            <a:headEnd/>
            <a:tailEnd/>
          </a:ln>
          <a:effectLst/>
        </p:spPr>
        <p:txBody>
          <a:bodyPr wrap="none" anchor="ctr"/>
          <a:lstStyle/>
          <a:p>
            <a:pPr marL="133350" marR="0" lvl="0" indent="-133350" algn="ctr" defTabSz="685800" eaLnBrk="1" fontAlgn="auto" latinLnBrk="0" hangingPunct="1">
              <a:lnSpc>
                <a:spcPts val="1500"/>
              </a:lnSpc>
              <a:spcBef>
                <a:spcPts val="0"/>
              </a:spcBef>
              <a:spcAft>
                <a:spcPts val="1200"/>
              </a:spcAft>
              <a:buClr>
                <a:srgbClr val="FF0000"/>
              </a:buClr>
              <a:buSzTx/>
              <a:buFontTx/>
              <a:buNone/>
              <a:tabLst/>
              <a:defRPr/>
            </a:pPr>
            <a:r>
              <a:rPr kumimoji="0" lang="ja-JP" altLang="en-US" sz="135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業務定着期</a:t>
            </a:r>
          </a:p>
        </p:txBody>
      </p:sp>
      <p:cxnSp>
        <p:nvCxnSpPr>
          <p:cNvPr id="11" name="直線矢印コネクタ 10">
            <a:extLst>
              <a:ext uri="{FF2B5EF4-FFF2-40B4-BE49-F238E27FC236}">
                <a16:creationId xmlns:a16="http://schemas.microsoft.com/office/drawing/2014/main" id="{A9A36671-7D96-435D-85C6-FC8563D686B9}"/>
              </a:ext>
            </a:extLst>
          </p:cNvPr>
          <p:cNvCxnSpPr/>
          <p:nvPr/>
        </p:nvCxnSpPr>
        <p:spPr>
          <a:xfrm>
            <a:off x="775635" y="2519883"/>
            <a:ext cx="2446481" cy="0"/>
          </a:xfrm>
          <a:prstGeom prst="straightConnector1">
            <a:avLst/>
          </a:prstGeom>
          <a:noFill/>
          <a:ln w="38100" cap="flat" cmpd="sng" algn="ctr">
            <a:solidFill>
              <a:srgbClr val="6785C1"/>
            </a:solidFill>
            <a:prstDash val="solid"/>
            <a:headEnd type="triangle"/>
            <a:tailEnd type="triangle"/>
          </a:ln>
          <a:effectLst/>
        </p:spPr>
      </p:cxnSp>
      <p:sp>
        <p:nvSpPr>
          <p:cNvPr id="12" name="テキスト ボックス 6">
            <a:extLst>
              <a:ext uri="{FF2B5EF4-FFF2-40B4-BE49-F238E27FC236}">
                <a16:creationId xmlns:a16="http://schemas.microsoft.com/office/drawing/2014/main" id="{9A53DCE3-BC02-4A70-A033-CF56E6EA2642}"/>
              </a:ext>
            </a:extLst>
          </p:cNvPr>
          <p:cNvSpPr txBox="1">
            <a:spLocks noChangeArrowheads="1"/>
          </p:cNvSpPr>
          <p:nvPr/>
        </p:nvSpPr>
        <p:spPr bwMode="auto">
          <a:xfrm>
            <a:off x="775634" y="2286405"/>
            <a:ext cx="2446481" cy="25391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ＭＳ Ｐゴシック" panose="020B0600070205080204" pitchFamily="50" charset="-128"/>
              </a:defRPr>
            </a:lvl1pPr>
            <a:lvl2pPr marL="742950" indent="-285750">
              <a:defRPr kumimoji="1" sz="2400">
                <a:solidFill>
                  <a:schemeClr val="tx1"/>
                </a:solidFill>
                <a:latin typeface="Arial" panose="020B0604020202020204" pitchFamily="34" charset="0"/>
                <a:ea typeface="ＭＳ Ｐゴシック" panose="020B0600070205080204" pitchFamily="50" charset="-128"/>
              </a:defRPr>
            </a:lvl2pPr>
            <a:lvl3pPr marL="1143000" indent="-228600">
              <a:defRPr kumimoji="1" sz="2400">
                <a:solidFill>
                  <a:schemeClr val="tx1"/>
                </a:solidFill>
                <a:latin typeface="Arial" panose="020B0604020202020204" pitchFamily="34" charset="0"/>
                <a:ea typeface="ＭＳ Ｐゴシック" panose="020B0600070205080204" pitchFamily="50" charset="-128"/>
              </a:defRPr>
            </a:lvl3pPr>
            <a:lvl4pPr marL="1600200" indent="-228600">
              <a:defRPr kumimoji="1" sz="2400">
                <a:solidFill>
                  <a:schemeClr val="tx1"/>
                </a:solidFill>
                <a:latin typeface="Arial" panose="020B0604020202020204" pitchFamily="34" charset="0"/>
                <a:ea typeface="ＭＳ Ｐゴシック" panose="020B0600070205080204" pitchFamily="50" charset="-128"/>
              </a:defRPr>
            </a:lvl4pPr>
            <a:lvl5pPr marL="2057400" indent="-228600">
              <a:defRPr kumimoji="1" sz="2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9pPr>
          </a:lstStyle>
          <a:p>
            <a:pPr algn="ctr"/>
            <a:r>
              <a:rPr lang="en-US" altLang="ja-JP" sz="1050">
                <a:solidFill>
                  <a:srgbClr val="000000"/>
                </a:solidFill>
                <a:latin typeface="メイリオ" panose="020B0604030504040204" pitchFamily="50" charset="-128"/>
                <a:ea typeface="メイリオ" panose="020B0604030504040204" pitchFamily="50" charset="-128"/>
              </a:rPr>
              <a:t>3</a:t>
            </a:r>
            <a:r>
              <a:rPr lang="ja-JP" altLang="en-US" sz="1050">
                <a:solidFill>
                  <a:srgbClr val="000000"/>
                </a:solidFill>
                <a:latin typeface="メイリオ" panose="020B0604030504040204" pitchFamily="50" charset="-128"/>
                <a:ea typeface="メイリオ" panose="020B0604030504040204" pitchFamily="50" charset="-128"/>
              </a:rPr>
              <a:t>か月から５か月</a:t>
            </a:r>
            <a:r>
              <a:rPr lang="ja-JP" altLang="en-US" sz="788">
                <a:solidFill>
                  <a:srgbClr val="000000"/>
                </a:solidFill>
                <a:latin typeface="メイリオ" panose="020B0604030504040204" pitchFamily="50" charset="-128"/>
                <a:ea typeface="メイリオ" panose="020B0604030504040204" pitchFamily="50" charset="-128"/>
              </a:rPr>
              <a:t>（検討状況により変動）</a:t>
            </a:r>
            <a:endParaRPr lang="ja-JP" altLang="en-US" sz="1050">
              <a:solidFill>
                <a:srgbClr val="000000"/>
              </a:solidFill>
              <a:latin typeface="メイリオ" panose="020B0604030504040204" pitchFamily="50" charset="-128"/>
              <a:ea typeface="メイリオ" panose="020B0604030504040204" pitchFamily="50" charset="-128"/>
            </a:endParaRPr>
          </a:p>
        </p:txBody>
      </p:sp>
      <p:cxnSp>
        <p:nvCxnSpPr>
          <p:cNvPr id="13" name="直線矢印コネクタ 12">
            <a:extLst>
              <a:ext uri="{FF2B5EF4-FFF2-40B4-BE49-F238E27FC236}">
                <a16:creationId xmlns:a16="http://schemas.microsoft.com/office/drawing/2014/main" id="{486438F9-EB82-4DD4-9C27-7C506550E245}"/>
              </a:ext>
            </a:extLst>
          </p:cNvPr>
          <p:cNvCxnSpPr/>
          <p:nvPr/>
        </p:nvCxnSpPr>
        <p:spPr>
          <a:xfrm>
            <a:off x="3532122" y="2519883"/>
            <a:ext cx="2446481" cy="0"/>
          </a:xfrm>
          <a:prstGeom prst="straightConnector1">
            <a:avLst/>
          </a:prstGeom>
          <a:noFill/>
          <a:ln w="38100" cap="flat" cmpd="sng" algn="ctr">
            <a:solidFill>
              <a:srgbClr val="6785C1"/>
            </a:solidFill>
            <a:prstDash val="solid"/>
            <a:headEnd type="triangle"/>
            <a:tailEnd type="triangle"/>
          </a:ln>
          <a:effectLst/>
        </p:spPr>
      </p:cxnSp>
      <p:sp>
        <p:nvSpPr>
          <p:cNvPr id="14" name="テキスト ボックス 6">
            <a:extLst>
              <a:ext uri="{FF2B5EF4-FFF2-40B4-BE49-F238E27FC236}">
                <a16:creationId xmlns:a16="http://schemas.microsoft.com/office/drawing/2014/main" id="{5D3FD04F-0BC8-46A3-AE96-CF56417D981E}"/>
              </a:ext>
            </a:extLst>
          </p:cNvPr>
          <p:cNvSpPr txBox="1">
            <a:spLocks noChangeArrowheads="1"/>
          </p:cNvSpPr>
          <p:nvPr/>
        </p:nvSpPr>
        <p:spPr bwMode="auto">
          <a:xfrm>
            <a:off x="3599287" y="2286405"/>
            <a:ext cx="2340690" cy="253916"/>
          </a:xfrm>
          <a:prstGeom prst="rect">
            <a:avLst/>
          </a:prstGeom>
          <a:noFill/>
          <a:ln>
            <a:noFill/>
          </a:ln>
        </p:spPr>
        <p:txBody>
          <a:bodyPr wrap="square">
            <a:spAutoFit/>
          </a:bodyPr>
          <a:lstStyle>
            <a:defPPr>
              <a:defRPr lang="ja-JP"/>
            </a:defPPr>
            <a:lvl1pPr algn="ctr">
              <a:defRPr sz="1400">
                <a:latin typeface="Meiryo UI" panose="020B0604030504040204" pitchFamily="50" charset="-128"/>
                <a:ea typeface="Meiryo UI" panose="020B0604030504040204" pitchFamily="50" charset="-128"/>
              </a:defRPr>
            </a:lvl1pPr>
            <a:lvl2pPr marL="742950" indent="-285750">
              <a:defRPr sz="2400">
                <a:latin typeface="Arial" panose="020B0604020202020204" pitchFamily="34" charset="0"/>
                <a:ea typeface="ＭＳ Ｐゴシック" panose="020B0600070205080204" pitchFamily="50" charset="-128"/>
              </a:defRPr>
            </a:lvl2pPr>
            <a:lvl3pPr marL="1143000" indent="-228600">
              <a:defRPr sz="2400">
                <a:latin typeface="Arial" panose="020B0604020202020204" pitchFamily="34" charset="0"/>
                <a:ea typeface="ＭＳ Ｐゴシック" panose="020B0600070205080204" pitchFamily="50" charset="-128"/>
              </a:defRPr>
            </a:lvl3pPr>
            <a:lvl4pPr marL="1600200" indent="-228600">
              <a:defRPr sz="2400">
                <a:latin typeface="Arial" panose="020B0604020202020204" pitchFamily="34" charset="0"/>
                <a:ea typeface="ＭＳ Ｐゴシック" panose="020B0600070205080204" pitchFamily="50" charset="-128"/>
              </a:defRPr>
            </a:lvl4pPr>
            <a:lvl5pPr marL="2057400" indent="-228600">
              <a:defRPr sz="2400">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sz="2400">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sz="2400">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sz="2400">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sz="2400">
                <a:latin typeface="Arial" panose="020B0604020202020204" pitchFamily="34" charset="0"/>
                <a:ea typeface="ＭＳ Ｐゴシック" panose="020B0600070205080204" pitchFamily="50" charset="-128"/>
              </a:defRPr>
            </a:lvl9pPr>
          </a:lstStyle>
          <a:p>
            <a:r>
              <a:rPr lang="ja-JP" altLang="en-US" sz="1050">
                <a:solidFill>
                  <a:srgbClr val="000000"/>
                </a:solidFill>
                <a:latin typeface="メイリオ" panose="020B0604030504040204" pitchFamily="50" charset="-128"/>
                <a:ea typeface="メイリオ" panose="020B0604030504040204" pitchFamily="50" charset="-128"/>
              </a:rPr>
              <a:t>策定した計画により変動</a:t>
            </a:r>
          </a:p>
        </p:txBody>
      </p:sp>
      <p:cxnSp>
        <p:nvCxnSpPr>
          <p:cNvPr id="15" name="直線矢印コネクタ 14">
            <a:extLst>
              <a:ext uri="{FF2B5EF4-FFF2-40B4-BE49-F238E27FC236}">
                <a16:creationId xmlns:a16="http://schemas.microsoft.com/office/drawing/2014/main" id="{A37D3765-C767-4314-A296-A42A6DC085E2}"/>
              </a:ext>
            </a:extLst>
          </p:cNvPr>
          <p:cNvCxnSpPr/>
          <p:nvPr/>
        </p:nvCxnSpPr>
        <p:spPr>
          <a:xfrm>
            <a:off x="6268692" y="2519883"/>
            <a:ext cx="2446481" cy="0"/>
          </a:xfrm>
          <a:prstGeom prst="straightConnector1">
            <a:avLst/>
          </a:prstGeom>
          <a:noFill/>
          <a:ln w="38100" cap="flat" cmpd="sng" algn="ctr">
            <a:solidFill>
              <a:srgbClr val="6785C1"/>
            </a:solidFill>
            <a:prstDash val="solid"/>
            <a:headEnd type="triangle"/>
            <a:tailEnd type="triangle"/>
          </a:ln>
          <a:effectLst/>
        </p:spPr>
      </p:cxnSp>
      <p:sp>
        <p:nvSpPr>
          <p:cNvPr id="16" name="テキスト ボックス 6">
            <a:extLst>
              <a:ext uri="{FF2B5EF4-FFF2-40B4-BE49-F238E27FC236}">
                <a16:creationId xmlns:a16="http://schemas.microsoft.com/office/drawing/2014/main" id="{EF8E0E0A-B057-40F4-89EF-D6D574F63B32}"/>
              </a:ext>
            </a:extLst>
          </p:cNvPr>
          <p:cNvSpPr txBox="1">
            <a:spLocks noChangeArrowheads="1"/>
          </p:cNvSpPr>
          <p:nvPr/>
        </p:nvSpPr>
        <p:spPr bwMode="auto">
          <a:xfrm>
            <a:off x="6268692" y="2286405"/>
            <a:ext cx="2446481" cy="25391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ＭＳ Ｐゴシック" panose="020B0600070205080204" pitchFamily="50" charset="-128"/>
              </a:defRPr>
            </a:lvl1pPr>
            <a:lvl2pPr marL="742950" indent="-285750">
              <a:defRPr kumimoji="1" sz="2400">
                <a:solidFill>
                  <a:schemeClr val="tx1"/>
                </a:solidFill>
                <a:latin typeface="Arial" panose="020B0604020202020204" pitchFamily="34" charset="0"/>
                <a:ea typeface="ＭＳ Ｐゴシック" panose="020B0600070205080204" pitchFamily="50" charset="-128"/>
              </a:defRPr>
            </a:lvl2pPr>
            <a:lvl3pPr marL="1143000" indent="-228600">
              <a:defRPr kumimoji="1" sz="2400">
                <a:solidFill>
                  <a:schemeClr val="tx1"/>
                </a:solidFill>
                <a:latin typeface="Arial" panose="020B0604020202020204" pitchFamily="34" charset="0"/>
                <a:ea typeface="ＭＳ Ｐゴシック" panose="020B0600070205080204" pitchFamily="50" charset="-128"/>
              </a:defRPr>
            </a:lvl3pPr>
            <a:lvl4pPr marL="1600200" indent="-228600">
              <a:defRPr kumimoji="1" sz="2400">
                <a:solidFill>
                  <a:schemeClr val="tx1"/>
                </a:solidFill>
                <a:latin typeface="Arial" panose="020B0604020202020204" pitchFamily="34" charset="0"/>
                <a:ea typeface="ＭＳ Ｐゴシック" panose="020B0600070205080204" pitchFamily="50" charset="-128"/>
              </a:defRPr>
            </a:lvl4pPr>
            <a:lvl5pPr marL="2057400" indent="-228600">
              <a:defRPr kumimoji="1" sz="2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9pPr>
          </a:lstStyle>
          <a:p>
            <a:pPr algn="ctr"/>
            <a:r>
              <a:rPr lang="ja-JP" altLang="en-US" sz="1050">
                <a:solidFill>
                  <a:srgbClr val="000000"/>
                </a:solidFill>
                <a:latin typeface="メイリオ" panose="020B0604030504040204" pitchFamily="50" charset="-128"/>
                <a:ea typeface="メイリオ" panose="020B0604030504040204" pitchFamily="50" charset="-128"/>
              </a:rPr>
              <a:t>変革状況により期間は変動</a:t>
            </a:r>
          </a:p>
        </p:txBody>
      </p:sp>
      <p:sp>
        <p:nvSpPr>
          <p:cNvPr id="17" name="テキスト ボックス 6">
            <a:extLst>
              <a:ext uri="{FF2B5EF4-FFF2-40B4-BE49-F238E27FC236}">
                <a16:creationId xmlns:a16="http://schemas.microsoft.com/office/drawing/2014/main" id="{6EF07809-52A6-443E-BDAB-F675379F202A}"/>
              </a:ext>
            </a:extLst>
          </p:cNvPr>
          <p:cNvSpPr txBox="1">
            <a:spLocks noChangeArrowheads="1"/>
          </p:cNvSpPr>
          <p:nvPr/>
        </p:nvSpPr>
        <p:spPr bwMode="auto">
          <a:xfrm>
            <a:off x="3532122" y="2540921"/>
            <a:ext cx="2446481" cy="25391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ＭＳ Ｐゴシック" panose="020B0600070205080204" pitchFamily="50" charset="-128"/>
              </a:defRPr>
            </a:lvl1pPr>
            <a:lvl2pPr marL="742950" indent="-285750">
              <a:defRPr kumimoji="1" sz="2400">
                <a:solidFill>
                  <a:schemeClr val="tx1"/>
                </a:solidFill>
                <a:latin typeface="Arial" panose="020B0604020202020204" pitchFamily="34" charset="0"/>
                <a:ea typeface="ＭＳ Ｐゴシック" panose="020B0600070205080204" pitchFamily="50" charset="-128"/>
              </a:defRPr>
            </a:lvl2pPr>
            <a:lvl3pPr marL="1143000" indent="-228600">
              <a:defRPr kumimoji="1" sz="2400">
                <a:solidFill>
                  <a:schemeClr val="tx1"/>
                </a:solidFill>
                <a:latin typeface="Arial" panose="020B0604020202020204" pitchFamily="34" charset="0"/>
                <a:ea typeface="ＭＳ Ｐゴシック" panose="020B0600070205080204" pitchFamily="50" charset="-128"/>
              </a:defRPr>
            </a:lvl3pPr>
            <a:lvl4pPr marL="1600200" indent="-228600">
              <a:defRPr kumimoji="1" sz="2400">
                <a:solidFill>
                  <a:schemeClr val="tx1"/>
                </a:solidFill>
                <a:latin typeface="Arial" panose="020B0604020202020204" pitchFamily="34" charset="0"/>
                <a:ea typeface="ＭＳ Ｐゴシック" panose="020B0600070205080204" pitchFamily="50" charset="-128"/>
              </a:defRPr>
            </a:lvl4pPr>
            <a:lvl5pPr marL="2057400" indent="-228600">
              <a:defRPr kumimoji="1" sz="2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9pPr>
          </a:lstStyle>
          <a:p>
            <a:pPr algn="ctr"/>
            <a:r>
              <a:rPr lang="ja-JP" altLang="en-US" sz="1050">
                <a:solidFill>
                  <a:srgbClr val="000000"/>
                </a:solidFill>
                <a:latin typeface="メイリオ" panose="020B0604030504040204" pitchFamily="50" charset="-128"/>
                <a:ea typeface="メイリオ" panose="020B0604030504040204" pitchFamily="50" charset="-128"/>
              </a:rPr>
              <a:t>業務改革推進</a:t>
            </a:r>
          </a:p>
        </p:txBody>
      </p:sp>
      <p:sp>
        <p:nvSpPr>
          <p:cNvPr id="18" name="テキスト ボックス 6">
            <a:extLst>
              <a:ext uri="{FF2B5EF4-FFF2-40B4-BE49-F238E27FC236}">
                <a16:creationId xmlns:a16="http://schemas.microsoft.com/office/drawing/2014/main" id="{9B318109-210D-4987-89FD-3A8E3318127C}"/>
              </a:ext>
            </a:extLst>
          </p:cNvPr>
          <p:cNvSpPr txBox="1">
            <a:spLocks noChangeArrowheads="1"/>
          </p:cNvSpPr>
          <p:nvPr/>
        </p:nvSpPr>
        <p:spPr bwMode="auto">
          <a:xfrm>
            <a:off x="6268692" y="2540921"/>
            <a:ext cx="2446481" cy="25391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ＭＳ Ｐゴシック" panose="020B0600070205080204" pitchFamily="50" charset="-128"/>
              </a:defRPr>
            </a:lvl1pPr>
            <a:lvl2pPr marL="742950" indent="-285750">
              <a:defRPr kumimoji="1" sz="2400">
                <a:solidFill>
                  <a:schemeClr val="tx1"/>
                </a:solidFill>
                <a:latin typeface="Arial" panose="020B0604020202020204" pitchFamily="34" charset="0"/>
                <a:ea typeface="ＭＳ Ｐゴシック" panose="020B0600070205080204" pitchFamily="50" charset="-128"/>
              </a:defRPr>
            </a:lvl2pPr>
            <a:lvl3pPr marL="1143000" indent="-228600">
              <a:defRPr kumimoji="1" sz="2400">
                <a:solidFill>
                  <a:schemeClr val="tx1"/>
                </a:solidFill>
                <a:latin typeface="Arial" panose="020B0604020202020204" pitchFamily="34" charset="0"/>
                <a:ea typeface="ＭＳ Ｐゴシック" panose="020B0600070205080204" pitchFamily="50" charset="-128"/>
              </a:defRPr>
            </a:lvl3pPr>
            <a:lvl4pPr marL="1600200" indent="-228600">
              <a:defRPr kumimoji="1" sz="2400">
                <a:solidFill>
                  <a:schemeClr val="tx1"/>
                </a:solidFill>
                <a:latin typeface="Arial" panose="020B0604020202020204" pitchFamily="34" charset="0"/>
                <a:ea typeface="ＭＳ Ｐゴシック" panose="020B0600070205080204" pitchFamily="50" charset="-128"/>
              </a:defRPr>
            </a:lvl4pPr>
            <a:lvl5pPr marL="2057400" indent="-228600">
              <a:defRPr kumimoji="1" sz="2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ＭＳ Ｐゴシック" panose="020B0600070205080204" pitchFamily="50" charset="-128"/>
              </a:defRPr>
            </a:lvl9pPr>
          </a:lstStyle>
          <a:p>
            <a:pPr algn="ctr"/>
            <a:r>
              <a:rPr lang="ja-JP" altLang="en-US" sz="1050">
                <a:solidFill>
                  <a:srgbClr val="000000"/>
                </a:solidFill>
                <a:latin typeface="メイリオ" panose="020B0604030504040204" pitchFamily="50" charset="-128"/>
                <a:ea typeface="メイリオ" panose="020B0604030504040204" pitchFamily="50" charset="-128"/>
              </a:rPr>
              <a:t>運用定着</a:t>
            </a:r>
          </a:p>
        </p:txBody>
      </p:sp>
      <p:sp>
        <p:nvSpPr>
          <p:cNvPr id="19" name="正方形/長方形 18">
            <a:extLst>
              <a:ext uri="{FF2B5EF4-FFF2-40B4-BE49-F238E27FC236}">
                <a16:creationId xmlns:a16="http://schemas.microsoft.com/office/drawing/2014/main" id="{3E5A2BFC-D998-43E5-9147-583987DD69DC}"/>
              </a:ext>
            </a:extLst>
          </p:cNvPr>
          <p:cNvSpPr>
            <a:spLocks noChangeArrowheads="1"/>
          </p:cNvSpPr>
          <p:nvPr/>
        </p:nvSpPr>
        <p:spPr bwMode="auto">
          <a:xfrm>
            <a:off x="775634" y="2792503"/>
            <a:ext cx="2410770" cy="2314320"/>
          </a:xfrm>
          <a:prstGeom prst="rect">
            <a:avLst/>
          </a:prstGeom>
          <a:solidFill>
            <a:srgbClr val="FFFFFF"/>
          </a:solidFill>
          <a:ln w="12700" algn="ctr">
            <a:solidFill>
              <a:srgbClr val="FFFFFF">
                <a:lumMod val="50000"/>
              </a:srgbClr>
            </a:solidFill>
            <a:miter lim="800000"/>
            <a:headEnd/>
            <a:tailEnd/>
          </a:ln>
          <a:effectLst/>
        </p:spPr>
        <p:txBody>
          <a:bodyPr wrap="square" anchor="t" anchorCtr="0"/>
          <a:lstStyle/>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endParaRPr kumimoji="0" lang="en-US" altLang="ja-JP" sz="1000" kern="0">
              <a:solidFill>
                <a:srgbClr val="000000"/>
              </a:solidFill>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測定可能な目標、テーマごとのあるべき姿（確認）および、業務変革推進に向けた計画を策定</a:t>
            </a: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業務改革領域における変革推進体制、役割を確認</a:t>
            </a: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管理ルールの作成や管理ドキュメントの整備（共通フレームで推進するため）</a:t>
            </a:r>
          </a:p>
        </p:txBody>
      </p:sp>
      <p:sp>
        <p:nvSpPr>
          <p:cNvPr id="20" name="正方形/長方形 19">
            <a:extLst>
              <a:ext uri="{FF2B5EF4-FFF2-40B4-BE49-F238E27FC236}">
                <a16:creationId xmlns:a16="http://schemas.microsoft.com/office/drawing/2014/main" id="{65CC50C7-9959-4944-AC26-7C61E4DFF318}"/>
              </a:ext>
            </a:extLst>
          </p:cNvPr>
          <p:cNvSpPr>
            <a:spLocks noChangeArrowheads="1"/>
          </p:cNvSpPr>
          <p:nvPr/>
        </p:nvSpPr>
        <p:spPr bwMode="auto">
          <a:xfrm>
            <a:off x="3532122" y="2792503"/>
            <a:ext cx="2480715" cy="2314320"/>
          </a:xfrm>
          <a:prstGeom prst="rect">
            <a:avLst/>
          </a:prstGeom>
          <a:solidFill>
            <a:srgbClr val="FFFFFF"/>
          </a:solidFill>
          <a:ln w="12700" algn="ctr">
            <a:solidFill>
              <a:srgbClr val="FFFFFF">
                <a:lumMod val="50000"/>
              </a:srgbClr>
            </a:solidFill>
            <a:miter lim="800000"/>
            <a:headEnd/>
            <a:tailEnd/>
          </a:ln>
          <a:effectLst/>
        </p:spPr>
        <p:txBody>
          <a:bodyPr wrap="square" anchor="t" anchorCtr="0"/>
          <a:lstStyle/>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endParaRPr kumimoji="0" lang="en-US" altLang="ja-JP" sz="1000" kern="0">
              <a:solidFill>
                <a:srgbClr val="000000"/>
              </a:solidFill>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全体を俯瞰して進捗状況を把握するとともに、各領域で進めている変革テーマに伴走し、計画タスクの実行支援（例：現場インタビュー、業務要求定義、業務フロー策定など）や検討後の整理</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ステークホルダー間での情報共有を行い、個別、共通検討領域を見極め、テーマ横断での効率的な推進を支援</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マネジメント層に対する変革課題・効果を訴求（提言）</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p:txBody>
      </p:sp>
      <p:sp>
        <p:nvSpPr>
          <p:cNvPr id="21" name="正方形/長方形 20">
            <a:extLst>
              <a:ext uri="{FF2B5EF4-FFF2-40B4-BE49-F238E27FC236}">
                <a16:creationId xmlns:a16="http://schemas.microsoft.com/office/drawing/2014/main" id="{5D8B4A39-88E7-49E8-B37E-A80E777D49E9}"/>
              </a:ext>
            </a:extLst>
          </p:cNvPr>
          <p:cNvSpPr>
            <a:spLocks noChangeArrowheads="1"/>
          </p:cNvSpPr>
          <p:nvPr/>
        </p:nvSpPr>
        <p:spPr bwMode="auto">
          <a:xfrm>
            <a:off x="6269548" y="2792503"/>
            <a:ext cx="2480310" cy="2314320"/>
          </a:xfrm>
          <a:prstGeom prst="rect">
            <a:avLst/>
          </a:prstGeom>
          <a:solidFill>
            <a:srgbClr val="FFFFFF"/>
          </a:solidFill>
          <a:ln w="12700" algn="ctr">
            <a:solidFill>
              <a:srgbClr val="FFFFFF">
                <a:lumMod val="50000"/>
              </a:srgbClr>
            </a:solidFill>
            <a:miter lim="800000"/>
            <a:headEnd/>
            <a:tailEnd/>
          </a:ln>
          <a:effectLst/>
        </p:spPr>
        <p:txBody>
          <a:bodyPr wrap="square" anchor="t" anchorCtr="0"/>
          <a:lstStyle/>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endParaRPr kumimoji="0" lang="en-US" altLang="ja-JP" sz="1000" kern="0">
              <a:solidFill>
                <a:srgbClr val="000000"/>
              </a:solidFill>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運用定着に向けた計画策定</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管理ルールの普及と定着のためのチェックと指示</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スムーズなプログラム運営のための定常業務のご支援</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継続的な管理ルールの改善</a:t>
            </a:r>
          </a:p>
        </p:txBody>
      </p:sp>
      <p:sp>
        <p:nvSpPr>
          <p:cNvPr id="22" name="テキスト ボックス 21">
            <a:extLst>
              <a:ext uri="{FF2B5EF4-FFF2-40B4-BE49-F238E27FC236}">
                <a16:creationId xmlns:a16="http://schemas.microsoft.com/office/drawing/2014/main" id="{0683992E-5430-4AED-80CF-2561690F2C96}"/>
              </a:ext>
            </a:extLst>
          </p:cNvPr>
          <p:cNvSpPr txBox="1"/>
          <p:nvPr/>
        </p:nvSpPr>
        <p:spPr>
          <a:xfrm>
            <a:off x="381097" y="2042886"/>
            <a:ext cx="270210" cy="720000"/>
          </a:xfrm>
          <a:prstGeom prst="rect">
            <a:avLst/>
          </a:prstGeom>
          <a:solidFill>
            <a:srgbClr val="FFFFFF">
              <a:lumMod val="50000"/>
            </a:srgbClr>
          </a:solidFill>
          <a:ln w="12700" algn="ctr">
            <a:solidFill>
              <a:srgbClr val="FFFFFF"/>
            </a:solidFill>
            <a:miter lim="800000"/>
            <a:headEnd/>
            <a:tailEnd/>
          </a:ln>
          <a:effectLst/>
        </p:spPr>
        <p:txBody>
          <a:bodyPr vert="eaVert" wrap="none" anchor="ctr"/>
          <a:lstStyle>
            <a:defPPr>
              <a:defRPr lang="ja-JP"/>
            </a:defPPr>
            <a:lvl1pPr marL="177800" marR="0" lvl="0" indent="-177800" algn="ctr" defTabSz="914400" fontAlgn="auto">
              <a:lnSpc>
                <a:spcPts val="2000"/>
              </a:lnSpc>
              <a:spcBef>
                <a:spcPts val="0"/>
              </a:spcBef>
              <a:spcAft>
                <a:spcPts val="1600"/>
              </a:spcAft>
              <a:buClr>
                <a:srgbClr val="FF0000"/>
              </a:buClr>
              <a:buSzTx/>
              <a:buFont typeface="Wingdings" pitchFamily="2" charset="2"/>
              <a:buNone/>
              <a:tabLst/>
              <a:defRPr kumimoji="0" kern="0">
                <a:solidFill>
                  <a:schemeClr val="bg1"/>
                </a:solidFill>
                <a:latin typeface="+mj-ea"/>
                <a:ea typeface="+mj-ea"/>
              </a:defRPr>
            </a:lvl1pPr>
          </a:lstStyle>
          <a:p>
            <a:pPr marL="177800" marR="0" lvl="0" indent="-177800" algn="ctr" defTabSz="914400" eaLnBrk="1" fontAlgn="auto" latinLnBrk="0" hangingPunct="1">
              <a:lnSpc>
                <a:spcPts val="2000"/>
              </a:lnSpc>
              <a:spcBef>
                <a:spcPts val="0"/>
              </a:spcBef>
              <a:spcAft>
                <a:spcPts val="1600"/>
              </a:spcAft>
              <a:buClr>
                <a:srgbClr val="FF0000"/>
              </a:buClr>
              <a:buSzTx/>
              <a:buFont typeface="Wingdings" pitchFamily="2" charset="2"/>
              <a:buNone/>
              <a:tabLst/>
              <a:defRPr/>
            </a:pPr>
            <a:r>
              <a:rPr kumimoji="0" lang="ja-JP" altLang="en-US" sz="105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フェーズ</a:t>
            </a:r>
          </a:p>
        </p:txBody>
      </p:sp>
      <p:sp>
        <p:nvSpPr>
          <p:cNvPr id="23" name="テキスト ボックス 22">
            <a:extLst>
              <a:ext uri="{FF2B5EF4-FFF2-40B4-BE49-F238E27FC236}">
                <a16:creationId xmlns:a16="http://schemas.microsoft.com/office/drawing/2014/main" id="{ECFF9B96-46E0-4BB4-892C-AE598AD61DBD}"/>
              </a:ext>
            </a:extLst>
          </p:cNvPr>
          <p:cNvSpPr txBox="1"/>
          <p:nvPr/>
        </p:nvSpPr>
        <p:spPr>
          <a:xfrm>
            <a:off x="381097" y="2792503"/>
            <a:ext cx="270210" cy="2314319"/>
          </a:xfrm>
          <a:prstGeom prst="rect">
            <a:avLst/>
          </a:prstGeom>
          <a:solidFill>
            <a:srgbClr val="FFFFFF">
              <a:lumMod val="50000"/>
            </a:srgbClr>
          </a:solidFill>
          <a:ln w="12700" algn="ctr">
            <a:solidFill>
              <a:srgbClr val="FFFFFF"/>
            </a:solidFill>
            <a:miter lim="800000"/>
            <a:headEnd/>
            <a:tailEnd/>
          </a:ln>
          <a:effectLst/>
        </p:spPr>
        <p:txBody>
          <a:bodyPr vert="eaVert" wrap="none" anchor="ctr"/>
          <a:lstStyle>
            <a:defPPr>
              <a:defRPr lang="ja-JP"/>
            </a:defPPr>
            <a:lvl1pPr marL="177800" marR="0" lvl="0" indent="-177800" algn="ctr" defTabSz="914400" fontAlgn="auto">
              <a:lnSpc>
                <a:spcPts val="2000"/>
              </a:lnSpc>
              <a:spcBef>
                <a:spcPts val="0"/>
              </a:spcBef>
              <a:spcAft>
                <a:spcPts val="1600"/>
              </a:spcAft>
              <a:buClr>
                <a:srgbClr val="FF0000"/>
              </a:buClr>
              <a:buSzTx/>
              <a:buFont typeface="Wingdings" pitchFamily="2" charset="2"/>
              <a:buNone/>
              <a:tabLst/>
              <a:defRPr kumimoji="0" kern="0">
                <a:solidFill>
                  <a:schemeClr val="bg1"/>
                </a:solidFill>
                <a:latin typeface="+mj-ea"/>
                <a:ea typeface="+mj-ea"/>
              </a:defRPr>
            </a:lvl1pPr>
          </a:lstStyle>
          <a:p>
            <a:pPr marL="177800" marR="0" lvl="0" indent="-177800" algn="ctr" defTabSz="914400" eaLnBrk="1" fontAlgn="auto" latinLnBrk="0" hangingPunct="1">
              <a:lnSpc>
                <a:spcPts val="2000"/>
              </a:lnSpc>
              <a:spcBef>
                <a:spcPts val="0"/>
              </a:spcBef>
              <a:spcAft>
                <a:spcPts val="1600"/>
              </a:spcAft>
              <a:buClr>
                <a:srgbClr val="FF0000"/>
              </a:buClr>
              <a:buSzTx/>
              <a:buFont typeface="Wingdings" pitchFamily="2" charset="2"/>
              <a:buNone/>
              <a:tabLst/>
              <a:defRPr/>
            </a:pPr>
            <a:r>
              <a:rPr kumimoji="0" lang="ja-JP" altLang="en-US" sz="105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検討内容</a:t>
            </a:r>
          </a:p>
        </p:txBody>
      </p:sp>
      <p:sp>
        <p:nvSpPr>
          <p:cNvPr id="24" name="正方形/長方形 23">
            <a:extLst>
              <a:ext uri="{FF2B5EF4-FFF2-40B4-BE49-F238E27FC236}">
                <a16:creationId xmlns:a16="http://schemas.microsoft.com/office/drawing/2014/main" id="{EF3D135F-7D37-4555-9DA3-9728C7895AFE}"/>
              </a:ext>
            </a:extLst>
          </p:cNvPr>
          <p:cNvSpPr>
            <a:spLocks noChangeArrowheads="1"/>
          </p:cNvSpPr>
          <p:nvPr/>
        </p:nvSpPr>
        <p:spPr bwMode="auto">
          <a:xfrm>
            <a:off x="775634" y="5184396"/>
            <a:ext cx="2410770" cy="1019307"/>
          </a:xfrm>
          <a:prstGeom prst="rect">
            <a:avLst/>
          </a:prstGeom>
          <a:solidFill>
            <a:srgbClr val="FFFFFF"/>
          </a:solidFill>
          <a:ln w="12700" algn="ctr">
            <a:solidFill>
              <a:srgbClr val="FFFFFF">
                <a:lumMod val="50000"/>
              </a:srgbClr>
            </a:solidFill>
            <a:miter lim="800000"/>
            <a:headEnd/>
            <a:tailEnd/>
          </a:ln>
          <a:effectLst/>
        </p:spPr>
        <p:txBody>
          <a:bodyPr wrap="square" anchor="t" anchorCtr="0"/>
          <a:lstStyle/>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ビジネスモデル（収益モデル）</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変革テーマ定義・変革目標</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a:t>
            </a: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KGI</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、進捗を図る</a:t>
            </a: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KPI</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優先順位を考慮した変革ロードマップ</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各テーマを推進するうえでの体制</a:t>
            </a:r>
          </a:p>
        </p:txBody>
      </p:sp>
      <p:sp>
        <p:nvSpPr>
          <p:cNvPr id="25" name="テキスト ボックス 24">
            <a:extLst>
              <a:ext uri="{FF2B5EF4-FFF2-40B4-BE49-F238E27FC236}">
                <a16:creationId xmlns:a16="http://schemas.microsoft.com/office/drawing/2014/main" id="{AB029D61-F626-4BB4-BEA1-CE04A1F10A09}"/>
              </a:ext>
            </a:extLst>
          </p:cNvPr>
          <p:cNvSpPr txBox="1"/>
          <p:nvPr/>
        </p:nvSpPr>
        <p:spPr>
          <a:xfrm>
            <a:off x="381097" y="5184395"/>
            <a:ext cx="270210" cy="971325"/>
          </a:xfrm>
          <a:prstGeom prst="rect">
            <a:avLst/>
          </a:prstGeom>
          <a:solidFill>
            <a:srgbClr val="FFFFFF">
              <a:lumMod val="50000"/>
            </a:srgbClr>
          </a:solidFill>
          <a:ln w="12700" algn="ctr">
            <a:solidFill>
              <a:srgbClr val="FFFFFF"/>
            </a:solidFill>
            <a:miter lim="800000"/>
            <a:headEnd/>
            <a:tailEnd/>
          </a:ln>
          <a:effectLst/>
        </p:spPr>
        <p:txBody>
          <a:bodyPr vert="eaVert" wrap="none" anchor="ctr"/>
          <a:lstStyle>
            <a:defPPr>
              <a:defRPr lang="ja-JP"/>
            </a:defPPr>
            <a:lvl1pPr marL="177800" marR="0" lvl="0" indent="-177800" algn="ctr" defTabSz="914400" fontAlgn="auto">
              <a:lnSpc>
                <a:spcPts val="2000"/>
              </a:lnSpc>
              <a:spcBef>
                <a:spcPts val="0"/>
              </a:spcBef>
              <a:spcAft>
                <a:spcPts val="1600"/>
              </a:spcAft>
              <a:buClr>
                <a:srgbClr val="FF0000"/>
              </a:buClr>
              <a:buSzTx/>
              <a:buFont typeface="Wingdings" pitchFamily="2" charset="2"/>
              <a:buNone/>
              <a:tabLst/>
              <a:defRPr kumimoji="0" kern="0">
                <a:solidFill>
                  <a:schemeClr val="bg1"/>
                </a:solidFill>
                <a:latin typeface="+mj-ea"/>
                <a:ea typeface="+mj-ea"/>
              </a:defRPr>
            </a:lvl1pPr>
          </a:lstStyle>
          <a:p>
            <a:pPr marL="177800" marR="0" lvl="0" indent="-177800" algn="ctr" defTabSz="914400" eaLnBrk="1" fontAlgn="auto" latinLnBrk="0" hangingPunct="1">
              <a:lnSpc>
                <a:spcPts val="2000"/>
              </a:lnSpc>
              <a:spcBef>
                <a:spcPts val="0"/>
              </a:spcBef>
              <a:spcAft>
                <a:spcPts val="1600"/>
              </a:spcAft>
              <a:buClr>
                <a:srgbClr val="FF0000"/>
              </a:buClr>
              <a:buSzTx/>
              <a:buFont typeface="Wingdings" pitchFamily="2" charset="2"/>
              <a:buNone/>
              <a:tabLst/>
              <a:defRPr/>
            </a:pPr>
            <a:r>
              <a:rPr kumimoji="0" lang="ja-JP" altLang="en-US" sz="105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主な作成物</a:t>
            </a:r>
          </a:p>
        </p:txBody>
      </p:sp>
      <p:sp>
        <p:nvSpPr>
          <p:cNvPr id="26" name="四角形: 角を丸くする 25">
            <a:extLst>
              <a:ext uri="{FF2B5EF4-FFF2-40B4-BE49-F238E27FC236}">
                <a16:creationId xmlns:a16="http://schemas.microsoft.com/office/drawing/2014/main" id="{EE742FC5-1EC8-4D39-8B84-A4E74ADE08F1}"/>
              </a:ext>
            </a:extLst>
          </p:cNvPr>
          <p:cNvSpPr/>
          <p:nvPr/>
        </p:nvSpPr>
        <p:spPr>
          <a:xfrm>
            <a:off x="3260800" y="2024702"/>
            <a:ext cx="171282" cy="3915154"/>
          </a:xfrm>
          <a:prstGeom prst="roundRect">
            <a:avLst/>
          </a:prstGeom>
          <a:solidFill>
            <a:schemeClr val="accent1">
              <a:lumMod val="20000"/>
              <a:lumOff val="80000"/>
            </a:schemeClr>
          </a:solidFill>
          <a:ln w="3175" cap="flat" cmpd="sng" algn="ctr">
            <a:solidFill>
              <a:srgbClr val="FFFFFF"/>
            </a:solidFill>
            <a:prstDash val="solid"/>
          </a:ln>
          <a:effectLst/>
        </p:spPr>
        <p:txBody>
          <a:bodyPr rot="0" spcFirstLastPara="0" vertOverflow="overflow" horzOverflow="overflow" vert="eaVert"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計画承認</a:t>
            </a:r>
            <a:endParaRPr kumimoji="0" lang="en-US" altLang="ja-JP"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D3CE77A7-F115-4FE7-BE78-E83EB8B51B1A}"/>
              </a:ext>
            </a:extLst>
          </p:cNvPr>
          <p:cNvSpPr>
            <a:spLocks noChangeArrowheads="1"/>
          </p:cNvSpPr>
          <p:nvPr/>
        </p:nvSpPr>
        <p:spPr bwMode="auto">
          <a:xfrm>
            <a:off x="3526427" y="5184396"/>
            <a:ext cx="2486410" cy="1019307"/>
          </a:xfrm>
          <a:prstGeom prst="rect">
            <a:avLst/>
          </a:prstGeom>
          <a:solidFill>
            <a:srgbClr val="FFFFFF"/>
          </a:solidFill>
          <a:ln w="12700" algn="ctr">
            <a:solidFill>
              <a:srgbClr val="FFFFFF">
                <a:lumMod val="50000"/>
              </a:srgbClr>
            </a:solidFill>
            <a:miter lim="800000"/>
            <a:headEnd/>
            <a:tailEnd/>
          </a:ln>
          <a:effectLst/>
        </p:spPr>
        <p:txBody>
          <a:bodyPr wrap="square" anchor="ctr" anchorCtr="0"/>
          <a:lstStyle/>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各テーマを推進する上での計画検討・整理</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各</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テーマ</a:t>
            </a:r>
            <a:r>
              <a:rPr kumimoji="0" lang="ja-JP"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から報告される進捗と</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課題整理</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マネジメント層に対する変革課題・効果</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システム化方針（要求機能性）</a:t>
            </a:r>
            <a:endPar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4E95EC21-4D61-427C-B1E0-FB6366685680}"/>
              </a:ext>
            </a:extLst>
          </p:cNvPr>
          <p:cNvSpPr>
            <a:spLocks noChangeArrowheads="1"/>
          </p:cNvSpPr>
          <p:nvPr/>
        </p:nvSpPr>
        <p:spPr bwMode="auto">
          <a:xfrm>
            <a:off x="6269562" y="5184396"/>
            <a:ext cx="2485539" cy="1019307"/>
          </a:xfrm>
          <a:prstGeom prst="rect">
            <a:avLst/>
          </a:prstGeom>
          <a:solidFill>
            <a:srgbClr val="FFFFFF"/>
          </a:solidFill>
          <a:ln w="12700" algn="ctr">
            <a:solidFill>
              <a:srgbClr val="FFFFFF">
                <a:lumMod val="50000"/>
              </a:srgbClr>
            </a:solidFill>
            <a:miter lim="800000"/>
            <a:headEnd/>
            <a:tailEnd/>
          </a:ln>
          <a:effectLst/>
        </p:spPr>
        <p:txBody>
          <a:bodyPr wrap="square" anchor="ctr" anchorCtr="0"/>
          <a:lstStyle/>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運用定着に向けた計画</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各</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テーマ</a:t>
            </a:r>
            <a:r>
              <a:rPr kumimoji="0" lang="ja-JP"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から報告される進捗と</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課題整理</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136922" marR="0" lvl="1" indent="-136922" defTabSz="914400" eaLnBrk="1" fontAlgn="auto" latinLnBrk="0" hangingPunct="1">
              <a:lnSpc>
                <a:spcPct val="100000"/>
              </a:lnSpc>
              <a:spcBef>
                <a:spcPts val="0"/>
              </a:spcBef>
              <a:spcAft>
                <a:spcPts val="0"/>
              </a:spcAft>
              <a:buClrTx/>
              <a:buSzTx/>
              <a:buFont typeface="+mj-lt"/>
              <a:buAutoNum type="arabicPeriod"/>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マネジメント層に対する変革課題・効果</a:t>
            </a:r>
            <a:endPar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9" name="四角形: 角を丸くする 28">
            <a:extLst>
              <a:ext uri="{FF2B5EF4-FFF2-40B4-BE49-F238E27FC236}">
                <a16:creationId xmlns:a16="http://schemas.microsoft.com/office/drawing/2014/main" id="{2CA7BB5F-058A-42F7-B760-CC3881737FFF}"/>
              </a:ext>
            </a:extLst>
          </p:cNvPr>
          <p:cNvSpPr/>
          <p:nvPr/>
        </p:nvSpPr>
        <p:spPr>
          <a:xfrm>
            <a:off x="6044400" y="2024702"/>
            <a:ext cx="171282" cy="3915154"/>
          </a:xfrm>
          <a:prstGeom prst="roundRect">
            <a:avLst/>
          </a:prstGeom>
          <a:solidFill>
            <a:schemeClr val="accent1">
              <a:lumMod val="20000"/>
              <a:lumOff val="80000"/>
            </a:schemeClr>
          </a:solidFill>
          <a:ln w="3175" cap="flat" cmpd="sng" algn="ctr">
            <a:solidFill>
              <a:srgbClr val="FFFFFF"/>
            </a:solidFill>
            <a:prstDash val="solid"/>
          </a:ln>
          <a:effectLst/>
        </p:spPr>
        <p:txBody>
          <a:bodyPr rot="0" spcFirstLastPara="0" vertOverflow="overflow" horzOverflow="overflow" vert="eaVert"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継続推進承認</a:t>
            </a:r>
            <a:endParaRPr kumimoji="0" lang="en-US" altLang="ja-JP"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B09F92E-4333-471D-9A57-B6C217404211}"/>
              </a:ext>
            </a:extLst>
          </p:cNvPr>
          <p:cNvSpPr/>
          <p:nvPr/>
        </p:nvSpPr>
        <p:spPr>
          <a:xfrm>
            <a:off x="704316" y="1891474"/>
            <a:ext cx="2520000" cy="4392000"/>
          </a:xfrm>
          <a:prstGeom prst="rect">
            <a:avLst/>
          </a:prstGeom>
          <a:noFill/>
          <a:ln w="28575" cap="flat" cmpd="sng" algn="ctr">
            <a:solidFill>
              <a:srgbClr val="BC4328"/>
            </a:solidFill>
            <a:prstDash val="sysDash"/>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50" b="0" i="0" u="none" strike="noStrike" kern="0" cap="none" spc="0" normalizeH="0" baseline="0" noProof="0" err="1">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9C00EF7E-8EDE-447A-841C-96ED2E9F01B2}"/>
              </a:ext>
            </a:extLst>
          </p:cNvPr>
          <p:cNvSpPr txBox="1"/>
          <p:nvPr/>
        </p:nvSpPr>
        <p:spPr>
          <a:xfrm>
            <a:off x="929384" y="6002111"/>
            <a:ext cx="1999379" cy="198652"/>
          </a:xfrm>
          <a:prstGeom prst="rect">
            <a:avLst/>
          </a:prstGeom>
          <a:noFill/>
        </p:spPr>
        <p:txBody>
          <a:bodyPr wrap="none" lIns="0" rIns="0" rtlCol="0" anchor="ctr">
            <a:noAutofit/>
          </a:bodyPr>
          <a:lstStyle/>
          <a:p>
            <a:pPr defTabSz="216000"/>
            <a:r>
              <a:rPr lang="en-US" altLang="ja-JP" sz="825">
                <a:solidFill>
                  <a:srgbClr val="000000"/>
                </a:solidFill>
                <a:latin typeface="メイリオ" panose="020B0604030504040204" pitchFamily="50" charset="-128"/>
                <a:ea typeface="メイリオ" panose="020B0604030504040204" pitchFamily="50" charset="-128"/>
              </a:rPr>
              <a:t>※</a:t>
            </a:r>
            <a:r>
              <a:rPr lang="ja-JP" altLang="en-US" sz="825">
                <a:solidFill>
                  <a:srgbClr val="000000"/>
                </a:solidFill>
                <a:latin typeface="メイリオ" panose="020B0604030504040204" pitchFamily="50" charset="-128"/>
                <a:ea typeface="メイリオ" panose="020B0604030504040204" pitchFamily="50" charset="-128"/>
              </a:rPr>
              <a:t>変革への意識づけは検討会を通じて実施</a:t>
            </a:r>
          </a:p>
        </p:txBody>
      </p:sp>
      <p:sp>
        <p:nvSpPr>
          <p:cNvPr id="32" name="四角形: 角を丸くする 31">
            <a:extLst>
              <a:ext uri="{FF2B5EF4-FFF2-40B4-BE49-F238E27FC236}">
                <a16:creationId xmlns:a16="http://schemas.microsoft.com/office/drawing/2014/main" id="{49426A23-6DF4-4B24-8ACF-B5FFBA27861A}"/>
              </a:ext>
            </a:extLst>
          </p:cNvPr>
          <p:cNvSpPr/>
          <p:nvPr/>
        </p:nvSpPr>
        <p:spPr>
          <a:xfrm>
            <a:off x="929385" y="1719207"/>
            <a:ext cx="2103269" cy="243647"/>
          </a:xfrm>
          <a:prstGeom prst="roundRect">
            <a:avLst/>
          </a:prstGeom>
          <a:solidFill>
            <a:srgbClr val="BC4328"/>
          </a:solidFill>
          <a:ln w="3175" cap="flat" cmpd="sng" algn="ctr">
            <a:solidFill>
              <a:srgbClr val="FFFFFF"/>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a:t>
            </a:r>
            <a:r>
              <a:rPr kumimoji="0" lang="en-US" altLang="ja-JP" sz="12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8/E </a:t>
            </a:r>
            <a:r>
              <a:rPr kumimoji="0" lang="ja-JP" altLang="en-US" sz="12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検討範囲</a:t>
            </a:r>
          </a:p>
        </p:txBody>
      </p:sp>
      <p:sp>
        <p:nvSpPr>
          <p:cNvPr id="34" name="テキスト プレースホルダー 5">
            <a:extLst>
              <a:ext uri="{FF2B5EF4-FFF2-40B4-BE49-F238E27FC236}">
                <a16:creationId xmlns:a16="http://schemas.microsoft.com/office/drawing/2014/main" id="{98E812EF-D1F1-4493-8BD9-3AE352A68DEB}"/>
              </a:ext>
            </a:extLst>
          </p:cNvPr>
          <p:cNvSpPr>
            <a:spLocks noGrp="1"/>
          </p:cNvSpPr>
          <p:nvPr>
            <p:ph type="body" sz="quarter" idx="10"/>
          </p:nvPr>
        </p:nvSpPr>
        <p:spPr>
          <a:xfrm>
            <a:off x="204452" y="640409"/>
            <a:ext cx="8746594" cy="971323"/>
          </a:xfrm>
          <a:solidFill>
            <a:schemeClr val="bg2">
              <a:lumMod val="40000"/>
              <a:lumOff val="60000"/>
            </a:schemeClr>
          </a:solidFill>
        </p:spPr>
        <p:txBody>
          <a:bodyPr/>
          <a:lstStyle/>
          <a:p>
            <a:pPr>
              <a:lnSpc>
                <a:spcPct val="100000"/>
              </a:lnSpc>
              <a:spcBef>
                <a:spcPts val="0"/>
              </a:spcBef>
            </a:pPr>
            <a:r>
              <a:rPr lang="en-US" altLang="ja-JP" sz="1650" b="1">
                <a:solidFill>
                  <a:srgbClr val="000000"/>
                </a:solidFill>
                <a:latin typeface="Meiryo UI"/>
                <a:ea typeface="Meiryo UI"/>
              </a:rPr>
              <a:t>SPMI</a:t>
            </a:r>
            <a:r>
              <a:rPr lang="ja-JP" altLang="en-US" sz="1650" b="1">
                <a:solidFill>
                  <a:srgbClr val="000000"/>
                </a:solidFill>
                <a:latin typeface="Meiryo UI"/>
                <a:ea typeface="Meiryo UI"/>
              </a:rPr>
              <a:t>事業目標達成に向けた</a:t>
            </a:r>
            <a:r>
              <a:rPr lang="en-US" altLang="ja-JP" sz="1650" b="1">
                <a:solidFill>
                  <a:srgbClr val="000000"/>
                </a:solidFill>
                <a:latin typeface="Meiryo UI"/>
                <a:ea typeface="Meiryo UI"/>
              </a:rPr>
              <a:t>AS</a:t>
            </a:r>
            <a:r>
              <a:rPr lang="ja-JP" altLang="en-US" sz="1650" b="1">
                <a:solidFill>
                  <a:srgbClr val="000000"/>
                </a:solidFill>
                <a:latin typeface="Meiryo UI"/>
                <a:ea typeface="Meiryo UI"/>
              </a:rPr>
              <a:t>事業変革（全体像） </a:t>
            </a:r>
            <a:endParaRPr lang="en-US" altLang="ja-JP" sz="1650" b="1">
              <a:solidFill>
                <a:srgbClr val="000000"/>
              </a:solidFill>
              <a:latin typeface="Meiryo UI"/>
              <a:ea typeface="Meiryo UI"/>
            </a:endParaRPr>
          </a:p>
          <a:p>
            <a:pPr marL="285750" indent="-285750">
              <a:lnSpc>
                <a:spcPct val="100000"/>
              </a:lnSpc>
              <a:spcBef>
                <a:spcPts val="0"/>
              </a:spcBef>
              <a:buFont typeface="Wingdings" panose="05000000000000000000" pitchFamily="2" charset="2"/>
              <a:buChar char="n"/>
            </a:pPr>
            <a:r>
              <a:rPr lang="ja-JP" altLang="en-US" sz="1400"/>
              <a:t>推進アプローチとして、業務改革を「変革立上期」「業務変革期」「業務定着期」に分けるフェーズ</a:t>
            </a:r>
            <a:br>
              <a:rPr lang="en-US" altLang="ja-JP" sz="1400"/>
            </a:br>
            <a:r>
              <a:rPr lang="ja-JP" altLang="en-US" sz="1400"/>
              <a:t>で推進し、～</a:t>
            </a:r>
            <a:r>
              <a:rPr lang="en-US" altLang="ja-JP" sz="1400"/>
              <a:t>8/E</a:t>
            </a:r>
            <a:r>
              <a:rPr lang="ja-JP" altLang="en-US" sz="1400"/>
              <a:t>にかけては変革立上期を範囲とする。</a:t>
            </a:r>
            <a:endParaRPr lang="en-US" altLang="ja-JP" sz="1400"/>
          </a:p>
          <a:p>
            <a:pPr marL="285750" indent="-285750">
              <a:lnSpc>
                <a:spcPct val="100000"/>
              </a:lnSpc>
              <a:spcBef>
                <a:spcPts val="0"/>
              </a:spcBef>
              <a:buFont typeface="Wingdings" panose="05000000000000000000" pitchFamily="2" charset="2"/>
              <a:buChar char="n"/>
            </a:pPr>
            <a:r>
              <a:rPr lang="ja-JP" altLang="en-US" sz="1400"/>
              <a:t>商談・見積プロセス検討は既に進んでいる所もあることを前提に以下検討を推進する。</a:t>
            </a:r>
            <a:endParaRPr lang="en-US" altLang="ja-JP" sz="1400"/>
          </a:p>
        </p:txBody>
      </p:sp>
    </p:spTree>
    <p:extLst>
      <p:ext uri="{BB962C8B-B14F-4D97-AF65-F5344CB8AC3E}">
        <p14:creationId xmlns:p14="http://schemas.microsoft.com/office/powerpoint/2010/main" val="833021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F155CA0-E888-4C24-ACA3-6C4D2A9C0BFF}"/>
              </a:ext>
            </a:extLst>
          </p:cNvPr>
          <p:cNvSpPr txBox="1">
            <a:spLocks/>
          </p:cNvSpPr>
          <p:nvPr/>
        </p:nvSpPr>
        <p:spPr>
          <a:xfrm>
            <a:off x="248235" y="135110"/>
            <a:ext cx="6390090"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t>５</a:t>
            </a:r>
            <a:r>
              <a:rPr lang="en-US" altLang="ja-JP" sz="2000"/>
              <a:t>. </a:t>
            </a:r>
            <a:r>
              <a:rPr lang="ja-JP" altLang="en-US" sz="2000"/>
              <a:t>推進アプローチについて</a:t>
            </a:r>
          </a:p>
        </p:txBody>
      </p:sp>
      <p:sp>
        <p:nvSpPr>
          <p:cNvPr id="6" name="テキスト プレースホルダー 5">
            <a:extLst>
              <a:ext uri="{FF2B5EF4-FFF2-40B4-BE49-F238E27FC236}">
                <a16:creationId xmlns:a16="http://schemas.microsoft.com/office/drawing/2014/main" id="{0855D5B0-28E7-4F9E-80D3-F7C7127CF46B}"/>
              </a:ext>
            </a:extLst>
          </p:cNvPr>
          <p:cNvSpPr>
            <a:spLocks noGrp="1"/>
          </p:cNvSpPr>
          <p:nvPr>
            <p:ph type="body" sz="quarter" idx="10"/>
          </p:nvPr>
        </p:nvSpPr>
        <p:spPr>
          <a:xfrm>
            <a:off x="204452" y="640409"/>
            <a:ext cx="8746594" cy="971323"/>
          </a:xfrm>
          <a:solidFill>
            <a:schemeClr val="bg2">
              <a:lumMod val="40000"/>
              <a:lumOff val="60000"/>
            </a:schemeClr>
          </a:solidFill>
        </p:spPr>
        <p:txBody>
          <a:bodyPr/>
          <a:lstStyle/>
          <a:p>
            <a:pPr>
              <a:lnSpc>
                <a:spcPct val="100000"/>
              </a:lnSpc>
              <a:spcBef>
                <a:spcPts val="0"/>
              </a:spcBef>
            </a:pPr>
            <a:r>
              <a:rPr lang="ja-JP" altLang="en-US" sz="1650" b="1">
                <a:solidFill>
                  <a:srgbClr val="000000"/>
                </a:solidFill>
                <a:latin typeface="Meiryo UI"/>
                <a:ea typeface="Meiryo UI"/>
              </a:rPr>
              <a:t>変革立上期における検討の進め方（概要）</a:t>
            </a:r>
            <a:endParaRPr lang="en-US" altLang="ja-JP" sz="1650" b="1">
              <a:solidFill>
                <a:srgbClr val="000000"/>
              </a:solidFill>
              <a:latin typeface="Meiryo UI"/>
              <a:ea typeface="Meiryo UI"/>
            </a:endParaRPr>
          </a:p>
          <a:p>
            <a:pPr marL="285750" indent="-285750">
              <a:lnSpc>
                <a:spcPct val="100000"/>
              </a:lnSpc>
              <a:spcBef>
                <a:spcPts val="0"/>
              </a:spcBef>
              <a:buFont typeface="Wingdings" panose="05000000000000000000" pitchFamily="2" charset="2"/>
              <a:buChar char="n"/>
            </a:pPr>
            <a:r>
              <a:rPr lang="ja-JP" altLang="en-US" sz="1400"/>
              <a:t>これまでの検討内容を踏まえ、最初に大方針（事業戦略や事業課題など）を確認し、業務改善施策の</a:t>
            </a:r>
            <a:br>
              <a:rPr lang="en-US" altLang="ja-JP" sz="1400"/>
            </a:br>
            <a:r>
              <a:rPr lang="ja-JP" altLang="en-US" sz="1400"/>
              <a:t>策定（既存検討テーマの検証）を行い、実行計画を策定する。</a:t>
            </a:r>
          </a:p>
        </p:txBody>
      </p:sp>
      <p:sp>
        <p:nvSpPr>
          <p:cNvPr id="8" name="Rectangle 37">
            <a:extLst>
              <a:ext uri="{FF2B5EF4-FFF2-40B4-BE49-F238E27FC236}">
                <a16:creationId xmlns:a16="http://schemas.microsoft.com/office/drawing/2014/main" id="{A6316D35-FD1D-48D8-B31C-91E5F050C662}"/>
              </a:ext>
            </a:extLst>
          </p:cNvPr>
          <p:cNvSpPr>
            <a:spLocks noChangeArrowheads="1"/>
          </p:cNvSpPr>
          <p:nvPr/>
        </p:nvSpPr>
        <p:spPr bwMode="auto">
          <a:xfrm>
            <a:off x="1357091" y="3211498"/>
            <a:ext cx="813138" cy="649854"/>
          </a:xfrm>
          <a:prstGeom prst="rect">
            <a:avLst/>
          </a:prstGeom>
          <a:solidFill>
            <a:srgbClr val="FFFFFF">
              <a:lumMod val="95000"/>
            </a:srgbClr>
          </a:solidFill>
          <a:ln w="12700">
            <a:solidFill>
              <a:srgbClr val="000000"/>
            </a:solidFill>
            <a:prstDash val="sysDash"/>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事業</a:t>
            </a:r>
          </a:p>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課題抽出</a:t>
            </a:r>
          </a:p>
        </p:txBody>
      </p:sp>
      <p:sp>
        <p:nvSpPr>
          <p:cNvPr id="9" name="Rectangle 11">
            <a:extLst>
              <a:ext uri="{FF2B5EF4-FFF2-40B4-BE49-F238E27FC236}">
                <a16:creationId xmlns:a16="http://schemas.microsoft.com/office/drawing/2014/main" id="{02889BE2-1064-4C07-84B0-EDA0A8AA7933}"/>
              </a:ext>
            </a:extLst>
          </p:cNvPr>
          <p:cNvSpPr>
            <a:spLocks noChangeArrowheads="1"/>
          </p:cNvSpPr>
          <p:nvPr/>
        </p:nvSpPr>
        <p:spPr bwMode="auto">
          <a:xfrm>
            <a:off x="2345450" y="3211498"/>
            <a:ext cx="777546" cy="649854"/>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pPr>
            <a:r>
              <a:rPr kumimoji="0" lang="ja-JP" altLang="en-US" sz="1050" kern="0">
                <a:solidFill>
                  <a:srgbClr val="000000"/>
                </a:solidFill>
                <a:latin typeface="メイリオ" panose="020B0604030504040204" pitchFamily="50" charset="-128"/>
                <a:ea typeface="メイリオ" panose="020B0604030504040204" pitchFamily="50" charset="-128"/>
              </a:rPr>
              <a:t>業務改革</a:t>
            </a:r>
            <a:endParaRPr kumimoji="0" lang="en-US" altLang="ja-JP" sz="1050" kern="0">
              <a:solidFill>
                <a:srgbClr val="000000"/>
              </a:solidFill>
              <a:latin typeface="メイリオ" panose="020B0604030504040204" pitchFamily="50" charset="-128"/>
              <a:ea typeface="メイリオ" panose="020B0604030504040204" pitchFamily="50" charset="-128"/>
            </a:endParaRPr>
          </a:p>
          <a:p>
            <a:pPr algn="ctr" defTabSz="571500" fontAlgn="base">
              <a:spcBef>
                <a:spcPct val="0"/>
              </a:spcBef>
              <a:spcAft>
                <a:spcPct val="0"/>
              </a:spcAft>
            </a:pPr>
            <a:r>
              <a:rPr kumimoji="0" lang="ja-JP" altLang="en-US" sz="1050" kern="0">
                <a:solidFill>
                  <a:srgbClr val="000000"/>
                </a:solidFill>
                <a:latin typeface="メイリオ" panose="020B0604030504040204" pitchFamily="50" charset="-128"/>
                <a:ea typeface="メイリオ" panose="020B0604030504040204" pitchFamily="50" charset="-128"/>
              </a:rPr>
              <a:t>施策の策定</a:t>
            </a:r>
            <a:endParaRPr kumimoji="0" lang="en-US" altLang="ja-JP" sz="750" b="1" kern="0">
              <a:solidFill>
                <a:srgbClr val="000000"/>
              </a:solidFill>
              <a:latin typeface="メイリオ" panose="020B0604030504040204" pitchFamily="50" charset="-128"/>
              <a:ea typeface="メイリオ" panose="020B0604030504040204" pitchFamily="50" charset="-128"/>
            </a:endParaRPr>
          </a:p>
          <a:p>
            <a:pPr algn="ctr" defTabSz="571500" fontAlgn="base">
              <a:spcBef>
                <a:spcPct val="0"/>
              </a:spcBef>
              <a:spcAft>
                <a:spcPct val="0"/>
              </a:spcAft>
            </a:pPr>
            <a:r>
              <a:rPr kumimoji="0" lang="ja-JP" altLang="en-US" sz="750" b="1" kern="0">
                <a:solidFill>
                  <a:srgbClr val="000000"/>
                </a:solidFill>
                <a:latin typeface="メイリオ" panose="020B0604030504040204" pitchFamily="50" charset="-128"/>
                <a:ea typeface="メイリオ" panose="020B0604030504040204" pitchFamily="50" charset="-128"/>
              </a:rPr>
              <a:t>（既存のお客様の</a:t>
            </a:r>
            <a:br>
              <a:rPr kumimoji="0" lang="en-US" altLang="ja-JP" sz="750" b="1" kern="0">
                <a:solidFill>
                  <a:srgbClr val="000000"/>
                </a:solidFill>
                <a:latin typeface="メイリオ" panose="020B0604030504040204" pitchFamily="50" charset="-128"/>
                <a:ea typeface="メイリオ" panose="020B0604030504040204" pitchFamily="50" charset="-128"/>
              </a:rPr>
            </a:br>
            <a:r>
              <a:rPr kumimoji="0" lang="ja-JP" altLang="en-US" sz="750" b="1" kern="0">
                <a:solidFill>
                  <a:srgbClr val="000000"/>
                </a:solidFill>
                <a:latin typeface="メイリオ" panose="020B0604030504040204" pitchFamily="50" charset="-128"/>
                <a:ea typeface="メイリオ" panose="020B0604030504040204" pitchFamily="50" charset="-128"/>
              </a:rPr>
              <a:t>検討策）</a:t>
            </a:r>
            <a:endParaRPr kumimoji="0" lang="en-US" altLang="ja-JP" sz="750" kern="0">
              <a:solidFill>
                <a:srgbClr val="000000"/>
              </a:solidFill>
              <a:latin typeface="メイリオ" panose="020B0604030504040204" pitchFamily="50" charset="-128"/>
              <a:ea typeface="メイリオ" panose="020B0604030504040204" pitchFamily="50" charset="-128"/>
            </a:endParaRPr>
          </a:p>
        </p:txBody>
      </p:sp>
      <p:cxnSp>
        <p:nvCxnSpPr>
          <p:cNvPr id="10" name="AutoShape 19">
            <a:extLst>
              <a:ext uri="{FF2B5EF4-FFF2-40B4-BE49-F238E27FC236}">
                <a16:creationId xmlns:a16="http://schemas.microsoft.com/office/drawing/2014/main" id="{72AE6EA7-B88F-4A8E-B3D9-9CAFB82E853D}"/>
              </a:ext>
            </a:extLst>
          </p:cNvPr>
          <p:cNvCxnSpPr>
            <a:cxnSpLocks noChangeShapeType="1"/>
            <a:stCxn id="8" idx="3"/>
            <a:endCxn id="9" idx="1"/>
          </p:cNvCxnSpPr>
          <p:nvPr/>
        </p:nvCxnSpPr>
        <p:spPr bwMode="auto">
          <a:xfrm>
            <a:off x="2170228" y="3536998"/>
            <a:ext cx="175222"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 name="AutoShape 19">
            <a:extLst>
              <a:ext uri="{FF2B5EF4-FFF2-40B4-BE49-F238E27FC236}">
                <a16:creationId xmlns:a16="http://schemas.microsoft.com/office/drawing/2014/main" id="{699BEBA3-6941-4963-BB61-7BBF9F0B72EB}"/>
              </a:ext>
            </a:extLst>
          </p:cNvPr>
          <p:cNvCxnSpPr>
            <a:cxnSpLocks noChangeShapeType="1"/>
            <a:stCxn id="9" idx="3"/>
            <a:endCxn id="39" idx="1"/>
          </p:cNvCxnSpPr>
          <p:nvPr/>
        </p:nvCxnSpPr>
        <p:spPr bwMode="auto">
          <a:xfrm>
            <a:off x="3122996" y="3536425"/>
            <a:ext cx="143737"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2" name="Text Box 58">
            <a:extLst>
              <a:ext uri="{FF2B5EF4-FFF2-40B4-BE49-F238E27FC236}">
                <a16:creationId xmlns:a16="http://schemas.microsoft.com/office/drawing/2014/main" id="{1F5CD317-1902-458D-B4D9-5E143D573E31}"/>
              </a:ext>
            </a:extLst>
          </p:cNvPr>
          <p:cNvSpPr txBox="1">
            <a:spLocks noChangeArrowheads="1"/>
          </p:cNvSpPr>
          <p:nvPr/>
        </p:nvSpPr>
        <p:spPr bwMode="auto">
          <a:xfrm>
            <a:off x="1250315" y="3897441"/>
            <a:ext cx="1188000" cy="147172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事業戦略の課題設定</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収益構造分析</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重要指標値の設定</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重要指標値の現状</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事業戦略の課題抽出</a:t>
            </a: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現場業務の課題設定</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現状部門インタビュー</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現状問題の整理</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要因分析</a:t>
            </a:r>
          </a:p>
          <a:p>
            <a:pPr lvl="1" eaLnBrk="1" fontAlgn="base" hangingPunct="1">
              <a:spcBef>
                <a:spcPct val="0"/>
              </a:spcBef>
              <a:spcAft>
                <a:spcPct val="0"/>
              </a:spcAft>
              <a:buFont typeface="Wingdings" pitchFamily="2" charset="2"/>
              <a:buChar char="ü"/>
            </a:pPr>
            <a:r>
              <a:rPr lang="ja-JP" altLang="en-US" sz="700">
                <a:solidFill>
                  <a:srgbClr val="000000"/>
                </a:solidFill>
                <a:latin typeface="メイリオ" panose="020B0604030504040204" pitchFamily="50" charset="-128"/>
                <a:ea typeface="メイリオ" panose="020B0604030504040204" pitchFamily="50" charset="-128"/>
              </a:rPr>
              <a:t>現場業務の課題抽出</a:t>
            </a:r>
          </a:p>
          <a:p>
            <a:pPr eaLnBrk="1" fontAlgn="base" hangingPunct="1">
              <a:spcBef>
                <a:spcPct val="2500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事業課題の整理</a:t>
            </a:r>
          </a:p>
        </p:txBody>
      </p:sp>
      <p:sp>
        <p:nvSpPr>
          <p:cNvPr id="13" name="Text Box 58">
            <a:extLst>
              <a:ext uri="{FF2B5EF4-FFF2-40B4-BE49-F238E27FC236}">
                <a16:creationId xmlns:a16="http://schemas.microsoft.com/office/drawing/2014/main" id="{4902DF9D-7650-4CD5-B67B-FC8476D1BC33}"/>
              </a:ext>
            </a:extLst>
          </p:cNvPr>
          <p:cNvSpPr txBox="1">
            <a:spLocks noChangeArrowheads="1"/>
          </p:cNvSpPr>
          <p:nvPr/>
        </p:nvSpPr>
        <p:spPr bwMode="auto">
          <a:xfrm>
            <a:off x="2370090" y="3897441"/>
            <a:ext cx="815876" cy="512345"/>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2500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業務改善施策</a:t>
            </a:r>
            <a:br>
              <a:rPr lang="en-US" altLang="ja-JP" sz="700">
                <a:solidFill>
                  <a:srgbClr val="000000"/>
                </a:solidFill>
                <a:latin typeface="メイリオ" panose="020B0604030504040204" pitchFamily="50" charset="-128"/>
                <a:ea typeface="メイリオ" panose="020B0604030504040204" pitchFamily="50" charset="-128"/>
              </a:rPr>
            </a:br>
            <a:r>
              <a:rPr lang="ja-JP" altLang="en-US" sz="700">
                <a:solidFill>
                  <a:srgbClr val="000000"/>
                </a:solidFill>
                <a:latin typeface="メイリオ" panose="020B0604030504040204" pitchFamily="50" charset="-128"/>
                <a:ea typeface="メイリオ" panose="020B0604030504040204" pitchFamily="50" charset="-128"/>
              </a:rPr>
              <a:t>の策定</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2500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全体将来構想</a:t>
            </a:r>
            <a:br>
              <a:rPr lang="en-US" altLang="ja-JP" sz="700">
                <a:solidFill>
                  <a:srgbClr val="000000"/>
                </a:solidFill>
                <a:latin typeface="メイリオ" panose="020B0604030504040204" pitchFamily="50" charset="-128"/>
                <a:ea typeface="メイリオ" panose="020B0604030504040204" pitchFamily="50" charset="-128"/>
              </a:rPr>
            </a:br>
            <a:r>
              <a:rPr lang="ja-JP" altLang="en-US" sz="700">
                <a:solidFill>
                  <a:srgbClr val="000000"/>
                </a:solidFill>
                <a:latin typeface="メイリオ" panose="020B0604030504040204" pitchFamily="50" charset="-128"/>
                <a:ea typeface="メイリオ" panose="020B0604030504040204" pitchFamily="50" charset="-128"/>
              </a:rPr>
              <a:t>の策定</a:t>
            </a:r>
          </a:p>
        </p:txBody>
      </p:sp>
      <p:sp>
        <p:nvSpPr>
          <p:cNvPr id="14" name="Rectangle 10">
            <a:extLst>
              <a:ext uri="{FF2B5EF4-FFF2-40B4-BE49-F238E27FC236}">
                <a16:creationId xmlns:a16="http://schemas.microsoft.com/office/drawing/2014/main" id="{E6278724-072E-42E5-A8C4-CC4B58FC5103}"/>
              </a:ext>
            </a:extLst>
          </p:cNvPr>
          <p:cNvSpPr>
            <a:spLocks noChangeArrowheads="1"/>
          </p:cNvSpPr>
          <p:nvPr/>
        </p:nvSpPr>
        <p:spPr bwMode="auto">
          <a:xfrm>
            <a:off x="445390" y="3211498"/>
            <a:ext cx="709100" cy="649854"/>
          </a:xfrm>
          <a:prstGeom prst="rect">
            <a:avLst/>
          </a:prstGeom>
          <a:solidFill>
            <a:srgbClr val="FFFFFF">
              <a:lumMod val="95000"/>
            </a:srgbClr>
          </a:solidFill>
          <a:ln w="12700">
            <a:solidFill>
              <a:srgbClr val="000000"/>
            </a:solidFill>
            <a:prstDash val="sysDash"/>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事業戦略</a:t>
            </a:r>
          </a:p>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の把握</a:t>
            </a:r>
          </a:p>
        </p:txBody>
      </p:sp>
      <p:sp>
        <p:nvSpPr>
          <p:cNvPr id="15" name="Line 100">
            <a:extLst>
              <a:ext uri="{FF2B5EF4-FFF2-40B4-BE49-F238E27FC236}">
                <a16:creationId xmlns:a16="http://schemas.microsoft.com/office/drawing/2014/main" id="{30610F5E-40B3-4B1B-AEA4-0231DFD66CCD}"/>
              </a:ext>
            </a:extLst>
          </p:cNvPr>
          <p:cNvSpPr>
            <a:spLocks noChangeShapeType="1"/>
          </p:cNvSpPr>
          <p:nvPr/>
        </p:nvSpPr>
        <p:spPr bwMode="auto">
          <a:xfrm>
            <a:off x="1139432" y="3538144"/>
            <a:ext cx="20123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pPr defTabSz="341710" fontAlgn="base">
              <a:spcBef>
                <a:spcPct val="0"/>
              </a:spcBef>
              <a:spcAft>
                <a:spcPct val="0"/>
              </a:spcAft>
            </a:pPr>
            <a:endParaRPr lang="ja-JP" altLang="en-US" sz="1350">
              <a:solidFill>
                <a:srgbClr val="000000"/>
              </a:solidFill>
              <a:latin typeface="メイリオ" panose="020B0604030504040204" pitchFamily="50" charset="-128"/>
              <a:ea typeface="メイリオ" panose="020B0604030504040204" pitchFamily="50" charset="-128"/>
            </a:endParaRPr>
          </a:p>
        </p:txBody>
      </p:sp>
      <p:sp>
        <p:nvSpPr>
          <p:cNvPr id="16" name="AutoShape 14">
            <a:extLst>
              <a:ext uri="{FF2B5EF4-FFF2-40B4-BE49-F238E27FC236}">
                <a16:creationId xmlns:a16="http://schemas.microsoft.com/office/drawing/2014/main" id="{B023D2EE-D8F6-4C44-99C9-E3611273F6E8}"/>
              </a:ext>
            </a:extLst>
          </p:cNvPr>
          <p:cNvSpPr>
            <a:spLocks noChangeArrowheads="1"/>
          </p:cNvSpPr>
          <p:nvPr/>
        </p:nvSpPr>
        <p:spPr bwMode="auto">
          <a:xfrm>
            <a:off x="472768" y="2293479"/>
            <a:ext cx="1819295" cy="227731"/>
          </a:xfrm>
          <a:prstGeom prst="homePlate">
            <a:avLst>
              <a:gd name="adj" fmla="val 18224"/>
            </a:avLst>
          </a:prstGeom>
          <a:solidFill>
            <a:schemeClr val="accent1">
              <a:lumMod val="20000"/>
              <a:lumOff val="80000"/>
            </a:schemeClr>
          </a:solidFill>
          <a:ln w="12700" algn="ctr">
            <a:solidFill>
              <a:srgbClr val="FFFFFF"/>
            </a:solidFill>
            <a:miter lim="800000"/>
            <a:headEnd/>
            <a:tailEnd/>
          </a:ln>
        </p:spPr>
        <p:txBody>
          <a:bodyPr wrap="none" anchor="ctr"/>
          <a:lstStyle/>
          <a:p>
            <a:pPr marL="0" marR="0" lvl="0" indent="0" algn="ctr" defTabSz="685800" eaLnBrk="1" fontAlgn="base" latinLnBrk="0" hangingPunct="1">
              <a:lnSpc>
                <a:spcPct val="100000"/>
              </a:lnSpc>
              <a:spcBef>
                <a:spcPct val="50000"/>
              </a:spcBef>
              <a:spcAft>
                <a:spcPct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現状調査・課題分析</a:t>
            </a:r>
          </a:p>
        </p:txBody>
      </p:sp>
      <p:sp>
        <p:nvSpPr>
          <p:cNvPr id="17" name="AutoShape 15">
            <a:extLst>
              <a:ext uri="{FF2B5EF4-FFF2-40B4-BE49-F238E27FC236}">
                <a16:creationId xmlns:a16="http://schemas.microsoft.com/office/drawing/2014/main" id="{8F62DD5F-9EC8-4CAD-9C96-E534FA15F0A6}"/>
              </a:ext>
            </a:extLst>
          </p:cNvPr>
          <p:cNvSpPr>
            <a:spLocks noChangeArrowheads="1"/>
          </p:cNvSpPr>
          <p:nvPr/>
        </p:nvSpPr>
        <p:spPr bwMode="auto">
          <a:xfrm>
            <a:off x="2334499" y="2286049"/>
            <a:ext cx="1854885" cy="233423"/>
          </a:xfrm>
          <a:prstGeom prst="homePlate">
            <a:avLst>
              <a:gd name="adj" fmla="val 17690"/>
            </a:avLst>
          </a:prstGeom>
          <a:solidFill>
            <a:schemeClr val="accent1">
              <a:lumMod val="20000"/>
              <a:lumOff val="80000"/>
            </a:schemeClr>
          </a:solidFill>
          <a:ln w="12700" algn="ctr">
            <a:solidFill>
              <a:srgbClr val="FFFFFF"/>
            </a:solidFill>
            <a:miter lim="800000"/>
            <a:headEnd/>
            <a:tailEnd/>
          </a:ln>
        </p:spPr>
        <p:txBody>
          <a:bodyPr wrap="none" anchor="ctr"/>
          <a:lstStyle/>
          <a:p>
            <a:pPr marL="0" marR="0" lvl="0" indent="0" algn="ctr" defTabSz="685800" eaLnBrk="1" fontAlgn="base" latinLnBrk="0" hangingPunct="1">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業務改善の方針策定</a:t>
            </a:r>
          </a:p>
        </p:txBody>
      </p:sp>
      <p:sp>
        <p:nvSpPr>
          <p:cNvPr id="18" name="AutoShape 14">
            <a:extLst>
              <a:ext uri="{FF2B5EF4-FFF2-40B4-BE49-F238E27FC236}">
                <a16:creationId xmlns:a16="http://schemas.microsoft.com/office/drawing/2014/main" id="{11893580-631E-4875-919C-76ED8FB5B65C}"/>
              </a:ext>
            </a:extLst>
          </p:cNvPr>
          <p:cNvSpPr>
            <a:spLocks noChangeArrowheads="1"/>
          </p:cNvSpPr>
          <p:nvPr/>
        </p:nvSpPr>
        <p:spPr bwMode="auto">
          <a:xfrm>
            <a:off x="4229083" y="2286049"/>
            <a:ext cx="1916486" cy="233423"/>
          </a:xfrm>
          <a:prstGeom prst="homePlate">
            <a:avLst>
              <a:gd name="adj" fmla="val 22003"/>
            </a:avLst>
          </a:prstGeom>
          <a:solidFill>
            <a:schemeClr val="accent1">
              <a:lumMod val="20000"/>
              <a:lumOff val="80000"/>
            </a:schemeClr>
          </a:solidFill>
          <a:ln w="12700" algn="ctr">
            <a:solidFill>
              <a:srgbClr val="FFFFFF"/>
            </a:solidFill>
            <a:miter lim="800000"/>
            <a:headEnd/>
            <a:tailEnd/>
          </a:ln>
        </p:spPr>
        <p:txBody>
          <a:bodyPr wrap="none" anchor="ctr"/>
          <a:lstStyle/>
          <a:p>
            <a:pPr marL="0" marR="0" lvl="0" indent="0" algn="ctr" defTabSz="685800" eaLnBrk="1" fontAlgn="base" latinLnBrk="0" hangingPunct="1">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新業務設計</a:t>
            </a:r>
          </a:p>
        </p:txBody>
      </p:sp>
      <p:sp>
        <p:nvSpPr>
          <p:cNvPr id="19" name="AutoShape 15">
            <a:extLst>
              <a:ext uri="{FF2B5EF4-FFF2-40B4-BE49-F238E27FC236}">
                <a16:creationId xmlns:a16="http://schemas.microsoft.com/office/drawing/2014/main" id="{9E7FED86-E998-480D-ABDA-00B151A09947}"/>
              </a:ext>
            </a:extLst>
          </p:cNvPr>
          <p:cNvSpPr>
            <a:spLocks noChangeArrowheads="1"/>
          </p:cNvSpPr>
          <p:nvPr/>
        </p:nvSpPr>
        <p:spPr bwMode="auto">
          <a:xfrm>
            <a:off x="6185268" y="2287787"/>
            <a:ext cx="1789178" cy="239117"/>
          </a:xfrm>
          <a:prstGeom prst="homePlate">
            <a:avLst>
              <a:gd name="adj" fmla="val 18439"/>
            </a:avLst>
          </a:prstGeom>
          <a:solidFill>
            <a:schemeClr val="accent1">
              <a:lumMod val="20000"/>
              <a:lumOff val="80000"/>
            </a:schemeClr>
          </a:solidFill>
          <a:ln w="12700" algn="ctr">
            <a:solidFill>
              <a:srgbClr val="FFFFFF"/>
            </a:solidFill>
            <a:miter lim="800000"/>
            <a:headEnd/>
            <a:tailEnd/>
          </a:ln>
        </p:spPr>
        <p:txBody>
          <a:bodyPr wrap="none" anchor="ctr"/>
          <a:lstStyle/>
          <a:p>
            <a:pPr marL="0" marR="0" lvl="0" indent="0" algn="ctr" defTabSz="685800" eaLnBrk="1" fontAlgn="base" latinLnBrk="0" hangingPunct="1">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システム要求定義</a:t>
            </a:r>
          </a:p>
        </p:txBody>
      </p:sp>
      <p:sp>
        <p:nvSpPr>
          <p:cNvPr id="20" name="Rectangle 10">
            <a:extLst>
              <a:ext uri="{FF2B5EF4-FFF2-40B4-BE49-F238E27FC236}">
                <a16:creationId xmlns:a16="http://schemas.microsoft.com/office/drawing/2014/main" id="{48F797CE-15BF-4357-94A8-CF0784BA895B}"/>
              </a:ext>
            </a:extLst>
          </p:cNvPr>
          <p:cNvSpPr>
            <a:spLocks noChangeArrowheads="1"/>
          </p:cNvSpPr>
          <p:nvPr/>
        </p:nvSpPr>
        <p:spPr bwMode="auto">
          <a:xfrm>
            <a:off x="5154472" y="3074511"/>
            <a:ext cx="758381" cy="586817"/>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新業務</a:t>
            </a: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フロー</a:t>
            </a: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検討</a:t>
            </a:r>
          </a:p>
        </p:txBody>
      </p:sp>
      <p:sp>
        <p:nvSpPr>
          <p:cNvPr id="21" name="Rectangle 10">
            <a:extLst>
              <a:ext uri="{FF2B5EF4-FFF2-40B4-BE49-F238E27FC236}">
                <a16:creationId xmlns:a16="http://schemas.microsoft.com/office/drawing/2014/main" id="{A369D828-C645-4F8C-B5F4-8BE951C12EE2}"/>
              </a:ext>
            </a:extLst>
          </p:cNvPr>
          <p:cNvSpPr>
            <a:spLocks noChangeArrowheads="1"/>
          </p:cNvSpPr>
          <p:nvPr/>
        </p:nvSpPr>
        <p:spPr bwMode="auto">
          <a:xfrm>
            <a:off x="5154472" y="4223781"/>
            <a:ext cx="784391" cy="575357"/>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新ビジネス</a:t>
            </a: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ルール検討</a:t>
            </a:r>
          </a:p>
        </p:txBody>
      </p:sp>
      <p:sp>
        <p:nvSpPr>
          <p:cNvPr id="22" name="Rectangle 10">
            <a:extLst>
              <a:ext uri="{FF2B5EF4-FFF2-40B4-BE49-F238E27FC236}">
                <a16:creationId xmlns:a16="http://schemas.microsoft.com/office/drawing/2014/main" id="{88F34916-CC3A-4A4B-9315-610137CB2359}"/>
              </a:ext>
            </a:extLst>
          </p:cNvPr>
          <p:cNvSpPr>
            <a:spLocks noChangeArrowheads="1"/>
          </p:cNvSpPr>
          <p:nvPr/>
        </p:nvSpPr>
        <p:spPr bwMode="auto">
          <a:xfrm>
            <a:off x="4245435" y="3211498"/>
            <a:ext cx="721421" cy="649854"/>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27000" tIns="27000" rIns="27000" bIns="27000" anchor="ctr"/>
          <a:lstStyle/>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業務要求</a:t>
            </a: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定義</a:t>
            </a:r>
          </a:p>
        </p:txBody>
      </p:sp>
      <p:cxnSp>
        <p:nvCxnSpPr>
          <p:cNvPr id="23" name="AutoShape 15">
            <a:extLst>
              <a:ext uri="{FF2B5EF4-FFF2-40B4-BE49-F238E27FC236}">
                <a16:creationId xmlns:a16="http://schemas.microsoft.com/office/drawing/2014/main" id="{AEB0CDC3-4F4C-4E90-A0D5-018781597C5C}"/>
              </a:ext>
            </a:extLst>
          </p:cNvPr>
          <p:cNvCxnSpPr>
            <a:cxnSpLocks noChangeShapeType="1"/>
            <a:stCxn id="22" idx="3"/>
            <a:endCxn id="20" idx="1"/>
          </p:cNvCxnSpPr>
          <p:nvPr/>
        </p:nvCxnSpPr>
        <p:spPr bwMode="auto">
          <a:xfrm flipV="1">
            <a:off x="4966856" y="3367919"/>
            <a:ext cx="187616" cy="168506"/>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4" name="AutoShape 16">
            <a:extLst>
              <a:ext uri="{FF2B5EF4-FFF2-40B4-BE49-F238E27FC236}">
                <a16:creationId xmlns:a16="http://schemas.microsoft.com/office/drawing/2014/main" id="{7438D235-992E-4064-9383-EE84FE18970E}"/>
              </a:ext>
            </a:extLst>
          </p:cNvPr>
          <p:cNvCxnSpPr>
            <a:cxnSpLocks noChangeShapeType="1"/>
            <a:stCxn id="22" idx="3"/>
            <a:endCxn id="21" idx="1"/>
          </p:cNvCxnSpPr>
          <p:nvPr/>
        </p:nvCxnSpPr>
        <p:spPr bwMode="auto">
          <a:xfrm>
            <a:off x="4966856" y="3536425"/>
            <a:ext cx="187616" cy="975035"/>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19">
            <a:extLst>
              <a:ext uri="{FF2B5EF4-FFF2-40B4-BE49-F238E27FC236}">
                <a16:creationId xmlns:a16="http://schemas.microsoft.com/office/drawing/2014/main" id="{5771DD75-0A6F-4955-8EAF-7B2EB5BA26A1}"/>
              </a:ext>
            </a:extLst>
          </p:cNvPr>
          <p:cNvCxnSpPr>
            <a:cxnSpLocks noChangeShapeType="1"/>
          </p:cNvCxnSpPr>
          <p:nvPr/>
        </p:nvCxnSpPr>
        <p:spPr bwMode="auto">
          <a:xfrm>
            <a:off x="5912852" y="3358753"/>
            <a:ext cx="26010" cy="1138550"/>
          </a:xfrm>
          <a:prstGeom prst="bentConnector3">
            <a:avLst>
              <a:gd name="adj1" fmla="val 671431"/>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sp>
        <p:nvSpPr>
          <p:cNvPr id="26" name="Text Box 58">
            <a:extLst>
              <a:ext uri="{FF2B5EF4-FFF2-40B4-BE49-F238E27FC236}">
                <a16:creationId xmlns:a16="http://schemas.microsoft.com/office/drawing/2014/main" id="{28BD0B29-1CFE-4FAF-8F9A-837035915A85}"/>
              </a:ext>
            </a:extLst>
          </p:cNvPr>
          <p:cNvSpPr txBox="1">
            <a:spLocks noChangeArrowheads="1"/>
          </p:cNvSpPr>
          <p:nvPr/>
        </p:nvSpPr>
        <p:spPr bwMode="auto">
          <a:xfrm>
            <a:off x="4219501" y="3897441"/>
            <a:ext cx="762488" cy="593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現場インタビュー</a:t>
            </a: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業務要求明確化</a:t>
            </a: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業務改善施策の具体化</a:t>
            </a:r>
          </a:p>
        </p:txBody>
      </p:sp>
      <p:sp>
        <p:nvSpPr>
          <p:cNvPr id="27" name="Text Box 58">
            <a:extLst>
              <a:ext uri="{FF2B5EF4-FFF2-40B4-BE49-F238E27FC236}">
                <a16:creationId xmlns:a16="http://schemas.microsoft.com/office/drawing/2014/main" id="{08C254F8-56DB-4423-8A34-DDA43748B90A}"/>
              </a:ext>
            </a:extLst>
          </p:cNvPr>
          <p:cNvSpPr txBox="1">
            <a:spLocks noChangeArrowheads="1"/>
          </p:cNvSpPr>
          <p:nvPr/>
        </p:nvSpPr>
        <p:spPr bwMode="auto">
          <a:xfrm>
            <a:off x="5188695" y="3667058"/>
            <a:ext cx="694042" cy="485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新業務一覧の検討</a:t>
            </a: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新業務フローの検討</a:t>
            </a:r>
          </a:p>
        </p:txBody>
      </p:sp>
      <p:sp>
        <p:nvSpPr>
          <p:cNvPr id="28" name="Text Box 58">
            <a:extLst>
              <a:ext uri="{FF2B5EF4-FFF2-40B4-BE49-F238E27FC236}">
                <a16:creationId xmlns:a16="http://schemas.microsoft.com/office/drawing/2014/main" id="{E0820D4A-00D1-4572-87A6-8E29AC88C97D}"/>
              </a:ext>
            </a:extLst>
          </p:cNvPr>
          <p:cNvSpPr txBox="1">
            <a:spLocks noChangeArrowheads="1"/>
          </p:cNvSpPr>
          <p:nvPr/>
        </p:nvSpPr>
        <p:spPr bwMode="auto">
          <a:xfrm>
            <a:off x="5190063" y="4792261"/>
            <a:ext cx="1220260" cy="162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新ビジネスルールの検討</a:t>
            </a:r>
          </a:p>
        </p:txBody>
      </p:sp>
      <p:sp>
        <p:nvSpPr>
          <p:cNvPr id="29" name="Rectangle 10">
            <a:extLst>
              <a:ext uri="{FF2B5EF4-FFF2-40B4-BE49-F238E27FC236}">
                <a16:creationId xmlns:a16="http://schemas.microsoft.com/office/drawing/2014/main" id="{867E4AF1-68D7-4CF3-8185-28D3F8130269}"/>
              </a:ext>
            </a:extLst>
          </p:cNvPr>
          <p:cNvSpPr>
            <a:spLocks noChangeArrowheads="1"/>
          </p:cNvSpPr>
          <p:nvPr/>
        </p:nvSpPr>
        <p:spPr bwMode="auto">
          <a:xfrm>
            <a:off x="6294782" y="3211498"/>
            <a:ext cx="725527" cy="649854"/>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システム</a:t>
            </a:r>
            <a:endParaRPr kumimoji="0" lang="en-US" altLang="ja-JP" sz="1050" kern="0">
              <a:solidFill>
                <a:srgbClr val="000000"/>
              </a:solidFill>
              <a:latin typeface="メイリオ" panose="020B0604030504040204" pitchFamily="50" charset="-128"/>
              <a:ea typeface="メイリオ" panose="020B0604030504040204" pitchFamily="50" charset="-128"/>
            </a:endParaRP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要求定義</a:t>
            </a:r>
          </a:p>
        </p:txBody>
      </p:sp>
      <p:sp>
        <p:nvSpPr>
          <p:cNvPr id="30" name="Text Box 58">
            <a:extLst>
              <a:ext uri="{FF2B5EF4-FFF2-40B4-BE49-F238E27FC236}">
                <a16:creationId xmlns:a16="http://schemas.microsoft.com/office/drawing/2014/main" id="{3492360B-4DC3-4067-8962-3E648AC0CEA6}"/>
              </a:ext>
            </a:extLst>
          </p:cNvPr>
          <p:cNvSpPr txBox="1">
            <a:spLocks noChangeArrowheads="1"/>
          </p:cNvSpPr>
          <p:nvPr/>
        </p:nvSpPr>
        <p:spPr bwMode="auto">
          <a:xfrm>
            <a:off x="6286568" y="3837284"/>
            <a:ext cx="806293" cy="269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機能要求の定義</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非機能要求の定義</a:t>
            </a:r>
          </a:p>
        </p:txBody>
      </p:sp>
      <p:sp>
        <p:nvSpPr>
          <p:cNvPr id="31" name="Rectangle 10">
            <a:extLst>
              <a:ext uri="{FF2B5EF4-FFF2-40B4-BE49-F238E27FC236}">
                <a16:creationId xmlns:a16="http://schemas.microsoft.com/office/drawing/2014/main" id="{951DDF40-99F8-4B85-8DCF-D5A3DFCDA2BC}"/>
              </a:ext>
            </a:extLst>
          </p:cNvPr>
          <p:cNvSpPr>
            <a:spLocks noChangeArrowheads="1"/>
          </p:cNvSpPr>
          <p:nvPr/>
        </p:nvSpPr>
        <p:spPr bwMode="auto">
          <a:xfrm>
            <a:off x="7181841" y="3211498"/>
            <a:ext cx="718682" cy="649854"/>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システム</a:t>
            </a:r>
            <a:endParaRPr kumimoji="0" lang="en-US" altLang="ja-JP" sz="1050" kern="0">
              <a:solidFill>
                <a:srgbClr val="000000"/>
              </a:solidFill>
              <a:latin typeface="メイリオ" panose="020B0604030504040204" pitchFamily="50" charset="-128"/>
              <a:ea typeface="メイリオ" panose="020B0604030504040204" pitchFamily="50" charset="-128"/>
            </a:endParaRP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仕様検討</a:t>
            </a:r>
          </a:p>
        </p:txBody>
      </p:sp>
      <p:sp>
        <p:nvSpPr>
          <p:cNvPr id="32" name="Text Box 58">
            <a:extLst>
              <a:ext uri="{FF2B5EF4-FFF2-40B4-BE49-F238E27FC236}">
                <a16:creationId xmlns:a16="http://schemas.microsoft.com/office/drawing/2014/main" id="{D250C700-CC1D-4D81-9690-ECFE74AF0182}"/>
              </a:ext>
            </a:extLst>
          </p:cNvPr>
          <p:cNvSpPr txBox="1">
            <a:spLocks noChangeArrowheads="1"/>
          </p:cNvSpPr>
          <p:nvPr/>
        </p:nvSpPr>
        <p:spPr bwMode="auto">
          <a:xfrm>
            <a:off x="7173628" y="3852183"/>
            <a:ext cx="729633" cy="485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システム仕様の定義</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システム起因の制約事項の抽出</a:t>
            </a:r>
          </a:p>
        </p:txBody>
      </p:sp>
      <p:cxnSp>
        <p:nvCxnSpPr>
          <p:cNvPr id="33" name="AutoShape 19">
            <a:extLst>
              <a:ext uri="{FF2B5EF4-FFF2-40B4-BE49-F238E27FC236}">
                <a16:creationId xmlns:a16="http://schemas.microsoft.com/office/drawing/2014/main" id="{A0DA2937-8B4B-495A-BC8C-F24F918D802E}"/>
              </a:ext>
            </a:extLst>
          </p:cNvPr>
          <p:cNvCxnSpPr>
            <a:cxnSpLocks noChangeShapeType="1"/>
            <a:endCxn id="29" idx="1"/>
          </p:cNvCxnSpPr>
          <p:nvPr/>
        </p:nvCxnSpPr>
        <p:spPr bwMode="auto">
          <a:xfrm flipV="1">
            <a:off x="6088074" y="3536425"/>
            <a:ext cx="206708" cy="57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4" name="AutoShape 19">
            <a:extLst>
              <a:ext uri="{FF2B5EF4-FFF2-40B4-BE49-F238E27FC236}">
                <a16:creationId xmlns:a16="http://schemas.microsoft.com/office/drawing/2014/main" id="{9C1F0474-1D34-47F8-AC19-DB5448ACFF34}"/>
              </a:ext>
            </a:extLst>
          </p:cNvPr>
          <p:cNvCxnSpPr>
            <a:cxnSpLocks noChangeShapeType="1"/>
            <a:stCxn id="29" idx="3"/>
            <a:endCxn id="31" idx="1"/>
          </p:cNvCxnSpPr>
          <p:nvPr/>
        </p:nvCxnSpPr>
        <p:spPr bwMode="auto">
          <a:xfrm>
            <a:off x="7020308" y="3536998"/>
            <a:ext cx="161532"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5" name="Rectangle 10">
            <a:extLst>
              <a:ext uri="{FF2B5EF4-FFF2-40B4-BE49-F238E27FC236}">
                <a16:creationId xmlns:a16="http://schemas.microsoft.com/office/drawing/2014/main" id="{B8C46E61-C399-4632-B6C9-5FE30E4C7818}"/>
              </a:ext>
            </a:extLst>
          </p:cNvPr>
          <p:cNvSpPr>
            <a:spLocks noChangeArrowheads="1"/>
          </p:cNvSpPr>
          <p:nvPr/>
        </p:nvSpPr>
        <p:spPr bwMode="auto">
          <a:xfrm>
            <a:off x="3217013" y="4990097"/>
            <a:ext cx="2916762" cy="220097"/>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lIns="54000" tIns="27000" rIns="54000" bIns="27000" anchor="ctr"/>
          <a:lstStyle/>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フィジビリティスタディ</a:t>
            </a:r>
            <a:r>
              <a:rPr kumimoji="0" lang="ja-JP" altLang="en-US" sz="825"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（優先度が高い１テーマ）</a:t>
            </a:r>
            <a:endParaRPr kumimoji="0" lang="en-US" altLang="ja-JP" sz="9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6" name="Text Box 58">
            <a:extLst>
              <a:ext uri="{FF2B5EF4-FFF2-40B4-BE49-F238E27FC236}">
                <a16:creationId xmlns:a16="http://schemas.microsoft.com/office/drawing/2014/main" id="{2FE7DDFE-85FA-4C2C-A90F-B321EEEEEBAF}"/>
              </a:ext>
            </a:extLst>
          </p:cNvPr>
          <p:cNvSpPr txBox="1">
            <a:spLocks noChangeArrowheads="1"/>
          </p:cNvSpPr>
          <p:nvPr/>
        </p:nvSpPr>
        <p:spPr bwMode="auto">
          <a:xfrm>
            <a:off x="4253723" y="5202171"/>
            <a:ext cx="3338202" cy="808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0" indent="0" eaLnBrk="1" fontAlgn="base" hangingPunct="1">
              <a:spcBef>
                <a:spcPct val="0"/>
              </a:spcBef>
              <a:spcAft>
                <a:spcPct val="0"/>
              </a:spcAft>
            </a:pPr>
            <a:r>
              <a:rPr lang="ja-JP" altLang="en-US" sz="700">
                <a:solidFill>
                  <a:srgbClr val="000000"/>
                </a:solidFill>
                <a:latin typeface="メイリオ" panose="020B0604030504040204" pitchFamily="50" charset="-128"/>
                <a:ea typeface="メイリオ" panose="020B0604030504040204" pitchFamily="50" charset="-128"/>
              </a:rPr>
              <a:t>本期間で実施できる計画を策定し、実施事項を合意させていただきご支援いたします</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検証項目、合格基準の策定</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トライアルに向けた業務、システムの概要検討</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簡易ツール整備（必要な場合）</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トライアル実施、結果検証</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業務改善施策の見直し</a:t>
            </a:r>
          </a:p>
        </p:txBody>
      </p:sp>
      <p:sp>
        <p:nvSpPr>
          <p:cNvPr id="37" name="AutoShape 44">
            <a:extLst>
              <a:ext uri="{FF2B5EF4-FFF2-40B4-BE49-F238E27FC236}">
                <a16:creationId xmlns:a16="http://schemas.microsoft.com/office/drawing/2014/main" id="{03F24CF7-31F3-4C29-9003-2914CBDD1E5E}"/>
              </a:ext>
            </a:extLst>
          </p:cNvPr>
          <p:cNvSpPr>
            <a:spLocks noChangeArrowheads="1"/>
          </p:cNvSpPr>
          <p:nvPr/>
        </p:nvSpPr>
        <p:spPr bwMode="auto">
          <a:xfrm>
            <a:off x="472768" y="2115047"/>
            <a:ext cx="3702927" cy="152917"/>
          </a:xfrm>
          <a:prstGeom prst="homePlate">
            <a:avLst>
              <a:gd name="adj" fmla="val 23952"/>
            </a:avLst>
          </a:prstGeom>
          <a:solidFill>
            <a:schemeClr val="accent1">
              <a:lumMod val="20000"/>
              <a:lumOff val="80000"/>
            </a:schemeClr>
          </a:solidFill>
          <a:ln w="12700" cap="flat" cmpd="sng" algn="ctr">
            <a:solidFill>
              <a:srgbClr val="FFFFFF"/>
            </a:solidFill>
            <a:prstDash val="soli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82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基本構想立案プロセス</a:t>
            </a:r>
          </a:p>
        </p:txBody>
      </p:sp>
      <p:sp>
        <p:nvSpPr>
          <p:cNvPr id="38" name="AutoShape 44">
            <a:extLst>
              <a:ext uri="{FF2B5EF4-FFF2-40B4-BE49-F238E27FC236}">
                <a16:creationId xmlns:a16="http://schemas.microsoft.com/office/drawing/2014/main" id="{63D5FC33-AF24-4F1D-AB81-C732BA044D77}"/>
              </a:ext>
            </a:extLst>
          </p:cNvPr>
          <p:cNvSpPr>
            <a:spLocks noChangeArrowheads="1"/>
          </p:cNvSpPr>
          <p:nvPr/>
        </p:nvSpPr>
        <p:spPr bwMode="auto">
          <a:xfrm>
            <a:off x="4208548" y="2115047"/>
            <a:ext cx="4563977" cy="152917"/>
          </a:xfrm>
          <a:prstGeom prst="homePlate">
            <a:avLst>
              <a:gd name="adj" fmla="val 26391"/>
            </a:avLst>
          </a:prstGeom>
          <a:solidFill>
            <a:schemeClr val="accent1">
              <a:lumMod val="20000"/>
              <a:lumOff val="80000"/>
            </a:schemeClr>
          </a:solidFill>
          <a:ln w="12700" cap="flat" cmpd="sng" algn="ctr">
            <a:solidFill>
              <a:srgbClr val="FFFFFF"/>
            </a:solidFill>
            <a:prstDash val="soli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82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新ビジネス検討プロセス</a:t>
            </a:r>
          </a:p>
        </p:txBody>
      </p:sp>
      <p:sp>
        <p:nvSpPr>
          <p:cNvPr id="39" name="Rectangle 11">
            <a:extLst>
              <a:ext uri="{FF2B5EF4-FFF2-40B4-BE49-F238E27FC236}">
                <a16:creationId xmlns:a16="http://schemas.microsoft.com/office/drawing/2014/main" id="{8B32419C-F1CA-4651-AF31-77EACBDB814D}"/>
              </a:ext>
            </a:extLst>
          </p:cNvPr>
          <p:cNvSpPr>
            <a:spLocks noChangeArrowheads="1"/>
          </p:cNvSpPr>
          <p:nvPr/>
        </p:nvSpPr>
        <p:spPr bwMode="auto">
          <a:xfrm>
            <a:off x="3266733" y="3211498"/>
            <a:ext cx="740585" cy="649854"/>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実行計画</a:t>
            </a: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策定</a:t>
            </a:r>
          </a:p>
        </p:txBody>
      </p:sp>
      <p:cxnSp>
        <p:nvCxnSpPr>
          <p:cNvPr id="40" name="AutoShape 19">
            <a:extLst>
              <a:ext uri="{FF2B5EF4-FFF2-40B4-BE49-F238E27FC236}">
                <a16:creationId xmlns:a16="http://schemas.microsoft.com/office/drawing/2014/main" id="{B6692285-0C86-45C3-B207-1008DB6F6710}"/>
              </a:ext>
            </a:extLst>
          </p:cNvPr>
          <p:cNvCxnSpPr>
            <a:cxnSpLocks noChangeShapeType="1"/>
            <a:stCxn id="39" idx="3"/>
            <a:endCxn id="22" idx="1"/>
          </p:cNvCxnSpPr>
          <p:nvPr/>
        </p:nvCxnSpPr>
        <p:spPr bwMode="auto">
          <a:xfrm>
            <a:off x="4007318" y="3536425"/>
            <a:ext cx="238117"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1" name="Text Box 58">
            <a:extLst>
              <a:ext uri="{FF2B5EF4-FFF2-40B4-BE49-F238E27FC236}">
                <a16:creationId xmlns:a16="http://schemas.microsoft.com/office/drawing/2014/main" id="{7A625AEB-3A9E-4020-AFCD-688C73AEEB23}"/>
              </a:ext>
            </a:extLst>
          </p:cNvPr>
          <p:cNvSpPr txBox="1">
            <a:spLocks noChangeArrowheads="1"/>
          </p:cNvSpPr>
          <p:nvPr/>
        </p:nvSpPr>
        <p:spPr bwMode="auto">
          <a:xfrm>
            <a:off x="420749" y="3897441"/>
            <a:ext cx="774809" cy="134440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lstStyle>
            <a:lvl1pPr marL="88900" indent="-88900" defTabSz="355600" eaLnBrk="0" hangingPunct="0">
              <a:tabLst>
                <a:tab pos="361950" algn="l"/>
              </a:tabLst>
              <a:defRPr kumimoji="1">
                <a:solidFill>
                  <a:schemeClr val="tx1"/>
                </a:solidFill>
                <a:latin typeface="Arial" pitchFamily="34" charset="0"/>
                <a:ea typeface="ＭＳ ゴシック" pitchFamily="49" charset="-128"/>
              </a:defRPr>
            </a:lvl1pPr>
            <a:lvl2pPr marL="742950" indent="-285750" defTabSz="355600" eaLnBrk="0" hangingPunct="0">
              <a:tabLst>
                <a:tab pos="361950" algn="l"/>
              </a:tabLst>
              <a:defRPr kumimoji="1">
                <a:solidFill>
                  <a:schemeClr val="tx1"/>
                </a:solidFill>
                <a:latin typeface="Arial" pitchFamily="34" charset="0"/>
                <a:ea typeface="ＭＳ ゴシック" pitchFamily="49" charset="-128"/>
              </a:defRPr>
            </a:lvl2pPr>
            <a:lvl3pPr marL="1143000" indent="-228600" defTabSz="355600" eaLnBrk="0" hangingPunct="0">
              <a:tabLst>
                <a:tab pos="361950" algn="l"/>
              </a:tabLst>
              <a:defRPr kumimoji="1">
                <a:solidFill>
                  <a:schemeClr val="tx1"/>
                </a:solidFill>
                <a:latin typeface="Arial" pitchFamily="34" charset="0"/>
                <a:ea typeface="ＭＳ ゴシック" pitchFamily="49" charset="-128"/>
              </a:defRPr>
            </a:lvl3pPr>
            <a:lvl4pPr marL="1600200" indent="-228600" defTabSz="355600" eaLnBrk="0" hangingPunct="0">
              <a:tabLst>
                <a:tab pos="361950" algn="l"/>
              </a:tabLst>
              <a:defRPr kumimoji="1">
                <a:solidFill>
                  <a:schemeClr val="tx1"/>
                </a:solidFill>
                <a:latin typeface="Arial" pitchFamily="34" charset="0"/>
                <a:ea typeface="ＭＳ ゴシック" pitchFamily="49" charset="-128"/>
              </a:defRPr>
            </a:lvl4pPr>
            <a:lvl5pPr marL="2057400" indent="-228600" defTabSz="355600" eaLnBrk="0" hangingPunct="0">
              <a:tabLst>
                <a:tab pos="361950" algn="l"/>
              </a:tabLst>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tabLst>
                <a:tab pos="361950" algn="l"/>
              </a:tabLs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tabLst>
                <a:tab pos="361950" algn="l"/>
              </a:tabLs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tabLst>
                <a:tab pos="361950" algn="l"/>
              </a:tabLs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tabLst>
                <a:tab pos="361950" algn="l"/>
              </a:tabLs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事業戦略の把握</a:t>
            </a: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不明箇所の確認、明確化</a:t>
            </a:r>
          </a:p>
        </p:txBody>
      </p:sp>
      <p:sp>
        <p:nvSpPr>
          <p:cNvPr id="42" name="Text Box 58">
            <a:extLst>
              <a:ext uri="{FF2B5EF4-FFF2-40B4-BE49-F238E27FC236}">
                <a16:creationId xmlns:a16="http://schemas.microsoft.com/office/drawing/2014/main" id="{680B1DF1-C013-4D8D-83F0-B1A69C7369E3}"/>
              </a:ext>
            </a:extLst>
          </p:cNvPr>
          <p:cNvSpPr txBox="1">
            <a:spLocks noChangeArrowheads="1"/>
          </p:cNvSpPr>
          <p:nvPr/>
        </p:nvSpPr>
        <p:spPr bwMode="auto">
          <a:xfrm>
            <a:off x="3206500" y="3897441"/>
            <a:ext cx="1008000" cy="781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2500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業務改善プロジェクトテーマの設定</a:t>
            </a:r>
          </a:p>
          <a:p>
            <a:pPr eaLnBrk="1" fontAlgn="base" hangingPunct="1">
              <a:spcBef>
                <a:spcPct val="2500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プロジェクトの優先</a:t>
            </a:r>
            <a:br>
              <a:rPr lang="en-US" altLang="ja-JP" sz="700">
                <a:solidFill>
                  <a:srgbClr val="000000"/>
                </a:solidFill>
                <a:latin typeface="メイリオ" panose="020B0604030504040204" pitchFamily="50" charset="-128"/>
                <a:ea typeface="メイリオ" panose="020B0604030504040204" pitchFamily="50" charset="-128"/>
              </a:rPr>
            </a:br>
            <a:r>
              <a:rPr lang="ja-JP" altLang="en-US" sz="700">
                <a:solidFill>
                  <a:srgbClr val="000000"/>
                </a:solidFill>
                <a:latin typeface="メイリオ" panose="020B0604030504040204" pitchFamily="50" charset="-128"/>
                <a:ea typeface="メイリオ" panose="020B0604030504040204" pitchFamily="50" charset="-128"/>
              </a:rPr>
              <a:t>順位付け</a:t>
            </a:r>
          </a:p>
          <a:p>
            <a:pPr eaLnBrk="1" fontAlgn="base" hangingPunct="1">
              <a:spcBef>
                <a:spcPct val="2500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全体ロードマップ作成</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2500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体制構築</a:t>
            </a:r>
          </a:p>
        </p:txBody>
      </p:sp>
      <p:sp>
        <p:nvSpPr>
          <p:cNvPr id="43" name="AutoShape 16">
            <a:extLst>
              <a:ext uri="{FF2B5EF4-FFF2-40B4-BE49-F238E27FC236}">
                <a16:creationId xmlns:a16="http://schemas.microsoft.com/office/drawing/2014/main" id="{077AB169-35E5-41B2-9FDD-462B338B7654}"/>
              </a:ext>
            </a:extLst>
          </p:cNvPr>
          <p:cNvSpPr>
            <a:spLocks noChangeArrowheads="1"/>
          </p:cNvSpPr>
          <p:nvPr/>
        </p:nvSpPr>
        <p:spPr bwMode="auto">
          <a:xfrm>
            <a:off x="8016882" y="2293479"/>
            <a:ext cx="755643" cy="227731"/>
          </a:xfrm>
          <a:prstGeom prst="homePlate">
            <a:avLst>
              <a:gd name="adj" fmla="val 18097"/>
            </a:avLst>
          </a:prstGeom>
          <a:solidFill>
            <a:schemeClr val="accent1">
              <a:lumMod val="20000"/>
              <a:lumOff val="80000"/>
            </a:schemeClr>
          </a:solidFill>
          <a:ln w="12700" algn="ctr">
            <a:solidFill>
              <a:srgbClr val="FFFFFF"/>
            </a:solidFill>
            <a:miter lim="800000"/>
            <a:headEnd/>
            <a:tailEnd/>
          </a:ln>
        </p:spPr>
        <p:txBody>
          <a:bodyPr wrap="none" anchor="ctr"/>
          <a:lstStyle/>
          <a:p>
            <a:pPr marL="0" marR="0" lvl="0" indent="0" algn="ctr" defTabSz="685800" eaLnBrk="1" fontAlgn="base" latinLnBrk="0" hangingPunct="1">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開発計画</a:t>
            </a:r>
          </a:p>
          <a:p>
            <a:pPr marL="0" marR="0" lvl="0" indent="0" algn="ctr" defTabSz="685800" eaLnBrk="1" fontAlgn="base" latinLnBrk="0" hangingPunct="1">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策定</a:t>
            </a:r>
          </a:p>
        </p:txBody>
      </p:sp>
      <p:sp>
        <p:nvSpPr>
          <p:cNvPr id="44" name="Rectangle 10">
            <a:extLst>
              <a:ext uri="{FF2B5EF4-FFF2-40B4-BE49-F238E27FC236}">
                <a16:creationId xmlns:a16="http://schemas.microsoft.com/office/drawing/2014/main" id="{4E088DAE-4D6D-4966-8EA3-054DCAB267E8}"/>
              </a:ext>
            </a:extLst>
          </p:cNvPr>
          <p:cNvSpPr>
            <a:spLocks noChangeArrowheads="1"/>
          </p:cNvSpPr>
          <p:nvPr/>
        </p:nvSpPr>
        <p:spPr bwMode="auto">
          <a:xfrm>
            <a:off x="8057949" y="3211498"/>
            <a:ext cx="652974" cy="649854"/>
          </a:xfrm>
          <a:prstGeom prst="rect">
            <a:avLst/>
          </a:prstGeom>
          <a:solidFill>
            <a:srgbClr val="FFFFFF"/>
          </a:solidFill>
          <a:ln w="12700">
            <a:solidFill>
              <a:srgbClr val="000000"/>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開発計画</a:t>
            </a:r>
          </a:p>
          <a:p>
            <a:pPr algn="ctr" defTabSz="571500" fontAlgn="base">
              <a:spcBef>
                <a:spcPct val="0"/>
              </a:spcBef>
              <a:spcAft>
                <a:spcPct val="0"/>
              </a:spcAft>
              <a:defRPr/>
            </a:pPr>
            <a:r>
              <a:rPr kumimoji="0" lang="ja-JP" altLang="en-US" sz="1050" kern="0">
                <a:solidFill>
                  <a:srgbClr val="000000"/>
                </a:solidFill>
                <a:latin typeface="メイリオ" panose="020B0604030504040204" pitchFamily="50" charset="-128"/>
                <a:ea typeface="メイリオ" panose="020B0604030504040204" pitchFamily="50" charset="-128"/>
              </a:rPr>
              <a:t>策定</a:t>
            </a:r>
          </a:p>
        </p:txBody>
      </p:sp>
      <p:sp>
        <p:nvSpPr>
          <p:cNvPr id="45" name="Text Box 58">
            <a:extLst>
              <a:ext uri="{FF2B5EF4-FFF2-40B4-BE49-F238E27FC236}">
                <a16:creationId xmlns:a16="http://schemas.microsoft.com/office/drawing/2014/main" id="{8FBCF537-E083-42A7-9D17-0BA32F01FA24}"/>
              </a:ext>
            </a:extLst>
          </p:cNvPr>
          <p:cNvSpPr txBox="1">
            <a:spLocks noChangeArrowheads="1"/>
          </p:cNvSpPr>
          <p:nvPr/>
        </p:nvSpPr>
        <p:spPr bwMode="auto">
          <a:xfrm>
            <a:off x="8049736" y="3852183"/>
            <a:ext cx="722789" cy="1024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tIns="54000" rIns="0" bIns="0">
            <a:spAutoFit/>
          </a:bodyPr>
          <a:lstStyle>
            <a:lvl1pPr marL="92075" indent="-92075" defTabSz="762000" eaLnBrk="0" hangingPunct="0">
              <a:defRPr kumimoji="1">
                <a:solidFill>
                  <a:schemeClr val="tx1"/>
                </a:solidFill>
                <a:latin typeface="Arial" pitchFamily="34" charset="0"/>
                <a:ea typeface="ＭＳ ゴシック" pitchFamily="49" charset="-128"/>
              </a:defRPr>
            </a:lvl1pPr>
            <a:lvl2pPr marL="742950" indent="-285750" defTabSz="762000" eaLnBrk="0" hangingPunct="0">
              <a:defRPr kumimoji="1">
                <a:solidFill>
                  <a:schemeClr val="tx1"/>
                </a:solidFill>
                <a:latin typeface="Arial" pitchFamily="34" charset="0"/>
                <a:ea typeface="ＭＳ ゴシック" pitchFamily="49" charset="-128"/>
              </a:defRPr>
            </a:lvl2pPr>
            <a:lvl3pPr marL="1143000" indent="-228600" defTabSz="762000" eaLnBrk="0" hangingPunct="0">
              <a:defRPr kumimoji="1">
                <a:solidFill>
                  <a:schemeClr val="tx1"/>
                </a:solidFill>
                <a:latin typeface="Arial" pitchFamily="34" charset="0"/>
                <a:ea typeface="ＭＳ ゴシック" pitchFamily="49" charset="-128"/>
              </a:defRPr>
            </a:lvl3pPr>
            <a:lvl4pPr marL="1600200" indent="-228600" defTabSz="762000" eaLnBrk="0" hangingPunct="0">
              <a:defRPr kumimoji="1">
                <a:solidFill>
                  <a:schemeClr val="tx1"/>
                </a:solidFill>
                <a:latin typeface="Arial" pitchFamily="34" charset="0"/>
                <a:ea typeface="ＭＳ ゴシック" pitchFamily="49" charset="-128"/>
              </a:defRPr>
            </a:lvl4pPr>
            <a:lvl5pPr marL="2057400" indent="-228600" defTabSz="762000" eaLnBrk="0" hangingPunct="0">
              <a:defRPr kumimoji="1">
                <a:solidFill>
                  <a:schemeClr val="tx1"/>
                </a:solidFill>
                <a:latin typeface="Arial" pitchFamily="34" charset="0"/>
                <a:ea typeface="ＭＳ ゴシック" pitchFamily="49" charset="-128"/>
              </a:defRPr>
            </a:lvl5pPr>
            <a:lvl6pPr marL="25146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7620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システム開発方針策定</a:t>
            </a:r>
            <a:endParaRPr lang="en-US" altLang="ja-JP" sz="700">
              <a:solidFill>
                <a:srgbClr val="000000"/>
              </a:solidFill>
              <a:latin typeface="メイリオ" panose="020B0604030504040204" pitchFamily="50" charset="-128"/>
              <a:ea typeface="メイリオ" panose="020B0604030504040204" pitchFamily="50" charset="-128"/>
            </a:endParaRP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プロジェクトリスク評価・対策検討</a:t>
            </a: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費用概算、効果概算</a:t>
            </a:r>
          </a:p>
          <a:p>
            <a:pPr eaLnBrk="1" fontAlgn="base" hangingPunct="1">
              <a:spcBef>
                <a:spcPct val="0"/>
              </a:spcBef>
              <a:spcAft>
                <a:spcPct val="0"/>
              </a:spcAft>
              <a:buFont typeface="Wingdings" pitchFamily="2" charset="2"/>
              <a:buChar char="Ø"/>
            </a:pPr>
            <a:r>
              <a:rPr lang="ja-JP" altLang="en-US" sz="700">
                <a:solidFill>
                  <a:srgbClr val="000000"/>
                </a:solidFill>
                <a:latin typeface="メイリオ" panose="020B0604030504040204" pitchFamily="50" charset="-128"/>
                <a:ea typeface="メイリオ" panose="020B0604030504040204" pitchFamily="50" charset="-128"/>
              </a:rPr>
              <a:t>開発スケジュール検討</a:t>
            </a:r>
          </a:p>
        </p:txBody>
      </p:sp>
      <p:cxnSp>
        <p:nvCxnSpPr>
          <p:cNvPr id="46" name="AutoShape 19">
            <a:extLst>
              <a:ext uri="{FF2B5EF4-FFF2-40B4-BE49-F238E27FC236}">
                <a16:creationId xmlns:a16="http://schemas.microsoft.com/office/drawing/2014/main" id="{65A328D8-21BE-480E-A7D7-4A67DFE5CA8A}"/>
              </a:ext>
            </a:extLst>
          </p:cNvPr>
          <p:cNvCxnSpPr>
            <a:cxnSpLocks noChangeShapeType="1"/>
            <a:endCxn id="44" idx="1"/>
          </p:cNvCxnSpPr>
          <p:nvPr/>
        </p:nvCxnSpPr>
        <p:spPr bwMode="auto">
          <a:xfrm>
            <a:off x="7885467" y="3536998"/>
            <a:ext cx="17248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7" name="ホームベース 10">
            <a:extLst>
              <a:ext uri="{FF2B5EF4-FFF2-40B4-BE49-F238E27FC236}">
                <a16:creationId xmlns:a16="http://schemas.microsoft.com/office/drawing/2014/main" id="{E1B9C8E7-13F7-4F2A-84CB-FF35F271AA11}"/>
              </a:ext>
            </a:extLst>
          </p:cNvPr>
          <p:cNvSpPr>
            <a:spLocks noChangeArrowheads="1"/>
          </p:cNvSpPr>
          <p:nvPr/>
        </p:nvSpPr>
        <p:spPr bwMode="auto">
          <a:xfrm>
            <a:off x="472768" y="1848964"/>
            <a:ext cx="3702927" cy="243000"/>
          </a:xfrm>
          <a:prstGeom prst="homePlate">
            <a:avLst>
              <a:gd name="adj" fmla="val 32979"/>
            </a:avLst>
          </a:prstGeom>
          <a:solidFill>
            <a:srgbClr val="FFFFFF">
              <a:lumMod val="50000"/>
            </a:srgbClr>
          </a:solidFill>
          <a:ln w="12700" algn="ctr">
            <a:solidFill>
              <a:srgbClr val="FFFFFF"/>
            </a:solidFill>
            <a:miter lim="800000"/>
            <a:headEnd/>
            <a:tailEnd/>
          </a:ln>
          <a:effectLst/>
        </p:spPr>
        <p:txBody>
          <a:bodyPr wrap="none" anchor="ctr"/>
          <a:lstStyle/>
          <a:p>
            <a:pPr marL="133350" marR="0" lvl="0" indent="-133350" algn="ctr" defTabSz="685800" eaLnBrk="1" fontAlgn="auto" latinLnBrk="0" hangingPunct="1">
              <a:lnSpc>
                <a:spcPts val="1500"/>
              </a:lnSpc>
              <a:spcBef>
                <a:spcPts val="0"/>
              </a:spcBef>
              <a:spcAft>
                <a:spcPts val="1200"/>
              </a:spcAft>
              <a:buClr>
                <a:srgbClr val="FF0000"/>
              </a:buClr>
              <a:buSzTx/>
              <a:buFontTx/>
              <a:buNone/>
              <a:tabLst/>
              <a:defRPr/>
            </a:pPr>
            <a:r>
              <a:rPr kumimoji="0" lang="ja-JP" altLang="en-US" sz="13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変革立上期</a:t>
            </a:r>
          </a:p>
        </p:txBody>
      </p:sp>
      <p:sp>
        <p:nvSpPr>
          <p:cNvPr id="48" name="ホームベース 11">
            <a:extLst>
              <a:ext uri="{FF2B5EF4-FFF2-40B4-BE49-F238E27FC236}">
                <a16:creationId xmlns:a16="http://schemas.microsoft.com/office/drawing/2014/main" id="{3534CC2B-866D-4066-8395-E31D2FDB7319}"/>
              </a:ext>
            </a:extLst>
          </p:cNvPr>
          <p:cNvSpPr>
            <a:spLocks noChangeArrowheads="1"/>
          </p:cNvSpPr>
          <p:nvPr/>
        </p:nvSpPr>
        <p:spPr bwMode="auto">
          <a:xfrm>
            <a:off x="4235927" y="1848964"/>
            <a:ext cx="4517433" cy="243000"/>
          </a:xfrm>
          <a:prstGeom prst="homePlate">
            <a:avLst>
              <a:gd name="adj" fmla="val 32979"/>
            </a:avLst>
          </a:prstGeom>
          <a:solidFill>
            <a:srgbClr val="FFFFFF">
              <a:lumMod val="50000"/>
            </a:srgbClr>
          </a:solidFill>
          <a:ln w="12700" algn="ctr">
            <a:solidFill>
              <a:srgbClr val="FFFFFF"/>
            </a:solidFill>
            <a:miter lim="800000"/>
            <a:headEnd/>
            <a:tailEnd/>
          </a:ln>
          <a:effectLst/>
        </p:spPr>
        <p:txBody>
          <a:bodyPr wrap="none" anchor="ctr"/>
          <a:lstStyle/>
          <a:p>
            <a:pPr marL="133350" marR="0" lvl="0" indent="-133350" algn="ctr" defTabSz="685800" eaLnBrk="1" fontAlgn="auto" latinLnBrk="0" hangingPunct="1">
              <a:lnSpc>
                <a:spcPts val="1500"/>
              </a:lnSpc>
              <a:spcBef>
                <a:spcPts val="0"/>
              </a:spcBef>
              <a:spcAft>
                <a:spcPts val="1200"/>
              </a:spcAft>
              <a:buClr>
                <a:srgbClr val="FF0000"/>
              </a:buClr>
              <a:buSzTx/>
              <a:buFontTx/>
              <a:buNone/>
              <a:tabLst/>
              <a:defRPr/>
            </a:pPr>
            <a:r>
              <a:rPr kumimoji="0" lang="ja-JP" altLang="en-US" sz="13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業務変革期</a:t>
            </a:r>
          </a:p>
        </p:txBody>
      </p:sp>
      <p:sp>
        <p:nvSpPr>
          <p:cNvPr id="49" name="角丸四角形 2">
            <a:extLst>
              <a:ext uri="{FF2B5EF4-FFF2-40B4-BE49-F238E27FC236}">
                <a16:creationId xmlns:a16="http://schemas.microsoft.com/office/drawing/2014/main" id="{A599AABF-32A8-417D-B2C8-B5723EC13A42}"/>
              </a:ext>
            </a:extLst>
          </p:cNvPr>
          <p:cNvSpPr/>
          <p:nvPr/>
        </p:nvSpPr>
        <p:spPr>
          <a:xfrm>
            <a:off x="2249906" y="2536759"/>
            <a:ext cx="1925789" cy="328650"/>
          </a:xfrm>
          <a:prstGeom prst="roundRect">
            <a:avLst>
              <a:gd name="adj" fmla="val 8520"/>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135731" marR="0" lvl="0" indent="-135731" algn="ctr" defTabSz="914400" eaLnBrk="1" fontAlgn="auto" latinLnBrk="0" hangingPunct="1">
              <a:lnSpc>
                <a:spcPct val="100000"/>
              </a:lnSpc>
              <a:spcBef>
                <a:spcPts val="0"/>
              </a:spcBef>
              <a:spcAft>
                <a:spcPts val="0"/>
              </a:spcAft>
              <a:buClrTx/>
              <a:buSzTx/>
              <a:buFontTx/>
              <a:buNone/>
              <a:tabLst/>
              <a:defRPr/>
            </a:pPr>
            <a:r>
              <a:rPr kumimoji="0" lang="ja-JP" altLang="en-US"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t>ステップ②</a:t>
            </a:r>
            <a:r>
              <a:rPr kumimoji="0" lang="ja-JP" altLang="en-US" sz="67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 </a:t>
            </a:r>
            <a:r>
              <a:rPr kumimoji="0" lang="ja-JP" altLang="en-US" sz="7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変革テーマの具体的な活動計画への落とし込み</a:t>
            </a:r>
            <a:endParaRPr kumimoji="0" lang="en-US" altLang="ja-JP"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0" name="角丸四角形 28">
            <a:extLst>
              <a:ext uri="{FF2B5EF4-FFF2-40B4-BE49-F238E27FC236}">
                <a16:creationId xmlns:a16="http://schemas.microsoft.com/office/drawing/2014/main" id="{63B550F8-34AB-4054-95D5-D77548ACD701}"/>
              </a:ext>
            </a:extLst>
          </p:cNvPr>
          <p:cNvSpPr/>
          <p:nvPr/>
        </p:nvSpPr>
        <p:spPr>
          <a:xfrm>
            <a:off x="445391" y="2546109"/>
            <a:ext cx="1716337" cy="195401"/>
          </a:xfrm>
          <a:prstGeom prst="roundRect">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135731" marR="0" lvl="0" indent="-135731" defTabSz="914400" eaLnBrk="1" fontAlgn="auto" latinLnBrk="0" hangingPunct="1">
              <a:lnSpc>
                <a:spcPct val="100000"/>
              </a:lnSpc>
              <a:spcBef>
                <a:spcPts val="0"/>
              </a:spcBef>
              <a:spcAft>
                <a:spcPts val="0"/>
              </a:spcAft>
              <a:buClrTx/>
              <a:buSzTx/>
              <a:buFontTx/>
              <a:buNone/>
              <a:tabLst/>
              <a:defRPr/>
            </a:pPr>
            <a:r>
              <a:rPr kumimoji="0" lang="ja-JP" altLang="en-US"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t>ステップ①</a:t>
            </a:r>
            <a:r>
              <a:rPr kumimoji="0" lang="ja-JP" altLang="en-US" sz="7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これまでの検討内容から</a:t>
            </a:r>
            <a:br>
              <a:rPr kumimoji="0" lang="en-US" altLang="ja-JP" sz="7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7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クイックに大方針を定義</a:t>
            </a:r>
            <a:endParaRPr kumimoji="0" lang="en-US" altLang="ja-JP"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1" name="角丸四角形 37">
            <a:extLst>
              <a:ext uri="{FF2B5EF4-FFF2-40B4-BE49-F238E27FC236}">
                <a16:creationId xmlns:a16="http://schemas.microsoft.com/office/drawing/2014/main" id="{5E1E277D-7A86-48E2-A1CB-4F93F4D02F21}"/>
              </a:ext>
            </a:extLst>
          </p:cNvPr>
          <p:cNvSpPr/>
          <p:nvPr/>
        </p:nvSpPr>
        <p:spPr>
          <a:xfrm>
            <a:off x="445391" y="2798517"/>
            <a:ext cx="1716337" cy="355498"/>
          </a:xfrm>
          <a:prstGeom prst="roundRect">
            <a:avLst>
              <a:gd name="adj" fmla="val 9034"/>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135731" marR="0" lvl="0" indent="-135731" defTabSz="914400" eaLnBrk="1" fontAlgn="auto" latinLnBrk="0" hangingPunct="1">
              <a:lnSpc>
                <a:spcPct val="100000"/>
              </a:lnSpc>
              <a:spcBef>
                <a:spcPts val="0"/>
              </a:spcBef>
              <a:spcAft>
                <a:spcPts val="0"/>
              </a:spcAft>
              <a:buClrTx/>
              <a:buSzTx/>
              <a:buFontTx/>
              <a:buNone/>
              <a:tabLst/>
              <a:defRPr/>
            </a:pPr>
            <a:r>
              <a:rPr kumimoji="0" lang="ja-JP" altLang="en-US"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t>ステップ③</a:t>
            </a:r>
            <a:r>
              <a:rPr kumimoji="0" lang="ja-JP" altLang="en-US" sz="7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変革テーマの検討結果から、大方針との整合性検証</a:t>
            </a:r>
            <a:endParaRPr kumimoji="0" lang="en-US" altLang="ja-JP" sz="67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2" name="角丸四角形 42">
            <a:extLst>
              <a:ext uri="{FF2B5EF4-FFF2-40B4-BE49-F238E27FC236}">
                <a16:creationId xmlns:a16="http://schemas.microsoft.com/office/drawing/2014/main" id="{C413CA4A-02DC-428D-8AE3-8C12D07E3554}"/>
              </a:ext>
            </a:extLst>
          </p:cNvPr>
          <p:cNvSpPr/>
          <p:nvPr/>
        </p:nvSpPr>
        <p:spPr>
          <a:xfrm>
            <a:off x="2249906" y="2892428"/>
            <a:ext cx="1925789" cy="254549"/>
          </a:xfrm>
          <a:prstGeom prst="roundRect">
            <a:avLst>
              <a:gd name="adj" fmla="val 17922"/>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135731" marR="0" lvl="0" indent="-135731" algn="r" defTabSz="914400" eaLnBrk="1" fontAlgn="auto" latinLnBrk="0" hangingPunct="1">
              <a:lnSpc>
                <a:spcPct val="100000"/>
              </a:lnSpc>
              <a:spcBef>
                <a:spcPts val="0"/>
              </a:spcBef>
              <a:spcAft>
                <a:spcPts val="0"/>
              </a:spcAft>
              <a:buClrTx/>
              <a:buSzTx/>
              <a:buFontTx/>
              <a:buNone/>
              <a:tabLst/>
              <a:defRPr/>
            </a:pPr>
            <a:r>
              <a:rPr kumimoji="0" lang="ja-JP" altLang="en-US"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t>ステップ④</a:t>
            </a:r>
            <a:r>
              <a:rPr kumimoji="0" lang="ja-JP" altLang="en-US" sz="7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変革テーマの具体的な活動計画のアップデート</a:t>
            </a:r>
            <a:endParaRPr kumimoji="0" lang="en-US" altLang="ja-JP"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3" name="右矢印 8">
            <a:extLst>
              <a:ext uri="{FF2B5EF4-FFF2-40B4-BE49-F238E27FC236}">
                <a16:creationId xmlns:a16="http://schemas.microsoft.com/office/drawing/2014/main" id="{9AE174A1-6556-49D4-9469-4647995F67BC}"/>
              </a:ext>
            </a:extLst>
          </p:cNvPr>
          <p:cNvSpPr/>
          <p:nvPr/>
        </p:nvSpPr>
        <p:spPr>
          <a:xfrm>
            <a:off x="2124637" y="2590328"/>
            <a:ext cx="143471" cy="64883"/>
          </a:xfrm>
          <a:prstGeom prst="rightArrow">
            <a:avLst>
              <a:gd name="adj1" fmla="val 23575"/>
              <a:gd name="adj2" fmla="val 41191"/>
            </a:avLst>
          </a:prstGeom>
          <a:solidFill>
            <a:srgbClr val="BC4328">
              <a:lumMod val="60000"/>
              <a:lumOff val="40000"/>
            </a:srgbClr>
          </a:solidFill>
          <a:ln w="25400" cap="flat" cmpd="sng" algn="ctr">
            <a:no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600" b="0" i="0" u="none" strike="noStrike" kern="0" cap="none" spc="0" normalizeH="0" baseline="0" noProof="0" err="1">
              <a:ln>
                <a:noFill/>
              </a:ln>
              <a:solidFill>
                <a:srgbClr val="000000"/>
              </a:solidFill>
              <a:effectLst/>
              <a:uLnTx/>
              <a:uFillTx/>
              <a:latin typeface="メイリオ" panose="020B0604030504040204" pitchFamily="50" charset="-128"/>
              <a:ea typeface="メイリオ" panose="020B0604030504040204" pitchFamily="50" charset="-128"/>
            </a:endParaRPr>
          </a:p>
        </p:txBody>
      </p:sp>
      <p:cxnSp>
        <p:nvCxnSpPr>
          <p:cNvPr id="54" name="AutoShape 16">
            <a:extLst>
              <a:ext uri="{FF2B5EF4-FFF2-40B4-BE49-F238E27FC236}">
                <a16:creationId xmlns:a16="http://schemas.microsoft.com/office/drawing/2014/main" id="{954B8773-1233-4746-A12B-B9AC62D84955}"/>
              </a:ext>
            </a:extLst>
          </p:cNvPr>
          <p:cNvCxnSpPr>
            <a:cxnSpLocks noChangeShapeType="1"/>
            <a:stCxn id="42" idx="2"/>
          </p:cNvCxnSpPr>
          <p:nvPr/>
        </p:nvCxnSpPr>
        <p:spPr bwMode="auto">
          <a:xfrm flipH="1">
            <a:off x="3660088" y="4679090"/>
            <a:ext cx="0" cy="317704"/>
          </a:xfrm>
          <a:prstGeom prst="straightConnector1">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55" name="AutoShape 19">
            <a:extLst>
              <a:ext uri="{FF2B5EF4-FFF2-40B4-BE49-F238E27FC236}">
                <a16:creationId xmlns:a16="http://schemas.microsoft.com/office/drawing/2014/main" id="{F3E317F9-D054-4E3A-AC8C-82C7BA19E71B}"/>
              </a:ext>
            </a:extLst>
          </p:cNvPr>
          <p:cNvCxnSpPr>
            <a:cxnSpLocks noChangeShapeType="1"/>
          </p:cNvCxnSpPr>
          <p:nvPr/>
        </p:nvCxnSpPr>
        <p:spPr bwMode="auto">
          <a:xfrm flipV="1">
            <a:off x="4600745" y="4551274"/>
            <a:ext cx="0" cy="4320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 name="右矢印 8">
            <a:extLst>
              <a:ext uri="{FF2B5EF4-FFF2-40B4-BE49-F238E27FC236}">
                <a16:creationId xmlns:a16="http://schemas.microsoft.com/office/drawing/2014/main" id="{D0AA400B-CD02-46B8-A956-D6468DB86DA9}"/>
              </a:ext>
            </a:extLst>
          </p:cNvPr>
          <p:cNvSpPr/>
          <p:nvPr/>
        </p:nvSpPr>
        <p:spPr>
          <a:xfrm>
            <a:off x="2124636" y="3006461"/>
            <a:ext cx="143471" cy="64883"/>
          </a:xfrm>
          <a:prstGeom prst="rightArrow">
            <a:avLst>
              <a:gd name="adj1" fmla="val 23575"/>
              <a:gd name="adj2" fmla="val 41191"/>
            </a:avLst>
          </a:prstGeom>
          <a:solidFill>
            <a:srgbClr val="BC4328">
              <a:lumMod val="60000"/>
              <a:lumOff val="40000"/>
            </a:srgbClr>
          </a:solidFill>
          <a:ln w="25400" cap="flat" cmpd="sng" algn="ctr">
            <a:no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600" b="0" i="0" u="none" strike="noStrike" kern="0" cap="none" spc="0" normalizeH="0" baseline="0" noProof="0" err="1">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7" name="右矢印 8">
            <a:extLst>
              <a:ext uri="{FF2B5EF4-FFF2-40B4-BE49-F238E27FC236}">
                <a16:creationId xmlns:a16="http://schemas.microsoft.com/office/drawing/2014/main" id="{AFF9D427-9D92-434B-8DDD-D06EF4B354AF}"/>
              </a:ext>
            </a:extLst>
          </p:cNvPr>
          <p:cNvSpPr/>
          <p:nvPr/>
        </p:nvSpPr>
        <p:spPr>
          <a:xfrm rot="10800000">
            <a:off x="2134081" y="2792164"/>
            <a:ext cx="143471" cy="64883"/>
          </a:xfrm>
          <a:prstGeom prst="rightArrow">
            <a:avLst>
              <a:gd name="adj1" fmla="val 23575"/>
              <a:gd name="adj2" fmla="val 41191"/>
            </a:avLst>
          </a:prstGeom>
          <a:solidFill>
            <a:srgbClr val="BC4328">
              <a:lumMod val="60000"/>
              <a:lumOff val="40000"/>
            </a:srgbClr>
          </a:solidFill>
          <a:ln w="25400" cap="flat" cmpd="sng" algn="ctr">
            <a:no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600" b="0" i="0" u="none" strike="noStrike" kern="0" cap="none" spc="0" normalizeH="0" baseline="0" noProof="0" err="1">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8" name="正方形/長方形 57">
            <a:extLst>
              <a:ext uri="{FF2B5EF4-FFF2-40B4-BE49-F238E27FC236}">
                <a16:creationId xmlns:a16="http://schemas.microsoft.com/office/drawing/2014/main" id="{53E8A872-B11B-4D20-827E-BEB86F5B8A3B}"/>
              </a:ext>
            </a:extLst>
          </p:cNvPr>
          <p:cNvSpPr/>
          <p:nvPr/>
        </p:nvSpPr>
        <p:spPr>
          <a:xfrm>
            <a:off x="355395" y="1800443"/>
            <a:ext cx="3843572" cy="4212000"/>
          </a:xfrm>
          <a:prstGeom prst="rect">
            <a:avLst/>
          </a:prstGeom>
          <a:noFill/>
          <a:ln w="28575" cap="flat" cmpd="sng" algn="ctr">
            <a:solidFill>
              <a:srgbClr val="BC4328"/>
            </a:solidFill>
            <a:prstDash val="sysDash"/>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50" b="0" i="0" u="none" strike="noStrike" kern="0" cap="none" spc="0" normalizeH="0" baseline="0" noProof="0" err="1">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9" name="左中かっこ 58">
            <a:extLst>
              <a:ext uri="{FF2B5EF4-FFF2-40B4-BE49-F238E27FC236}">
                <a16:creationId xmlns:a16="http://schemas.microsoft.com/office/drawing/2014/main" id="{A8A8A564-14D9-48AE-AE7A-C5FF3CE1E068}"/>
              </a:ext>
            </a:extLst>
          </p:cNvPr>
          <p:cNvSpPr/>
          <p:nvPr/>
        </p:nvSpPr>
        <p:spPr>
          <a:xfrm rot="16200000" flipV="1">
            <a:off x="1290953" y="4319672"/>
            <a:ext cx="224199" cy="1934075"/>
          </a:xfrm>
          <a:prstGeom prst="leftBrace">
            <a:avLst>
              <a:gd name="adj1" fmla="val 32629"/>
              <a:gd name="adj2" fmla="val 50000"/>
            </a:avLst>
          </a:prstGeom>
          <a:noFill/>
          <a:ln w="3175"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3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9F258578-DADA-4333-A201-29CF9911138B}"/>
              </a:ext>
            </a:extLst>
          </p:cNvPr>
          <p:cNvSpPr txBox="1"/>
          <p:nvPr/>
        </p:nvSpPr>
        <p:spPr>
          <a:xfrm>
            <a:off x="570533" y="5450086"/>
            <a:ext cx="1665038" cy="198652"/>
          </a:xfrm>
          <a:prstGeom prst="rect">
            <a:avLst/>
          </a:prstGeom>
          <a:noFill/>
        </p:spPr>
        <p:txBody>
          <a:bodyPr wrap="none" lIns="0" rIns="0" rtlCol="0" anchor="ctr">
            <a:noAutofit/>
          </a:bodyPr>
          <a:lstStyle/>
          <a:p>
            <a:pPr algn="ctr" defTabSz="216000"/>
            <a:r>
              <a:rPr lang="ja-JP" altLang="en-US" sz="825">
                <a:solidFill>
                  <a:srgbClr val="000000"/>
                </a:solidFill>
                <a:latin typeface="メイリオ" panose="020B0604030504040204" pitchFamily="50" charset="-128"/>
                <a:ea typeface="メイリオ" panose="020B0604030504040204" pitchFamily="50" charset="-128"/>
              </a:rPr>
              <a:t>これまでの検討内容を考慮し</a:t>
            </a:r>
            <a:br>
              <a:rPr lang="en-US" altLang="ja-JP" sz="825">
                <a:solidFill>
                  <a:srgbClr val="000000"/>
                </a:solidFill>
                <a:latin typeface="メイリオ" panose="020B0604030504040204" pitchFamily="50" charset="-128"/>
                <a:ea typeface="メイリオ" panose="020B0604030504040204" pitchFamily="50" charset="-128"/>
              </a:rPr>
            </a:br>
            <a:r>
              <a:rPr lang="ja-JP" altLang="en-US" sz="825">
                <a:solidFill>
                  <a:srgbClr val="000000"/>
                </a:solidFill>
                <a:latin typeface="メイリオ" panose="020B0604030504040204" pitchFamily="50" charset="-128"/>
                <a:ea typeface="メイリオ" panose="020B0604030504040204" pitchFamily="50" charset="-128"/>
              </a:rPr>
              <a:t>上記検討を推進する</a:t>
            </a:r>
          </a:p>
        </p:txBody>
      </p:sp>
      <p:sp>
        <p:nvSpPr>
          <p:cNvPr id="61" name="四角形: 角を丸くする 60">
            <a:extLst>
              <a:ext uri="{FF2B5EF4-FFF2-40B4-BE49-F238E27FC236}">
                <a16:creationId xmlns:a16="http://schemas.microsoft.com/office/drawing/2014/main" id="{5E50C73D-97C1-4C73-9FC4-E2E1AF6AD96C}"/>
              </a:ext>
            </a:extLst>
          </p:cNvPr>
          <p:cNvSpPr/>
          <p:nvPr/>
        </p:nvSpPr>
        <p:spPr>
          <a:xfrm>
            <a:off x="2455084" y="5417986"/>
            <a:ext cx="1553565" cy="241736"/>
          </a:xfrm>
          <a:prstGeom prst="roundRect">
            <a:avLst/>
          </a:prstGeom>
          <a:solidFill>
            <a:schemeClr val="accent1">
              <a:lumMod val="20000"/>
              <a:lumOff val="80000"/>
            </a:schemeClr>
          </a:solidFill>
          <a:ln w="3175" cap="flat" cmpd="sng" algn="ctr">
            <a:solidFill>
              <a:srgbClr val="FFFFFF"/>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次ページに詳細の進め方を</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記載しています</a:t>
            </a:r>
          </a:p>
        </p:txBody>
      </p:sp>
    </p:spTree>
    <p:extLst>
      <p:ext uri="{BB962C8B-B14F-4D97-AF65-F5344CB8AC3E}">
        <p14:creationId xmlns:p14="http://schemas.microsoft.com/office/powerpoint/2010/main" val="414465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F155CA0-E888-4C24-ACA3-6C4D2A9C0BFF}"/>
              </a:ext>
            </a:extLst>
          </p:cNvPr>
          <p:cNvSpPr txBox="1">
            <a:spLocks/>
          </p:cNvSpPr>
          <p:nvPr/>
        </p:nvSpPr>
        <p:spPr>
          <a:xfrm>
            <a:off x="248235" y="135110"/>
            <a:ext cx="6390090"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t>５</a:t>
            </a:r>
            <a:r>
              <a:rPr lang="en-US" altLang="ja-JP" sz="2000"/>
              <a:t>. </a:t>
            </a:r>
            <a:r>
              <a:rPr lang="ja-JP" altLang="en-US" sz="2000"/>
              <a:t>推進アプローチについて</a:t>
            </a:r>
          </a:p>
        </p:txBody>
      </p:sp>
      <p:sp>
        <p:nvSpPr>
          <p:cNvPr id="7" name="テキスト プレースホルダー 5">
            <a:extLst>
              <a:ext uri="{FF2B5EF4-FFF2-40B4-BE49-F238E27FC236}">
                <a16:creationId xmlns:a16="http://schemas.microsoft.com/office/drawing/2014/main" id="{6A67FDC9-801E-46F8-B836-A6D70F655E52}"/>
              </a:ext>
            </a:extLst>
          </p:cNvPr>
          <p:cNvSpPr>
            <a:spLocks noGrp="1"/>
          </p:cNvSpPr>
          <p:nvPr>
            <p:ph type="body" sz="quarter" idx="10"/>
          </p:nvPr>
        </p:nvSpPr>
        <p:spPr>
          <a:xfrm>
            <a:off x="204452" y="640409"/>
            <a:ext cx="8746594" cy="971323"/>
          </a:xfrm>
          <a:solidFill>
            <a:schemeClr val="bg2">
              <a:lumMod val="40000"/>
              <a:lumOff val="60000"/>
            </a:schemeClr>
          </a:solidFill>
        </p:spPr>
        <p:txBody>
          <a:bodyPr/>
          <a:lstStyle/>
          <a:p>
            <a:pPr>
              <a:lnSpc>
                <a:spcPct val="100000"/>
              </a:lnSpc>
              <a:spcBef>
                <a:spcPts val="0"/>
              </a:spcBef>
            </a:pPr>
            <a:r>
              <a:rPr lang="ja-JP" altLang="en-US" sz="1650" b="1">
                <a:solidFill>
                  <a:srgbClr val="000000"/>
                </a:solidFill>
                <a:latin typeface="Meiryo UI"/>
                <a:ea typeface="Meiryo UI"/>
              </a:rPr>
              <a:t>プロジェクト全体の流れ</a:t>
            </a:r>
            <a:endParaRPr lang="en-US" altLang="ja-JP" sz="1650" b="1">
              <a:solidFill>
                <a:srgbClr val="000000"/>
              </a:solidFill>
              <a:latin typeface="Meiryo UI"/>
              <a:ea typeface="Meiryo UI"/>
            </a:endParaRPr>
          </a:p>
          <a:p>
            <a:pPr marL="285750" indent="-285750">
              <a:lnSpc>
                <a:spcPct val="100000"/>
              </a:lnSpc>
              <a:spcBef>
                <a:spcPts val="0"/>
              </a:spcBef>
              <a:buFont typeface="Wingdings" panose="05000000000000000000" pitchFamily="2" charset="2"/>
              <a:buChar char="n"/>
            </a:pPr>
            <a:r>
              <a:rPr lang="ja-JP" altLang="en-US" sz="1400"/>
              <a:t>以下７つのステップを通して、サービス事業への変革に向けたロードマップを策定する。</a:t>
            </a:r>
            <a:endParaRPr lang="en-US" altLang="ja-JP" sz="1400"/>
          </a:p>
          <a:p>
            <a:pPr marL="285750" indent="-285750">
              <a:lnSpc>
                <a:spcPct val="100000"/>
              </a:lnSpc>
              <a:spcBef>
                <a:spcPts val="0"/>
              </a:spcBef>
              <a:buFont typeface="Wingdings" panose="05000000000000000000" pitchFamily="2" charset="2"/>
              <a:buChar char="n"/>
            </a:pPr>
            <a:r>
              <a:rPr lang="ja-JP" altLang="en-US" sz="1400"/>
              <a:t>アジャイル的に</a:t>
            </a:r>
            <a:r>
              <a:rPr lang="en-US" altLang="ja-JP" sz="1400" err="1"/>
              <a:t>Why→What</a:t>
            </a:r>
            <a:r>
              <a:rPr lang="ja-JP" altLang="en-US" sz="1400"/>
              <a:t>を繰り返してブラッシュアップしていく推進アプローチとする。</a:t>
            </a:r>
          </a:p>
        </p:txBody>
      </p:sp>
      <p:sp>
        <p:nvSpPr>
          <p:cNvPr id="14" name="フローチャート: 処理 13">
            <a:extLst>
              <a:ext uri="{FF2B5EF4-FFF2-40B4-BE49-F238E27FC236}">
                <a16:creationId xmlns:a16="http://schemas.microsoft.com/office/drawing/2014/main" id="{10348211-AD56-4EDC-B17D-36C288EB1390}"/>
              </a:ext>
            </a:extLst>
          </p:cNvPr>
          <p:cNvSpPr/>
          <p:nvPr/>
        </p:nvSpPr>
        <p:spPr>
          <a:xfrm>
            <a:off x="322216" y="1767070"/>
            <a:ext cx="2700000" cy="253709"/>
          </a:xfrm>
          <a:prstGeom prst="flowChartProcess">
            <a:avLst/>
          </a:prstGeom>
          <a:solidFill>
            <a:schemeClr val="accent1">
              <a:lumMod val="20000"/>
              <a:lumOff val="80000"/>
            </a:schemeClr>
          </a:solidFill>
          <a:ln w="25400" cap="flat" cmpd="sng" algn="ctr">
            <a:noFill/>
            <a:prstDash val="solid"/>
          </a:ln>
          <a:effectLst>
            <a:outerShdw blurRad="50800" dist="38100" dir="2700000" algn="tl" rotWithShape="0">
              <a:prstClr val="black">
                <a:alpha val="40000"/>
              </a:prstClr>
            </a:outerShdw>
          </a:effectLst>
        </p:spPr>
        <p:txBody>
          <a:bodyPr wrap="none" rtlCol="0" anchor="ctr"/>
          <a:lstStyle/>
          <a:p>
            <a:pPr marL="0" marR="0" lvl="0" indent="0" algn="ctr" defTabSz="914400" eaLnBrk="1" fontAlgn="auto" latinLnBrk="0" hangingPunct="1">
              <a:lnSpc>
                <a:spcPct val="100000"/>
              </a:lnSpc>
              <a:spcBef>
                <a:spcPts val="0"/>
              </a:spcBef>
              <a:spcAft>
                <a:spcPts val="45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Why</a:t>
            </a:r>
            <a:r>
              <a:rPr kumimoji="0" lang="ja-JP" altLang="en-US" sz="12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（なぜやるか）</a:t>
            </a:r>
          </a:p>
        </p:txBody>
      </p:sp>
      <p:sp>
        <p:nvSpPr>
          <p:cNvPr id="15" name="フローチャート: 処理 14">
            <a:extLst>
              <a:ext uri="{FF2B5EF4-FFF2-40B4-BE49-F238E27FC236}">
                <a16:creationId xmlns:a16="http://schemas.microsoft.com/office/drawing/2014/main" id="{1E0E6FCA-CE6B-49D4-8E2A-9D5F508B2D80}"/>
              </a:ext>
            </a:extLst>
          </p:cNvPr>
          <p:cNvSpPr/>
          <p:nvPr/>
        </p:nvSpPr>
        <p:spPr>
          <a:xfrm>
            <a:off x="3218110" y="1767070"/>
            <a:ext cx="2700000" cy="253709"/>
          </a:xfrm>
          <a:prstGeom prst="flowChartProcess">
            <a:avLst/>
          </a:prstGeom>
          <a:solidFill>
            <a:schemeClr val="accent1">
              <a:lumMod val="20000"/>
              <a:lumOff val="80000"/>
            </a:schemeClr>
          </a:solidFill>
          <a:ln w="25400" cap="flat" cmpd="sng" algn="ctr">
            <a:noFill/>
            <a:prstDash val="solid"/>
          </a:ln>
          <a:effectLst>
            <a:outerShdw blurRad="50800" dist="38100" dir="2700000" algn="tl" rotWithShape="0">
              <a:prstClr val="black">
                <a:alpha val="40000"/>
              </a:prstClr>
            </a:outerShdw>
          </a:effectLst>
        </p:spPr>
        <p:txBody>
          <a:bodyPr wrap="none" rtlCol="0" anchor="ctr"/>
          <a:lstStyle/>
          <a:p>
            <a:pPr marL="0" marR="0" lvl="0" indent="0" algn="ctr" defTabSz="914400" eaLnBrk="1" fontAlgn="auto" latinLnBrk="0" hangingPunct="1">
              <a:lnSpc>
                <a:spcPct val="100000"/>
              </a:lnSpc>
              <a:spcBef>
                <a:spcPts val="0"/>
              </a:spcBef>
              <a:spcAft>
                <a:spcPts val="45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What</a:t>
            </a:r>
            <a:r>
              <a:rPr kumimoji="0" lang="ja-JP" altLang="en-US" sz="12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（何をやるか）</a:t>
            </a:r>
          </a:p>
        </p:txBody>
      </p:sp>
      <p:sp>
        <p:nvSpPr>
          <p:cNvPr id="16" name="フローチャート: 処理 15">
            <a:extLst>
              <a:ext uri="{FF2B5EF4-FFF2-40B4-BE49-F238E27FC236}">
                <a16:creationId xmlns:a16="http://schemas.microsoft.com/office/drawing/2014/main" id="{5F964AEB-DB34-4C38-8C0E-1EA09A9A01C5}"/>
              </a:ext>
            </a:extLst>
          </p:cNvPr>
          <p:cNvSpPr/>
          <p:nvPr/>
        </p:nvSpPr>
        <p:spPr>
          <a:xfrm>
            <a:off x="6112514" y="1767070"/>
            <a:ext cx="2700000" cy="253709"/>
          </a:xfrm>
          <a:prstGeom prst="flowChartProcess">
            <a:avLst/>
          </a:prstGeom>
          <a:solidFill>
            <a:schemeClr val="accent1">
              <a:lumMod val="20000"/>
              <a:lumOff val="80000"/>
            </a:schemeClr>
          </a:solidFill>
          <a:ln w="25400" cap="flat" cmpd="sng" algn="ctr">
            <a:noFill/>
            <a:prstDash val="solid"/>
          </a:ln>
          <a:effectLst>
            <a:outerShdw blurRad="50800" dist="38100" dir="2700000" algn="tl" rotWithShape="0">
              <a:prstClr val="black">
                <a:alpha val="40000"/>
              </a:prstClr>
            </a:outerShdw>
          </a:effectLst>
        </p:spPr>
        <p:txBody>
          <a:bodyPr wrap="none" rtlCol="0" anchor="ctr"/>
          <a:lstStyle/>
          <a:p>
            <a:pPr marL="0" marR="0" lvl="0" indent="0" algn="ctr" defTabSz="914400" eaLnBrk="1" fontAlgn="auto" latinLnBrk="0" hangingPunct="1">
              <a:lnSpc>
                <a:spcPct val="100000"/>
              </a:lnSpc>
              <a:spcBef>
                <a:spcPts val="0"/>
              </a:spcBef>
              <a:spcAft>
                <a:spcPts val="450"/>
              </a:spcAft>
              <a:buClrTx/>
              <a:buSzTx/>
              <a:buFontTx/>
              <a:buNone/>
              <a:tabLst/>
              <a:defRPr/>
            </a:pPr>
            <a:r>
              <a:rPr kumimoji="0" lang="en-US" altLang="ja-JP" sz="12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How</a:t>
            </a:r>
            <a:r>
              <a:rPr kumimoji="0" lang="ja-JP" altLang="en-US" sz="12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（どのようにやるか）</a:t>
            </a:r>
          </a:p>
        </p:txBody>
      </p:sp>
      <p:sp>
        <p:nvSpPr>
          <p:cNvPr id="17" name="フローチャート: 処理 16">
            <a:extLst>
              <a:ext uri="{FF2B5EF4-FFF2-40B4-BE49-F238E27FC236}">
                <a16:creationId xmlns:a16="http://schemas.microsoft.com/office/drawing/2014/main" id="{73732C30-3498-420F-98C4-6870B598100E}"/>
              </a:ext>
            </a:extLst>
          </p:cNvPr>
          <p:cNvSpPr/>
          <p:nvPr/>
        </p:nvSpPr>
        <p:spPr>
          <a:xfrm>
            <a:off x="322216" y="2069359"/>
            <a:ext cx="2700000" cy="3891494"/>
          </a:xfrm>
          <a:prstGeom prst="flowChartProcess">
            <a:avLst/>
          </a:prstGeom>
          <a:solidFill>
            <a:srgbClr val="FFFFFF"/>
          </a:solidFill>
          <a:ln w="25400" cap="flat" cmpd="sng" algn="ctr">
            <a:solidFill>
              <a:srgbClr val="FFFFFF">
                <a:lumMod val="95000"/>
              </a:srgbClr>
            </a:solidFill>
            <a:prstDash val="solid"/>
          </a:ln>
          <a:effectLst/>
        </p:spPr>
        <p:txBody>
          <a:bodyPr wrap="square" rtlCol="0" anchor="t"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UI" panose="020B0604030504040204" pitchFamily="50" charset="-128"/>
              </a:rPr>
              <a:t>将来像策定への目的・狙い・ありたい姿</a:t>
            </a:r>
            <a:br>
              <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UI" panose="020B0604030504040204" pitchFamily="50" charset="-128"/>
              </a:rPr>
            </a:b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UI" panose="020B0604030504040204" pitchFamily="50" charset="-128"/>
              </a:rPr>
              <a:t>などの大方針、</a:t>
            </a: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ビジネスモデルの再定義</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8" name="フローチャート: 処理 17">
            <a:extLst>
              <a:ext uri="{FF2B5EF4-FFF2-40B4-BE49-F238E27FC236}">
                <a16:creationId xmlns:a16="http://schemas.microsoft.com/office/drawing/2014/main" id="{F1C51775-B934-423E-9AE4-10390EA62EB0}"/>
              </a:ext>
            </a:extLst>
          </p:cNvPr>
          <p:cNvSpPr/>
          <p:nvPr/>
        </p:nvSpPr>
        <p:spPr>
          <a:xfrm>
            <a:off x="3218110" y="2069359"/>
            <a:ext cx="2700000" cy="3900576"/>
          </a:xfrm>
          <a:prstGeom prst="flowChartProcess">
            <a:avLst/>
          </a:prstGeom>
          <a:solidFill>
            <a:srgbClr val="FFFFFF"/>
          </a:solidFill>
          <a:ln w="25400" cap="flat" cmpd="sng" algn="ctr">
            <a:solidFill>
              <a:srgbClr val="FFFFFF">
                <a:lumMod val="95000"/>
              </a:srgbClr>
            </a:solidFill>
            <a:prstDash val="solid"/>
          </a:ln>
          <a:effectLst/>
        </p:spPr>
        <p:txBody>
          <a:bodyPr wrap="square" rtlCol="0" anchor="t"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cs typeface="Meiryo UI" panose="020B0604030504040204" pitchFamily="50" charset="-128"/>
              </a:rPr>
              <a:t>目的及び狙いからの想定効果、変革テーマの導出</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a:t>
            </a:r>
            <a:r>
              <a:rPr kumimoji="0" lang="ja-JP" altLang="en-US" sz="9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業務プロセス、システム、文化、スキル、組織</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など変革項目を明確化、変革への意識づけ）</a:t>
            </a:r>
          </a:p>
        </p:txBody>
      </p:sp>
      <p:sp>
        <p:nvSpPr>
          <p:cNvPr id="19" name="フローチャート: 処理 18">
            <a:extLst>
              <a:ext uri="{FF2B5EF4-FFF2-40B4-BE49-F238E27FC236}">
                <a16:creationId xmlns:a16="http://schemas.microsoft.com/office/drawing/2014/main" id="{27A89709-AF8E-4159-A833-66E54FDAE16B}"/>
              </a:ext>
            </a:extLst>
          </p:cNvPr>
          <p:cNvSpPr/>
          <p:nvPr/>
        </p:nvSpPr>
        <p:spPr>
          <a:xfrm>
            <a:off x="6112514" y="2069359"/>
            <a:ext cx="2700000" cy="3879716"/>
          </a:xfrm>
          <a:prstGeom prst="flowChartProcess">
            <a:avLst/>
          </a:prstGeom>
          <a:solidFill>
            <a:srgbClr val="FFFFFF"/>
          </a:solidFill>
          <a:ln w="25400" cap="flat" cmpd="sng" algn="ctr">
            <a:solidFill>
              <a:srgbClr val="FFFFFF">
                <a:lumMod val="95000"/>
              </a:srgbClr>
            </a:solidFill>
            <a:prstDash val="solid"/>
          </a:ln>
          <a:effectLst/>
        </p:spPr>
        <p:txBody>
          <a:bodyPr wrap="square" rtlCol="0" anchor="t"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ロードマップ策定／マイルストン定義</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推進体制</a:t>
            </a:r>
            <a:endParaRPr kumimoji="0" lang="en-US" altLang="ja-JP" sz="10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cxnSp>
        <p:nvCxnSpPr>
          <p:cNvPr id="20" name="AutoShape 19">
            <a:extLst>
              <a:ext uri="{FF2B5EF4-FFF2-40B4-BE49-F238E27FC236}">
                <a16:creationId xmlns:a16="http://schemas.microsoft.com/office/drawing/2014/main" id="{C3087028-DB6A-4383-8451-5F6483EB73F6}"/>
              </a:ext>
            </a:extLst>
          </p:cNvPr>
          <p:cNvCxnSpPr>
            <a:cxnSpLocks noChangeShapeType="1"/>
            <a:stCxn id="23" idx="3"/>
            <a:endCxn id="21" idx="1"/>
          </p:cNvCxnSpPr>
          <p:nvPr/>
        </p:nvCxnSpPr>
        <p:spPr bwMode="auto">
          <a:xfrm>
            <a:off x="1575658" y="3346485"/>
            <a:ext cx="19102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1" name="正方形/長方形 20">
            <a:extLst>
              <a:ext uri="{FF2B5EF4-FFF2-40B4-BE49-F238E27FC236}">
                <a16:creationId xmlns:a16="http://schemas.microsoft.com/office/drawing/2014/main" id="{C4D8DBD5-C134-4792-98D8-768F03DFAB23}"/>
              </a:ext>
            </a:extLst>
          </p:cNvPr>
          <p:cNvSpPr/>
          <p:nvPr/>
        </p:nvSpPr>
        <p:spPr>
          <a:xfrm>
            <a:off x="1766682" y="3162885"/>
            <a:ext cx="1118649" cy="367200"/>
          </a:xfrm>
          <a:prstGeom prst="rect">
            <a:avLst/>
          </a:prstGeom>
          <a:solidFill>
            <a:srgbClr val="BC4328">
              <a:lumMod val="20000"/>
              <a:lumOff val="80000"/>
            </a:srgbClr>
          </a:solidFill>
          <a:ln w="9525" cap="flat" cmpd="sng" algn="ctr">
            <a:noFill/>
            <a:prstDash val="solid"/>
          </a:ln>
          <a:effectLst/>
        </p:spPr>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2.</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ターゲット顧客</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特定</a:t>
            </a:r>
          </a:p>
        </p:txBody>
      </p:sp>
      <p:sp>
        <p:nvSpPr>
          <p:cNvPr id="22" name="Text Box 58">
            <a:extLst>
              <a:ext uri="{FF2B5EF4-FFF2-40B4-BE49-F238E27FC236}">
                <a16:creationId xmlns:a16="http://schemas.microsoft.com/office/drawing/2014/main" id="{AD23C011-AA7B-4B0F-9F6E-427D8BB83F99}"/>
              </a:ext>
            </a:extLst>
          </p:cNvPr>
          <p:cNvSpPr txBox="1">
            <a:spLocks noChangeArrowheads="1"/>
          </p:cNvSpPr>
          <p:nvPr/>
        </p:nvSpPr>
        <p:spPr bwMode="auto">
          <a:xfrm>
            <a:off x="1723429" y="3540850"/>
            <a:ext cx="1161902" cy="1010788"/>
          </a:xfrm>
          <a:prstGeom prst="rect">
            <a:avLst/>
          </a:prstGeom>
          <a:noFill/>
          <a:ln>
            <a:noFill/>
          </a:ln>
        </p:spPr>
        <p:txBody>
          <a:bodyPr lIns="0" tIns="54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rPr>
              <a:t>サービス事業を推進する上での、ターゲット顧客を特定（設備規模、売上規模、導入年数、エリア、用途、人員・スキル、自前・委託等）</a:t>
            </a:r>
            <a:endParaRPr lang="en-US" altLang="ja-JP" sz="700">
              <a:solidFill>
                <a:srgbClr val="000000"/>
              </a:solidFill>
              <a:latin typeface="メイリオ" panose="020B0604030504040204" pitchFamily="50" charset="-128"/>
              <a:ea typeface="メイリオ" panose="020B0604030504040204" pitchFamily="50" charset="-128"/>
            </a:endParaRPr>
          </a:p>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rPr>
              <a:t>市場の声（健在・潜在ニーズ・要望）の確認</a:t>
            </a:r>
          </a:p>
        </p:txBody>
      </p:sp>
      <p:sp>
        <p:nvSpPr>
          <p:cNvPr id="23" name="正方形/長方形 22">
            <a:extLst>
              <a:ext uri="{FF2B5EF4-FFF2-40B4-BE49-F238E27FC236}">
                <a16:creationId xmlns:a16="http://schemas.microsoft.com/office/drawing/2014/main" id="{B01E5C7D-EF2E-4023-833F-9CC7B4126BC6}"/>
              </a:ext>
            </a:extLst>
          </p:cNvPr>
          <p:cNvSpPr/>
          <p:nvPr/>
        </p:nvSpPr>
        <p:spPr>
          <a:xfrm>
            <a:off x="457010" y="3162885"/>
            <a:ext cx="1118649" cy="367200"/>
          </a:xfrm>
          <a:prstGeom prst="rect">
            <a:avLst/>
          </a:prstGeom>
          <a:solidFill>
            <a:srgbClr val="BC4328">
              <a:lumMod val="20000"/>
              <a:lumOff val="80000"/>
            </a:srgbClr>
          </a:solidFill>
          <a:ln w="9525" cap="flat" cmpd="sng" algn="ctr">
            <a:noFill/>
            <a:prstDash val="solid"/>
          </a:ln>
          <a:effectLst/>
        </p:spPr>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571500" eaLnBrk="1" fontAlgn="base" latinLnBrk="0" hangingPunct="1">
              <a:lnSpc>
                <a:spcPct val="100000"/>
              </a:lnSpc>
              <a:spcBef>
                <a:spcPct val="0"/>
              </a:spcBef>
              <a:spcAft>
                <a:spcPct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1.</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事業計画・事業</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課題の確認</a:t>
            </a:r>
          </a:p>
        </p:txBody>
      </p:sp>
      <p:sp>
        <p:nvSpPr>
          <p:cNvPr id="24" name="Text Box 58">
            <a:extLst>
              <a:ext uri="{FF2B5EF4-FFF2-40B4-BE49-F238E27FC236}">
                <a16:creationId xmlns:a16="http://schemas.microsoft.com/office/drawing/2014/main" id="{E2781769-DCCD-4A7F-AC88-88CC19A45C86}"/>
              </a:ext>
            </a:extLst>
          </p:cNvPr>
          <p:cNvSpPr txBox="1">
            <a:spLocks noChangeArrowheads="1"/>
          </p:cNvSpPr>
          <p:nvPr/>
        </p:nvSpPr>
        <p:spPr bwMode="auto">
          <a:xfrm>
            <a:off x="457010" y="3540850"/>
            <a:ext cx="1118649" cy="571646"/>
          </a:xfrm>
          <a:prstGeom prst="roundRect">
            <a:avLst>
              <a:gd name="adj" fmla="val 6178"/>
            </a:avLst>
          </a:prstGeom>
          <a:ln w="3175"/>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defPPr>
              <a:defRPr lang="ja-JP"/>
            </a:defPPr>
            <a:lvl1pPr marL="135731" marR="0" lvl="0" indent="-135731" fontAlgn="auto">
              <a:lnSpc>
                <a:spcPct val="100000"/>
              </a:lnSpc>
              <a:spcBef>
                <a:spcPts val="0"/>
              </a:spcBef>
              <a:spcAft>
                <a:spcPts val="0"/>
              </a:spcAft>
              <a:buClrTx/>
              <a:buSzTx/>
              <a:buFontTx/>
              <a:buNone/>
              <a:tabLst/>
              <a:defRPr kumimoji="0" sz="825" b="0" i="0" u="none" strike="noStrike" kern="0" cap="none" spc="0" normalizeH="0" baseline="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r>
              <a:rPr lang="ja-JP" altLang="en-US"/>
              <a:t>ステップ①</a:t>
            </a:r>
            <a:endParaRPr lang="en-US" altLang="ja-JP"/>
          </a:p>
          <a:p>
            <a:pPr marL="0" indent="0"/>
            <a:r>
              <a:rPr lang="ja-JP" altLang="en-US">
                <a:solidFill>
                  <a:schemeClr val="tx1"/>
                </a:solidFill>
                <a:effectLst/>
              </a:rPr>
              <a:t>これまでの検討内容</a:t>
            </a:r>
            <a:br>
              <a:rPr lang="en-US" altLang="ja-JP">
                <a:solidFill>
                  <a:schemeClr val="tx1"/>
                </a:solidFill>
                <a:effectLst/>
              </a:rPr>
            </a:br>
            <a:r>
              <a:rPr lang="ja-JP" altLang="en-US">
                <a:solidFill>
                  <a:schemeClr val="tx1"/>
                </a:solidFill>
                <a:effectLst/>
              </a:rPr>
              <a:t>からクイックに</a:t>
            </a:r>
            <a:br>
              <a:rPr lang="en-US" altLang="ja-JP">
                <a:solidFill>
                  <a:schemeClr val="tx1"/>
                </a:solidFill>
                <a:effectLst/>
              </a:rPr>
            </a:br>
            <a:r>
              <a:rPr lang="ja-JP" altLang="en-US">
                <a:solidFill>
                  <a:schemeClr val="tx1"/>
                </a:solidFill>
                <a:effectLst/>
              </a:rPr>
              <a:t>大方針を定義</a:t>
            </a:r>
            <a:endParaRPr lang="en-US" altLang="ja-JP">
              <a:solidFill>
                <a:schemeClr val="tx1"/>
              </a:solidFill>
              <a:effectLst/>
            </a:endParaRPr>
          </a:p>
        </p:txBody>
      </p:sp>
      <p:sp>
        <p:nvSpPr>
          <p:cNvPr id="25" name="正方形/長方形 24">
            <a:extLst>
              <a:ext uri="{FF2B5EF4-FFF2-40B4-BE49-F238E27FC236}">
                <a16:creationId xmlns:a16="http://schemas.microsoft.com/office/drawing/2014/main" id="{D464B2FC-BE94-4CD2-8746-7C1D1EAE29C5}"/>
              </a:ext>
            </a:extLst>
          </p:cNvPr>
          <p:cNvSpPr/>
          <p:nvPr/>
        </p:nvSpPr>
        <p:spPr>
          <a:xfrm>
            <a:off x="3278267" y="3162885"/>
            <a:ext cx="1118649" cy="367200"/>
          </a:xfrm>
          <a:prstGeom prst="rect">
            <a:avLst/>
          </a:prstGeom>
          <a:solidFill>
            <a:srgbClr val="BC4328">
              <a:lumMod val="20000"/>
              <a:lumOff val="80000"/>
            </a:srgbClr>
          </a:solidFill>
          <a:ln w="9525" cap="flat" cmpd="sng" algn="ctr">
            <a:noFill/>
            <a:prstDash val="solid"/>
          </a:ln>
          <a:effectLst/>
        </p:spPr>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3.</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ターゲット顧客</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行動分析</a:t>
            </a:r>
          </a:p>
        </p:txBody>
      </p:sp>
      <p:cxnSp>
        <p:nvCxnSpPr>
          <p:cNvPr id="26" name="AutoShape 19">
            <a:extLst>
              <a:ext uri="{FF2B5EF4-FFF2-40B4-BE49-F238E27FC236}">
                <a16:creationId xmlns:a16="http://schemas.microsoft.com/office/drawing/2014/main" id="{4A8B31EA-083B-4AF4-ACFC-8FB4D763BBDE}"/>
              </a:ext>
            </a:extLst>
          </p:cNvPr>
          <p:cNvCxnSpPr>
            <a:cxnSpLocks noChangeShapeType="1"/>
            <a:stCxn id="21" idx="3"/>
            <a:endCxn id="25" idx="1"/>
          </p:cNvCxnSpPr>
          <p:nvPr/>
        </p:nvCxnSpPr>
        <p:spPr bwMode="auto">
          <a:xfrm>
            <a:off x="2885332" y="3346485"/>
            <a:ext cx="392936"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7" name="Text Box 58">
            <a:extLst>
              <a:ext uri="{FF2B5EF4-FFF2-40B4-BE49-F238E27FC236}">
                <a16:creationId xmlns:a16="http://schemas.microsoft.com/office/drawing/2014/main" id="{38EB1B72-C248-4F94-8085-98178A2DAE5F}"/>
              </a:ext>
            </a:extLst>
          </p:cNvPr>
          <p:cNvSpPr txBox="1">
            <a:spLocks noChangeArrowheads="1"/>
          </p:cNvSpPr>
          <p:nvPr/>
        </p:nvSpPr>
        <p:spPr bwMode="auto">
          <a:xfrm>
            <a:off x="3280030" y="3540850"/>
            <a:ext cx="1118649" cy="825919"/>
          </a:xfrm>
          <a:prstGeom prst="rect">
            <a:avLst/>
          </a:prstGeom>
          <a:noFill/>
          <a:ln>
            <a:noFill/>
          </a:ln>
        </p:spPr>
        <p:txBody>
          <a:bodyPr lIns="0" tIns="54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rPr>
              <a:t>ターゲット顧客の設備計画・運用、定期点検、故障対応時の活動を時系列に整理</a:t>
            </a:r>
            <a:endParaRPr lang="en-US" altLang="ja-JP" sz="700">
              <a:solidFill>
                <a:srgbClr val="000000"/>
              </a:solidFill>
              <a:latin typeface="メイリオ" panose="020B0604030504040204" pitchFamily="50" charset="-128"/>
              <a:ea typeface="メイリオ" panose="020B0604030504040204" pitchFamily="50" charset="-128"/>
            </a:endParaRPr>
          </a:p>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cs typeface="Arial" panose="020B0604020202020204" pitchFamily="34" charset="0"/>
              </a:rPr>
              <a:t>求められる市場の声（健在・潜在ニーズ・要望）を整理</a:t>
            </a:r>
          </a:p>
        </p:txBody>
      </p:sp>
      <p:sp>
        <p:nvSpPr>
          <p:cNvPr id="28" name="Text Box 58">
            <a:extLst>
              <a:ext uri="{FF2B5EF4-FFF2-40B4-BE49-F238E27FC236}">
                <a16:creationId xmlns:a16="http://schemas.microsoft.com/office/drawing/2014/main" id="{824C1834-33E9-4592-8F7F-4638197AD5DD}"/>
              </a:ext>
            </a:extLst>
          </p:cNvPr>
          <p:cNvSpPr txBox="1">
            <a:spLocks noChangeArrowheads="1"/>
          </p:cNvSpPr>
          <p:nvPr/>
        </p:nvSpPr>
        <p:spPr bwMode="auto">
          <a:xfrm>
            <a:off x="3197168" y="5502762"/>
            <a:ext cx="1264118" cy="662608"/>
          </a:xfrm>
          <a:prstGeom prst="rect">
            <a:avLst/>
          </a:prstGeom>
          <a:noFill/>
          <a:ln>
            <a:noFill/>
          </a:ln>
        </p:spPr>
        <p:txBody>
          <a:bodyPr lIns="0" tIns="54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rPr>
              <a:t>サービス事業を運営する際に備えておくべき機能（行動）を描き、業務の流れを再構築する</a:t>
            </a:r>
          </a:p>
        </p:txBody>
      </p:sp>
      <p:cxnSp>
        <p:nvCxnSpPr>
          <p:cNvPr id="29" name="AutoShape 19">
            <a:extLst>
              <a:ext uri="{FF2B5EF4-FFF2-40B4-BE49-F238E27FC236}">
                <a16:creationId xmlns:a16="http://schemas.microsoft.com/office/drawing/2014/main" id="{07363F0B-B350-4267-BA0E-CFA7ECAAB7B4}"/>
              </a:ext>
            </a:extLst>
          </p:cNvPr>
          <p:cNvCxnSpPr>
            <a:cxnSpLocks noChangeShapeType="1"/>
            <a:stCxn id="27" idx="2"/>
            <a:endCxn id="46" idx="0"/>
          </p:cNvCxnSpPr>
          <p:nvPr/>
        </p:nvCxnSpPr>
        <p:spPr bwMode="auto">
          <a:xfrm flipH="1">
            <a:off x="3839354" y="4366769"/>
            <a:ext cx="1" cy="64943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0" name="Rectangle 11">
            <a:extLst>
              <a:ext uri="{FF2B5EF4-FFF2-40B4-BE49-F238E27FC236}">
                <a16:creationId xmlns:a16="http://schemas.microsoft.com/office/drawing/2014/main" id="{A2E9B7A9-6CDB-4833-8EC7-5518B30DBF68}"/>
              </a:ext>
            </a:extLst>
          </p:cNvPr>
          <p:cNvSpPr>
            <a:spLocks noChangeArrowheads="1"/>
          </p:cNvSpPr>
          <p:nvPr/>
        </p:nvSpPr>
        <p:spPr bwMode="auto">
          <a:xfrm>
            <a:off x="3243935" y="2589123"/>
            <a:ext cx="2698238" cy="201506"/>
          </a:xfrm>
          <a:prstGeom prst="rect">
            <a:avLst/>
          </a:prstGeom>
          <a:solidFill>
            <a:srgbClr val="FFFFFF"/>
          </a:solidFill>
          <a:ln w="12700">
            <a:solidFill>
              <a:srgbClr val="FFFFFF">
                <a:lumMod val="85000"/>
              </a:srgbClr>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82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業務改善施策の策定　（</a:t>
            </a:r>
            <a:r>
              <a:rPr kumimoji="0" lang="ja-JP" altLang="en-US" sz="825"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既存のお客様の検討策検証）</a:t>
            </a:r>
          </a:p>
        </p:txBody>
      </p:sp>
      <p:sp>
        <p:nvSpPr>
          <p:cNvPr id="31" name="正方形/長方形 30">
            <a:extLst>
              <a:ext uri="{FF2B5EF4-FFF2-40B4-BE49-F238E27FC236}">
                <a16:creationId xmlns:a16="http://schemas.microsoft.com/office/drawing/2014/main" id="{1B5E8953-8E3F-48B3-A5CD-22A1A2576C13}"/>
              </a:ext>
            </a:extLst>
          </p:cNvPr>
          <p:cNvSpPr/>
          <p:nvPr/>
        </p:nvSpPr>
        <p:spPr>
          <a:xfrm>
            <a:off x="4747908" y="3712023"/>
            <a:ext cx="1118649" cy="367200"/>
          </a:xfrm>
          <a:prstGeom prst="rect">
            <a:avLst/>
          </a:prstGeom>
          <a:solidFill>
            <a:srgbClr val="BC4328">
              <a:lumMod val="20000"/>
              <a:lumOff val="80000"/>
            </a:srgbClr>
          </a:solidFill>
          <a:ln w="9525" cap="flat" cmpd="sng" algn="ctr">
            <a:noFill/>
            <a:prstDash val="solid"/>
          </a:ln>
          <a:effectLst/>
        </p:spPr>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5.</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サービス事業に向</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けた改革テーマ整理　</a:t>
            </a:r>
          </a:p>
        </p:txBody>
      </p:sp>
      <p:cxnSp>
        <p:nvCxnSpPr>
          <p:cNvPr id="32" name="コネクタ: カギ線 31">
            <a:extLst>
              <a:ext uri="{FF2B5EF4-FFF2-40B4-BE49-F238E27FC236}">
                <a16:creationId xmlns:a16="http://schemas.microsoft.com/office/drawing/2014/main" id="{4BF2E6AE-1135-41AA-B3CA-F952FFBFD7C9}"/>
              </a:ext>
            </a:extLst>
          </p:cNvPr>
          <p:cNvCxnSpPr>
            <a:cxnSpLocks/>
            <a:stCxn id="25" idx="3"/>
            <a:endCxn id="31" idx="1"/>
          </p:cNvCxnSpPr>
          <p:nvPr/>
        </p:nvCxnSpPr>
        <p:spPr>
          <a:xfrm>
            <a:off x="4396917" y="3346485"/>
            <a:ext cx="350992" cy="549138"/>
          </a:xfrm>
          <a:prstGeom prst="bentConnector3">
            <a:avLst/>
          </a:prstGeom>
          <a:noFill/>
          <a:ln w="3175" cap="flat" cmpd="sng" algn="ctr">
            <a:solidFill>
              <a:srgbClr val="000000"/>
            </a:solidFill>
            <a:prstDash val="solid"/>
            <a:tailEnd type="triangle"/>
          </a:ln>
          <a:effectLst/>
        </p:spPr>
      </p:cxnSp>
      <p:cxnSp>
        <p:nvCxnSpPr>
          <p:cNvPr id="33" name="コネクタ: カギ線 32">
            <a:extLst>
              <a:ext uri="{FF2B5EF4-FFF2-40B4-BE49-F238E27FC236}">
                <a16:creationId xmlns:a16="http://schemas.microsoft.com/office/drawing/2014/main" id="{B454CF8B-694C-430D-A76F-E91E967D0410}"/>
              </a:ext>
            </a:extLst>
          </p:cNvPr>
          <p:cNvCxnSpPr>
            <a:cxnSpLocks/>
            <a:stCxn id="46" idx="3"/>
            <a:endCxn id="31" idx="1"/>
          </p:cNvCxnSpPr>
          <p:nvPr/>
        </p:nvCxnSpPr>
        <p:spPr>
          <a:xfrm flipV="1">
            <a:off x="4398678" y="3895623"/>
            <a:ext cx="349230" cy="1304180"/>
          </a:xfrm>
          <a:prstGeom prst="bentConnector3">
            <a:avLst/>
          </a:prstGeom>
          <a:noFill/>
          <a:ln w="3175" cap="flat" cmpd="sng" algn="ctr">
            <a:solidFill>
              <a:srgbClr val="000000"/>
            </a:solidFill>
            <a:prstDash val="solid"/>
            <a:tailEnd type="triangle"/>
          </a:ln>
          <a:effectLst/>
        </p:spPr>
      </p:cxnSp>
      <p:sp>
        <p:nvSpPr>
          <p:cNvPr id="34" name="Text Box 58">
            <a:extLst>
              <a:ext uri="{FF2B5EF4-FFF2-40B4-BE49-F238E27FC236}">
                <a16:creationId xmlns:a16="http://schemas.microsoft.com/office/drawing/2014/main" id="{2B955EB5-4FC2-43F3-BD90-65B26A033884}"/>
              </a:ext>
            </a:extLst>
          </p:cNvPr>
          <p:cNvSpPr txBox="1">
            <a:spLocks noChangeArrowheads="1"/>
          </p:cNvSpPr>
          <p:nvPr/>
        </p:nvSpPr>
        <p:spPr bwMode="auto">
          <a:xfrm>
            <a:off x="4732257" y="4112496"/>
            <a:ext cx="1179494" cy="642341"/>
          </a:xfrm>
          <a:prstGeom prst="rect">
            <a:avLst/>
          </a:prstGeom>
          <a:noFill/>
          <a:ln>
            <a:noFill/>
          </a:ln>
        </p:spPr>
        <p:txBody>
          <a:bodyPr lIns="0" tIns="54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rPr>
              <a:t>ターゲット顧客の行動分析とサービス業務・機能整理をもとに、現状とのギャップ（制約事項）から変革テーマを導出する</a:t>
            </a:r>
          </a:p>
        </p:txBody>
      </p:sp>
      <p:sp>
        <p:nvSpPr>
          <p:cNvPr id="35" name="角丸四角形 2">
            <a:extLst>
              <a:ext uri="{FF2B5EF4-FFF2-40B4-BE49-F238E27FC236}">
                <a16:creationId xmlns:a16="http://schemas.microsoft.com/office/drawing/2014/main" id="{47D587EC-5CFB-444B-8C18-D50732BD5FEE}"/>
              </a:ext>
            </a:extLst>
          </p:cNvPr>
          <p:cNvSpPr/>
          <p:nvPr/>
        </p:nvSpPr>
        <p:spPr>
          <a:xfrm>
            <a:off x="4747908" y="5691065"/>
            <a:ext cx="2511095" cy="540000"/>
          </a:xfrm>
          <a:prstGeom prst="roundRect">
            <a:avLst>
              <a:gd name="adj" fmla="val 8520"/>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135731" marR="0" lvl="0" indent="-135731" defTabSz="914400" eaLnBrk="1" fontAlgn="auto" latinLnBrk="0" hangingPunct="1">
              <a:lnSpc>
                <a:spcPct val="100000"/>
              </a:lnSpc>
              <a:spcBef>
                <a:spcPts val="0"/>
              </a:spcBef>
              <a:spcAft>
                <a:spcPts val="0"/>
              </a:spcAft>
              <a:buClrTx/>
              <a:buSzTx/>
              <a:buFontTx/>
              <a:buNone/>
              <a:tabLst/>
              <a:defRPr/>
            </a:pPr>
            <a:r>
              <a:rPr kumimoji="0" lang="ja-JP" altLang="en-US"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t>ステップ②</a:t>
            </a:r>
            <a:r>
              <a:rPr kumimoji="0" lang="ja-JP" altLang="en-US" sz="67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 </a:t>
            </a:r>
            <a:br>
              <a:rPr kumimoji="0" lang="en-US" altLang="ja-JP" sz="67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変革テーマの具体的な活動計画への落とし込み（既存テーマの検証）</a:t>
            </a:r>
            <a:endParaRPr kumimoji="0" lang="en-US" altLang="ja-JP"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cxnSp>
        <p:nvCxnSpPr>
          <p:cNvPr id="36" name="コネクタ: カギ線 35">
            <a:extLst>
              <a:ext uri="{FF2B5EF4-FFF2-40B4-BE49-F238E27FC236}">
                <a16:creationId xmlns:a16="http://schemas.microsoft.com/office/drawing/2014/main" id="{F556CC30-065B-496D-9D19-F967A5CBE0F2}"/>
              </a:ext>
            </a:extLst>
          </p:cNvPr>
          <p:cNvCxnSpPr>
            <a:cxnSpLocks/>
            <a:stCxn id="35" idx="0"/>
            <a:endCxn id="40" idx="0"/>
          </p:cNvCxnSpPr>
          <p:nvPr/>
        </p:nvCxnSpPr>
        <p:spPr>
          <a:xfrm rot="16200000" flipV="1">
            <a:off x="3826874" y="3514483"/>
            <a:ext cx="12700" cy="4353164"/>
          </a:xfrm>
          <a:prstGeom prst="bentConnector3">
            <a:avLst>
              <a:gd name="adj1" fmla="val 1800000"/>
            </a:avLst>
          </a:prstGeom>
          <a:noFill/>
          <a:ln w="3175" cap="flat" cmpd="sng" algn="ctr">
            <a:solidFill>
              <a:srgbClr val="000000"/>
            </a:solidFill>
            <a:prstDash val="solid"/>
            <a:tailEnd type="triangle"/>
          </a:ln>
          <a:effectLst/>
        </p:spPr>
      </p:cxnSp>
      <p:sp>
        <p:nvSpPr>
          <p:cNvPr id="37" name="正方形/長方形 36">
            <a:extLst>
              <a:ext uri="{FF2B5EF4-FFF2-40B4-BE49-F238E27FC236}">
                <a16:creationId xmlns:a16="http://schemas.microsoft.com/office/drawing/2014/main" id="{415DECD1-A92A-4EC6-8087-391A4780F18E}"/>
              </a:ext>
            </a:extLst>
          </p:cNvPr>
          <p:cNvSpPr/>
          <p:nvPr/>
        </p:nvSpPr>
        <p:spPr>
          <a:xfrm>
            <a:off x="6140354" y="3715673"/>
            <a:ext cx="1118649" cy="367200"/>
          </a:xfrm>
          <a:prstGeom prst="rect">
            <a:avLst/>
          </a:prstGeom>
          <a:solidFill>
            <a:srgbClr val="BC4328">
              <a:lumMod val="20000"/>
              <a:lumOff val="80000"/>
            </a:srgbClr>
          </a:solidFill>
          <a:ln w="9525" cap="flat" cmpd="sng" algn="ctr">
            <a:noFill/>
            <a:prstDash val="solid"/>
          </a:ln>
          <a:effectLst/>
        </p:spPr>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6.</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検討施策</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の優先順位</a:t>
            </a:r>
          </a:p>
        </p:txBody>
      </p:sp>
      <p:sp>
        <p:nvSpPr>
          <p:cNvPr id="38" name="Text Box 58">
            <a:extLst>
              <a:ext uri="{FF2B5EF4-FFF2-40B4-BE49-F238E27FC236}">
                <a16:creationId xmlns:a16="http://schemas.microsoft.com/office/drawing/2014/main" id="{D371C18A-21E2-43A6-A802-06276D6B1B40}"/>
              </a:ext>
            </a:extLst>
          </p:cNvPr>
          <p:cNvSpPr txBox="1">
            <a:spLocks noChangeArrowheads="1"/>
          </p:cNvSpPr>
          <p:nvPr/>
        </p:nvSpPr>
        <p:spPr bwMode="auto">
          <a:xfrm>
            <a:off x="6124703" y="4116146"/>
            <a:ext cx="1179494" cy="1103429"/>
          </a:xfrm>
          <a:prstGeom prst="rect">
            <a:avLst/>
          </a:prstGeom>
          <a:noFill/>
          <a:ln>
            <a:noFill/>
          </a:ln>
        </p:spPr>
        <p:txBody>
          <a:bodyPr lIns="0" tIns="54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cs typeface="Arial" panose="020B0604020202020204" pitchFamily="34" charset="0"/>
              </a:rPr>
              <a:t>目標、テーマごとのあるべき姿および、業務視点での変革施策をもとに、優先度（実施の有無含め）を評価</a:t>
            </a:r>
            <a:endParaRPr lang="ja-JP" altLang="en-US" sz="700">
              <a:solidFill>
                <a:srgbClr val="000000"/>
              </a:solidFill>
              <a:latin typeface="メイリオ" panose="020B0604030504040204" pitchFamily="50" charset="-128"/>
              <a:ea typeface="メイリオ" panose="020B0604030504040204" pitchFamily="50" charset="-128"/>
            </a:endParaRPr>
          </a:p>
        </p:txBody>
      </p:sp>
      <p:cxnSp>
        <p:nvCxnSpPr>
          <p:cNvPr id="39" name="AutoShape 19">
            <a:extLst>
              <a:ext uri="{FF2B5EF4-FFF2-40B4-BE49-F238E27FC236}">
                <a16:creationId xmlns:a16="http://schemas.microsoft.com/office/drawing/2014/main" id="{ECEDCA6A-AAEF-4C27-A053-F5F76508E76D}"/>
              </a:ext>
            </a:extLst>
          </p:cNvPr>
          <p:cNvCxnSpPr>
            <a:cxnSpLocks noChangeShapeType="1"/>
            <a:stCxn id="31" idx="3"/>
            <a:endCxn id="37" idx="1"/>
          </p:cNvCxnSpPr>
          <p:nvPr/>
        </p:nvCxnSpPr>
        <p:spPr bwMode="auto">
          <a:xfrm>
            <a:off x="5866558" y="3895624"/>
            <a:ext cx="273797" cy="36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0" name="角丸四角形 37">
            <a:extLst>
              <a:ext uri="{FF2B5EF4-FFF2-40B4-BE49-F238E27FC236}">
                <a16:creationId xmlns:a16="http://schemas.microsoft.com/office/drawing/2014/main" id="{EF2D2781-6022-42D9-9EBC-4414896273CB}"/>
              </a:ext>
            </a:extLst>
          </p:cNvPr>
          <p:cNvSpPr/>
          <p:nvPr/>
        </p:nvSpPr>
        <p:spPr>
          <a:xfrm>
            <a:off x="428083" y="5691065"/>
            <a:ext cx="2444417" cy="540000"/>
          </a:xfrm>
          <a:prstGeom prst="roundRect">
            <a:avLst>
              <a:gd name="adj" fmla="val 9034"/>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135731" marR="0" lvl="0" indent="-135731" defTabSz="914400" eaLnBrk="1" fontAlgn="auto" latinLnBrk="0" hangingPunct="1">
              <a:lnSpc>
                <a:spcPct val="100000"/>
              </a:lnSpc>
              <a:spcBef>
                <a:spcPts val="0"/>
              </a:spcBef>
              <a:spcAft>
                <a:spcPts val="0"/>
              </a:spcAft>
              <a:buClrTx/>
              <a:buSzTx/>
              <a:buFontTx/>
              <a:buNone/>
              <a:tabLst/>
              <a:defRPr/>
            </a:pPr>
            <a:r>
              <a:rPr kumimoji="0" lang="ja-JP" altLang="en-US"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t>ステップ③</a:t>
            </a:r>
            <a:br>
              <a:rPr kumimoji="0" lang="en-US" altLang="ja-JP"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br>
            <a:r>
              <a:rPr kumimoji="0" lang="ja-JP" altLang="en-US"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変革テーマ検討結果から、大方針との整合性検証</a:t>
            </a:r>
            <a:endParaRPr kumimoji="0" lang="en-US" altLang="ja-JP" sz="675"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F9489C03-09C0-48D8-B803-04430E8AF459}"/>
              </a:ext>
            </a:extLst>
          </p:cNvPr>
          <p:cNvSpPr/>
          <p:nvPr/>
        </p:nvSpPr>
        <p:spPr>
          <a:xfrm>
            <a:off x="7585663" y="3716339"/>
            <a:ext cx="1118649" cy="367200"/>
          </a:xfrm>
          <a:prstGeom prst="rect">
            <a:avLst/>
          </a:prstGeom>
          <a:solidFill>
            <a:srgbClr val="BC4328">
              <a:lumMod val="20000"/>
              <a:lumOff val="80000"/>
            </a:srgbClr>
          </a:solidFill>
          <a:ln w="9525" cap="flat" cmpd="sng" algn="ctr">
            <a:noFill/>
            <a:prstDash val="solid"/>
          </a:ln>
          <a:effectLst/>
        </p:spPr>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7.</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優先順位を考慮</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した変革ロードマップ</a:t>
            </a:r>
          </a:p>
        </p:txBody>
      </p:sp>
      <p:sp>
        <p:nvSpPr>
          <p:cNvPr id="42" name="Text Box 58">
            <a:extLst>
              <a:ext uri="{FF2B5EF4-FFF2-40B4-BE49-F238E27FC236}">
                <a16:creationId xmlns:a16="http://schemas.microsoft.com/office/drawing/2014/main" id="{F257DF5D-977B-40A6-BE94-3D2430A885A4}"/>
              </a:ext>
            </a:extLst>
          </p:cNvPr>
          <p:cNvSpPr txBox="1">
            <a:spLocks noChangeArrowheads="1"/>
          </p:cNvSpPr>
          <p:nvPr/>
        </p:nvSpPr>
        <p:spPr bwMode="auto">
          <a:xfrm>
            <a:off x="7570012" y="4116812"/>
            <a:ext cx="1179494" cy="1103429"/>
          </a:xfrm>
          <a:prstGeom prst="rect">
            <a:avLst/>
          </a:prstGeom>
          <a:noFill/>
          <a:ln>
            <a:noFill/>
          </a:ln>
        </p:spPr>
        <p:txBody>
          <a:bodyPr lIns="0" tIns="54000" rIns="0" bIns="0" anchor="t" anchorCtr="0"/>
          <a:lstStyle>
            <a:lvl1pPr marL="88900" indent="-88900" defTabSz="355600" eaLnBrk="0" hangingPunct="0">
              <a:defRPr kumimoji="1">
                <a:solidFill>
                  <a:schemeClr val="tx1"/>
                </a:solidFill>
                <a:latin typeface="Arial" pitchFamily="34" charset="0"/>
                <a:ea typeface="ＭＳ ゴシック" pitchFamily="49" charset="-128"/>
              </a:defRPr>
            </a:lvl1pPr>
            <a:lvl2pPr marL="266700" indent="-88900" defTabSz="355600" eaLnBrk="0" hangingPunct="0">
              <a:defRPr kumimoji="1">
                <a:solidFill>
                  <a:schemeClr val="tx1"/>
                </a:solidFill>
                <a:latin typeface="Arial" pitchFamily="34" charset="0"/>
                <a:ea typeface="ＭＳ ゴシック" pitchFamily="49" charset="-128"/>
              </a:defRPr>
            </a:lvl2pPr>
            <a:lvl3pPr marL="1143000" indent="-228600" defTabSz="355600" eaLnBrk="0" hangingPunct="0">
              <a:defRPr kumimoji="1">
                <a:solidFill>
                  <a:schemeClr val="tx1"/>
                </a:solidFill>
                <a:latin typeface="Arial" pitchFamily="34" charset="0"/>
                <a:ea typeface="ＭＳ ゴシック" pitchFamily="49" charset="-128"/>
              </a:defRPr>
            </a:lvl3pPr>
            <a:lvl4pPr marL="1600200" indent="-228600" defTabSz="355600" eaLnBrk="0" hangingPunct="0">
              <a:defRPr kumimoji="1">
                <a:solidFill>
                  <a:schemeClr val="tx1"/>
                </a:solidFill>
                <a:latin typeface="Arial" pitchFamily="34" charset="0"/>
                <a:ea typeface="ＭＳ ゴシック" pitchFamily="49" charset="-128"/>
              </a:defRPr>
            </a:lvl4pPr>
            <a:lvl5pPr marL="2057400" indent="-228600" defTabSz="355600" eaLnBrk="0" hangingPunct="0">
              <a:defRPr kumimoji="1">
                <a:solidFill>
                  <a:schemeClr val="tx1"/>
                </a:solidFill>
                <a:latin typeface="Arial" pitchFamily="34" charset="0"/>
                <a:ea typeface="ＭＳ ゴシック" pitchFamily="49" charset="-128"/>
              </a:defRPr>
            </a:lvl5pPr>
            <a:lvl6pPr marL="25146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6pPr>
            <a:lvl7pPr marL="29718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7pPr>
            <a:lvl8pPr marL="34290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8pPr>
            <a:lvl9pPr marL="3886200" indent="-228600" defTabSz="355600" eaLnBrk="0" fontAlgn="base" hangingPunct="0">
              <a:spcBef>
                <a:spcPct val="0"/>
              </a:spcBef>
              <a:spcAft>
                <a:spcPct val="0"/>
              </a:spcAft>
              <a:defRPr kumimoji="1">
                <a:solidFill>
                  <a:schemeClr val="tx1"/>
                </a:solidFill>
                <a:latin typeface="Arial" pitchFamily="34" charset="0"/>
                <a:ea typeface="ＭＳ ゴシック" pitchFamily="49" charset="-128"/>
              </a:defRPr>
            </a:lvl9pPr>
          </a:lstStyle>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cs typeface="Arial" panose="020B0604020202020204" pitchFamily="34" charset="0"/>
              </a:rPr>
              <a:t>優先順位を考慮したロードマップの策定</a:t>
            </a:r>
            <a:endParaRPr lang="en-US" altLang="ja-JP" sz="700">
              <a:solidFill>
                <a:srgbClr val="000000"/>
              </a:solidFill>
              <a:latin typeface="メイリオ" panose="020B0604030504040204" pitchFamily="50" charset="-128"/>
              <a:ea typeface="メイリオ" panose="020B0604030504040204" pitchFamily="50" charset="-128"/>
              <a:cs typeface="Arial" panose="020B0604020202020204" pitchFamily="34" charset="0"/>
            </a:endParaRPr>
          </a:p>
          <a:p>
            <a:pPr marL="128588" indent="-128588" eaLnBrk="1" fontAlgn="base" hangingPunct="1">
              <a:spcBef>
                <a:spcPct val="0"/>
              </a:spcBef>
              <a:spcAft>
                <a:spcPct val="0"/>
              </a:spcAft>
              <a:buFont typeface="Arial" panose="020B0604020202020204" pitchFamily="34" charset="0"/>
              <a:buChar char="•"/>
            </a:pPr>
            <a:r>
              <a:rPr lang="ja-JP" altLang="en-US" sz="700">
                <a:solidFill>
                  <a:srgbClr val="000000"/>
                </a:solidFill>
                <a:latin typeface="メイリオ" panose="020B0604030504040204" pitchFamily="50" charset="-128"/>
                <a:ea typeface="メイリオ" panose="020B0604030504040204" pitchFamily="50" charset="-128"/>
                <a:cs typeface="Arial" panose="020B0604020202020204" pitchFamily="34" charset="0"/>
              </a:rPr>
              <a:t>業務改革テーマにおける変革推進体制、役割を定義</a:t>
            </a:r>
          </a:p>
        </p:txBody>
      </p:sp>
      <p:cxnSp>
        <p:nvCxnSpPr>
          <p:cNvPr id="43" name="AutoShape 19">
            <a:extLst>
              <a:ext uri="{FF2B5EF4-FFF2-40B4-BE49-F238E27FC236}">
                <a16:creationId xmlns:a16="http://schemas.microsoft.com/office/drawing/2014/main" id="{359B0C1A-2809-4BFB-BC0C-C3D62D1A1450}"/>
              </a:ext>
            </a:extLst>
          </p:cNvPr>
          <p:cNvCxnSpPr>
            <a:cxnSpLocks noChangeShapeType="1"/>
            <a:stCxn id="37" idx="3"/>
            <a:endCxn id="41" idx="1"/>
          </p:cNvCxnSpPr>
          <p:nvPr/>
        </p:nvCxnSpPr>
        <p:spPr bwMode="auto">
          <a:xfrm>
            <a:off x="7259003" y="3899273"/>
            <a:ext cx="326660" cy="66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4" name="角丸四角形 42">
            <a:extLst>
              <a:ext uri="{FF2B5EF4-FFF2-40B4-BE49-F238E27FC236}">
                <a16:creationId xmlns:a16="http://schemas.microsoft.com/office/drawing/2014/main" id="{233858B9-A950-4BB6-900A-F75B2D028F4F}"/>
              </a:ext>
            </a:extLst>
          </p:cNvPr>
          <p:cNvSpPr/>
          <p:nvPr/>
        </p:nvSpPr>
        <p:spPr>
          <a:xfrm>
            <a:off x="7585663" y="5691065"/>
            <a:ext cx="1158413" cy="540000"/>
          </a:xfrm>
          <a:prstGeom prst="roundRect">
            <a:avLst>
              <a:gd name="adj" fmla="val 12625"/>
            </a:avLst>
          </a:prstGeom>
          <a:solidFill>
            <a:srgbClr val="FFFFFF">
              <a:alpha val="81000"/>
            </a:srgbClr>
          </a:solidFill>
          <a:ln w="3175" cap="flat" cmpd="sng" algn="ctr">
            <a:solidFill>
              <a:srgbClr val="BC4328"/>
            </a:solidFill>
            <a:prstDash val="solid"/>
          </a:ln>
          <a:effectLst/>
        </p:spPr>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135731" marR="0" lvl="0" indent="-135731" defTabSz="914400" eaLnBrk="1" fontAlgn="auto" latinLnBrk="0" hangingPunct="1">
              <a:lnSpc>
                <a:spcPct val="100000"/>
              </a:lnSpc>
              <a:spcBef>
                <a:spcPts val="0"/>
              </a:spcBef>
              <a:spcAft>
                <a:spcPts val="0"/>
              </a:spcAft>
              <a:buClrTx/>
              <a:buSzTx/>
              <a:buFontTx/>
              <a:buNone/>
              <a:tabLst/>
              <a:defRPr/>
            </a:pPr>
            <a:r>
              <a:rPr kumimoji="0" lang="ja-JP" altLang="en-US"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rPr>
              <a:t>ステップ④</a:t>
            </a:r>
            <a:endParaRPr kumimoji="0" lang="en-US" altLang="ja-JP" sz="825" b="0" i="0" u="none" strike="noStrike" kern="0" cap="none" spc="0" normalizeH="0" baseline="0" noProof="0">
              <a:ln>
                <a:noFill/>
              </a:ln>
              <a:solidFill>
                <a:srgbClr val="000000"/>
              </a:solidFill>
              <a:effectLst>
                <a:glow rad="228600">
                  <a:srgbClr val="BC4328">
                    <a:satMod val="175000"/>
                    <a:alpha val="40000"/>
                  </a:srgbClr>
                </a:glow>
              </a:effectLst>
              <a:uLnTx/>
              <a:uFillTx/>
              <a:latin typeface="メイリオ" panose="020B0604030504040204" pitchFamily="50" charset="-128"/>
              <a:ea typeface="メイリオ" panose="020B0604030504040204" pitchFamily="50" charset="-128"/>
            </a:endParaRPr>
          </a:p>
          <a:p>
            <a:pPr marL="135731" marR="0" lvl="0" indent="-135731" defTabSz="914400" eaLnBrk="1" fontAlgn="auto" latinLnBrk="0" hangingPunct="1">
              <a:lnSpc>
                <a:spcPct val="100000"/>
              </a:lnSpc>
              <a:spcBef>
                <a:spcPts val="0"/>
              </a:spcBef>
              <a:spcAft>
                <a:spcPts val="0"/>
              </a:spcAft>
              <a:buClrTx/>
              <a:buSzTx/>
              <a:buFontTx/>
              <a:buNone/>
              <a:tabLst/>
              <a:defRPr/>
            </a:pPr>
            <a:r>
              <a:rPr kumimoji="0" lang="en-US" altLang="ja-JP" sz="825" kern="0">
                <a:solidFill>
                  <a:srgbClr val="000000"/>
                </a:solidFill>
                <a:effectLst>
                  <a:glow rad="228600">
                    <a:srgbClr val="BC4328">
                      <a:satMod val="175000"/>
                      <a:alpha val="40000"/>
                    </a:srgbClr>
                  </a:glow>
                </a:effectLst>
                <a:latin typeface="メイリオ" panose="020B0604030504040204" pitchFamily="50" charset="-128"/>
                <a:ea typeface="メイリオ" panose="020B0604030504040204" pitchFamily="50" charset="-128"/>
              </a:rPr>
              <a:t>	</a:t>
            </a:r>
            <a:r>
              <a:rPr kumimoji="0" lang="ja-JP" altLang="en-US"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変革テーマの具体的な活動計画のアップデート</a:t>
            </a:r>
            <a:endParaRPr kumimoji="0" lang="en-US" altLang="ja-JP" sz="788"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cxnSp>
        <p:nvCxnSpPr>
          <p:cNvPr id="45" name="コネクタ: カギ線 44">
            <a:extLst>
              <a:ext uri="{FF2B5EF4-FFF2-40B4-BE49-F238E27FC236}">
                <a16:creationId xmlns:a16="http://schemas.microsoft.com/office/drawing/2014/main" id="{93DC4219-A960-4D7F-974A-4E4CE53BA651}"/>
              </a:ext>
            </a:extLst>
          </p:cNvPr>
          <p:cNvCxnSpPr>
            <a:cxnSpLocks/>
            <a:stCxn id="40" idx="2"/>
            <a:endCxn id="44" idx="2"/>
          </p:cNvCxnSpPr>
          <p:nvPr/>
        </p:nvCxnSpPr>
        <p:spPr>
          <a:xfrm rot="16200000" flipH="1">
            <a:off x="4907581" y="2973776"/>
            <a:ext cx="12700" cy="6514578"/>
          </a:xfrm>
          <a:prstGeom prst="bentConnector3">
            <a:avLst>
              <a:gd name="adj1" fmla="val 855740"/>
            </a:avLst>
          </a:prstGeom>
          <a:noFill/>
          <a:ln w="3175" cap="flat" cmpd="sng" algn="ctr">
            <a:solidFill>
              <a:srgbClr val="000000"/>
            </a:solidFill>
            <a:prstDash val="solid"/>
            <a:tailEnd type="triangle"/>
          </a:ln>
          <a:effectLst/>
        </p:spPr>
      </p:cxnSp>
      <p:sp>
        <p:nvSpPr>
          <p:cNvPr id="46" name="正方形/長方形 45">
            <a:extLst>
              <a:ext uri="{FF2B5EF4-FFF2-40B4-BE49-F238E27FC236}">
                <a16:creationId xmlns:a16="http://schemas.microsoft.com/office/drawing/2014/main" id="{3D805F15-3B4A-4CBA-9A73-B72486A46A9C}"/>
              </a:ext>
            </a:extLst>
          </p:cNvPr>
          <p:cNvSpPr/>
          <p:nvPr/>
        </p:nvSpPr>
        <p:spPr>
          <a:xfrm>
            <a:off x="3280029" y="5016203"/>
            <a:ext cx="1118649" cy="367200"/>
          </a:xfrm>
          <a:prstGeom prst="rect">
            <a:avLst/>
          </a:prstGeom>
          <a:solidFill>
            <a:srgbClr val="BC4328">
              <a:lumMod val="20000"/>
              <a:lumOff val="80000"/>
            </a:srgbClr>
          </a:solidFill>
          <a:ln w="9525" cap="flat" cmpd="sng" algn="ctr">
            <a:noFill/>
            <a:prstDash val="solid"/>
          </a:ln>
          <a:effectLst/>
        </p:spPr>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4.</a:t>
            </a: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お客様起点に</a:t>
            </a:r>
            <a:br>
              <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b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全ての業務プロセス</a:t>
            </a:r>
            <a:endParaRPr kumimoji="0" lang="en-US" altLang="ja-JP"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を見直し</a:t>
            </a:r>
          </a:p>
        </p:txBody>
      </p:sp>
      <p:sp>
        <p:nvSpPr>
          <p:cNvPr id="47" name="Rectangle 10">
            <a:extLst>
              <a:ext uri="{FF2B5EF4-FFF2-40B4-BE49-F238E27FC236}">
                <a16:creationId xmlns:a16="http://schemas.microsoft.com/office/drawing/2014/main" id="{14FBDEC3-F538-46AF-86BB-06AB179DFE40}"/>
              </a:ext>
            </a:extLst>
          </p:cNvPr>
          <p:cNvSpPr>
            <a:spLocks noChangeArrowheads="1"/>
          </p:cNvSpPr>
          <p:nvPr/>
        </p:nvSpPr>
        <p:spPr bwMode="auto">
          <a:xfrm>
            <a:off x="4747907" y="5069348"/>
            <a:ext cx="3056241" cy="220097"/>
          </a:xfrm>
          <a:prstGeom prst="rect">
            <a:avLst/>
          </a:prstGeom>
          <a:solidFill>
            <a:srgbClr val="BC4328">
              <a:lumMod val="20000"/>
              <a:lumOff val="80000"/>
            </a:srgbClr>
          </a:solidFill>
          <a:ln w="12700">
            <a:solidFill>
              <a:srgbClr val="FFFFFF"/>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フィジビリティスタディ</a:t>
            </a:r>
            <a:r>
              <a:rPr kumimoji="0" lang="ja-JP" altLang="en-US" sz="8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（優先度が高い１テーマを想定）</a:t>
            </a:r>
            <a:endParaRPr kumimoji="0" lang="en-US" altLang="ja-JP" sz="900" b="1"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cxnSp>
        <p:nvCxnSpPr>
          <p:cNvPr id="48" name="AutoShape 19">
            <a:extLst>
              <a:ext uri="{FF2B5EF4-FFF2-40B4-BE49-F238E27FC236}">
                <a16:creationId xmlns:a16="http://schemas.microsoft.com/office/drawing/2014/main" id="{85167868-6736-4B41-BD50-1BC971C64A39}"/>
              </a:ext>
            </a:extLst>
          </p:cNvPr>
          <p:cNvCxnSpPr>
            <a:cxnSpLocks noChangeShapeType="1"/>
            <a:stCxn id="34" idx="2"/>
          </p:cNvCxnSpPr>
          <p:nvPr/>
        </p:nvCxnSpPr>
        <p:spPr bwMode="auto">
          <a:xfrm>
            <a:off x="5322004" y="4754837"/>
            <a:ext cx="0" cy="31451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1" name="Rectangle 10">
            <a:extLst>
              <a:ext uri="{FF2B5EF4-FFF2-40B4-BE49-F238E27FC236}">
                <a16:creationId xmlns:a16="http://schemas.microsoft.com/office/drawing/2014/main" id="{FA52045E-5E33-4611-B1B6-36D3FDAAB836}"/>
              </a:ext>
            </a:extLst>
          </p:cNvPr>
          <p:cNvSpPr>
            <a:spLocks noChangeArrowheads="1"/>
          </p:cNvSpPr>
          <p:nvPr/>
        </p:nvSpPr>
        <p:spPr bwMode="auto">
          <a:xfrm>
            <a:off x="457010" y="2589123"/>
            <a:ext cx="1118648" cy="180000"/>
          </a:xfrm>
          <a:prstGeom prst="rect">
            <a:avLst/>
          </a:prstGeom>
          <a:solidFill>
            <a:srgbClr val="FFFFFF">
              <a:lumMod val="95000"/>
            </a:srgbClr>
          </a:solidFill>
          <a:ln w="12700">
            <a:solidFill>
              <a:srgbClr val="000000"/>
            </a:solidFill>
            <a:prstDash val="sysDash"/>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marL="0" marR="0" lvl="0" indent="0" algn="ctr" defTabSz="571500" eaLnBrk="1" fontAlgn="base" latinLnBrk="0" hangingPunct="1">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メイリオ" panose="020B0604030504040204" pitchFamily="50" charset="-128"/>
                <a:ea typeface="メイリオ" panose="020B0604030504040204" pitchFamily="50" charset="-128"/>
              </a:rPr>
              <a:t>事業戦略の把握</a:t>
            </a:r>
          </a:p>
        </p:txBody>
      </p:sp>
      <p:sp>
        <p:nvSpPr>
          <p:cNvPr id="54" name="Rectangle 10">
            <a:extLst>
              <a:ext uri="{FF2B5EF4-FFF2-40B4-BE49-F238E27FC236}">
                <a16:creationId xmlns:a16="http://schemas.microsoft.com/office/drawing/2014/main" id="{3DBD75DF-C30A-4EEC-BCB7-733537FC8EDF}"/>
              </a:ext>
            </a:extLst>
          </p:cNvPr>
          <p:cNvSpPr>
            <a:spLocks noChangeArrowheads="1"/>
          </p:cNvSpPr>
          <p:nvPr/>
        </p:nvSpPr>
        <p:spPr bwMode="auto">
          <a:xfrm>
            <a:off x="457010" y="2816331"/>
            <a:ext cx="3382344" cy="180000"/>
          </a:xfrm>
          <a:prstGeom prst="rect">
            <a:avLst/>
          </a:prstGeom>
          <a:solidFill>
            <a:srgbClr val="FFFFFF">
              <a:lumMod val="95000"/>
            </a:srgbClr>
          </a:solidFill>
          <a:ln w="12700">
            <a:solidFill>
              <a:srgbClr val="000000"/>
            </a:solidFill>
            <a:prstDash val="sysDash"/>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lvl="0" algn="ctr" defTabSz="571500" fontAlgn="base">
              <a:spcBef>
                <a:spcPct val="0"/>
              </a:spcBef>
              <a:spcAft>
                <a:spcPct val="0"/>
              </a:spcAft>
              <a:defRPr/>
            </a:pPr>
            <a:r>
              <a:rPr kumimoji="0" lang="zh-TW" altLang="en-US" sz="900" kern="0">
                <a:solidFill>
                  <a:srgbClr val="000000"/>
                </a:solidFill>
                <a:latin typeface="メイリオ" panose="020B0604030504040204" pitchFamily="50" charset="-128"/>
                <a:ea typeface="メイリオ" panose="020B0604030504040204" pitchFamily="50" charset="-128"/>
              </a:rPr>
              <a:t>事業課題抽出</a:t>
            </a:r>
          </a:p>
        </p:txBody>
      </p:sp>
      <p:sp>
        <p:nvSpPr>
          <p:cNvPr id="55" name="Rectangle 11">
            <a:extLst>
              <a:ext uri="{FF2B5EF4-FFF2-40B4-BE49-F238E27FC236}">
                <a16:creationId xmlns:a16="http://schemas.microsoft.com/office/drawing/2014/main" id="{04A406C8-D816-43C2-AC2C-54ACEE12FA58}"/>
              </a:ext>
            </a:extLst>
          </p:cNvPr>
          <p:cNvSpPr>
            <a:spLocks noChangeArrowheads="1"/>
          </p:cNvSpPr>
          <p:nvPr/>
        </p:nvSpPr>
        <p:spPr bwMode="auto">
          <a:xfrm>
            <a:off x="6114276" y="2589123"/>
            <a:ext cx="2698238" cy="201506"/>
          </a:xfrm>
          <a:prstGeom prst="rect">
            <a:avLst/>
          </a:prstGeom>
          <a:solidFill>
            <a:srgbClr val="FFFFFF"/>
          </a:solidFill>
          <a:ln w="12700">
            <a:solidFill>
              <a:srgbClr val="FFFFFF">
                <a:lumMod val="85000"/>
              </a:srgbClr>
            </a:solidFill>
            <a:miter lim="800000"/>
            <a:headEnd type="none" w="sm" len="sm"/>
            <a:tailEnd type="none" w="sm" len="sm"/>
          </a:ln>
          <a:effectLst>
            <a:outerShdw dist="35921" dir="2700000" algn="ctr" rotWithShape="0">
              <a:srgbClr val="E1E7F3"/>
            </a:outerShdw>
          </a:effectLst>
        </p:spPr>
        <p:txBody>
          <a:bodyPr wrap="none" lIns="54000" tIns="27000" rIns="54000" bIns="27000" anchor="ctr"/>
          <a:lstStyle/>
          <a:p>
            <a:pPr algn="ctr" defTabSz="571500" fontAlgn="base">
              <a:spcBef>
                <a:spcPct val="0"/>
              </a:spcBef>
              <a:spcAft>
                <a:spcPct val="0"/>
              </a:spcAft>
              <a:defRPr/>
            </a:pPr>
            <a:r>
              <a:rPr kumimoji="0" lang="ja-JP" altLang="en-US" sz="800" kern="0">
                <a:solidFill>
                  <a:srgbClr val="000000"/>
                </a:solidFill>
                <a:latin typeface="メイリオ" panose="020B0604030504040204" pitchFamily="50" charset="-128"/>
                <a:ea typeface="メイリオ" panose="020B0604030504040204" pitchFamily="50" charset="-128"/>
              </a:rPr>
              <a:t>実行計画策定</a:t>
            </a:r>
          </a:p>
        </p:txBody>
      </p:sp>
    </p:spTree>
    <p:extLst>
      <p:ext uri="{BB962C8B-B14F-4D97-AF65-F5344CB8AC3E}">
        <p14:creationId xmlns:p14="http://schemas.microsoft.com/office/powerpoint/2010/main" val="2203915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F155CA0-E888-4C24-ACA3-6C4D2A9C0BFF}"/>
              </a:ext>
            </a:extLst>
          </p:cNvPr>
          <p:cNvSpPr txBox="1">
            <a:spLocks/>
          </p:cNvSpPr>
          <p:nvPr/>
        </p:nvSpPr>
        <p:spPr>
          <a:xfrm>
            <a:off x="248235" y="135110"/>
            <a:ext cx="6390090"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t>５</a:t>
            </a:r>
            <a:r>
              <a:rPr lang="en-US" altLang="ja-JP" sz="2000"/>
              <a:t>. </a:t>
            </a:r>
            <a:r>
              <a:rPr lang="ja-JP" altLang="en-US" sz="2000"/>
              <a:t>推進アプローチについて</a:t>
            </a:r>
          </a:p>
        </p:txBody>
      </p:sp>
      <p:sp>
        <p:nvSpPr>
          <p:cNvPr id="9" name="テキスト プレースホルダー 5">
            <a:extLst>
              <a:ext uri="{FF2B5EF4-FFF2-40B4-BE49-F238E27FC236}">
                <a16:creationId xmlns:a16="http://schemas.microsoft.com/office/drawing/2014/main" id="{0CB4A7E7-2D9F-40A7-8563-B1FAC3C004FC}"/>
              </a:ext>
            </a:extLst>
          </p:cNvPr>
          <p:cNvSpPr>
            <a:spLocks noGrp="1"/>
          </p:cNvSpPr>
          <p:nvPr>
            <p:ph type="body" sz="quarter" idx="10"/>
          </p:nvPr>
        </p:nvSpPr>
        <p:spPr>
          <a:xfrm>
            <a:off x="204452" y="640409"/>
            <a:ext cx="8746594" cy="1419210"/>
          </a:xfrm>
          <a:solidFill>
            <a:schemeClr val="bg2">
              <a:lumMod val="40000"/>
              <a:lumOff val="60000"/>
            </a:schemeClr>
          </a:solidFill>
        </p:spPr>
        <p:txBody>
          <a:bodyPr/>
          <a:lstStyle/>
          <a:p>
            <a:pPr>
              <a:lnSpc>
                <a:spcPct val="100000"/>
              </a:lnSpc>
              <a:spcBef>
                <a:spcPts val="0"/>
              </a:spcBef>
            </a:pPr>
            <a:r>
              <a:rPr lang="ja-JP" altLang="en-US" sz="1650" b="1">
                <a:solidFill>
                  <a:srgbClr val="000000"/>
                </a:solidFill>
                <a:latin typeface="Meiryo UI"/>
                <a:ea typeface="Meiryo UI"/>
              </a:rPr>
              <a:t>プロジェクト全体における検討事項と落とし込み方（イメージ）</a:t>
            </a:r>
            <a:endParaRPr lang="en-US" altLang="ja-JP" sz="1650" b="1">
              <a:solidFill>
                <a:srgbClr val="000000"/>
              </a:solidFill>
              <a:latin typeface="Meiryo UI"/>
              <a:ea typeface="Meiryo UI"/>
            </a:endParaRPr>
          </a:p>
          <a:p>
            <a:pPr>
              <a:lnSpc>
                <a:spcPct val="100000"/>
              </a:lnSpc>
              <a:spcBef>
                <a:spcPts val="0"/>
              </a:spcBef>
            </a:pPr>
            <a:r>
              <a:rPr kumimoji="0" lang="ja-JP" altLang="en-US" kern="0">
                <a:solidFill>
                  <a:srgbClr val="000000"/>
                </a:solidFill>
                <a:latin typeface="メイリオ" panose="020B0604030504040204" pitchFamily="50" charset="-128"/>
                <a:ea typeface="メイリオ" panose="020B0604030504040204" pitchFamily="50" charset="-128"/>
              </a:rPr>
              <a:t>ターゲット顧客特定～ビジネスモデル再定義の流れ</a:t>
            </a:r>
            <a:endParaRPr lang="en-US" altLang="ja-JP" b="1">
              <a:solidFill>
                <a:srgbClr val="000000"/>
              </a:solidFill>
              <a:latin typeface="Meiryo UI"/>
              <a:ea typeface="Meiryo UI"/>
            </a:endParaRPr>
          </a:p>
          <a:p>
            <a:pPr marL="285750" indent="-285750">
              <a:lnSpc>
                <a:spcPct val="100000"/>
              </a:lnSpc>
              <a:spcBef>
                <a:spcPts val="0"/>
              </a:spcBef>
              <a:buFont typeface="Wingdings" panose="05000000000000000000" pitchFamily="2" charset="2"/>
              <a:buChar char="n"/>
            </a:pPr>
            <a:r>
              <a:rPr lang="ja-JP" altLang="en-US" sz="1400"/>
              <a:t>顧客分析を行い、顧客の顕在・潜在ニーズなど、顧客の求めることを仮置きし、</a:t>
            </a:r>
            <a:r>
              <a:rPr lang="en-US" altLang="ja-JP" sz="1400"/>
              <a:t>AS</a:t>
            </a:r>
            <a:r>
              <a:rPr lang="ja-JP" altLang="en-US" sz="1400"/>
              <a:t>事業推進における</a:t>
            </a:r>
            <a:br>
              <a:rPr lang="en-US" altLang="ja-JP" sz="1400"/>
            </a:br>
            <a:r>
              <a:rPr lang="ja-JP" altLang="en-US" sz="1400"/>
              <a:t>ターゲットの特定、ビジネスモデルを再定義する。</a:t>
            </a:r>
            <a:endParaRPr lang="en-US" altLang="ja-JP" sz="1400"/>
          </a:p>
          <a:p>
            <a:pPr marL="285750" indent="-285750">
              <a:lnSpc>
                <a:spcPct val="100000"/>
              </a:lnSpc>
              <a:spcBef>
                <a:spcPts val="0"/>
              </a:spcBef>
              <a:buFont typeface="Wingdings" panose="05000000000000000000" pitchFamily="2" charset="2"/>
              <a:buChar char="n"/>
            </a:pPr>
            <a:r>
              <a:rPr lang="ja-JP" altLang="en-US" sz="1400"/>
              <a:t>まず営業部を中心に顧客分析（ターゲット特定）する事で、変革すべき業務のポイント、</a:t>
            </a:r>
            <a:r>
              <a:rPr lang="en-US" altLang="ja-JP" sz="1400"/>
              <a:t>R&amp;D</a:t>
            </a:r>
            <a:r>
              <a:rPr lang="ja-JP" altLang="en-US" sz="1400"/>
              <a:t>計画の</a:t>
            </a:r>
            <a:br>
              <a:rPr lang="en-US" altLang="ja-JP" sz="1400"/>
            </a:br>
            <a:r>
              <a:rPr lang="ja-JP" altLang="en-US" sz="1400"/>
              <a:t>起点を構築する。</a:t>
            </a:r>
            <a:endParaRPr lang="en-US" altLang="ja-JP" sz="1400"/>
          </a:p>
          <a:p>
            <a:pPr marL="285750" indent="-285750">
              <a:lnSpc>
                <a:spcPct val="100000"/>
              </a:lnSpc>
              <a:spcBef>
                <a:spcPts val="0"/>
              </a:spcBef>
              <a:buFont typeface="Wingdings" panose="05000000000000000000" pitchFamily="2" charset="2"/>
              <a:buChar char="n"/>
            </a:pPr>
            <a:endParaRPr lang="ja-JP" altLang="en-US" sz="1400"/>
          </a:p>
        </p:txBody>
      </p:sp>
      <p:grpSp>
        <p:nvGrpSpPr>
          <p:cNvPr id="10" name="グループ化 9">
            <a:extLst>
              <a:ext uri="{FF2B5EF4-FFF2-40B4-BE49-F238E27FC236}">
                <a16:creationId xmlns:a16="http://schemas.microsoft.com/office/drawing/2014/main" id="{7ED6BB1C-C91C-4026-A227-2E8F1C969239}"/>
              </a:ext>
            </a:extLst>
          </p:cNvPr>
          <p:cNvGrpSpPr/>
          <p:nvPr/>
        </p:nvGrpSpPr>
        <p:grpSpPr>
          <a:xfrm>
            <a:off x="95008" y="2122679"/>
            <a:ext cx="6304085" cy="4279632"/>
            <a:chOff x="448125" y="1887795"/>
            <a:chExt cx="8235526" cy="4554917"/>
          </a:xfrm>
        </p:grpSpPr>
        <p:grpSp>
          <p:nvGrpSpPr>
            <p:cNvPr id="11" name="グループ化 10">
              <a:extLst>
                <a:ext uri="{FF2B5EF4-FFF2-40B4-BE49-F238E27FC236}">
                  <a16:creationId xmlns:a16="http://schemas.microsoft.com/office/drawing/2014/main" id="{9101641E-CDA7-4732-9A4A-01327F85576B}"/>
                </a:ext>
              </a:extLst>
            </p:cNvPr>
            <p:cNvGrpSpPr/>
            <p:nvPr/>
          </p:nvGrpSpPr>
          <p:grpSpPr>
            <a:xfrm>
              <a:off x="2694037" y="5624812"/>
              <a:ext cx="4906788" cy="451634"/>
              <a:chOff x="3084809" y="5472896"/>
              <a:chExt cx="5238005" cy="496797"/>
            </a:xfrm>
          </p:grpSpPr>
          <p:sp>
            <p:nvSpPr>
              <p:cNvPr id="28" name="正方形/長方形 27">
                <a:extLst>
                  <a:ext uri="{FF2B5EF4-FFF2-40B4-BE49-F238E27FC236}">
                    <a16:creationId xmlns:a16="http://schemas.microsoft.com/office/drawing/2014/main" id="{CB0214CB-DA5F-4B16-ACCD-C5EDC2192493}"/>
                  </a:ext>
                </a:extLst>
              </p:cNvPr>
              <p:cNvSpPr/>
              <p:nvPr/>
            </p:nvSpPr>
            <p:spPr>
              <a:xfrm>
                <a:off x="3084809" y="5472896"/>
                <a:ext cx="1727621" cy="496797"/>
              </a:xfrm>
              <a:prstGeom prst="rect">
                <a:avLst/>
              </a:prstGeom>
              <a:solidFill>
                <a:srgbClr val="EE1C25">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n-ea"/>
                    <a:cs typeface="Meiryo UI" panose="020B0604030504040204" pitchFamily="50" charset="-128"/>
                  </a:rPr>
                  <a:t>自働化</a:t>
                </a:r>
                <a:endParaRPr kumimoji="0" lang="en-US" altLang="ja-JP" sz="1200" b="1" i="0" u="none" strike="noStrike" kern="0" cap="none" spc="0" normalizeH="0" baseline="0" noProof="0">
                  <a:ln>
                    <a:noFill/>
                  </a:ln>
                  <a:solidFill>
                    <a:srgbClr val="595959"/>
                  </a:solidFill>
                  <a:effectLst/>
                  <a:uLnTx/>
                  <a:uFillTx/>
                  <a:latin typeface="+mn-ea"/>
                  <a:cs typeface="Meiryo UI" panose="020B0604030504040204" pitchFamily="50" charset="-128"/>
                </a:endParaRPr>
              </a:p>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n-ea"/>
                    <a:cs typeface="Meiryo UI" panose="020B0604030504040204" pitchFamily="50" charset="-128"/>
                  </a:rPr>
                  <a:t>省力化</a:t>
                </a:r>
              </a:p>
            </p:txBody>
          </p:sp>
          <p:sp>
            <p:nvSpPr>
              <p:cNvPr id="29" name="正方形/長方形 28">
                <a:extLst>
                  <a:ext uri="{FF2B5EF4-FFF2-40B4-BE49-F238E27FC236}">
                    <a16:creationId xmlns:a16="http://schemas.microsoft.com/office/drawing/2014/main" id="{43781D70-CDB3-4BB0-8AC7-377351F81A01}"/>
                  </a:ext>
                </a:extLst>
              </p:cNvPr>
              <p:cNvSpPr/>
              <p:nvPr/>
            </p:nvSpPr>
            <p:spPr>
              <a:xfrm>
                <a:off x="6595193" y="5472896"/>
                <a:ext cx="1727621" cy="496797"/>
              </a:xfrm>
              <a:prstGeom prst="rect">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n-ea"/>
                    <a:cs typeface="Meiryo UI" panose="020B0604030504040204" pitchFamily="50" charset="-128"/>
                  </a:rPr>
                  <a:t>・・・</a:t>
                </a:r>
              </a:p>
            </p:txBody>
          </p:sp>
          <p:sp>
            <p:nvSpPr>
              <p:cNvPr id="30" name="正方形/長方形 29">
                <a:extLst>
                  <a:ext uri="{FF2B5EF4-FFF2-40B4-BE49-F238E27FC236}">
                    <a16:creationId xmlns:a16="http://schemas.microsoft.com/office/drawing/2014/main" id="{F4C0A673-3BE8-470E-9288-410D1105B943}"/>
                  </a:ext>
                </a:extLst>
              </p:cNvPr>
              <p:cNvSpPr/>
              <p:nvPr/>
            </p:nvSpPr>
            <p:spPr>
              <a:xfrm>
                <a:off x="4840001" y="5472896"/>
                <a:ext cx="1727621" cy="496797"/>
              </a:xfrm>
              <a:prstGeom prst="rect">
                <a:avLst/>
              </a:prstGeom>
              <a:solidFill>
                <a:srgbClr val="EE1C25">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n-ea"/>
                    <a:cs typeface="Meiryo UI" panose="020B0604030504040204" pitchFamily="50" charset="-128"/>
                  </a:rPr>
                  <a:t>設備の高稼働と稼働の維持</a:t>
                </a:r>
                <a:endParaRPr kumimoji="0" lang="en-US" altLang="ja-JP" sz="1200" b="1" i="0" u="none" strike="noStrike" kern="0" cap="none" spc="0" normalizeH="0" baseline="0" noProof="0">
                  <a:ln>
                    <a:noFill/>
                  </a:ln>
                  <a:solidFill>
                    <a:srgbClr val="595959"/>
                  </a:solidFill>
                  <a:effectLst/>
                  <a:uLnTx/>
                  <a:uFillTx/>
                  <a:latin typeface="+mn-ea"/>
                  <a:cs typeface="Meiryo UI" panose="020B0604030504040204" pitchFamily="50" charset="-128"/>
                </a:endParaRPr>
              </a:p>
            </p:txBody>
          </p:sp>
        </p:grpSp>
        <p:cxnSp>
          <p:nvCxnSpPr>
            <p:cNvPr id="12" name="直線矢印コネクタ 11">
              <a:extLst>
                <a:ext uri="{FF2B5EF4-FFF2-40B4-BE49-F238E27FC236}">
                  <a16:creationId xmlns:a16="http://schemas.microsoft.com/office/drawing/2014/main" id="{67CDE219-8AAB-46BF-9AF3-84DEDF468FAC}"/>
                </a:ext>
              </a:extLst>
            </p:cNvPr>
            <p:cNvCxnSpPr/>
            <p:nvPr/>
          </p:nvCxnSpPr>
          <p:spPr>
            <a:xfrm flipV="1">
              <a:off x="2647147" y="2074085"/>
              <a:ext cx="0" cy="3495900"/>
            </a:xfrm>
            <a:prstGeom prst="straightConnector1">
              <a:avLst/>
            </a:prstGeom>
            <a:noFill/>
            <a:ln w="31750" cap="flat" cmpd="sng" algn="ctr">
              <a:solidFill>
                <a:schemeClr val="accent1"/>
              </a:solidFill>
              <a:prstDash val="solid"/>
              <a:miter lim="800000"/>
              <a:headEnd type="none"/>
              <a:tailEnd type="arrow"/>
            </a:ln>
            <a:effectLst/>
          </p:spPr>
        </p:cxnSp>
        <p:cxnSp>
          <p:nvCxnSpPr>
            <p:cNvPr id="13" name="直線矢印コネクタ 12">
              <a:extLst>
                <a:ext uri="{FF2B5EF4-FFF2-40B4-BE49-F238E27FC236}">
                  <a16:creationId xmlns:a16="http://schemas.microsoft.com/office/drawing/2014/main" id="{4E487E22-0592-4EB5-AD5A-EC7106A177B6}"/>
                </a:ext>
              </a:extLst>
            </p:cNvPr>
            <p:cNvCxnSpPr>
              <a:cxnSpLocks/>
            </p:cNvCxnSpPr>
            <p:nvPr/>
          </p:nvCxnSpPr>
          <p:spPr>
            <a:xfrm>
              <a:off x="2635888" y="5569985"/>
              <a:ext cx="4990765" cy="0"/>
            </a:xfrm>
            <a:prstGeom prst="straightConnector1">
              <a:avLst/>
            </a:prstGeom>
            <a:noFill/>
            <a:ln w="31750" cap="flat" cmpd="sng" algn="ctr">
              <a:solidFill>
                <a:schemeClr val="accent1"/>
              </a:solidFill>
              <a:prstDash val="solid"/>
              <a:miter lim="800000"/>
              <a:headEnd type="none"/>
              <a:tailEnd type="arrow"/>
            </a:ln>
            <a:effectLst/>
          </p:spPr>
        </p:cxnSp>
        <p:sp>
          <p:nvSpPr>
            <p:cNvPr id="14" name="テキスト ボックス 13">
              <a:extLst>
                <a:ext uri="{FF2B5EF4-FFF2-40B4-BE49-F238E27FC236}">
                  <a16:creationId xmlns:a16="http://schemas.microsoft.com/office/drawing/2014/main" id="{9A3BB1F3-FD72-434C-9C5E-E7AF1A58CF86}"/>
                </a:ext>
              </a:extLst>
            </p:cNvPr>
            <p:cNvSpPr txBox="1"/>
            <p:nvPr/>
          </p:nvSpPr>
          <p:spPr>
            <a:xfrm>
              <a:off x="1789967" y="6115138"/>
              <a:ext cx="6893684" cy="32757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sng" strike="noStrike" kern="0" cap="none" spc="0" normalizeH="0" baseline="0" noProof="0">
                  <a:ln>
                    <a:noFill/>
                  </a:ln>
                  <a:solidFill>
                    <a:srgbClr val="595959"/>
                  </a:solidFill>
                  <a:effectLst/>
                  <a:uLnTx/>
                  <a:uFillTx/>
                  <a:latin typeface="+mn-ea"/>
                </a:rPr>
                <a:t>お客様から求められている事（お客様のニーズ）</a:t>
              </a:r>
            </a:p>
          </p:txBody>
        </p:sp>
        <p:sp>
          <p:nvSpPr>
            <p:cNvPr id="15" name="テキスト ボックス 14">
              <a:extLst>
                <a:ext uri="{FF2B5EF4-FFF2-40B4-BE49-F238E27FC236}">
                  <a16:creationId xmlns:a16="http://schemas.microsoft.com/office/drawing/2014/main" id="{06CF923F-6436-404B-B019-3F98DE0AD5F0}"/>
                </a:ext>
              </a:extLst>
            </p:cNvPr>
            <p:cNvSpPr txBox="1"/>
            <p:nvPr/>
          </p:nvSpPr>
          <p:spPr>
            <a:xfrm>
              <a:off x="448125" y="1887795"/>
              <a:ext cx="511729" cy="3682190"/>
            </a:xfrm>
            <a:prstGeom prst="rect">
              <a:avLst/>
            </a:prstGeom>
            <a:noFill/>
          </p:spPr>
          <p:txBody>
            <a:bodyPr vert="eaVert"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srgbClr val="595959"/>
                  </a:solidFill>
                  <a:effectLst/>
                  <a:uLnTx/>
                  <a:uFillTx/>
                  <a:latin typeface="+mn-ea"/>
                </a:rPr>
                <a:t>切り口（分類）</a:t>
              </a:r>
            </a:p>
          </p:txBody>
        </p:sp>
        <p:sp>
          <p:nvSpPr>
            <p:cNvPr id="16" name="角丸四角形 16">
              <a:extLst>
                <a:ext uri="{FF2B5EF4-FFF2-40B4-BE49-F238E27FC236}">
                  <a16:creationId xmlns:a16="http://schemas.microsoft.com/office/drawing/2014/main" id="{B52F83F4-4567-4391-AE82-D343D5562924}"/>
                </a:ext>
              </a:extLst>
            </p:cNvPr>
            <p:cNvSpPr/>
            <p:nvPr/>
          </p:nvSpPr>
          <p:spPr>
            <a:xfrm>
              <a:off x="1003531" y="2054866"/>
              <a:ext cx="1533281" cy="691930"/>
            </a:xfrm>
            <a:prstGeom prst="roundRect">
              <a:avLst>
                <a:gd name="adj" fmla="val 6731"/>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XX</a:t>
              </a:r>
            </a:p>
          </p:txBody>
        </p:sp>
        <p:sp>
          <p:nvSpPr>
            <p:cNvPr id="17" name="角丸四角形 17">
              <a:extLst>
                <a:ext uri="{FF2B5EF4-FFF2-40B4-BE49-F238E27FC236}">
                  <a16:creationId xmlns:a16="http://schemas.microsoft.com/office/drawing/2014/main" id="{97119A49-24B7-4EC9-B802-03F52BE2889C}"/>
                </a:ext>
              </a:extLst>
            </p:cNvPr>
            <p:cNvSpPr/>
            <p:nvPr/>
          </p:nvSpPr>
          <p:spPr>
            <a:xfrm>
              <a:off x="1003531" y="4143830"/>
              <a:ext cx="1533281" cy="691930"/>
            </a:xfrm>
            <a:prstGeom prst="roundRect">
              <a:avLst>
                <a:gd name="adj" fmla="val 8860"/>
              </a:avLst>
            </a:prstGeom>
            <a:solidFill>
              <a:srgbClr val="045890">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XX</a:t>
              </a:r>
              <a:endParaRPr kumimoji="0" lang="ja-JP" altLang="en-US" sz="1400" b="1" i="0" u="none" strike="noStrike" kern="0" cap="none" spc="0" normalizeH="0" baseline="0" noProof="0">
                <a:ln>
                  <a:noFill/>
                </a:ln>
                <a:solidFill>
                  <a:srgbClr val="595959"/>
                </a:solidFill>
                <a:effectLst/>
                <a:uLnTx/>
                <a:uFillTx/>
                <a:latin typeface="+mn-ea"/>
                <a:cs typeface="Meiryo UI" panose="020B0604030504040204" pitchFamily="50" charset="-128"/>
              </a:endParaRPr>
            </a:p>
          </p:txBody>
        </p:sp>
        <p:sp>
          <p:nvSpPr>
            <p:cNvPr id="18" name="角丸四角形 18">
              <a:extLst>
                <a:ext uri="{FF2B5EF4-FFF2-40B4-BE49-F238E27FC236}">
                  <a16:creationId xmlns:a16="http://schemas.microsoft.com/office/drawing/2014/main" id="{C26DD603-468F-4EE5-96EB-CA22FFE978FF}"/>
                </a:ext>
              </a:extLst>
            </p:cNvPr>
            <p:cNvSpPr/>
            <p:nvPr/>
          </p:nvSpPr>
          <p:spPr>
            <a:xfrm>
              <a:off x="1003531" y="2746797"/>
              <a:ext cx="1533281" cy="691930"/>
            </a:xfrm>
            <a:prstGeom prst="roundRect">
              <a:avLst>
                <a:gd name="adj" fmla="val 3184"/>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XX</a:t>
              </a:r>
            </a:p>
          </p:txBody>
        </p:sp>
        <p:sp>
          <p:nvSpPr>
            <p:cNvPr id="19" name="角丸四角形 33">
              <a:extLst>
                <a:ext uri="{FF2B5EF4-FFF2-40B4-BE49-F238E27FC236}">
                  <a16:creationId xmlns:a16="http://schemas.microsoft.com/office/drawing/2014/main" id="{EC8F5316-E172-46EE-AC47-722F97911934}"/>
                </a:ext>
              </a:extLst>
            </p:cNvPr>
            <p:cNvSpPr/>
            <p:nvPr/>
          </p:nvSpPr>
          <p:spPr>
            <a:xfrm>
              <a:off x="1003531" y="3444071"/>
              <a:ext cx="1533281" cy="691930"/>
            </a:xfrm>
            <a:prstGeom prst="roundRect">
              <a:avLst>
                <a:gd name="adj" fmla="val 6731"/>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XX</a:t>
              </a:r>
            </a:p>
          </p:txBody>
        </p:sp>
        <p:sp>
          <p:nvSpPr>
            <p:cNvPr id="20" name="角丸四角形 34">
              <a:extLst>
                <a:ext uri="{FF2B5EF4-FFF2-40B4-BE49-F238E27FC236}">
                  <a16:creationId xmlns:a16="http://schemas.microsoft.com/office/drawing/2014/main" id="{0D2B022D-9F88-498D-8685-695B23634EAC}"/>
                </a:ext>
              </a:extLst>
            </p:cNvPr>
            <p:cNvSpPr/>
            <p:nvPr/>
          </p:nvSpPr>
          <p:spPr>
            <a:xfrm>
              <a:off x="1003531" y="4847151"/>
              <a:ext cx="1533281" cy="691930"/>
            </a:xfrm>
            <a:prstGeom prst="roundRect">
              <a:avLst>
                <a:gd name="adj" fmla="val 3184"/>
              </a:avLst>
            </a:prstGeom>
            <a:solidFill>
              <a:srgbClr val="045890">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XX</a:t>
              </a:r>
            </a:p>
          </p:txBody>
        </p:sp>
        <p:cxnSp>
          <p:nvCxnSpPr>
            <p:cNvPr id="21" name="直線コネクタ 20">
              <a:extLst>
                <a:ext uri="{FF2B5EF4-FFF2-40B4-BE49-F238E27FC236}">
                  <a16:creationId xmlns:a16="http://schemas.microsoft.com/office/drawing/2014/main" id="{70CFCB61-ECA2-4CF0-9D69-BF855141E660}"/>
                </a:ext>
              </a:extLst>
            </p:cNvPr>
            <p:cNvCxnSpPr/>
            <p:nvPr/>
          </p:nvCxnSpPr>
          <p:spPr>
            <a:xfrm flipV="1">
              <a:off x="4338242" y="2122220"/>
              <a:ext cx="0" cy="3383756"/>
            </a:xfrm>
            <a:prstGeom prst="line">
              <a:avLst/>
            </a:prstGeom>
            <a:noFill/>
            <a:ln w="6350" cap="flat" cmpd="sng" algn="ctr">
              <a:solidFill>
                <a:srgbClr val="FFFFFF">
                  <a:lumMod val="50000"/>
                </a:srgbClr>
              </a:solidFill>
              <a:prstDash val="sysDash"/>
              <a:miter lim="800000"/>
            </a:ln>
            <a:effectLst/>
          </p:spPr>
        </p:cxnSp>
        <p:cxnSp>
          <p:nvCxnSpPr>
            <p:cNvPr id="22" name="直線コネクタ 21">
              <a:extLst>
                <a:ext uri="{FF2B5EF4-FFF2-40B4-BE49-F238E27FC236}">
                  <a16:creationId xmlns:a16="http://schemas.microsoft.com/office/drawing/2014/main" id="{1C1B59F5-44FD-44EA-BE6F-5B3803C3BB58}"/>
                </a:ext>
              </a:extLst>
            </p:cNvPr>
            <p:cNvCxnSpPr/>
            <p:nvPr/>
          </p:nvCxnSpPr>
          <p:spPr>
            <a:xfrm flipV="1">
              <a:off x="5982448" y="2074085"/>
              <a:ext cx="0" cy="3424039"/>
            </a:xfrm>
            <a:prstGeom prst="line">
              <a:avLst/>
            </a:prstGeom>
            <a:noFill/>
            <a:ln w="6350" cap="flat" cmpd="sng" algn="ctr">
              <a:solidFill>
                <a:srgbClr val="FFFFFF">
                  <a:lumMod val="50000"/>
                </a:srgbClr>
              </a:solidFill>
              <a:prstDash val="sysDash"/>
              <a:miter lim="800000"/>
            </a:ln>
            <a:effectLst/>
          </p:spPr>
        </p:cxnSp>
        <p:sp>
          <p:nvSpPr>
            <p:cNvPr id="24" name="角丸四角形 49">
              <a:extLst>
                <a:ext uri="{FF2B5EF4-FFF2-40B4-BE49-F238E27FC236}">
                  <a16:creationId xmlns:a16="http://schemas.microsoft.com/office/drawing/2014/main" id="{67D4CF8C-6D32-4A35-97A6-44C815A45B4C}"/>
                </a:ext>
              </a:extLst>
            </p:cNvPr>
            <p:cNvSpPr/>
            <p:nvPr/>
          </p:nvSpPr>
          <p:spPr>
            <a:xfrm>
              <a:off x="2728820" y="2138668"/>
              <a:ext cx="3428783" cy="3367308"/>
            </a:xfrm>
            <a:prstGeom prst="roundRect">
              <a:avLst>
                <a:gd name="adj" fmla="val 4317"/>
              </a:avLst>
            </a:prstGeom>
            <a:solidFill>
              <a:srgbClr val="EFF9FF"/>
            </a:solidFill>
            <a:ln w="19050" cap="flat" cmpd="sng" algn="ctr">
              <a:solidFill>
                <a:srgbClr val="045890">
                  <a:lumMod val="20000"/>
                  <a:lumOff val="80000"/>
                </a:srgbClr>
              </a:solidFill>
              <a:prstDash val="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srgbClr val="000000"/>
                  </a:solidFill>
                  <a:effectLst/>
                  <a:uLnTx/>
                  <a:uFillTx/>
                  <a:latin typeface="+mn-ea"/>
                </a:rPr>
                <a:t>導入設備・規模</a:t>
              </a:r>
              <a:endParaRPr kumimoji="0" lang="en-US" altLang="ja-JP" sz="1600" b="1" i="0" u="none" strike="noStrike" kern="0" cap="none" spc="0" normalizeH="0" baseline="0" noProof="0">
                <a:ln>
                  <a:noFill/>
                </a:ln>
                <a:solidFill>
                  <a:srgbClr val="000000"/>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600" b="1" i="0" u="none" strike="noStrike" kern="0" cap="none" spc="0" normalizeH="0" baseline="0" noProof="0">
                  <a:ln>
                    <a:noFill/>
                  </a:ln>
                  <a:solidFill>
                    <a:srgbClr val="000000"/>
                  </a:solidFill>
                  <a:effectLst/>
                  <a:uLnTx/>
                  <a:uFillTx/>
                  <a:latin typeface="+mn-ea"/>
                </a:rPr>
                <a:t>Best</a:t>
              </a:r>
              <a:r>
                <a:rPr kumimoji="0" lang="ja-JP" altLang="en-US" sz="1600" b="1" i="0" u="none" strike="noStrike" kern="0" cap="none" spc="0" normalizeH="0" baseline="0" noProof="0">
                  <a:ln>
                    <a:noFill/>
                  </a:ln>
                  <a:solidFill>
                    <a:srgbClr val="000000"/>
                  </a:solidFill>
                  <a:effectLst/>
                  <a:uLnTx/>
                  <a:uFillTx/>
                  <a:latin typeface="+mn-ea"/>
                </a:rPr>
                <a:t>ケース</a:t>
              </a:r>
              <a:endParaRPr kumimoji="0" lang="en-US" altLang="ja-JP" sz="1600" b="1" i="0" u="none" strike="noStrike" kern="0" cap="none" spc="0" normalizeH="0" baseline="0" noProof="0">
                <a:ln>
                  <a:noFill/>
                </a:ln>
                <a:solidFill>
                  <a:srgbClr val="000000"/>
                </a:solidFill>
                <a:effectLst/>
                <a:uLnTx/>
                <a:uFillTx/>
                <a:latin typeface="+mn-ea"/>
              </a:endParaRPr>
            </a:p>
          </p:txBody>
        </p:sp>
        <p:sp>
          <p:nvSpPr>
            <p:cNvPr id="25" name="角丸四角形 49">
              <a:extLst>
                <a:ext uri="{FF2B5EF4-FFF2-40B4-BE49-F238E27FC236}">
                  <a16:creationId xmlns:a16="http://schemas.microsoft.com/office/drawing/2014/main" id="{EAA5A22A-C1E5-4235-8403-CC35EE37EB2E}"/>
                </a:ext>
              </a:extLst>
            </p:cNvPr>
            <p:cNvSpPr/>
            <p:nvPr/>
          </p:nvSpPr>
          <p:spPr>
            <a:xfrm>
              <a:off x="2816724" y="2746798"/>
              <a:ext cx="2915216" cy="2707541"/>
            </a:xfrm>
            <a:prstGeom prst="roundRect">
              <a:avLst>
                <a:gd name="adj" fmla="val 4317"/>
              </a:avLst>
            </a:prstGeom>
            <a:solidFill>
              <a:srgbClr val="EE1C25">
                <a:lumMod val="20000"/>
                <a:lumOff val="80000"/>
              </a:srgbClr>
            </a:solidFill>
            <a:ln w="19050" cap="flat" cmpd="sng" algn="ctr">
              <a:solidFill>
                <a:srgbClr val="EE1C25"/>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600" b="1" i="0" u="none" strike="noStrike" kern="0" cap="none" spc="0" normalizeH="0" baseline="0" noProof="0">
                  <a:ln>
                    <a:noFill/>
                  </a:ln>
                  <a:solidFill>
                    <a:srgbClr val="000000"/>
                  </a:solidFill>
                  <a:effectLst/>
                  <a:uLnTx/>
                  <a:uFillTx/>
                  <a:latin typeface="+mn-ea"/>
                </a:rPr>
                <a:t>Most</a:t>
              </a:r>
              <a:r>
                <a:rPr kumimoji="0" lang="ja-JP" altLang="en-US" sz="1600" b="1" i="0" u="none" strike="noStrike" kern="0" cap="none" spc="0" normalizeH="0" baseline="0" noProof="0">
                  <a:ln>
                    <a:noFill/>
                  </a:ln>
                  <a:solidFill>
                    <a:srgbClr val="000000"/>
                  </a:solidFill>
                  <a:effectLst/>
                  <a:uLnTx/>
                  <a:uFillTx/>
                  <a:latin typeface="+mn-ea"/>
                </a:rPr>
                <a:t>ケース</a:t>
              </a:r>
              <a:endParaRPr kumimoji="0" lang="en-US" altLang="ja-JP" sz="1600" b="1" i="0" u="none" strike="noStrike" kern="0" cap="none" spc="0" normalizeH="0" baseline="0" noProof="0">
                <a:ln>
                  <a:noFill/>
                </a:ln>
                <a:solidFill>
                  <a:srgbClr val="000000"/>
                </a:solidFill>
                <a:effectLst/>
                <a:uLnTx/>
                <a:uFillTx/>
                <a:latin typeface="+mn-ea"/>
              </a:endParaRPr>
            </a:p>
          </p:txBody>
        </p:sp>
        <p:sp>
          <p:nvSpPr>
            <p:cNvPr id="27" name="角丸四角形 49">
              <a:extLst>
                <a:ext uri="{FF2B5EF4-FFF2-40B4-BE49-F238E27FC236}">
                  <a16:creationId xmlns:a16="http://schemas.microsoft.com/office/drawing/2014/main" id="{5B09F712-27B8-4BE8-BA0D-4BD966CFE130}"/>
                </a:ext>
              </a:extLst>
            </p:cNvPr>
            <p:cNvSpPr/>
            <p:nvPr/>
          </p:nvSpPr>
          <p:spPr>
            <a:xfrm>
              <a:off x="2914111" y="4269895"/>
              <a:ext cx="2710347" cy="1096075"/>
            </a:xfrm>
            <a:prstGeom prst="roundRect">
              <a:avLst>
                <a:gd name="adj" fmla="val 4317"/>
              </a:avLst>
            </a:prstGeom>
            <a:solidFill>
              <a:srgbClr val="FFFFFF"/>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600" b="1" i="0" u="none" strike="noStrike" kern="0" cap="none" spc="0" normalizeH="0" baseline="0" noProof="0">
                  <a:ln>
                    <a:noFill/>
                  </a:ln>
                  <a:solidFill>
                    <a:srgbClr val="000000"/>
                  </a:solidFill>
                  <a:effectLst/>
                  <a:uLnTx/>
                  <a:uFillTx/>
                  <a:latin typeface="+mn-ea"/>
                </a:rPr>
                <a:t>worst</a:t>
              </a:r>
              <a:r>
                <a:rPr kumimoji="0" lang="ja-JP" altLang="en-US" sz="1600" b="1" i="0" u="none" strike="noStrike" kern="0" cap="none" spc="0" normalizeH="0" baseline="0" noProof="0">
                  <a:ln>
                    <a:noFill/>
                  </a:ln>
                  <a:solidFill>
                    <a:srgbClr val="000000"/>
                  </a:solidFill>
                  <a:effectLst/>
                  <a:uLnTx/>
                  <a:uFillTx/>
                  <a:latin typeface="+mn-ea"/>
                </a:rPr>
                <a:t>ケース</a:t>
              </a:r>
              <a:endParaRPr kumimoji="0" lang="en-US" altLang="ja-JP" sz="1600" b="1" i="0" u="none" strike="noStrike" kern="0" cap="none" spc="0" normalizeH="0" baseline="0" noProof="0">
                <a:ln>
                  <a:noFill/>
                </a:ln>
                <a:solidFill>
                  <a:srgbClr val="000000"/>
                </a:solidFill>
                <a:effectLst/>
                <a:uLnTx/>
                <a:uFillTx/>
                <a:latin typeface="+mn-ea"/>
              </a:endParaRPr>
            </a:p>
          </p:txBody>
        </p:sp>
      </p:grpSp>
      <p:graphicFrame>
        <p:nvGraphicFramePr>
          <p:cNvPr id="31" name="表 27">
            <a:extLst>
              <a:ext uri="{FF2B5EF4-FFF2-40B4-BE49-F238E27FC236}">
                <a16:creationId xmlns:a16="http://schemas.microsoft.com/office/drawing/2014/main" id="{33DFF4A6-6D4D-414C-8042-3EB9C4BC89FF}"/>
              </a:ext>
            </a:extLst>
          </p:cNvPr>
          <p:cNvGraphicFramePr>
            <a:graphicFrameLocks noGrp="1"/>
          </p:cNvGraphicFramePr>
          <p:nvPr>
            <p:extLst>
              <p:ext uri="{D42A27DB-BD31-4B8C-83A1-F6EECF244321}">
                <p14:modId xmlns:p14="http://schemas.microsoft.com/office/powerpoint/2010/main" val="1045605404"/>
              </p:ext>
            </p:extLst>
          </p:nvPr>
        </p:nvGraphicFramePr>
        <p:xfrm>
          <a:off x="4879673" y="2558230"/>
          <a:ext cx="4112311" cy="2832414"/>
        </p:xfrm>
        <a:graphic>
          <a:graphicData uri="http://schemas.openxmlformats.org/drawingml/2006/table">
            <a:tbl>
              <a:tblPr firstRow="1" bandRow="1"/>
              <a:tblGrid>
                <a:gridCol w="939927">
                  <a:extLst>
                    <a:ext uri="{9D8B030D-6E8A-4147-A177-3AD203B41FA5}">
                      <a16:colId xmlns:a16="http://schemas.microsoft.com/office/drawing/2014/main" val="2660763549"/>
                    </a:ext>
                  </a:extLst>
                </a:gridCol>
                <a:gridCol w="766736">
                  <a:extLst>
                    <a:ext uri="{9D8B030D-6E8A-4147-A177-3AD203B41FA5}">
                      <a16:colId xmlns:a16="http://schemas.microsoft.com/office/drawing/2014/main" val="3508034318"/>
                    </a:ext>
                  </a:extLst>
                </a:gridCol>
                <a:gridCol w="766736">
                  <a:extLst>
                    <a:ext uri="{9D8B030D-6E8A-4147-A177-3AD203B41FA5}">
                      <a16:colId xmlns:a16="http://schemas.microsoft.com/office/drawing/2014/main" val="407129344"/>
                    </a:ext>
                  </a:extLst>
                </a:gridCol>
                <a:gridCol w="686094">
                  <a:extLst>
                    <a:ext uri="{9D8B030D-6E8A-4147-A177-3AD203B41FA5}">
                      <a16:colId xmlns:a16="http://schemas.microsoft.com/office/drawing/2014/main" val="2714907298"/>
                    </a:ext>
                  </a:extLst>
                </a:gridCol>
                <a:gridCol w="952818">
                  <a:extLst>
                    <a:ext uri="{9D8B030D-6E8A-4147-A177-3AD203B41FA5}">
                      <a16:colId xmlns:a16="http://schemas.microsoft.com/office/drawing/2014/main" val="259708145"/>
                    </a:ext>
                  </a:extLst>
                </a:gridCol>
              </a:tblGrid>
              <a:tr h="472462">
                <a:tc rowSpan="2">
                  <a:txBody>
                    <a:bodyPr/>
                    <a:lstStyle>
                      <a:lvl1pPr marL="0" algn="l" defTabSz="609555" rtl="0" eaLnBrk="1" latinLnBrk="0" hangingPunct="1">
                        <a:defRPr kumimoji="1" sz="2400" b="1" kern="1200">
                          <a:solidFill>
                            <a:schemeClr val="lt1"/>
                          </a:solidFill>
                          <a:latin typeface="游ゴシック Medium"/>
                          <a:ea typeface="游ゴシック Medium"/>
                        </a:defRPr>
                      </a:lvl1pPr>
                      <a:lvl2pPr marL="609555" algn="l" defTabSz="609555" rtl="0" eaLnBrk="1" latinLnBrk="0" hangingPunct="1">
                        <a:defRPr kumimoji="1" sz="2400" b="1" kern="1200">
                          <a:solidFill>
                            <a:schemeClr val="lt1"/>
                          </a:solidFill>
                          <a:latin typeface="游ゴシック Medium"/>
                          <a:ea typeface="游ゴシック Medium"/>
                        </a:defRPr>
                      </a:lvl2pPr>
                      <a:lvl3pPr marL="1219110" algn="l" defTabSz="609555" rtl="0" eaLnBrk="1" latinLnBrk="0" hangingPunct="1">
                        <a:defRPr kumimoji="1" sz="2400" b="1" kern="1200">
                          <a:solidFill>
                            <a:schemeClr val="lt1"/>
                          </a:solidFill>
                          <a:latin typeface="游ゴシック Medium"/>
                          <a:ea typeface="游ゴシック Medium"/>
                        </a:defRPr>
                      </a:lvl3pPr>
                      <a:lvl4pPr marL="1828664" algn="l" defTabSz="609555" rtl="0" eaLnBrk="1" latinLnBrk="0" hangingPunct="1">
                        <a:defRPr kumimoji="1" sz="2400" b="1" kern="1200">
                          <a:solidFill>
                            <a:schemeClr val="lt1"/>
                          </a:solidFill>
                          <a:latin typeface="游ゴシック Medium"/>
                          <a:ea typeface="游ゴシック Medium"/>
                        </a:defRPr>
                      </a:lvl4pPr>
                      <a:lvl5pPr marL="2438218" algn="l" defTabSz="609555" rtl="0" eaLnBrk="1" latinLnBrk="0" hangingPunct="1">
                        <a:defRPr kumimoji="1" sz="2400" b="1" kern="1200">
                          <a:solidFill>
                            <a:schemeClr val="lt1"/>
                          </a:solidFill>
                          <a:latin typeface="游ゴシック Medium"/>
                          <a:ea typeface="游ゴシック Medium"/>
                        </a:defRPr>
                      </a:lvl5pPr>
                      <a:lvl6pPr marL="3047772" algn="l" defTabSz="609555" rtl="0" eaLnBrk="1" latinLnBrk="0" hangingPunct="1">
                        <a:defRPr kumimoji="1" sz="2400" b="1" kern="1200">
                          <a:solidFill>
                            <a:schemeClr val="lt1"/>
                          </a:solidFill>
                          <a:latin typeface="游ゴシック Medium"/>
                          <a:ea typeface="游ゴシック Medium"/>
                        </a:defRPr>
                      </a:lvl6pPr>
                      <a:lvl7pPr marL="3657327" algn="l" defTabSz="609555" rtl="0" eaLnBrk="1" latinLnBrk="0" hangingPunct="1">
                        <a:defRPr kumimoji="1" sz="2400" b="1" kern="1200">
                          <a:solidFill>
                            <a:schemeClr val="lt1"/>
                          </a:solidFill>
                          <a:latin typeface="游ゴシック Medium"/>
                          <a:ea typeface="游ゴシック Medium"/>
                        </a:defRPr>
                      </a:lvl7pPr>
                      <a:lvl8pPr marL="4266880" algn="l" defTabSz="609555" rtl="0" eaLnBrk="1" latinLnBrk="0" hangingPunct="1">
                        <a:defRPr kumimoji="1" sz="2400" b="1" kern="1200">
                          <a:solidFill>
                            <a:schemeClr val="lt1"/>
                          </a:solidFill>
                          <a:latin typeface="游ゴシック Medium"/>
                          <a:ea typeface="游ゴシック Medium"/>
                        </a:defRPr>
                      </a:lvl8pPr>
                      <a:lvl9pPr marL="4876435" algn="l" defTabSz="609555" rtl="0" eaLnBrk="1" latinLnBrk="0" hangingPunct="1">
                        <a:defRPr kumimoji="1" sz="2400" b="1" kern="1200">
                          <a:solidFill>
                            <a:schemeClr val="lt1"/>
                          </a:solidFill>
                          <a:latin typeface="游ゴシック Medium"/>
                          <a:ea typeface="游ゴシック Medium"/>
                        </a:defRPr>
                      </a:lvl9pPr>
                    </a:lstStyle>
                    <a:p>
                      <a:pPr algn="ctr"/>
                      <a:r>
                        <a:rPr kumimoji="1" lang="ja-JP" altLang="en-US" sz="1400">
                          <a:solidFill>
                            <a:schemeClr val="tx1"/>
                          </a:solidFill>
                          <a:latin typeface="Meiryo UI" panose="020B0604030504040204" pitchFamily="50" charset="-128"/>
                          <a:ea typeface="Meiryo UI" panose="020B0604030504040204" pitchFamily="50" charset="-128"/>
                        </a:rPr>
                        <a:t>説明</a:t>
                      </a: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gridSpan="3">
                  <a:txBody>
                    <a:bodyPr/>
                    <a:lstStyle>
                      <a:lvl1pPr marL="0" algn="l" defTabSz="609555" rtl="0" eaLnBrk="1" latinLnBrk="0" hangingPunct="1">
                        <a:defRPr kumimoji="1" sz="2400" b="1" kern="1200">
                          <a:solidFill>
                            <a:schemeClr val="lt1"/>
                          </a:solidFill>
                          <a:latin typeface="游ゴシック Medium"/>
                          <a:ea typeface="游ゴシック Medium"/>
                        </a:defRPr>
                      </a:lvl1pPr>
                      <a:lvl2pPr marL="609555" algn="l" defTabSz="609555" rtl="0" eaLnBrk="1" latinLnBrk="0" hangingPunct="1">
                        <a:defRPr kumimoji="1" sz="2400" b="1" kern="1200">
                          <a:solidFill>
                            <a:schemeClr val="lt1"/>
                          </a:solidFill>
                          <a:latin typeface="游ゴシック Medium"/>
                          <a:ea typeface="游ゴシック Medium"/>
                        </a:defRPr>
                      </a:lvl2pPr>
                      <a:lvl3pPr marL="1219110" algn="l" defTabSz="609555" rtl="0" eaLnBrk="1" latinLnBrk="0" hangingPunct="1">
                        <a:defRPr kumimoji="1" sz="2400" b="1" kern="1200">
                          <a:solidFill>
                            <a:schemeClr val="lt1"/>
                          </a:solidFill>
                          <a:latin typeface="游ゴシック Medium"/>
                          <a:ea typeface="游ゴシック Medium"/>
                        </a:defRPr>
                      </a:lvl3pPr>
                      <a:lvl4pPr marL="1828664" algn="l" defTabSz="609555" rtl="0" eaLnBrk="1" latinLnBrk="0" hangingPunct="1">
                        <a:defRPr kumimoji="1" sz="2400" b="1" kern="1200">
                          <a:solidFill>
                            <a:schemeClr val="lt1"/>
                          </a:solidFill>
                          <a:latin typeface="游ゴシック Medium"/>
                          <a:ea typeface="游ゴシック Medium"/>
                        </a:defRPr>
                      </a:lvl4pPr>
                      <a:lvl5pPr marL="2438218" algn="l" defTabSz="609555" rtl="0" eaLnBrk="1" latinLnBrk="0" hangingPunct="1">
                        <a:defRPr kumimoji="1" sz="2400" b="1" kern="1200">
                          <a:solidFill>
                            <a:schemeClr val="lt1"/>
                          </a:solidFill>
                          <a:latin typeface="游ゴシック Medium"/>
                          <a:ea typeface="游ゴシック Medium"/>
                        </a:defRPr>
                      </a:lvl5pPr>
                      <a:lvl6pPr marL="3047772" algn="l" defTabSz="609555" rtl="0" eaLnBrk="1" latinLnBrk="0" hangingPunct="1">
                        <a:defRPr kumimoji="1" sz="2400" b="1" kern="1200">
                          <a:solidFill>
                            <a:schemeClr val="lt1"/>
                          </a:solidFill>
                          <a:latin typeface="游ゴシック Medium"/>
                          <a:ea typeface="游ゴシック Medium"/>
                        </a:defRPr>
                      </a:lvl6pPr>
                      <a:lvl7pPr marL="3657327" algn="l" defTabSz="609555" rtl="0" eaLnBrk="1" latinLnBrk="0" hangingPunct="1">
                        <a:defRPr kumimoji="1" sz="2400" b="1" kern="1200">
                          <a:solidFill>
                            <a:schemeClr val="lt1"/>
                          </a:solidFill>
                          <a:latin typeface="游ゴシック Medium"/>
                          <a:ea typeface="游ゴシック Medium"/>
                        </a:defRPr>
                      </a:lvl7pPr>
                      <a:lvl8pPr marL="4266880" algn="l" defTabSz="609555" rtl="0" eaLnBrk="1" latinLnBrk="0" hangingPunct="1">
                        <a:defRPr kumimoji="1" sz="2400" b="1" kern="1200">
                          <a:solidFill>
                            <a:schemeClr val="lt1"/>
                          </a:solidFill>
                          <a:latin typeface="游ゴシック Medium"/>
                          <a:ea typeface="游ゴシック Medium"/>
                        </a:defRPr>
                      </a:lvl8pPr>
                      <a:lvl9pPr marL="4876435" algn="l" defTabSz="609555" rtl="0" eaLnBrk="1" latinLnBrk="0" hangingPunct="1">
                        <a:defRPr kumimoji="1" sz="2400" b="1" kern="1200">
                          <a:solidFill>
                            <a:schemeClr val="lt1"/>
                          </a:solidFill>
                          <a:latin typeface="游ゴシック Medium"/>
                          <a:ea typeface="游ゴシック Medium"/>
                        </a:defRPr>
                      </a:lvl9pPr>
                    </a:lstStyle>
                    <a:p>
                      <a:pPr algn="ctr"/>
                      <a:r>
                        <a:rPr kumimoji="1" lang="ja-JP" altLang="en-US" sz="1400">
                          <a:solidFill>
                            <a:schemeClr val="tx1"/>
                          </a:solidFill>
                          <a:latin typeface="Meiryo UI" panose="020B0604030504040204" pitchFamily="50" charset="-128"/>
                          <a:ea typeface="Meiryo UI" panose="020B0604030504040204" pitchFamily="50" charset="-128"/>
                        </a:rPr>
                        <a:t>分類（設備台数）</a:t>
                      </a: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rowSpan="2">
                  <a:txBody>
                    <a:bodyPr/>
                    <a:lstStyle>
                      <a:lvl1pPr marL="0" algn="l" defTabSz="609555" rtl="0" eaLnBrk="1" latinLnBrk="0" hangingPunct="1">
                        <a:defRPr kumimoji="1" sz="2400" b="1" kern="1200">
                          <a:solidFill>
                            <a:schemeClr val="lt1"/>
                          </a:solidFill>
                          <a:latin typeface="游ゴシック Medium"/>
                          <a:ea typeface="游ゴシック Medium"/>
                        </a:defRPr>
                      </a:lvl1pPr>
                      <a:lvl2pPr marL="609555" algn="l" defTabSz="609555" rtl="0" eaLnBrk="1" latinLnBrk="0" hangingPunct="1">
                        <a:defRPr kumimoji="1" sz="2400" b="1" kern="1200">
                          <a:solidFill>
                            <a:schemeClr val="lt1"/>
                          </a:solidFill>
                          <a:latin typeface="游ゴシック Medium"/>
                          <a:ea typeface="游ゴシック Medium"/>
                        </a:defRPr>
                      </a:lvl2pPr>
                      <a:lvl3pPr marL="1219110" algn="l" defTabSz="609555" rtl="0" eaLnBrk="1" latinLnBrk="0" hangingPunct="1">
                        <a:defRPr kumimoji="1" sz="2400" b="1" kern="1200">
                          <a:solidFill>
                            <a:schemeClr val="lt1"/>
                          </a:solidFill>
                          <a:latin typeface="游ゴシック Medium"/>
                          <a:ea typeface="游ゴシック Medium"/>
                        </a:defRPr>
                      </a:lvl3pPr>
                      <a:lvl4pPr marL="1828664" algn="l" defTabSz="609555" rtl="0" eaLnBrk="1" latinLnBrk="0" hangingPunct="1">
                        <a:defRPr kumimoji="1" sz="2400" b="1" kern="1200">
                          <a:solidFill>
                            <a:schemeClr val="lt1"/>
                          </a:solidFill>
                          <a:latin typeface="游ゴシック Medium"/>
                          <a:ea typeface="游ゴシック Medium"/>
                        </a:defRPr>
                      </a:lvl4pPr>
                      <a:lvl5pPr marL="2438218" algn="l" defTabSz="609555" rtl="0" eaLnBrk="1" latinLnBrk="0" hangingPunct="1">
                        <a:defRPr kumimoji="1" sz="2400" b="1" kern="1200">
                          <a:solidFill>
                            <a:schemeClr val="lt1"/>
                          </a:solidFill>
                          <a:latin typeface="游ゴシック Medium"/>
                          <a:ea typeface="游ゴシック Medium"/>
                        </a:defRPr>
                      </a:lvl5pPr>
                      <a:lvl6pPr marL="3047772" algn="l" defTabSz="609555" rtl="0" eaLnBrk="1" latinLnBrk="0" hangingPunct="1">
                        <a:defRPr kumimoji="1" sz="2400" b="1" kern="1200">
                          <a:solidFill>
                            <a:schemeClr val="lt1"/>
                          </a:solidFill>
                          <a:latin typeface="游ゴシック Medium"/>
                          <a:ea typeface="游ゴシック Medium"/>
                        </a:defRPr>
                      </a:lvl6pPr>
                      <a:lvl7pPr marL="3657327" algn="l" defTabSz="609555" rtl="0" eaLnBrk="1" latinLnBrk="0" hangingPunct="1">
                        <a:defRPr kumimoji="1" sz="2400" b="1" kern="1200">
                          <a:solidFill>
                            <a:schemeClr val="lt1"/>
                          </a:solidFill>
                          <a:latin typeface="游ゴシック Medium"/>
                          <a:ea typeface="游ゴシック Medium"/>
                        </a:defRPr>
                      </a:lvl7pPr>
                      <a:lvl8pPr marL="4266880" algn="l" defTabSz="609555" rtl="0" eaLnBrk="1" latinLnBrk="0" hangingPunct="1">
                        <a:defRPr kumimoji="1" sz="2400" b="1" kern="1200">
                          <a:solidFill>
                            <a:schemeClr val="lt1"/>
                          </a:solidFill>
                          <a:latin typeface="游ゴシック Medium"/>
                          <a:ea typeface="游ゴシック Medium"/>
                        </a:defRPr>
                      </a:lvl8pPr>
                      <a:lvl9pPr marL="4876435" algn="l" defTabSz="609555" rtl="0" eaLnBrk="1" latinLnBrk="0" hangingPunct="1">
                        <a:defRPr kumimoji="1" sz="2400" b="1" kern="1200">
                          <a:solidFill>
                            <a:schemeClr val="lt1"/>
                          </a:solidFill>
                          <a:latin typeface="游ゴシック Medium"/>
                          <a:ea typeface="游ゴシック Medium"/>
                        </a:defRPr>
                      </a:lvl9pPr>
                    </a:lstStyle>
                    <a:p>
                      <a:pPr algn="ctr"/>
                      <a:r>
                        <a:rPr kumimoji="1" lang="ja-JP" altLang="en-US" sz="1400">
                          <a:solidFill>
                            <a:schemeClr val="tx1"/>
                          </a:solidFill>
                          <a:latin typeface="Meiryo UI" panose="020B0604030504040204" pitchFamily="50" charset="-128"/>
                          <a:ea typeface="Meiryo UI" panose="020B0604030504040204" pitchFamily="50" charset="-128"/>
                        </a:rPr>
                        <a:t>市場規模</a:t>
                      </a:r>
                      <a:endParaRPr kumimoji="1" lang="en-US" altLang="ja-JP" sz="1400">
                        <a:solidFill>
                          <a:schemeClr val="tx1"/>
                        </a:solidFill>
                        <a:latin typeface="Meiryo UI" panose="020B0604030504040204" pitchFamily="50" charset="-128"/>
                        <a:ea typeface="Meiryo UI" panose="020B0604030504040204" pitchFamily="50" charset="-128"/>
                      </a:endParaRPr>
                    </a:p>
                    <a:p>
                      <a:pPr algn="ctr"/>
                      <a:r>
                        <a:rPr kumimoji="1" lang="ja-JP" altLang="en-US" sz="1400">
                          <a:solidFill>
                            <a:schemeClr val="tx1"/>
                          </a:solidFill>
                          <a:latin typeface="Meiryo UI" panose="020B0604030504040204" pitchFamily="50" charset="-128"/>
                          <a:ea typeface="Meiryo UI" panose="020B0604030504040204" pitchFamily="50" charset="-128"/>
                        </a:rPr>
                        <a:t>（億円）</a:t>
                      </a:r>
                      <a:endParaRPr kumimoji="1" lang="en-US" altLang="ja-JP"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2924503979"/>
                  </a:ext>
                </a:extLst>
              </a:tr>
              <a:tr h="385666">
                <a:tc vMerge="1">
                  <a:txBody>
                    <a:bodyPr/>
                    <a:lstStyle/>
                    <a:p>
                      <a:pPr algn="ctr"/>
                      <a:endParaRPr kumimoji="1" lang="ja-JP" altLang="en-US" sz="1600">
                        <a:latin typeface="Meiryo UI" panose="020B0604030504040204" pitchFamily="50" charset="-128"/>
                        <a:ea typeface="Meiryo UI" panose="020B0604030504040204" pitchFamily="50" charset="-128"/>
                      </a:endParaRP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ctr"/>
                      <a:r>
                        <a:rPr kumimoji="1" lang="en-US" altLang="ja-JP" sz="1100" b="1">
                          <a:solidFill>
                            <a:schemeClr val="tx1"/>
                          </a:solidFill>
                          <a:latin typeface="Meiryo UI" panose="020B0604030504040204" pitchFamily="50" charset="-128"/>
                          <a:ea typeface="Meiryo UI" panose="020B0604030504040204" pitchFamily="50" charset="-128"/>
                        </a:rPr>
                        <a:t>XX</a:t>
                      </a:r>
                      <a:endParaRPr kumimoji="1" lang="ja-JP" altLang="en-US" sz="1100" b="1">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ctr"/>
                      <a:r>
                        <a:rPr kumimoji="1" lang="en-US" altLang="ja-JP" sz="1100" b="1">
                          <a:solidFill>
                            <a:schemeClr val="tx1"/>
                          </a:solidFill>
                          <a:latin typeface="Meiryo UI" panose="020B0604030504040204" pitchFamily="50" charset="-128"/>
                          <a:ea typeface="Meiryo UI" panose="020B0604030504040204" pitchFamily="50" charset="-128"/>
                        </a:rPr>
                        <a:t>XX</a:t>
                      </a:r>
                      <a:endParaRPr kumimoji="1" lang="ja-JP" altLang="en-US" sz="1100" b="1">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ctr"/>
                      <a:r>
                        <a:rPr kumimoji="1" lang="en-US" altLang="ja-JP" sz="1100" b="1">
                          <a:solidFill>
                            <a:schemeClr val="tx1"/>
                          </a:solidFill>
                          <a:latin typeface="Meiryo UI" panose="020B0604030504040204" pitchFamily="50" charset="-128"/>
                          <a:ea typeface="Meiryo UI" panose="020B0604030504040204" pitchFamily="50" charset="-128"/>
                        </a:rPr>
                        <a:t>XX</a:t>
                      </a:r>
                      <a:endParaRPr kumimoji="1" lang="ja-JP" altLang="en-US" sz="1100" b="1">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vMerge="1">
                  <a:txBody>
                    <a:bodyPr/>
                    <a:lstStyle/>
                    <a:p>
                      <a:pPr algn="ctr"/>
                      <a:endParaRPr kumimoji="1" lang="ja-JP" altLang="en-US" sz="1100" b="1">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rgbClr val="ECF7FE"/>
                    </a:solidFill>
                  </a:tcPr>
                </a:tc>
                <a:extLst>
                  <a:ext uri="{0D108BD9-81ED-4DB2-BD59-A6C34878D82A}">
                    <a16:rowId xmlns:a16="http://schemas.microsoft.com/office/drawing/2014/main" val="3151529413"/>
                  </a:ext>
                </a:extLst>
              </a:tr>
              <a:tr h="585551">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1">
                          <a:solidFill>
                            <a:schemeClr val="tx1"/>
                          </a:solidFill>
                          <a:latin typeface="Meiryo UI" panose="020B0604030504040204" pitchFamily="50" charset="-128"/>
                          <a:ea typeface="Meiryo UI" panose="020B0604030504040204" pitchFamily="50" charset="-128"/>
                        </a:rPr>
                        <a:t>Best</a:t>
                      </a:r>
                      <a:r>
                        <a:rPr kumimoji="1" lang="ja-JP" altLang="en-US" sz="1400" b="1">
                          <a:solidFill>
                            <a:schemeClr val="tx1"/>
                          </a:solidFill>
                          <a:latin typeface="Meiryo UI" panose="020B0604030504040204" pitchFamily="50" charset="-128"/>
                          <a:ea typeface="Meiryo UI" panose="020B0604030504040204" pitchFamily="50" charset="-128"/>
                        </a:rPr>
                        <a:t>（</a:t>
                      </a:r>
                      <a:r>
                        <a:rPr kumimoji="1" lang="en-US" altLang="ja-JP" sz="1400" b="1">
                          <a:solidFill>
                            <a:schemeClr val="tx1"/>
                          </a:solidFill>
                          <a:latin typeface="Meiryo UI" panose="020B0604030504040204" pitchFamily="50" charset="-128"/>
                          <a:ea typeface="Meiryo UI" panose="020B0604030504040204" pitchFamily="50" charset="-128"/>
                        </a:rPr>
                        <a:t>B)</a:t>
                      </a:r>
                      <a:endParaRPr kumimoji="1" lang="en-US" altLang="ja-JP" sz="1400" b="1">
                        <a:latin typeface="Meiryo UI" panose="020B0604030504040204" pitchFamily="50" charset="-128"/>
                        <a:ea typeface="Meiryo UI" panose="020B0604030504040204" pitchFamily="50" charset="-128"/>
                      </a:endParaRPr>
                    </a:p>
                  </a:txBody>
                  <a:tcPr anchor="ctr">
                    <a:lnL w="12700" cap="flat" cmpd="sng" algn="ctr">
                      <a:no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EFF9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altLang="ja-JP" sz="1400" b="0" i="0" u="none" strike="noStrike">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EFF9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altLang="ja-JP" sz="1400" b="0" i="0" u="none" strike="noStrike">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EFF9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altLang="ja-JP" sz="1400" b="0" i="0" u="none" strike="noStrike">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EFF9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eiryo UI" panose="020B0604030504040204" pitchFamily="50" charset="-128"/>
                          <a:ea typeface="Meiryo UI" panose="020B0604030504040204" pitchFamily="50" charset="-128"/>
                        </a:rPr>
                        <a:t>150</a:t>
                      </a: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EFF9FF"/>
                    </a:solidFill>
                  </a:tcPr>
                </a:tc>
                <a:extLst>
                  <a:ext uri="{0D108BD9-81ED-4DB2-BD59-A6C34878D82A}">
                    <a16:rowId xmlns:a16="http://schemas.microsoft.com/office/drawing/2014/main" val="3241681022"/>
                  </a:ext>
                </a:extLst>
              </a:tr>
              <a:tr h="585551">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ctr" fontAlgn="ctr"/>
                      <a:r>
                        <a:rPr lang="en-US" altLang="ja-JP" sz="1400" b="1" i="0" u="none" strike="noStrike">
                          <a:solidFill>
                            <a:schemeClr val="tx1"/>
                          </a:solidFill>
                          <a:effectLst/>
                          <a:latin typeface="Meiryo UI" panose="020B0604030504040204" pitchFamily="50" charset="-128"/>
                          <a:ea typeface="Meiryo UI" panose="020B0604030504040204" pitchFamily="50" charset="-128"/>
                        </a:rPr>
                        <a:t>Most</a:t>
                      </a:r>
                      <a:r>
                        <a:rPr lang="ja-JP" altLang="en-US" sz="1400" b="1" i="0" u="none" strike="noStrike">
                          <a:solidFill>
                            <a:schemeClr val="tx1"/>
                          </a:solidFill>
                          <a:effectLst/>
                          <a:latin typeface="Meiryo UI" panose="020B0604030504040204" pitchFamily="50" charset="-128"/>
                          <a:ea typeface="Meiryo UI" panose="020B0604030504040204" pitchFamily="50" charset="-128"/>
                        </a:rPr>
                        <a:t>（</a:t>
                      </a:r>
                      <a:r>
                        <a:rPr lang="en-US" altLang="ja-JP" sz="1400" b="1" i="0" u="none" strike="noStrike">
                          <a:solidFill>
                            <a:schemeClr val="tx1"/>
                          </a:solidFill>
                          <a:effectLst/>
                          <a:latin typeface="Meiryo UI" panose="020B0604030504040204" pitchFamily="50" charset="-128"/>
                          <a:ea typeface="Meiryo UI" panose="020B0604030504040204" pitchFamily="50" charset="-128"/>
                        </a:rPr>
                        <a:t>M)</a:t>
                      </a:r>
                      <a:endParaRPr lang="ja-JP" altLang="en-US" sz="1400" b="1" i="0" u="none" strike="noStrike">
                        <a:solidFill>
                          <a:schemeClr val="tx1"/>
                        </a:solidFill>
                        <a:effectLst/>
                        <a:latin typeface="Meiryo UI" panose="020B0604030504040204" pitchFamily="50" charset="-128"/>
                        <a:ea typeface="Meiryo UI" panose="020B0604030504040204" pitchFamily="50" charset="-128"/>
                      </a:endParaRPr>
                    </a:p>
                  </a:txBody>
                  <a:tcPr anchor="ctr">
                    <a:lnL w="12700" cap="flat" cmpd="sng" algn="ctr">
                      <a:no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CD2D3"/>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r"/>
                      <a:endParaRPr kumimoji="1" lang="ja-JP" altLang="en-US" sz="1600" b="1">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CD2D3"/>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r"/>
                      <a:endParaRPr kumimoji="1" lang="ja-JP" altLang="en-US" sz="1600" b="0">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CD2D3"/>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altLang="ja-JP" sz="1600" b="1" i="0" u="none" strike="noStrike">
                        <a:solidFill>
                          <a:srgbClr val="000000"/>
                        </a:solidFill>
                        <a:effectLst/>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CD2D3"/>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Meiryo UI" panose="020B0604030504040204" pitchFamily="50" charset="-128"/>
                          <a:ea typeface="Meiryo UI" panose="020B0604030504040204" pitchFamily="50" charset="-128"/>
                        </a:rPr>
                        <a:t>100</a:t>
                      </a: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CD2D3"/>
                    </a:solidFill>
                  </a:tcPr>
                </a:tc>
                <a:extLst>
                  <a:ext uri="{0D108BD9-81ED-4DB2-BD59-A6C34878D82A}">
                    <a16:rowId xmlns:a16="http://schemas.microsoft.com/office/drawing/2014/main" val="4120996666"/>
                  </a:ext>
                </a:extLst>
              </a:tr>
              <a:tr h="803184">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ctr"/>
                      <a:r>
                        <a:rPr kumimoji="1" lang="en-US" altLang="ja-JP" sz="1400" b="1">
                          <a:latin typeface="Meiryo UI" panose="020B0604030504040204" pitchFamily="50" charset="-128"/>
                          <a:ea typeface="Meiryo UI" panose="020B0604030504040204" pitchFamily="50" charset="-128"/>
                        </a:rPr>
                        <a:t>Worst</a:t>
                      </a:r>
                      <a:r>
                        <a:rPr kumimoji="1" lang="ja-JP" altLang="en-US" sz="1400" b="1">
                          <a:latin typeface="Meiryo UI" panose="020B0604030504040204" pitchFamily="50" charset="-128"/>
                          <a:ea typeface="Meiryo UI" panose="020B0604030504040204" pitchFamily="50" charset="-128"/>
                        </a:rPr>
                        <a:t>（</a:t>
                      </a:r>
                      <a:r>
                        <a:rPr kumimoji="1" lang="en-US" altLang="ja-JP" sz="1400" b="1">
                          <a:latin typeface="Meiryo UI" panose="020B0604030504040204" pitchFamily="50" charset="-128"/>
                          <a:ea typeface="Meiryo UI" panose="020B0604030504040204" pitchFamily="50" charset="-128"/>
                        </a:rPr>
                        <a:t>W)</a:t>
                      </a:r>
                    </a:p>
                  </a:txBody>
                  <a:tcPr anchor="ctr">
                    <a:lnL w="12700" cap="flat" cmpd="sng" algn="ctr">
                      <a:no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r"/>
                      <a:endParaRPr kumimoji="1" lang="ja-JP" altLang="en-US" sz="1400" b="0">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r"/>
                      <a:endParaRPr kumimoji="1" lang="ja-JP" altLang="en-US" sz="1400" b="0">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r"/>
                      <a:endParaRPr kumimoji="1" lang="ja-JP" altLang="en-US" sz="1600" b="0">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609555" rtl="0" eaLnBrk="1" latinLnBrk="0" hangingPunct="1">
                        <a:defRPr kumimoji="1" sz="2400" kern="1200">
                          <a:solidFill>
                            <a:schemeClr val="dk1"/>
                          </a:solidFill>
                          <a:latin typeface="游ゴシック Medium"/>
                          <a:ea typeface="游ゴシック Medium"/>
                        </a:defRPr>
                      </a:lvl1pPr>
                      <a:lvl2pPr marL="609555" algn="l" defTabSz="609555" rtl="0" eaLnBrk="1" latinLnBrk="0" hangingPunct="1">
                        <a:defRPr kumimoji="1" sz="2400" kern="1200">
                          <a:solidFill>
                            <a:schemeClr val="dk1"/>
                          </a:solidFill>
                          <a:latin typeface="游ゴシック Medium"/>
                          <a:ea typeface="游ゴシック Medium"/>
                        </a:defRPr>
                      </a:lvl2pPr>
                      <a:lvl3pPr marL="1219110" algn="l" defTabSz="609555" rtl="0" eaLnBrk="1" latinLnBrk="0" hangingPunct="1">
                        <a:defRPr kumimoji="1" sz="2400" kern="1200">
                          <a:solidFill>
                            <a:schemeClr val="dk1"/>
                          </a:solidFill>
                          <a:latin typeface="游ゴシック Medium"/>
                          <a:ea typeface="游ゴシック Medium"/>
                        </a:defRPr>
                      </a:lvl3pPr>
                      <a:lvl4pPr marL="1828664" algn="l" defTabSz="609555" rtl="0" eaLnBrk="1" latinLnBrk="0" hangingPunct="1">
                        <a:defRPr kumimoji="1" sz="2400" kern="1200">
                          <a:solidFill>
                            <a:schemeClr val="dk1"/>
                          </a:solidFill>
                          <a:latin typeface="游ゴシック Medium"/>
                          <a:ea typeface="游ゴシック Medium"/>
                        </a:defRPr>
                      </a:lvl4pPr>
                      <a:lvl5pPr marL="2438218" algn="l" defTabSz="609555" rtl="0" eaLnBrk="1" latinLnBrk="0" hangingPunct="1">
                        <a:defRPr kumimoji="1" sz="2400" kern="1200">
                          <a:solidFill>
                            <a:schemeClr val="dk1"/>
                          </a:solidFill>
                          <a:latin typeface="游ゴシック Medium"/>
                          <a:ea typeface="游ゴシック Medium"/>
                        </a:defRPr>
                      </a:lvl5pPr>
                      <a:lvl6pPr marL="3047772" algn="l" defTabSz="609555" rtl="0" eaLnBrk="1" latinLnBrk="0" hangingPunct="1">
                        <a:defRPr kumimoji="1" sz="2400" kern="1200">
                          <a:solidFill>
                            <a:schemeClr val="dk1"/>
                          </a:solidFill>
                          <a:latin typeface="游ゴシック Medium"/>
                          <a:ea typeface="游ゴシック Medium"/>
                        </a:defRPr>
                      </a:lvl6pPr>
                      <a:lvl7pPr marL="3657327" algn="l" defTabSz="609555" rtl="0" eaLnBrk="1" latinLnBrk="0" hangingPunct="1">
                        <a:defRPr kumimoji="1" sz="2400" kern="1200">
                          <a:solidFill>
                            <a:schemeClr val="dk1"/>
                          </a:solidFill>
                          <a:latin typeface="游ゴシック Medium"/>
                          <a:ea typeface="游ゴシック Medium"/>
                        </a:defRPr>
                      </a:lvl7pPr>
                      <a:lvl8pPr marL="4266880" algn="l" defTabSz="609555" rtl="0" eaLnBrk="1" latinLnBrk="0" hangingPunct="1">
                        <a:defRPr kumimoji="1" sz="2400" kern="1200">
                          <a:solidFill>
                            <a:schemeClr val="dk1"/>
                          </a:solidFill>
                          <a:latin typeface="游ゴシック Medium"/>
                          <a:ea typeface="游ゴシック Medium"/>
                        </a:defRPr>
                      </a:lvl8pPr>
                      <a:lvl9pPr marL="4876435" algn="l" defTabSz="609555" rtl="0" eaLnBrk="1" latinLnBrk="0" hangingPunct="1">
                        <a:defRPr kumimoji="1" sz="2400" kern="1200">
                          <a:solidFill>
                            <a:schemeClr val="dk1"/>
                          </a:solidFill>
                          <a:latin typeface="游ゴシック Medium"/>
                          <a:ea typeface="游ゴシック Medium"/>
                        </a:defRPr>
                      </a:lvl9pPr>
                    </a:lstStyle>
                    <a:p>
                      <a:pPr algn="r"/>
                      <a:r>
                        <a:rPr kumimoji="1" lang="en-US" altLang="ja-JP" sz="1600" b="1">
                          <a:latin typeface="Meiryo UI" panose="020B0604030504040204" pitchFamily="50" charset="-128"/>
                          <a:ea typeface="Meiryo UI" panose="020B0604030504040204" pitchFamily="50" charset="-128"/>
                        </a:rPr>
                        <a:t>50</a:t>
                      </a:r>
                      <a:endParaRPr kumimoji="1" lang="ja-JP" altLang="en-US" sz="1600" b="1">
                        <a:latin typeface="Meiryo UI" panose="020B0604030504040204" pitchFamily="50" charset="-128"/>
                        <a:ea typeface="Meiryo UI" panose="020B0604030504040204" pitchFamily="50" charset="-128"/>
                      </a:endParaRPr>
                    </a:p>
                  </a:txBody>
                  <a:tcPr anchor="ctr">
                    <a:lnL w="12700" cap="flat" cmpd="sng" algn="ctr">
                      <a:solidFill>
                        <a:srgbClr val="595959"/>
                      </a:solidFill>
                      <a:prstDash val="sysDash"/>
                      <a:round/>
                      <a:headEnd type="none" w="med" len="med"/>
                      <a:tailEnd type="none" w="med" len="med"/>
                    </a:lnL>
                    <a:lnR w="12700" cap="flat" cmpd="sng" algn="ctr">
                      <a:solidFill>
                        <a:srgbClr val="595959"/>
                      </a:solidFill>
                      <a:prstDash val="sysDash"/>
                      <a:round/>
                      <a:headEnd type="none" w="med" len="med"/>
                      <a:tailEnd type="none" w="med" len="med"/>
                    </a:lnR>
                    <a:lnT w="12700" cap="flat" cmpd="sng" algn="ctr">
                      <a:solidFill>
                        <a:srgbClr val="595959"/>
                      </a:solidFill>
                      <a:prstDash val="sysDash"/>
                      <a:round/>
                      <a:headEnd type="none" w="med" len="med"/>
                      <a:tailEnd type="none" w="med" len="med"/>
                    </a:lnT>
                    <a:lnB w="12700" cap="flat" cmpd="sng" algn="ctr">
                      <a:solidFill>
                        <a:srgbClr val="595959"/>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63314369"/>
                  </a:ext>
                </a:extLst>
              </a:tr>
            </a:tbl>
          </a:graphicData>
        </a:graphic>
      </p:graphicFrame>
      <p:sp>
        <p:nvSpPr>
          <p:cNvPr id="32" name="テキスト ボックス 31">
            <a:extLst>
              <a:ext uri="{FF2B5EF4-FFF2-40B4-BE49-F238E27FC236}">
                <a16:creationId xmlns:a16="http://schemas.microsoft.com/office/drawing/2014/main" id="{A6DF01E6-F03E-4416-BEEE-A9A803672CFD}"/>
              </a:ext>
            </a:extLst>
          </p:cNvPr>
          <p:cNvSpPr txBox="1"/>
          <p:nvPr/>
        </p:nvSpPr>
        <p:spPr>
          <a:xfrm>
            <a:off x="4947670" y="2190749"/>
            <a:ext cx="3994814" cy="307777"/>
          </a:xfrm>
          <a:prstGeom prst="rect">
            <a:avLst/>
          </a:prstGeom>
          <a:noFill/>
        </p:spPr>
        <p:txBody>
          <a:bodyPr wrap="square" rtlCol="0">
            <a:spAutoFit/>
          </a:bodyPr>
          <a:lstStyle/>
          <a:p>
            <a:pPr algn="ctr">
              <a:defRPr/>
            </a:pPr>
            <a:r>
              <a:rPr kumimoji="0" lang="ja-JP" altLang="en-US" sz="1400" b="1" u="sng" kern="0">
                <a:solidFill>
                  <a:srgbClr val="595959"/>
                </a:solidFill>
                <a:latin typeface="+mn-ea"/>
              </a:rPr>
              <a:t>ビジネスモデルの構造（利益がでる構造）</a:t>
            </a:r>
          </a:p>
        </p:txBody>
      </p:sp>
      <p:sp>
        <p:nvSpPr>
          <p:cNvPr id="33" name="二等辺三角形 32">
            <a:extLst>
              <a:ext uri="{FF2B5EF4-FFF2-40B4-BE49-F238E27FC236}">
                <a16:creationId xmlns:a16="http://schemas.microsoft.com/office/drawing/2014/main" id="{94EBD84D-5BBB-42A6-8138-F5DBD6088158}"/>
              </a:ext>
            </a:extLst>
          </p:cNvPr>
          <p:cNvSpPr/>
          <p:nvPr/>
        </p:nvSpPr>
        <p:spPr>
          <a:xfrm rot="5400000">
            <a:off x="4109542" y="3941479"/>
            <a:ext cx="1148157" cy="197773"/>
          </a:xfrm>
          <a:prstGeom prst="triangle">
            <a:avLst/>
          </a:prstGeom>
          <a:solidFill>
            <a:srgbClr val="070F26">
              <a:lumMod val="10000"/>
              <a:lumOff val="90000"/>
            </a:srgbClr>
          </a:solidFill>
          <a:ln w="3175" cap="flat" cmpd="sng" algn="ctr">
            <a:solidFill>
              <a:srgbClr val="FFFFFF">
                <a:lumMod val="95000"/>
              </a:srgbClr>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400" b="0" i="0" u="none" strike="noStrike" kern="0" cap="none" spc="0" normalizeH="0" baseline="0" noProof="0" err="1">
              <a:ln>
                <a:noFill/>
              </a:ln>
              <a:solidFill>
                <a:srgbClr val="000000"/>
              </a:solidFill>
              <a:effectLst/>
              <a:uLnTx/>
              <a:uFillTx/>
              <a:latin typeface="+mn-ea"/>
              <a:cs typeface="+mn-cs"/>
            </a:endParaRPr>
          </a:p>
        </p:txBody>
      </p:sp>
      <p:sp>
        <p:nvSpPr>
          <p:cNvPr id="34" name="矢印: 上 33">
            <a:extLst>
              <a:ext uri="{FF2B5EF4-FFF2-40B4-BE49-F238E27FC236}">
                <a16:creationId xmlns:a16="http://schemas.microsoft.com/office/drawing/2014/main" id="{3A6F3BA6-FF36-4808-AC13-B800123D9D75}"/>
              </a:ext>
            </a:extLst>
          </p:cNvPr>
          <p:cNvSpPr/>
          <p:nvPr/>
        </p:nvSpPr>
        <p:spPr>
          <a:xfrm>
            <a:off x="5962694" y="4055937"/>
            <a:ext cx="537411" cy="596605"/>
          </a:xfrm>
          <a:prstGeom prst="upArrow">
            <a:avLst/>
          </a:prstGeom>
          <a:solidFill>
            <a:srgbClr val="070F26">
              <a:lumMod val="10000"/>
              <a:lumOff val="90000"/>
            </a:srgbClr>
          </a:solidFill>
          <a:ln w="3175" cap="flat" cmpd="sng" algn="ctr">
            <a:solidFill>
              <a:srgbClr val="FFFFFF"/>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srgbClr val="000000"/>
                </a:solidFill>
                <a:effectLst/>
                <a:uLnTx/>
                <a:uFillTx/>
                <a:latin typeface="+mn-ea"/>
                <a:cs typeface="+mn-cs"/>
              </a:rPr>
              <a:t>ベストに近づく</a:t>
            </a:r>
            <a:endParaRPr kumimoji="0" lang="en-US" altLang="ja-JP" sz="1000" b="1" i="0" u="none" strike="noStrike" kern="0" cap="none" spc="0" normalizeH="0" baseline="0" noProof="0">
              <a:ln>
                <a:noFill/>
              </a:ln>
              <a:solidFill>
                <a:srgbClr val="000000"/>
              </a:solidFill>
              <a:effectLst/>
              <a:uLnTx/>
              <a:uFillTx/>
              <a:latin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srgbClr val="000000"/>
                </a:solidFill>
                <a:effectLst/>
                <a:uLnTx/>
                <a:uFillTx/>
                <a:latin typeface="+mn-ea"/>
                <a:cs typeface="+mn-cs"/>
              </a:rPr>
              <a:t>シナリオ</a:t>
            </a:r>
          </a:p>
        </p:txBody>
      </p:sp>
      <p:sp>
        <p:nvSpPr>
          <p:cNvPr id="35" name="矢印: 下 34">
            <a:extLst>
              <a:ext uri="{FF2B5EF4-FFF2-40B4-BE49-F238E27FC236}">
                <a16:creationId xmlns:a16="http://schemas.microsoft.com/office/drawing/2014/main" id="{F15F98EF-1E63-4CA4-86B8-AA00FE861CE9}"/>
              </a:ext>
            </a:extLst>
          </p:cNvPr>
          <p:cNvSpPr/>
          <p:nvPr/>
        </p:nvSpPr>
        <p:spPr>
          <a:xfrm>
            <a:off x="7386633" y="5022342"/>
            <a:ext cx="637986" cy="632454"/>
          </a:xfrm>
          <a:prstGeom prst="downArrow">
            <a:avLst/>
          </a:prstGeom>
          <a:solidFill>
            <a:srgbClr val="070F26">
              <a:lumMod val="10000"/>
              <a:lumOff val="90000"/>
            </a:srgbClr>
          </a:solidFill>
          <a:ln w="3175" cap="flat" cmpd="sng" algn="ctr">
            <a:solidFill>
              <a:srgbClr val="FFFFFF"/>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srgbClr val="000000"/>
                </a:solidFill>
                <a:effectLst/>
                <a:uLnTx/>
                <a:uFillTx/>
                <a:latin typeface="+mn-ea"/>
                <a:cs typeface="+mn-cs"/>
              </a:rPr>
              <a:t>更に悪くならない</a:t>
            </a:r>
            <a:endParaRPr kumimoji="0" lang="en-US" altLang="ja-JP" sz="1000" b="1" i="0" u="none" strike="noStrike" kern="0" cap="none" spc="0" normalizeH="0" baseline="0" noProof="0">
              <a:ln>
                <a:noFill/>
              </a:ln>
              <a:solidFill>
                <a:srgbClr val="000000"/>
              </a:solidFill>
              <a:effectLst/>
              <a:uLnTx/>
              <a:uFillTx/>
              <a:latin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srgbClr val="000000"/>
                </a:solidFill>
                <a:effectLst/>
                <a:uLnTx/>
                <a:uFillTx/>
                <a:latin typeface="+mn-ea"/>
                <a:cs typeface="+mn-cs"/>
              </a:rPr>
              <a:t>シナリオ</a:t>
            </a:r>
          </a:p>
        </p:txBody>
      </p:sp>
    </p:spTree>
    <p:extLst>
      <p:ext uri="{BB962C8B-B14F-4D97-AF65-F5344CB8AC3E}">
        <p14:creationId xmlns:p14="http://schemas.microsoft.com/office/powerpoint/2010/main" val="1370026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F155CA0-E888-4C24-ACA3-6C4D2A9C0BFF}"/>
              </a:ext>
            </a:extLst>
          </p:cNvPr>
          <p:cNvSpPr txBox="1">
            <a:spLocks/>
          </p:cNvSpPr>
          <p:nvPr/>
        </p:nvSpPr>
        <p:spPr>
          <a:xfrm>
            <a:off x="248235" y="135110"/>
            <a:ext cx="6390090"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t>５</a:t>
            </a:r>
            <a:r>
              <a:rPr lang="en-US" altLang="ja-JP" sz="2000"/>
              <a:t>. </a:t>
            </a:r>
            <a:r>
              <a:rPr lang="ja-JP" altLang="en-US" sz="2000"/>
              <a:t>推進アプローチについて</a:t>
            </a:r>
          </a:p>
        </p:txBody>
      </p:sp>
      <p:sp>
        <p:nvSpPr>
          <p:cNvPr id="9" name="テキスト プレースホルダー 5">
            <a:extLst>
              <a:ext uri="{FF2B5EF4-FFF2-40B4-BE49-F238E27FC236}">
                <a16:creationId xmlns:a16="http://schemas.microsoft.com/office/drawing/2014/main" id="{0CB4A7E7-2D9F-40A7-8563-B1FAC3C004FC}"/>
              </a:ext>
            </a:extLst>
          </p:cNvPr>
          <p:cNvSpPr>
            <a:spLocks noGrp="1"/>
          </p:cNvSpPr>
          <p:nvPr>
            <p:ph type="body" sz="quarter" idx="10"/>
          </p:nvPr>
        </p:nvSpPr>
        <p:spPr>
          <a:xfrm>
            <a:off x="204452" y="640409"/>
            <a:ext cx="8746594" cy="1008000"/>
          </a:xfrm>
          <a:solidFill>
            <a:schemeClr val="bg2">
              <a:lumMod val="40000"/>
              <a:lumOff val="60000"/>
            </a:schemeClr>
          </a:solidFill>
        </p:spPr>
        <p:txBody>
          <a:bodyPr/>
          <a:lstStyle/>
          <a:p>
            <a:pPr>
              <a:lnSpc>
                <a:spcPct val="100000"/>
              </a:lnSpc>
              <a:spcBef>
                <a:spcPts val="0"/>
              </a:spcBef>
            </a:pPr>
            <a:r>
              <a:rPr lang="ja-JP" altLang="en-US" sz="1650" b="1">
                <a:solidFill>
                  <a:srgbClr val="000000"/>
                </a:solidFill>
                <a:latin typeface="Meiryo UI"/>
                <a:ea typeface="Meiryo UI"/>
              </a:rPr>
              <a:t>直近タスク：ターゲット顧客特定の流れ（イメージ）</a:t>
            </a:r>
            <a:endParaRPr lang="en-US" altLang="ja-JP" b="1">
              <a:solidFill>
                <a:srgbClr val="000000"/>
              </a:solidFill>
              <a:latin typeface="Meiryo UI"/>
              <a:ea typeface="Meiryo UI"/>
            </a:endParaRPr>
          </a:p>
          <a:p>
            <a:pPr marL="285750" indent="-285750">
              <a:lnSpc>
                <a:spcPct val="100000"/>
              </a:lnSpc>
              <a:spcBef>
                <a:spcPts val="0"/>
              </a:spcBef>
              <a:buFont typeface="Wingdings" panose="05000000000000000000" pitchFamily="2" charset="2"/>
              <a:buChar char="n"/>
            </a:pPr>
            <a:r>
              <a:rPr lang="ja-JP" altLang="en-US" sz="1400"/>
              <a:t>顧客リストを基に、顧客をセグメント化するための切り口を検討する。</a:t>
            </a:r>
            <a:endParaRPr lang="en-US" altLang="ja-JP" sz="1400"/>
          </a:p>
          <a:p>
            <a:pPr marL="285750" indent="-285750">
              <a:lnSpc>
                <a:spcPct val="100000"/>
              </a:lnSpc>
              <a:spcBef>
                <a:spcPts val="0"/>
              </a:spcBef>
              <a:buFont typeface="Wingdings" panose="05000000000000000000" pitchFamily="2" charset="2"/>
              <a:buChar char="n"/>
            </a:pPr>
            <a:r>
              <a:rPr lang="ja-JP" altLang="en-US" sz="1400"/>
              <a:t>切り口ごとに、ニーズに特定の傾向が無いか、加えて、ニーズやセグメントの因果関係・</a:t>
            </a:r>
            <a:br>
              <a:rPr lang="en-US" altLang="ja-JP" sz="1400"/>
            </a:br>
            <a:r>
              <a:rPr lang="ja-JP" altLang="en-US" sz="1400"/>
              <a:t>成長のステップが存在しうるか検討し、価値提供するターゲットの優先順を定義する。</a:t>
            </a:r>
          </a:p>
        </p:txBody>
      </p:sp>
      <p:grpSp>
        <p:nvGrpSpPr>
          <p:cNvPr id="195" name="グループ化 194">
            <a:extLst>
              <a:ext uri="{FF2B5EF4-FFF2-40B4-BE49-F238E27FC236}">
                <a16:creationId xmlns:a16="http://schemas.microsoft.com/office/drawing/2014/main" id="{00321006-3D64-4C47-9178-401EA881ADB9}"/>
              </a:ext>
            </a:extLst>
          </p:cNvPr>
          <p:cNvGrpSpPr/>
          <p:nvPr/>
        </p:nvGrpSpPr>
        <p:grpSpPr>
          <a:xfrm>
            <a:off x="1462175" y="2104923"/>
            <a:ext cx="6304085" cy="4279632"/>
            <a:chOff x="1426663" y="2007265"/>
            <a:chExt cx="6304085" cy="4279632"/>
          </a:xfrm>
        </p:grpSpPr>
        <p:sp>
          <p:nvSpPr>
            <p:cNvPr id="185" name="四角形: 角を丸くする 184">
              <a:extLst>
                <a:ext uri="{FF2B5EF4-FFF2-40B4-BE49-F238E27FC236}">
                  <a16:creationId xmlns:a16="http://schemas.microsoft.com/office/drawing/2014/main" id="{F55C0D12-2E9E-4984-A0F6-49676C3E3961}"/>
                </a:ext>
              </a:extLst>
            </p:cNvPr>
            <p:cNvSpPr/>
            <p:nvPr/>
          </p:nvSpPr>
          <p:spPr>
            <a:xfrm>
              <a:off x="4489499" y="3558384"/>
              <a:ext cx="1121786" cy="1055636"/>
            </a:xfrm>
            <a:prstGeom prst="roundRect">
              <a:avLst/>
            </a:prstGeom>
            <a:solidFill>
              <a:schemeClr val="accent3">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7ED6BB1C-C91C-4026-A227-2E8F1C969239}"/>
                </a:ext>
              </a:extLst>
            </p:cNvPr>
            <p:cNvGrpSpPr/>
            <p:nvPr/>
          </p:nvGrpSpPr>
          <p:grpSpPr>
            <a:xfrm>
              <a:off x="1426663" y="2007265"/>
              <a:ext cx="6304085" cy="4279632"/>
              <a:chOff x="448125" y="1887795"/>
              <a:chExt cx="8235526" cy="4554917"/>
            </a:xfrm>
          </p:grpSpPr>
          <p:grpSp>
            <p:nvGrpSpPr>
              <p:cNvPr id="11" name="グループ化 10">
                <a:extLst>
                  <a:ext uri="{FF2B5EF4-FFF2-40B4-BE49-F238E27FC236}">
                    <a16:creationId xmlns:a16="http://schemas.microsoft.com/office/drawing/2014/main" id="{9101641E-CDA7-4732-9A4A-01327F85576B}"/>
                  </a:ext>
                </a:extLst>
              </p:cNvPr>
              <p:cNvGrpSpPr/>
              <p:nvPr/>
            </p:nvGrpSpPr>
            <p:grpSpPr>
              <a:xfrm>
                <a:off x="2694037" y="5624812"/>
                <a:ext cx="4906788" cy="451634"/>
                <a:chOff x="3084809" y="5472896"/>
                <a:chExt cx="5238005" cy="496797"/>
              </a:xfrm>
            </p:grpSpPr>
            <p:sp>
              <p:nvSpPr>
                <p:cNvPr id="28" name="正方形/長方形 27">
                  <a:extLst>
                    <a:ext uri="{FF2B5EF4-FFF2-40B4-BE49-F238E27FC236}">
                      <a16:creationId xmlns:a16="http://schemas.microsoft.com/office/drawing/2014/main" id="{CB0214CB-DA5F-4B16-ACCD-C5EDC2192493}"/>
                    </a:ext>
                  </a:extLst>
                </p:cNvPr>
                <p:cNvSpPr/>
                <p:nvPr/>
              </p:nvSpPr>
              <p:spPr>
                <a:xfrm>
                  <a:off x="3084809" y="5472896"/>
                  <a:ext cx="1727621" cy="496797"/>
                </a:xfrm>
                <a:prstGeom prst="rect">
                  <a:avLst/>
                </a:prstGeom>
                <a:solidFill>
                  <a:srgbClr val="EE1C25">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n-ea"/>
                      <a:cs typeface="Meiryo UI" panose="020B0604030504040204" pitchFamily="50" charset="-128"/>
                    </a:rPr>
                    <a:t>自働化</a:t>
                  </a:r>
                  <a:endParaRPr kumimoji="0" lang="en-US" altLang="ja-JP" sz="1200" b="1" i="0" u="none" strike="noStrike" kern="0" cap="none" spc="0" normalizeH="0" baseline="0" noProof="0">
                    <a:ln>
                      <a:noFill/>
                    </a:ln>
                    <a:solidFill>
                      <a:srgbClr val="595959"/>
                    </a:solidFill>
                    <a:effectLst/>
                    <a:uLnTx/>
                    <a:uFillTx/>
                    <a:latin typeface="+mn-ea"/>
                    <a:cs typeface="Meiryo UI" panose="020B0604030504040204" pitchFamily="50" charset="-128"/>
                  </a:endParaRPr>
                </a:p>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n-ea"/>
                      <a:cs typeface="Meiryo UI" panose="020B0604030504040204" pitchFamily="50" charset="-128"/>
                    </a:rPr>
                    <a:t>省力化</a:t>
                  </a:r>
                </a:p>
              </p:txBody>
            </p:sp>
            <p:sp>
              <p:nvSpPr>
                <p:cNvPr id="29" name="正方形/長方形 28">
                  <a:extLst>
                    <a:ext uri="{FF2B5EF4-FFF2-40B4-BE49-F238E27FC236}">
                      <a16:creationId xmlns:a16="http://schemas.microsoft.com/office/drawing/2014/main" id="{43781D70-CDB3-4BB0-8AC7-377351F81A01}"/>
                    </a:ext>
                  </a:extLst>
                </p:cNvPr>
                <p:cNvSpPr/>
                <p:nvPr/>
              </p:nvSpPr>
              <p:spPr>
                <a:xfrm>
                  <a:off x="6595193" y="5472896"/>
                  <a:ext cx="1727621" cy="496797"/>
                </a:xfrm>
                <a:prstGeom prst="rect">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n-ea"/>
                      <a:cs typeface="Meiryo UI" panose="020B0604030504040204" pitchFamily="50" charset="-128"/>
                    </a:rPr>
                    <a:t>・・・</a:t>
                  </a:r>
                </a:p>
              </p:txBody>
            </p:sp>
            <p:sp>
              <p:nvSpPr>
                <p:cNvPr id="30" name="正方形/長方形 29">
                  <a:extLst>
                    <a:ext uri="{FF2B5EF4-FFF2-40B4-BE49-F238E27FC236}">
                      <a16:creationId xmlns:a16="http://schemas.microsoft.com/office/drawing/2014/main" id="{F4C0A673-3BE8-470E-9288-410D1105B943}"/>
                    </a:ext>
                  </a:extLst>
                </p:cNvPr>
                <p:cNvSpPr/>
                <p:nvPr/>
              </p:nvSpPr>
              <p:spPr>
                <a:xfrm>
                  <a:off x="4840001" y="5472896"/>
                  <a:ext cx="1727621" cy="496797"/>
                </a:xfrm>
                <a:prstGeom prst="rect">
                  <a:avLst/>
                </a:prstGeom>
                <a:solidFill>
                  <a:srgbClr val="EE1C25">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n-ea"/>
                      <a:cs typeface="Meiryo UI" panose="020B0604030504040204" pitchFamily="50" charset="-128"/>
                    </a:rPr>
                    <a:t>設備の高稼働と稼働の維持</a:t>
                  </a:r>
                  <a:endParaRPr kumimoji="0" lang="en-US" altLang="ja-JP" sz="1200" b="1" i="0" u="none" strike="noStrike" kern="0" cap="none" spc="0" normalizeH="0" baseline="0" noProof="0">
                    <a:ln>
                      <a:noFill/>
                    </a:ln>
                    <a:solidFill>
                      <a:srgbClr val="595959"/>
                    </a:solidFill>
                    <a:effectLst/>
                    <a:uLnTx/>
                    <a:uFillTx/>
                    <a:latin typeface="+mn-ea"/>
                    <a:cs typeface="Meiryo UI" panose="020B0604030504040204" pitchFamily="50" charset="-128"/>
                  </a:endParaRPr>
                </a:p>
              </p:txBody>
            </p:sp>
          </p:grpSp>
          <p:cxnSp>
            <p:nvCxnSpPr>
              <p:cNvPr id="12" name="直線矢印コネクタ 11">
                <a:extLst>
                  <a:ext uri="{FF2B5EF4-FFF2-40B4-BE49-F238E27FC236}">
                    <a16:creationId xmlns:a16="http://schemas.microsoft.com/office/drawing/2014/main" id="{67CDE219-8AAB-46BF-9AF3-84DEDF468FAC}"/>
                  </a:ext>
                </a:extLst>
              </p:cNvPr>
              <p:cNvCxnSpPr/>
              <p:nvPr/>
            </p:nvCxnSpPr>
            <p:spPr>
              <a:xfrm flipV="1">
                <a:off x="2647147" y="2074085"/>
                <a:ext cx="0" cy="3495900"/>
              </a:xfrm>
              <a:prstGeom prst="straightConnector1">
                <a:avLst/>
              </a:prstGeom>
              <a:noFill/>
              <a:ln w="31750" cap="flat" cmpd="sng" algn="ctr">
                <a:solidFill>
                  <a:schemeClr val="accent1"/>
                </a:solidFill>
                <a:prstDash val="solid"/>
                <a:miter lim="800000"/>
                <a:headEnd type="none"/>
                <a:tailEnd type="arrow"/>
              </a:ln>
              <a:effectLst/>
            </p:spPr>
          </p:cxnSp>
          <p:cxnSp>
            <p:nvCxnSpPr>
              <p:cNvPr id="13" name="直線矢印コネクタ 12">
                <a:extLst>
                  <a:ext uri="{FF2B5EF4-FFF2-40B4-BE49-F238E27FC236}">
                    <a16:creationId xmlns:a16="http://schemas.microsoft.com/office/drawing/2014/main" id="{4E487E22-0592-4EB5-AD5A-EC7106A177B6}"/>
                  </a:ext>
                </a:extLst>
              </p:cNvPr>
              <p:cNvCxnSpPr>
                <a:cxnSpLocks/>
              </p:cNvCxnSpPr>
              <p:nvPr/>
            </p:nvCxnSpPr>
            <p:spPr>
              <a:xfrm>
                <a:off x="2635888" y="5569985"/>
                <a:ext cx="4990765" cy="0"/>
              </a:xfrm>
              <a:prstGeom prst="straightConnector1">
                <a:avLst/>
              </a:prstGeom>
              <a:noFill/>
              <a:ln w="31750" cap="flat" cmpd="sng" algn="ctr">
                <a:solidFill>
                  <a:schemeClr val="accent1"/>
                </a:solidFill>
                <a:prstDash val="solid"/>
                <a:miter lim="800000"/>
                <a:headEnd type="none"/>
                <a:tailEnd type="arrow"/>
              </a:ln>
              <a:effectLst/>
            </p:spPr>
          </p:cxnSp>
          <p:sp>
            <p:nvSpPr>
              <p:cNvPr id="14" name="テキスト ボックス 13">
                <a:extLst>
                  <a:ext uri="{FF2B5EF4-FFF2-40B4-BE49-F238E27FC236}">
                    <a16:creationId xmlns:a16="http://schemas.microsoft.com/office/drawing/2014/main" id="{9A3BB1F3-FD72-434C-9C5E-E7AF1A58CF86}"/>
                  </a:ext>
                </a:extLst>
              </p:cNvPr>
              <p:cNvSpPr txBox="1"/>
              <p:nvPr/>
            </p:nvSpPr>
            <p:spPr>
              <a:xfrm>
                <a:off x="1789967" y="6115138"/>
                <a:ext cx="6893684" cy="32757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sng" strike="noStrike" kern="0" cap="none" spc="0" normalizeH="0" baseline="0" noProof="0">
                    <a:ln>
                      <a:noFill/>
                    </a:ln>
                    <a:solidFill>
                      <a:srgbClr val="595959"/>
                    </a:solidFill>
                    <a:effectLst/>
                    <a:uLnTx/>
                    <a:uFillTx/>
                    <a:latin typeface="+mn-ea"/>
                  </a:rPr>
                  <a:t>お客様から求められている事（お客様のニーズ）</a:t>
                </a:r>
              </a:p>
            </p:txBody>
          </p:sp>
          <p:sp>
            <p:nvSpPr>
              <p:cNvPr id="15" name="テキスト ボックス 14">
                <a:extLst>
                  <a:ext uri="{FF2B5EF4-FFF2-40B4-BE49-F238E27FC236}">
                    <a16:creationId xmlns:a16="http://schemas.microsoft.com/office/drawing/2014/main" id="{06CF923F-6436-404B-B019-3F98DE0AD5F0}"/>
                  </a:ext>
                </a:extLst>
              </p:cNvPr>
              <p:cNvSpPr txBox="1"/>
              <p:nvPr/>
            </p:nvSpPr>
            <p:spPr>
              <a:xfrm>
                <a:off x="448125" y="1887795"/>
                <a:ext cx="511729" cy="3682190"/>
              </a:xfrm>
              <a:prstGeom prst="rect">
                <a:avLst/>
              </a:prstGeom>
              <a:noFill/>
            </p:spPr>
            <p:txBody>
              <a:bodyPr vert="eaVert"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srgbClr val="595959"/>
                    </a:solidFill>
                    <a:effectLst/>
                    <a:uLnTx/>
                    <a:uFillTx/>
                    <a:latin typeface="+mn-ea"/>
                  </a:rPr>
                  <a:t>切り口（分類）</a:t>
                </a:r>
              </a:p>
            </p:txBody>
          </p:sp>
          <p:sp>
            <p:nvSpPr>
              <p:cNvPr id="16" name="角丸四角形 16">
                <a:extLst>
                  <a:ext uri="{FF2B5EF4-FFF2-40B4-BE49-F238E27FC236}">
                    <a16:creationId xmlns:a16="http://schemas.microsoft.com/office/drawing/2014/main" id="{B52F83F4-4567-4391-AE82-D343D5562924}"/>
                  </a:ext>
                </a:extLst>
              </p:cNvPr>
              <p:cNvSpPr/>
              <p:nvPr/>
            </p:nvSpPr>
            <p:spPr>
              <a:xfrm>
                <a:off x="1003531" y="2054866"/>
                <a:ext cx="1533281" cy="691930"/>
              </a:xfrm>
              <a:prstGeom prst="roundRect">
                <a:avLst>
                  <a:gd name="adj" fmla="val 6731"/>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kern="0">
                    <a:solidFill>
                      <a:srgbClr val="595959"/>
                    </a:solidFill>
                    <a:latin typeface="+mn-ea"/>
                    <a:cs typeface="Meiryo UI" panose="020B0604030504040204" pitchFamily="50" charset="-128"/>
                  </a:rPr>
                  <a:t>30</a:t>
                </a:r>
                <a:r>
                  <a:rPr kumimoji="0" lang="ja-JP" altLang="en-US" sz="1400" b="1" kern="0">
                    <a:solidFill>
                      <a:srgbClr val="595959"/>
                    </a:solidFill>
                    <a:latin typeface="+mn-ea"/>
                    <a:cs typeface="Meiryo UI" panose="020B0604030504040204" pitchFamily="50" charset="-128"/>
                  </a:rPr>
                  <a:t>年以上</a:t>
                </a:r>
                <a:endPar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endParaRPr>
              </a:p>
            </p:txBody>
          </p:sp>
          <p:sp>
            <p:nvSpPr>
              <p:cNvPr id="17" name="角丸四角形 17">
                <a:extLst>
                  <a:ext uri="{FF2B5EF4-FFF2-40B4-BE49-F238E27FC236}">
                    <a16:creationId xmlns:a16="http://schemas.microsoft.com/office/drawing/2014/main" id="{97119A49-24B7-4EC9-B802-03F52BE2889C}"/>
                  </a:ext>
                </a:extLst>
              </p:cNvPr>
              <p:cNvSpPr/>
              <p:nvPr/>
            </p:nvSpPr>
            <p:spPr>
              <a:xfrm>
                <a:off x="1003531" y="4149080"/>
                <a:ext cx="1533280" cy="691930"/>
              </a:xfrm>
              <a:prstGeom prst="roundRect">
                <a:avLst>
                  <a:gd name="adj" fmla="val 8860"/>
                </a:avLst>
              </a:prstGeom>
              <a:solidFill>
                <a:srgbClr val="045890">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5-10</a:t>
                </a:r>
                <a:r>
                  <a:rPr kumimoji="0" lang="ja-JP" altLang="en-US" sz="1400" b="1" i="0" u="none" strike="noStrike" kern="0" cap="none" spc="0" normalizeH="0" baseline="0" noProof="0">
                    <a:ln>
                      <a:noFill/>
                    </a:ln>
                    <a:solidFill>
                      <a:srgbClr val="595959"/>
                    </a:solidFill>
                    <a:effectLst/>
                    <a:uLnTx/>
                    <a:uFillTx/>
                    <a:latin typeface="+mn-ea"/>
                    <a:cs typeface="Meiryo UI" panose="020B0604030504040204" pitchFamily="50" charset="-128"/>
                  </a:rPr>
                  <a:t>年</a:t>
                </a:r>
              </a:p>
            </p:txBody>
          </p:sp>
          <p:sp>
            <p:nvSpPr>
              <p:cNvPr id="18" name="角丸四角形 18">
                <a:extLst>
                  <a:ext uri="{FF2B5EF4-FFF2-40B4-BE49-F238E27FC236}">
                    <a16:creationId xmlns:a16="http://schemas.microsoft.com/office/drawing/2014/main" id="{C26DD603-468F-4EE5-96EB-CA22FFE978FF}"/>
                  </a:ext>
                </a:extLst>
              </p:cNvPr>
              <p:cNvSpPr/>
              <p:nvPr/>
            </p:nvSpPr>
            <p:spPr>
              <a:xfrm>
                <a:off x="1003531" y="2752938"/>
                <a:ext cx="1533280" cy="691930"/>
              </a:xfrm>
              <a:prstGeom prst="roundRect">
                <a:avLst>
                  <a:gd name="adj" fmla="val 3184"/>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21-30</a:t>
                </a:r>
                <a:r>
                  <a:rPr kumimoji="0" lang="ja-JP" altLang="en-US" sz="1400" b="1" i="0" u="none" strike="noStrike" kern="0" cap="none" spc="0" normalizeH="0" baseline="0" noProof="0">
                    <a:ln>
                      <a:noFill/>
                    </a:ln>
                    <a:solidFill>
                      <a:srgbClr val="595959"/>
                    </a:solidFill>
                    <a:effectLst/>
                    <a:uLnTx/>
                    <a:uFillTx/>
                    <a:latin typeface="+mn-ea"/>
                    <a:cs typeface="Meiryo UI" panose="020B0604030504040204" pitchFamily="50" charset="-128"/>
                  </a:rPr>
                  <a:t>年</a:t>
                </a:r>
                <a:endPar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endParaRPr>
              </a:p>
            </p:txBody>
          </p:sp>
          <p:sp>
            <p:nvSpPr>
              <p:cNvPr id="19" name="角丸四角形 33">
                <a:extLst>
                  <a:ext uri="{FF2B5EF4-FFF2-40B4-BE49-F238E27FC236}">
                    <a16:creationId xmlns:a16="http://schemas.microsoft.com/office/drawing/2014/main" id="{EC8F5316-E172-46EE-AC47-722F97911934}"/>
                  </a:ext>
                </a:extLst>
              </p:cNvPr>
              <p:cNvSpPr/>
              <p:nvPr/>
            </p:nvSpPr>
            <p:spPr>
              <a:xfrm>
                <a:off x="1003531" y="3451009"/>
                <a:ext cx="1533280" cy="691930"/>
              </a:xfrm>
              <a:prstGeom prst="roundRect">
                <a:avLst>
                  <a:gd name="adj" fmla="val 6731"/>
                </a:avLst>
              </a:prstGeom>
              <a:solidFill>
                <a:srgbClr val="FFFFFF">
                  <a:lumMod val="85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kern="0">
                    <a:solidFill>
                      <a:srgbClr val="595959"/>
                    </a:solidFill>
                    <a:latin typeface="+mn-ea"/>
                    <a:cs typeface="Meiryo UI" panose="020B0604030504040204" pitchFamily="50" charset="-128"/>
                  </a:rPr>
                  <a:t>11-20</a:t>
                </a:r>
                <a:r>
                  <a:rPr kumimoji="0" lang="ja-JP" altLang="en-US" sz="1400" b="1" i="0" u="none" strike="noStrike" kern="0" cap="none" spc="0" normalizeH="0" baseline="0" noProof="0">
                    <a:ln>
                      <a:noFill/>
                    </a:ln>
                    <a:solidFill>
                      <a:srgbClr val="595959"/>
                    </a:solidFill>
                    <a:effectLst/>
                    <a:uLnTx/>
                    <a:uFillTx/>
                    <a:latin typeface="+mn-ea"/>
                    <a:cs typeface="Meiryo UI" panose="020B0604030504040204" pitchFamily="50" charset="-128"/>
                  </a:rPr>
                  <a:t>年</a:t>
                </a:r>
                <a:endPar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endParaRPr>
              </a:p>
            </p:txBody>
          </p:sp>
          <p:sp>
            <p:nvSpPr>
              <p:cNvPr id="20" name="角丸四角形 34">
                <a:extLst>
                  <a:ext uri="{FF2B5EF4-FFF2-40B4-BE49-F238E27FC236}">
                    <a16:creationId xmlns:a16="http://schemas.microsoft.com/office/drawing/2014/main" id="{0D2B022D-9F88-498D-8685-695B23634EAC}"/>
                  </a:ext>
                </a:extLst>
              </p:cNvPr>
              <p:cNvSpPr/>
              <p:nvPr/>
            </p:nvSpPr>
            <p:spPr>
              <a:xfrm>
                <a:off x="1003531" y="4847151"/>
                <a:ext cx="1533281" cy="691930"/>
              </a:xfrm>
              <a:prstGeom prst="roundRect">
                <a:avLst>
                  <a:gd name="adj" fmla="val 3184"/>
                </a:avLst>
              </a:prstGeom>
              <a:solidFill>
                <a:srgbClr val="045890">
                  <a:lumMod val="20000"/>
                  <a:lumOff val="80000"/>
                </a:srgbClr>
              </a:solidFill>
              <a:ln w="38100" cap="flat" cmpd="sng" algn="ctr">
                <a:noFill/>
                <a:prstDash val="solid"/>
                <a:miter lim="800000"/>
              </a:ln>
              <a:effectLst>
                <a:softEdge rad="3175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087"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rPr>
                  <a:t>5</a:t>
                </a:r>
                <a:r>
                  <a:rPr kumimoji="0" lang="ja-JP" altLang="en-US" sz="1400" b="1" i="0" u="none" strike="noStrike" kern="0" cap="none" spc="0" normalizeH="0" baseline="0" noProof="0">
                    <a:ln>
                      <a:noFill/>
                    </a:ln>
                    <a:solidFill>
                      <a:srgbClr val="595959"/>
                    </a:solidFill>
                    <a:effectLst/>
                    <a:uLnTx/>
                    <a:uFillTx/>
                    <a:latin typeface="+mn-ea"/>
                    <a:cs typeface="Meiryo UI" panose="020B0604030504040204" pitchFamily="50" charset="-128"/>
                  </a:rPr>
                  <a:t>年未満</a:t>
                </a:r>
                <a:endParaRPr kumimoji="0" lang="en-US" altLang="ja-JP" sz="1400" b="1" i="0" u="none" strike="noStrike" kern="0" cap="none" spc="0" normalizeH="0" baseline="0" noProof="0">
                  <a:ln>
                    <a:noFill/>
                  </a:ln>
                  <a:solidFill>
                    <a:srgbClr val="595959"/>
                  </a:solidFill>
                  <a:effectLst/>
                  <a:uLnTx/>
                  <a:uFillTx/>
                  <a:latin typeface="+mn-ea"/>
                  <a:cs typeface="Meiryo UI" panose="020B0604030504040204" pitchFamily="50" charset="-128"/>
                </a:endParaRPr>
              </a:p>
            </p:txBody>
          </p:sp>
          <p:cxnSp>
            <p:nvCxnSpPr>
              <p:cNvPr id="21" name="直線コネクタ 20">
                <a:extLst>
                  <a:ext uri="{FF2B5EF4-FFF2-40B4-BE49-F238E27FC236}">
                    <a16:creationId xmlns:a16="http://schemas.microsoft.com/office/drawing/2014/main" id="{70CFCB61-ECA2-4CF0-9D69-BF855141E660}"/>
                  </a:ext>
                </a:extLst>
              </p:cNvPr>
              <p:cNvCxnSpPr/>
              <p:nvPr/>
            </p:nvCxnSpPr>
            <p:spPr>
              <a:xfrm flipV="1">
                <a:off x="4338242" y="2074085"/>
                <a:ext cx="0" cy="3448411"/>
              </a:xfrm>
              <a:prstGeom prst="line">
                <a:avLst/>
              </a:prstGeom>
              <a:noFill/>
              <a:ln w="6350" cap="flat" cmpd="sng" algn="ctr">
                <a:solidFill>
                  <a:srgbClr val="FFFFFF">
                    <a:lumMod val="50000"/>
                  </a:srgbClr>
                </a:solidFill>
                <a:prstDash val="sysDash"/>
                <a:miter lim="800000"/>
              </a:ln>
              <a:effectLst/>
            </p:spPr>
          </p:cxnSp>
          <p:cxnSp>
            <p:nvCxnSpPr>
              <p:cNvPr id="22" name="直線コネクタ 21">
                <a:extLst>
                  <a:ext uri="{FF2B5EF4-FFF2-40B4-BE49-F238E27FC236}">
                    <a16:creationId xmlns:a16="http://schemas.microsoft.com/office/drawing/2014/main" id="{1C1B59F5-44FD-44EA-BE6F-5B3803C3BB58}"/>
                  </a:ext>
                </a:extLst>
              </p:cNvPr>
              <p:cNvCxnSpPr/>
              <p:nvPr/>
            </p:nvCxnSpPr>
            <p:spPr>
              <a:xfrm flipV="1">
                <a:off x="5982448" y="2074085"/>
                <a:ext cx="0" cy="3448411"/>
              </a:xfrm>
              <a:prstGeom prst="line">
                <a:avLst/>
              </a:prstGeom>
              <a:noFill/>
              <a:ln w="6350" cap="flat" cmpd="sng" algn="ctr">
                <a:solidFill>
                  <a:srgbClr val="FFFFFF">
                    <a:lumMod val="50000"/>
                  </a:srgbClr>
                </a:solidFill>
                <a:prstDash val="sysDash"/>
                <a:miter lim="800000"/>
              </a:ln>
              <a:effectLst/>
            </p:spPr>
          </p:cxnSp>
          <p:cxnSp>
            <p:nvCxnSpPr>
              <p:cNvPr id="37" name="直線コネクタ 36">
                <a:extLst>
                  <a:ext uri="{FF2B5EF4-FFF2-40B4-BE49-F238E27FC236}">
                    <a16:creationId xmlns:a16="http://schemas.microsoft.com/office/drawing/2014/main" id="{DC0EAD28-C7AE-473B-8961-801BCF26BE74}"/>
                  </a:ext>
                </a:extLst>
              </p:cNvPr>
              <p:cNvCxnSpPr>
                <a:cxnSpLocks/>
              </p:cNvCxnSpPr>
              <p:nvPr/>
            </p:nvCxnSpPr>
            <p:spPr>
              <a:xfrm>
                <a:off x="2694037" y="2749867"/>
                <a:ext cx="4797025" cy="0"/>
              </a:xfrm>
              <a:prstGeom prst="line">
                <a:avLst/>
              </a:prstGeom>
              <a:noFill/>
              <a:ln w="6350" cap="flat" cmpd="sng" algn="ctr">
                <a:solidFill>
                  <a:srgbClr val="FFFFFF">
                    <a:lumMod val="50000"/>
                  </a:srgbClr>
                </a:solidFill>
                <a:prstDash val="sysDash"/>
                <a:miter lim="800000"/>
              </a:ln>
              <a:effectLst/>
            </p:spPr>
          </p:cxnSp>
          <p:cxnSp>
            <p:nvCxnSpPr>
              <p:cNvPr id="38" name="直線コネクタ 37">
                <a:extLst>
                  <a:ext uri="{FF2B5EF4-FFF2-40B4-BE49-F238E27FC236}">
                    <a16:creationId xmlns:a16="http://schemas.microsoft.com/office/drawing/2014/main" id="{831DA77E-B0A8-4968-80A1-ECBEEB81AC07}"/>
                  </a:ext>
                </a:extLst>
              </p:cNvPr>
              <p:cNvCxnSpPr>
                <a:cxnSpLocks/>
              </p:cNvCxnSpPr>
              <p:nvPr/>
            </p:nvCxnSpPr>
            <p:spPr>
              <a:xfrm>
                <a:off x="2694037" y="3447938"/>
                <a:ext cx="4797025" cy="0"/>
              </a:xfrm>
              <a:prstGeom prst="line">
                <a:avLst/>
              </a:prstGeom>
              <a:noFill/>
              <a:ln w="6350" cap="flat" cmpd="sng" algn="ctr">
                <a:solidFill>
                  <a:srgbClr val="FFFFFF">
                    <a:lumMod val="50000"/>
                  </a:srgbClr>
                </a:solidFill>
                <a:prstDash val="sysDash"/>
                <a:miter lim="800000"/>
              </a:ln>
              <a:effectLst/>
            </p:spPr>
          </p:cxnSp>
          <p:cxnSp>
            <p:nvCxnSpPr>
              <p:cNvPr id="39" name="直線コネクタ 38">
                <a:extLst>
                  <a:ext uri="{FF2B5EF4-FFF2-40B4-BE49-F238E27FC236}">
                    <a16:creationId xmlns:a16="http://schemas.microsoft.com/office/drawing/2014/main" id="{5E6FD27C-6F24-43D7-B3DF-BD0697BE6FA0}"/>
                  </a:ext>
                </a:extLst>
              </p:cNvPr>
              <p:cNvCxnSpPr>
                <a:cxnSpLocks/>
              </p:cNvCxnSpPr>
              <p:nvPr/>
            </p:nvCxnSpPr>
            <p:spPr>
              <a:xfrm>
                <a:off x="2694037" y="4146009"/>
                <a:ext cx="4797025" cy="0"/>
              </a:xfrm>
              <a:prstGeom prst="line">
                <a:avLst/>
              </a:prstGeom>
              <a:noFill/>
              <a:ln w="6350" cap="flat" cmpd="sng" algn="ctr">
                <a:solidFill>
                  <a:srgbClr val="FFFFFF">
                    <a:lumMod val="50000"/>
                  </a:srgbClr>
                </a:solidFill>
                <a:prstDash val="sysDash"/>
                <a:miter lim="800000"/>
              </a:ln>
              <a:effectLst/>
            </p:spPr>
          </p:cxnSp>
          <p:cxnSp>
            <p:nvCxnSpPr>
              <p:cNvPr id="40" name="直線コネクタ 39">
                <a:extLst>
                  <a:ext uri="{FF2B5EF4-FFF2-40B4-BE49-F238E27FC236}">
                    <a16:creationId xmlns:a16="http://schemas.microsoft.com/office/drawing/2014/main" id="{F3A32382-1048-4073-ABBC-439AEDA5E29E}"/>
                  </a:ext>
                </a:extLst>
              </p:cNvPr>
              <p:cNvCxnSpPr>
                <a:cxnSpLocks/>
              </p:cNvCxnSpPr>
              <p:nvPr/>
            </p:nvCxnSpPr>
            <p:spPr>
              <a:xfrm>
                <a:off x="2694037" y="4844081"/>
                <a:ext cx="4797025" cy="0"/>
              </a:xfrm>
              <a:prstGeom prst="line">
                <a:avLst/>
              </a:prstGeom>
              <a:noFill/>
              <a:ln w="6350" cap="flat" cmpd="sng" algn="ctr">
                <a:solidFill>
                  <a:srgbClr val="FFFFFF">
                    <a:lumMod val="50000"/>
                  </a:srgbClr>
                </a:solidFill>
                <a:prstDash val="sysDash"/>
                <a:miter lim="800000"/>
              </a:ln>
              <a:effectLst/>
            </p:spPr>
          </p:cxnSp>
        </p:grpSp>
        <p:grpSp>
          <p:nvGrpSpPr>
            <p:cNvPr id="23" name="グループ化 22">
              <a:extLst>
                <a:ext uri="{FF2B5EF4-FFF2-40B4-BE49-F238E27FC236}">
                  <a16:creationId xmlns:a16="http://schemas.microsoft.com/office/drawing/2014/main" id="{9CE8742B-1AE9-4D61-8742-62BCBE4B57A3}"/>
                </a:ext>
              </a:extLst>
            </p:cNvPr>
            <p:cNvGrpSpPr/>
            <p:nvPr/>
          </p:nvGrpSpPr>
          <p:grpSpPr>
            <a:xfrm>
              <a:off x="6003868" y="4382997"/>
              <a:ext cx="278590" cy="798000"/>
              <a:chOff x="9570128" y="2205856"/>
              <a:chExt cx="278590" cy="798000"/>
            </a:xfrm>
          </p:grpSpPr>
          <p:sp>
            <p:nvSpPr>
              <p:cNvPr id="6" name="楕円 5">
                <a:extLst>
                  <a:ext uri="{FF2B5EF4-FFF2-40B4-BE49-F238E27FC236}">
                    <a16:creationId xmlns:a16="http://schemas.microsoft.com/office/drawing/2014/main" id="{C6DCA975-4FA6-46EE-A243-0BE5B1B73D48}"/>
                  </a:ext>
                </a:extLst>
              </p:cNvPr>
              <p:cNvSpPr/>
              <p:nvPr/>
            </p:nvSpPr>
            <p:spPr>
              <a:xfrm>
                <a:off x="9570128" y="26810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楕円 40">
                <a:extLst>
                  <a:ext uri="{FF2B5EF4-FFF2-40B4-BE49-F238E27FC236}">
                    <a16:creationId xmlns:a16="http://schemas.microsoft.com/office/drawing/2014/main" id="{C84423EC-E8A5-4C92-A0C5-7EA10C0B3BA0}"/>
                  </a:ext>
                </a:extLst>
              </p:cNvPr>
              <p:cNvSpPr/>
              <p:nvPr/>
            </p:nvSpPr>
            <p:spPr>
              <a:xfrm>
                <a:off x="9722528" y="28334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9C57C46C-E672-411F-B412-A127A95CC44C}"/>
                  </a:ext>
                </a:extLst>
              </p:cNvPr>
              <p:cNvSpPr/>
              <p:nvPr/>
            </p:nvSpPr>
            <p:spPr>
              <a:xfrm>
                <a:off x="9570128" y="248254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楕円 51">
                <a:extLst>
                  <a:ext uri="{FF2B5EF4-FFF2-40B4-BE49-F238E27FC236}">
                    <a16:creationId xmlns:a16="http://schemas.microsoft.com/office/drawing/2014/main" id="{0B7648DA-AB4E-4CD9-A648-169F02FBE3B4}"/>
                  </a:ext>
                </a:extLst>
              </p:cNvPr>
              <p:cNvSpPr/>
              <p:nvPr/>
            </p:nvSpPr>
            <p:spPr>
              <a:xfrm>
                <a:off x="9722528" y="263494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楕円 57">
                <a:extLst>
                  <a:ext uri="{FF2B5EF4-FFF2-40B4-BE49-F238E27FC236}">
                    <a16:creationId xmlns:a16="http://schemas.microsoft.com/office/drawing/2014/main" id="{5313F498-D816-4196-B92D-0F898C4687AF}"/>
                  </a:ext>
                </a:extLst>
              </p:cNvPr>
              <p:cNvSpPr/>
              <p:nvPr/>
            </p:nvSpPr>
            <p:spPr>
              <a:xfrm>
                <a:off x="9706252" y="2773037"/>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楕円 64">
                <a:extLst>
                  <a:ext uri="{FF2B5EF4-FFF2-40B4-BE49-F238E27FC236}">
                    <a16:creationId xmlns:a16="http://schemas.microsoft.com/office/drawing/2014/main" id="{3D5E0C1E-CF62-44AD-849D-85374BC93351}"/>
                  </a:ext>
                </a:extLst>
              </p:cNvPr>
              <p:cNvSpPr/>
              <p:nvPr/>
            </p:nvSpPr>
            <p:spPr>
              <a:xfrm>
                <a:off x="9724252" y="248254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楕円 71">
                <a:extLst>
                  <a:ext uri="{FF2B5EF4-FFF2-40B4-BE49-F238E27FC236}">
                    <a16:creationId xmlns:a16="http://schemas.microsoft.com/office/drawing/2014/main" id="{A6A5267E-AE6E-4567-8793-C82FC9B4368C}"/>
                  </a:ext>
                </a:extLst>
              </p:cNvPr>
              <p:cNvSpPr/>
              <p:nvPr/>
            </p:nvSpPr>
            <p:spPr>
              <a:xfrm>
                <a:off x="9655456" y="256366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楕円 72">
                <a:extLst>
                  <a:ext uri="{FF2B5EF4-FFF2-40B4-BE49-F238E27FC236}">
                    <a16:creationId xmlns:a16="http://schemas.microsoft.com/office/drawing/2014/main" id="{0836ABFC-DFB2-420A-BB97-AD0E917850DC}"/>
                  </a:ext>
                </a:extLst>
              </p:cNvPr>
              <p:cNvSpPr/>
              <p:nvPr/>
            </p:nvSpPr>
            <p:spPr>
              <a:xfrm>
                <a:off x="9807856" y="271606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楕円 78">
                <a:extLst>
                  <a:ext uri="{FF2B5EF4-FFF2-40B4-BE49-F238E27FC236}">
                    <a16:creationId xmlns:a16="http://schemas.microsoft.com/office/drawing/2014/main" id="{1DEBF40B-73E4-4766-99F1-EBAA4DBFDDC3}"/>
                  </a:ext>
                </a:extLst>
              </p:cNvPr>
              <p:cNvSpPr/>
              <p:nvPr/>
            </p:nvSpPr>
            <p:spPr>
              <a:xfrm>
                <a:off x="9588128" y="28154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楕円 79">
                <a:extLst>
                  <a:ext uri="{FF2B5EF4-FFF2-40B4-BE49-F238E27FC236}">
                    <a16:creationId xmlns:a16="http://schemas.microsoft.com/office/drawing/2014/main" id="{FB9C384C-F612-4F86-8E2E-0E606989729E}"/>
                  </a:ext>
                </a:extLst>
              </p:cNvPr>
              <p:cNvSpPr/>
              <p:nvPr/>
            </p:nvSpPr>
            <p:spPr>
              <a:xfrm>
                <a:off x="9740528" y="29678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楕円 85">
                <a:extLst>
                  <a:ext uri="{FF2B5EF4-FFF2-40B4-BE49-F238E27FC236}">
                    <a16:creationId xmlns:a16="http://schemas.microsoft.com/office/drawing/2014/main" id="{981259DD-C1C1-4FE8-9208-37F125E07A17}"/>
                  </a:ext>
                </a:extLst>
              </p:cNvPr>
              <p:cNvSpPr/>
              <p:nvPr/>
            </p:nvSpPr>
            <p:spPr>
              <a:xfrm>
                <a:off x="9785623" y="28154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楕円 92">
                <a:extLst>
                  <a:ext uri="{FF2B5EF4-FFF2-40B4-BE49-F238E27FC236}">
                    <a16:creationId xmlns:a16="http://schemas.microsoft.com/office/drawing/2014/main" id="{7DAA7437-EE34-4BD9-936A-EAA269A923DA}"/>
                  </a:ext>
                </a:extLst>
              </p:cNvPr>
              <p:cNvSpPr/>
              <p:nvPr/>
            </p:nvSpPr>
            <p:spPr>
              <a:xfrm>
                <a:off x="9812718" y="250597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楕円 99">
                <a:extLst>
                  <a:ext uri="{FF2B5EF4-FFF2-40B4-BE49-F238E27FC236}">
                    <a16:creationId xmlns:a16="http://schemas.microsoft.com/office/drawing/2014/main" id="{20650645-00BE-47CE-9E86-B784772B2E99}"/>
                  </a:ext>
                </a:extLst>
              </p:cNvPr>
              <p:cNvSpPr/>
              <p:nvPr/>
            </p:nvSpPr>
            <p:spPr>
              <a:xfrm>
                <a:off x="9604132" y="22058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楕円 100">
                <a:extLst>
                  <a:ext uri="{FF2B5EF4-FFF2-40B4-BE49-F238E27FC236}">
                    <a16:creationId xmlns:a16="http://schemas.microsoft.com/office/drawing/2014/main" id="{F53FB652-62E8-43B0-9B5E-E9C3670F0A9E}"/>
                  </a:ext>
                </a:extLst>
              </p:cNvPr>
              <p:cNvSpPr/>
              <p:nvPr/>
            </p:nvSpPr>
            <p:spPr>
              <a:xfrm>
                <a:off x="9756532" y="23582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87D19FA4-E94B-4EDE-A3BC-44547B4F19CB}"/>
                </a:ext>
              </a:extLst>
            </p:cNvPr>
            <p:cNvGrpSpPr/>
            <p:nvPr/>
          </p:nvGrpSpPr>
          <p:grpSpPr>
            <a:xfrm>
              <a:off x="3568431" y="4358763"/>
              <a:ext cx="430105" cy="820684"/>
              <a:chOff x="10395223" y="3115572"/>
              <a:chExt cx="430105" cy="820684"/>
            </a:xfrm>
          </p:grpSpPr>
          <p:sp>
            <p:nvSpPr>
              <p:cNvPr id="46" name="楕円 45">
                <a:extLst>
                  <a:ext uri="{FF2B5EF4-FFF2-40B4-BE49-F238E27FC236}">
                    <a16:creationId xmlns:a16="http://schemas.microsoft.com/office/drawing/2014/main" id="{1E3B9AAC-C7A5-44E9-956E-A9B8006AA8A5}"/>
                  </a:ext>
                </a:extLst>
              </p:cNvPr>
              <p:cNvSpPr/>
              <p:nvPr/>
            </p:nvSpPr>
            <p:spPr>
              <a:xfrm>
                <a:off x="10484528" y="35954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85B44695-373B-4F1C-AF39-6DE88ED078BE}"/>
                  </a:ext>
                </a:extLst>
              </p:cNvPr>
              <p:cNvSpPr/>
              <p:nvPr/>
            </p:nvSpPr>
            <p:spPr>
              <a:xfrm>
                <a:off x="10636928" y="37478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楕円 47">
                <a:extLst>
                  <a:ext uri="{FF2B5EF4-FFF2-40B4-BE49-F238E27FC236}">
                    <a16:creationId xmlns:a16="http://schemas.microsoft.com/office/drawing/2014/main" id="{6314C43C-5C1C-4B5B-BDE0-7A5F8166A50B}"/>
                  </a:ext>
                </a:extLst>
              </p:cNvPr>
              <p:cNvSpPr/>
              <p:nvPr/>
            </p:nvSpPr>
            <p:spPr>
              <a:xfrm>
                <a:off x="10789328" y="39002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a:extLst>
                  <a:ext uri="{FF2B5EF4-FFF2-40B4-BE49-F238E27FC236}">
                    <a16:creationId xmlns:a16="http://schemas.microsoft.com/office/drawing/2014/main" id="{E0B43BD4-DAFD-43C7-84C2-FC670940AFBB}"/>
                  </a:ext>
                </a:extLst>
              </p:cNvPr>
              <p:cNvSpPr/>
              <p:nvPr/>
            </p:nvSpPr>
            <p:spPr>
              <a:xfrm>
                <a:off x="10484528" y="339694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C6CDF4FE-F1DD-4BB6-B823-7209BBD970EF}"/>
                  </a:ext>
                </a:extLst>
              </p:cNvPr>
              <p:cNvSpPr/>
              <p:nvPr/>
            </p:nvSpPr>
            <p:spPr>
              <a:xfrm>
                <a:off x="10468252" y="3535037"/>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楕円 63">
                <a:extLst>
                  <a:ext uri="{FF2B5EF4-FFF2-40B4-BE49-F238E27FC236}">
                    <a16:creationId xmlns:a16="http://schemas.microsoft.com/office/drawing/2014/main" id="{8158BE29-C3B8-4C40-8D16-92704762313D}"/>
                  </a:ext>
                </a:extLst>
              </p:cNvPr>
              <p:cNvSpPr/>
              <p:nvPr/>
            </p:nvSpPr>
            <p:spPr>
              <a:xfrm>
                <a:off x="10620652" y="3687437"/>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楕円 69">
                <a:extLst>
                  <a:ext uri="{FF2B5EF4-FFF2-40B4-BE49-F238E27FC236}">
                    <a16:creationId xmlns:a16="http://schemas.microsoft.com/office/drawing/2014/main" id="{E9332766-5201-428E-913F-1F2EE4484FE6}"/>
                  </a:ext>
                </a:extLst>
              </p:cNvPr>
              <p:cNvSpPr/>
              <p:nvPr/>
            </p:nvSpPr>
            <p:spPr>
              <a:xfrm>
                <a:off x="10486252" y="324454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楕円 70">
                <a:extLst>
                  <a:ext uri="{FF2B5EF4-FFF2-40B4-BE49-F238E27FC236}">
                    <a16:creationId xmlns:a16="http://schemas.microsoft.com/office/drawing/2014/main" id="{0904C864-AAC7-4838-AE82-D77F6ACADA7A}"/>
                  </a:ext>
                </a:extLst>
              </p:cNvPr>
              <p:cNvSpPr/>
              <p:nvPr/>
            </p:nvSpPr>
            <p:spPr>
              <a:xfrm>
                <a:off x="10638652" y="339694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E27B8364-1606-427F-B3D7-6C932815D3A7}"/>
                  </a:ext>
                </a:extLst>
              </p:cNvPr>
              <p:cNvSpPr/>
              <p:nvPr/>
            </p:nvSpPr>
            <p:spPr>
              <a:xfrm>
                <a:off x="10417456" y="332566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楕円 77">
                <a:extLst>
                  <a:ext uri="{FF2B5EF4-FFF2-40B4-BE49-F238E27FC236}">
                    <a16:creationId xmlns:a16="http://schemas.microsoft.com/office/drawing/2014/main" id="{72391F45-A9FB-4A14-855A-ECD31D3B02EB}"/>
                  </a:ext>
                </a:extLst>
              </p:cNvPr>
              <p:cNvSpPr/>
              <p:nvPr/>
            </p:nvSpPr>
            <p:spPr>
              <a:xfrm>
                <a:off x="10569856" y="347806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楕円 84">
                <a:extLst>
                  <a:ext uri="{FF2B5EF4-FFF2-40B4-BE49-F238E27FC236}">
                    <a16:creationId xmlns:a16="http://schemas.microsoft.com/office/drawing/2014/main" id="{DF1CFB40-5FA4-4346-8168-6DC2B9812407}"/>
                  </a:ext>
                </a:extLst>
              </p:cNvPr>
              <p:cNvSpPr/>
              <p:nvPr/>
            </p:nvSpPr>
            <p:spPr>
              <a:xfrm>
                <a:off x="10502528" y="37298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楕円 89">
                <a:extLst>
                  <a:ext uri="{FF2B5EF4-FFF2-40B4-BE49-F238E27FC236}">
                    <a16:creationId xmlns:a16="http://schemas.microsoft.com/office/drawing/2014/main" id="{D709D0E5-5698-4A4C-9DD2-4DBC00BB13DE}"/>
                  </a:ext>
                </a:extLst>
              </p:cNvPr>
              <p:cNvSpPr/>
              <p:nvPr/>
            </p:nvSpPr>
            <p:spPr>
              <a:xfrm>
                <a:off x="10395223" y="34250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a:extLst>
                  <a:ext uri="{FF2B5EF4-FFF2-40B4-BE49-F238E27FC236}">
                    <a16:creationId xmlns:a16="http://schemas.microsoft.com/office/drawing/2014/main" id="{1D9AA4BB-6A55-40F9-B05E-FCCB2E3631B5}"/>
                  </a:ext>
                </a:extLst>
              </p:cNvPr>
              <p:cNvSpPr/>
              <p:nvPr/>
            </p:nvSpPr>
            <p:spPr>
              <a:xfrm>
                <a:off x="10547623" y="35774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楕円 91">
                <a:extLst>
                  <a:ext uri="{FF2B5EF4-FFF2-40B4-BE49-F238E27FC236}">
                    <a16:creationId xmlns:a16="http://schemas.microsoft.com/office/drawing/2014/main" id="{41C011B9-B720-482B-9F57-58D578ADAE9F}"/>
                  </a:ext>
                </a:extLst>
              </p:cNvPr>
              <p:cNvSpPr/>
              <p:nvPr/>
            </p:nvSpPr>
            <p:spPr>
              <a:xfrm>
                <a:off x="10700023" y="37298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楕円 96">
                <a:extLst>
                  <a:ext uri="{FF2B5EF4-FFF2-40B4-BE49-F238E27FC236}">
                    <a16:creationId xmlns:a16="http://schemas.microsoft.com/office/drawing/2014/main" id="{AAFD9C02-D1AE-49AF-834A-F11219D8D80C}"/>
                  </a:ext>
                </a:extLst>
              </p:cNvPr>
              <p:cNvSpPr/>
              <p:nvPr/>
            </p:nvSpPr>
            <p:spPr>
              <a:xfrm>
                <a:off x="10422318" y="311557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楕円 97">
                <a:extLst>
                  <a:ext uri="{FF2B5EF4-FFF2-40B4-BE49-F238E27FC236}">
                    <a16:creationId xmlns:a16="http://schemas.microsoft.com/office/drawing/2014/main" id="{E8C07892-11CB-47E6-8ABC-0084A569973A}"/>
                  </a:ext>
                </a:extLst>
              </p:cNvPr>
              <p:cNvSpPr/>
              <p:nvPr/>
            </p:nvSpPr>
            <p:spPr>
              <a:xfrm>
                <a:off x="10574718" y="326797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楕円 98">
                <a:extLst>
                  <a:ext uri="{FF2B5EF4-FFF2-40B4-BE49-F238E27FC236}">
                    <a16:creationId xmlns:a16="http://schemas.microsoft.com/office/drawing/2014/main" id="{EC256A4C-D1AA-4538-AF9C-BE557AAB7732}"/>
                  </a:ext>
                </a:extLst>
              </p:cNvPr>
              <p:cNvSpPr/>
              <p:nvPr/>
            </p:nvSpPr>
            <p:spPr>
              <a:xfrm>
                <a:off x="10727118" y="342037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楕円 105">
                <a:extLst>
                  <a:ext uri="{FF2B5EF4-FFF2-40B4-BE49-F238E27FC236}">
                    <a16:creationId xmlns:a16="http://schemas.microsoft.com/office/drawing/2014/main" id="{E205E7A6-A60E-4AD3-ABBE-4B711DF829A5}"/>
                  </a:ext>
                </a:extLst>
              </p:cNvPr>
              <p:cNvSpPr/>
              <p:nvPr/>
            </p:nvSpPr>
            <p:spPr>
              <a:xfrm>
                <a:off x="10518532" y="31202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9EA98A56-9E1A-406E-A940-542013A46493}"/>
                </a:ext>
              </a:extLst>
            </p:cNvPr>
            <p:cNvGrpSpPr/>
            <p:nvPr/>
          </p:nvGrpSpPr>
          <p:grpSpPr>
            <a:xfrm>
              <a:off x="3513253" y="2510441"/>
              <a:ext cx="543480" cy="950400"/>
              <a:chOff x="9450788" y="3854145"/>
              <a:chExt cx="543480" cy="950400"/>
            </a:xfrm>
          </p:grpSpPr>
          <p:sp>
            <p:nvSpPr>
              <p:cNvPr id="42" name="楕円 41">
                <a:extLst>
                  <a:ext uri="{FF2B5EF4-FFF2-40B4-BE49-F238E27FC236}">
                    <a16:creationId xmlns:a16="http://schemas.microsoft.com/office/drawing/2014/main" id="{4E7B75DF-E230-4EC1-B432-55DF1C4172BD}"/>
                  </a:ext>
                </a:extLst>
              </p:cNvPr>
              <p:cNvSpPr/>
              <p:nvPr/>
            </p:nvSpPr>
            <p:spPr>
              <a:xfrm>
                <a:off x="9467064" y="43293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楕円 42">
                <a:extLst>
                  <a:ext uri="{FF2B5EF4-FFF2-40B4-BE49-F238E27FC236}">
                    <a16:creationId xmlns:a16="http://schemas.microsoft.com/office/drawing/2014/main" id="{E64A56FC-2F66-4147-8453-3A5616CEB197}"/>
                  </a:ext>
                </a:extLst>
              </p:cNvPr>
              <p:cNvSpPr/>
              <p:nvPr/>
            </p:nvSpPr>
            <p:spPr>
              <a:xfrm>
                <a:off x="9619464" y="44817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7FE3E2A1-5082-4B49-8D16-F12C1B607F6A}"/>
                  </a:ext>
                </a:extLst>
              </p:cNvPr>
              <p:cNvSpPr/>
              <p:nvPr/>
            </p:nvSpPr>
            <p:spPr>
              <a:xfrm>
                <a:off x="9771864" y="46341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49812F1C-890E-43FC-A3EF-60BE5235FCBA}"/>
                  </a:ext>
                </a:extLst>
              </p:cNvPr>
              <p:cNvSpPr/>
              <p:nvPr/>
            </p:nvSpPr>
            <p:spPr>
              <a:xfrm>
                <a:off x="9570020" y="45177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楕円 52">
                <a:extLst>
                  <a:ext uri="{FF2B5EF4-FFF2-40B4-BE49-F238E27FC236}">
                    <a16:creationId xmlns:a16="http://schemas.microsoft.com/office/drawing/2014/main" id="{9A7FFD1F-D59D-4679-92F1-78D1D3796C5F}"/>
                  </a:ext>
                </a:extLst>
              </p:cNvPr>
              <p:cNvSpPr/>
              <p:nvPr/>
            </p:nvSpPr>
            <p:spPr>
              <a:xfrm>
                <a:off x="9467064" y="41308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4270AD42-7C3D-4D26-BC20-D5986B41FE67}"/>
                  </a:ext>
                </a:extLst>
              </p:cNvPr>
              <p:cNvSpPr/>
              <p:nvPr/>
            </p:nvSpPr>
            <p:spPr>
              <a:xfrm>
                <a:off x="9619464" y="42832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54">
                <a:extLst>
                  <a:ext uri="{FF2B5EF4-FFF2-40B4-BE49-F238E27FC236}">
                    <a16:creationId xmlns:a16="http://schemas.microsoft.com/office/drawing/2014/main" id="{5B9ED77E-E769-48DE-83D7-324289F5D38E}"/>
                  </a:ext>
                </a:extLst>
              </p:cNvPr>
              <p:cNvSpPr/>
              <p:nvPr/>
            </p:nvSpPr>
            <p:spPr>
              <a:xfrm>
                <a:off x="9771864" y="44356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楕円 55">
                <a:extLst>
                  <a:ext uri="{FF2B5EF4-FFF2-40B4-BE49-F238E27FC236}">
                    <a16:creationId xmlns:a16="http://schemas.microsoft.com/office/drawing/2014/main" id="{3B42EA80-2BF7-401C-8A15-B337E301432C}"/>
                  </a:ext>
                </a:extLst>
              </p:cNvPr>
              <p:cNvSpPr/>
              <p:nvPr/>
            </p:nvSpPr>
            <p:spPr>
              <a:xfrm>
                <a:off x="9924264" y="45880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楕円 58">
                <a:extLst>
                  <a:ext uri="{FF2B5EF4-FFF2-40B4-BE49-F238E27FC236}">
                    <a16:creationId xmlns:a16="http://schemas.microsoft.com/office/drawing/2014/main" id="{3BEDEB9A-DD90-476F-9481-3F7C39F02FB8}"/>
                  </a:ext>
                </a:extLst>
              </p:cNvPr>
              <p:cNvSpPr/>
              <p:nvPr/>
            </p:nvSpPr>
            <p:spPr>
              <a:xfrm>
                <a:off x="9450788" y="426892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楕円 59">
                <a:extLst>
                  <a:ext uri="{FF2B5EF4-FFF2-40B4-BE49-F238E27FC236}">
                    <a16:creationId xmlns:a16="http://schemas.microsoft.com/office/drawing/2014/main" id="{4374FCA5-01F0-406F-AA95-D4605870427C}"/>
                  </a:ext>
                </a:extLst>
              </p:cNvPr>
              <p:cNvSpPr/>
              <p:nvPr/>
            </p:nvSpPr>
            <p:spPr>
              <a:xfrm>
                <a:off x="9603188" y="442132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楕円 60">
                <a:extLst>
                  <a:ext uri="{FF2B5EF4-FFF2-40B4-BE49-F238E27FC236}">
                    <a16:creationId xmlns:a16="http://schemas.microsoft.com/office/drawing/2014/main" id="{0A6DA25A-52D0-4FA4-A2A8-AFFFC5F74FEC}"/>
                  </a:ext>
                </a:extLst>
              </p:cNvPr>
              <p:cNvSpPr/>
              <p:nvPr/>
            </p:nvSpPr>
            <p:spPr>
              <a:xfrm>
                <a:off x="9755588" y="457372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楕円 61">
                <a:extLst>
                  <a:ext uri="{FF2B5EF4-FFF2-40B4-BE49-F238E27FC236}">
                    <a16:creationId xmlns:a16="http://schemas.microsoft.com/office/drawing/2014/main" id="{5532E933-2DF1-42CA-ABC4-BF229F6ADC00}"/>
                  </a:ext>
                </a:extLst>
              </p:cNvPr>
              <p:cNvSpPr/>
              <p:nvPr/>
            </p:nvSpPr>
            <p:spPr>
              <a:xfrm>
                <a:off x="9553744" y="445732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楕円 65">
                <a:extLst>
                  <a:ext uri="{FF2B5EF4-FFF2-40B4-BE49-F238E27FC236}">
                    <a16:creationId xmlns:a16="http://schemas.microsoft.com/office/drawing/2014/main" id="{950EA5C1-E7D1-4D56-935A-A63B9CCDA573}"/>
                  </a:ext>
                </a:extLst>
              </p:cNvPr>
              <p:cNvSpPr/>
              <p:nvPr/>
            </p:nvSpPr>
            <p:spPr>
              <a:xfrm>
                <a:off x="9468788" y="39784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016AC2AE-FAF5-468F-BAC4-8234E31CEB56}"/>
                  </a:ext>
                </a:extLst>
              </p:cNvPr>
              <p:cNvSpPr/>
              <p:nvPr/>
            </p:nvSpPr>
            <p:spPr>
              <a:xfrm>
                <a:off x="9621188" y="41308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BEB910E1-96D3-4A12-9EB0-C751D96A5FE5}"/>
                  </a:ext>
                </a:extLst>
              </p:cNvPr>
              <p:cNvSpPr/>
              <p:nvPr/>
            </p:nvSpPr>
            <p:spPr>
              <a:xfrm>
                <a:off x="9773588" y="42832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楕円 68">
                <a:extLst>
                  <a:ext uri="{FF2B5EF4-FFF2-40B4-BE49-F238E27FC236}">
                    <a16:creationId xmlns:a16="http://schemas.microsoft.com/office/drawing/2014/main" id="{B92BFA18-72FB-4A7A-9559-7C049EB3BE12}"/>
                  </a:ext>
                </a:extLst>
              </p:cNvPr>
              <p:cNvSpPr/>
              <p:nvPr/>
            </p:nvSpPr>
            <p:spPr>
              <a:xfrm>
                <a:off x="9925988" y="44356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1BC47365-963E-4568-9EEF-7ECFA34C82A1}"/>
                  </a:ext>
                </a:extLst>
              </p:cNvPr>
              <p:cNvSpPr/>
              <p:nvPr/>
            </p:nvSpPr>
            <p:spPr>
              <a:xfrm>
                <a:off x="9552392" y="421195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034FD916-CD70-4BF1-B8AC-0518851D86A3}"/>
                  </a:ext>
                </a:extLst>
              </p:cNvPr>
              <p:cNvSpPr/>
              <p:nvPr/>
            </p:nvSpPr>
            <p:spPr>
              <a:xfrm>
                <a:off x="9704792" y="436435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楕円 75">
                <a:extLst>
                  <a:ext uri="{FF2B5EF4-FFF2-40B4-BE49-F238E27FC236}">
                    <a16:creationId xmlns:a16="http://schemas.microsoft.com/office/drawing/2014/main" id="{4CB7DAEC-3238-4497-8F64-FA1AC7267215}"/>
                  </a:ext>
                </a:extLst>
              </p:cNvPr>
              <p:cNvSpPr/>
              <p:nvPr/>
            </p:nvSpPr>
            <p:spPr>
              <a:xfrm>
                <a:off x="9857192" y="451675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楕円 80">
                <a:extLst>
                  <a:ext uri="{FF2B5EF4-FFF2-40B4-BE49-F238E27FC236}">
                    <a16:creationId xmlns:a16="http://schemas.microsoft.com/office/drawing/2014/main" id="{5327610A-4DCB-479C-9A1B-4612EA8FD4E7}"/>
                  </a:ext>
                </a:extLst>
              </p:cNvPr>
              <p:cNvSpPr/>
              <p:nvPr/>
            </p:nvSpPr>
            <p:spPr>
              <a:xfrm>
                <a:off x="9485064" y="44637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楕円 81">
                <a:extLst>
                  <a:ext uri="{FF2B5EF4-FFF2-40B4-BE49-F238E27FC236}">
                    <a16:creationId xmlns:a16="http://schemas.microsoft.com/office/drawing/2014/main" id="{240073C8-13EE-48C2-8D27-0789B6C7545F}"/>
                  </a:ext>
                </a:extLst>
              </p:cNvPr>
              <p:cNvSpPr/>
              <p:nvPr/>
            </p:nvSpPr>
            <p:spPr>
              <a:xfrm>
                <a:off x="9637464" y="46161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楕円 82">
                <a:extLst>
                  <a:ext uri="{FF2B5EF4-FFF2-40B4-BE49-F238E27FC236}">
                    <a16:creationId xmlns:a16="http://schemas.microsoft.com/office/drawing/2014/main" id="{72ADEB7B-A556-454B-917C-AD2ED07F2D1C}"/>
                  </a:ext>
                </a:extLst>
              </p:cNvPr>
              <p:cNvSpPr/>
              <p:nvPr/>
            </p:nvSpPr>
            <p:spPr>
              <a:xfrm>
                <a:off x="9789864" y="47685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楕円 83">
                <a:extLst>
                  <a:ext uri="{FF2B5EF4-FFF2-40B4-BE49-F238E27FC236}">
                    <a16:creationId xmlns:a16="http://schemas.microsoft.com/office/drawing/2014/main" id="{4F8A5547-6343-4401-80AA-1299A93AE2D8}"/>
                  </a:ext>
                </a:extLst>
              </p:cNvPr>
              <p:cNvSpPr/>
              <p:nvPr/>
            </p:nvSpPr>
            <p:spPr>
              <a:xfrm>
                <a:off x="9588020" y="46521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楕円 86">
                <a:extLst>
                  <a:ext uri="{FF2B5EF4-FFF2-40B4-BE49-F238E27FC236}">
                    <a16:creationId xmlns:a16="http://schemas.microsoft.com/office/drawing/2014/main" id="{19DB6645-42B3-4CD9-91DF-C21FEBCF0674}"/>
                  </a:ext>
                </a:extLst>
              </p:cNvPr>
              <p:cNvSpPr/>
              <p:nvPr/>
            </p:nvSpPr>
            <p:spPr>
              <a:xfrm>
                <a:off x="9530159" y="43113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楕円 87">
                <a:extLst>
                  <a:ext uri="{FF2B5EF4-FFF2-40B4-BE49-F238E27FC236}">
                    <a16:creationId xmlns:a16="http://schemas.microsoft.com/office/drawing/2014/main" id="{6E87AA0F-49CD-46D1-9182-DAF8D0CD7D95}"/>
                  </a:ext>
                </a:extLst>
              </p:cNvPr>
              <p:cNvSpPr/>
              <p:nvPr/>
            </p:nvSpPr>
            <p:spPr>
              <a:xfrm>
                <a:off x="9682559" y="44637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楕円 88">
                <a:extLst>
                  <a:ext uri="{FF2B5EF4-FFF2-40B4-BE49-F238E27FC236}">
                    <a16:creationId xmlns:a16="http://schemas.microsoft.com/office/drawing/2014/main" id="{31A75643-FEED-4C82-888B-C130F7B0BEB6}"/>
                  </a:ext>
                </a:extLst>
              </p:cNvPr>
              <p:cNvSpPr/>
              <p:nvPr/>
            </p:nvSpPr>
            <p:spPr>
              <a:xfrm>
                <a:off x="9480715" y="43473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楕円 93">
                <a:extLst>
                  <a:ext uri="{FF2B5EF4-FFF2-40B4-BE49-F238E27FC236}">
                    <a16:creationId xmlns:a16="http://schemas.microsoft.com/office/drawing/2014/main" id="{40C5BFD5-0A87-40FE-A933-A8B05980BC27}"/>
                  </a:ext>
                </a:extLst>
              </p:cNvPr>
              <p:cNvSpPr/>
              <p:nvPr/>
            </p:nvSpPr>
            <p:spPr>
              <a:xfrm>
                <a:off x="9557254" y="400186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楕円 94">
                <a:extLst>
                  <a:ext uri="{FF2B5EF4-FFF2-40B4-BE49-F238E27FC236}">
                    <a16:creationId xmlns:a16="http://schemas.microsoft.com/office/drawing/2014/main" id="{400C3952-04A1-46A8-9045-8CD7500B5758}"/>
                  </a:ext>
                </a:extLst>
              </p:cNvPr>
              <p:cNvSpPr/>
              <p:nvPr/>
            </p:nvSpPr>
            <p:spPr>
              <a:xfrm>
                <a:off x="9709654" y="415426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楕円 95">
                <a:extLst>
                  <a:ext uri="{FF2B5EF4-FFF2-40B4-BE49-F238E27FC236}">
                    <a16:creationId xmlns:a16="http://schemas.microsoft.com/office/drawing/2014/main" id="{37C10FE3-9358-4FBE-9859-186DC2AC8B25}"/>
                  </a:ext>
                </a:extLst>
              </p:cNvPr>
              <p:cNvSpPr/>
              <p:nvPr/>
            </p:nvSpPr>
            <p:spPr>
              <a:xfrm>
                <a:off x="9862054" y="430666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楕円 101">
                <a:extLst>
                  <a:ext uri="{FF2B5EF4-FFF2-40B4-BE49-F238E27FC236}">
                    <a16:creationId xmlns:a16="http://schemas.microsoft.com/office/drawing/2014/main" id="{A919D40E-7FFA-4C4B-97EF-2DE662630150}"/>
                  </a:ext>
                </a:extLst>
              </p:cNvPr>
              <p:cNvSpPr/>
              <p:nvPr/>
            </p:nvSpPr>
            <p:spPr>
              <a:xfrm>
                <a:off x="9501068" y="38541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楕円 102">
                <a:extLst>
                  <a:ext uri="{FF2B5EF4-FFF2-40B4-BE49-F238E27FC236}">
                    <a16:creationId xmlns:a16="http://schemas.microsoft.com/office/drawing/2014/main" id="{31C7F5F9-888A-4DD0-B5DB-D2FE6878B2B0}"/>
                  </a:ext>
                </a:extLst>
              </p:cNvPr>
              <p:cNvSpPr/>
              <p:nvPr/>
            </p:nvSpPr>
            <p:spPr>
              <a:xfrm>
                <a:off x="9653468" y="40065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楕円 103">
                <a:extLst>
                  <a:ext uri="{FF2B5EF4-FFF2-40B4-BE49-F238E27FC236}">
                    <a16:creationId xmlns:a16="http://schemas.microsoft.com/office/drawing/2014/main" id="{A67945E5-5D13-4FD1-8226-000F29D2BBF4}"/>
                  </a:ext>
                </a:extLst>
              </p:cNvPr>
              <p:cNvSpPr/>
              <p:nvPr/>
            </p:nvSpPr>
            <p:spPr>
              <a:xfrm>
                <a:off x="9805868" y="41589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楕円 104">
                <a:extLst>
                  <a:ext uri="{FF2B5EF4-FFF2-40B4-BE49-F238E27FC236}">
                    <a16:creationId xmlns:a16="http://schemas.microsoft.com/office/drawing/2014/main" id="{057F2617-0DB4-4FF1-B948-FA73FB85CEF4}"/>
                  </a:ext>
                </a:extLst>
              </p:cNvPr>
              <p:cNvSpPr/>
              <p:nvPr/>
            </p:nvSpPr>
            <p:spPr>
              <a:xfrm>
                <a:off x="9958268" y="431134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楕円 106">
                <a:extLst>
                  <a:ext uri="{FF2B5EF4-FFF2-40B4-BE49-F238E27FC236}">
                    <a16:creationId xmlns:a16="http://schemas.microsoft.com/office/drawing/2014/main" id="{EFBCDFF5-22B5-42F0-8AF6-5A9CDD556803}"/>
                  </a:ext>
                </a:extLst>
              </p:cNvPr>
              <p:cNvSpPr/>
              <p:nvPr/>
            </p:nvSpPr>
            <p:spPr>
              <a:xfrm>
                <a:off x="9765790" y="443932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楕円 107">
                <a:extLst>
                  <a:ext uri="{FF2B5EF4-FFF2-40B4-BE49-F238E27FC236}">
                    <a16:creationId xmlns:a16="http://schemas.microsoft.com/office/drawing/2014/main" id="{3C03C388-57D5-45D5-9A4F-05F94A45DFD7}"/>
                  </a:ext>
                </a:extLst>
              </p:cNvPr>
              <p:cNvSpPr/>
              <p:nvPr/>
            </p:nvSpPr>
            <p:spPr>
              <a:xfrm>
                <a:off x="9765790" y="424081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楕円 108">
                <a:extLst>
                  <a:ext uri="{FF2B5EF4-FFF2-40B4-BE49-F238E27FC236}">
                    <a16:creationId xmlns:a16="http://schemas.microsoft.com/office/drawing/2014/main" id="{8564737A-2A37-4163-AE2C-4022DCF5D071}"/>
                  </a:ext>
                </a:extLst>
              </p:cNvPr>
              <p:cNvSpPr/>
              <p:nvPr/>
            </p:nvSpPr>
            <p:spPr>
              <a:xfrm>
                <a:off x="9749514" y="4378907"/>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楕円 109">
                <a:extLst>
                  <a:ext uri="{FF2B5EF4-FFF2-40B4-BE49-F238E27FC236}">
                    <a16:creationId xmlns:a16="http://schemas.microsoft.com/office/drawing/2014/main" id="{BB05328E-00E4-4D1F-B684-766BD374BC9A}"/>
                  </a:ext>
                </a:extLst>
              </p:cNvPr>
              <p:cNvSpPr/>
              <p:nvPr/>
            </p:nvSpPr>
            <p:spPr>
              <a:xfrm>
                <a:off x="9767514" y="408841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楕円 110">
                <a:extLst>
                  <a:ext uri="{FF2B5EF4-FFF2-40B4-BE49-F238E27FC236}">
                    <a16:creationId xmlns:a16="http://schemas.microsoft.com/office/drawing/2014/main" id="{8CF37CDD-7044-4ED5-950B-6D74C38E6803}"/>
                  </a:ext>
                </a:extLst>
              </p:cNvPr>
              <p:cNvSpPr/>
              <p:nvPr/>
            </p:nvSpPr>
            <p:spPr>
              <a:xfrm>
                <a:off x="9783790" y="457372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楕円 111">
                <a:extLst>
                  <a:ext uri="{FF2B5EF4-FFF2-40B4-BE49-F238E27FC236}">
                    <a16:creationId xmlns:a16="http://schemas.microsoft.com/office/drawing/2014/main" id="{A7E8BA5F-03B9-4A93-9AAF-C44B8A9981B5}"/>
                  </a:ext>
                </a:extLst>
              </p:cNvPr>
              <p:cNvSpPr/>
              <p:nvPr/>
            </p:nvSpPr>
            <p:spPr>
              <a:xfrm>
                <a:off x="9799794" y="396412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楕円 112">
                <a:extLst>
                  <a:ext uri="{FF2B5EF4-FFF2-40B4-BE49-F238E27FC236}">
                    <a16:creationId xmlns:a16="http://schemas.microsoft.com/office/drawing/2014/main" id="{C0C28325-AC9E-4F39-89F8-5EDBCAF0787E}"/>
                  </a:ext>
                </a:extLst>
              </p:cNvPr>
              <p:cNvSpPr/>
              <p:nvPr/>
            </p:nvSpPr>
            <p:spPr>
              <a:xfrm>
                <a:off x="9579233" y="436165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楕円 113">
                <a:extLst>
                  <a:ext uri="{FF2B5EF4-FFF2-40B4-BE49-F238E27FC236}">
                    <a16:creationId xmlns:a16="http://schemas.microsoft.com/office/drawing/2014/main" id="{A074CABF-D087-4EA5-A281-01120DC029A9}"/>
                  </a:ext>
                </a:extLst>
              </p:cNvPr>
              <p:cNvSpPr/>
              <p:nvPr/>
            </p:nvSpPr>
            <p:spPr>
              <a:xfrm>
                <a:off x="9579233" y="41631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楕円 114">
                <a:extLst>
                  <a:ext uri="{FF2B5EF4-FFF2-40B4-BE49-F238E27FC236}">
                    <a16:creationId xmlns:a16="http://schemas.microsoft.com/office/drawing/2014/main" id="{8A123688-D516-4DBA-837F-DB8A3E6E20D7}"/>
                  </a:ext>
                </a:extLst>
              </p:cNvPr>
              <p:cNvSpPr/>
              <p:nvPr/>
            </p:nvSpPr>
            <p:spPr>
              <a:xfrm>
                <a:off x="9731633" y="43155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楕円 115">
                <a:extLst>
                  <a:ext uri="{FF2B5EF4-FFF2-40B4-BE49-F238E27FC236}">
                    <a16:creationId xmlns:a16="http://schemas.microsoft.com/office/drawing/2014/main" id="{DC9078B2-43FC-46BE-8DE2-FF232378E91D}"/>
                  </a:ext>
                </a:extLst>
              </p:cNvPr>
              <p:cNvSpPr/>
              <p:nvPr/>
            </p:nvSpPr>
            <p:spPr>
              <a:xfrm>
                <a:off x="9562957" y="43012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楕円 116">
                <a:extLst>
                  <a:ext uri="{FF2B5EF4-FFF2-40B4-BE49-F238E27FC236}">
                    <a16:creationId xmlns:a16="http://schemas.microsoft.com/office/drawing/2014/main" id="{58659470-F4DE-4905-81E0-61A6C115011B}"/>
                  </a:ext>
                </a:extLst>
              </p:cNvPr>
              <p:cNvSpPr/>
              <p:nvPr/>
            </p:nvSpPr>
            <p:spPr>
              <a:xfrm>
                <a:off x="9580957" y="40107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8" name="楕円 117">
                <a:extLst>
                  <a:ext uri="{FF2B5EF4-FFF2-40B4-BE49-F238E27FC236}">
                    <a16:creationId xmlns:a16="http://schemas.microsoft.com/office/drawing/2014/main" id="{705D8BCA-D6DA-4211-BF32-4FCB904B9BE1}"/>
                  </a:ext>
                </a:extLst>
              </p:cNvPr>
              <p:cNvSpPr/>
              <p:nvPr/>
            </p:nvSpPr>
            <p:spPr>
              <a:xfrm>
                <a:off x="9733357" y="41631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楕円 118">
                <a:extLst>
                  <a:ext uri="{FF2B5EF4-FFF2-40B4-BE49-F238E27FC236}">
                    <a16:creationId xmlns:a16="http://schemas.microsoft.com/office/drawing/2014/main" id="{0879B88D-A74E-4083-BF23-396EB803757A}"/>
                  </a:ext>
                </a:extLst>
              </p:cNvPr>
              <p:cNvSpPr/>
              <p:nvPr/>
            </p:nvSpPr>
            <p:spPr>
              <a:xfrm>
                <a:off x="9512161" y="409186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楕円 119">
                <a:extLst>
                  <a:ext uri="{FF2B5EF4-FFF2-40B4-BE49-F238E27FC236}">
                    <a16:creationId xmlns:a16="http://schemas.microsoft.com/office/drawing/2014/main" id="{8AE027F4-B327-41DC-8834-713B7B0CAC2D}"/>
                  </a:ext>
                </a:extLst>
              </p:cNvPr>
              <p:cNvSpPr/>
              <p:nvPr/>
            </p:nvSpPr>
            <p:spPr>
              <a:xfrm>
                <a:off x="9664561" y="424426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楕円 120">
                <a:extLst>
                  <a:ext uri="{FF2B5EF4-FFF2-40B4-BE49-F238E27FC236}">
                    <a16:creationId xmlns:a16="http://schemas.microsoft.com/office/drawing/2014/main" id="{B67B0DCC-3A04-4100-A2D5-D09444EDF3CE}"/>
                  </a:ext>
                </a:extLst>
              </p:cNvPr>
              <p:cNvSpPr/>
              <p:nvPr/>
            </p:nvSpPr>
            <p:spPr>
              <a:xfrm>
                <a:off x="9597233" y="449605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楕円 121">
                <a:extLst>
                  <a:ext uri="{FF2B5EF4-FFF2-40B4-BE49-F238E27FC236}">
                    <a16:creationId xmlns:a16="http://schemas.microsoft.com/office/drawing/2014/main" id="{6A3ACBE0-60DD-4582-AFC8-FD63DDBBCBE0}"/>
                  </a:ext>
                </a:extLst>
              </p:cNvPr>
              <p:cNvSpPr/>
              <p:nvPr/>
            </p:nvSpPr>
            <p:spPr>
              <a:xfrm>
                <a:off x="9669423" y="4034168"/>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楕円 122">
                <a:extLst>
                  <a:ext uri="{FF2B5EF4-FFF2-40B4-BE49-F238E27FC236}">
                    <a16:creationId xmlns:a16="http://schemas.microsoft.com/office/drawing/2014/main" id="{87C1FAB5-58BE-4202-8894-9F958D3055C6}"/>
                  </a:ext>
                </a:extLst>
              </p:cNvPr>
              <p:cNvSpPr/>
              <p:nvPr/>
            </p:nvSpPr>
            <p:spPr>
              <a:xfrm>
                <a:off x="9765637" y="403885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楕円 123">
                <a:extLst>
                  <a:ext uri="{FF2B5EF4-FFF2-40B4-BE49-F238E27FC236}">
                    <a16:creationId xmlns:a16="http://schemas.microsoft.com/office/drawing/2014/main" id="{46B6E973-1F91-43E4-82C7-3021ADB3A7A9}"/>
                  </a:ext>
                </a:extLst>
              </p:cNvPr>
              <p:cNvSpPr/>
              <p:nvPr/>
            </p:nvSpPr>
            <p:spPr>
              <a:xfrm>
                <a:off x="9573159" y="41668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CEB16488-329A-4BA6-88B0-CE1B08D6700D}"/>
                  </a:ext>
                </a:extLst>
              </p:cNvPr>
              <p:cNvSpPr/>
              <p:nvPr/>
            </p:nvSpPr>
            <p:spPr>
              <a:xfrm>
                <a:off x="9573159" y="39683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楕円 125">
                <a:extLst>
                  <a:ext uri="{FF2B5EF4-FFF2-40B4-BE49-F238E27FC236}">
                    <a16:creationId xmlns:a16="http://schemas.microsoft.com/office/drawing/2014/main" id="{EE759FE8-6EC1-4990-A9DC-30BB084DFF39}"/>
                  </a:ext>
                </a:extLst>
              </p:cNvPr>
              <p:cNvSpPr/>
              <p:nvPr/>
            </p:nvSpPr>
            <p:spPr>
              <a:xfrm>
                <a:off x="9556883" y="4106414"/>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楕円 126">
                <a:extLst>
                  <a:ext uri="{FF2B5EF4-FFF2-40B4-BE49-F238E27FC236}">
                    <a16:creationId xmlns:a16="http://schemas.microsoft.com/office/drawing/2014/main" id="{6ECB7879-9B13-44EB-B6BD-561B128AF523}"/>
                  </a:ext>
                </a:extLst>
              </p:cNvPr>
              <p:cNvSpPr/>
              <p:nvPr/>
            </p:nvSpPr>
            <p:spPr>
              <a:xfrm>
                <a:off x="9591159" y="430123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5" name="グループ化 174">
              <a:extLst>
                <a:ext uri="{FF2B5EF4-FFF2-40B4-BE49-F238E27FC236}">
                  <a16:creationId xmlns:a16="http://schemas.microsoft.com/office/drawing/2014/main" id="{15A14863-7D75-4052-A434-30B2C7593C4B}"/>
                </a:ext>
              </a:extLst>
            </p:cNvPr>
            <p:cNvGrpSpPr/>
            <p:nvPr/>
          </p:nvGrpSpPr>
          <p:grpSpPr>
            <a:xfrm>
              <a:off x="4665259" y="3695321"/>
              <a:ext cx="722753" cy="822419"/>
              <a:chOff x="4665259" y="3695321"/>
              <a:chExt cx="722753" cy="822419"/>
            </a:xfrm>
          </p:grpSpPr>
          <p:sp>
            <p:nvSpPr>
              <p:cNvPr id="129" name="楕円 128">
                <a:extLst>
                  <a:ext uri="{FF2B5EF4-FFF2-40B4-BE49-F238E27FC236}">
                    <a16:creationId xmlns:a16="http://schemas.microsoft.com/office/drawing/2014/main" id="{7B0A24FC-0F51-449F-AF65-963016E7EEAB}"/>
                  </a:ext>
                </a:extLst>
              </p:cNvPr>
              <p:cNvSpPr/>
              <p:nvPr/>
            </p:nvSpPr>
            <p:spPr>
              <a:xfrm>
                <a:off x="4814762" y="41949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楕円 129">
                <a:extLst>
                  <a:ext uri="{FF2B5EF4-FFF2-40B4-BE49-F238E27FC236}">
                    <a16:creationId xmlns:a16="http://schemas.microsoft.com/office/drawing/2014/main" id="{3878B4DA-AEBE-49E4-930B-F7C3CFEBD6B2}"/>
                  </a:ext>
                </a:extLst>
              </p:cNvPr>
              <p:cNvSpPr/>
              <p:nvPr/>
            </p:nvSpPr>
            <p:spPr>
              <a:xfrm>
                <a:off x="4967162" y="43473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楕円 130">
                <a:extLst>
                  <a:ext uri="{FF2B5EF4-FFF2-40B4-BE49-F238E27FC236}">
                    <a16:creationId xmlns:a16="http://schemas.microsoft.com/office/drawing/2014/main" id="{61C064FE-2524-4E43-983E-FDC65A5E2010}"/>
                  </a:ext>
                </a:extLst>
              </p:cNvPr>
              <p:cNvSpPr/>
              <p:nvPr/>
            </p:nvSpPr>
            <p:spPr>
              <a:xfrm>
                <a:off x="4814762" y="3996428"/>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楕円 131">
                <a:extLst>
                  <a:ext uri="{FF2B5EF4-FFF2-40B4-BE49-F238E27FC236}">
                    <a16:creationId xmlns:a16="http://schemas.microsoft.com/office/drawing/2014/main" id="{B20905A5-1B2D-4E72-ADA4-C46313841C67}"/>
                  </a:ext>
                </a:extLst>
              </p:cNvPr>
              <p:cNvSpPr/>
              <p:nvPr/>
            </p:nvSpPr>
            <p:spPr>
              <a:xfrm>
                <a:off x="4967162" y="4148828"/>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楕円 132">
                <a:extLst>
                  <a:ext uri="{FF2B5EF4-FFF2-40B4-BE49-F238E27FC236}">
                    <a16:creationId xmlns:a16="http://schemas.microsoft.com/office/drawing/2014/main" id="{2C3F8FE0-7FBA-4F72-985A-B9F5D2E19719}"/>
                  </a:ext>
                </a:extLst>
              </p:cNvPr>
              <p:cNvSpPr/>
              <p:nvPr/>
            </p:nvSpPr>
            <p:spPr>
              <a:xfrm>
                <a:off x="4950886" y="42869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楕円 133">
                <a:extLst>
                  <a:ext uri="{FF2B5EF4-FFF2-40B4-BE49-F238E27FC236}">
                    <a16:creationId xmlns:a16="http://schemas.microsoft.com/office/drawing/2014/main" id="{7B100A11-98E0-4E88-AA1C-94D81ABB7406}"/>
                  </a:ext>
                </a:extLst>
              </p:cNvPr>
              <p:cNvSpPr/>
              <p:nvPr/>
            </p:nvSpPr>
            <p:spPr>
              <a:xfrm>
                <a:off x="4968886" y="3996428"/>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楕円 134">
                <a:extLst>
                  <a:ext uri="{FF2B5EF4-FFF2-40B4-BE49-F238E27FC236}">
                    <a16:creationId xmlns:a16="http://schemas.microsoft.com/office/drawing/2014/main" id="{FFD3F8AA-A27C-4BF8-B750-EF11E21F4ACB}"/>
                  </a:ext>
                </a:extLst>
              </p:cNvPr>
              <p:cNvSpPr/>
              <p:nvPr/>
            </p:nvSpPr>
            <p:spPr>
              <a:xfrm>
                <a:off x="4900090" y="407755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6" name="楕円 135">
                <a:extLst>
                  <a:ext uri="{FF2B5EF4-FFF2-40B4-BE49-F238E27FC236}">
                    <a16:creationId xmlns:a16="http://schemas.microsoft.com/office/drawing/2014/main" id="{F41EEA81-3F2C-40B1-9199-716F4940F411}"/>
                  </a:ext>
                </a:extLst>
              </p:cNvPr>
              <p:cNvSpPr/>
              <p:nvPr/>
            </p:nvSpPr>
            <p:spPr>
              <a:xfrm>
                <a:off x="5052490" y="422995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楕円 136">
                <a:extLst>
                  <a:ext uri="{FF2B5EF4-FFF2-40B4-BE49-F238E27FC236}">
                    <a16:creationId xmlns:a16="http://schemas.microsoft.com/office/drawing/2014/main" id="{4DFD8A08-5658-4535-928A-A65A1A75412F}"/>
                  </a:ext>
                </a:extLst>
              </p:cNvPr>
              <p:cNvSpPr/>
              <p:nvPr/>
            </p:nvSpPr>
            <p:spPr>
              <a:xfrm>
                <a:off x="4832762" y="43293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楕円 137">
                <a:extLst>
                  <a:ext uri="{FF2B5EF4-FFF2-40B4-BE49-F238E27FC236}">
                    <a16:creationId xmlns:a16="http://schemas.microsoft.com/office/drawing/2014/main" id="{36CD9945-0979-4CE4-AA12-A9505566B919}"/>
                  </a:ext>
                </a:extLst>
              </p:cNvPr>
              <p:cNvSpPr/>
              <p:nvPr/>
            </p:nvSpPr>
            <p:spPr>
              <a:xfrm>
                <a:off x="4985162" y="44817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楕円 138">
                <a:extLst>
                  <a:ext uri="{FF2B5EF4-FFF2-40B4-BE49-F238E27FC236}">
                    <a16:creationId xmlns:a16="http://schemas.microsoft.com/office/drawing/2014/main" id="{912ADC89-EB13-4680-AF47-3849EA64D513}"/>
                  </a:ext>
                </a:extLst>
              </p:cNvPr>
              <p:cNvSpPr/>
              <p:nvPr/>
            </p:nvSpPr>
            <p:spPr>
              <a:xfrm>
                <a:off x="5030257" y="43293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0" name="楕円 139">
                <a:extLst>
                  <a:ext uri="{FF2B5EF4-FFF2-40B4-BE49-F238E27FC236}">
                    <a16:creationId xmlns:a16="http://schemas.microsoft.com/office/drawing/2014/main" id="{886CFDA0-1D1F-4EB7-B94D-D27F31F60E22}"/>
                  </a:ext>
                </a:extLst>
              </p:cNvPr>
              <p:cNvSpPr/>
              <p:nvPr/>
            </p:nvSpPr>
            <p:spPr>
              <a:xfrm>
                <a:off x="5057352" y="401985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1" name="楕円 140">
                <a:extLst>
                  <a:ext uri="{FF2B5EF4-FFF2-40B4-BE49-F238E27FC236}">
                    <a16:creationId xmlns:a16="http://schemas.microsoft.com/office/drawing/2014/main" id="{4804B620-9D3F-4F75-B36C-ACEF26EF6E23}"/>
                  </a:ext>
                </a:extLst>
              </p:cNvPr>
              <p:cNvSpPr/>
              <p:nvPr/>
            </p:nvSpPr>
            <p:spPr>
              <a:xfrm>
                <a:off x="4848766" y="37197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楕円 141">
                <a:extLst>
                  <a:ext uri="{FF2B5EF4-FFF2-40B4-BE49-F238E27FC236}">
                    <a16:creationId xmlns:a16="http://schemas.microsoft.com/office/drawing/2014/main" id="{DCAF38DA-F617-4DC0-987E-32CDB4A66BE9}"/>
                  </a:ext>
                </a:extLst>
              </p:cNvPr>
              <p:cNvSpPr/>
              <p:nvPr/>
            </p:nvSpPr>
            <p:spPr>
              <a:xfrm>
                <a:off x="5001166" y="387214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楕円 142">
                <a:extLst>
                  <a:ext uri="{FF2B5EF4-FFF2-40B4-BE49-F238E27FC236}">
                    <a16:creationId xmlns:a16="http://schemas.microsoft.com/office/drawing/2014/main" id="{04831F64-C85B-4C68-9843-68C5029DBD5F}"/>
                  </a:ext>
                </a:extLst>
              </p:cNvPr>
              <p:cNvSpPr/>
              <p:nvPr/>
            </p:nvSpPr>
            <p:spPr>
              <a:xfrm>
                <a:off x="5109422" y="41705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楕円 143">
                <a:extLst>
                  <a:ext uri="{FF2B5EF4-FFF2-40B4-BE49-F238E27FC236}">
                    <a16:creationId xmlns:a16="http://schemas.microsoft.com/office/drawing/2014/main" id="{048A4D48-16E5-4E2F-BF62-46B7F66DC31F}"/>
                  </a:ext>
                </a:extLst>
              </p:cNvPr>
              <p:cNvSpPr/>
              <p:nvPr/>
            </p:nvSpPr>
            <p:spPr>
              <a:xfrm>
                <a:off x="5261822" y="43229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楕円 144">
                <a:extLst>
                  <a:ext uri="{FF2B5EF4-FFF2-40B4-BE49-F238E27FC236}">
                    <a16:creationId xmlns:a16="http://schemas.microsoft.com/office/drawing/2014/main" id="{BE9282E7-9671-4F06-A4A9-87BFB675C16B}"/>
                  </a:ext>
                </a:extLst>
              </p:cNvPr>
              <p:cNvSpPr/>
              <p:nvPr/>
            </p:nvSpPr>
            <p:spPr>
              <a:xfrm>
                <a:off x="5109422" y="3972009"/>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楕円 145">
                <a:extLst>
                  <a:ext uri="{FF2B5EF4-FFF2-40B4-BE49-F238E27FC236}">
                    <a16:creationId xmlns:a16="http://schemas.microsoft.com/office/drawing/2014/main" id="{FF0B4BFB-90AC-4475-8F14-DC0EFF70B4C8}"/>
                  </a:ext>
                </a:extLst>
              </p:cNvPr>
              <p:cNvSpPr/>
              <p:nvPr/>
            </p:nvSpPr>
            <p:spPr>
              <a:xfrm>
                <a:off x="5261822" y="4124409"/>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楕円 146">
                <a:extLst>
                  <a:ext uri="{FF2B5EF4-FFF2-40B4-BE49-F238E27FC236}">
                    <a16:creationId xmlns:a16="http://schemas.microsoft.com/office/drawing/2014/main" id="{CD49D672-183D-47CE-A307-351B9DB613AC}"/>
                  </a:ext>
                </a:extLst>
              </p:cNvPr>
              <p:cNvSpPr/>
              <p:nvPr/>
            </p:nvSpPr>
            <p:spPr>
              <a:xfrm>
                <a:off x="5245546" y="426250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8" name="楕円 147">
                <a:extLst>
                  <a:ext uri="{FF2B5EF4-FFF2-40B4-BE49-F238E27FC236}">
                    <a16:creationId xmlns:a16="http://schemas.microsoft.com/office/drawing/2014/main" id="{9C786207-C1C8-4493-9465-57AD45BCB920}"/>
                  </a:ext>
                </a:extLst>
              </p:cNvPr>
              <p:cNvSpPr/>
              <p:nvPr/>
            </p:nvSpPr>
            <p:spPr>
              <a:xfrm>
                <a:off x="5263546" y="3972009"/>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9" name="楕円 148">
                <a:extLst>
                  <a:ext uri="{FF2B5EF4-FFF2-40B4-BE49-F238E27FC236}">
                    <a16:creationId xmlns:a16="http://schemas.microsoft.com/office/drawing/2014/main" id="{92D2E61F-C675-48DF-A02F-6F8D60D58805}"/>
                  </a:ext>
                </a:extLst>
              </p:cNvPr>
              <p:cNvSpPr/>
              <p:nvPr/>
            </p:nvSpPr>
            <p:spPr>
              <a:xfrm>
                <a:off x="5194750" y="405313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0" name="楕円 149">
                <a:extLst>
                  <a:ext uri="{FF2B5EF4-FFF2-40B4-BE49-F238E27FC236}">
                    <a16:creationId xmlns:a16="http://schemas.microsoft.com/office/drawing/2014/main" id="{2F72B12D-BB15-487E-BF35-BB8E08E77882}"/>
                  </a:ext>
                </a:extLst>
              </p:cNvPr>
              <p:cNvSpPr/>
              <p:nvPr/>
            </p:nvSpPr>
            <p:spPr>
              <a:xfrm>
                <a:off x="5347150" y="420553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1" name="楕円 150">
                <a:extLst>
                  <a:ext uri="{FF2B5EF4-FFF2-40B4-BE49-F238E27FC236}">
                    <a16:creationId xmlns:a16="http://schemas.microsoft.com/office/drawing/2014/main" id="{B0CF4722-F19A-476E-89D4-4EFD17196D53}"/>
                  </a:ext>
                </a:extLst>
              </p:cNvPr>
              <p:cNvSpPr/>
              <p:nvPr/>
            </p:nvSpPr>
            <p:spPr>
              <a:xfrm>
                <a:off x="5127422" y="43049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2" name="楕円 151">
                <a:extLst>
                  <a:ext uri="{FF2B5EF4-FFF2-40B4-BE49-F238E27FC236}">
                    <a16:creationId xmlns:a16="http://schemas.microsoft.com/office/drawing/2014/main" id="{F2C4AD55-2A03-4781-8A7A-3E2FE56C12C1}"/>
                  </a:ext>
                </a:extLst>
              </p:cNvPr>
              <p:cNvSpPr/>
              <p:nvPr/>
            </p:nvSpPr>
            <p:spPr>
              <a:xfrm>
                <a:off x="5279822" y="44573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3" name="楕円 152">
                <a:extLst>
                  <a:ext uri="{FF2B5EF4-FFF2-40B4-BE49-F238E27FC236}">
                    <a16:creationId xmlns:a16="http://schemas.microsoft.com/office/drawing/2014/main" id="{FC94CB2D-A783-4DED-9E4E-0E863C5B01BB}"/>
                  </a:ext>
                </a:extLst>
              </p:cNvPr>
              <p:cNvSpPr/>
              <p:nvPr/>
            </p:nvSpPr>
            <p:spPr>
              <a:xfrm>
                <a:off x="5324917" y="43049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4" name="楕円 153">
                <a:extLst>
                  <a:ext uri="{FF2B5EF4-FFF2-40B4-BE49-F238E27FC236}">
                    <a16:creationId xmlns:a16="http://schemas.microsoft.com/office/drawing/2014/main" id="{F6C57575-D89F-4C79-8431-0F5A92954F99}"/>
                  </a:ext>
                </a:extLst>
              </p:cNvPr>
              <p:cNvSpPr/>
              <p:nvPr/>
            </p:nvSpPr>
            <p:spPr>
              <a:xfrm>
                <a:off x="5352012" y="3995437"/>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5" name="楕円 154">
                <a:extLst>
                  <a:ext uri="{FF2B5EF4-FFF2-40B4-BE49-F238E27FC236}">
                    <a16:creationId xmlns:a16="http://schemas.microsoft.com/office/drawing/2014/main" id="{101067B3-7BDB-478A-A9B2-3E797B0D988A}"/>
                  </a:ext>
                </a:extLst>
              </p:cNvPr>
              <p:cNvSpPr/>
              <p:nvPr/>
            </p:nvSpPr>
            <p:spPr>
              <a:xfrm>
                <a:off x="5143426" y="36953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楕円 155">
                <a:extLst>
                  <a:ext uri="{FF2B5EF4-FFF2-40B4-BE49-F238E27FC236}">
                    <a16:creationId xmlns:a16="http://schemas.microsoft.com/office/drawing/2014/main" id="{F2A45EFF-71DA-4BEC-BB82-A77C21669E47}"/>
                  </a:ext>
                </a:extLst>
              </p:cNvPr>
              <p:cNvSpPr/>
              <p:nvPr/>
            </p:nvSpPr>
            <p:spPr>
              <a:xfrm>
                <a:off x="5295826" y="38477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7" name="楕円 156">
                <a:extLst>
                  <a:ext uri="{FF2B5EF4-FFF2-40B4-BE49-F238E27FC236}">
                    <a16:creationId xmlns:a16="http://schemas.microsoft.com/office/drawing/2014/main" id="{FC83D435-E799-4757-A878-60E9AF6C8C35}"/>
                  </a:ext>
                </a:extLst>
              </p:cNvPr>
              <p:cNvSpPr/>
              <p:nvPr/>
            </p:nvSpPr>
            <p:spPr>
              <a:xfrm>
                <a:off x="4665259" y="39402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8" name="楕円 157">
                <a:extLst>
                  <a:ext uri="{FF2B5EF4-FFF2-40B4-BE49-F238E27FC236}">
                    <a16:creationId xmlns:a16="http://schemas.microsoft.com/office/drawing/2014/main" id="{7B66BEBB-CD64-48BC-8F95-D147249C5A2E}"/>
                  </a:ext>
                </a:extLst>
              </p:cNvPr>
              <p:cNvSpPr/>
              <p:nvPr/>
            </p:nvSpPr>
            <p:spPr>
              <a:xfrm>
                <a:off x="4817659" y="40926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楕円 158">
                <a:extLst>
                  <a:ext uri="{FF2B5EF4-FFF2-40B4-BE49-F238E27FC236}">
                    <a16:creationId xmlns:a16="http://schemas.microsoft.com/office/drawing/2014/main" id="{3BC0607F-45B9-45DD-BC43-DEF9C4D2966F}"/>
                  </a:ext>
                </a:extLst>
              </p:cNvPr>
              <p:cNvSpPr/>
              <p:nvPr/>
            </p:nvSpPr>
            <p:spPr>
              <a:xfrm>
                <a:off x="4817659" y="3894109"/>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楕円 159">
                <a:extLst>
                  <a:ext uri="{FF2B5EF4-FFF2-40B4-BE49-F238E27FC236}">
                    <a16:creationId xmlns:a16="http://schemas.microsoft.com/office/drawing/2014/main" id="{6A269A39-5153-49CB-9B36-4CA5E2032830}"/>
                  </a:ext>
                </a:extLst>
              </p:cNvPr>
              <p:cNvSpPr/>
              <p:nvPr/>
            </p:nvSpPr>
            <p:spPr>
              <a:xfrm>
                <a:off x="4801383" y="403220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1" name="楕円 160">
                <a:extLst>
                  <a:ext uri="{FF2B5EF4-FFF2-40B4-BE49-F238E27FC236}">
                    <a16:creationId xmlns:a16="http://schemas.microsoft.com/office/drawing/2014/main" id="{67B9F0D9-FF4F-44F6-A426-4BC0C0AFD8BB}"/>
                  </a:ext>
                </a:extLst>
              </p:cNvPr>
              <p:cNvSpPr/>
              <p:nvPr/>
            </p:nvSpPr>
            <p:spPr>
              <a:xfrm>
                <a:off x="4750587" y="382283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2" name="楕円 161">
                <a:extLst>
                  <a:ext uri="{FF2B5EF4-FFF2-40B4-BE49-F238E27FC236}">
                    <a16:creationId xmlns:a16="http://schemas.microsoft.com/office/drawing/2014/main" id="{600D1D74-91E8-46EA-A36C-87CB8DA76DA6}"/>
                  </a:ext>
                </a:extLst>
              </p:cNvPr>
              <p:cNvSpPr/>
              <p:nvPr/>
            </p:nvSpPr>
            <p:spPr>
              <a:xfrm>
                <a:off x="4902987" y="397523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3" name="楕円 162">
                <a:extLst>
                  <a:ext uri="{FF2B5EF4-FFF2-40B4-BE49-F238E27FC236}">
                    <a16:creationId xmlns:a16="http://schemas.microsoft.com/office/drawing/2014/main" id="{AA0D979C-F05E-4F7A-94D3-330DB4EE24DA}"/>
                  </a:ext>
                </a:extLst>
              </p:cNvPr>
              <p:cNvSpPr/>
              <p:nvPr/>
            </p:nvSpPr>
            <p:spPr>
              <a:xfrm>
                <a:off x="4683259" y="40746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4" name="楕円 163">
                <a:extLst>
                  <a:ext uri="{FF2B5EF4-FFF2-40B4-BE49-F238E27FC236}">
                    <a16:creationId xmlns:a16="http://schemas.microsoft.com/office/drawing/2014/main" id="{CFC48979-B6C2-4333-8073-97C6569664A3}"/>
                  </a:ext>
                </a:extLst>
              </p:cNvPr>
              <p:cNvSpPr/>
              <p:nvPr/>
            </p:nvSpPr>
            <p:spPr>
              <a:xfrm>
                <a:off x="4835659" y="42270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5" name="楕円 164">
                <a:extLst>
                  <a:ext uri="{FF2B5EF4-FFF2-40B4-BE49-F238E27FC236}">
                    <a16:creationId xmlns:a16="http://schemas.microsoft.com/office/drawing/2014/main" id="{50E9BF7F-8903-48C2-BE3F-B79F2374B003}"/>
                  </a:ext>
                </a:extLst>
              </p:cNvPr>
              <p:cNvSpPr/>
              <p:nvPr/>
            </p:nvSpPr>
            <p:spPr>
              <a:xfrm>
                <a:off x="4880754" y="40746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6" name="楕円 165">
                <a:extLst>
                  <a:ext uri="{FF2B5EF4-FFF2-40B4-BE49-F238E27FC236}">
                    <a16:creationId xmlns:a16="http://schemas.microsoft.com/office/drawing/2014/main" id="{46887D0E-9A15-4608-A327-19E3E6DA3735}"/>
                  </a:ext>
                </a:extLst>
              </p:cNvPr>
              <p:cNvSpPr/>
              <p:nvPr/>
            </p:nvSpPr>
            <p:spPr>
              <a:xfrm>
                <a:off x="4959919" y="391580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楕円 166">
                <a:extLst>
                  <a:ext uri="{FF2B5EF4-FFF2-40B4-BE49-F238E27FC236}">
                    <a16:creationId xmlns:a16="http://schemas.microsoft.com/office/drawing/2014/main" id="{892783F9-5E63-4CB6-B1A2-2E151B4597A0}"/>
                  </a:ext>
                </a:extLst>
              </p:cNvPr>
              <p:cNvSpPr/>
              <p:nvPr/>
            </p:nvSpPr>
            <p:spPr>
              <a:xfrm>
                <a:off x="5112319" y="406820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8" name="楕円 167">
                <a:extLst>
                  <a:ext uri="{FF2B5EF4-FFF2-40B4-BE49-F238E27FC236}">
                    <a16:creationId xmlns:a16="http://schemas.microsoft.com/office/drawing/2014/main" id="{F7125A74-734D-4634-BA2F-58DF1121BCC7}"/>
                  </a:ext>
                </a:extLst>
              </p:cNvPr>
              <p:cNvSpPr/>
              <p:nvPr/>
            </p:nvSpPr>
            <p:spPr>
              <a:xfrm>
                <a:off x="5112319" y="386969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9" name="楕円 168">
                <a:extLst>
                  <a:ext uri="{FF2B5EF4-FFF2-40B4-BE49-F238E27FC236}">
                    <a16:creationId xmlns:a16="http://schemas.microsoft.com/office/drawing/2014/main" id="{17D96046-5C8A-48CD-A9BA-1FA7D69029C0}"/>
                  </a:ext>
                </a:extLst>
              </p:cNvPr>
              <p:cNvSpPr/>
              <p:nvPr/>
            </p:nvSpPr>
            <p:spPr>
              <a:xfrm>
                <a:off x="5096043" y="400778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0" name="楕円 169">
                <a:extLst>
                  <a:ext uri="{FF2B5EF4-FFF2-40B4-BE49-F238E27FC236}">
                    <a16:creationId xmlns:a16="http://schemas.microsoft.com/office/drawing/2014/main" id="{3FA2B759-EA62-4462-B97D-FFE259C072AC}"/>
                  </a:ext>
                </a:extLst>
              </p:cNvPr>
              <p:cNvSpPr/>
              <p:nvPr/>
            </p:nvSpPr>
            <p:spPr>
              <a:xfrm>
                <a:off x="5045247" y="379841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1" name="楕円 170">
                <a:extLst>
                  <a:ext uri="{FF2B5EF4-FFF2-40B4-BE49-F238E27FC236}">
                    <a16:creationId xmlns:a16="http://schemas.microsoft.com/office/drawing/2014/main" id="{93D2CB78-C842-43B3-92E2-B2466CD8F4C3}"/>
                  </a:ext>
                </a:extLst>
              </p:cNvPr>
              <p:cNvSpPr/>
              <p:nvPr/>
            </p:nvSpPr>
            <p:spPr>
              <a:xfrm>
                <a:off x="5197647" y="395081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2" name="楕円 171">
                <a:extLst>
                  <a:ext uri="{FF2B5EF4-FFF2-40B4-BE49-F238E27FC236}">
                    <a16:creationId xmlns:a16="http://schemas.microsoft.com/office/drawing/2014/main" id="{0D5FF0A1-2DC3-431A-A720-DAA95E1D8E36}"/>
                  </a:ext>
                </a:extLst>
              </p:cNvPr>
              <p:cNvSpPr/>
              <p:nvPr/>
            </p:nvSpPr>
            <p:spPr>
              <a:xfrm>
                <a:off x="4977919" y="405020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3" name="楕円 172">
                <a:extLst>
                  <a:ext uri="{FF2B5EF4-FFF2-40B4-BE49-F238E27FC236}">
                    <a16:creationId xmlns:a16="http://schemas.microsoft.com/office/drawing/2014/main" id="{6989A5C0-5324-4B88-A009-AE3D088923AF}"/>
                  </a:ext>
                </a:extLst>
              </p:cNvPr>
              <p:cNvSpPr/>
              <p:nvPr/>
            </p:nvSpPr>
            <p:spPr>
              <a:xfrm>
                <a:off x="5130319" y="420260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 name="楕円 173">
                <a:extLst>
                  <a:ext uri="{FF2B5EF4-FFF2-40B4-BE49-F238E27FC236}">
                    <a16:creationId xmlns:a16="http://schemas.microsoft.com/office/drawing/2014/main" id="{93DBFA3A-C33F-49AE-B351-7AC5AA8146A8}"/>
                  </a:ext>
                </a:extLst>
              </p:cNvPr>
              <p:cNvSpPr/>
              <p:nvPr/>
            </p:nvSpPr>
            <p:spPr>
              <a:xfrm>
                <a:off x="5175414" y="405020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6" name="楕円 175">
              <a:extLst>
                <a:ext uri="{FF2B5EF4-FFF2-40B4-BE49-F238E27FC236}">
                  <a16:creationId xmlns:a16="http://schemas.microsoft.com/office/drawing/2014/main" id="{8FB55640-8917-40BC-B8B9-E76ADBFFB112}"/>
                </a:ext>
              </a:extLst>
            </p:cNvPr>
            <p:cNvSpPr/>
            <p:nvPr/>
          </p:nvSpPr>
          <p:spPr>
            <a:xfrm>
              <a:off x="6123333" y="2942693"/>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 name="楕円 176">
              <a:extLst>
                <a:ext uri="{FF2B5EF4-FFF2-40B4-BE49-F238E27FC236}">
                  <a16:creationId xmlns:a16="http://schemas.microsoft.com/office/drawing/2014/main" id="{23B029D5-726A-4932-B5AD-37E9528A9ECA}"/>
                </a:ext>
              </a:extLst>
            </p:cNvPr>
            <p:cNvSpPr/>
            <p:nvPr/>
          </p:nvSpPr>
          <p:spPr>
            <a:xfrm>
              <a:off x="5921286" y="365401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8" name="楕円 177">
              <a:extLst>
                <a:ext uri="{FF2B5EF4-FFF2-40B4-BE49-F238E27FC236}">
                  <a16:creationId xmlns:a16="http://schemas.microsoft.com/office/drawing/2014/main" id="{60EBC0EF-03B1-44E9-8658-62944CD8F3CB}"/>
                </a:ext>
              </a:extLst>
            </p:cNvPr>
            <p:cNvSpPr/>
            <p:nvPr/>
          </p:nvSpPr>
          <p:spPr>
            <a:xfrm>
              <a:off x="5025837" y="5016032"/>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9" name="楕円 178">
              <a:extLst>
                <a:ext uri="{FF2B5EF4-FFF2-40B4-BE49-F238E27FC236}">
                  <a16:creationId xmlns:a16="http://schemas.microsoft.com/office/drawing/2014/main" id="{C8D261FF-61F2-4DFA-971D-2C49337C5B2E}"/>
                </a:ext>
              </a:extLst>
            </p:cNvPr>
            <p:cNvSpPr/>
            <p:nvPr/>
          </p:nvSpPr>
          <p:spPr>
            <a:xfrm>
              <a:off x="5061635" y="253804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楕円 179">
              <a:extLst>
                <a:ext uri="{FF2B5EF4-FFF2-40B4-BE49-F238E27FC236}">
                  <a16:creationId xmlns:a16="http://schemas.microsoft.com/office/drawing/2014/main" id="{708921BB-CD97-41F9-AD93-4A6A5FD3CEEB}"/>
                </a:ext>
              </a:extLst>
            </p:cNvPr>
            <p:cNvSpPr/>
            <p:nvPr/>
          </p:nvSpPr>
          <p:spPr>
            <a:xfrm>
              <a:off x="6331875" y="2388405"/>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楕円 180">
              <a:extLst>
                <a:ext uri="{FF2B5EF4-FFF2-40B4-BE49-F238E27FC236}">
                  <a16:creationId xmlns:a16="http://schemas.microsoft.com/office/drawing/2014/main" id="{57CB6C66-F19F-4D82-B68B-E93E7AF8A543}"/>
                </a:ext>
              </a:extLst>
            </p:cNvPr>
            <p:cNvSpPr/>
            <p:nvPr/>
          </p:nvSpPr>
          <p:spPr>
            <a:xfrm>
              <a:off x="5815457" y="253804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2" name="楕円 181">
              <a:extLst>
                <a:ext uri="{FF2B5EF4-FFF2-40B4-BE49-F238E27FC236}">
                  <a16:creationId xmlns:a16="http://schemas.microsoft.com/office/drawing/2014/main" id="{975A6862-B586-43F0-9516-294C9C3E2B07}"/>
                </a:ext>
              </a:extLst>
            </p:cNvPr>
            <p:cNvSpPr/>
            <p:nvPr/>
          </p:nvSpPr>
          <p:spPr>
            <a:xfrm>
              <a:off x="3667339" y="3876987"/>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3" name="四角形: 角を丸くする 182">
              <a:extLst>
                <a:ext uri="{FF2B5EF4-FFF2-40B4-BE49-F238E27FC236}">
                  <a16:creationId xmlns:a16="http://schemas.microsoft.com/office/drawing/2014/main" id="{C5CF6EDF-D8AB-440B-915D-9D22FDC2085D}"/>
                </a:ext>
              </a:extLst>
            </p:cNvPr>
            <p:cNvSpPr/>
            <p:nvPr/>
          </p:nvSpPr>
          <p:spPr>
            <a:xfrm>
              <a:off x="3199668" y="2481096"/>
              <a:ext cx="1121786" cy="1055636"/>
            </a:xfrm>
            <a:prstGeom prst="round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4" name="四角形: 角を丸くする 183">
              <a:extLst>
                <a:ext uri="{FF2B5EF4-FFF2-40B4-BE49-F238E27FC236}">
                  <a16:creationId xmlns:a16="http://schemas.microsoft.com/office/drawing/2014/main" id="{5B4647DE-31CE-45C2-9853-CCA4DFA17143}"/>
                </a:ext>
              </a:extLst>
            </p:cNvPr>
            <p:cNvSpPr/>
            <p:nvPr/>
          </p:nvSpPr>
          <p:spPr>
            <a:xfrm>
              <a:off x="3199668" y="4204182"/>
              <a:ext cx="1121786" cy="1055636"/>
            </a:xfrm>
            <a:prstGeom prst="round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 name="四角形: 角を丸くする 185">
              <a:extLst>
                <a:ext uri="{FF2B5EF4-FFF2-40B4-BE49-F238E27FC236}">
                  <a16:creationId xmlns:a16="http://schemas.microsoft.com/office/drawing/2014/main" id="{D300BCDC-BDD9-42C9-8B81-D72CAE4E4D3D}"/>
                </a:ext>
              </a:extLst>
            </p:cNvPr>
            <p:cNvSpPr/>
            <p:nvPr/>
          </p:nvSpPr>
          <p:spPr>
            <a:xfrm>
              <a:off x="5716703" y="4215327"/>
              <a:ext cx="1121786" cy="1055636"/>
            </a:xfrm>
            <a:prstGeom prst="round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7" name="楕円 186">
              <a:extLst>
                <a:ext uri="{FF2B5EF4-FFF2-40B4-BE49-F238E27FC236}">
                  <a16:creationId xmlns:a16="http://schemas.microsoft.com/office/drawing/2014/main" id="{6D5BA370-4C5C-4FF7-AC6D-1B6221C8D4BC}"/>
                </a:ext>
              </a:extLst>
            </p:cNvPr>
            <p:cNvSpPr/>
            <p:nvPr/>
          </p:nvSpPr>
          <p:spPr>
            <a:xfrm>
              <a:off x="6598931" y="364532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8" name="楕円 187">
              <a:extLst>
                <a:ext uri="{FF2B5EF4-FFF2-40B4-BE49-F238E27FC236}">
                  <a16:creationId xmlns:a16="http://schemas.microsoft.com/office/drawing/2014/main" id="{78230D1E-27BD-41FB-A671-E8FFFFE51831}"/>
                </a:ext>
              </a:extLst>
            </p:cNvPr>
            <p:cNvSpPr/>
            <p:nvPr/>
          </p:nvSpPr>
          <p:spPr>
            <a:xfrm>
              <a:off x="4809790" y="3229380"/>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9" name="楕円 188">
              <a:extLst>
                <a:ext uri="{FF2B5EF4-FFF2-40B4-BE49-F238E27FC236}">
                  <a16:creationId xmlns:a16="http://schemas.microsoft.com/office/drawing/2014/main" id="{112AF9A9-DAA2-420C-9477-7D7ADED4EAEA}"/>
                </a:ext>
              </a:extLst>
            </p:cNvPr>
            <p:cNvSpPr/>
            <p:nvPr/>
          </p:nvSpPr>
          <p:spPr>
            <a:xfrm>
              <a:off x="6634931" y="3814866"/>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0" name="楕円 189">
              <a:extLst>
                <a:ext uri="{FF2B5EF4-FFF2-40B4-BE49-F238E27FC236}">
                  <a16:creationId xmlns:a16="http://schemas.microsoft.com/office/drawing/2014/main" id="{F50AD3B2-40F5-4409-9689-F162111634BD}"/>
                </a:ext>
              </a:extLst>
            </p:cNvPr>
            <p:cNvSpPr/>
            <p:nvPr/>
          </p:nvSpPr>
          <p:spPr>
            <a:xfrm>
              <a:off x="5164654" y="3113371"/>
              <a:ext cx="36000" cy="3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 name="楕円 190">
              <a:extLst>
                <a:ext uri="{FF2B5EF4-FFF2-40B4-BE49-F238E27FC236}">
                  <a16:creationId xmlns:a16="http://schemas.microsoft.com/office/drawing/2014/main" id="{4A45934E-F1A8-4628-AB0C-CE0E53E8E897}"/>
                </a:ext>
              </a:extLst>
            </p:cNvPr>
            <p:cNvSpPr/>
            <p:nvPr/>
          </p:nvSpPr>
          <p:spPr>
            <a:xfrm>
              <a:off x="3151064" y="2388913"/>
              <a:ext cx="288000" cy="288000"/>
            </a:xfrm>
            <a:prstGeom prst="ellips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b="1">
                  <a:solidFill>
                    <a:schemeClr val="tx1"/>
                  </a:solidFill>
                </a:rPr>
                <a:t>A</a:t>
              </a:r>
              <a:endParaRPr kumimoji="1" lang="ja-JP" altLang="en-US" sz="1400" b="1">
                <a:solidFill>
                  <a:schemeClr val="tx1"/>
                </a:solidFill>
              </a:endParaRPr>
            </a:p>
          </p:txBody>
        </p:sp>
        <p:sp>
          <p:nvSpPr>
            <p:cNvPr id="192" name="楕円 191">
              <a:extLst>
                <a:ext uri="{FF2B5EF4-FFF2-40B4-BE49-F238E27FC236}">
                  <a16:creationId xmlns:a16="http://schemas.microsoft.com/office/drawing/2014/main" id="{ECB412F1-E14C-48EF-ADA7-8F1DA784A7BB}"/>
                </a:ext>
              </a:extLst>
            </p:cNvPr>
            <p:cNvSpPr/>
            <p:nvPr/>
          </p:nvSpPr>
          <p:spPr>
            <a:xfrm>
              <a:off x="3151064" y="4149879"/>
              <a:ext cx="288000" cy="288000"/>
            </a:xfrm>
            <a:prstGeom prst="ellips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400" b="1">
                  <a:solidFill>
                    <a:schemeClr val="tx1"/>
                  </a:solidFill>
                </a:rPr>
                <a:t>A’</a:t>
              </a:r>
              <a:endParaRPr kumimoji="1" lang="ja-JP" altLang="en-US" sz="1400" b="1">
                <a:solidFill>
                  <a:schemeClr val="tx1"/>
                </a:solidFill>
              </a:endParaRPr>
            </a:p>
          </p:txBody>
        </p:sp>
        <p:sp>
          <p:nvSpPr>
            <p:cNvPr id="193" name="楕円 192">
              <a:extLst>
                <a:ext uri="{FF2B5EF4-FFF2-40B4-BE49-F238E27FC236}">
                  <a16:creationId xmlns:a16="http://schemas.microsoft.com/office/drawing/2014/main" id="{711F7D03-DEA2-45B2-A5EC-005E4F5FABE2}"/>
                </a:ext>
              </a:extLst>
            </p:cNvPr>
            <p:cNvSpPr/>
            <p:nvPr/>
          </p:nvSpPr>
          <p:spPr>
            <a:xfrm>
              <a:off x="4369163" y="3484196"/>
              <a:ext cx="288000" cy="288000"/>
            </a:xfrm>
            <a:prstGeom prst="ellipse">
              <a:avLst/>
            </a:prstGeom>
            <a:solidFill>
              <a:schemeClr val="accent3">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b="1">
                  <a:solidFill>
                    <a:schemeClr val="tx1"/>
                  </a:solidFill>
                </a:rPr>
                <a:t>B</a:t>
              </a:r>
              <a:endParaRPr kumimoji="1" lang="ja-JP" altLang="en-US" sz="1400" b="1">
                <a:solidFill>
                  <a:schemeClr val="tx1"/>
                </a:solidFill>
              </a:endParaRPr>
            </a:p>
          </p:txBody>
        </p:sp>
        <p:sp>
          <p:nvSpPr>
            <p:cNvPr id="194" name="楕円 193">
              <a:extLst>
                <a:ext uri="{FF2B5EF4-FFF2-40B4-BE49-F238E27FC236}">
                  <a16:creationId xmlns:a16="http://schemas.microsoft.com/office/drawing/2014/main" id="{C871CDCA-8959-4791-946B-9045DCDEEC14}"/>
                </a:ext>
              </a:extLst>
            </p:cNvPr>
            <p:cNvSpPr/>
            <p:nvPr/>
          </p:nvSpPr>
          <p:spPr>
            <a:xfrm>
              <a:off x="5666548" y="4149879"/>
              <a:ext cx="288000" cy="288000"/>
            </a:xfrm>
            <a:prstGeom prst="ellips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chemeClr val="tx1"/>
                  </a:solidFill>
                </a:rPr>
                <a:t>C</a:t>
              </a:r>
              <a:endParaRPr kumimoji="1" lang="ja-JP" altLang="en-US" sz="1400" b="1">
                <a:solidFill>
                  <a:schemeClr val="tx1"/>
                </a:solidFill>
              </a:endParaRPr>
            </a:p>
          </p:txBody>
        </p:sp>
      </p:grpSp>
      <p:sp>
        <p:nvSpPr>
          <p:cNvPr id="196" name="テキスト ボックス 195">
            <a:extLst>
              <a:ext uri="{FF2B5EF4-FFF2-40B4-BE49-F238E27FC236}">
                <a16:creationId xmlns:a16="http://schemas.microsoft.com/office/drawing/2014/main" id="{DDF53862-97D7-4E85-851C-E3026145CA33}"/>
              </a:ext>
            </a:extLst>
          </p:cNvPr>
          <p:cNvSpPr txBox="1"/>
          <p:nvPr/>
        </p:nvSpPr>
        <p:spPr>
          <a:xfrm>
            <a:off x="2043965" y="1952577"/>
            <a:ext cx="902811" cy="307777"/>
          </a:xfrm>
          <a:prstGeom prst="rect">
            <a:avLst/>
          </a:prstGeom>
          <a:noFill/>
        </p:spPr>
        <p:txBody>
          <a:bodyPr wrap="none" rtlCol="0">
            <a:spAutoFit/>
          </a:bodyPr>
          <a:lstStyle/>
          <a:p>
            <a:pPr algn="ctr"/>
            <a:r>
              <a:rPr kumimoji="1" lang="ja-JP" altLang="en-US" sz="1400"/>
              <a:t>稼働期間</a:t>
            </a:r>
          </a:p>
        </p:txBody>
      </p:sp>
      <p:sp>
        <p:nvSpPr>
          <p:cNvPr id="197" name="正方形/長方形 196">
            <a:extLst>
              <a:ext uri="{FF2B5EF4-FFF2-40B4-BE49-F238E27FC236}">
                <a16:creationId xmlns:a16="http://schemas.microsoft.com/office/drawing/2014/main" id="{A14A2EC7-C1B3-488C-817E-CFB6B721E1D7}"/>
              </a:ext>
            </a:extLst>
          </p:cNvPr>
          <p:cNvSpPr/>
          <p:nvPr/>
        </p:nvSpPr>
        <p:spPr>
          <a:xfrm>
            <a:off x="1489618" y="1952578"/>
            <a:ext cx="1599351" cy="3611996"/>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8" name="正方形/長方形 197">
            <a:extLst>
              <a:ext uri="{FF2B5EF4-FFF2-40B4-BE49-F238E27FC236}">
                <a16:creationId xmlns:a16="http://schemas.microsoft.com/office/drawing/2014/main" id="{2005E187-69B5-4E92-BEAF-B52D15C184B1}"/>
              </a:ext>
            </a:extLst>
          </p:cNvPr>
          <p:cNvSpPr/>
          <p:nvPr/>
        </p:nvSpPr>
        <p:spPr>
          <a:xfrm>
            <a:off x="2874099" y="5606279"/>
            <a:ext cx="4538757" cy="787695"/>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9" name="吹き出し: 角を丸めた四角形 198">
            <a:extLst>
              <a:ext uri="{FF2B5EF4-FFF2-40B4-BE49-F238E27FC236}">
                <a16:creationId xmlns:a16="http://schemas.microsoft.com/office/drawing/2014/main" id="{F8F87183-CAA3-4C8F-B229-C381A0CA5D5D}"/>
              </a:ext>
            </a:extLst>
          </p:cNvPr>
          <p:cNvSpPr/>
          <p:nvPr/>
        </p:nvSpPr>
        <p:spPr>
          <a:xfrm>
            <a:off x="80527" y="5057023"/>
            <a:ext cx="1359120" cy="1294452"/>
          </a:xfrm>
          <a:prstGeom prst="wedgeRoundRectCallout">
            <a:avLst>
              <a:gd name="adj1" fmla="val 44438"/>
              <a:gd name="adj2" fmla="val 20919"/>
              <a:gd name="adj3" fmla="val 16667"/>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pPr marL="88900" indent="-88900">
              <a:buFont typeface="Arial" panose="020B0604020202020204" pitchFamily="34" charset="0"/>
              <a:buChar char="•"/>
            </a:pPr>
            <a:r>
              <a:rPr lang="ja-JP" altLang="en-US" sz="1050">
                <a:solidFill>
                  <a:schemeClr val="tx1"/>
                </a:solidFill>
              </a:rPr>
              <a:t>顧客リストと</a:t>
            </a:r>
            <a:br>
              <a:rPr lang="en-US" altLang="ja-JP" sz="1050">
                <a:solidFill>
                  <a:schemeClr val="tx1"/>
                </a:solidFill>
              </a:rPr>
            </a:br>
            <a:r>
              <a:rPr lang="ja-JP" altLang="en-US" sz="1050">
                <a:solidFill>
                  <a:schemeClr val="tx1"/>
                </a:solidFill>
              </a:rPr>
              <a:t>営業の知見を基に、</a:t>
            </a:r>
            <a:br>
              <a:rPr lang="en-US" altLang="ja-JP" sz="1050">
                <a:solidFill>
                  <a:schemeClr val="tx1"/>
                </a:solidFill>
              </a:rPr>
            </a:br>
            <a:r>
              <a:rPr lang="ja-JP" altLang="en-US" sz="1050">
                <a:solidFill>
                  <a:schemeClr val="tx1"/>
                </a:solidFill>
              </a:rPr>
              <a:t>どの様な切り口で</a:t>
            </a:r>
            <a:br>
              <a:rPr lang="en-US" altLang="ja-JP" sz="1050">
                <a:solidFill>
                  <a:schemeClr val="tx1"/>
                </a:solidFill>
              </a:rPr>
            </a:br>
            <a:r>
              <a:rPr lang="ja-JP" altLang="en-US" sz="1050">
                <a:solidFill>
                  <a:schemeClr val="tx1"/>
                </a:solidFill>
              </a:rPr>
              <a:t>あればニーズに</a:t>
            </a:r>
            <a:br>
              <a:rPr lang="en-US" altLang="ja-JP" sz="1050">
                <a:solidFill>
                  <a:schemeClr val="tx1"/>
                </a:solidFill>
              </a:rPr>
            </a:br>
            <a:r>
              <a:rPr lang="ja-JP" altLang="en-US" sz="1050">
                <a:solidFill>
                  <a:schemeClr val="tx1"/>
                </a:solidFill>
              </a:rPr>
              <a:t>特定の纏まりが</a:t>
            </a:r>
            <a:br>
              <a:rPr lang="en-US" altLang="ja-JP" sz="1050">
                <a:solidFill>
                  <a:schemeClr val="tx1"/>
                </a:solidFill>
              </a:rPr>
            </a:br>
            <a:r>
              <a:rPr lang="ja-JP" altLang="en-US" sz="1050">
                <a:solidFill>
                  <a:schemeClr val="tx1"/>
                </a:solidFill>
              </a:rPr>
              <a:t>出現するか検討し</a:t>
            </a:r>
            <a:br>
              <a:rPr lang="en-US" altLang="ja-JP" sz="1050">
                <a:solidFill>
                  <a:schemeClr val="tx1"/>
                </a:solidFill>
              </a:rPr>
            </a:br>
            <a:r>
              <a:rPr lang="ja-JP" altLang="en-US" sz="1050">
                <a:solidFill>
                  <a:schemeClr val="tx1"/>
                </a:solidFill>
              </a:rPr>
              <a:t>相関・因果を分析</a:t>
            </a:r>
            <a:br>
              <a:rPr lang="en-US" altLang="ja-JP" sz="1050">
                <a:solidFill>
                  <a:schemeClr val="tx1"/>
                </a:solidFill>
              </a:rPr>
            </a:br>
            <a:br>
              <a:rPr lang="en-US" altLang="ja-JP" sz="1050">
                <a:solidFill>
                  <a:schemeClr val="tx1"/>
                </a:solidFill>
              </a:rPr>
            </a:br>
            <a:endParaRPr kumimoji="1" lang="ja-JP" altLang="en-US" sz="1050">
              <a:solidFill>
                <a:schemeClr val="tx1"/>
              </a:solidFill>
            </a:endParaRPr>
          </a:p>
        </p:txBody>
      </p:sp>
      <p:sp>
        <p:nvSpPr>
          <p:cNvPr id="208" name="吹き出し: 角を丸めた四角形 207">
            <a:extLst>
              <a:ext uri="{FF2B5EF4-FFF2-40B4-BE49-F238E27FC236}">
                <a16:creationId xmlns:a16="http://schemas.microsoft.com/office/drawing/2014/main" id="{A88A287D-5B04-496A-B4CA-FAC29A725605}"/>
              </a:ext>
            </a:extLst>
          </p:cNvPr>
          <p:cNvSpPr/>
          <p:nvPr/>
        </p:nvSpPr>
        <p:spPr>
          <a:xfrm>
            <a:off x="6763736" y="1844073"/>
            <a:ext cx="2187307" cy="1100141"/>
          </a:xfrm>
          <a:prstGeom prst="wedgeRoundRectCallout">
            <a:avLst>
              <a:gd name="adj1" fmla="val 44438"/>
              <a:gd name="adj2" fmla="val 20919"/>
              <a:gd name="adj3" fmla="val 16667"/>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pPr marL="88900" indent="-88900">
              <a:buFont typeface="Arial" panose="020B0604020202020204" pitchFamily="34" charset="0"/>
              <a:buChar char="•"/>
            </a:pPr>
            <a:r>
              <a:rPr kumimoji="1" lang="ja-JP" altLang="en-US" sz="1050">
                <a:solidFill>
                  <a:schemeClr val="tx1"/>
                </a:solidFill>
              </a:rPr>
              <a:t>ある程度のセグメント別ニーズ</a:t>
            </a:r>
            <a:br>
              <a:rPr kumimoji="1" lang="en-US" altLang="ja-JP" sz="1050">
                <a:solidFill>
                  <a:schemeClr val="tx1"/>
                </a:solidFill>
              </a:rPr>
            </a:br>
            <a:r>
              <a:rPr kumimoji="1" lang="ja-JP" altLang="en-US" sz="1050">
                <a:solidFill>
                  <a:schemeClr val="tx1"/>
                </a:solidFill>
              </a:rPr>
              <a:t>傾向を把握</a:t>
            </a:r>
            <a:endParaRPr kumimoji="1" lang="en-US" altLang="ja-JP" sz="1050">
              <a:solidFill>
                <a:schemeClr val="tx1"/>
              </a:solidFill>
            </a:endParaRPr>
          </a:p>
          <a:p>
            <a:pPr marL="88900" indent="-88900">
              <a:buFont typeface="Arial" panose="020B0604020202020204" pitchFamily="34" charset="0"/>
              <a:buChar char="•"/>
            </a:pPr>
            <a:r>
              <a:rPr kumimoji="1" lang="ja-JP" altLang="en-US" sz="1050">
                <a:solidFill>
                  <a:schemeClr val="tx1"/>
                </a:solidFill>
              </a:rPr>
              <a:t>各セグメントに</a:t>
            </a:r>
            <a:r>
              <a:rPr lang="ja-JP" altLang="en-US" sz="1050">
                <a:solidFill>
                  <a:schemeClr val="tx1"/>
                </a:solidFill>
              </a:rPr>
              <a:t>於けるニーズの</a:t>
            </a:r>
            <a:br>
              <a:rPr lang="en-US" altLang="ja-JP" sz="1050">
                <a:solidFill>
                  <a:schemeClr val="tx1"/>
                </a:solidFill>
              </a:rPr>
            </a:br>
            <a:r>
              <a:rPr lang="ja-JP" altLang="en-US" sz="1050">
                <a:solidFill>
                  <a:schemeClr val="tx1"/>
                </a:solidFill>
              </a:rPr>
              <a:t>因果関係、ニーズの発生</a:t>
            </a:r>
            <a:br>
              <a:rPr lang="en-US" altLang="ja-JP" sz="1050">
                <a:solidFill>
                  <a:schemeClr val="tx1"/>
                </a:solidFill>
              </a:rPr>
            </a:br>
            <a:r>
              <a:rPr lang="ja-JP" altLang="en-US" sz="1050">
                <a:solidFill>
                  <a:schemeClr val="tx1"/>
                </a:solidFill>
              </a:rPr>
              <a:t>タイミング（成長ステップ）が</a:t>
            </a:r>
            <a:br>
              <a:rPr lang="en-US" altLang="ja-JP" sz="1050">
                <a:solidFill>
                  <a:schemeClr val="tx1"/>
                </a:solidFill>
              </a:rPr>
            </a:br>
            <a:r>
              <a:rPr lang="ja-JP" altLang="en-US" sz="1050">
                <a:solidFill>
                  <a:schemeClr val="tx1"/>
                </a:solidFill>
              </a:rPr>
              <a:t>どのように変化しうるかを考察。</a:t>
            </a:r>
            <a:endParaRPr kumimoji="1" lang="ja-JP" altLang="en-US" sz="1050">
              <a:solidFill>
                <a:schemeClr val="tx1"/>
              </a:solidFill>
            </a:endParaRPr>
          </a:p>
        </p:txBody>
      </p:sp>
      <p:sp>
        <p:nvSpPr>
          <p:cNvPr id="209" name="矢印: 右 208">
            <a:extLst>
              <a:ext uri="{FF2B5EF4-FFF2-40B4-BE49-F238E27FC236}">
                <a16:creationId xmlns:a16="http://schemas.microsoft.com/office/drawing/2014/main" id="{7D79C207-77B5-4732-B4D2-495DE8EB50B0}"/>
              </a:ext>
            </a:extLst>
          </p:cNvPr>
          <p:cNvSpPr/>
          <p:nvPr/>
        </p:nvSpPr>
        <p:spPr>
          <a:xfrm rot="13358139">
            <a:off x="4286816" y="3250394"/>
            <a:ext cx="509608" cy="2622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2" name="直線矢印コネクタ 211">
            <a:extLst>
              <a:ext uri="{FF2B5EF4-FFF2-40B4-BE49-F238E27FC236}">
                <a16:creationId xmlns:a16="http://schemas.microsoft.com/office/drawing/2014/main" id="{C86EA3F3-8E34-4257-8C2F-AB1302779C84}"/>
              </a:ext>
            </a:extLst>
          </p:cNvPr>
          <p:cNvCxnSpPr>
            <a:cxnSpLocks/>
            <a:stCxn id="199" idx="3"/>
            <a:endCxn id="198" idx="1"/>
          </p:cNvCxnSpPr>
          <p:nvPr/>
        </p:nvCxnSpPr>
        <p:spPr>
          <a:xfrm>
            <a:off x="1439647" y="5704249"/>
            <a:ext cx="1434452" cy="295878"/>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5" name="直線矢印コネクタ 214">
            <a:extLst>
              <a:ext uri="{FF2B5EF4-FFF2-40B4-BE49-F238E27FC236}">
                <a16:creationId xmlns:a16="http://schemas.microsoft.com/office/drawing/2014/main" id="{C96A9B90-B246-48CE-986B-2216DD2C4DEE}"/>
              </a:ext>
            </a:extLst>
          </p:cNvPr>
          <p:cNvCxnSpPr>
            <a:cxnSpLocks/>
            <a:stCxn id="199" idx="3"/>
          </p:cNvCxnSpPr>
          <p:nvPr/>
        </p:nvCxnSpPr>
        <p:spPr>
          <a:xfrm flipV="1">
            <a:off x="1439647" y="5259105"/>
            <a:ext cx="307264" cy="445144"/>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9" name="直線矢印コネクタ 218">
            <a:extLst>
              <a:ext uri="{FF2B5EF4-FFF2-40B4-BE49-F238E27FC236}">
                <a16:creationId xmlns:a16="http://schemas.microsoft.com/office/drawing/2014/main" id="{F4A104C0-2233-45E9-A87C-F95F9119D2AF}"/>
              </a:ext>
            </a:extLst>
          </p:cNvPr>
          <p:cNvCxnSpPr>
            <a:cxnSpLocks/>
            <a:stCxn id="208" idx="1"/>
            <a:endCxn id="183" idx="3"/>
          </p:cNvCxnSpPr>
          <p:nvPr/>
        </p:nvCxnSpPr>
        <p:spPr>
          <a:xfrm flipH="1">
            <a:off x="4356966" y="2394144"/>
            <a:ext cx="2406770" cy="712428"/>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6" name="吹き出し: 角を丸めた四角形 225">
            <a:extLst>
              <a:ext uri="{FF2B5EF4-FFF2-40B4-BE49-F238E27FC236}">
                <a16:creationId xmlns:a16="http://schemas.microsoft.com/office/drawing/2014/main" id="{99582088-42D8-44D3-B35F-C0A6A1EB391D}"/>
              </a:ext>
            </a:extLst>
          </p:cNvPr>
          <p:cNvSpPr/>
          <p:nvPr/>
        </p:nvSpPr>
        <p:spPr>
          <a:xfrm>
            <a:off x="4277107" y="2013050"/>
            <a:ext cx="1573862" cy="530699"/>
          </a:xfrm>
          <a:prstGeom prst="wedgeRoundRectCallout">
            <a:avLst>
              <a:gd name="adj1" fmla="val -65696"/>
              <a:gd name="adj2" fmla="val 6262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ja-JP" altLang="en-US" sz="1000" b="1">
                <a:solidFill>
                  <a:schemeClr val="tx1"/>
                </a:solidFill>
              </a:rPr>
              <a:t>ニーズ</a:t>
            </a:r>
            <a:endParaRPr lang="en-US" altLang="ja-JP" sz="1000" b="1">
              <a:solidFill>
                <a:schemeClr val="tx1"/>
              </a:solidFill>
            </a:endParaRPr>
          </a:p>
          <a:p>
            <a:r>
              <a:rPr lang="ja-JP" altLang="en-US" sz="1000">
                <a:solidFill>
                  <a:schemeClr val="tx1"/>
                </a:solidFill>
              </a:rPr>
              <a:t>メンテ担当者の高齢化に</a:t>
            </a:r>
            <a:br>
              <a:rPr lang="en-US" altLang="ja-JP" sz="1000">
                <a:solidFill>
                  <a:schemeClr val="tx1"/>
                </a:solidFill>
              </a:rPr>
            </a:br>
            <a:r>
              <a:rPr lang="ja-JP" altLang="en-US" sz="1000">
                <a:solidFill>
                  <a:schemeClr val="tx1"/>
                </a:solidFill>
              </a:rPr>
              <a:t>より業務継承が困難</a:t>
            </a:r>
          </a:p>
        </p:txBody>
      </p:sp>
      <p:sp>
        <p:nvSpPr>
          <p:cNvPr id="227" name="吹き出し: 角を丸めた四角形 226">
            <a:extLst>
              <a:ext uri="{FF2B5EF4-FFF2-40B4-BE49-F238E27FC236}">
                <a16:creationId xmlns:a16="http://schemas.microsoft.com/office/drawing/2014/main" id="{6B096D40-06F5-4674-8150-C2289DB97B95}"/>
              </a:ext>
            </a:extLst>
          </p:cNvPr>
          <p:cNvSpPr/>
          <p:nvPr/>
        </p:nvSpPr>
        <p:spPr>
          <a:xfrm>
            <a:off x="6947468" y="4531628"/>
            <a:ext cx="713699" cy="350912"/>
          </a:xfrm>
          <a:prstGeom prst="wedgeRoundRectCallout">
            <a:avLst>
              <a:gd name="adj1" fmla="val -70672"/>
              <a:gd name="adj2" fmla="val 45895"/>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b="1">
                <a:solidFill>
                  <a:schemeClr val="tx1"/>
                </a:solidFill>
              </a:rPr>
              <a:t>ニーズ</a:t>
            </a:r>
            <a:endParaRPr kumimoji="1" lang="en-US" altLang="ja-JP" sz="1000" b="1">
              <a:solidFill>
                <a:schemeClr val="tx1"/>
              </a:solidFill>
            </a:endParaRPr>
          </a:p>
          <a:p>
            <a:r>
              <a:rPr lang="en-US" altLang="ja-JP" sz="1000">
                <a:solidFill>
                  <a:schemeClr val="tx1"/>
                </a:solidFill>
              </a:rPr>
              <a:t>YYY</a:t>
            </a:r>
            <a:endParaRPr kumimoji="1" lang="ja-JP" altLang="en-US" sz="1000">
              <a:solidFill>
                <a:schemeClr val="tx1"/>
              </a:solidFill>
            </a:endParaRPr>
          </a:p>
        </p:txBody>
      </p:sp>
      <p:sp>
        <p:nvSpPr>
          <p:cNvPr id="228" name="吹き出し: 角を丸めた四角形 227">
            <a:extLst>
              <a:ext uri="{FF2B5EF4-FFF2-40B4-BE49-F238E27FC236}">
                <a16:creationId xmlns:a16="http://schemas.microsoft.com/office/drawing/2014/main" id="{1150EDAA-5DA4-42E8-9A5F-DCED41661E08}"/>
              </a:ext>
            </a:extLst>
          </p:cNvPr>
          <p:cNvSpPr/>
          <p:nvPr/>
        </p:nvSpPr>
        <p:spPr>
          <a:xfrm>
            <a:off x="4397921" y="5134507"/>
            <a:ext cx="713699" cy="350912"/>
          </a:xfrm>
          <a:prstGeom prst="wedgeRoundRectCallout">
            <a:avLst>
              <a:gd name="adj1" fmla="val -71916"/>
              <a:gd name="adj2" fmla="val -47711"/>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00" b="1">
                <a:solidFill>
                  <a:schemeClr val="tx1"/>
                </a:solidFill>
              </a:rPr>
              <a:t>ニーズ</a:t>
            </a:r>
            <a:endParaRPr kumimoji="1" lang="en-US" altLang="ja-JP" sz="1000" b="1">
              <a:solidFill>
                <a:schemeClr val="tx1"/>
              </a:solidFill>
            </a:endParaRPr>
          </a:p>
          <a:p>
            <a:r>
              <a:rPr lang="en-US" altLang="ja-JP" sz="1000">
                <a:solidFill>
                  <a:schemeClr val="tx1"/>
                </a:solidFill>
              </a:rPr>
              <a:t>XXX</a:t>
            </a:r>
            <a:endParaRPr kumimoji="1" lang="ja-JP" altLang="en-US" sz="1000">
              <a:solidFill>
                <a:schemeClr val="tx1"/>
              </a:solidFill>
            </a:endParaRPr>
          </a:p>
        </p:txBody>
      </p:sp>
      <p:sp>
        <p:nvSpPr>
          <p:cNvPr id="229" name="矢印: 右 228">
            <a:extLst>
              <a:ext uri="{FF2B5EF4-FFF2-40B4-BE49-F238E27FC236}">
                <a16:creationId xmlns:a16="http://schemas.microsoft.com/office/drawing/2014/main" id="{C1477B50-EB19-47D6-98EE-BBB5232319A6}"/>
              </a:ext>
            </a:extLst>
          </p:cNvPr>
          <p:cNvSpPr/>
          <p:nvPr/>
        </p:nvSpPr>
        <p:spPr>
          <a:xfrm rot="12048298">
            <a:off x="5416865" y="4501247"/>
            <a:ext cx="509608" cy="2622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0" name="直線矢印コネクタ 229">
            <a:extLst>
              <a:ext uri="{FF2B5EF4-FFF2-40B4-BE49-F238E27FC236}">
                <a16:creationId xmlns:a16="http://schemas.microsoft.com/office/drawing/2014/main" id="{09D8F0E8-966B-41E0-B8D4-226CFC635019}"/>
              </a:ext>
            </a:extLst>
          </p:cNvPr>
          <p:cNvCxnSpPr>
            <a:cxnSpLocks/>
            <a:stCxn id="208" idx="1"/>
          </p:cNvCxnSpPr>
          <p:nvPr/>
        </p:nvCxnSpPr>
        <p:spPr>
          <a:xfrm flipH="1">
            <a:off x="4522320" y="2394144"/>
            <a:ext cx="2241416" cy="937767"/>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0" name="吹き出し: 角を丸めた四角形 199">
            <a:extLst>
              <a:ext uri="{FF2B5EF4-FFF2-40B4-BE49-F238E27FC236}">
                <a16:creationId xmlns:a16="http://schemas.microsoft.com/office/drawing/2014/main" id="{762294AB-05EB-49EE-8CE7-5E0A440B38FC}"/>
              </a:ext>
            </a:extLst>
          </p:cNvPr>
          <p:cNvSpPr/>
          <p:nvPr/>
        </p:nvSpPr>
        <p:spPr>
          <a:xfrm>
            <a:off x="6763736" y="3060362"/>
            <a:ext cx="2187307" cy="766543"/>
          </a:xfrm>
          <a:prstGeom prst="wedgeRoundRectCallout">
            <a:avLst>
              <a:gd name="adj1" fmla="val 44438"/>
              <a:gd name="adj2" fmla="val 20919"/>
              <a:gd name="adj3" fmla="val 16667"/>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lstStyle/>
          <a:p>
            <a:pPr marL="88900" indent="-88900">
              <a:buFont typeface="Arial" panose="020B0604020202020204" pitchFamily="34" charset="0"/>
              <a:buChar char="•"/>
            </a:pPr>
            <a:r>
              <a:rPr lang="ja-JP" altLang="en-US" sz="1050">
                <a:solidFill>
                  <a:schemeClr val="tx1"/>
                </a:solidFill>
              </a:rPr>
              <a:t>各セグメントの関係性と</a:t>
            </a:r>
            <a:br>
              <a:rPr lang="en-US" altLang="ja-JP" sz="1050">
                <a:solidFill>
                  <a:schemeClr val="tx1"/>
                </a:solidFill>
              </a:rPr>
            </a:br>
            <a:r>
              <a:rPr lang="ja-JP" altLang="en-US" sz="1050">
                <a:solidFill>
                  <a:schemeClr val="tx1"/>
                </a:solidFill>
              </a:rPr>
              <a:t>取組のフィジビリティ・判断軸</a:t>
            </a:r>
            <a:br>
              <a:rPr lang="en-US" altLang="ja-JP" sz="1050">
                <a:solidFill>
                  <a:schemeClr val="tx1"/>
                </a:solidFill>
              </a:rPr>
            </a:br>
            <a:r>
              <a:rPr lang="ja-JP" altLang="en-US" sz="1050">
                <a:solidFill>
                  <a:schemeClr val="tx1"/>
                </a:solidFill>
              </a:rPr>
              <a:t>を基に、どの顧客への</a:t>
            </a:r>
            <a:br>
              <a:rPr lang="en-US" altLang="ja-JP" sz="1050">
                <a:solidFill>
                  <a:schemeClr val="tx1"/>
                </a:solidFill>
              </a:rPr>
            </a:br>
            <a:r>
              <a:rPr lang="ja-JP" altLang="en-US" sz="1050">
                <a:solidFill>
                  <a:schemeClr val="tx1"/>
                </a:solidFill>
              </a:rPr>
              <a:t>アプローチ順序案を定義</a:t>
            </a:r>
            <a:endParaRPr kumimoji="1" lang="ja-JP" altLang="en-US" sz="1050">
              <a:solidFill>
                <a:schemeClr val="tx1"/>
              </a:solidFill>
            </a:endParaRPr>
          </a:p>
        </p:txBody>
      </p:sp>
      <p:sp>
        <p:nvSpPr>
          <p:cNvPr id="202" name="楕円 201">
            <a:extLst>
              <a:ext uri="{FF2B5EF4-FFF2-40B4-BE49-F238E27FC236}">
                <a16:creationId xmlns:a16="http://schemas.microsoft.com/office/drawing/2014/main" id="{E06C0095-70A2-4A1A-937E-28D8222AD7CD}"/>
              </a:ext>
            </a:extLst>
          </p:cNvPr>
          <p:cNvSpPr/>
          <p:nvPr/>
        </p:nvSpPr>
        <p:spPr>
          <a:xfrm>
            <a:off x="83096" y="486486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b="1">
                <a:solidFill>
                  <a:srgbClr val="FF0000"/>
                </a:solidFill>
              </a:rPr>
              <a:t>1</a:t>
            </a:r>
            <a:endParaRPr kumimoji="1" lang="ja-JP" altLang="en-US" sz="1400" b="1">
              <a:solidFill>
                <a:srgbClr val="FF0000"/>
              </a:solidFill>
            </a:endParaRPr>
          </a:p>
        </p:txBody>
      </p:sp>
      <p:sp>
        <p:nvSpPr>
          <p:cNvPr id="203" name="楕円 202">
            <a:extLst>
              <a:ext uri="{FF2B5EF4-FFF2-40B4-BE49-F238E27FC236}">
                <a16:creationId xmlns:a16="http://schemas.microsoft.com/office/drawing/2014/main" id="{42FEC3FF-A33C-47C6-A6FF-DB839A8EC72F}"/>
              </a:ext>
            </a:extLst>
          </p:cNvPr>
          <p:cNvSpPr/>
          <p:nvPr/>
        </p:nvSpPr>
        <p:spPr>
          <a:xfrm>
            <a:off x="6526443" y="183091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rgbClr val="FF0000"/>
                </a:solidFill>
              </a:rPr>
              <a:t>2</a:t>
            </a:r>
            <a:endParaRPr kumimoji="1" lang="ja-JP" altLang="en-US" sz="1400" b="1">
              <a:solidFill>
                <a:srgbClr val="FF0000"/>
              </a:solidFill>
            </a:endParaRPr>
          </a:p>
        </p:txBody>
      </p:sp>
      <p:sp>
        <p:nvSpPr>
          <p:cNvPr id="204" name="楕円 203">
            <a:extLst>
              <a:ext uri="{FF2B5EF4-FFF2-40B4-BE49-F238E27FC236}">
                <a16:creationId xmlns:a16="http://schemas.microsoft.com/office/drawing/2014/main" id="{15FF7668-B689-4980-9456-B32030000C7E}"/>
              </a:ext>
            </a:extLst>
          </p:cNvPr>
          <p:cNvSpPr/>
          <p:nvPr/>
        </p:nvSpPr>
        <p:spPr>
          <a:xfrm>
            <a:off x="6526443" y="301480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rgbClr val="FF0000"/>
                </a:solidFill>
              </a:rPr>
              <a:t>3</a:t>
            </a:r>
            <a:endParaRPr kumimoji="1" lang="ja-JP" altLang="en-US" sz="1400" b="1">
              <a:solidFill>
                <a:srgbClr val="FF0000"/>
              </a:solidFill>
            </a:endParaRPr>
          </a:p>
        </p:txBody>
      </p:sp>
      <p:cxnSp>
        <p:nvCxnSpPr>
          <p:cNvPr id="205" name="直線矢印コネクタ 204">
            <a:extLst>
              <a:ext uri="{FF2B5EF4-FFF2-40B4-BE49-F238E27FC236}">
                <a16:creationId xmlns:a16="http://schemas.microsoft.com/office/drawing/2014/main" id="{497EAFDB-ECB5-4D94-9EA4-049FCEF99747}"/>
              </a:ext>
            </a:extLst>
          </p:cNvPr>
          <p:cNvCxnSpPr>
            <a:cxnSpLocks/>
            <a:stCxn id="200" idx="1"/>
          </p:cNvCxnSpPr>
          <p:nvPr/>
        </p:nvCxnSpPr>
        <p:spPr>
          <a:xfrm flipH="1">
            <a:off x="5418662" y="3443634"/>
            <a:ext cx="1345074" cy="419625"/>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7" name="矢印: 右 206">
            <a:extLst>
              <a:ext uri="{FF2B5EF4-FFF2-40B4-BE49-F238E27FC236}">
                <a16:creationId xmlns:a16="http://schemas.microsoft.com/office/drawing/2014/main" id="{3C83B749-580C-4785-AE4A-7167AC11E049}"/>
              </a:ext>
            </a:extLst>
          </p:cNvPr>
          <p:cNvSpPr/>
          <p:nvPr/>
        </p:nvSpPr>
        <p:spPr>
          <a:xfrm rot="9062059">
            <a:off x="4196462" y="4575319"/>
            <a:ext cx="509608" cy="2622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23118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F155CA0-E888-4C24-ACA3-6C4D2A9C0BFF}"/>
              </a:ext>
            </a:extLst>
          </p:cNvPr>
          <p:cNvSpPr txBox="1">
            <a:spLocks/>
          </p:cNvSpPr>
          <p:nvPr/>
        </p:nvSpPr>
        <p:spPr>
          <a:xfrm>
            <a:off x="248235" y="135110"/>
            <a:ext cx="6390090"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t>５</a:t>
            </a:r>
            <a:r>
              <a:rPr lang="en-US" altLang="ja-JP" sz="2000"/>
              <a:t>. </a:t>
            </a:r>
            <a:r>
              <a:rPr lang="ja-JP" altLang="en-US" sz="2000"/>
              <a:t>推進アプローチについて</a:t>
            </a:r>
          </a:p>
        </p:txBody>
      </p:sp>
      <p:sp>
        <p:nvSpPr>
          <p:cNvPr id="9" name="テキスト プレースホルダー 5">
            <a:extLst>
              <a:ext uri="{FF2B5EF4-FFF2-40B4-BE49-F238E27FC236}">
                <a16:creationId xmlns:a16="http://schemas.microsoft.com/office/drawing/2014/main" id="{0CB4A7E7-2D9F-40A7-8563-B1FAC3C004FC}"/>
              </a:ext>
            </a:extLst>
          </p:cNvPr>
          <p:cNvSpPr>
            <a:spLocks noGrp="1"/>
          </p:cNvSpPr>
          <p:nvPr>
            <p:ph type="body" sz="quarter" idx="10"/>
          </p:nvPr>
        </p:nvSpPr>
        <p:spPr>
          <a:xfrm>
            <a:off x="204452" y="640409"/>
            <a:ext cx="8746594" cy="828000"/>
          </a:xfrm>
          <a:solidFill>
            <a:schemeClr val="bg2">
              <a:lumMod val="40000"/>
              <a:lumOff val="60000"/>
            </a:schemeClr>
          </a:solidFill>
        </p:spPr>
        <p:txBody>
          <a:bodyPr/>
          <a:lstStyle/>
          <a:p>
            <a:pPr>
              <a:lnSpc>
                <a:spcPct val="100000"/>
              </a:lnSpc>
              <a:spcBef>
                <a:spcPts val="0"/>
              </a:spcBef>
            </a:pPr>
            <a:r>
              <a:rPr lang="ja-JP" altLang="en-US" sz="1650" b="1">
                <a:solidFill>
                  <a:srgbClr val="000000"/>
                </a:solidFill>
                <a:latin typeface="Meiryo UI"/>
                <a:ea typeface="Meiryo UI"/>
              </a:rPr>
              <a:t>直近タスク：</a:t>
            </a:r>
            <a:r>
              <a:rPr kumimoji="0" lang="ja-JP" altLang="en-US" sz="1650" b="1" kern="0">
                <a:solidFill>
                  <a:srgbClr val="000000"/>
                </a:solidFill>
                <a:latin typeface="メイリオ" panose="020B0604030504040204" pitchFamily="50" charset="-128"/>
                <a:ea typeface="メイリオ" panose="020B0604030504040204" pitchFamily="50" charset="-128"/>
              </a:rPr>
              <a:t>ターゲット顧客行動分析の流れ</a:t>
            </a:r>
            <a:r>
              <a:rPr lang="ja-JP" altLang="en-US" sz="1650" b="1">
                <a:solidFill>
                  <a:srgbClr val="000000"/>
                </a:solidFill>
                <a:latin typeface="Meiryo UI"/>
                <a:ea typeface="Meiryo UI"/>
              </a:rPr>
              <a:t>（イメージ）</a:t>
            </a:r>
            <a:endParaRPr lang="en-US" altLang="ja-JP" sz="1650" b="1">
              <a:solidFill>
                <a:srgbClr val="000000"/>
              </a:solidFill>
              <a:latin typeface="Meiryo UI"/>
              <a:ea typeface="Meiryo UI"/>
            </a:endParaRPr>
          </a:p>
          <a:p>
            <a:pPr marL="285750" indent="-285750">
              <a:lnSpc>
                <a:spcPct val="100000"/>
              </a:lnSpc>
              <a:spcBef>
                <a:spcPts val="0"/>
              </a:spcBef>
              <a:buFont typeface="Wingdings" panose="05000000000000000000" pitchFamily="2" charset="2"/>
              <a:buChar char="n"/>
            </a:pPr>
            <a:r>
              <a:rPr lang="ja-JP" altLang="en-US" sz="1400"/>
              <a:t>特定したターゲット顧客のニーズが顧客業務上のどこで発生しているか整理し、顧客側での業務対応</a:t>
            </a:r>
            <a:br>
              <a:rPr lang="en-US" altLang="ja-JP" sz="1400"/>
            </a:br>
            <a:r>
              <a:rPr lang="ja-JP" altLang="en-US" sz="1400"/>
              <a:t>重要度を特定する。</a:t>
            </a:r>
            <a:endParaRPr lang="en-US" altLang="ja-JP" sz="1400"/>
          </a:p>
        </p:txBody>
      </p:sp>
      <p:grpSp>
        <p:nvGrpSpPr>
          <p:cNvPr id="301" name="グループ化 300">
            <a:extLst>
              <a:ext uri="{FF2B5EF4-FFF2-40B4-BE49-F238E27FC236}">
                <a16:creationId xmlns:a16="http://schemas.microsoft.com/office/drawing/2014/main" id="{83F8E95D-A70A-4BBF-9B25-C050E941030F}"/>
              </a:ext>
            </a:extLst>
          </p:cNvPr>
          <p:cNvGrpSpPr/>
          <p:nvPr/>
        </p:nvGrpSpPr>
        <p:grpSpPr>
          <a:xfrm>
            <a:off x="126439" y="1992626"/>
            <a:ext cx="8824608" cy="4382538"/>
            <a:chOff x="419401" y="2225239"/>
            <a:chExt cx="11366089" cy="4382538"/>
          </a:xfrm>
        </p:grpSpPr>
        <p:sp>
          <p:nvSpPr>
            <p:cNvPr id="233" name="ホームベース 18">
              <a:extLst>
                <a:ext uri="{FF2B5EF4-FFF2-40B4-BE49-F238E27FC236}">
                  <a16:creationId xmlns:a16="http://schemas.microsoft.com/office/drawing/2014/main" id="{7B51B33E-87C8-46E3-8A70-18BCDE8050E7}"/>
                </a:ext>
              </a:extLst>
            </p:cNvPr>
            <p:cNvSpPr/>
            <p:nvPr/>
          </p:nvSpPr>
          <p:spPr>
            <a:xfrm>
              <a:off x="9587529" y="2225239"/>
              <a:ext cx="2197961" cy="380553"/>
            </a:xfrm>
            <a:prstGeom prst="homePlate">
              <a:avLst>
                <a:gd name="adj" fmla="val 38636"/>
              </a:avLst>
            </a:prstGeom>
            <a:solidFill>
              <a:schemeClr val="bg2"/>
            </a:solidFill>
            <a:ln w="12700" cap="rnd" cmpd="sng" algn="ctr">
              <a:solidFill>
                <a:srgbClr val="FFFFFF"/>
              </a:solidFill>
              <a:prstDash val="solid"/>
            </a:ln>
            <a:effectLst>
              <a:outerShdw blurRad="25400" dist="12700" dir="5400000" algn="t" rotWithShape="0">
                <a:prstClr val="black">
                  <a:alpha val="7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1" i="0" u="none" strike="noStrike" kern="0" cap="none" spc="0" normalizeH="0" baseline="0" noProof="0">
                  <a:ln>
                    <a:noFill/>
                  </a:ln>
                  <a:solidFill>
                    <a:srgbClr val="FFFFFF"/>
                  </a:solidFill>
                  <a:effectLst/>
                  <a:uLnTx/>
                  <a:uFillTx/>
                  <a:latin typeface="Arial"/>
                  <a:ea typeface="Meiryo UI"/>
                  <a:cs typeface="+mn-cs"/>
                </a:rPr>
                <a:t>設備更新</a:t>
              </a:r>
            </a:p>
          </p:txBody>
        </p:sp>
        <p:sp>
          <p:nvSpPr>
            <p:cNvPr id="234" name="ホームベース 52">
              <a:extLst>
                <a:ext uri="{FF2B5EF4-FFF2-40B4-BE49-F238E27FC236}">
                  <a16:creationId xmlns:a16="http://schemas.microsoft.com/office/drawing/2014/main" id="{ECADF022-B1F2-44CC-916B-9D6EBAC215BA}"/>
                </a:ext>
              </a:extLst>
            </p:cNvPr>
            <p:cNvSpPr/>
            <p:nvPr/>
          </p:nvSpPr>
          <p:spPr>
            <a:xfrm>
              <a:off x="8555912" y="2225239"/>
              <a:ext cx="1275315" cy="380553"/>
            </a:xfrm>
            <a:prstGeom prst="homePlate">
              <a:avLst>
                <a:gd name="adj" fmla="val 38636"/>
              </a:avLst>
            </a:prstGeom>
            <a:solidFill>
              <a:schemeClr val="bg2"/>
            </a:solidFill>
            <a:ln w="12700" cap="rnd" cmpd="sng" algn="ctr">
              <a:solidFill>
                <a:srgbClr val="FFFFFF"/>
              </a:solidFill>
              <a:prstDash val="solid"/>
            </a:ln>
            <a:effectLst>
              <a:outerShdw blurRad="25400" dist="12700" dir="5400000" algn="t" rotWithShape="0">
                <a:prstClr val="black">
                  <a:alpha val="7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1" i="0" u="none" strike="noStrike" kern="0" cap="none" spc="0" normalizeH="0" baseline="0" noProof="0">
                  <a:ln>
                    <a:noFill/>
                  </a:ln>
                  <a:solidFill>
                    <a:srgbClr val="FFFFFF"/>
                  </a:solidFill>
                  <a:effectLst/>
                  <a:uLnTx/>
                  <a:uFillTx/>
                  <a:latin typeface="Arial"/>
                  <a:ea typeface="Meiryo UI"/>
                  <a:cs typeface="+mn-cs"/>
                </a:rPr>
                <a:t>作業履歴を</a:t>
              </a:r>
              <a:endParaRPr kumimoji="0" lang="en-US" altLang="ja-JP" sz="700" b="1" i="0" u="none" strike="noStrike" kern="0" cap="none" spc="0" normalizeH="0" baseline="0" noProof="0">
                <a:ln>
                  <a:noFill/>
                </a:ln>
                <a:solidFill>
                  <a:srgbClr val="FFFFFF"/>
                </a:solidFill>
                <a:effectLst/>
                <a:uLnTx/>
                <a:uFillTx/>
                <a:latin typeface="Arial"/>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1" i="0" u="none" strike="noStrike" kern="0" cap="none" spc="0" normalizeH="0" baseline="0" noProof="0">
                  <a:ln>
                    <a:noFill/>
                  </a:ln>
                  <a:solidFill>
                    <a:srgbClr val="FFFFFF"/>
                  </a:solidFill>
                  <a:effectLst/>
                  <a:uLnTx/>
                  <a:uFillTx/>
                  <a:latin typeface="Arial"/>
                  <a:ea typeface="Meiryo UI"/>
                  <a:cs typeface="+mn-cs"/>
                </a:rPr>
                <a:t>管理する</a:t>
              </a:r>
            </a:p>
          </p:txBody>
        </p:sp>
        <p:sp>
          <p:nvSpPr>
            <p:cNvPr id="235" name="ホームベース 53">
              <a:extLst>
                <a:ext uri="{FF2B5EF4-FFF2-40B4-BE49-F238E27FC236}">
                  <a16:creationId xmlns:a16="http://schemas.microsoft.com/office/drawing/2014/main" id="{003C04F7-CB20-4301-B1F4-016E4B6501D9}"/>
                </a:ext>
              </a:extLst>
            </p:cNvPr>
            <p:cNvSpPr/>
            <p:nvPr/>
          </p:nvSpPr>
          <p:spPr>
            <a:xfrm>
              <a:off x="7771237" y="2225239"/>
              <a:ext cx="1068676" cy="380553"/>
            </a:xfrm>
            <a:prstGeom prst="homePlate">
              <a:avLst>
                <a:gd name="adj" fmla="val 24545"/>
              </a:avLst>
            </a:prstGeom>
            <a:solidFill>
              <a:schemeClr val="bg2"/>
            </a:solidFill>
            <a:ln w="12700" cap="rnd" cmpd="sng" algn="ctr">
              <a:solidFill>
                <a:srgbClr val="FFFFFF"/>
              </a:solidFill>
              <a:prstDash val="solid"/>
            </a:ln>
            <a:effectLst>
              <a:outerShdw blurRad="25400" dist="12700" dir="5400000" algn="t" rotWithShape="0">
                <a:prstClr val="black">
                  <a:alpha val="7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1" i="0" u="none" strike="noStrike" kern="0" cap="none" spc="0" normalizeH="0" baseline="0" noProof="0">
                  <a:ln>
                    <a:noFill/>
                  </a:ln>
                  <a:solidFill>
                    <a:srgbClr val="FFFFFF"/>
                  </a:solidFill>
                  <a:effectLst/>
                  <a:uLnTx/>
                  <a:uFillTx/>
                  <a:latin typeface="Arial"/>
                  <a:ea typeface="Meiryo UI"/>
                  <a:cs typeface="+mn-cs"/>
                </a:rPr>
                <a:t>故障・不具合に</a:t>
              </a:r>
              <a:endParaRPr kumimoji="0" lang="en-US" altLang="ja-JP" sz="700" b="1" i="0" u="none" strike="noStrike" kern="0" cap="none" spc="0" normalizeH="0" baseline="0" noProof="0">
                <a:ln>
                  <a:noFill/>
                </a:ln>
                <a:solidFill>
                  <a:srgbClr val="FFFFFF"/>
                </a:solidFill>
                <a:effectLst/>
                <a:uLnTx/>
                <a:uFillTx/>
                <a:latin typeface="Arial"/>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1" i="0" u="none" strike="noStrike" kern="0" cap="none" spc="0" normalizeH="0" baseline="0" noProof="0">
                  <a:ln>
                    <a:noFill/>
                  </a:ln>
                  <a:solidFill>
                    <a:srgbClr val="FFFFFF"/>
                  </a:solidFill>
                  <a:effectLst/>
                  <a:uLnTx/>
                  <a:uFillTx/>
                  <a:latin typeface="Arial"/>
                  <a:ea typeface="Meiryo UI"/>
                  <a:cs typeface="+mn-cs"/>
                </a:rPr>
                <a:t>対応する</a:t>
              </a:r>
            </a:p>
          </p:txBody>
        </p:sp>
        <p:sp>
          <p:nvSpPr>
            <p:cNvPr id="236" name="正方形/長方形 235">
              <a:extLst>
                <a:ext uri="{FF2B5EF4-FFF2-40B4-BE49-F238E27FC236}">
                  <a16:creationId xmlns:a16="http://schemas.microsoft.com/office/drawing/2014/main" id="{2860AE50-7F2D-47E7-A715-A5379D236231}"/>
                </a:ext>
              </a:extLst>
            </p:cNvPr>
            <p:cNvSpPr/>
            <p:nvPr/>
          </p:nvSpPr>
          <p:spPr>
            <a:xfrm>
              <a:off x="4683942" y="3282991"/>
              <a:ext cx="4980033" cy="172972"/>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保守部品在庫管理</a:t>
              </a:r>
            </a:p>
          </p:txBody>
        </p:sp>
        <p:sp>
          <p:nvSpPr>
            <p:cNvPr id="237" name="正方形/長方形 236">
              <a:extLst>
                <a:ext uri="{FF2B5EF4-FFF2-40B4-BE49-F238E27FC236}">
                  <a16:creationId xmlns:a16="http://schemas.microsoft.com/office/drawing/2014/main" id="{EC959B7F-4489-4CE4-8B71-E85013F011E2}"/>
                </a:ext>
              </a:extLst>
            </p:cNvPr>
            <p:cNvSpPr/>
            <p:nvPr/>
          </p:nvSpPr>
          <p:spPr>
            <a:xfrm>
              <a:off x="1743382" y="2661315"/>
              <a:ext cx="2875352" cy="224728"/>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保全計画策定</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p:txBody>
        </p:sp>
        <p:sp>
          <p:nvSpPr>
            <p:cNvPr id="238" name="正方形/長方形 237">
              <a:extLst>
                <a:ext uri="{FF2B5EF4-FFF2-40B4-BE49-F238E27FC236}">
                  <a16:creationId xmlns:a16="http://schemas.microsoft.com/office/drawing/2014/main" id="{CE65D73F-C5DD-46AA-A79D-6EFEE302442A}"/>
                </a:ext>
              </a:extLst>
            </p:cNvPr>
            <p:cNvSpPr/>
            <p:nvPr/>
          </p:nvSpPr>
          <p:spPr>
            <a:xfrm>
              <a:off x="6729338" y="2668903"/>
              <a:ext cx="1012639" cy="566308"/>
            </a:xfrm>
            <a:prstGeom prst="rect">
              <a:avLst/>
            </a:prstGeom>
            <a:solidFill>
              <a:schemeClr val="accent3">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0" lang="ja-JP" altLang="en-US" sz="700" kern="0">
                  <a:solidFill>
                    <a:srgbClr val="000000"/>
                  </a:solidFill>
                  <a:latin typeface="Arial"/>
                  <a:ea typeface="Meiryo UI"/>
                </a:rPr>
                <a:t>保全作業</a:t>
              </a:r>
              <a:endParaRPr kumimoji="0" lang="en-US" altLang="ja-JP" sz="700" kern="0">
                <a:solidFill>
                  <a:srgbClr val="000000"/>
                </a:solidFill>
                <a:latin typeface="Arial"/>
                <a:ea typeface="Meiryo UI"/>
              </a:endParaRPr>
            </a:p>
            <a:p>
              <a:pPr algn="ctr"/>
              <a:r>
                <a:rPr kumimoji="0" lang="ja-JP" altLang="en-US" sz="700" kern="0">
                  <a:solidFill>
                    <a:srgbClr val="000000"/>
                  </a:solidFill>
                  <a:latin typeface="Arial"/>
                  <a:ea typeface="Meiryo UI"/>
                </a:rPr>
                <a:t>実施</a:t>
              </a:r>
            </a:p>
          </p:txBody>
        </p:sp>
        <p:sp>
          <p:nvSpPr>
            <p:cNvPr id="239" name="正方形/長方形 238">
              <a:extLst>
                <a:ext uri="{FF2B5EF4-FFF2-40B4-BE49-F238E27FC236}">
                  <a16:creationId xmlns:a16="http://schemas.microsoft.com/office/drawing/2014/main" id="{24244D5A-2DB8-4195-8CB9-2F430E26A568}"/>
                </a:ext>
              </a:extLst>
            </p:cNvPr>
            <p:cNvSpPr/>
            <p:nvPr/>
          </p:nvSpPr>
          <p:spPr>
            <a:xfrm>
              <a:off x="7802245" y="2661775"/>
              <a:ext cx="915361" cy="582657"/>
            </a:xfrm>
            <a:prstGeom prst="rect">
              <a:avLst/>
            </a:prstGeom>
            <a:solidFill>
              <a:schemeClr val="accent3">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0" lang="ja-JP" altLang="en-US" sz="700" kern="0">
                  <a:solidFill>
                    <a:srgbClr val="000000"/>
                  </a:solidFill>
                  <a:latin typeface="Arial"/>
                  <a:ea typeface="Meiryo UI"/>
                </a:rPr>
                <a:t>故障・不具合対応</a:t>
              </a:r>
            </a:p>
          </p:txBody>
        </p:sp>
        <p:sp>
          <p:nvSpPr>
            <p:cNvPr id="240" name="正方形/長方形 239">
              <a:extLst>
                <a:ext uri="{FF2B5EF4-FFF2-40B4-BE49-F238E27FC236}">
                  <a16:creationId xmlns:a16="http://schemas.microsoft.com/office/drawing/2014/main" id="{22FCC1F5-276F-495C-B4A6-23DF84BFC986}"/>
                </a:ext>
              </a:extLst>
            </p:cNvPr>
            <p:cNvSpPr/>
            <p:nvPr/>
          </p:nvSpPr>
          <p:spPr>
            <a:xfrm>
              <a:off x="8766285" y="2668904"/>
              <a:ext cx="891877" cy="566308"/>
            </a:xfrm>
            <a:prstGeom prst="rect">
              <a:avLst/>
            </a:prstGeom>
            <a:solidFill>
              <a:schemeClr val="accent3">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0" lang="ja-JP" altLang="en-US" sz="700" kern="0">
                  <a:solidFill>
                    <a:srgbClr val="000000"/>
                  </a:solidFill>
                  <a:latin typeface="Arial"/>
                  <a:ea typeface="Meiryo UI"/>
                </a:rPr>
                <a:t>作業履歴</a:t>
              </a:r>
              <a:endParaRPr kumimoji="0" lang="en-US" altLang="ja-JP" sz="700" kern="0">
                <a:solidFill>
                  <a:srgbClr val="000000"/>
                </a:solidFill>
                <a:latin typeface="Arial"/>
                <a:ea typeface="Meiryo UI"/>
              </a:endParaRPr>
            </a:p>
            <a:p>
              <a:pPr algn="ctr"/>
              <a:r>
                <a:rPr kumimoji="0" lang="ja-JP" altLang="en-US" sz="700" kern="0">
                  <a:solidFill>
                    <a:srgbClr val="000000"/>
                  </a:solidFill>
                  <a:latin typeface="Arial"/>
                  <a:ea typeface="Meiryo UI"/>
                </a:rPr>
                <a:t>管理・</a:t>
              </a:r>
              <a:endParaRPr kumimoji="0" lang="en-US" altLang="ja-JP" sz="700" kern="0">
                <a:solidFill>
                  <a:srgbClr val="000000"/>
                </a:solidFill>
                <a:latin typeface="Arial"/>
                <a:ea typeface="Meiryo UI"/>
              </a:endParaRPr>
            </a:p>
            <a:p>
              <a:pPr algn="ctr"/>
              <a:r>
                <a:rPr kumimoji="0" lang="ja-JP" altLang="en-US" sz="700" kern="0">
                  <a:solidFill>
                    <a:srgbClr val="000000"/>
                  </a:solidFill>
                  <a:latin typeface="Arial"/>
                  <a:ea typeface="Meiryo UI"/>
                </a:rPr>
                <a:t>運用評価</a:t>
              </a:r>
            </a:p>
          </p:txBody>
        </p:sp>
        <p:sp>
          <p:nvSpPr>
            <p:cNvPr id="241" name="正方形/長方形 240">
              <a:extLst>
                <a:ext uri="{FF2B5EF4-FFF2-40B4-BE49-F238E27FC236}">
                  <a16:creationId xmlns:a16="http://schemas.microsoft.com/office/drawing/2014/main" id="{D5331158-DFC8-4D1B-B753-079FBB83BC3E}"/>
                </a:ext>
              </a:extLst>
            </p:cNvPr>
            <p:cNvSpPr/>
            <p:nvPr/>
          </p:nvSpPr>
          <p:spPr>
            <a:xfrm>
              <a:off x="4675318" y="2661316"/>
              <a:ext cx="1990863" cy="224728"/>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設備維持・運営</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（製造活動との調整や収支管理）</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p:txBody>
        </p:sp>
        <p:sp>
          <p:nvSpPr>
            <p:cNvPr id="242" name="正方形/長方形 241">
              <a:extLst>
                <a:ext uri="{FF2B5EF4-FFF2-40B4-BE49-F238E27FC236}">
                  <a16:creationId xmlns:a16="http://schemas.microsoft.com/office/drawing/2014/main" id="{E388C96A-69DD-48C8-81AD-AEF7E0F7AD01}"/>
                </a:ext>
              </a:extLst>
            </p:cNvPr>
            <p:cNvSpPr/>
            <p:nvPr/>
          </p:nvSpPr>
          <p:spPr>
            <a:xfrm>
              <a:off x="4682689" y="2917866"/>
              <a:ext cx="1990863" cy="317346"/>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0" lang="ja-JP" altLang="en-US" sz="700" kern="0">
                  <a:solidFill>
                    <a:srgbClr val="000000"/>
                  </a:solidFill>
                  <a:latin typeface="Arial"/>
                  <a:ea typeface="Meiryo UI"/>
                </a:rPr>
                <a:t>監視</a:t>
              </a:r>
              <a:endParaRPr kumimoji="0" lang="en-US" altLang="ja-JP" sz="700" kern="0">
                <a:solidFill>
                  <a:srgbClr val="000000"/>
                </a:solidFill>
                <a:latin typeface="Arial"/>
                <a:ea typeface="Meiryo UI"/>
              </a:endParaRPr>
            </a:p>
          </p:txBody>
        </p:sp>
        <p:sp>
          <p:nvSpPr>
            <p:cNvPr id="243" name="正方形/長方形 242">
              <a:extLst>
                <a:ext uri="{FF2B5EF4-FFF2-40B4-BE49-F238E27FC236}">
                  <a16:creationId xmlns:a16="http://schemas.microsoft.com/office/drawing/2014/main" id="{7A9B691D-87FF-4315-92BA-10204F84F98D}"/>
                </a:ext>
              </a:extLst>
            </p:cNvPr>
            <p:cNvSpPr/>
            <p:nvPr/>
          </p:nvSpPr>
          <p:spPr>
            <a:xfrm>
              <a:off x="1743381" y="3289921"/>
              <a:ext cx="2868779" cy="174519"/>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発電計画策定</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p:txBody>
        </p:sp>
        <p:grpSp>
          <p:nvGrpSpPr>
            <p:cNvPr id="244" name="グループ化 243">
              <a:extLst>
                <a:ext uri="{FF2B5EF4-FFF2-40B4-BE49-F238E27FC236}">
                  <a16:creationId xmlns:a16="http://schemas.microsoft.com/office/drawing/2014/main" id="{178A5B1E-813F-4DA5-A6EB-39DD98DCECB2}"/>
                </a:ext>
              </a:extLst>
            </p:cNvPr>
            <p:cNvGrpSpPr/>
            <p:nvPr/>
          </p:nvGrpSpPr>
          <p:grpSpPr>
            <a:xfrm>
              <a:off x="9714742" y="2661776"/>
              <a:ext cx="2059837" cy="802665"/>
              <a:chOff x="9455104" y="1689484"/>
              <a:chExt cx="1907635" cy="912487"/>
            </a:xfrm>
          </p:grpSpPr>
          <p:sp>
            <p:nvSpPr>
              <p:cNvPr id="245" name="正方形/長方形 244">
                <a:extLst>
                  <a:ext uri="{FF2B5EF4-FFF2-40B4-BE49-F238E27FC236}">
                    <a16:creationId xmlns:a16="http://schemas.microsoft.com/office/drawing/2014/main" id="{482F870C-8BB0-4F90-9646-11197E24C0C4}"/>
                  </a:ext>
                </a:extLst>
              </p:cNvPr>
              <p:cNvSpPr/>
              <p:nvPr/>
            </p:nvSpPr>
            <p:spPr>
              <a:xfrm>
                <a:off x="9455104" y="1697921"/>
                <a:ext cx="592344" cy="894412"/>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社会情勢・</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トレンド調査</a:t>
                </a:r>
              </a:p>
            </p:txBody>
          </p:sp>
          <p:sp>
            <p:nvSpPr>
              <p:cNvPr id="246" name="正方形/長方形 245">
                <a:extLst>
                  <a:ext uri="{FF2B5EF4-FFF2-40B4-BE49-F238E27FC236}">
                    <a16:creationId xmlns:a16="http://schemas.microsoft.com/office/drawing/2014/main" id="{0585279A-79E5-4A2E-A385-7C06D7D08EEF}"/>
                  </a:ext>
                </a:extLst>
              </p:cNvPr>
              <p:cNvSpPr/>
              <p:nvPr/>
            </p:nvSpPr>
            <p:spPr>
              <a:xfrm>
                <a:off x="10116116" y="1689484"/>
                <a:ext cx="592344" cy="902850"/>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更改要件</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検討</a:t>
                </a:r>
              </a:p>
            </p:txBody>
          </p:sp>
          <p:sp>
            <p:nvSpPr>
              <p:cNvPr id="247" name="正方形/長方形 246">
                <a:extLst>
                  <a:ext uri="{FF2B5EF4-FFF2-40B4-BE49-F238E27FC236}">
                    <a16:creationId xmlns:a16="http://schemas.microsoft.com/office/drawing/2014/main" id="{15125C89-DACB-422E-8564-02B79212F3F8}"/>
                  </a:ext>
                </a:extLst>
              </p:cNvPr>
              <p:cNvSpPr/>
              <p:nvPr/>
            </p:nvSpPr>
            <p:spPr>
              <a:xfrm>
                <a:off x="10770395" y="1689484"/>
                <a:ext cx="592344" cy="912487"/>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更改計画</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策定</a:t>
                </a:r>
              </a:p>
            </p:txBody>
          </p:sp>
        </p:grpSp>
        <p:grpSp>
          <p:nvGrpSpPr>
            <p:cNvPr id="248" name="グループ化 247">
              <a:extLst>
                <a:ext uri="{FF2B5EF4-FFF2-40B4-BE49-F238E27FC236}">
                  <a16:creationId xmlns:a16="http://schemas.microsoft.com/office/drawing/2014/main" id="{F4CCC13F-2D2D-4A39-ACD8-A5A5E53867C6}"/>
                </a:ext>
              </a:extLst>
            </p:cNvPr>
            <p:cNvGrpSpPr/>
            <p:nvPr/>
          </p:nvGrpSpPr>
          <p:grpSpPr>
            <a:xfrm>
              <a:off x="1743382" y="2917865"/>
              <a:ext cx="2868779" cy="326566"/>
              <a:chOff x="1483744" y="1980612"/>
              <a:chExt cx="2868779" cy="371248"/>
            </a:xfrm>
          </p:grpSpPr>
          <p:sp>
            <p:nvSpPr>
              <p:cNvPr id="249" name="正方形/長方形 248">
                <a:extLst>
                  <a:ext uri="{FF2B5EF4-FFF2-40B4-BE49-F238E27FC236}">
                    <a16:creationId xmlns:a16="http://schemas.microsoft.com/office/drawing/2014/main" id="{3797B855-6955-4C9F-A158-7767F93321A1}"/>
                  </a:ext>
                </a:extLst>
              </p:cNvPr>
              <p:cNvSpPr/>
              <p:nvPr/>
            </p:nvSpPr>
            <p:spPr>
              <a:xfrm>
                <a:off x="1483744" y="1980612"/>
                <a:ext cx="936722" cy="371248"/>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大日程表</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p:txBody>
          </p:sp>
          <p:sp>
            <p:nvSpPr>
              <p:cNvPr id="250" name="正方形/長方形 249">
                <a:extLst>
                  <a:ext uri="{FF2B5EF4-FFF2-40B4-BE49-F238E27FC236}">
                    <a16:creationId xmlns:a16="http://schemas.microsoft.com/office/drawing/2014/main" id="{353BB2C3-FF5B-4603-A857-10B30A2D3590}"/>
                  </a:ext>
                </a:extLst>
              </p:cNvPr>
              <p:cNvSpPr/>
              <p:nvPr/>
            </p:nvSpPr>
            <p:spPr>
              <a:xfrm>
                <a:off x="2487922" y="1980612"/>
                <a:ext cx="930045" cy="371248"/>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中日程表</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p:txBody>
          </p:sp>
          <p:sp>
            <p:nvSpPr>
              <p:cNvPr id="251" name="正方形/長方形 250">
                <a:extLst>
                  <a:ext uri="{FF2B5EF4-FFF2-40B4-BE49-F238E27FC236}">
                    <a16:creationId xmlns:a16="http://schemas.microsoft.com/office/drawing/2014/main" id="{D1FEF0EC-AD08-440D-96A7-D55E55741133}"/>
                  </a:ext>
                </a:extLst>
              </p:cNvPr>
              <p:cNvSpPr/>
              <p:nvPr/>
            </p:nvSpPr>
            <p:spPr>
              <a:xfrm>
                <a:off x="3478287" y="1980612"/>
                <a:ext cx="874236" cy="371248"/>
              </a:xfrm>
              <a:prstGeom prst="rect">
                <a:avLst/>
              </a:prstGeom>
              <a:solidFill>
                <a:schemeClr val="bg2">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小日程表</a:t>
                </a:r>
                <a:endParaRPr kumimoji="0" lang="en-US" altLang="ja-JP" sz="700" b="0" i="0" u="none" strike="noStrike" kern="0" cap="none" spc="0" normalizeH="0" baseline="0" noProof="0">
                  <a:ln>
                    <a:noFill/>
                  </a:ln>
                  <a:solidFill>
                    <a:srgbClr val="000000"/>
                  </a:solidFill>
                  <a:effectLst/>
                  <a:uLnTx/>
                  <a:uFillTx/>
                  <a:latin typeface="Arial"/>
                  <a:ea typeface="Meiryo UI"/>
                  <a:cs typeface="+mn-cs"/>
                </a:endParaRPr>
              </a:p>
            </p:txBody>
          </p:sp>
        </p:grpSp>
        <p:sp>
          <p:nvSpPr>
            <p:cNvPr id="252" name="正方形/長方形 251">
              <a:extLst>
                <a:ext uri="{FF2B5EF4-FFF2-40B4-BE49-F238E27FC236}">
                  <a16:creationId xmlns:a16="http://schemas.microsoft.com/office/drawing/2014/main" id="{E930DB2C-5150-4A68-9F39-7F4D07D0043D}"/>
                </a:ext>
              </a:extLst>
            </p:cNvPr>
            <p:cNvSpPr/>
            <p:nvPr/>
          </p:nvSpPr>
          <p:spPr>
            <a:xfrm>
              <a:off x="419402" y="2227165"/>
              <a:ext cx="1279146" cy="380553"/>
            </a:xfrm>
            <a:prstGeom prst="rect">
              <a:avLst/>
            </a:prstGeom>
            <a:solidFill>
              <a:srgbClr val="FFFFFF">
                <a:lumMod val="50000"/>
              </a:srgbClr>
            </a:solidFill>
            <a:ln w="3175" cap="flat" cmpd="sng" algn="ctr">
              <a:solidFill>
                <a:srgbClr val="FFFFFF">
                  <a:lumMod val="50000"/>
                </a:srgbClr>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FFFFFF"/>
                  </a:solidFill>
                  <a:effectLst/>
                  <a:uLnTx/>
                  <a:uFillTx/>
                  <a:latin typeface="Arial"/>
                  <a:ea typeface="Meiryo UI"/>
                  <a:cs typeface="+mn-cs"/>
                </a:rPr>
                <a:t>シーン</a:t>
              </a:r>
            </a:p>
          </p:txBody>
        </p:sp>
        <p:sp>
          <p:nvSpPr>
            <p:cNvPr id="253" name="正方形/長方形 252">
              <a:extLst>
                <a:ext uri="{FF2B5EF4-FFF2-40B4-BE49-F238E27FC236}">
                  <a16:creationId xmlns:a16="http://schemas.microsoft.com/office/drawing/2014/main" id="{950ABD80-7DF7-4E00-812D-9EAC936CF5F9}"/>
                </a:ext>
              </a:extLst>
            </p:cNvPr>
            <p:cNvSpPr/>
            <p:nvPr/>
          </p:nvSpPr>
          <p:spPr>
            <a:xfrm>
              <a:off x="419402" y="2655285"/>
              <a:ext cx="1282079" cy="809156"/>
            </a:xfrm>
            <a:prstGeom prst="rect">
              <a:avLst/>
            </a:prstGeom>
            <a:solidFill>
              <a:srgbClr val="000000">
                <a:lumMod val="50000"/>
                <a:lumOff val="50000"/>
              </a:srgbClr>
            </a:solidFill>
            <a:ln w="3175" cap="flat" cmpd="sng" algn="ctr">
              <a:solidFill>
                <a:srgbClr val="FFFFFF">
                  <a:lumMod val="85000"/>
                </a:srgb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FFFFFF"/>
                  </a:solidFill>
                  <a:effectLst/>
                  <a:uLnTx/>
                  <a:uFillTx/>
                  <a:latin typeface="Meiryo UI"/>
                  <a:ea typeface="Meiryo UI"/>
                  <a:cs typeface="+mn-cs"/>
                </a:rPr>
                <a:t>業務の流れ</a:t>
              </a:r>
            </a:p>
          </p:txBody>
        </p:sp>
        <p:sp>
          <p:nvSpPr>
            <p:cNvPr id="254" name="正方形/長方形 253">
              <a:extLst>
                <a:ext uri="{FF2B5EF4-FFF2-40B4-BE49-F238E27FC236}">
                  <a16:creationId xmlns:a16="http://schemas.microsoft.com/office/drawing/2014/main" id="{91652F51-CF93-4256-9466-33A34B477FC2}"/>
                </a:ext>
              </a:extLst>
            </p:cNvPr>
            <p:cNvSpPr/>
            <p:nvPr/>
          </p:nvSpPr>
          <p:spPr>
            <a:xfrm>
              <a:off x="419401" y="3498279"/>
              <a:ext cx="1282079" cy="1390134"/>
            </a:xfrm>
            <a:prstGeom prst="rect">
              <a:avLst/>
            </a:prstGeom>
            <a:solidFill>
              <a:srgbClr val="000000">
                <a:lumMod val="50000"/>
                <a:lumOff val="50000"/>
              </a:srgbClr>
            </a:solidFill>
            <a:ln w="3175" cap="flat" cmpd="sng" algn="ctr">
              <a:solidFill>
                <a:srgbClr val="FFFFFF">
                  <a:lumMod val="85000"/>
                </a:srgbClr>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FFFFFF"/>
                  </a:solidFill>
                  <a:effectLst/>
                  <a:uLnTx/>
                  <a:uFillTx/>
                  <a:latin typeface="Meiryo UI"/>
                  <a:ea typeface="Meiryo UI"/>
                  <a:cs typeface="+mn-cs"/>
                </a:rPr>
                <a:t>お客様の経済的側面（機能不足、時間かかるなど）、社会的側面（環境意識など）、感情的側面（安心感、満足感）から見た問題・課題</a:t>
              </a:r>
              <a:endParaRPr kumimoji="0" lang="en-US" altLang="ja-JP" sz="900" b="0" i="0" u="none" strike="noStrike" kern="0" cap="none" spc="0" normalizeH="0" baseline="0" noProof="0">
                <a:ln>
                  <a:noFill/>
                </a:ln>
                <a:solidFill>
                  <a:srgbClr val="FFFFFF"/>
                </a:solidFill>
                <a:effectLst/>
                <a:uLnTx/>
                <a:uFillTx/>
                <a:latin typeface="Meiryo UI"/>
                <a:ea typeface="Meiryo UI"/>
                <a:cs typeface="+mn-cs"/>
              </a:endParaRPr>
            </a:p>
          </p:txBody>
        </p:sp>
        <p:sp>
          <p:nvSpPr>
            <p:cNvPr id="255" name="ホームベース 51">
              <a:extLst>
                <a:ext uri="{FF2B5EF4-FFF2-40B4-BE49-F238E27FC236}">
                  <a16:creationId xmlns:a16="http://schemas.microsoft.com/office/drawing/2014/main" id="{9B054F31-1C9B-4E85-9778-CA337A4CD61F}"/>
                </a:ext>
              </a:extLst>
            </p:cNvPr>
            <p:cNvSpPr/>
            <p:nvPr/>
          </p:nvSpPr>
          <p:spPr>
            <a:xfrm>
              <a:off x="4546966" y="2225239"/>
              <a:ext cx="3333812" cy="380553"/>
            </a:xfrm>
            <a:prstGeom prst="homePlate">
              <a:avLst>
                <a:gd name="adj" fmla="val 24545"/>
              </a:avLst>
            </a:prstGeom>
            <a:solidFill>
              <a:schemeClr val="bg2"/>
            </a:solidFill>
            <a:ln w="12700" cap="rnd" cmpd="sng" algn="ctr">
              <a:solidFill>
                <a:srgbClr val="FFFFFF"/>
              </a:solidFill>
              <a:prstDash val="solid"/>
            </a:ln>
            <a:effectLst>
              <a:outerShdw blurRad="25400" dist="12700" dir="5400000" algn="t" rotWithShape="0">
                <a:prstClr val="black">
                  <a:alpha val="7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700" b="1" i="0" u="none" strike="noStrike" kern="0" cap="none" spc="0" normalizeH="0" baseline="0" noProof="0">
                  <a:ln>
                    <a:noFill/>
                  </a:ln>
                  <a:solidFill>
                    <a:srgbClr val="FFFFFF"/>
                  </a:solidFill>
                  <a:effectLst/>
                  <a:uLnTx/>
                  <a:uFillTx/>
                  <a:latin typeface="Arial"/>
                  <a:ea typeface="Meiryo UI"/>
                  <a:cs typeface="+mn-cs"/>
                </a:rPr>
                <a:t>保全</a:t>
              </a:r>
              <a:r>
                <a:rPr kumimoji="0" lang="ja-JP" altLang="en-US" sz="700" b="1" i="0" u="none" strike="noStrike" kern="0" cap="none" spc="0" normalizeH="0" baseline="0" noProof="0">
                  <a:ln>
                    <a:noFill/>
                  </a:ln>
                  <a:solidFill>
                    <a:srgbClr val="FFFFFF"/>
                  </a:solidFill>
                  <a:effectLst/>
                  <a:uLnTx/>
                  <a:uFillTx/>
                  <a:latin typeface="Arial"/>
                  <a:ea typeface="Meiryo UI"/>
                  <a:cs typeface="+mn-cs"/>
                </a:rPr>
                <a:t>作業を実施する</a:t>
              </a:r>
            </a:p>
          </p:txBody>
        </p:sp>
        <p:sp>
          <p:nvSpPr>
            <p:cNvPr id="256" name="ホームベース 50">
              <a:extLst>
                <a:ext uri="{FF2B5EF4-FFF2-40B4-BE49-F238E27FC236}">
                  <a16:creationId xmlns:a16="http://schemas.microsoft.com/office/drawing/2014/main" id="{AF6FB40B-04BB-4950-A830-C193C129025C}"/>
                </a:ext>
              </a:extLst>
            </p:cNvPr>
            <p:cNvSpPr/>
            <p:nvPr/>
          </p:nvSpPr>
          <p:spPr>
            <a:xfrm>
              <a:off x="1743381" y="2225239"/>
              <a:ext cx="2952119" cy="390586"/>
            </a:xfrm>
            <a:prstGeom prst="homePlate">
              <a:avLst>
                <a:gd name="adj" fmla="val 17500"/>
              </a:avLst>
            </a:prstGeom>
            <a:solidFill>
              <a:schemeClr val="bg2"/>
            </a:solidFill>
            <a:ln w="12700" cap="rnd" cmpd="sng" algn="ctr">
              <a:solidFill>
                <a:srgbClr val="FFFFFF"/>
              </a:solidFill>
              <a:prstDash val="solid"/>
            </a:ln>
            <a:effectLst>
              <a:outerShdw blurRad="25400" dist="12700" dir="5400000" algn="t" rotWithShape="0">
                <a:prstClr val="black">
                  <a:alpha val="70000"/>
                </a:prstClr>
              </a:outerShdw>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1" i="0" u="none" strike="noStrike" kern="0" cap="none" spc="0" normalizeH="0" baseline="0" noProof="0">
                  <a:ln>
                    <a:noFill/>
                  </a:ln>
                  <a:solidFill>
                    <a:srgbClr val="FFFFFF"/>
                  </a:solidFill>
                  <a:effectLst/>
                  <a:uLnTx/>
                  <a:uFillTx/>
                  <a:latin typeface="Arial"/>
                  <a:ea typeface="Meiryo UI"/>
                  <a:cs typeface="+mn-cs"/>
                </a:rPr>
                <a:t>保全計画を作成する</a:t>
              </a:r>
            </a:p>
          </p:txBody>
        </p:sp>
        <p:sp>
          <p:nvSpPr>
            <p:cNvPr id="257" name="四角形: 角を丸くする 154">
              <a:extLst>
                <a:ext uri="{FF2B5EF4-FFF2-40B4-BE49-F238E27FC236}">
                  <a16:creationId xmlns:a16="http://schemas.microsoft.com/office/drawing/2014/main" id="{5A9AE70F-B87B-4862-9D39-7F1D055ABA54}"/>
                </a:ext>
              </a:extLst>
            </p:cNvPr>
            <p:cNvSpPr/>
            <p:nvPr/>
          </p:nvSpPr>
          <p:spPr>
            <a:xfrm>
              <a:off x="1811953" y="3847279"/>
              <a:ext cx="823446" cy="390742"/>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少人数で対応する工夫が必要</a:t>
              </a:r>
            </a:p>
          </p:txBody>
        </p:sp>
        <p:cxnSp>
          <p:nvCxnSpPr>
            <p:cNvPr id="258" name="直線コネクタ 257">
              <a:extLst>
                <a:ext uri="{FF2B5EF4-FFF2-40B4-BE49-F238E27FC236}">
                  <a16:creationId xmlns:a16="http://schemas.microsoft.com/office/drawing/2014/main" id="{E0A51B25-0220-4104-A817-BF8FA721C108}"/>
                </a:ext>
              </a:extLst>
            </p:cNvPr>
            <p:cNvCxnSpPr>
              <a:cxnSpLocks/>
              <a:stCxn id="257" idx="0"/>
              <a:endCxn id="237" idx="2"/>
            </p:cNvCxnSpPr>
            <p:nvPr/>
          </p:nvCxnSpPr>
          <p:spPr>
            <a:xfrm flipV="1">
              <a:off x="2223676" y="2886043"/>
              <a:ext cx="957382" cy="961236"/>
            </a:xfrm>
            <a:prstGeom prst="line">
              <a:avLst/>
            </a:prstGeom>
            <a:noFill/>
            <a:ln w="3175" cap="flat" cmpd="sng" algn="ctr">
              <a:solidFill>
                <a:srgbClr val="000000"/>
              </a:solidFill>
              <a:prstDash val="solid"/>
              <a:tailEnd type="oval"/>
            </a:ln>
            <a:effectLst/>
          </p:spPr>
        </p:cxnSp>
        <p:sp>
          <p:nvSpPr>
            <p:cNvPr id="259" name="四角形: 角を丸くする 154">
              <a:extLst>
                <a:ext uri="{FF2B5EF4-FFF2-40B4-BE49-F238E27FC236}">
                  <a16:creationId xmlns:a16="http://schemas.microsoft.com/office/drawing/2014/main" id="{B88E612F-F229-49FD-BE85-63F433BE8BE4}"/>
                </a:ext>
              </a:extLst>
            </p:cNvPr>
            <p:cNvSpPr/>
            <p:nvPr/>
          </p:nvSpPr>
          <p:spPr>
            <a:xfrm>
              <a:off x="3783535" y="3855659"/>
              <a:ext cx="823446" cy="37053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複数社との調整稼動が煩雑</a:t>
              </a:r>
            </a:p>
          </p:txBody>
        </p:sp>
        <p:cxnSp>
          <p:nvCxnSpPr>
            <p:cNvPr id="260" name="直線コネクタ 259">
              <a:extLst>
                <a:ext uri="{FF2B5EF4-FFF2-40B4-BE49-F238E27FC236}">
                  <a16:creationId xmlns:a16="http://schemas.microsoft.com/office/drawing/2014/main" id="{8DBAD5DA-CF5A-4EC2-B369-83FF3824FDDA}"/>
                </a:ext>
              </a:extLst>
            </p:cNvPr>
            <p:cNvCxnSpPr>
              <a:cxnSpLocks/>
              <a:stCxn id="259" idx="0"/>
              <a:endCxn id="237" idx="2"/>
            </p:cNvCxnSpPr>
            <p:nvPr/>
          </p:nvCxnSpPr>
          <p:spPr>
            <a:xfrm flipH="1" flipV="1">
              <a:off x="3181058" y="2886043"/>
              <a:ext cx="1014200" cy="969616"/>
            </a:xfrm>
            <a:prstGeom prst="line">
              <a:avLst/>
            </a:prstGeom>
            <a:noFill/>
            <a:ln w="3175" cap="flat" cmpd="sng" algn="ctr">
              <a:solidFill>
                <a:srgbClr val="000000"/>
              </a:solidFill>
              <a:prstDash val="solid"/>
              <a:tailEnd type="oval"/>
            </a:ln>
            <a:effectLst/>
          </p:spPr>
        </p:cxnSp>
        <p:sp>
          <p:nvSpPr>
            <p:cNvPr id="261" name="四角形: 角を丸くする 154">
              <a:extLst>
                <a:ext uri="{FF2B5EF4-FFF2-40B4-BE49-F238E27FC236}">
                  <a16:creationId xmlns:a16="http://schemas.microsoft.com/office/drawing/2014/main" id="{8F8EB0EB-4DA2-451A-8C38-BB25C63ABA34}"/>
                </a:ext>
              </a:extLst>
            </p:cNvPr>
            <p:cNvSpPr/>
            <p:nvPr/>
          </p:nvSpPr>
          <p:spPr>
            <a:xfrm>
              <a:off x="2801780" y="3835448"/>
              <a:ext cx="823446" cy="39074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工場毎に仕様が異なり、ノウハウが属人化</a:t>
              </a:r>
            </a:p>
          </p:txBody>
        </p:sp>
        <p:cxnSp>
          <p:nvCxnSpPr>
            <p:cNvPr id="262" name="直線コネクタ 261">
              <a:extLst>
                <a:ext uri="{FF2B5EF4-FFF2-40B4-BE49-F238E27FC236}">
                  <a16:creationId xmlns:a16="http://schemas.microsoft.com/office/drawing/2014/main" id="{F18630FD-C8D8-48EA-B177-B788143D9456}"/>
                </a:ext>
              </a:extLst>
            </p:cNvPr>
            <p:cNvCxnSpPr>
              <a:cxnSpLocks/>
              <a:stCxn id="261" idx="0"/>
              <a:endCxn id="237" idx="2"/>
            </p:cNvCxnSpPr>
            <p:nvPr/>
          </p:nvCxnSpPr>
          <p:spPr>
            <a:xfrm flipH="1" flipV="1">
              <a:off x="3181058" y="2886043"/>
              <a:ext cx="32445" cy="949405"/>
            </a:xfrm>
            <a:prstGeom prst="line">
              <a:avLst/>
            </a:prstGeom>
            <a:noFill/>
            <a:ln w="3175" cap="flat" cmpd="sng" algn="ctr">
              <a:solidFill>
                <a:srgbClr val="000000"/>
              </a:solidFill>
              <a:prstDash val="solid"/>
              <a:tailEnd type="oval"/>
            </a:ln>
            <a:effectLst/>
          </p:spPr>
        </p:cxnSp>
        <p:sp>
          <p:nvSpPr>
            <p:cNvPr id="263" name="四角形: 角を丸くする 154">
              <a:extLst>
                <a:ext uri="{FF2B5EF4-FFF2-40B4-BE49-F238E27FC236}">
                  <a16:creationId xmlns:a16="http://schemas.microsoft.com/office/drawing/2014/main" id="{A1C4B350-6F77-4B92-890F-FF48B05D84D0}"/>
                </a:ext>
              </a:extLst>
            </p:cNvPr>
            <p:cNvSpPr/>
            <p:nvPr/>
          </p:nvSpPr>
          <p:spPr>
            <a:xfrm>
              <a:off x="4847303" y="4077665"/>
              <a:ext cx="823446" cy="363690"/>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特定機器だけ監視を自動化しても効率化しない</a:t>
              </a:r>
            </a:p>
          </p:txBody>
        </p:sp>
        <p:cxnSp>
          <p:nvCxnSpPr>
            <p:cNvPr id="264" name="直線コネクタ 263">
              <a:extLst>
                <a:ext uri="{FF2B5EF4-FFF2-40B4-BE49-F238E27FC236}">
                  <a16:creationId xmlns:a16="http://schemas.microsoft.com/office/drawing/2014/main" id="{04060A01-CF85-4943-BFD5-C16912F63022}"/>
                </a:ext>
              </a:extLst>
            </p:cNvPr>
            <p:cNvCxnSpPr>
              <a:cxnSpLocks/>
              <a:stCxn id="263" idx="0"/>
              <a:endCxn id="242" idx="2"/>
            </p:cNvCxnSpPr>
            <p:nvPr/>
          </p:nvCxnSpPr>
          <p:spPr>
            <a:xfrm flipV="1">
              <a:off x="5259026" y="3235212"/>
              <a:ext cx="419095" cy="842453"/>
            </a:xfrm>
            <a:prstGeom prst="line">
              <a:avLst/>
            </a:prstGeom>
            <a:noFill/>
            <a:ln w="3175" cap="flat" cmpd="sng" algn="ctr">
              <a:solidFill>
                <a:srgbClr val="000000"/>
              </a:solidFill>
              <a:prstDash val="solid"/>
              <a:tailEnd type="oval"/>
            </a:ln>
            <a:effectLst/>
          </p:spPr>
        </p:cxnSp>
        <p:sp>
          <p:nvSpPr>
            <p:cNvPr id="265" name="四角形: 角を丸くする 154">
              <a:extLst>
                <a:ext uri="{FF2B5EF4-FFF2-40B4-BE49-F238E27FC236}">
                  <a16:creationId xmlns:a16="http://schemas.microsoft.com/office/drawing/2014/main" id="{C160A733-3631-43C0-B8D6-B215111C1A9A}"/>
                </a:ext>
              </a:extLst>
            </p:cNvPr>
            <p:cNvSpPr/>
            <p:nvPr/>
          </p:nvSpPr>
          <p:spPr>
            <a:xfrm>
              <a:off x="5823149" y="4085073"/>
              <a:ext cx="823446" cy="37053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動力全体の管理に人手が必要</a:t>
              </a:r>
            </a:p>
          </p:txBody>
        </p:sp>
        <p:cxnSp>
          <p:nvCxnSpPr>
            <p:cNvPr id="266" name="直線コネクタ 265">
              <a:extLst>
                <a:ext uri="{FF2B5EF4-FFF2-40B4-BE49-F238E27FC236}">
                  <a16:creationId xmlns:a16="http://schemas.microsoft.com/office/drawing/2014/main" id="{90359458-94FD-42BC-B65F-3D01CD32FE3D}"/>
                </a:ext>
              </a:extLst>
            </p:cNvPr>
            <p:cNvCxnSpPr>
              <a:cxnSpLocks/>
              <a:stCxn id="265" idx="0"/>
            </p:cNvCxnSpPr>
            <p:nvPr/>
          </p:nvCxnSpPr>
          <p:spPr>
            <a:xfrm flipH="1" flipV="1">
              <a:off x="5994182" y="3400762"/>
              <a:ext cx="240690" cy="684311"/>
            </a:xfrm>
            <a:prstGeom prst="line">
              <a:avLst/>
            </a:prstGeom>
            <a:noFill/>
            <a:ln w="3175" cap="flat" cmpd="sng" algn="ctr">
              <a:solidFill>
                <a:srgbClr val="000000"/>
              </a:solidFill>
              <a:prstDash val="solid"/>
              <a:tailEnd type="oval"/>
            </a:ln>
            <a:effectLst/>
          </p:spPr>
        </p:cxnSp>
        <p:sp>
          <p:nvSpPr>
            <p:cNvPr id="267" name="四角形: 角を丸くする 154">
              <a:extLst>
                <a:ext uri="{FF2B5EF4-FFF2-40B4-BE49-F238E27FC236}">
                  <a16:creationId xmlns:a16="http://schemas.microsoft.com/office/drawing/2014/main" id="{C89782DB-F1A1-4734-B146-BD88B350B911}"/>
                </a:ext>
              </a:extLst>
            </p:cNvPr>
            <p:cNvSpPr/>
            <p:nvPr/>
          </p:nvSpPr>
          <p:spPr>
            <a:xfrm>
              <a:off x="6797400" y="4077664"/>
              <a:ext cx="823446" cy="370533"/>
            </a:xfrm>
            <a:prstGeom prst="roundRect">
              <a:avLst/>
            </a:prstGeom>
            <a:solidFill>
              <a:schemeClr val="accent3">
                <a:lumMod val="20000"/>
                <a:lumOff val="80000"/>
              </a:schemeClr>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effectLst/>
                  <a:uLnTx/>
                  <a:uFillTx/>
                  <a:latin typeface="Arial"/>
                  <a:ea typeface="Meiryo UI"/>
                  <a:cs typeface="+mn-cs"/>
                </a:rPr>
                <a:t>人手が集まらない</a:t>
              </a:r>
            </a:p>
          </p:txBody>
        </p:sp>
        <p:cxnSp>
          <p:nvCxnSpPr>
            <p:cNvPr id="268" name="直線コネクタ 267">
              <a:extLst>
                <a:ext uri="{FF2B5EF4-FFF2-40B4-BE49-F238E27FC236}">
                  <a16:creationId xmlns:a16="http://schemas.microsoft.com/office/drawing/2014/main" id="{565369CB-8E50-46DA-9831-9DBD2F335241}"/>
                </a:ext>
              </a:extLst>
            </p:cNvPr>
            <p:cNvCxnSpPr>
              <a:cxnSpLocks/>
              <a:stCxn id="267" idx="0"/>
              <a:endCxn id="238" idx="2"/>
            </p:cNvCxnSpPr>
            <p:nvPr/>
          </p:nvCxnSpPr>
          <p:spPr>
            <a:xfrm flipV="1">
              <a:off x="7209123" y="3235211"/>
              <a:ext cx="26535" cy="842453"/>
            </a:xfrm>
            <a:prstGeom prst="line">
              <a:avLst/>
            </a:prstGeom>
            <a:noFill/>
            <a:ln w="3175" cap="flat" cmpd="sng" algn="ctr">
              <a:solidFill>
                <a:srgbClr val="000000"/>
              </a:solidFill>
              <a:prstDash val="solid"/>
              <a:tailEnd type="oval"/>
            </a:ln>
            <a:effectLst/>
          </p:spPr>
        </p:cxnSp>
        <p:sp>
          <p:nvSpPr>
            <p:cNvPr id="269" name="四角形: 角を丸くする 154">
              <a:extLst>
                <a:ext uri="{FF2B5EF4-FFF2-40B4-BE49-F238E27FC236}">
                  <a16:creationId xmlns:a16="http://schemas.microsoft.com/office/drawing/2014/main" id="{FDE7AA01-3EE8-4294-B351-F147A5DCC073}"/>
                </a:ext>
              </a:extLst>
            </p:cNvPr>
            <p:cNvSpPr/>
            <p:nvPr/>
          </p:nvSpPr>
          <p:spPr>
            <a:xfrm>
              <a:off x="6063619" y="4534648"/>
              <a:ext cx="1402822" cy="312196"/>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保管費用、余剰在庫などによるコスト増を無くしたい</a:t>
              </a:r>
            </a:p>
          </p:txBody>
        </p:sp>
        <p:cxnSp>
          <p:nvCxnSpPr>
            <p:cNvPr id="270" name="直線コネクタ 269">
              <a:extLst>
                <a:ext uri="{FF2B5EF4-FFF2-40B4-BE49-F238E27FC236}">
                  <a16:creationId xmlns:a16="http://schemas.microsoft.com/office/drawing/2014/main" id="{9A499B3A-A5A0-49B4-A816-5E839D5770AC}"/>
                </a:ext>
              </a:extLst>
            </p:cNvPr>
            <p:cNvCxnSpPr>
              <a:cxnSpLocks/>
              <a:stCxn id="269" idx="0"/>
            </p:cNvCxnSpPr>
            <p:nvPr/>
          </p:nvCxnSpPr>
          <p:spPr>
            <a:xfrm flipV="1">
              <a:off x="6765030" y="3455963"/>
              <a:ext cx="55786" cy="1078685"/>
            </a:xfrm>
            <a:prstGeom prst="line">
              <a:avLst/>
            </a:prstGeom>
            <a:noFill/>
            <a:ln w="3175" cap="flat" cmpd="sng" algn="ctr">
              <a:solidFill>
                <a:srgbClr val="000000"/>
              </a:solidFill>
              <a:prstDash val="solid"/>
              <a:tailEnd type="oval"/>
            </a:ln>
            <a:effectLst/>
          </p:spPr>
        </p:cxnSp>
        <p:sp>
          <p:nvSpPr>
            <p:cNvPr id="271" name="四角形: 角を丸くする 154">
              <a:extLst>
                <a:ext uri="{FF2B5EF4-FFF2-40B4-BE49-F238E27FC236}">
                  <a16:creationId xmlns:a16="http://schemas.microsoft.com/office/drawing/2014/main" id="{5737D1C8-11C8-4599-BFE0-013226230B52}"/>
                </a:ext>
              </a:extLst>
            </p:cNvPr>
            <p:cNvSpPr/>
            <p:nvPr/>
          </p:nvSpPr>
          <p:spPr>
            <a:xfrm>
              <a:off x="7793966" y="3832287"/>
              <a:ext cx="823446" cy="37053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effectLst/>
                  <a:uLnTx/>
                  <a:uFillTx/>
                  <a:latin typeface="Arial"/>
                  <a:ea typeface="Meiryo UI"/>
                  <a:cs typeface="+mn-cs"/>
                </a:rPr>
                <a:t>補器類の故障が多い</a:t>
              </a:r>
            </a:p>
          </p:txBody>
        </p:sp>
        <p:cxnSp>
          <p:nvCxnSpPr>
            <p:cNvPr id="272" name="直線コネクタ 271">
              <a:extLst>
                <a:ext uri="{FF2B5EF4-FFF2-40B4-BE49-F238E27FC236}">
                  <a16:creationId xmlns:a16="http://schemas.microsoft.com/office/drawing/2014/main" id="{D9D9CE2B-E33A-4D78-A322-15A364BAF15E}"/>
                </a:ext>
              </a:extLst>
            </p:cNvPr>
            <p:cNvCxnSpPr>
              <a:cxnSpLocks/>
              <a:stCxn id="271" idx="0"/>
              <a:endCxn id="239" idx="2"/>
            </p:cNvCxnSpPr>
            <p:nvPr/>
          </p:nvCxnSpPr>
          <p:spPr>
            <a:xfrm flipV="1">
              <a:off x="8205689" y="3244432"/>
              <a:ext cx="54237" cy="587855"/>
            </a:xfrm>
            <a:prstGeom prst="line">
              <a:avLst/>
            </a:prstGeom>
            <a:noFill/>
            <a:ln w="3175" cap="flat" cmpd="sng" algn="ctr">
              <a:solidFill>
                <a:srgbClr val="000000"/>
              </a:solidFill>
              <a:prstDash val="solid"/>
              <a:tailEnd type="oval"/>
            </a:ln>
            <a:effectLst/>
          </p:spPr>
        </p:cxnSp>
        <p:sp>
          <p:nvSpPr>
            <p:cNvPr id="273" name="四角形: 角を丸くする 154">
              <a:extLst>
                <a:ext uri="{FF2B5EF4-FFF2-40B4-BE49-F238E27FC236}">
                  <a16:creationId xmlns:a16="http://schemas.microsoft.com/office/drawing/2014/main" id="{EC254191-4BE0-427F-AC9A-3E2B52742CD8}"/>
                </a:ext>
              </a:extLst>
            </p:cNvPr>
            <p:cNvSpPr/>
            <p:nvPr/>
          </p:nvSpPr>
          <p:spPr>
            <a:xfrm>
              <a:off x="7620846" y="4296554"/>
              <a:ext cx="823446" cy="293084"/>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effectLst/>
                  <a:uLnTx/>
                  <a:uFillTx/>
                  <a:latin typeface="Arial"/>
                  <a:ea typeface="Meiryo UI"/>
                  <a:cs typeface="+mn-cs"/>
                </a:rPr>
                <a:t>複数社のマネジメントが煩雑</a:t>
              </a:r>
            </a:p>
          </p:txBody>
        </p:sp>
        <p:cxnSp>
          <p:nvCxnSpPr>
            <p:cNvPr id="274" name="直線コネクタ 273">
              <a:extLst>
                <a:ext uri="{FF2B5EF4-FFF2-40B4-BE49-F238E27FC236}">
                  <a16:creationId xmlns:a16="http://schemas.microsoft.com/office/drawing/2014/main" id="{D78CE8EE-1BF0-4C55-B609-77B68BBB0838}"/>
                </a:ext>
              </a:extLst>
            </p:cNvPr>
            <p:cNvCxnSpPr>
              <a:cxnSpLocks/>
              <a:stCxn id="273" idx="0"/>
              <a:endCxn id="238" idx="2"/>
            </p:cNvCxnSpPr>
            <p:nvPr/>
          </p:nvCxnSpPr>
          <p:spPr>
            <a:xfrm flipH="1" flipV="1">
              <a:off x="7235658" y="3235211"/>
              <a:ext cx="796911" cy="1061343"/>
            </a:xfrm>
            <a:prstGeom prst="line">
              <a:avLst/>
            </a:prstGeom>
            <a:noFill/>
            <a:ln w="3175" cap="flat" cmpd="sng" algn="ctr">
              <a:solidFill>
                <a:srgbClr val="000000"/>
              </a:solidFill>
              <a:prstDash val="solid"/>
              <a:tailEnd type="oval"/>
            </a:ln>
            <a:effectLst/>
          </p:spPr>
        </p:cxnSp>
        <p:sp>
          <p:nvSpPr>
            <p:cNvPr id="275" name="四角形: 角を丸くする 154">
              <a:extLst>
                <a:ext uri="{FF2B5EF4-FFF2-40B4-BE49-F238E27FC236}">
                  <a16:creationId xmlns:a16="http://schemas.microsoft.com/office/drawing/2014/main" id="{07AF90B7-80A6-4B20-B20A-937003104294}"/>
                </a:ext>
              </a:extLst>
            </p:cNvPr>
            <p:cNvSpPr/>
            <p:nvPr/>
          </p:nvSpPr>
          <p:spPr>
            <a:xfrm>
              <a:off x="8834716" y="3849045"/>
              <a:ext cx="823446" cy="37053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effectLst/>
                  <a:uLnTx/>
                  <a:uFillTx/>
                  <a:latin typeface="Arial"/>
                  <a:ea typeface="Meiryo UI"/>
                  <a:cs typeface="+mn-cs"/>
                </a:rPr>
                <a:t>日常業務との掛け持ちで負荷が高い</a:t>
              </a:r>
            </a:p>
          </p:txBody>
        </p:sp>
        <p:cxnSp>
          <p:nvCxnSpPr>
            <p:cNvPr id="276" name="直線コネクタ 275">
              <a:extLst>
                <a:ext uri="{FF2B5EF4-FFF2-40B4-BE49-F238E27FC236}">
                  <a16:creationId xmlns:a16="http://schemas.microsoft.com/office/drawing/2014/main" id="{C20C3E9F-A3A7-4EA5-B7EA-8C586110C713}"/>
                </a:ext>
              </a:extLst>
            </p:cNvPr>
            <p:cNvCxnSpPr>
              <a:cxnSpLocks/>
              <a:stCxn id="275" idx="0"/>
              <a:endCxn id="240" idx="2"/>
            </p:cNvCxnSpPr>
            <p:nvPr/>
          </p:nvCxnSpPr>
          <p:spPr>
            <a:xfrm flipH="1" flipV="1">
              <a:off x="9212224" y="3235212"/>
              <a:ext cx="34215" cy="613833"/>
            </a:xfrm>
            <a:prstGeom prst="line">
              <a:avLst/>
            </a:prstGeom>
            <a:noFill/>
            <a:ln w="3175" cap="flat" cmpd="sng" algn="ctr">
              <a:solidFill>
                <a:srgbClr val="000000"/>
              </a:solidFill>
              <a:prstDash val="solid"/>
              <a:tailEnd type="oval"/>
            </a:ln>
            <a:effectLst/>
          </p:spPr>
        </p:cxnSp>
        <p:sp>
          <p:nvSpPr>
            <p:cNvPr id="277" name="四角形: 角を丸くする 154">
              <a:extLst>
                <a:ext uri="{FF2B5EF4-FFF2-40B4-BE49-F238E27FC236}">
                  <a16:creationId xmlns:a16="http://schemas.microsoft.com/office/drawing/2014/main" id="{657EC220-8D93-494F-B740-D459A9F71660}"/>
                </a:ext>
              </a:extLst>
            </p:cNvPr>
            <p:cNvSpPr/>
            <p:nvPr/>
          </p:nvSpPr>
          <p:spPr>
            <a:xfrm>
              <a:off x="8590427" y="4288097"/>
              <a:ext cx="1240799" cy="293084"/>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effectLst/>
                  <a:uLnTx/>
                  <a:uFillTx/>
                  <a:latin typeface="Arial"/>
                  <a:ea typeface="Meiryo UI"/>
                  <a:cs typeface="+mn-cs"/>
                </a:rPr>
                <a:t>工場個別最適でノウハウがなかなか展開できない</a:t>
              </a:r>
            </a:p>
          </p:txBody>
        </p:sp>
        <p:cxnSp>
          <p:nvCxnSpPr>
            <p:cNvPr id="278" name="直線コネクタ 277">
              <a:extLst>
                <a:ext uri="{FF2B5EF4-FFF2-40B4-BE49-F238E27FC236}">
                  <a16:creationId xmlns:a16="http://schemas.microsoft.com/office/drawing/2014/main" id="{15CBDC1D-ED4D-44EF-A72C-618BFB036ACB}"/>
                </a:ext>
              </a:extLst>
            </p:cNvPr>
            <p:cNvCxnSpPr>
              <a:cxnSpLocks/>
            </p:cNvCxnSpPr>
            <p:nvPr/>
          </p:nvCxnSpPr>
          <p:spPr>
            <a:xfrm flipV="1">
              <a:off x="8691558" y="3235212"/>
              <a:ext cx="254987" cy="831289"/>
            </a:xfrm>
            <a:prstGeom prst="line">
              <a:avLst/>
            </a:prstGeom>
            <a:noFill/>
            <a:ln w="3175" cap="flat" cmpd="sng" algn="ctr">
              <a:solidFill>
                <a:srgbClr val="000000"/>
              </a:solidFill>
              <a:prstDash val="solid"/>
              <a:tailEnd type="oval"/>
            </a:ln>
            <a:effectLst/>
          </p:spPr>
        </p:cxnSp>
        <p:sp>
          <p:nvSpPr>
            <p:cNvPr id="279" name="四角形: 角を丸くする 154">
              <a:extLst>
                <a:ext uri="{FF2B5EF4-FFF2-40B4-BE49-F238E27FC236}">
                  <a16:creationId xmlns:a16="http://schemas.microsoft.com/office/drawing/2014/main" id="{645076AE-83C5-4B1A-A999-D2CBDB7F44E5}"/>
                </a:ext>
              </a:extLst>
            </p:cNvPr>
            <p:cNvSpPr/>
            <p:nvPr/>
          </p:nvSpPr>
          <p:spPr>
            <a:xfrm>
              <a:off x="9826961" y="4073935"/>
              <a:ext cx="823446" cy="37053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大規模更改をする投資体力がない</a:t>
              </a:r>
            </a:p>
          </p:txBody>
        </p:sp>
        <p:cxnSp>
          <p:nvCxnSpPr>
            <p:cNvPr id="280" name="直線コネクタ 279">
              <a:extLst>
                <a:ext uri="{FF2B5EF4-FFF2-40B4-BE49-F238E27FC236}">
                  <a16:creationId xmlns:a16="http://schemas.microsoft.com/office/drawing/2014/main" id="{FECFDF79-2E75-488B-A647-DD50A6870783}"/>
                </a:ext>
              </a:extLst>
            </p:cNvPr>
            <p:cNvCxnSpPr>
              <a:cxnSpLocks/>
              <a:stCxn id="279" idx="0"/>
              <a:endCxn id="246" idx="2"/>
            </p:cNvCxnSpPr>
            <p:nvPr/>
          </p:nvCxnSpPr>
          <p:spPr>
            <a:xfrm flipV="1">
              <a:off x="10238684" y="3455964"/>
              <a:ext cx="509612" cy="617971"/>
            </a:xfrm>
            <a:prstGeom prst="line">
              <a:avLst/>
            </a:prstGeom>
            <a:noFill/>
            <a:ln w="3175" cap="flat" cmpd="sng" algn="ctr">
              <a:solidFill>
                <a:srgbClr val="000000"/>
              </a:solidFill>
              <a:prstDash val="solid"/>
              <a:tailEnd type="oval"/>
            </a:ln>
            <a:effectLst/>
          </p:spPr>
        </p:cxnSp>
        <p:sp>
          <p:nvSpPr>
            <p:cNvPr id="281" name="四角形: 角を丸くする 154">
              <a:extLst>
                <a:ext uri="{FF2B5EF4-FFF2-40B4-BE49-F238E27FC236}">
                  <a16:creationId xmlns:a16="http://schemas.microsoft.com/office/drawing/2014/main" id="{3B5E462A-9408-4AB3-A82C-74F54A58C263}"/>
                </a:ext>
              </a:extLst>
            </p:cNvPr>
            <p:cNvSpPr/>
            <p:nvPr/>
          </p:nvSpPr>
          <p:spPr>
            <a:xfrm>
              <a:off x="10818790" y="4076179"/>
              <a:ext cx="823446" cy="37053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Arial"/>
                  <a:ea typeface="Meiryo UI"/>
                  <a:cs typeface="+mn-cs"/>
                </a:rPr>
                <a:t>GHG</a:t>
              </a:r>
              <a:r>
                <a:rPr kumimoji="0" lang="ja-JP" altLang="en-US" sz="700" b="0" i="0" u="none" strike="noStrike" kern="0" cap="none" spc="0" normalizeH="0" baseline="0" noProof="0">
                  <a:ln>
                    <a:noFill/>
                  </a:ln>
                  <a:solidFill>
                    <a:srgbClr val="000000"/>
                  </a:solidFill>
                  <a:effectLst/>
                  <a:uLnTx/>
                  <a:uFillTx/>
                  <a:latin typeface="Arial"/>
                  <a:ea typeface="Meiryo UI"/>
                  <a:cs typeface="+mn-cs"/>
                </a:rPr>
                <a:t>削減が必要だが予算も限られる</a:t>
              </a:r>
            </a:p>
          </p:txBody>
        </p:sp>
        <p:cxnSp>
          <p:nvCxnSpPr>
            <p:cNvPr id="282" name="直線コネクタ 281">
              <a:extLst>
                <a:ext uri="{FF2B5EF4-FFF2-40B4-BE49-F238E27FC236}">
                  <a16:creationId xmlns:a16="http://schemas.microsoft.com/office/drawing/2014/main" id="{2C6F9439-5C24-4704-940F-B12D5C231671}"/>
                </a:ext>
              </a:extLst>
            </p:cNvPr>
            <p:cNvCxnSpPr>
              <a:cxnSpLocks/>
              <a:stCxn id="281" idx="0"/>
              <a:endCxn id="246" idx="2"/>
            </p:cNvCxnSpPr>
            <p:nvPr/>
          </p:nvCxnSpPr>
          <p:spPr>
            <a:xfrm flipH="1" flipV="1">
              <a:off x="10748296" y="3455964"/>
              <a:ext cx="482217" cy="620215"/>
            </a:xfrm>
            <a:prstGeom prst="line">
              <a:avLst/>
            </a:prstGeom>
            <a:noFill/>
            <a:ln w="3175" cap="flat" cmpd="sng" algn="ctr">
              <a:solidFill>
                <a:srgbClr val="000000"/>
              </a:solidFill>
              <a:prstDash val="solid"/>
              <a:tailEnd type="oval"/>
            </a:ln>
            <a:effectLst/>
          </p:spPr>
        </p:cxnSp>
        <p:sp>
          <p:nvSpPr>
            <p:cNvPr id="283" name="正方形/長方形 282">
              <a:extLst>
                <a:ext uri="{FF2B5EF4-FFF2-40B4-BE49-F238E27FC236}">
                  <a16:creationId xmlns:a16="http://schemas.microsoft.com/office/drawing/2014/main" id="{841668DB-BC06-453A-99A7-6DF7BF9016CB}"/>
                </a:ext>
              </a:extLst>
            </p:cNvPr>
            <p:cNvSpPr/>
            <p:nvPr/>
          </p:nvSpPr>
          <p:spPr>
            <a:xfrm>
              <a:off x="421490" y="4925951"/>
              <a:ext cx="226967" cy="1668855"/>
            </a:xfrm>
            <a:prstGeom prst="rect">
              <a:avLst/>
            </a:prstGeom>
            <a:solidFill>
              <a:srgbClr val="000000">
                <a:lumMod val="50000"/>
                <a:lumOff val="50000"/>
              </a:srgbClr>
            </a:solidFill>
            <a:ln w="3175" cap="flat" cmpd="sng" algn="ctr">
              <a:solidFill>
                <a:srgbClr val="FFFFFF">
                  <a:lumMod val="85000"/>
                </a:srgbClr>
              </a:solidFill>
              <a:prstDash val="solid"/>
            </a:ln>
            <a:effectLst/>
          </p:spPr>
          <p:txBody>
            <a:bodyPr rot="0" spcFirstLastPara="0" vertOverflow="overflow" horzOverflow="overflow" vert="eaVert"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FFFFFF"/>
                  </a:solidFill>
                  <a:effectLst/>
                  <a:uLnTx/>
                  <a:uFillTx/>
                  <a:latin typeface="Meiryo UI"/>
                  <a:ea typeface="Meiryo UI"/>
                  <a:cs typeface="+mn-cs"/>
                </a:rPr>
                <a:t>お客様の求める事</a:t>
              </a:r>
            </a:p>
          </p:txBody>
        </p:sp>
        <p:sp>
          <p:nvSpPr>
            <p:cNvPr id="284" name="角丸四角形 192">
              <a:extLst>
                <a:ext uri="{FF2B5EF4-FFF2-40B4-BE49-F238E27FC236}">
                  <a16:creationId xmlns:a16="http://schemas.microsoft.com/office/drawing/2014/main" id="{B8729B77-8CB3-4CA8-81F0-017621F256F9}"/>
                </a:ext>
              </a:extLst>
            </p:cNvPr>
            <p:cNvSpPr/>
            <p:nvPr/>
          </p:nvSpPr>
          <p:spPr>
            <a:xfrm>
              <a:off x="4701771" y="4995494"/>
              <a:ext cx="5080408" cy="269172"/>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effectLst/>
                  <a:uLnTx/>
                  <a:uFillTx/>
                  <a:latin typeface="Arial"/>
                  <a:ea typeface="Meiryo UI"/>
                  <a:cs typeface="+mn-cs"/>
                </a:rPr>
                <a:t>動力全体の監視・モニタリングの自動化・一括化</a:t>
              </a:r>
            </a:p>
          </p:txBody>
        </p:sp>
        <p:sp>
          <p:nvSpPr>
            <p:cNvPr id="285" name="角丸四角形 194">
              <a:extLst>
                <a:ext uri="{FF2B5EF4-FFF2-40B4-BE49-F238E27FC236}">
                  <a16:creationId xmlns:a16="http://schemas.microsoft.com/office/drawing/2014/main" id="{0BAE4791-5F8E-4F3B-B698-C1F4FA2A791E}"/>
                </a:ext>
              </a:extLst>
            </p:cNvPr>
            <p:cNvSpPr/>
            <p:nvPr/>
          </p:nvSpPr>
          <p:spPr>
            <a:xfrm>
              <a:off x="1811954" y="5352237"/>
              <a:ext cx="2735012" cy="269172"/>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Arial"/>
                  <a:ea typeface="Meiryo UI"/>
                  <a:cs typeface="+mn-cs"/>
                </a:rPr>
                <a:t>機器の状態に即した保守の実施</a:t>
              </a:r>
            </a:p>
          </p:txBody>
        </p:sp>
        <p:sp>
          <p:nvSpPr>
            <p:cNvPr id="286" name="角丸四角形 195">
              <a:extLst>
                <a:ext uri="{FF2B5EF4-FFF2-40B4-BE49-F238E27FC236}">
                  <a16:creationId xmlns:a16="http://schemas.microsoft.com/office/drawing/2014/main" id="{3DBE7E0B-BDC4-48D8-B712-47729116E556}"/>
                </a:ext>
              </a:extLst>
            </p:cNvPr>
            <p:cNvSpPr/>
            <p:nvPr/>
          </p:nvSpPr>
          <p:spPr>
            <a:xfrm>
              <a:off x="1811953" y="4997986"/>
              <a:ext cx="2735012" cy="269172"/>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Arial"/>
                  <a:ea typeface="Meiryo UI"/>
                  <a:cs typeface="+mn-cs"/>
                </a:rPr>
                <a:t>保守計画作業の効率化</a:t>
              </a:r>
            </a:p>
          </p:txBody>
        </p:sp>
        <p:sp>
          <p:nvSpPr>
            <p:cNvPr id="287" name="角丸四角形 200">
              <a:extLst>
                <a:ext uri="{FF2B5EF4-FFF2-40B4-BE49-F238E27FC236}">
                  <a16:creationId xmlns:a16="http://schemas.microsoft.com/office/drawing/2014/main" id="{002B461A-1FFB-41B7-8042-48F3AEC2DABA}"/>
                </a:ext>
              </a:extLst>
            </p:cNvPr>
            <p:cNvSpPr/>
            <p:nvPr/>
          </p:nvSpPr>
          <p:spPr>
            <a:xfrm>
              <a:off x="9831227" y="6124552"/>
              <a:ext cx="1879510" cy="292567"/>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000000"/>
                  </a:solidFill>
                  <a:effectLst/>
                  <a:uLnTx/>
                  <a:uFillTx/>
                  <a:latin typeface="Arial"/>
                  <a:ea typeface="Meiryo UI"/>
                  <a:cs typeface="+mn-cs"/>
                </a:rPr>
                <a:t>.</a:t>
              </a:r>
              <a:r>
                <a:rPr kumimoji="0" lang="ja-JP" altLang="en-US" sz="800" b="0" i="0" u="none" strike="noStrike" kern="0" cap="none" spc="0" normalizeH="0" baseline="0" noProof="0">
                  <a:ln>
                    <a:noFill/>
                  </a:ln>
                  <a:solidFill>
                    <a:srgbClr val="000000"/>
                  </a:solidFill>
                  <a:effectLst/>
                  <a:uLnTx/>
                  <a:uFillTx/>
                  <a:latin typeface="Arial"/>
                  <a:ea typeface="Meiryo UI"/>
                  <a:cs typeface="+mn-cs"/>
                </a:rPr>
                <a:t>燃料調達、発電の共同化</a:t>
              </a:r>
            </a:p>
          </p:txBody>
        </p:sp>
        <p:sp>
          <p:nvSpPr>
            <p:cNvPr id="288" name="角丸四角形 201">
              <a:extLst>
                <a:ext uri="{FF2B5EF4-FFF2-40B4-BE49-F238E27FC236}">
                  <a16:creationId xmlns:a16="http://schemas.microsoft.com/office/drawing/2014/main" id="{D83F1A6F-A74E-4E41-B599-F158020A3D77}"/>
                </a:ext>
              </a:extLst>
            </p:cNvPr>
            <p:cNvSpPr/>
            <p:nvPr/>
          </p:nvSpPr>
          <p:spPr>
            <a:xfrm>
              <a:off x="4684440" y="5637644"/>
              <a:ext cx="4119191" cy="269214"/>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effectLst/>
                  <a:uLnTx/>
                  <a:uFillTx/>
                  <a:latin typeface="Arial"/>
                  <a:ea typeface="Meiryo UI"/>
                  <a:cs typeface="+mn-cs"/>
                </a:rPr>
                <a:t>故障自動検知</a:t>
              </a:r>
            </a:p>
          </p:txBody>
        </p:sp>
        <p:sp>
          <p:nvSpPr>
            <p:cNvPr id="289" name="角丸四角形 202">
              <a:extLst>
                <a:ext uri="{FF2B5EF4-FFF2-40B4-BE49-F238E27FC236}">
                  <a16:creationId xmlns:a16="http://schemas.microsoft.com/office/drawing/2014/main" id="{D1E412EC-58DB-499C-B65A-5A0876A1EA18}"/>
                </a:ext>
              </a:extLst>
            </p:cNvPr>
            <p:cNvSpPr/>
            <p:nvPr/>
          </p:nvSpPr>
          <p:spPr>
            <a:xfrm>
              <a:off x="4675318" y="5931539"/>
              <a:ext cx="4119191" cy="269214"/>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effectLst/>
                  <a:uLnTx/>
                  <a:uFillTx/>
                  <a:latin typeface="Arial"/>
                  <a:ea typeface="Meiryo UI"/>
                  <a:cs typeface="+mn-cs"/>
                </a:rPr>
                <a:t>予兆保全</a:t>
              </a:r>
            </a:p>
          </p:txBody>
        </p:sp>
        <p:sp>
          <p:nvSpPr>
            <p:cNvPr id="290" name="角丸四角形 212">
              <a:extLst>
                <a:ext uri="{FF2B5EF4-FFF2-40B4-BE49-F238E27FC236}">
                  <a16:creationId xmlns:a16="http://schemas.microsoft.com/office/drawing/2014/main" id="{5F0374C8-63CC-4DEE-B821-D190F007A96D}"/>
                </a:ext>
              </a:extLst>
            </p:cNvPr>
            <p:cNvSpPr/>
            <p:nvPr/>
          </p:nvSpPr>
          <p:spPr>
            <a:xfrm>
              <a:off x="7226375" y="5334301"/>
              <a:ext cx="2555804" cy="269172"/>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effectLst/>
                  <a:uLnTx/>
                  <a:uFillTx/>
                  <a:latin typeface="Arial"/>
                  <a:ea typeface="Meiryo UI"/>
                  <a:cs typeface="+mn-cs"/>
                </a:rPr>
                <a:t>関係会社</a:t>
              </a:r>
              <a:r>
                <a:rPr kumimoji="0" lang="en-US" altLang="ja-JP" sz="800" b="0" i="0" u="none" strike="noStrike" kern="0" cap="none" spc="0" normalizeH="0" baseline="0" noProof="0">
                  <a:ln>
                    <a:noFill/>
                  </a:ln>
                  <a:effectLst/>
                  <a:uLnTx/>
                  <a:uFillTx/>
                  <a:latin typeface="Arial"/>
                  <a:ea typeface="Meiryo UI"/>
                  <a:cs typeface="+mn-cs"/>
                </a:rPr>
                <a:t>(</a:t>
              </a:r>
              <a:r>
                <a:rPr kumimoji="0" lang="ja-JP" altLang="en-US" sz="800" b="0" i="0" u="none" strike="noStrike" kern="0" cap="none" spc="0" normalizeH="0" baseline="0" noProof="0">
                  <a:ln>
                    <a:noFill/>
                  </a:ln>
                  <a:effectLst/>
                  <a:uLnTx/>
                  <a:uFillTx/>
                  <a:latin typeface="Arial"/>
                  <a:ea typeface="Meiryo UI"/>
                  <a:cs typeface="+mn-cs"/>
                </a:rPr>
                <a:t>窓口</a:t>
              </a:r>
              <a:r>
                <a:rPr kumimoji="0" lang="en-US" altLang="ja-JP" sz="800" b="0" i="0" u="none" strike="noStrike" kern="0" cap="none" spc="0" normalizeH="0" baseline="0" noProof="0">
                  <a:ln>
                    <a:noFill/>
                  </a:ln>
                  <a:effectLst/>
                  <a:uLnTx/>
                  <a:uFillTx/>
                  <a:latin typeface="Arial"/>
                  <a:ea typeface="Meiryo UI"/>
                  <a:cs typeface="+mn-cs"/>
                </a:rPr>
                <a:t>)</a:t>
              </a:r>
              <a:r>
                <a:rPr kumimoji="0" lang="ja-JP" altLang="en-US" sz="800" b="0" i="0" u="none" strike="noStrike" kern="0" cap="none" spc="0" normalizeH="0" baseline="0" noProof="0">
                  <a:ln>
                    <a:noFill/>
                  </a:ln>
                  <a:effectLst/>
                  <a:uLnTx/>
                  <a:uFillTx/>
                  <a:latin typeface="Arial"/>
                  <a:ea typeface="Meiryo UI"/>
                  <a:cs typeface="+mn-cs"/>
                </a:rPr>
                <a:t>の集約</a:t>
              </a:r>
            </a:p>
          </p:txBody>
        </p:sp>
        <p:sp>
          <p:nvSpPr>
            <p:cNvPr id="291" name="角丸四角形 213">
              <a:extLst>
                <a:ext uri="{FF2B5EF4-FFF2-40B4-BE49-F238E27FC236}">
                  <a16:creationId xmlns:a16="http://schemas.microsoft.com/office/drawing/2014/main" id="{AB79BEBF-9533-428E-84F7-3FF44A4575D4}"/>
                </a:ext>
              </a:extLst>
            </p:cNvPr>
            <p:cNvSpPr/>
            <p:nvPr/>
          </p:nvSpPr>
          <p:spPr>
            <a:xfrm>
              <a:off x="1823498" y="6193160"/>
              <a:ext cx="2764391" cy="247104"/>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Arial"/>
                  <a:ea typeface="Meiryo UI"/>
                  <a:cs typeface="+mn-cs"/>
                </a:rPr>
                <a:t>高度な電源調達マネジメント</a:t>
              </a:r>
            </a:p>
          </p:txBody>
        </p:sp>
        <p:grpSp>
          <p:nvGrpSpPr>
            <p:cNvPr id="292" name="グループ化 291">
              <a:extLst>
                <a:ext uri="{FF2B5EF4-FFF2-40B4-BE49-F238E27FC236}">
                  <a16:creationId xmlns:a16="http://schemas.microsoft.com/office/drawing/2014/main" id="{D4B9F03C-F606-4BE0-84E4-FD15012C76F3}"/>
                </a:ext>
              </a:extLst>
            </p:cNvPr>
            <p:cNvGrpSpPr/>
            <p:nvPr/>
          </p:nvGrpSpPr>
          <p:grpSpPr>
            <a:xfrm>
              <a:off x="713274" y="4939365"/>
              <a:ext cx="987452" cy="1668412"/>
              <a:chOff x="497725" y="4749363"/>
              <a:chExt cx="450786" cy="2020349"/>
            </a:xfrm>
          </p:grpSpPr>
          <p:sp>
            <p:nvSpPr>
              <p:cNvPr id="293" name="正方形/長方形 292">
                <a:extLst>
                  <a:ext uri="{FF2B5EF4-FFF2-40B4-BE49-F238E27FC236}">
                    <a16:creationId xmlns:a16="http://schemas.microsoft.com/office/drawing/2014/main" id="{43BB2F86-52E4-4E8E-B99A-D84B28499C83}"/>
                  </a:ext>
                </a:extLst>
              </p:cNvPr>
              <p:cNvSpPr/>
              <p:nvPr/>
            </p:nvSpPr>
            <p:spPr>
              <a:xfrm>
                <a:off x="497725" y="4749363"/>
                <a:ext cx="450786" cy="701928"/>
              </a:xfrm>
              <a:prstGeom prst="rect">
                <a:avLst/>
              </a:prstGeom>
              <a:solidFill>
                <a:srgbClr val="FFFFFF">
                  <a:lumMod val="50000"/>
                </a:srgbClr>
              </a:solidFill>
              <a:ln w="3175" cap="flat" cmpd="sng" algn="ctr">
                <a:solidFill>
                  <a:srgbClr val="FFFFFF">
                    <a:lumMod val="50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0" lang="ja-JP" altLang="en-US" sz="1050" kern="0">
                    <a:solidFill>
                      <a:srgbClr val="FFFFFF"/>
                    </a:solidFill>
                    <a:latin typeface="Arial"/>
                    <a:ea typeface="Meiryo UI"/>
                  </a:rPr>
                  <a:t>効率化</a:t>
                </a:r>
                <a:endParaRPr kumimoji="0" lang="en-US" altLang="ja-JP" sz="1050" kern="0">
                  <a:solidFill>
                    <a:srgbClr val="FFFFFF"/>
                  </a:solidFill>
                  <a:latin typeface="Arial"/>
                  <a:ea typeface="Meiryo UI"/>
                </a:endParaRPr>
              </a:p>
              <a:p>
                <a:pPr algn="ctr"/>
                <a:r>
                  <a:rPr kumimoji="0" lang="ja-JP" altLang="en-US" sz="1050" kern="0">
                    <a:solidFill>
                      <a:srgbClr val="FFFFFF"/>
                    </a:solidFill>
                    <a:latin typeface="Arial"/>
                    <a:ea typeface="Meiryo UI"/>
                  </a:rPr>
                  <a:t>（コスト削減）</a:t>
                </a:r>
              </a:p>
            </p:txBody>
          </p:sp>
          <p:sp>
            <p:nvSpPr>
              <p:cNvPr id="294" name="正方形/長方形 293">
                <a:extLst>
                  <a:ext uri="{FF2B5EF4-FFF2-40B4-BE49-F238E27FC236}">
                    <a16:creationId xmlns:a16="http://schemas.microsoft.com/office/drawing/2014/main" id="{C79703AA-917E-49E9-A5DB-78F440F53700}"/>
                  </a:ext>
                </a:extLst>
              </p:cNvPr>
              <p:cNvSpPr/>
              <p:nvPr/>
            </p:nvSpPr>
            <p:spPr>
              <a:xfrm>
                <a:off x="497725" y="5525344"/>
                <a:ext cx="450786" cy="585157"/>
              </a:xfrm>
              <a:prstGeom prst="rect">
                <a:avLst/>
              </a:prstGeom>
              <a:solidFill>
                <a:srgbClr val="FFFFFF">
                  <a:lumMod val="50000"/>
                </a:srgbClr>
              </a:solidFill>
              <a:ln w="3175" cap="flat" cmpd="sng" algn="ctr">
                <a:solidFill>
                  <a:srgbClr val="FFFFFF">
                    <a:lumMod val="50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0" lang="ja-JP" altLang="en-US" sz="1050" kern="0">
                    <a:solidFill>
                      <a:srgbClr val="FFFFFF"/>
                    </a:solidFill>
                    <a:latin typeface="Arial"/>
                    <a:ea typeface="Meiryo UI"/>
                  </a:rPr>
                  <a:t>安定運転</a:t>
                </a:r>
              </a:p>
            </p:txBody>
          </p:sp>
          <p:sp>
            <p:nvSpPr>
              <p:cNvPr id="295" name="正方形/長方形 294">
                <a:extLst>
                  <a:ext uri="{FF2B5EF4-FFF2-40B4-BE49-F238E27FC236}">
                    <a16:creationId xmlns:a16="http://schemas.microsoft.com/office/drawing/2014/main" id="{D4C7A65A-8564-4254-83DF-3506AE4E6A42}"/>
                  </a:ext>
                </a:extLst>
              </p:cNvPr>
              <p:cNvSpPr/>
              <p:nvPr/>
            </p:nvSpPr>
            <p:spPr>
              <a:xfrm>
                <a:off x="497725" y="6184555"/>
                <a:ext cx="450786" cy="585157"/>
              </a:xfrm>
              <a:prstGeom prst="rect">
                <a:avLst/>
              </a:prstGeom>
              <a:solidFill>
                <a:srgbClr val="FFFFFF">
                  <a:lumMod val="50000"/>
                </a:srgbClr>
              </a:solidFill>
              <a:ln w="3175" cap="flat" cmpd="sng" algn="ctr">
                <a:solidFill>
                  <a:srgbClr val="FFFFFF">
                    <a:lumMod val="50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srgbClr val="FFFFFF"/>
                    </a:solidFill>
                    <a:effectLst/>
                    <a:uLnTx/>
                    <a:uFillTx/>
                    <a:latin typeface="Arial"/>
                    <a:ea typeface="Meiryo UI"/>
                    <a:cs typeface="+mn-cs"/>
                  </a:rPr>
                  <a:t>脱炭素化</a:t>
                </a:r>
              </a:p>
            </p:txBody>
          </p:sp>
        </p:grpSp>
        <p:sp>
          <p:nvSpPr>
            <p:cNvPr id="296" name="角丸四角形 98">
              <a:extLst>
                <a:ext uri="{FF2B5EF4-FFF2-40B4-BE49-F238E27FC236}">
                  <a16:creationId xmlns:a16="http://schemas.microsoft.com/office/drawing/2014/main" id="{A2EE6D3C-707C-4C82-82AC-E4131D2E519E}"/>
                </a:ext>
              </a:extLst>
            </p:cNvPr>
            <p:cNvSpPr/>
            <p:nvPr/>
          </p:nvSpPr>
          <p:spPr>
            <a:xfrm>
              <a:off x="4683942" y="5341515"/>
              <a:ext cx="2491907" cy="269172"/>
            </a:xfrm>
            <a:prstGeom prst="roundRect">
              <a:avLst/>
            </a:prstGeom>
            <a:solidFill>
              <a:schemeClr val="accent3">
                <a:lumMod val="20000"/>
                <a:lumOff val="80000"/>
              </a:scheme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effectLst/>
                  <a:uLnTx/>
                  <a:uFillTx/>
                  <a:latin typeface="Arial"/>
                  <a:ea typeface="Meiryo UI"/>
                  <a:cs typeface="+mn-cs"/>
                </a:rPr>
                <a:t>機器仕様や在庫の共同化・統一化</a:t>
              </a:r>
            </a:p>
          </p:txBody>
        </p:sp>
        <p:sp>
          <p:nvSpPr>
            <p:cNvPr id="297" name="角丸四角形 101">
              <a:extLst>
                <a:ext uri="{FF2B5EF4-FFF2-40B4-BE49-F238E27FC236}">
                  <a16:creationId xmlns:a16="http://schemas.microsoft.com/office/drawing/2014/main" id="{E23CDA68-9666-428C-8D08-80DF8E0FA834}"/>
                </a:ext>
              </a:extLst>
            </p:cNvPr>
            <p:cNvSpPr/>
            <p:nvPr/>
          </p:nvSpPr>
          <p:spPr>
            <a:xfrm>
              <a:off x="8859326" y="5643917"/>
              <a:ext cx="922853" cy="555208"/>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effectLst/>
                  <a:uLnTx/>
                  <a:uFillTx/>
                  <a:latin typeface="Arial"/>
                  <a:ea typeface="Meiryo UI"/>
                  <a:cs typeface="+mn-cs"/>
                </a:rPr>
                <a:t>高度な故障</a:t>
              </a:r>
              <a:br>
                <a:rPr kumimoji="0" lang="en-US" altLang="ja-JP" sz="800" b="0" i="0" u="none" strike="noStrike" kern="0" cap="none" spc="0" normalizeH="0" baseline="0" noProof="0">
                  <a:ln>
                    <a:noFill/>
                  </a:ln>
                  <a:effectLst/>
                  <a:uLnTx/>
                  <a:uFillTx/>
                  <a:latin typeface="Arial"/>
                  <a:ea typeface="Meiryo UI"/>
                  <a:cs typeface="+mn-cs"/>
                </a:rPr>
              </a:br>
              <a:r>
                <a:rPr kumimoji="0" lang="ja-JP" altLang="en-US" sz="800" b="0" i="0" u="none" strike="noStrike" kern="0" cap="none" spc="0" normalizeH="0" baseline="0" noProof="0">
                  <a:ln>
                    <a:noFill/>
                  </a:ln>
                  <a:effectLst/>
                  <a:uLnTx/>
                  <a:uFillTx/>
                  <a:latin typeface="Arial"/>
                  <a:ea typeface="Meiryo UI"/>
                  <a:cs typeface="+mn-cs"/>
                </a:rPr>
                <a:t>分析・企業間</a:t>
              </a:r>
              <a:br>
                <a:rPr kumimoji="0" lang="en-US" altLang="ja-JP" sz="800" b="0" i="0" u="none" strike="noStrike" kern="0" cap="none" spc="0" normalizeH="0" baseline="0" noProof="0">
                  <a:ln>
                    <a:noFill/>
                  </a:ln>
                  <a:effectLst/>
                  <a:uLnTx/>
                  <a:uFillTx/>
                  <a:latin typeface="Arial"/>
                  <a:ea typeface="Meiryo UI"/>
                  <a:cs typeface="+mn-cs"/>
                </a:rPr>
              </a:br>
              <a:r>
                <a:rPr kumimoji="0" lang="ja-JP" altLang="en-US" sz="800" b="0" i="0" u="none" strike="noStrike" kern="0" cap="none" spc="0" normalizeH="0" baseline="0" noProof="0">
                  <a:ln>
                    <a:noFill/>
                  </a:ln>
                  <a:effectLst/>
                  <a:uLnTx/>
                  <a:uFillTx/>
                  <a:latin typeface="Arial"/>
                  <a:ea typeface="Meiryo UI"/>
                  <a:cs typeface="+mn-cs"/>
                </a:rPr>
                <a:t>連携</a:t>
              </a:r>
            </a:p>
          </p:txBody>
        </p:sp>
        <p:sp>
          <p:nvSpPr>
            <p:cNvPr id="298" name="角丸四角形 84">
              <a:extLst>
                <a:ext uri="{FF2B5EF4-FFF2-40B4-BE49-F238E27FC236}">
                  <a16:creationId xmlns:a16="http://schemas.microsoft.com/office/drawing/2014/main" id="{FF6E96D3-476F-4348-9ADB-E4849D36E56D}"/>
                </a:ext>
              </a:extLst>
            </p:cNvPr>
            <p:cNvSpPr/>
            <p:nvPr/>
          </p:nvSpPr>
          <p:spPr>
            <a:xfrm>
              <a:off x="9826961" y="5016064"/>
              <a:ext cx="1958529" cy="548335"/>
            </a:xfrm>
            <a:prstGeom prst="roundRect">
              <a:avLst/>
            </a:prstGeom>
            <a:solidFill>
              <a:srgbClr val="FFFFFF">
                <a:lumMod val="95000"/>
              </a:srgbClr>
            </a:solidFill>
            <a:ln w="6350" cap="flat" cmpd="sng" algn="ctr">
              <a:solidFill>
                <a:srgbClr val="FFFFFF">
                  <a:lumMod val="95000"/>
                </a:srgbClr>
              </a:solidFill>
              <a:prstDash val="soli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000000"/>
                  </a:solidFill>
                  <a:effectLst/>
                  <a:uLnTx/>
                  <a:uFillTx/>
                  <a:latin typeface="Arial"/>
                  <a:ea typeface="Meiryo UI"/>
                  <a:cs typeface="+mn-cs"/>
                </a:rPr>
                <a:t>.</a:t>
              </a:r>
              <a:r>
                <a:rPr kumimoji="0" lang="ja-JP" altLang="en-US" sz="800" b="0" i="0" u="none" strike="noStrike" kern="0" cap="none" spc="0" normalizeH="0" baseline="0" noProof="0">
                  <a:ln>
                    <a:noFill/>
                  </a:ln>
                  <a:solidFill>
                    <a:srgbClr val="000000"/>
                  </a:solidFill>
                  <a:effectLst/>
                  <a:uLnTx/>
                  <a:uFillTx/>
                  <a:latin typeface="Arial"/>
                  <a:ea typeface="Meiryo UI"/>
                  <a:cs typeface="+mn-cs"/>
                </a:rPr>
                <a:t>様々な状況に対応が可能な</a:t>
              </a:r>
              <a:endParaRPr kumimoji="0" lang="en-US" altLang="ja-JP" sz="800" b="0" i="0" u="none" strike="noStrike" kern="0" cap="none" spc="0" normalizeH="0" baseline="0" noProof="0">
                <a:ln>
                  <a:noFill/>
                </a:ln>
                <a:solidFill>
                  <a:srgbClr val="000000"/>
                </a:solidFill>
                <a:effectLst/>
                <a:uLnTx/>
                <a:uFillTx/>
                <a:latin typeface="Arial"/>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Arial"/>
                  <a:ea typeface="Meiryo UI"/>
                  <a:cs typeface="+mn-cs"/>
                </a:rPr>
                <a:t>機器の提供</a:t>
              </a:r>
            </a:p>
          </p:txBody>
        </p:sp>
        <p:sp>
          <p:nvSpPr>
            <p:cNvPr id="299" name="四角形: 角を丸くする 154">
              <a:extLst>
                <a:ext uri="{FF2B5EF4-FFF2-40B4-BE49-F238E27FC236}">
                  <a16:creationId xmlns:a16="http://schemas.microsoft.com/office/drawing/2014/main" id="{CE22FD67-4F65-4ECE-B683-807E6C9A0989}"/>
                </a:ext>
              </a:extLst>
            </p:cNvPr>
            <p:cNvSpPr/>
            <p:nvPr/>
          </p:nvSpPr>
          <p:spPr>
            <a:xfrm>
              <a:off x="10238683" y="4517879"/>
              <a:ext cx="991829" cy="370533"/>
            </a:xfrm>
            <a:prstGeom prst="roundRect">
              <a:avLst/>
            </a:prstGeom>
            <a:solidFill>
              <a:srgbClr val="FFFFFF"/>
            </a:solidFill>
            <a:ln w="3175" cap="flat" cmpd="sng" algn="ctr">
              <a:solidFill>
                <a:srgbClr val="FFFFFF">
                  <a:lumMod val="9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Arial"/>
                  <a:ea typeface="Meiryo UI"/>
                  <a:cs typeface="+mn-cs"/>
                </a:rPr>
                <a:t>中長期的な状況を見越した検討が必要</a:t>
              </a:r>
            </a:p>
          </p:txBody>
        </p:sp>
        <p:cxnSp>
          <p:nvCxnSpPr>
            <p:cNvPr id="300" name="直線コネクタ 299">
              <a:extLst>
                <a:ext uri="{FF2B5EF4-FFF2-40B4-BE49-F238E27FC236}">
                  <a16:creationId xmlns:a16="http://schemas.microsoft.com/office/drawing/2014/main" id="{39DE447D-969C-4B09-8E2A-022980DB372F}"/>
                </a:ext>
              </a:extLst>
            </p:cNvPr>
            <p:cNvCxnSpPr>
              <a:cxnSpLocks/>
              <a:stCxn id="299" idx="0"/>
              <a:endCxn id="246" idx="2"/>
            </p:cNvCxnSpPr>
            <p:nvPr/>
          </p:nvCxnSpPr>
          <p:spPr>
            <a:xfrm flipV="1">
              <a:off x="10734598" y="3455964"/>
              <a:ext cx="13698" cy="1061915"/>
            </a:xfrm>
            <a:prstGeom prst="line">
              <a:avLst/>
            </a:prstGeom>
            <a:noFill/>
            <a:ln w="3175" cap="flat" cmpd="sng" algn="ctr">
              <a:solidFill>
                <a:srgbClr val="000000"/>
              </a:solidFill>
              <a:prstDash val="solid"/>
              <a:tailEnd type="oval"/>
            </a:ln>
            <a:effectLst/>
          </p:spPr>
        </p:cxnSp>
      </p:grpSp>
      <p:sp>
        <p:nvSpPr>
          <p:cNvPr id="302" name="テキスト ボックス 301">
            <a:extLst>
              <a:ext uri="{FF2B5EF4-FFF2-40B4-BE49-F238E27FC236}">
                <a16:creationId xmlns:a16="http://schemas.microsoft.com/office/drawing/2014/main" id="{B786706A-B314-494D-9BB0-A39D3438661D}"/>
              </a:ext>
            </a:extLst>
          </p:cNvPr>
          <p:cNvSpPr txBox="1"/>
          <p:nvPr/>
        </p:nvSpPr>
        <p:spPr>
          <a:xfrm>
            <a:off x="126439" y="1658702"/>
            <a:ext cx="3894015" cy="307777"/>
          </a:xfrm>
          <a:prstGeom prst="rect">
            <a:avLst/>
          </a:prstGeom>
          <a:noFill/>
        </p:spPr>
        <p:txBody>
          <a:bodyPr wrap="none" rtlCol="0">
            <a:spAutoFit/>
          </a:bodyPr>
          <a:lstStyle/>
          <a:p>
            <a:r>
              <a:rPr kumimoji="1" lang="ja-JP" altLang="en-US" sz="1400" b="1"/>
              <a:t>ターゲット：セグメント</a:t>
            </a:r>
            <a:r>
              <a:rPr kumimoji="1" lang="en-US" altLang="ja-JP" sz="1400" b="1"/>
              <a:t>B</a:t>
            </a:r>
            <a:r>
              <a:rPr kumimoji="1" lang="ja-JP" altLang="en-US" sz="1400" b="1"/>
              <a:t>（運用開始</a:t>
            </a:r>
            <a:r>
              <a:rPr kumimoji="1" lang="en-US" altLang="ja-JP" sz="1400" b="1"/>
              <a:t>8-20</a:t>
            </a:r>
            <a:r>
              <a:rPr kumimoji="1" lang="ja-JP" altLang="en-US" sz="1400" b="1"/>
              <a:t>年）</a:t>
            </a:r>
          </a:p>
        </p:txBody>
      </p:sp>
      <p:sp>
        <p:nvSpPr>
          <p:cNvPr id="306" name="正方形/長方形 305">
            <a:extLst>
              <a:ext uri="{FF2B5EF4-FFF2-40B4-BE49-F238E27FC236}">
                <a16:creationId xmlns:a16="http://schemas.microsoft.com/office/drawing/2014/main" id="{D9476390-D5BC-4770-B302-8536EB6EEB95}"/>
              </a:ext>
            </a:extLst>
          </p:cNvPr>
          <p:cNvSpPr/>
          <p:nvPr/>
        </p:nvSpPr>
        <p:spPr>
          <a:xfrm>
            <a:off x="3400925" y="2370338"/>
            <a:ext cx="4053837" cy="3701987"/>
          </a:xfrm>
          <a:custGeom>
            <a:avLst/>
            <a:gdLst>
              <a:gd name="connsiteX0" fmla="*/ 0 w 4053837"/>
              <a:gd name="connsiteY0" fmla="*/ 0 h 3691663"/>
              <a:gd name="connsiteX1" fmla="*/ 4053837 w 4053837"/>
              <a:gd name="connsiteY1" fmla="*/ 0 h 3691663"/>
              <a:gd name="connsiteX2" fmla="*/ 4053837 w 4053837"/>
              <a:gd name="connsiteY2" fmla="*/ 3691663 h 3691663"/>
              <a:gd name="connsiteX3" fmla="*/ 0 w 4053837"/>
              <a:gd name="connsiteY3" fmla="*/ 3691663 h 3691663"/>
              <a:gd name="connsiteX4" fmla="*/ 0 w 4053837"/>
              <a:gd name="connsiteY4" fmla="*/ 0 h 3691663"/>
              <a:gd name="connsiteX0" fmla="*/ 0 w 4053837"/>
              <a:gd name="connsiteY0" fmla="*/ 2317072 h 3691663"/>
              <a:gd name="connsiteX1" fmla="*/ 4053837 w 4053837"/>
              <a:gd name="connsiteY1" fmla="*/ 0 h 3691663"/>
              <a:gd name="connsiteX2" fmla="*/ 4053837 w 4053837"/>
              <a:gd name="connsiteY2" fmla="*/ 3691663 h 3691663"/>
              <a:gd name="connsiteX3" fmla="*/ 0 w 4053837"/>
              <a:gd name="connsiteY3" fmla="*/ 3691663 h 3691663"/>
              <a:gd name="connsiteX4" fmla="*/ 0 w 4053837"/>
              <a:gd name="connsiteY4" fmla="*/ 2317072 h 3691663"/>
              <a:gd name="connsiteX0" fmla="*/ 0 w 4053837"/>
              <a:gd name="connsiteY0" fmla="*/ 2317072 h 3691663"/>
              <a:gd name="connsiteX1" fmla="*/ 1623836 w 4053837"/>
              <a:gd name="connsiteY1" fmla="*/ 1401225 h 3691663"/>
              <a:gd name="connsiteX2" fmla="*/ 4053837 w 4053837"/>
              <a:gd name="connsiteY2" fmla="*/ 0 h 3691663"/>
              <a:gd name="connsiteX3" fmla="*/ 4053837 w 4053837"/>
              <a:gd name="connsiteY3" fmla="*/ 3691663 h 3691663"/>
              <a:gd name="connsiteX4" fmla="*/ 0 w 4053837"/>
              <a:gd name="connsiteY4" fmla="*/ 3691663 h 3691663"/>
              <a:gd name="connsiteX5" fmla="*/ 0 w 4053837"/>
              <a:gd name="connsiteY5" fmla="*/ 2317072 h 3691663"/>
              <a:gd name="connsiteX0" fmla="*/ 0 w 4053837"/>
              <a:gd name="connsiteY0" fmla="*/ 2327396 h 3701987"/>
              <a:gd name="connsiteX1" fmla="*/ 1597203 w 4053837"/>
              <a:gd name="connsiteY1" fmla="*/ 0 h 3701987"/>
              <a:gd name="connsiteX2" fmla="*/ 4053837 w 4053837"/>
              <a:gd name="connsiteY2" fmla="*/ 10324 h 3701987"/>
              <a:gd name="connsiteX3" fmla="*/ 4053837 w 4053837"/>
              <a:gd name="connsiteY3" fmla="*/ 3701987 h 3701987"/>
              <a:gd name="connsiteX4" fmla="*/ 0 w 4053837"/>
              <a:gd name="connsiteY4" fmla="*/ 3701987 h 3701987"/>
              <a:gd name="connsiteX5" fmla="*/ 0 w 4053837"/>
              <a:gd name="connsiteY5" fmla="*/ 2327396 h 3701987"/>
              <a:gd name="connsiteX0" fmla="*/ 0 w 4053837"/>
              <a:gd name="connsiteY0" fmla="*/ 2327396 h 3701987"/>
              <a:gd name="connsiteX1" fmla="*/ 878112 w 4053837"/>
              <a:gd name="connsiteY1" fmla="*/ 1074198 h 3701987"/>
              <a:gd name="connsiteX2" fmla="*/ 1597203 w 4053837"/>
              <a:gd name="connsiteY2" fmla="*/ 0 h 3701987"/>
              <a:gd name="connsiteX3" fmla="*/ 4053837 w 4053837"/>
              <a:gd name="connsiteY3" fmla="*/ 10324 h 3701987"/>
              <a:gd name="connsiteX4" fmla="*/ 4053837 w 4053837"/>
              <a:gd name="connsiteY4" fmla="*/ 3701987 h 3701987"/>
              <a:gd name="connsiteX5" fmla="*/ 0 w 4053837"/>
              <a:gd name="connsiteY5" fmla="*/ 3701987 h 3701987"/>
              <a:gd name="connsiteX6" fmla="*/ 0 w 4053837"/>
              <a:gd name="connsiteY6" fmla="*/ 2327396 h 3701987"/>
              <a:gd name="connsiteX0" fmla="*/ 0 w 4053837"/>
              <a:gd name="connsiteY0" fmla="*/ 2327396 h 3701987"/>
              <a:gd name="connsiteX1" fmla="*/ 1614959 w 4053837"/>
              <a:gd name="connsiteY1" fmla="*/ 2334827 h 3701987"/>
              <a:gd name="connsiteX2" fmla="*/ 1597203 w 4053837"/>
              <a:gd name="connsiteY2" fmla="*/ 0 h 3701987"/>
              <a:gd name="connsiteX3" fmla="*/ 4053837 w 4053837"/>
              <a:gd name="connsiteY3" fmla="*/ 10324 h 3701987"/>
              <a:gd name="connsiteX4" fmla="*/ 4053837 w 4053837"/>
              <a:gd name="connsiteY4" fmla="*/ 3701987 h 3701987"/>
              <a:gd name="connsiteX5" fmla="*/ 0 w 4053837"/>
              <a:gd name="connsiteY5" fmla="*/ 3701987 h 3701987"/>
              <a:gd name="connsiteX6" fmla="*/ 0 w 4053837"/>
              <a:gd name="connsiteY6" fmla="*/ 2327396 h 3701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3837" h="3701987">
                <a:moveTo>
                  <a:pt x="0" y="2327396"/>
                </a:moveTo>
                <a:lnTo>
                  <a:pt x="1614959" y="2334827"/>
                </a:lnTo>
                <a:lnTo>
                  <a:pt x="1597203" y="0"/>
                </a:lnTo>
                <a:lnTo>
                  <a:pt x="4053837" y="10324"/>
                </a:lnTo>
                <a:lnTo>
                  <a:pt x="4053837" y="3701987"/>
                </a:lnTo>
                <a:lnTo>
                  <a:pt x="0" y="3701987"/>
                </a:lnTo>
                <a:lnTo>
                  <a:pt x="0" y="2327396"/>
                </a:lnTo>
                <a:close/>
              </a:path>
            </a:pathLst>
          </a:cu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07" name="テキスト ボックス 306">
            <a:extLst>
              <a:ext uri="{FF2B5EF4-FFF2-40B4-BE49-F238E27FC236}">
                <a16:creationId xmlns:a16="http://schemas.microsoft.com/office/drawing/2014/main" id="{0A0C35D9-EB4A-44B6-9E80-67797AFF2DE9}"/>
              </a:ext>
            </a:extLst>
          </p:cNvPr>
          <p:cNvSpPr txBox="1"/>
          <p:nvPr/>
        </p:nvSpPr>
        <p:spPr>
          <a:xfrm>
            <a:off x="4613472" y="6104147"/>
            <a:ext cx="1569660" cy="276999"/>
          </a:xfrm>
          <a:prstGeom prst="rect">
            <a:avLst/>
          </a:prstGeom>
          <a:noFill/>
        </p:spPr>
        <p:txBody>
          <a:bodyPr wrap="none" rtlCol="0">
            <a:spAutoFit/>
          </a:bodyPr>
          <a:lstStyle/>
          <a:p>
            <a:pPr algn="ctr"/>
            <a:r>
              <a:rPr kumimoji="1" lang="ja-JP" altLang="en-US" sz="1200" b="1">
                <a:solidFill>
                  <a:srgbClr val="FF0000"/>
                </a:solidFill>
              </a:rPr>
              <a:t>顧客ニーズ発生箇所</a:t>
            </a:r>
          </a:p>
        </p:txBody>
      </p:sp>
      <p:sp>
        <p:nvSpPr>
          <p:cNvPr id="308" name="テキスト ボックス 307">
            <a:extLst>
              <a:ext uri="{FF2B5EF4-FFF2-40B4-BE49-F238E27FC236}">
                <a16:creationId xmlns:a16="http://schemas.microsoft.com/office/drawing/2014/main" id="{0B8E61CD-CF48-4B27-9DE1-3FE3ACB15B7A}"/>
              </a:ext>
            </a:extLst>
          </p:cNvPr>
          <p:cNvSpPr txBox="1"/>
          <p:nvPr/>
        </p:nvSpPr>
        <p:spPr>
          <a:xfrm>
            <a:off x="2553008" y="4203601"/>
            <a:ext cx="954107" cy="646331"/>
          </a:xfrm>
          <a:prstGeom prst="rect">
            <a:avLst/>
          </a:prstGeom>
          <a:noFill/>
        </p:spPr>
        <p:txBody>
          <a:bodyPr wrap="none" rtlCol="0">
            <a:spAutoFit/>
          </a:bodyPr>
          <a:lstStyle/>
          <a:p>
            <a:pPr algn="ctr"/>
            <a:r>
              <a:rPr kumimoji="1" lang="ja-JP" altLang="en-US" sz="1200" b="1">
                <a:solidFill>
                  <a:srgbClr val="FF0000"/>
                </a:solidFill>
              </a:rPr>
              <a:t>顧客ニーズ</a:t>
            </a:r>
            <a:br>
              <a:rPr kumimoji="1" lang="en-US" altLang="ja-JP" sz="1200" b="1">
                <a:solidFill>
                  <a:srgbClr val="FF0000"/>
                </a:solidFill>
              </a:rPr>
            </a:br>
            <a:r>
              <a:rPr kumimoji="1" lang="ja-JP" altLang="en-US" sz="1200" b="1">
                <a:solidFill>
                  <a:srgbClr val="FF0000"/>
                </a:solidFill>
              </a:rPr>
              <a:t>（課題）</a:t>
            </a:r>
            <a:endParaRPr kumimoji="1" lang="en-US" altLang="ja-JP" sz="1200" b="1">
              <a:solidFill>
                <a:srgbClr val="FF0000"/>
              </a:solidFill>
            </a:endParaRPr>
          </a:p>
          <a:p>
            <a:pPr algn="ctr"/>
            <a:r>
              <a:rPr kumimoji="1" lang="ja-JP" altLang="en-US" sz="1200" b="1">
                <a:solidFill>
                  <a:srgbClr val="FF0000"/>
                </a:solidFill>
              </a:rPr>
              <a:t>の根本</a:t>
            </a:r>
          </a:p>
        </p:txBody>
      </p:sp>
      <p:cxnSp>
        <p:nvCxnSpPr>
          <p:cNvPr id="310" name="直線矢印コネクタ 309">
            <a:extLst>
              <a:ext uri="{FF2B5EF4-FFF2-40B4-BE49-F238E27FC236}">
                <a16:creationId xmlns:a16="http://schemas.microsoft.com/office/drawing/2014/main" id="{619250B9-5168-4871-A0F5-FD1DE53E82CB}"/>
              </a:ext>
            </a:extLst>
          </p:cNvPr>
          <p:cNvCxnSpPr>
            <a:cxnSpLocks/>
            <a:stCxn id="308" idx="3"/>
            <a:endCxn id="267" idx="1"/>
          </p:cNvCxnSpPr>
          <p:nvPr/>
        </p:nvCxnSpPr>
        <p:spPr>
          <a:xfrm flipV="1">
            <a:off x="3507115" y="4030318"/>
            <a:ext cx="1571189" cy="4964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F03A7EFF-A8BC-4C20-A2D0-1ABF26C79B82}"/>
              </a:ext>
            </a:extLst>
          </p:cNvPr>
          <p:cNvCxnSpPr>
            <a:cxnSpLocks/>
            <a:stCxn id="308" idx="3"/>
            <a:endCxn id="296" idx="0"/>
          </p:cNvCxnSpPr>
          <p:nvPr/>
        </p:nvCxnSpPr>
        <p:spPr>
          <a:xfrm>
            <a:off x="3507115" y="4526767"/>
            <a:ext cx="897661" cy="5821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4475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F155CA0-E888-4C24-ACA3-6C4D2A9C0BFF}"/>
              </a:ext>
            </a:extLst>
          </p:cNvPr>
          <p:cNvSpPr txBox="1">
            <a:spLocks/>
          </p:cNvSpPr>
          <p:nvPr/>
        </p:nvSpPr>
        <p:spPr>
          <a:xfrm>
            <a:off x="248235" y="135110"/>
            <a:ext cx="6390090"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t>５</a:t>
            </a:r>
            <a:r>
              <a:rPr lang="en-US" altLang="ja-JP" sz="2000"/>
              <a:t>. </a:t>
            </a:r>
            <a:r>
              <a:rPr lang="ja-JP" altLang="en-US" sz="2000"/>
              <a:t>推進アプローチについて</a:t>
            </a:r>
          </a:p>
        </p:txBody>
      </p:sp>
      <p:sp>
        <p:nvSpPr>
          <p:cNvPr id="9" name="テキスト プレースホルダー 5">
            <a:extLst>
              <a:ext uri="{FF2B5EF4-FFF2-40B4-BE49-F238E27FC236}">
                <a16:creationId xmlns:a16="http://schemas.microsoft.com/office/drawing/2014/main" id="{0CB4A7E7-2D9F-40A7-8563-B1FAC3C004FC}"/>
              </a:ext>
            </a:extLst>
          </p:cNvPr>
          <p:cNvSpPr>
            <a:spLocks noGrp="1"/>
          </p:cNvSpPr>
          <p:nvPr>
            <p:ph type="body" sz="quarter" idx="10"/>
          </p:nvPr>
        </p:nvSpPr>
        <p:spPr>
          <a:xfrm>
            <a:off x="204452" y="640409"/>
            <a:ext cx="8746594" cy="972000"/>
          </a:xfrm>
          <a:solidFill>
            <a:schemeClr val="bg2">
              <a:lumMod val="40000"/>
              <a:lumOff val="60000"/>
            </a:schemeClr>
          </a:solidFill>
        </p:spPr>
        <p:txBody>
          <a:bodyPr/>
          <a:lstStyle/>
          <a:p>
            <a:pPr>
              <a:lnSpc>
                <a:spcPct val="100000"/>
              </a:lnSpc>
              <a:spcBef>
                <a:spcPts val="0"/>
              </a:spcBef>
            </a:pPr>
            <a:r>
              <a:rPr lang="ja-JP" altLang="en-US" sz="1650" b="1">
                <a:solidFill>
                  <a:srgbClr val="000000"/>
                </a:solidFill>
                <a:latin typeface="Meiryo UI"/>
                <a:ea typeface="Meiryo UI"/>
              </a:rPr>
              <a:t>直近タスク：業務プロセス見直しの流れ（イメージ）</a:t>
            </a:r>
            <a:endParaRPr lang="en-US" altLang="ja-JP" sz="1400"/>
          </a:p>
          <a:p>
            <a:pPr marL="285750" indent="-285750">
              <a:lnSpc>
                <a:spcPct val="100000"/>
              </a:lnSpc>
              <a:spcBef>
                <a:spcPts val="0"/>
              </a:spcBef>
              <a:buFont typeface="Wingdings" panose="05000000000000000000" pitchFamily="2" charset="2"/>
              <a:buChar char="n"/>
            </a:pPr>
            <a:r>
              <a:rPr lang="ja-JP" altLang="en-US" sz="1400"/>
              <a:t>顧客業務におけるニーズ発生ポイントに対し、</a:t>
            </a:r>
            <a:r>
              <a:rPr lang="en-US" altLang="ja-JP" sz="1400"/>
              <a:t>SPMI</a:t>
            </a:r>
            <a:r>
              <a:rPr lang="ja-JP" altLang="en-US" sz="1400"/>
              <a:t>の</a:t>
            </a:r>
            <a:r>
              <a:rPr lang="en-US" altLang="ja-JP" sz="1400"/>
              <a:t>AS</a:t>
            </a:r>
            <a:r>
              <a:rPr lang="ja-JP" altLang="en-US" sz="1400"/>
              <a:t>事業としてどのような対応が可能か、</a:t>
            </a:r>
            <a:br>
              <a:rPr lang="en-US" altLang="ja-JP" sz="1400"/>
            </a:br>
            <a:r>
              <a:rPr lang="ja-JP" altLang="en-US" sz="1400"/>
              <a:t>自社の行動特性・スキル、マインド（風土・体質）を要件として捉えつつ、業務の流れを構築する。</a:t>
            </a:r>
          </a:p>
        </p:txBody>
      </p:sp>
      <p:grpSp>
        <p:nvGrpSpPr>
          <p:cNvPr id="73" name="グループ化 72">
            <a:extLst>
              <a:ext uri="{FF2B5EF4-FFF2-40B4-BE49-F238E27FC236}">
                <a16:creationId xmlns:a16="http://schemas.microsoft.com/office/drawing/2014/main" id="{41B5AFDD-2E34-473C-83AC-9D252C49580E}"/>
              </a:ext>
            </a:extLst>
          </p:cNvPr>
          <p:cNvGrpSpPr/>
          <p:nvPr/>
        </p:nvGrpSpPr>
        <p:grpSpPr>
          <a:xfrm>
            <a:off x="307389" y="1822104"/>
            <a:ext cx="8546977" cy="4485913"/>
            <a:chOff x="415387" y="1734033"/>
            <a:chExt cx="11376026" cy="4809657"/>
          </a:xfrm>
        </p:grpSpPr>
        <p:sp>
          <p:nvSpPr>
            <p:cNvPr id="74" name="ホームベース 3">
              <a:extLst>
                <a:ext uri="{FF2B5EF4-FFF2-40B4-BE49-F238E27FC236}">
                  <a16:creationId xmlns:a16="http://schemas.microsoft.com/office/drawing/2014/main" id="{7A11FF70-D854-4B2F-A3AD-22E4E2CD8A95}"/>
                </a:ext>
              </a:extLst>
            </p:cNvPr>
            <p:cNvSpPr/>
            <p:nvPr/>
          </p:nvSpPr>
          <p:spPr>
            <a:xfrm>
              <a:off x="898060" y="3340075"/>
              <a:ext cx="1089335" cy="357537"/>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企画戦略</a:t>
              </a:r>
            </a:p>
          </p:txBody>
        </p:sp>
        <p:sp>
          <p:nvSpPr>
            <p:cNvPr id="75" name="ホームベース 4">
              <a:extLst>
                <a:ext uri="{FF2B5EF4-FFF2-40B4-BE49-F238E27FC236}">
                  <a16:creationId xmlns:a16="http://schemas.microsoft.com/office/drawing/2014/main" id="{1D9B2406-578D-4644-87CA-53288A977E20}"/>
                </a:ext>
              </a:extLst>
            </p:cNvPr>
            <p:cNvSpPr/>
            <p:nvPr/>
          </p:nvSpPr>
          <p:spPr>
            <a:xfrm>
              <a:off x="1987395" y="3340075"/>
              <a:ext cx="1089335" cy="357537"/>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販売営業</a:t>
              </a:r>
            </a:p>
          </p:txBody>
        </p:sp>
        <p:sp>
          <p:nvSpPr>
            <p:cNvPr id="76" name="ホームベース 5">
              <a:extLst>
                <a:ext uri="{FF2B5EF4-FFF2-40B4-BE49-F238E27FC236}">
                  <a16:creationId xmlns:a16="http://schemas.microsoft.com/office/drawing/2014/main" id="{CA411ACF-8CA5-48AD-AB83-5C4B8D95644B}"/>
                </a:ext>
              </a:extLst>
            </p:cNvPr>
            <p:cNvSpPr/>
            <p:nvPr/>
          </p:nvSpPr>
          <p:spPr>
            <a:xfrm>
              <a:off x="3076730" y="3340075"/>
              <a:ext cx="1089335" cy="357537"/>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引合</a:t>
              </a:r>
            </a:p>
          </p:txBody>
        </p:sp>
        <p:sp>
          <p:nvSpPr>
            <p:cNvPr id="77" name="ホームベース 6">
              <a:extLst>
                <a:ext uri="{FF2B5EF4-FFF2-40B4-BE49-F238E27FC236}">
                  <a16:creationId xmlns:a16="http://schemas.microsoft.com/office/drawing/2014/main" id="{69818482-63E3-4689-80D3-2F605E204EAD}"/>
                </a:ext>
              </a:extLst>
            </p:cNvPr>
            <p:cNvSpPr/>
            <p:nvPr/>
          </p:nvSpPr>
          <p:spPr>
            <a:xfrm>
              <a:off x="4166066" y="3340075"/>
              <a:ext cx="1089335" cy="357537"/>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見積</a:t>
              </a:r>
            </a:p>
          </p:txBody>
        </p:sp>
        <p:sp>
          <p:nvSpPr>
            <p:cNvPr id="78" name="ホームベース 7">
              <a:extLst>
                <a:ext uri="{FF2B5EF4-FFF2-40B4-BE49-F238E27FC236}">
                  <a16:creationId xmlns:a16="http://schemas.microsoft.com/office/drawing/2014/main" id="{F5992256-A9DA-435F-BBDE-28B7677CACAB}"/>
                </a:ext>
              </a:extLst>
            </p:cNvPr>
            <p:cNvSpPr/>
            <p:nvPr/>
          </p:nvSpPr>
          <p:spPr>
            <a:xfrm>
              <a:off x="5255401" y="3340075"/>
              <a:ext cx="1089335" cy="357537"/>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受注契約</a:t>
              </a:r>
            </a:p>
          </p:txBody>
        </p:sp>
        <p:sp>
          <p:nvSpPr>
            <p:cNvPr id="79" name="ホームベース 8">
              <a:extLst>
                <a:ext uri="{FF2B5EF4-FFF2-40B4-BE49-F238E27FC236}">
                  <a16:creationId xmlns:a16="http://schemas.microsoft.com/office/drawing/2014/main" id="{A2C11119-A5D4-45BC-9F28-C4F16AA3B65C}"/>
                </a:ext>
              </a:extLst>
            </p:cNvPr>
            <p:cNvSpPr/>
            <p:nvPr/>
          </p:nvSpPr>
          <p:spPr>
            <a:xfrm>
              <a:off x="6344736" y="3323474"/>
              <a:ext cx="1089335" cy="199435"/>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a:ea typeface="Meiryo UI"/>
                  <a:cs typeface="+mn-cs"/>
                </a:rPr>
                <a:t>XXX</a:t>
              </a:r>
              <a:endParaRPr kumimoji="0" lang="ja-JP" altLang="en-US" sz="1000" b="0" i="0" u="none" strike="noStrike" kern="0" cap="none" spc="0" normalizeH="0" baseline="0" noProof="0">
                <a:ln>
                  <a:noFill/>
                </a:ln>
                <a:solidFill>
                  <a:srgbClr val="FFFFFF"/>
                </a:solidFill>
                <a:effectLst/>
                <a:uLnTx/>
                <a:uFillTx/>
                <a:latin typeface="Meiryo UI"/>
                <a:ea typeface="Meiryo UI"/>
                <a:cs typeface="+mn-cs"/>
              </a:endParaRPr>
            </a:p>
          </p:txBody>
        </p:sp>
        <p:sp>
          <p:nvSpPr>
            <p:cNvPr id="80" name="ホームベース 9">
              <a:extLst>
                <a:ext uri="{FF2B5EF4-FFF2-40B4-BE49-F238E27FC236}">
                  <a16:creationId xmlns:a16="http://schemas.microsoft.com/office/drawing/2014/main" id="{720EE707-1FBA-4498-BC39-436578872520}"/>
                </a:ext>
              </a:extLst>
            </p:cNvPr>
            <p:cNvSpPr/>
            <p:nvPr/>
          </p:nvSpPr>
          <p:spPr>
            <a:xfrm>
              <a:off x="7434072" y="3323474"/>
              <a:ext cx="1089335" cy="199435"/>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kumimoji="0" lang="en-US" altLang="ja-JP" sz="1000" kern="0">
                  <a:solidFill>
                    <a:srgbClr val="FFFFFF"/>
                  </a:solidFill>
                  <a:latin typeface="Meiryo UI"/>
                  <a:ea typeface="Meiryo UI"/>
                </a:rPr>
                <a:t>XXX</a:t>
              </a:r>
              <a:endParaRPr kumimoji="0" lang="ja-JP" altLang="en-US" sz="1000" kern="0">
                <a:solidFill>
                  <a:srgbClr val="FFFFFF"/>
                </a:solidFill>
                <a:latin typeface="Meiryo UI"/>
                <a:ea typeface="Meiryo UI"/>
              </a:endParaRPr>
            </a:p>
          </p:txBody>
        </p:sp>
        <p:sp>
          <p:nvSpPr>
            <p:cNvPr id="81" name="ホームベース 10">
              <a:extLst>
                <a:ext uri="{FF2B5EF4-FFF2-40B4-BE49-F238E27FC236}">
                  <a16:creationId xmlns:a16="http://schemas.microsoft.com/office/drawing/2014/main" id="{18A24480-BA94-4B14-9470-6349B0DF7282}"/>
                </a:ext>
              </a:extLst>
            </p:cNvPr>
            <p:cNvSpPr/>
            <p:nvPr/>
          </p:nvSpPr>
          <p:spPr>
            <a:xfrm>
              <a:off x="8523407" y="3323474"/>
              <a:ext cx="1089335" cy="199435"/>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kumimoji="0" lang="en-US" altLang="ja-JP" sz="1000" kern="0">
                  <a:solidFill>
                    <a:srgbClr val="FFFFFF"/>
                  </a:solidFill>
                  <a:latin typeface="Meiryo UI"/>
                  <a:ea typeface="Meiryo UI"/>
                </a:rPr>
                <a:t>XXX</a:t>
              </a:r>
              <a:endParaRPr kumimoji="0" lang="ja-JP" altLang="en-US" sz="1000" kern="0">
                <a:solidFill>
                  <a:srgbClr val="FFFFFF"/>
                </a:solidFill>
                <a:latin typeface="Meiryo UI"/>
                <a:ea typeface="Meiryo UI"/>
              </a:endParaRPr>
            </a:p>
          </p:txBody>
        </p:sp>
        <p:sp>
          <p:nvSpPr>
            <p:cNvPr id="82" name="ホームベース 11">
              <a:extLst>
                <a:ext uri="{FF2B5EF4-FFF2-40B4-BE49-F238E27FC236}">
                  <a16:creationId xmlns:a16="http://schemas.microsoft.com/office/drawing/2014/main" id="{1DC44CB1-459D-4383-95CA-7B5679EB60F4}"/>
                </a:ext>
              </a:extLst>
            </p:cNvPr>
            <p:cNvSpPr/>
            <p:nvPr/>
          </p:nvSpPr>
          <p:spPr>
            <a:xfrm>
              <a:off x="9612742" y="3323474"/>
              <a:ext cx="1089335" cy="199435"/>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kumimoji="0" lang="en-US" altLang="ja-JP" sz="1000" kern="0">
                  <a:solidFill>
                    <a:srgbClr val="FFFFFF"/>
                  </a:solidFill>
                  <a:latin typeface="Meiryo UI"/>
                  <a:ea typeface="Meiryo UI"/>
                </a:rPr>
                <a:t>XXX</a:t>
              </a:r>
              <a:endParaRPr kumimoji="0" lang="ja-JP" altLang="en-US" sz="1000" kern="0">
                <a:solidFill>
                  <a:srgbClr val="FFFFFF"/>
                </a:solidFill>
                <a:latin typeface="Meiryo UI"/>
                <a:ea typeface="Meiryo UI"/>
              </a:endParaRPr>
            </a:p>
          </p:txBody>
        </p:sp>
        <p:sp>
          <p:nvSpPr>
            <p:cNvPr id="83" name="ホームベース 12">
              <a:extLst>
                <a:ext uri="{FF2B5EF4-FFF2-40B4-BE49-F238E27FC236}">
                  <a16:creationId xmlns:a16="http://schemas.microsoft.com/office/drawing/2014/main" id="{E159E20E-2508-4589-9DBD-D17B561C16BC}"/>
                </a:ext>
              </a:extLst>
            </p:cNvPr>
            <p:cNvSpPr/>
            <p:nvPr/>
          </p:nvSpPr>
          <p:spPr>
            <a:xfrm>
              <a:off x="10702078" y="3323474"/>
              <a:ext cx="1089335" cy="199435"/>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ctr">
                <a:defRPr/>
              </a:pPr>
              <a:r>
                <a:rPr kumimoji="0" lang="en-US" altLang="ja-JP" sz="1000" kern="0">
                  <a:solidFill>
                    <a:srgbClr val="FFFFFF"/>
                  </a:solidFill>
                  <a:latin typeface="Meiryo UI"/>
                  <a:ea typeface="Meiryo UI"/>
                </a:rPr>
                <a:t>XXX</a:t>
              </a:r>
              <a:endParaRPr kumimoji="0" lang="ja-JP" altLang="en-US" sz="1000" kern="0">
                <a:solidFill>
                  <a:srgbClr val="FFFFFF"/>
                </a:solidFill>
                <a:latin typeface="Meiryo UI"/>
                <a:ea typeface="Meiryo UI"/>
              </a:endParaRPr>
            </a:p>
          </p:txBody>
        </p:sp>
        <p:sp>
          <p:nvSpPr>
            <p:cNvPr id="84" name="正方形/長方形 83">
              <a:extLst>
                <a:ext uri="{FF2B5EF4-FFF2-40B4-BE49-F238E27FC236}">
                  <a16:creationId xmlns:a16="http://schemas.microsoft.com/office/drawing/2014/main" id="{D89C3294-423A-4EE9-9AA3-448D49E495FC}"/>
                </a:ext>
              </a:extLst>
            </p:cNvPr>
            <p:cNvSpPr/>
            <p:nvPr/>
          </p:nvSpPr>
          <p:spPr>
            <a:xfrm>
              <a:off x="898060" y="3037569"/>
              <a:ext cx="5387224" cy="226605"/>
            </a:xfrm>
            <a:prstGeom prst="rect">
              <a:avLst/>
            </a:prstGeom>
            <a:solidFill>
              <a:schemeClr val="tx2">
                <a:lumMod val="40000"/>
                <a:lumOff val="60000"/>
              </a:schemeClr>
            </a:solidFill>
            <a:ln>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eiryo UI"/>
                  <a:ea typeface="Meiryo UI"/>
                  <a:cs typeface="+mn-cs"/>
                </a:rPr>
                <a:t>営業提案</a:t>
              </a:r>
            </a:p>
          </p:txBody>
        </p:sp>
        <p:sp>
          <p:nvSpPr>
            <p:cNvPr id="85" name="正方形/長方形 84">
              <a:extLst>
                <a:ext uri="{FF2B5EF4-FFF2-40B4-BE49-F238E27FC236}">
                  <a16:creationId xmlns:a16="http://schemas.microsoft.com/office/drawing/2014/main" id="{9F765B78-C5E1-409A-B4BA-F6350B68FB77}"/>
                </a:ext>
              </a:extLst>
            </p:cNvPr>
            <p:cNvSpPr/>
            <p:nvPr/>
          </p:nvSpPr>
          <p:spPr>
            <a:xfrm>
              <a:off x="6344736" y="3037568"/>
              <a:ext cx="3202823" cy="226605"/>
            </a:xfrm>
            <a:prstGeom prst="rect">
              <a:avLst/>
            </a:prstGeom>
            <a:solidFill>
              <a:schemeClr val="tx2">
                <a:lumMod val="40000"/>
                <a:lumOff val="60000"/>
              </a:schemeClr>
            </a:solidFill>
            <a:ln>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eiryo UI"/>
                  <a:ea typeface="Meiryo UI"/>
                  <a:cs typeface="+mn-cs"/>
                </a:rPr>
                <a:t>社内対応</a:t>
              </a:r>
            </a:p>
          </p:txBody>
        </p:sp>
        <p:sp>
          <p:nvSpPr>
            <p:cNvPr id="86" name="正方形/長方形 85">
              <a:extLst>
                <a:ext uri="{FF2B5EF4-FFF2-40B4-BE49-F238E27FC236}">
                  <a16:creationId xmlns:a16="http://schemas.microsoft.com/office/drawing/2014/main" id="{50318CDD-C6ED-4AD9-9FF4-30BAD8F371A8}"/>
                </a:ext>
              </a:extLst>
            </p:cNvPr>
            <p:cNvSpPr/>
            <p:nvPr/>
          </p:nvSpPr>
          <p:spPr>
            <a:xfrm>
              <a:off x="9612742" y="3037569"/>
              <a:ext cx="2178671" cy="226605"/>
            </a:xfrm>
            <a:prstGeom prst="rect">
              <a:avLst/>
            </a:prstGeom>
            <a:solidFill>
              <a:schemeClr val="tx2">
                <a:lumMod val="40000"/>
                <a:lumOff val="60000"/>
              </a:schemeClr>
            </a:solidFill>
            <a:ln>
              <a:noFill/>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eiryo UI"/>
                  <a:ea typeface="Meiryo UI"/>
                  <a:cs typeface="+mn-cs"/>
                </a:rPr>
                <a:t>現地対応</a:t>
              </a:r>
            </a:p>
          </p:txBody>
        </p:sp>
        <p:sp>
          <p:nvSpPr>
            <p:cNvPr id="87" name="正方形/長方形 86">
              <a:extLst>
                <a:ext uri="{FF2B5EF4-FFF2-40B4-BE49-F238E27FC236}">
                  <a16:creationId xmlns:a16="http://schemas.microsoft.com/office/drawing/2014/main" id="{82044A5D-7921-4F60-AC1D-69CACDBB5345}"/>
                </a:ext>
              </a:extLst>
            </p:cNvPr>
            <p:cNvSpPr/>
            <p:nvPr/>
          </p:nvSpPr>
          <p:spPr>
            <a:xfrm>
              <a:off x="415387" y="3037567"/>
              <a:ext cx="417490" cy="226605"/>
            </a:xfrm>
            <a:prstGeom prst="rect">
              <a:avLst/>
            </a:prstGeom>
            <a:solidFill>
              <a:srgbClr val="000000">
                <a:lumMod val="50000"/>
                <a:lumOff val="50000"/>
              </a:srgbClr>
            </a:solidFill>
            <a:ln w="3175" cap="flat" cmpd="sng" algn="ctr">
              <a:solidFill>
                <a:srgbClr val="FFFFFF">
                  <a:lumMod val="85000"/>
                </a:srgb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FFFFFF"/>
                  </a:solidFill>
                  <a:effectLst/>
                  <a:uLnTx/>
                  <a:uFillTx/>
                  <a:latin typeface="Meiryo UI"/>
                  <a:ea typeface="Meiryo UI"/>
                  <a:cs typeface="+mn-cs"/>
                </a:rPr>
                <a:t>フェーズ</a:t>
              </a:r>
            </a:p>
          </p:txBody>
        </p:sp>
        <p:sp>
          <p:nvSpPr>
            <p:cNvPr id="88" name="正方形/長方形 87">
              <a:extLst>
                <a:ext uri="{FF2B5EF4-FFF2-40B4-BE49-F238E27FC236}">
                  <a16:creationId xmlns:a16="http://schemas.microsoft.com/office/drawing/2014/main" id="{407EFCB7-BE33-4CA4-AFD1-65FEAAFAE4E7}"/>
                </a:ext>
              </a:extLst>
            </p:cNvPr>
            <p:cNvSpPr/>
            <p:nvPr/>
          </p:nvSpPr>
          <p:spPr>
            <a:xfrm>
              <a:off x="415387" y="3340075"/>
              <a:ext cx="417490" cy="357537"/>
            </a:xfrm>
            <a:prstGeom prst="rect">
              <a:avLst/>
            </a:prstGeom>
            <a:solidFill>
              <a:srgbClr val="000000">
                <a:lumMod val="50000"/>
                <a:lumOff val="50000"/>
              </a:srgbClr>
            </a:solidFill>
            <a:ln w="3175" cap="flat" cmpd="sng" algn="ctr">
              <a:solidFill>
                <a:srgbClr val="FFFFFF">
                  <a:lumMod val="85000"/>
                </a:srgb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FFFFFF"/>
                  </a:solidFill>
                  <a:effectLst/>
                  <a:uLnTx/>
                  <a:uFillTx/>
                  <a:latin typeface="Meiryo UI"/>
                  <a:ea typeface="Meiryo UI"/>
                  <a:cs typeface="+mn-cs"/>
                </a:rPr>
                <a:t>業務</a:t>
              </a:r>
            </a:p>
          </p:txBody>
        </p:sp>
        <p:sp>
          <p:nvSpPr>
            <p:cNvPr id="99" name="正方形/長方形 98">
              <a:extLst>
                <a:ext uri="{FF2B5EF4-FFF2-40B4-BE49-F238E27FC236}">
                  <a16:creationId xmlns:a16="http://schemas.microsoft.com/office/drawing/2014/main" id="{C6118180-193E-494B-98B8-D3CF40B01A22}"/>
                </a:ext>
              </a:extLst>
            </p:cNvPr>
            <p:cNvSpPr/>
            <p:nvPr/>
          </p:nvSpPr>
          <p:spPr>
            <a:xfrm>
              <a:off x="898059" y="3764620"/>
              <a:ext cx="1024791" cy="2779062"/>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000000"/>
                  </a:solidFill>
                  <a:effectLst/>
                  <a:uLnTx/>
                  <a:uFillTx/>
                  <a:latin typeface="Meiryo UI"/>
                  <a:ea typeface="Meiryo UI"/>
                  <a:cs typeface="+mn-cs"/>
                </a:rPr>
                <a:t>XXXX</a:t>
              </a:r>
              <a:endParaRPr kumimoji="0" lang="ja-JP" altLang="en-US" sz="800" b="0" i="0" u="none" strike="noStrike" kern="0" cap="none" spc="0" normalizeH="0" baseline="0" noProof="0">
                <a:ln>
                  <a:noFill/>
                </a:ln>
                <a:solidFill>
                  <a:srgbClr val="000000"/>
                </a:solidFill>
                <a:effectLst/>
                <a:uLnTx/>
                <a:uFillTx/>
                <a:latin typeface="Meiryo UI"/>
                <a:ea typeface="Meiryo UI"/>
                <a:cs typeface="+mn-cs"/>
              </a:endParaRPr>
            </a:p>
          </p:txBody>
        </p:sp>
        <p:sp>
          <p:nvSpPr>
            <p:cNvPr id="100" name="正方形/長方形 99">
              <a:extLst>
                <a:ext uri="{FF2B5EF4-FFF2-40B4-BE49-F238E27FC236}">
                  <a16:creationId xmlns:a16="http://schemas.microsoft.com/office/drawing/2014/main" id="{91E7F085-8893-468C-8763-2C1552D56CA6}"/>
                </a:ext>
              </a:extLst>
            </p:cNvPr>
            <p:cNvSpPr/>
            <p:nvPr/>
          </p:nvSpPr>
          <p:spPr>
            <a:xfrm>
              <a:off x="1987395" y="3764624"/>
              <a:ext cx="1024791" cy="2779062"/>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1" name="正方形/長方形 100">
              <a:extLst>
                <a:ext uri="{FF2B5EF4-FFF2-40B4-BE49-F238E27FC236}">
                  <a16:creationId xmlns:a16="http://schemas.microsoft.com/office/drawing/2014/main" id="{7AF4DBD1-16C7-4A8A-8690-B2D6DAA957E6}"/>
                </a:ext>
              </a:extLst>
            </p:cNvPr>
            <p:cNvSpPr/>
            <p:nvPr/>
          </p:nvSpPr>
          <p:spPr>
            <a:xfrm>
              <a:off x="3076729" y="3764626"/>
              <a:ext cx="1024791" cy="2779062"/>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2" name="正方形/長方形 101">
              <a:extLst>
                <a:ext uri="{FF2B5EF4-FFF2-40B4-BE49-F238E27FC236}">
                  <a16:creationId xmlns:a16="http://schemas.microsoft.com/office/drawing/2014/main" id="{70DA398E-8C14-410F-8872-82532368DE50}"/>
                </a:ext>
              </a:extLst>
            </p:cNvPr>
            <p:cNvSpPr/>
            <p:nvPr/>
          </p:nvSpPr>
          <p:spPr>
            <a:xfrm>
              <a:off x="4166066" y="3764626"/>
              <a:ext cx="1024791" cy="2779062"/>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3" name="正方形/長方形 102">
              <a:extLst>
                <a:ext uri="{FF2B5EF4-FFF2-40B4-BE49-F238E27FC236}">
                  <a16:creationId xmlns:a16="http://schemas.microsoft.com/office/drawing/2014/main" id="{F901C03B-DA49-4D1B-A9A4-3115AAD69974}"/>
                </a:ext>
              </a:extLst>
            </p:cNvPr>
            <p:cNvSpPr/>
            <p:nvPr/>
          </p:nvSpPr>
          <p:spPr>
            <a:xfrm>
              <a:off x="5255401" y="3764626"/>
              <a:ext cx="1024791" cy="2779062"/>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4" name="正方形/長方形 103">
              <a:extLst>
                <a:ext uri="{FF2B5EF4-FFF2-40B4-BE49-F238E27FC236}">
                  <a16:creationId xmlns:a16="http://schemas.microsoft.com/office/drawing/2014/main" id="{C56278CE-48F3-478F-A0AB-A934F9388AD7}"/>
                </a:ext>
              </a:extLst>
            </p:cNvPr>
            <p:cNvSpPr/>
            <p:nvPr/>
          </p:nvSpPr>
          <p:spPr>
            <a:xfrm>
              <a:off x="7434072" y="3764625"/>
              <a:ext cx="1024791" cy="1235139"/>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5" name="正方形/長方形 104">
              <a:extLst>
                <a:ext uri="{FF2B5EF4-FFF2-40B4-BE49-F238E27FC236}">
                  <a16:creationId xmlns:a16="http://schemas.microsoft.com/office/drawing/2014/main" id="{8E37FBC6-C77C-42D6-8F6E-B724A4D09C4B}"/>
                </a:ext>
              </a:extLst>
            </p:cNvPr>
            <p:cNvSpPr/>
            <p:nvPr/>
          </p:nvSpPr>
          <p:spPr>
            <a:xfrm>
              <a:off x="8523407" y="3764625"/>
              <a:ext cx="1024791" cy="1235139"/>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6" name="正方形/長方形 105">
              <a:extLst>
                <a:ext uri="{FF2B5EF4-FFF2-40B4-BE49-F238E27FC236}">
                  <a16:creationId xmlns:a16="http://schemas.microsoft.com/office/drawing/2014/main" id="{E0B1D45D-F990-44BB-89CD-C798E6ED72EE}"/>
                </a:ext>
              </a:extLst>
            </p:cNvPr>
            <p:cNvSpPr/>
            <p:nvPr/>
          </p:nvSpPr>
          <p:spPr>
            <a:xfrm>
              <a:off x="9612742" y="3764628"/>
              <a:ext cx="1024791" cy="2779062"/>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7" name="正方形/長方形 106">
              <a:extLst>
                <a:ext uri="{FF2B5EF4-FFF2-40B4-BE49-F238E27FC236}">
                  <a16:creationId xmlns:a16="http://schemas.microsoft.com/office/drawing/2014/main" id="{7E6BCA69-CE0F-4B0A-95C7-39EFD6852477}"/>
                </a:ext>
              </a:extLst>
            </p:cNvPr>
            <p:cNvSpPr/>
            <p:nvPr/>
          </p:nvSpPr>
          <p:spPr>
            <a:xfrm>
              <a:off x="10702077" y="3764626"/>
              <a:ext cx="1024791" cy="2779062"/>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08" name="正方形/長方形 107">
              <a:extLst>
                <a:ext uri="{FF2B5EF4-FFF2-40B4-BE49-F238E27FC236}">
                  <a16:creationId xmlns:a16="http://schemas.microsoft.com/office/drawing/2014/main" id="{237BEF29-1905-471B-8E13-39A99051A43E}"/>
                </a:ext>
              </a:extLst>
            </p:cNvPr>
            <p:cNvSpPr/>
            <p:nvPr/>
          </p:nvSpPr>
          <p:spPr>
            <a:xfrm>
              <a:off x="415387" y="3764622"/>
              <a:ext cx="417489" cy="2779062"/>
            </a:xfrm>
            <a:prstGeom prst="rect">
              <a:avLst/>
            </a:prstGeom>
            <a:solidFill>
              <a:srgbClr val="000000">
                <a:lumMod val="50000"/>
                <a:lumOff val="50000"/>
              </a:srgbClr>
            </a:solidFill>
            <a:ln w="3175" cap="flat" cmpd="sng" algn="ctr">
              <a:solidFill>
                <a:srgbClr val="FFFFFF">
                  <a:lumMod val="85000"/>
                </a:srgb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FFFFFF"/>
                  </a:solidFill>
                  <a:effectLst/>
                  <a:uLnTx/>
                  <a:uFillTx/>
                  <a:latin typeface="Meiryo UI"/>
                  <a:ea typeface="Meiryo UI"/>
                  <a:cs typeface="+mn-cs"/>
                </a:rPr>
                <a:t>AS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FFFFFF"/>
                  </a:solidFill>
                  <a:effectLst/>
                  <a:uLnTx/>
                  <a:uFillTx/>
                  <a:latin typeface="Meiryo UI"/>
                  <a:ea typeface="Meiryo UI"/>
                  <a:cs typeface="+mn-cs"/>
                </a:rPr>
                <a:t>案件</a:t>
              </a:r>
              <a:endParaRPr kumimoji="0" lang="en-US" altLang="ja-JP" sz="800" b="0" i="0" u="none" strike="noStrike" kern="0" cap="none" spc="0" normalizeH="0" baseline="0" noProof="0">
                <a:ln>
                  <a:noFill/>
                </a:ln>
                <a:solidFill>
                  <a:srgbClr val="FFFFFF"/>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FFFFFF"/>
                  </a:solidFill>
                  <a:effectLst/>
                  <a:uLnTx/>
                  <a:uFillTx/>
                  <a:latin typeface="Meiryo UI"/>
                  <a:ea typeface="Meiryo UI"/>
                  <a:cs typeface="+mn-cs"/>
                </a:rPr>
                <a:t>業務</a:t>
              </a:r>
            </a:p>
          </p:txBody>
        </p:sp>
        <p:sp>
          <p:nvSpPr>
            <p:cNvPr id="109" name="ホームベース 55">
              <a:extLst>
                <a:ext uri="{FF2B5EF4-FFF2-40B4-BE49-F238E27FC236}">
                  <a16:creationId xmlns:a16="http://schemas.microsoft.com/office/drawing/2014/main" id="{EFFFBCCA-A7A6-4234-8059-8520FE072C25}"/>
                </a:ext>
              </a:extLst>
            </p:cNvPr>
            <p:cNvSpPr/>
            <p:nvPr/>
          </p:nvSpPr>
          <p:spPr>
            <a:xfrm>
              <a:off x="6344096" y="3563151"/>
              <a:ext cx="5447317" cy="160487"/>
            </a:xfrm>
            <a:prstGeom prst="homePlate">
              <a:avLst>
                <a:gd name="adj" fmla="val 17500"/>
              </a:avLst>
            </a:prstGeom>
            <a:solidFill>
              <a:schemeClr val="accent1">
                <a:lumMod val="60000"/>
                <a:lumOff val="4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コスト管理</a:t>
              </a:r>
            </a:p>
          </p:txBody>
        </p:sp>
        <p:sp>
          <p:nvSpPr>
            <p:cNvPr id="110" name="正方形/長方形 109">
              <a:extLst>
                <a:ext uri="{FF2B5EF4-FFF2-40B4-BE49-F238E27FC236}">
                  <a16:creationId xmlns:a16="http://schemas.microsoft.com/office/drawing/2014/main" id="{7A8DD883-A5FF-49F3-8A6A-690F5EA45B17}"/>
                </a:ext>
              </a:extLst>
            </p:cNvPr>
            <p:cNvSpPr/>
            <p:nvPr/>
          </p:nvSpPr>
          <p:spPr>
            <a:xfrm>
              <a:off x="6338252" y="3764629"/>
              <a:ext cx="1024791" cy="1235139"/>
            </a:xfrm>
            <a:prstGeom prst="rect">
              <a:avLst/>
            </a:prstGeom>
            <a:solidFill>
              <a:srgbClr val="FFFFFF">
                <a:lumMod val="95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en-US" altLang="ja-JP" sz="800" kern="0">
                  <a:solidFill>
                    <a:srgbClr val="000000"/>
                  </a:solidFill>
                  <a:latin typeface="Meiryo UI"/>
                  <a:ea typeface="Meiryo UI"/>
                </a:rPr>
                <a:t>XXXX</a:t>
              </a:r>
              <a:endParaRPr kumimoji="0" lang="ja-JP" altLang="en-US" sz="800" kern="0">
                <a:solidFill>
                  <a:srgbClr val="000000"/>
                </a:solidFill>
                <a:latin typeface="Meiryo UI"/>
                <a:ea typeface="Meiryo UI"/>
              </a:endParaRPr>
            </a:p>
          </p:txBody>
        </p:sp>
        <p:sp>
          <p:nvSpPr>
            <p:cNvPr id="111" name="正方形/長方形 110">
              <a:extLst>
                <a:ext uri="{FF2B5EF4-FFF2-40B4-BE49-F238E27FC236}">
                  <a16:creationId xmlns:a16="http://schemas.microsoft.com/office/drawing/2014/main" id="{320A5068-3F89-45A0-BA7C-5B1FCBD50B23}"/>
                </a:ext>
              </a:extLst>
            </p:cNvPr>
            <p:cNvSpPr/>
            <p:nvPr/>
          </p:nvSpPr>
          <p:spPr>
            <a:xfrm>
              <a:off x="4683942" y="2361739"/>
              <a:ext cx="4980033" cy="172972"/>
            </a:xfrm>
            <a:prstGeom prst="rect">
              <a:avLst/>
            </a:prstGeom>
            <a:solidFill>
              <a:srgbClr val="FFFFFF"/>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保守部品在庫管理</a:t>
              </a:r>
            </a:p>
          </p:txBody>
        </p:sp>
        <p:sp>
          <p:nvSpPr>
            <p:cNvPr id="112" name="正方形/長方形 111">
              <a:extLst>
                <a:ext uri="{FF2B5EF4-FFF2-40B4-BE49-F238E27FC236}">
                  <a16:creationId xmlns:a16="http://schemas.microsoft.com/office/drawing/2014/main" id="{B6BB72B0-4C3D-4766-AB43-BBF63BFC57CD}"/>
                </a:ext>
              </a:extLst>
            </p:cNvPr>
            <p:cNvSpPr/>
            <p:nvPr/>
          </p:nvSpPr>
          <p:spPr>
            <a:xfrm>
              <a:off x="1743382" y="1740063"/>
              <a:ext cx="2875352" cy="224728"/>
            </a:xfrm>
            <a:prstGeom prst="rect">
              <a:avLst/>
            </a:prstGeom>
            <a:solidFill>
              <a:srgbClr val="FFFFFF"/>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保全計画策定</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113" name="正方形/長方形 112">
              <a:extLst>
                <a:ext uri="{FF2B5EF4-FFF2-40B4-BE49-F238E27FC236}">
                  <a16:creationId xmlns:a16="http://schemas.microsoft.com/office/drawing/2014/main" id="{F3FC4685-F19A-472B-ABE9-AC7AA2932F77}"/>
                </a:ext>
              </a:extLst>
            </p:cNvPr>
            <p:cNvSpPr/>
            <p:nvPr/>
          </p:nvSpPr>
          <p:spPr>
            <a:xfrm>
              <a:off x="6729338" y="1747651"/>
              <a:ext cx="1012639" cy="566308"/>
            </a:xfrm>
            <a:prstGeom prst="rect">
              <a:avLst/>
            </a:prstGeom>
            <a:solidFill>
              <a:schemeClr val="accent3">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保全作業</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実施</a:t>
              </a:r>
            </a:p>
          </p:txBody>
        </p:sp>
        <p:sp>
          <p:nvSpPr>
            <p:cNvPr id="114" name="正方形/長方形 113">
              <a:extLst>
                <a:ext uri="{FF2B5EF4-FFF2-40B4-BE49-F238E27FC236}">
                  <a16:creationId xmlns:a16="http://schemas.microsoft.com/office/drawing/2014/main" id="{25744D79-CEC5-4F9D-88A7-3089CF587A33}"/>
                </a:ext>
              </a:extLst>
            </p:cNvPr>
            <p:cNvSpPr/>
            <p:nvPr/>
          </p:nvSpPr>
          <p:spPr>
            <a:xfrm>
              <a:off x="7802245" y="1740523"/>
              <a:ext cx="915361" cy="582657"/>
            </a:xfrm>
            <a:prstGeom prst="rect">
              <a:avLst/>
            </a:prstGeom>
            <a:solidFill>
              <a:schemeClr val="accent3">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故障・不具合対応</a:t>
              </a:r>
            </a:p>
          </p:txBody>
        </p:sp>
        <p:sp>
          <p:nvSpPr>
            <p:cNvPr id="115" name="正方形/長方形 114">
              <a:extLst>
                <a:ext uri="{FF2B5EF4-FFF2-40B4-BE49-F238E27FC236}">
                  <a16:creationId xmlns:a16="http://schemas.microsoft.com/office/drawing/2014/main" id="{1DAF52B2-FFCF-4A78-A5E5-2D3BFF9FACF5}"/>
                </a:ext>
              </a:extLst>
            </p:cNvPr>
            <p:cNvSpPr/>
            <p:nvPr/>
          </p:nvSpPr>
          <p:spPr>
            <a:xfrm>
              <a:off x="8766285" y="1747652"/>
              <a:ext cx="891877" cy="566308"/>
            </a:xfrm>
            <a:prstGeom prst="rect">
              <a:avLst/>
            </a:prstGeom>
            <a:solidFill>
              <a:schemeClr val="accent3">
                <a:lumMod val="20000"/>
                <a:lumOff val="80000"/>
              </a:schemeClr>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作業履歴</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運用評価</a:t>
              </a:r>
            </a:p>
          </p:txBody>
        </p:sp>
        <p:sp>
          <p:nvSpPr>
            <p:cNvPr id="116" name="正方形/長方形 115">
              <a:extLst>
                <a:ext uri="{FF2B5EF4-FFF2-40B4-BE49-F238E27FC236}">
                  <a16:creationId xmlns:a16="http://schemas.microsoft.com/office/drawing/2014/main" id="{BBE6B38C-7688-4C6A-9DBD-A14FEB8F86D3}"/>
                </a:ext>
              </a:extLst>
            </p:cNvPr>
            <p:cNvSpPr/>
            <p:nvPr/>
          </p:nvSpPr>
          <p:spPr>
            <a:xfrm>
              <a:off x="4675318" y="1740064"/>
              <a:ext cx="1990863" cy="224728"/>
            </a:xfrm>
            <a:prstGeom prst="rect">
              <a:avLst/>
            </a:prstGeom>
            <a:solidFill>
              <a:srgbClr val="FFFFFF"/>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設備維持・運営</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（製造活動との調整や収支管理）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117" name="正方形/長方形 116">
              <a:extLst>
                <a:ext uri="{FF2B5EF4-FFF2-40B4-BE49-F238E27FC236}">
                  <a16:creationId xmlns:a16="http://schemas.microsoft.com/office/drawing/2014/main" id="{65B3E5AB-F5FC-4565-8E91-2DF274999E1E}"/>
                </a:ext>
              </a:extLst>
            </p:cNvPr>
            <p:cNvSpPr/>
            <p:nvPr/>
          </p:nvSpPr>
          <p:spPr>
            <a:xfrm>
              <a:off x="4682689" y="1996614"/>
              <a:ext cx="1990863" cy="317346"/>
            </a:xfrm>
            <a:prstGeom prst="rect">
              <a:avLst/>
            </a:prstGeom>
            <a:solidFill>
              <a:srgbClr val="FFFFFF"/>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監視</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118" name="正方形/長方形 117">
              <a:extLst>
                <a:ext uri="{FF2B5EF4-FFF2-40B4-BE49-F238E27FC236}">
                  <a16:creationId xmlns:a16="http://schemas.microsoft.com/office/drawing/2014/main" id="{198677B3-AC4B-4559-B967-F20DBFD8E1DA}"/>
                </a:ext>
              </a:extLst>
            </p:cNvPr>
            <p:cNvSpPr/>
            <p:nvPr/>
          </p:nvSpPr>
          <p:spPr>
            <a:xfrm>
              <a:off x="1743381" y="2368669"/>
              <a:ext cx="2868779" cy="174519"/>
            </a:xfrm>
            <a:prstGeom prst="rect">
              <a:avLst/>
            </a:prstGeom>
            <a:solidFill>
              <a:srgbClr val="FFFFFF"/>
            </a:solid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発電計画策定</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119" name="グループ化 118">
              <a:extLst>
                <a:ext uri="{FF2B5EF4-FFF2-40B4-BE49-F238E27FC236}">
                  <a16:creationId xmlns:a16="http://schemas.microsoft.com/office/drawing/2014/main" id="{E8DF223F-5B11-46FC-9D10-2E6A66B7E288}"/>
                </a:ext>
              </a:extLst>
            </p:cNvPr>
            <p:cNvGrpSpPr/>
            <p:nvPr/>
          </p:nvGrpSpPr>
          <p:grpSpPr>
            <a:xfrm>
              <a:off x="9714742" y="1740524"/>
              <a:ext cx="2059837" cy="802665"/>
              <a:chOff x="9455104" y="1689484"/>
              <a:chExt cx="1907635" cy="912487"/>
            </a:xfrm>
            <a:solidFill>
              <a:srgbClr val="FFFFFF"/>
            </a:solidFill>
          </p:grpSpPr>
          <p:sp>
            <p:nvSpPr>
              <p:cNvPr id="131" name="正方形/長方形 130">
                <a:extLst>
                  <a:ext uri="{FF2B5EF4-FFF2-40B4-BE49-F238E27FC236}">
                    <a16:creationId xmlns:a16="http://schemas.microsoft.com/office/drawing/2014/main" id="{E13534F0-32FC-4DC9-B2A8-22F7698B033B}"/>
                  </a:ext>
                </a:extLst>
              </p:cNvPr>
              <p:cNvSpPr/>
              <p:nvPr/>
            </p:nvSpPr>
            <p:spPr>
              <a:xfrm>
                <a:off x="9455104" y="1697921"/>
                <a:ext cx="592344" cy="894412"/>
              </a:xfrm>
              <a:prstGeom prst="rect">
                <a:avLst/>
              </a:prstGeom>
              <a:grp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社会情勢・</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トレンド調査</a:t>
                </a:r>
              </a:p>
            </p:txBody>
          </p:sp>
          <p:sp>
            <p:nvSpPr>
              <p:cNvPr id="132" name="正方形/長方形 131">
                <a:extLst>
                  <a:ext uri="{FF2B5EF4-FFF2-40B4-BE49-F238E27FC236}">
                    <a16:creationId xmlns:a16="http://schemas.microsoft.com/office/drawing/2014/main" id="{EA136E50-8FF7-4166-B8A0-B5EE81925640}"/>
                  </a:ext>
                </a:extLst>
              </p:cNvPr>
              <p:cNvSpPr/>
              <p:nvPr/>
            </p:nvSpPr>
            <p:spPr>
              <a:xfrm>
                <a:off x="10116116" y="1689484"/>
                <a:ext cx="592344" cy="902850"/>
              </a:xfrm>
              <a:prstGeom prst="rect">
                <a:avLst/>
              </a:prstGeom>
              <a:grp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更改要件</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検討</a:t>
                </a:r>
              </a:p>
            </p:txBody>
          </p:sp>
          <p:sp>
            <p:nvSpPr>
              <p:cNvPr id="133" name="正方形/長方形 132">
                <a:extLst>
                  <a:ext uri="{FF2B5EF4-FFF2-40B4-BE49-F238E27FC236}">
                    <a16:creationId xmlns:a16="http://schemas.microsoft.com/office/drawing/2014/main" id="{00174128-CDF8-427D-822D-A37FEA19125E}"/>
                  </a:ext>
                </a:extLst>
              </p:cNvPr>
              <p:cNvSpPr/>
              <p:nvPr/>
            </p:nvSpPr>
            <p:spPr>
              <a:xfrm>
                <a:off x="10770395" y="1689484"/>
                <a:ext cx="592344" cy="912487"/>
              </a:xfrm>
              <a:prstGeom prst="rect">
                <a:avLst/>
              </a:prstGeom>
              <a:grp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更改計画</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策定</a:t>
                </a:r>
              </a:p>
            </p:txBody>
          </p:sp>
        </p:grpSp>
        <p:grpSp>
          <p:nvGrpSpPr>
            <p:cNvPr id="120" name="グループ化 119">
              <a:extLst>
                <a:ext uri="{FF2B5EF4-FFF2-40B4-BE49-F238E27FC236}">
                  <a16:creationId xmlns:a16="http://schemas.microsoft.com/office/drawing/2014/main" id="{58482FDC-2C49-44DA-8961-AF05DB5766F4}"/>
                </a:ext>
              </a:extLst>
            </p:cNvPr>
            <p:cNvGrpSpPr/>
            <p:nvPr/>
          </p:nvGrpSpPr>
          <p:grpSpPr>
            <a:xfrm>
              <a:off x="1743382" y="1996613"/>
              <a:ext cx="2868779" cy="326566"/>
              <a:chOff x="1483744" y="1980612"/>
              <a:chExt cx="2868779" cy="371248"/>
            </a:xfrm>
            <a:solidFill>
              <a:srgbClr val="FFFFFF"/>
            </a:solidFill>
          </p:grpSpPr>
          <p:sp>
            <p:nvSpPr>
              <p:cNvPr id="128" name="正方形/長方形 127">
                <a:extLst>
                  <a:ext uri="{FF2B5EF4-FFF2-40B4-BE49-F238E27FC236}">
                    <a16:creationId xmlns:a16="http://schemas.microsoft.com/office/drawing/2014/main" id="{36259CE6-A365-4CC6-99A5-08FADBAA313E}"/>
                  </a:ext>
                </a:extLst>
              </p:cNvPr>
              <p:cNvSpPr/>
              <p:nvPr/>
            </p:nvSpPr>
            <p:spPr>
              <a:xfrm>
                <a:off x="1483744" y="1980612"/>
                <a:ext cx="936722" cy="371248"/>
              </a:xfrm>
              <a:prstGeom prst="rect">
                <a:avLst/>
              </a:prstGeom>
              <a:grp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大日程表</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129" name="正方形/長方形 128">
                <a:extLst>
                  <a:ext uri="{FF2B5EF4-FFF2-40B4-BE49-F238E27FC236}">
                    <a16:creationId xmlns:a16="http://schemas.microsoft.com/office/drawing/2014/main" id="{869CF30F-505C-41F7-AE19-893F7C8FB361}"/>
                  </a:ext>
                </a:extLst>
              </p:cNvPr>
              <p:cNvSpPr/>
              <p:nvPr/>
            </p:nvSpPr>
            <p:spPr>
              <a:xfrm>
                <a:off x="2487922" y="1980612"/>
                <a:ext cx="930045" cy="371248"/>
              </a:xfrm>
              <a:prstGeom prst="rect">
                <a:avLst/>
              </a:prstGeom>
              <a:grp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中日程表</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130" name="正方形/長方形 129">
                <a:extLst>
                  <a:ext uri="{FF2B5EF4-FFF2-40B4-BE49-F238E27FC236}">
                    <a16:creationId xmlns:a16="http://schemas.microsoft.com/office/drawing/2014/main" id="{8B8E5BA0-FD1E-44D2-A6CB-927B798B8F50}"/>
                  </a:ext>
                </a:extLst>
              </p:cNvPr>
              <p:cNvSpPr/>
              <p:nvPr/>
            </p:nvSpPr>
            <p:spPr>
              <a:xfrm>
                <a:off x="3478287" y="1980612"/>
                <a:ext cx="874236" cy="371248"/>
              </a:xfrm>
              <a:prstGeom prst="rect">
                <a:avLst/>
              </a:prstGeom>
              <a:grpFill/>
              <a:ln w="3175" cap="flat" cmpd="sng" algn="ctr">
                <a:solidFill>
                  <a:srgbClr val="FFFFFF">
                    <a:lumMod val="75000"/>
                  </a:srgb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小日程表</a:t>
                </a:r>
                <a:endParaRPr kumimoji="0" lang="en-US" altLang="ja-JP" sz="700" b="0" i="0" u="none" strike="noStrike" kern="0" cap="none" spc="0" normalizeH="0" baseline="0" noProof="0">
                  <a:ln>
                    <a:noFill/>
                  </a:ln>
                  <a:solidFill>
                    <a:srgbClr val="000000"/>
                  </a:solidFill>
                  <a:effectLst/>
                  <a:uLnTx/>
                  <a:uFillTx/>
                  <a:latin typeface="Meiryo UI"/>
                  <a:ea typeface="Meiryo UI"/>
                  <a:cs typeface="+mn-cs"/>
                </a:endParaRPr>
              </a:p>
            </p:txBody>
          </p:sp>
        </p:grpSp>
        <p:sp>
          <p:nvSpPr>
            <p:cNvPr id="121" name="正方形/長方形 120">
              <a:extLst>
                <a:ext uri="{FF2B5EF4-FFF2-40B4-BE49-F238E27FC236}">
                  <a16:creationId xmlns:a16="http://schemas.microsoft.com/office/drawing/2014/main" id="{04B049E2-12FB-49AF-BB6E-F166FB6ED912}"/>
                </a:ext>
              </a:extLst>
            </p:cNvPr>
            <p:cNvSpPr/>
            <p:nvPr/>
          </p:nvSpPr>
          <p:spPr>
            <a:xfrm>
              <a:off x="419402" y="1734033"/>
              <a:ext cx="1282079" cy="809156"/>
            </a:xfrm>
            <a:prstGeom prst="rect">
              <a:avLst/>
            </a:prstGeom>
            <a:solidFill>
              <a:srgbClr val="000000">
                <a:lumMod val="50000"/>
                <a:lumOff val="50000"/>
              </a:srgbClr>
            </a:solidFill>
            <a:ln w="3175" cap="flat" cmpd="sng" algn="ctr">
              <a:solidFill>
                <a:srgbClr val="FFFFFF">
                  <a:lumMod val="85000"/>
                </a:srgb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顧客の運転</a:t>
              </a:r>
              <a:endParaRPr kumimoji="0" lang="en-US" altLang="ja-JP" sz="1000" b="0" i="0" u="none" strike="noStrike" kern="0" cap="none" spc="0" normalizeH="0" baseline="0" noProof="0">
                <a:ln>
                  <a:noFill/>
                </a:ln>
                <a:solidFill>
                  <a:srgbClr val="FFFFFF"/>
                </a:solidFill>
                <a:effectLst/>
                <a:uLnTx/>
                <a:uFillTx/>
                <a:latin typeface="Meiryo UI"/>
                <a:ea typeface="Meiryo UI"/>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FFFFFF"/>
                  </a:solidFill>
                  <a:effectLst/>
                  <a:uLnTx/>
                  <a:uFillTx/>
                  <a:latin typeface="Meiryo UI"/>
                  <a:ea typeface="Meiryo UI"/>
                  <a:cs typeface="+mn-cs"/>
                </a:rPr>
                <a:t>行動</a:t>
              </a:r>
            </a:p>
          </p:txBody>
        </p:sp>
        <p:sp>
          <p:nvSpPr>
            <p:cNvPr id="122" name="角丸四角形 53">
              <a:extLst>
                <a:ext uri="{FF2B5EF4-FFF2-40B4-BE49-F238E27FC236}">
                  <a16:creationId xmlns:a16="http://schemas.microsoft.com/office/drawing/2014/main" id="{31F4950D-3D4A-4908-914F-2D397B91A3D3}"/>
                </a:ext>
              </a:extLst>
            </p:cNvPr>
            <p:cNvSpPr/>
            <p:nvPr/>
          </p:nvSpPr>
          <p:spPr>
            <a:xfrm>
              <a:off x="649332" y="2673578"/>
              <a:ext cx="10931277" cy="288846"/>
            </a:xfrm>
            <a:prstGeom prst="roundRect">
              <a:avLst>
                <a:gd name="adj" fmla="val 50000"/>
              </a:avLst>
            </a:prstGeom>
            <a:solidFill>
              <a:srgbClr val="BC4328">
                <a:lumMod val="20000"/>
                <a:lumOff val="80000"/>
              </a:srgb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Arial"/>
                  <a:ea typeface="Meiryo UI"/>
                  <a:cs typeface="+mn-cs"/>
                </a:rPr>
                <a:t>顧客との接点で求められる「価値」に基づきサービス事業を運用するうえで、備えておく</a:t>
              </a:r>
              <a:r>
                <a:rPr kumimoji="0" lang="ja-JP" altLang="en-US" sz="1000" b="1" i="0" u="none" strike="noStrike" kern="0" cap="none" spc="0" normalizeH="0" baseline="0" noProof="0">
                  <a:ln>
                    <a:noFill/>
                  </a:ln>
                  <a:solidFill>
                    <a:srgbClr val="000000"/>
                  </a:solidFill>
                  <a:effectLst/>
                  <a:uLnTx/>
                  <a:uFillTx/>
                  <a:latin typeface="Arial"/>
                  <a:ea typeface="Meiryo UI"/>
                  <a:cs typeface="+mn-cs"/>
                </a:rPr>
                <a:t>べき業務、スキル、マインド（風土・体質）などの要件を導出</a:t>
              </a:r>
            </a:p>
          </p:txBody>
        </p:sp>
        <p:sp>
          <p:nvSpPr>
            <p:cNvPr id="123" name="矢印: 下 122">
              <a:extLst>
                <a:ext uri="{FF2B5EF4-FFF2-40B4-BE49-F238E27FC236}">
                  <a16:creationId xmlns:a16="http://schemas.microsoft.com/office/drawing/2014/main" id="{621FB5D9-10DA-490D-84C1-345C70A52F47}"/>
                </a:ext>
              </a:extLst>
            </p:cNvPr>
            <p:cNvSpPr/>
            <p:nvPr/>
          </p:nvSpPr>
          <p:spPr>
            <a:xfrm>
              <a:off x="1987395" y="2534711"/>
              <a:ext cx="330689" cy="192346"/>
            </a:xfrm>
            <a:prstGeom prst="downArrow">
              <a:avLst/>
            </a:prstGeom>
            <a:solidFill>
              <a:srgbClr val="070F26">
                <a:lumMod val="10000"/>
                <a:lumOff val="90000"/>
              </a:srgbClr>
            </a:solidFill>
            <a:ln w="3175" cap="flat" cmpd="sng" algn="ctr">
              <a:solidFill>
                <a:srgbClr val="00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err="1">
                <a:ln>
                  <a:noFill/>
                </a:ln>
                <a:solidFill>
                  <a:srgbClr val="000000"/>
                </a:solidFill>
                <a:effectLst/>
                <a:uLnTx/>
                <a:uFillTx/>
                <a:latin typeface="Arial"/>
                <a:ea typeface="Meiryo UI"/>
                <a:cs typeface="+mn-cs"/>
              </a:endParaRPr>
            </a:p>
          </p:txBody>
        </p:sp>
        <p:sp>
          <p:nvSpPr>
            <p:cNvPr id="124" name="矢印: 下 123">
              <a:extLst>
                <a:ext uri="{FF2B5EF4-FFF2-40B4-BE49-F238E27FC236}">
                  <a16:creationId xmlns:a16="http://schemas.microsoft.com/office/drawing/2014/main" id="{32320E00-63A0-46F0-89AE-1ECE3C83D78C}"/>
                </a:ext>
              </a:extLst>
            </p:cNvPr>
            <p:cNvSpPr/>
            <p:nvPr/>
          </p:nvSpPr>
          <p:spPr>
            <a:xfrm>
              <a:off x="3299777" y="2534711"/>
              <a:ext cx="330689" cy="192346"/>
            </a:xfrm>
            <a:prstGeom prst="downArrow">
              <a:avLst/>
            </a:prstGeom>
            <a:solidFill>
              <a:srgbClr val="070F26">
                <a:lumMod val="10000"/>
                <a:lumOff val="90000"/>
              </a:srgbClr>
            </a:solidFill>
            <a:ln w="3175" cap="flat" cmpd="sng" algn="ctr">
              <a:solidFill>
                <a:srgbClr val="00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err="1">
                <a:ln>
                  <a:noFill/>
                </a:ln>
                <a:solidFill>
                  <a:srgbClr val="000000"/>
                </a:solidFill>
                <a:effectLst/>
                <a:uLnTx/>
                <a:uFillTx/>
                <a:latin typeface="Arial"/>
                <a:ea typeface="Meiryo UI"/>
                <a:cs typeface="+mn-cs"/>
              </a:endParaRPr>
            </a:p>
          </p:txBody>
        </p:sp>
        <p:sp>
          <p:nvSpPr>
            <p:cNvPr id="125" name="矢印: 下 124">
              <a:extLst>
                <a:ext uri="{FF2B5EF4-FFF2-40B4-BE49-F238E27FC236}">
                  <a16:creationId xmlns:a16="http://schemas.microsoft.com/office/drawing/2014/main" id="{C23E1F64-A91F-439C-A1D4-43F4DA30A048}"/>
                </a:ext>
              </a:extLst>
            </p:cNvPr>
            <p:cNvSpPr/>
            <p:nvPr/>
          </p:nvSpPr>
          <p:spPr>
            <a:xfrm>
              <a:off x="5300545" y="2534711"/>
              <a:ext cx="330689" cy="192346"/>
            </a:xfrm>
            <a:prstGeom prst="downArrow">
              <a:avLst/>
            </a:prstGeom>
            <a:solidFill>
              <a:srgbClr val="070F26">
                <a:lumMod val="10000"/>
                <a:lumOff val="90000"/>
              </a:srgbClr>
            </a:solidFill>
            <a:ln w="3175" cap="flat" cmpd="sng" algn="ctr">
              <a:solidFill>
                <a:srgbClr val="00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err="1">
                <a:ln>
                  <a:noFill/>
                </a:ln>
                <a:solidFill>
                  <a:srgbClr val="000000"/>
                </a:solidFill>
                <a:effectLst/>
                <a:uLnTx/>
                <a:uFillTx/>
                <a:latin typeface="Arial"/>
                <a:ea typeface="Meiryo UI"/>
                <a:cs typeface="+mn-cs"/>
              </a:endParaRPr>
            </a:p>
          </p:txBody>
        </p:sp>
        <p:sp>
          <p:nvSpPr>
            <p:cNvPr id="126" name="矢印: 下 125">
              <a:extLst>
                <a:ext uri="{FF2B5EF4-FFF2-40B4-BE49-F238E27FC236}">
                  <a16:creationId xmlns:a16="http://schemas.microsoft.com/office/drawing/2014/main" id="{677F8128-A82D-4F7A-9263-02A5A716D31F}"/>
                </a:ext>
              </a:extLst>
            </p:cNvPr>
            <p:cNvSpPr/>
            <p:nvPr/>
          </p:nvSpPr>
          <p:spPr>
            <a:xfrm>
              <a:off x="7268727" y="2511995"/>
              <a:ext cx="330689" cy="192346"/>
            </a:xfrm>
            <a:prstGeom prst="downArrow">
              <a:avLst/>
            </a:prstGeom>
            <a:solidFill>
              <a:srgbClr val="070F26">
                <a:lumMod val="10000"/>
                <a:lumOff val="90000"/>
              </a:srgbClr>
            </a:solidFill>
            <a:ln w="3175" cap="flat" cmpd="sng" algn="ctr">
              <a:solidFill>
                <a:srgbClr val="00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err="1">
                <a:ln>
                  <a:noFill/>
                </a:ln>
                <a:solidFill>
                  <a:srgbClr val="000000"/>
                </a:solidFill>
                <a:effectLst/>
                <a:uLnTx/>
                <a:uFillTx/>
                <a:latin typeface="Arial"/>
                <a:ea typeface="Meiryo UI"/>
                <a:cs typeface="+mn-cs"/>
              </a:endParaRPr>
            </a:p>
          </p:txBody>
        </p:sp>
        <p:sp>
          <p:nvSpPr>
            <p:cNvPr id="127" name="矢印: 下 126">
              <a:extLst>
                <a:ext uri="{FF2B5EF4-FFF2-40B4-BE49-F238E27FC236}">
                  <a16:creationId xmlns:a16="http://schemas.microsoft.com/office/drawing/2014/main" id="{B5EF77DD-F8C6-4014-8DB3-9CF49F496064}"/>
                </a:ext>
              </a:extLst>
            </p:cNvPr>
            <p:cNvSpPr/>
            <p:nvPr/>
          </p:nvSpPr>
          <p:spPr>
            <a:xfrm>
              <a:off x="9572776" y="2519364"/>
              <a:ext cx="330689" cy="192346"/>
            </a:xfrm>
            <a:prstGeom prst="downArrow">
              <a:avLst/>
            </a:prstGeom>
            <a:solidFill>
              <a:srgbClr val="070F26">
                <a:lumMod val="10000"/>
                <a:lumOff val="90000"/>
              </a:srgbClr>
            </a:solidFill>
            <a:ln w="3175" cap="flat" cmpd="sng" algn="ctr">
              <a:solidFill>
                <a:srgbClr val="00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err="1">
                <a:ln>
                  <a:noFill/>
                </a:ln>
                <a:solidFill>
                  <a:srgbClr val="000000"/>
                </a:solidFill>
                <a:effectLst/>
                <a:uLnTx/>
                <a:uFillTx/>
                <a:latin typeface="Arial"/>
                <a:ea typeface="Meiryo UI"/>
                <a:cs typeface="+mn-cs"/>
              </a:endParaRPr>
            </a:p>
          </p:txBody>
        </p:sp>
        <p:sp>
          <p:nvSpPr>
            <p:cNvPr id="134" name="正方形/長方形 133">
              <a:extLst>
                <a:ext uri="{FF2B5EF4-FFF2-40B4-BE49-F238E27FC236}">
                  <a16:creationId xmlns:a16="http://schemas.microsoft.com/office/drawing/2014/main" id="{A9D6EDCC-2571-41F6-BA32-5B1B702F7B40}"/>
                </a:ext>
              </a:extLst>
            </p:cNvPr>
            <p:cNvSpPr/>
            <p:nvPr/>
          </p:nvSpPr>
          <p:spPr>
            <a:xfrm>
              <a:off x="7433432" y="5308549"/>
              <a:ext cx="1024791" cy="1235139"/>
            </a:xfrm>
            <a:prstGeom prst="rect">
              <a:avLst/>
            </a:prstGeom>
            <a:solidFill>
              <a:schemeClr val="accent3">
                <a:lumMod val="20000"/>
                <a:lumOff val="8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ja-JP" altLang="en-US" sz="800" kern="0">
                  <a:solidFill>
                    <a:srgbClr val="FF0000"/>
                  </a:solidFill>
                  <a:latin typeface="Meiryo UI"/>
                  <a:ea typeface="Meiryo UI"/>
                </a:rPr>
                <a:t>重点的</a:t>
              </a:r>
              <a:br>
                <a:rPr kumimoji="0" lang="en-US" altLang="ja-JP" sz="800" kern="0">
                  <a:solidFill>
                    <a:srgbClr val="FF0000"/>
                  </a:solidFill>
                  <a:latin typeface="Meiryo UI"/>
                  <a:ea typeface="Meiryo UI"/>
                </a:rPr>
              </a:br>
              <a:r>
                <a:rPr kumimoji="0" lang="ja-JP" altLang="en-US" sz="800" kern="0">
                  <a:solidFill>
                    <a:srgbClr val="FF0000"/>
                  </a:solidFill>
                  <a:latin typeface="Meiryo UI"/>
                  <a:ea typeface="Meiryo UI"/>
                </a:rPr>
                <a:t>業務変革要件</a:t>
              </a:r>
              <a:endParaRPr kumimoji="0" lang="en-US" altLang="ja-JP" sz="800" kern="0">
                <a:solidFill>
                  <a:srgbClr val="FF0000"/>
                </a:solidFill>
                <a:latin typeface="Meiryo UI"/>
                <a:ea typeface="Meiryo UI"/>
              </a:endParaRPr>
            </a:p>
            <a:p>
              <a:pPr lvl="0">
                <a:defRPr/>
              </a:pPr>
              <a:r>
                <a:rPr kumimoji="0" lang="en-US" altLang="ja-JP" sz="800" kern="0">
                  <a:solidFill>
                    <a:srgbClr val="FF0000"/>
                  </a:solidFill>
                  <a:latin typeface="Meiryo UI"/>
                  <a:ea typeface="Meiryo UI"/>
                </a:rPr>
                <a:t>XXX</a:t>
              </a:r>
            </a:p>
          </p:txBody>
        </p:sp>
        <p:sp>
          <p:nvSpPr>
            <p:cNvPr id="135" name="正方形/長方形 134">
              <a:extLst>
                <a:ext uri="{FF2B5EF4-FFF2-40B4-BE49-F238E27FC236}">
                  <a16:creationId xmlns:a16="http://schemas.microsoft.com/office/drawing/2014/main" id="{626BC796-7E10-448A-A091-99696D89B3F7}"/>
                </a:ext>
              </a:extLst>
            </p:cNvPr>
            <p:cNvSpPr/>
            <p:nvPr/>
          </p:nvSpPr>
          <p:spPr>
            <a:xfrm>
              <a:off x="8522767" y="5308549"/>
              <a:ext cx="1024791" cy="1235139"/>
            </a:xfrm>
            <a:prstGeom prst="rect">
              <a:avLst/>
            </a:prstGeom>
            <a:solidFill>
              <a:schemeClr val="accent3">
                <a:lumMod val="20000"/>
                <a:lumOff val="8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ja-JP" altLang="en-US" sz="800" kern="0">
                  <a:solidFill>
                    <a:srgbClr val="FF0000"/>
                  </a:solidFill>
                  <a:latin typeface="Meiryo UI"/>
                  <a:ea typeface="Meiryo UI"/>
                </a:rPr>
                <a:t>重点的</a:t>
              </a:r>
              <a:br>
                <a:rPr kumimoji="0" lang="en-US" altLang="ja-JP" sz="800" kern="0">
                  <a:solidFill>
                    <a:srgbClr val="FF0000"/>
                  </a:solidFill>
                  <a:latin typeface="Meiryo UI"/>
                  <a:ea typeface="Meiryo UI"/>
                </a:rPr>
              </a:br>
              <a:r>
                <a:rPr kumimoji="0" lang="ja-JP" altLang="en-US" sz="800" kern="0">
                  <a:solidFill>
                    <a:srgbClr val="FF0000"/>
                  </a:solidFill>
                  <a:latin typeface="Meiryo UI"/>
                  <a:ea typeface="Meiryo UI"/>
                </a:rPr>
                <a:t>業務変革要件</a:t>
              </a:r>
              <a:endParaRPr kumimoji="0" lang="en-US" altLang="ja-JP" sz="800" kern="0">
                <a:solidFill>
                  <a:srgbClr val="FF0000"/>
                </a:solidFill>
                <a:latin typeface="Meiryo UI"/>
                <a:ea typeface="Meiryo UI"/>
              </a:endParaRPr>
            </a:p>
            <a:p>
              <a:pPr lvl="0">
                <a:defRPr/>
              </a:pPr>
              <a:r>
                <a:rPr kumimoji="0" lang="en-US" altLang="ja-JP" sz="800" kern="0">
                  <a:solidFill>
                    <a:srgbClr val="FF0000"/>
                  </a:solidFill>
                  <a:latin typeface="Meiryo UI"/>
                  <a:ea typeface="Meiryo UI"/>
                </a:rPr>
                <a:t>XXX</a:t>
              </a:r>
            </a:p>
            <a:p>
              <a:pPr lvl="0">
                <a:defRPr/>
              </a:pPr>
              <a:r>
                <a:rPr kumimoji="0" lang="en-US" altLang="ja-JP" sz="800" kern="0">
                  <a:solidFill>
                    <a:srgbClr val="FF0000"/>
                  </a:solidFill>
                  <a:latin typeface="Meiryo UI"/>
                  <a:ea typeface="Meiryo UI"/>
                </a:rPr>
                <a:t>XXX</a:t>
              </a:r>
            </a:p>
            <a:p>
              <a:pPr lvl="0">
                <a:defRPr/>
              </a:pPr>
              <a:r>
                <a:rPr kumimoji="0" lang="en-US" altLang="ja-JP" sz="800" kern="0">
                  <a:solidFill>
                    <a:srgbClr val="FF0000"/>
                  </a:solidFill>
                  <a:latin typeface="Meiryo UI"/>
                  <a:ea typeface="Meiryo UI"/>
                </a:rPr>
                <a:t>XXX</a:t>
              </a:r>
              <a:endParaRPr kumimoji="0" lang="ja-JP" altLang="en-US" sz="800" kern="0">
                <a:solidFill>
                  <a:srgbClr val="FF0000"/>
                </a:solidFill>
                <a:latin typeface="Meiryo UI"/>
                <a:ea typeface="Meiryo UI"/>
              </a:endParaRPr>
            </a:p>
          </p:txBody>
        </p:sp>
        <p:sp>
          <p:nvSpPr>
            <p:cNvPr id="136" name="正方形/長方形 135">
              <a:extLst>
                <a:ext uri="{FF2B5EF4-FFF2-40B4-BE49-F238E27FC236}">
                  <a16:creationId xmlns:a16="http://schemas.microsoft.com/office/drawing/2014/main" id="{2BCE1C36-0992-4D13-B23B-BF4F534945AF}"/>
                </a:ext>
              </a:extLst>
            </p:cNvPr>
            <p:cNvSpPr/>
            <p:nvPr/>
          </p:nvSpPr>
          <p:spPr>
            <a:xfrm>
              <a:off x="6337611" y="5308549"/>
              <a:ext cx="1024791" cy="1235139"/>
            </a:xfrm>
            <a:prstGeom prst="rect">
              <a:avLst/>
            </a:prstGeom>
            <a:solidFill>
              <a:schemeClr val="accent3">
                <a:lumMod val="20000"/>
                <a:lumOff val="80000"/>
              </a:schemeClr>
            </a:solidFill>
            <a:ln w="3175" cap="flat" cmpd="sng" algn="ctr">
              <a:solidFill>
                <a:srgbClr val="FFFFFF"/>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defRPr/>
              </a:pPr>
              <a:r>
                <a:rPr kumimoji="0" lang="ja-JP" altLang="en-US" sz="800" kern="0">
                  <a:solidFill>
                    <a:srgbClr val="FF0000"/>
                  </a:solidFill>
                  <a:latin typeface="Meiryo UI"/>
                  <a:ea typeface="Meiryo UI"/>
                </a:rPr>
                <a:t>重点的</a:t>
              </a:r>
              <a:br>
                <a:rPr kumimoji="0" lang="en-US" altLang="ja-JP" sz="800" kern="0">
                  <a:solidFill>
                    <a:srgbClr val="FF0000"/>
                  </a:solidFill>
                  <a:latin typeface="Meiryo UI"/>
                  <a:ea typeface="Meiryo UI"/>
                </a:rPr>
              </a:br>
              <a:r>
                <a:rPr kumimoji="0" lang="ja-JP" altLang="en-US" sz="800" kern="0">
                  <a:solidFill>
                    <a:srgbClr val="FF0000"/>
                  </a:solidFill>
                  <a:latin typeface="Meiryo UI"/>
                  <a:ea typeface="Meiryo UI"/>
                </a:rPr>
                <a:t>業務変革要件</a:t>
              </a:r>
              <a:endParaRPr kumimoji="0" lang="en-US" altLang="ja-JP" sz="800" kern="0">
                <a:solidFill>
                  <a:srgbClr val="FF0000"/>
                </a:solidFill>
                <a:latin typeface="Meiryo UI"/>
                <a:ea typeface="Meiryo UI"/>
              </a:endParaRPr>
            </a:p>
            <a:p>
              <a:pPr lvl="0">
                <a:defRPr/>
              </a:pPr>
              <a:r>
                <a:rPr kumimoji="0" lang="en-US" altLang="ja-JP" sz="800" kern="0">
                  <a:solidFill>
                    <a:srgbClr val="FF0000"/>
                  </a:solidFill>
                  <a:latin typeface="Meiryo UI"/>
                  <a:ea typeface="Meiryo UI"/>
                </a:rPr>
                <a:t>XXX</a:t>
              </a:r>
            </a:p>
            <a:p>
              <a:pPr lvl="0">
                <a:defRPr/>
              </a:pPr>
              <a:r>
                <a:rPr kumimoji="0" lang="en-US" altLang="ja-JP" sz="800" kern="0">
                  <a:solidFill>
                    <a:srgbClr val="FF0000"/>
                  </a:solidFill>
                  <a:latin typeface="Meiryo UI"/>
                  <a:ea typeface="Meiryo UI"/>
                </a:rPr>
                <a:t>XXX</a:t>
              </a:r>
              <a:endParaRPr kumimoji="0" lang="ja-JP" altLang="en-US" sz="800" kern="0">
                <a:solidFill>
                  <a:srgbClr val="FF0000"/>
                </a:solidFill>
                <a:latin typeface="Meiryo UI"/>
                <a:ea typeface="Meiryo UI"/>
              </a:endParaRPr>
            </a:p>
          </p:txBody>
        </p:sp>
      </p:grpSp>
      <p:sp>
        <p:nvSpPr>
          <p:cNvPr id="2" name="二等辺三角形 1">
            <a:extLst>
              <a:ext uri="{FF2B5EF4-FFF2-40B4-BE49-F238E27FC236}">
                <a16:creationId xmlns:a16="http://schemas.microsoft.com/office/drawing/2014/main" id="{BD0874AD-B407-4256-92E7-EAFC91BFF835}"/>
              </a:ext>
            </a:extLst>
          </p:cNvPr>
          <p:cNvSpPr/>
          <p:nvPr/>
        </p:nvSpPr>
        <p:spPr>
          <a:xfrm>
            <a:off x="4930927" y="4885072"/>
            <a:ext cx="432000" cy="216000"/>
          </a:xfrm>
          <a:prstGeom prst="triangle">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二等辺三角形 137">
            <a:extLst>
              <a:ext uri="{FF2B5EF4-FFF2-40B4-BE49-F238E27FC236}">
                <a16:creationId xmlns:a16="http://schemas.microsoft.com/office/drawing/2014/main" id="{336A703D-51FD-46B1-8A3C-1D0A22693086}"/>
              </a:ext>
            </a:extLst>
          </p:cNvPr>
          <p:cNvSpPr/>
          <p:nvPr/>
        </p:nvSpPr>
        <p:spPr>
          <a:xfrm>
            <a:off x="5749120" y="4885072"/>
            <a:ext cx="432000" cy="216000"/>
          </a:xfrm>
          <a:prstGeom prst="triangle">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二等辺三角形 138">
            <a:extLst>
              <a:ext uri="{FF2B5EF4-FFF2-40B4-BE49-F238E27FC236}">
                <a16:creationId xmlns:a16="http://schemas.microsoft.com/office/drawing/2014/main" id="{86C0F4A6-0E54-4589-8500-A039820B2C06}"/>
              </a:ext>
            </a:extLst>
          </p:cNvPr>
          <p:cNvSpPr/>
          <p:nvPr/>
        </p:nvSpPr>
        <p:spPr>
          <a:xfrm>
            <a:off x="6567313" y="4901807"/>
            <a:ext cx="432000" cy="216000"/>
          </a:xfrm>
          <a:prstGeom prst="triangle">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16352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ED38B6-EDA5-467E-9841-0A429F197100}"/>
              </a:ext>
            </a:extLst>
          </p:cNvPr>
          <p:cNvSpPr>
            <a:spLocks noGrp="1"/>
          </p:cNvSpPr>
          <p:nvPr>
            <p:ph type="title"/>
          </p:nvPr>
        </p:nvSpPr>
        <p:spPr>
          <a:xfrm>
            <a:off x="252636" y="103728"/>
            <a:ext cx="7419076" cy="349961"/>
          </a:xfrm>
        </p:spPr>
        <p:txBody>
          <a:bodyPr/>
          <a:lstStyle/>
          <a:p>
            <a:r>
              <a:rPr lang="ja-JP" altLang="en-US" sz="1800">
                <a:solidFill>
                  <a:prstClr val="black"/>
                </a:solidFill>
                <a:latin typeface="Meiryo UI" panose="020B0604030504040204" pitchFamily="50" charset="-128"/>
                <a:ea typeface="Meiryo UI" panose="020B0604030504040204" pitchFamily="50" charset="-128"/>
              </a:rPr>
              <a:t>６．</a:t>
            </a:r>
            <a:r>
              <a:rPr lang="ja-JP" altLang="en-US" sz="2000">
                <a:latin typeface="+mn-ea"/>
                <a:ea typeface="+mn-ea"/>
              </a:rPr>
              <a:t>個別検討会について</a:t>
            </a:r>
            <a:r>
              <a:rPr lang="en-US" altLang="ja-JP" sz="2000">
                <a:latin typeface="+mn-ea"/>
                <a:ea typeface="+mn-ea"/>
              </a:rPr>
              <a:t>_</a:t>
            </a:r>
            <a:r>
              <a:rPr lang="ja-JP" altLang="en-US" sz="2000">
                <a:latin typeface="+mn-ea"/>
                <a:ea typeface="+mn-ea"/>
              </a:rPr>
              <a:t> </a:t>
            </a:r>
            <a:r>
              <a:rPr lang="ja-JP" altLang="en-US" sz="1800">
                <a:latin typeface="+mn-ea"/>
                <a:ea typeface="+mn-ea"/>
              </a:rPr>
              <a:t>実施イメージ（調整中）</a:t>
            </a:r>
            <a:endParaRPr lang="ja-JP" altLang="en-US" sz="2000">
              <a:latin typeface="+mn-ea"/>
              <a:ea typeface="+mn-ea"/>
            </a:endParaRPr>
          </a:p>
        </p:txBody>
      </p:sp>
      <p:sp>
        <p:nvSpPr>
          <p:cNvPr id="40" name="テキスト プレースホルダー 8">
            <a:extLst>
              <a:ext uri="{FF2B5EF4-FFF2-40B4-BE49-F238E27FC236}">
                <a16:creationId xmlns:a16="http://schemas.microsoft.com/office/drawing/2014/main" id="{D813C6DB-D201-41B6-BCC3-F2370C664CAF}"/>
              </a:ext>
            </a:extLst>
          </p:cNvPr>
          <p:cNvSpPr txBox="1">
            <a:spLocks/>
          </p:cNvSpPr>
          <p:nvPr/>
        </p:nvSpPr>
        <p:spPr>
          <a:xfrm>
            <a:off x="178525" y="667939"/>
            <a:ext cx="8786949" cy="727474"/>
          </a:xfrm>
          <a:prstGeom prst="rect">
            <a:avLst/>
          </a:prstGeom>
          <a:solidFill>
            <a:schemeClr val="bg2">
              <a:lumMod val="40000"/>
              <a:lumOff val="60000"/>
            </a:schemeClr>
          </a:solidFill>
        </p:spPr>
        <p:txBody>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342900" marR="0" lvl="0" indent="-342900" algn="l" defTabSz="685800" rtl="0" eaLnBrk="1" fontAlgn="auto" latinLnBrk="0" hangingPunct="1">
              <a:lnSpc>
                <a:spcPct val="120000"/>
              </a:lnSpc>
              <a:spcBef>
                <a:spcPts val="750"/>
              </a:spcBef>
              <a:spcAft>
                <a:spcPts val="0"/>
              </a:spcAft>
              <a:buClrTx/>
              <a:buSzTx/>
              <a:buFont typeface="Wingdings" panose="05000000000000000000" pitchFamily="2" charset="2"/>
              <a:buChar char="n"/>
              <a:tabLst/>
              <a:defRPr/>
            </a:pPr>
            <a:r>
              <a:rPr kumimoji="1" lang="ja-JP" altLang="en-US" sz="1600" b="0" i="0" u="none" strike="noStrike" kern="1200" cap="none" spc="0" normalizeH="0" baseline="0" noProof="0">
                <a:ln>
                  <a:noFill/>
                </a:ln>
                <a:solidFill>
                  <a:srgbClr val="000000"/>
                </a:solidFill>
                <a:effectLst/>
                <a:uLnTx/>
                <a:uFillTx/>
                <a:latin typeface="メイリオ"/>
                <a:ea typeface="メイリオ"/>
              </a:rPr>
              <a:t>個別検討会は、検討テーマから関連部門を選定し、事務局と各部門“企画担当”が主体性を持って議論する。</a:t>
            </a:r>
            <a:endParaRPr kumimoji="1" lang="en-US" altLang="ja-JP" sz="1600" b="0" i="0" u="none" strike="noStrike" kern="1200" cap="none" spc="0" normalizeH="0" baseline="0" noProof="0">
              <a:ln>
                <a:noFill/>
              </a:ln>
              <a:solidFill>
                <a:srgbClr val="000000"/>
              </a:solidFill>
              <a:effectLst/>
              <a:uLnTx/>
              <a:uFillTx/>
              <a:latin typeface="メイリオ"/>
              <a:ea typeface="メイリオ"/>
            </a:endParaRPr>
          </a:p>
        </p:txBody>
      </p:sp>
      <p:graphicFrame>
        <p:nvGraphicFramePr>
          <p:cNvPr id="41" name="表 40">
            <a:extLst>
              <a:ext uri="{FF2B5EF4-FFF2-40B4-BE49-F238E27FC236}">
                <a16:creationId xmlns:a16="http://schemas.microsoft.com/office/drawing/2014/main" id="{EF257E0F-2AA4-4097-B608-B1FE5901D5BD}"/>
              </a:ext>
            </a:extLst>
          </p:cNvPr>
          <p:cNvGraphicFramePr>
            <a:graphicFrameLocks noGrp="1"/>
          </p:cNvGraphicFramePr>
          <p:nvPr>
            <p:extLst>
              <p:ext uri="{D42A27DB-BD31-4B8C-83A1-F6EECF244321}">
                <p14:modId xmlns:p14="http://schemas.microsoft.com/office/powerpoint/2010/main" val="1697971679"/>
              </p:ext>
            </p:extLst>
          </p:nvPr>
        </p:nvGraphicFramePr>
        <p:xfrm>
          <a:off x="4825474" y="1594656"/>
          <a:ext cx="4140000" cy="4295953"/>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481896944"/>
                    </a:ext>
                  </a:extLst>
                </a:gridCol>
                <a:gridCol w="1260000">
                  <a:extLst>
                    <a:ext uri="{9D8B030D-6E8A-4147-A177-3AD203B41FA5}">
                      <a16:colId xmlns:a16="http://schemas.microsoft.com/office/drawing/2014/main" val="379746245"/>
                    </a:ext>
                  </a:extLst>
                </a:gridCol>
                <a:gridCol w="1836000">
                  <a:extLst>
                    <a:ext uri="{9D8B030D-6E8A-4147-A177-3AD203B41FA5}">
                      <a16:colId xmlns:a16="http://schemas.microsoft.com/office/drawing/2014/main" val="2052479320"/>
                    </a:ext>
                  </a:extLst>
                </a:gridCol>
                <a:gridCol w="828000">
                  <a:extLst>
                    <a:ext uri="{9D8B030D-6E8A-4147-A177-3AD203B41FA5}">
                      <a16:colId xmlns:a16="http://schemas.microsoft.com/office/drawing/2014/main" val="3152337084"/>
                    </a:ext>
                  </a:extLst>
                </a:gridCol>
              </a:tblGrid>
              <a:tr h="692508">
                <a:tc>
                  <a:txBody>
                    <a:bodyPr/>
                    <a:lstStyle/>
                    <a:p>
                      <a:pPr algn="ctr"/>
                      <a:endParaRPr kumimoji="1" lang="ja-JP" altLang="en-US" sz="1000">
                        <a:latin typeface="+mn-ea"/>
                        <a:ea typeface="+mn-ea"/>
                      </a:endParaRPr>
                    </a:p>
                  </a:txBody>
                  <a:tcPr anchor="ctr"/>
                </a:tc>
                <a:tc>
                  <a:txBody>
                    <a:bodyPr/>
                    <a:lstStyle/>
                    <a:p>
                      <a:pPr algn="ctr"/>
                      <a:r>
                        <a:rPr kumimoji="1" lang="ja-JP" altLang="en-US" sz="1000">
                          <a:latin typeface="+mn-ea"/>
                          <a:ea typeface="+mn-ea"/>
                        </a:rPr>
                        <a:t>検討テーマ</a:t>
                      </a:r>
                      <a:endParaRPr kumimoji="1" lang="en-US" altLang="ja-JP" sz="1000">
                        <a:latin typeface="+mn-ea"/>
                        <a:ea typeface="+mn-ea"/>
                      </a:endParaRPr>
                    </a:p>
                    <a:p>
                      <a:pPr algn="ctr"/>
                      <a:r>
                        <a:rPr kumimoji="1" lang="ja-JP" altLang="en-US" sz="1000">
                          <a:latin typeface="+mn-ea"/>
                          <a:ea typeface="+mn-ea"/>
                        </a:rPr>
                        <a:t>例</a:t>
                      </a:r>
                    </a:p>
                  </a:txBody>
                  <a:tcPr anchor="ctr"/>
                </a:tc>
                <a:tc>
                  <a:txBody>
                    <a:bodyPr/>
                    <a:lstStyle/>
                    <a:p>
                      <a:pPr algn="ctr"/>
                      <a:r>
                        <a:rPr kumimoji="1" lang="ja-JP" altLang="en-US" sz="1000">
                          <a:latin typeface="+mn-ea"/>
                          <a:ea typeface="+mn-ea"/>
                        </a:rPr>
                        <a:t>検討内容</a:t>
                      </a:r>
                    </a:p>
                  </a:txBody>
                  <a:tcPr anchor="ctr"/>
                </a:tc>
                <a:tc>
                  <a:txBody>
                    <a:bodyPr/>
                    <a:lstStyle/>
                    <a:p>
                      <a:pPr algn="ctr"/>
                      <a:r>
                        <a:rPr kumimoji="1" lang="ja-JP" altLang="en-US" sz="1000">
                          <a:latin typeface="+mn-ea"/>
                          <a:ea typeface="+mn-ea"/>
                        </a:rPr>
                        <a:t>関連部門（想定）</a:t>
                      </a:r>
                    </a:p>
                  </a:txBody>
                  <a:tcPr anchor="ctr"/>
                </a:tc>
                <a:extLst>
                  <a:ext uri="{0D108BD9-81ED-4DB2-BD59-A6C34878D82A}">
                    <a16:rowId xmlns:a16="http://schemas.microsoft.com/office/drawing/2014/main" val="2470079373"/>
                  </a:ext>
                </a:extLst>
              </a:tr>
              <a:tr h="564395">
                <a:tc>
                  <a:txBody>
                    <a:bodyPr/>
                    <a:lstStyle/>
                    <a:p>
                      <a:pPr algn="ctr"/>
                      <a:r>
                        <a:rPr kumimoji="1" lang="en-US" altLang="ja-JP" sz="1000">
                          <a:latin typeface="+mn-ea"/>
                          <a:ea typeface="+mn-ea"/>
                        </a:rPr>
                        <a:t>1</a:t>
                      </a:r>
                      <a:endParaRPr kumimoji="1" lang="ja-JP" altLang="en-US" sz="1000">
                        <a:latin typeface="+mn-ea"/>
                        <a:ea typeface="+mn-ea"/>
                      </a:endParaRPr>
                    </a:p>
                  </a:txBody>
                  <a:tcPr anchor="ctr"/>
                </a:tc>
                <a:tc>
                  <a:txBody>
                    <a:bodyPr/>
                    <a:lstStyle/>
                    <a:p>
                      <a:pPr algn="l"/>
                      <a:r>
                        <a:rPr kumimoji="1" lang="ja-JP" altLang="en-US" sz="1000">
                          <a:latin typeface="+mn-ea"/>
                          <a:ea typeface="+mn-ea"/>
                        </a:rPr>
                        <a:t>顧客セグメンテーション検討</a:t>
                      </a:r>
                    </a:p>
                  </a:txBody>
                  <a:tcPr anchor="ctr">
                    <a:lnR w="12700" cap="flat" cmpd="sng" algn="ctr">
                      <a:solidFill>
                        <a:schemeClr val="bg1"/>
                      </a:solidFill>
                      <a:prstDash val="solid"/>
                      <a:round/>
                      <a:headEnd type="none" w="med" len="med"/>
                      <a:tailEnd type="none" w="med" len="med"/>
                    </a:lnR>
                  </a:tcPr>
                </a:tc>
                <a:tc>
                  <a:txBody>
                    <a:bodyPr/>
                    <a:lstStyle/>
                    <a:p>
                      <a:pPr algn="l"/>
                      <a:r>
                        <a:rPr kumimoji="1" lang="en-US" altLang="ja-JP" sz="900">
                          <a:latin typeface="+mn-ea"/>
                          <a:ea typeface="+mn-ea"/>
                        </a:rPr>
                        <a:t>AS</a:t>
                      </a:r>
                      <a:r>
                        <a:rPr kumimoji="1" lang="ja-JP" altLang="en-US" sz="900">
                          <a:latin typeface="+mn-ea"/>
                          <a:ea typeface="+mn-ea"/>
                        </a:rPr>
                        <a:t>事業発展に向けた、有望セグメント・顧客の特定</a:t>
                      </a:r>
                    </a:p>
                  </a:txBody>
                  <a:tcPr anchor="ctr">
                    <a:lnL w="12700" cap="flat" cmpd="sng" algn="ctr">
                      <a:solidFill>
                        <a:schemeClr val="bg1"/>
                      </a:solidFill>
                      <a:prstDash val="solid"/>
                      <a:round/>
                      <a:headEnd type="none" w="med" len="med"/>
                      <a:tailEnd type="none" w="med" len="med"/>
                    </a:lnL>
                  </a:tcPr>
                </a:tc>
                <a:tc>
                  <a:txBody>
                    <a:bodyPr/>
                    <a:lstStyle/>
                    <a:p>
                      <a:pPr algn="l"/>
                      <a:r>
                        <a:rPr kumimoji="1" lang="ja-JP" altLang="en-US" sz="900">
                          <a:latin typeface="+mn-ea"/>
                          <a:ea typeface="+mn-ea"/>
                        </a:rPr>
                        <a:t>営業部</a:t>
                      </a:r>
                      <a:endParaRPr kumimoji="1" lang="en-US" altLang="ja-JP" sz="900">
                        <a:latin typeface="+mn-ea"/>
                        <a:ea typeface="+mn-ea"/>
                      </a:endParaRPr>
                    </a:p>
                  </a:txBody>
                  <a:tcPr marL="108000" anchor="ctr"/>
                </a:tc>
                <a:extLst>
                  <a:ext uri="{0D108BD9-81ED-4DB2-BD59-A6C34878D82A}">
                    <a16:rowId xmlns:a16="http://schemas.microsoft.com/office/drawing/2014/main" val="2405373357"/>
                  </a:ext>
                </a:extLst>
              </a:tr>
              <a:tr h="651225">
                <a:tc>
                  <a:txBody>
                    <a:bodyPr/>
                    <a:lstStyle/>
                    <a:p>
                      <a:pPr algn="ctr"/>
                      <a:r>
                        <a:rPr kumimoji="1" lang="en-US" altLang="ja-JP" sz="1000">
                          <a:latin typeface="+mn-ea"/>
                          <a:ea typeface="+mn-ea"/>
                        </a:rPr>
                        <a:t>2</a:t>
                      </a:r>
                      <a:endParaRPr kumimoji="1" lang="ja-JP" altLang="en-US" sz="1000">
                        <a:latin typeface="+mn-ea"/>
                        <a:ea typeface="+mn-ea"/>
                      </a:endParaRPr>
                    </a:p>
                  </a:txBody>
                  <a:tcPr anchor="ctr"/>
                </a:tc>
                <a:tc>
                  <a:txBody>
                    <a:bodyPr/>
                    <a:lstStyle/>
                    <a:p>
                      <a:pPr algn="l"/>
                      <a:r>
                        <a:rPr kumimoji="1" lang="ja-JP" altLang="en-US" sz="1000">
                          <a:latin typeface="+mn-ea"/>
                          <a:ea typeface="+mn-ea"/>
                        </a:rPr>
                        <a:t>ターゲット顧客の</a:t>
                      </a:r>
                      <a:br>
                        <a:rPr kumimoji="1" lang="en-US" altLang="ja-JP" sz="1000">
                          <a:latin typeface="+mn-ea"/>
                          <a:ea typeface="+mn-ea"/>
                        </a:rPr>
                      </a:br>
                      <a:r>
                        <a:rPr kumimoji="1" lang="ja-JP" altLang="en-US" sz="1000">
                          <a:latin typeface="+mn-ea"/>
                          <a:ea typeface="+mn-ea"/>
                        </a:rPr>
                        <a:t>行動分析</a:t>
                      </a:r>
                    </a:p>
                  </a:txBody>
                  <a:tcPr anchor="ctr">
                    <a:lnR w="12700" cap="flat" cmpd="sng" algn="ctr">
                      <a:solidFill>
                        <a:schemeClr val="bg1"/>
                      </a:solidFill>
                      <a:prstDash val="solid"/>
                      <a:round/>
                      <a:headEnd type="none" w="med" len="med"/>
                      <a:tailEnd type="none" w="med" len="med"/>
                    </a:lnR>
                  </a:tcPr>
                </a:tc>
                <a:tc>
                  <a:txBody>
                    <a:bodyPr/>
                    <a:lstStyle/>
                    <a:p>
                      <a:pPr algn="l"/>
                      <a:r>
                        <a:rPr kumimoji="1" lang="ja-JP" altLang="en-US" sz="900">
                          <a:latin typeface="+mn-ea"/>
                          <a:ea typeface="+mn-ea"/>
                        </a:rPr>
                        <a:t>顧客の不満、ニーズを基に、サービスのコアとなる提供価値と、その提供方法の検討</a:t>
                      </a:r>
                    </a:p>
                  </a:txBody>
                  <a:tcPr anchor="ctr">
                    <a:lnL w="12700" cap="flat" cmpd="sng" algn="ctr">
                      <a:solidFill>
                        <a:schemeClr val="bg1"/>
                      </a:solidFill>
                      <a:prstDash val="solid"/>
                      <a:round/>
                      <a:headEnd type="none" w="med" len="med"/>
                      <a:tailEnd type="none" w="med" len="med"/>
                    </a:lnL>
                  </a:tcPr>
                </a:tc>
                <a:tc>
                  <a:txBody>
                    <a:bodyPr/>
                    <a:lstStyle/>
                    <a:p>
                      <a:pPr algn="l"/>
                      <a:r>
                        <a:rPr kumimoji="1" lang="ja-JP" altLang="en-US" sz="900">
                          <a:latin typeface="+mn-ea"/>
                          <a:ea typeface="+mn-ea"/>
                        </a:rPr>
                        <a:t>営業部</a:t>
                      </a:r>
                      <a:endParaRPr kumimoji="1" lang="en-US" altLang="ja-JP" sz="900">
                        <a:latin typeface="+mn-ea"/>
                        <a:ea typeface="+mn-ea"/>
                      </a:endParaRPr>
                    </a:p>
                    <a:p>
                      <a:pPr algn="l"/>
                      <a:r>
                        <a:rPr kumimoji="1" lang="ja-JP" altLang="en-US" sz="900">
                          <a:latin typeface="+mn-ea"/>
                          <a:ea typeface="+mn-ea"/>
                        </a:rPr>
                        <a:t>計画部</a:t>
                      </a:r>
                    </a:p>
                  </a:txBody>
                  <a:tcPr marL="108000" anchor="ctr"/>
                </a:tc>
                <a:extLst>
                  <a:ext uri="{0D108BD9-81ED-4DB2-BD59-A6C34878D82A}">
                    <a16:rowId xmlns:a16="http://schemas.microsoft.com/office/drawing/2014/main" val="381959585"/>
                  </a:ext>
                </a:extLst>
              </a:tr>
              <a:tr h="781470">
                <a:tc>
                  <a:txBody>
                    <a:bodyPr/>
                    <a:lstStyle/>
                    <a:p>
                      <a:pPr algn="ctr"/>
                      <a:r>
                        <a:rPr kumimoji="1" lang="en-US" altLang="ja-JP" sz="1000">
                          <a:latin typeface="+mn-ea"/>
                          <a:ea typeface="+mn-ea"/>
                        </a:rPr>
                        <a:t>3</a:t>
                      </a:r>
                      <a:endParaRPr kumimoji="1" lang="ja-JP" altLang="en-US" sz="1000">
                        <a:latin typeface="+mn-ea"/>
                        <a:ea typeface="+mn-ea"/>
                      </a:endParaRPr>
                    </a:p>
                  </a:txBody>
                  <a:tcPr anchor="ctr"/>
                </a:tc>
                <a:tc>
                  <a:txBody>
                    <a:bodyPr/>
                    <a:lstStyle/>
                    <a:p>
                      <a:r>
                        <a:rPr kumimoji="1" lang="ja-JP" altLang="en-US" sz="1000" kern="1200">
                          <a:solidFill>
                            <a:schemeClr val="dk1"/>
                          </a:solidFill>
                          <a:latin typeface="+mn-ea"/>
                          <a:ea typeface="+mn-ea"/>
                          <a:cs typeface="+mn-cs"/>
                        </a:rPr>
                        <a:t>ビジネスモデル</a:t>
                      </a:r>
                      <a:endParaRPr kumimoji="1" lang="en-US" altLang="ja-JP" sz="1000" kern="1200">
                        <a:solidFill>
                          <a:schemeClr val="dk1"/>
                        </a:solidFill>
                        <a:latin typeface="+mn-ea"/>
                        <a:ea typeface="+mn-ea"/>
                        <a:cs typeface="+mn-cs"/>
                      </a:endParaRPr>
                    </a:p>
                    <a:p>
                      <a:r>
                        <a:rPr kumimoji="1" lang="ja-JP" altLang="en-US" sz="1000" kern="1200">
                          <a:solidFill>
                            <a:schemeClr val="dk1"/>
                          </a:solidFill>
                          <a:latin typeface="+mn-ea"/>
                          <a:ea typeface="+mn-ea"/>
                          <a:cs typeface="+mn-cs"/>
                        </a:rPr>
                        <a:t>再整理</a:t>
                      </a:r>
                    </a:p>
                  </a:txBody>
                  <a:tcPr anchor="ctr">
                    <a:lnR w="12700" cap="flat" cmpd="sng" algn="ctr">
                      <a:solidFill>
                        <a:schemeClr val="bg1"/>
                      </a:solidFill>
                      <a:prstDash val="solid"/>
                      <a:round/>
                      <a:headEnd type="none" w="med" len="med"/>
                      <a:tailEnd type="none" w="med" len="med"/>
                    </a:lnR>
                  </a:tcPr>
                </a:tc>
                <a:tc>
                  <a:txBody>
                    <a:bodyPr/>
                    <a:lstStyle/>
                    <a:p>
                      <a:pPr algn="l"/>
                      <a:r>
                        <a:rPr kumimoji="1" lang="ja-JP" altLang="en-US" sz="900">
                          <a:latin typeface="+mn-ea"/>
                          <a:ea typeface="+mn-ea"/>
                        </a:rPr>
                        <a:t>顧客に対する人・モノ・カネ・情報の流れの整理、並びに収益構造改善に必要なビジネスモデル整理</a:t>
                      </a:r>
                    </a:p>
                  </a:txBody>
                  <a:tcPr anchor="ctr">
                    <a:lnL w="12700" cap="flat" cmpd="sng" algn="ctr">
                      <a:solidFill>
                        <a:schemeClr val="bg1"/>
                      </a:solidFill>
                      <a:prstDash val="solid"/>
                      <a:round/>
                      <a:headEnd type="none" w="med" len="med"/>
                      <a:tailEnd type="none" w="med" len="med"/>
                    </a:lnL>
                  </a:tcPr>
                </a:tc>
                <a:tc>
                  <a:txBody>
                    <a:bodyPr/>
                    <a:lstStyle/>
                    <a:p>
                      <a:pPr algn="l"/>
                      <a:r>
                        <a:rPr kumimoji="1" lang="ja-JP" altLang="en-US" sz="900">
                          <a:latin typeface="+mn-ea"/>
                          <a:ea typeface="+mn-ea"/>
                        </a:rPr>
                        <a:t>営業部</a:t>
                      </a:r>
                      <a:endParaRPr kumimoji="1" lang="en-US" altLang="ja-JP" sz="900">
                        <a:latin typeface="+mn-ea"/>
                        <a:ea typeface="+mn-ea"/>
                      </a:endParaRPr>
                    </a:p>
                    <a:p>
                      <a:pPr algn="l"/>
                      <a:r>
                        <a:rPr kumimoji="1" lang="ja-JP" altLang="en-US" sz="900">
                          <a:latin typeface="+mn-ea"/>
                          <a:ea typeface="+mn-ea"/>
                        </a:rPr>
                        <a:t>事業戦略部</a:t>
                      </a:r>
                    </a:p>
                  </a:txBody>
                  <a:tcPr marL="108000" anchor="ctr"/>
                </a:tc>
                <a:extLst>
                  <a:ext uri="{0D108BD9-81ED-4DB2-BD59-A6C34878D82A}">
                    <a16:rowId xmlns:a16="http://schemas.microsoft.com/office/drawing/2014/main" val="2662201792"/>
                  </a:ext>
                </a:extLst>
              </a:tr>
              <a:tr h="824885">
                <a:tc>
                  <a:txBody>
                    <a:bodyPr/>
                    <a:lstStyle/>
                    <a:p>
                      <a:pPr algn="ctr"/>
                      <a:r>
                        <a:rPr kumimoji="1" lang="en-US" altLang="ja-JP" sz="1000">
                          <a:latin typeface="+mn-ea"/>
                          <a:ea typeface="+mn-ea"/>
                        </a:rPr>
                        <a:t>4</a:t>
                      </a:r>
                      <a:endParaRPr kumimoji="1" lang="ja-JP" altLang="en-US" sz="1000">
                        <a:latin typeface="+mn-ea"/>
                        <a:ea typeface="+mn-ea"/>
                      </a:endParaRPr>
                    </a:p>
                  </a:txBody>
                  <a:tcPr anchor="ctr"/>
                </a:tc>
                <a:tc>
                  <a:txBody>
                    <a:bodyPr/>
                    <a:lstStyle/>
                    <a:p>
                      <a:r>
                        <a:rPr kumimoji="1" lang="ja-JP" altLang="en-US" sz="1000">
                          <a:latin typeface="+mn-ea"/>
                          <a:ea typeface="+mn-ea"/>
                        </a:rPr>
                        <a:t>お客様を起点に</a:t>
                      </a:r>
                      <a:br>
                        <a:rPr kumimoji="1" lang="ja-JP" altLang="en-US" sz="1000">
                          <a:latin typeface="+mn-ea"/>
                          <a:ea typeface="+mn-ea"/>
                        </a:rPr>
                      </a:br>
                      <a:r>
                        <a:rPr kumimoji="1" lang="en-US" altLang="ja-JP" sz="1000">
                          <a:latin typeface="+mn-ea"/>
                          <a:ea typeface="+mn-ea"/>
                        </a:rPr>
                        <a:t>AS</a:t>
                      </a:r>
                      <a:r>
                        <a:rPr kumimoji="1" lang="ja-JP" altLang="en-US" sz="1000">
                          <a:latin typeface="+mn-ea"/>
                          <a:ea typeface="+mn-ea"/>
                        </a:rPr>
                        <a:t>業務プロセス</a:t>
                      </a:r>
                      <a:br>
                        <a:rPr kumimoji="1" lang="en-US" altLang="ja-JP" sz="1000">
                          <a:latin typeface="+mn-ea"/>
                          <a:ea typeface="+mn-ea"/>
                        </a:rPr>
                      </a:br>
                      <a:r>
                        <a:rPr kumimoji="1" lang="ja-JP" altLang="en-US" sz="1000">
                          <a:latin typeface="+mn-ea"/>
                          <a:ea typeface="+mn-ea"/>
                        </a:rPr>
                        <a:t>見直し・再構築</a:t>
                      </a:r>
                      <a:endParaRPr kumimoji="1" lang="ja-JP" altLang="en-US" sz="1000" kern="1200">
                        <a:solidFill>
                          <a:schemeClr val="dk1"/>
                        </a:solidFill>
                        <a:latin typeface="+mn-ea"/>
                        <a:ea typeface="+mn-ea"/>
                        <a:cs typeface="+mn-cs"/>
                      </a:endParaRPr>
                    </a:p>
                  </a:txBody>
                  <a:tcPr anchor="ctr">
                    <a:lnR w="12700" cap="flat" cmpd="sng" algn="ctr">
                      <a:solidFill>
                        <a:schemeClr val="bg1"/>
                      </a:solidFill>
                      <a:prstDash val="solid"/>
                      <a:round/>
                      <a:headEnd type="none" w="med" len="med"/>
                      <a:tailEnd type="none" w="med" len="med"/>
                    </a:lnR>
                  </a:tcPr>
                </a:tc>
                <a:tc>
                  <a:txBody>
                    <a:bodyPr/>
                    <a:lstStyle/>
                    <a:p>
                      <a:pPr algn="l"/>
                      <a:r>
                        <a:rPr kumimoji="1" lang="ja-JP" altLang="en-US" sz="900">
                          <a:latin typeface="+mn-ea"/>
                          <a:ea typeface="+mn-ea"/>
                        </a:rPr>
                        <a:t>顧客起点での価値提供に必要となる業務プロセスの過不足の検討、ならびに、必要となる新業務プロセスの検討</a:t>
                      </a:r>
                    </a:p>
                  </a:txBody>
                  <a:tcPr anchor="ctr">
                    <a:lnL w="12700" cap="flat" cmpd="sng" algn="ctr">
                      <a:solidFill>
                        <a:schemeClr val="bg1"/>
                      </a:solidFill>
                      <a:prstDash val="solid"/>
                      <a:round/>
                      <a:headEnd type="none" w="med" len="med"/>
                      <a:tailEnd type="none" w="med" len="med"/>
                    </a:lnL>
                  </a:tcPr>
                </a:tc>
                <a:tc>
                  <a:txBody>
                    <a:bodyPr/>
                    <a:lstStyle/>
                    <a:p>
                      <a:pPr algn="l"/>
                      <a:r>
                        <a:rPr kumimoji="1" lang="ja-JP" altLang="en-US" sz="900">
                          <a:latin typeface="+mn-ea"/>
                          <a:ea typeface="+mn-ea"/>
                        </a:rPr>
                        <a:t>製造部</a:t>
                      </a:r>
                      <a:endParaRPr kumimoji="1" lang="en-US" altLang="ja-JP" sz="900">
                        <a:latin typeface="+mn-ea"/>
                        <a:ea typeface="+mn-ea"/>
                      </a:endParaRPr>
                    </a:p>
                    <a:p>
                      <a:pPr algn="l"/>
                      <a:r>
                        <a:rPr kumimoji="1" lang="ja-JP" altLang="en-US" sz="900">
                          <a:latin typeface="+mn-ea"/>
                          <a:ea typeface="+mn-ea"/>
                        </a:rPr>
                        <a:t>技術部</a:t>
                      </a:r>
                      <a:endParaRPr kumimoji="1" lang="en-US" altLang="ja-JP" sz="900">
                        <a:latin typeface="+mn-ea"/>
                        <a:ea typeface="+mn-ea"/>
                      </a:endParaRPr>
                    </a:p>
                    <a:p>
                      <a:pPr algn="l"/>
                      <a:r>
                        <a:rPr kumimoji="1" lang="ja-JP" altLang="en-US" sz="900">
                          <a:latin typeface="+mn-ea"/>
                          <a:ea typeface="+mn-ea"/>
                        </a:rPr>
                        <a:t>建設部</a:t>
                      </a:r>
                    </a:p>
                  </a:txBody>
                  <a:tcPr marL="108000" anchor="ctr"/>
                </a:tc>
                <a:extLst>
                  <a:ext uri="{0D108BD9-81ED-4DB2-BD59-A6C34878D82A}">
                    <a16:rowId xmlns:a16="http://schemas.microsoft.com/office/drawing/2014/main" val="1206969769"/>
                  </a:ext>
                </a:extLst>
              </a:tr>
              <a:tr h="781470">
                <a:tc>
                  <a:txBody>
                    <a:bodyPr/>
                    <a:lstStyle/>
                    <a:p>
                      <a:pPr algn="ctr"/>
                      <a:r>
                        <a:rPr kumimoji="1" lang="en-US" altLang="ja-JP" sz="1000">
                          <a:latin typeface="+mn-ea"/>
                          <a:ea typeface="+mn-ea"/>
                        </a:rPr>
                        <a:t>5</a:t>
                      </a:r>
                      <a:endParaRPr kumimoji="1" lang="ja-JP" altLang="en-US" sz="1000">
                        <a:latin typeface="+mn-ea"/>
                        <a:ea typeface="+mn-ea"/>
                      </a:endParaRPr>
                    </a:p>
                  </a:txBody>
                  <a:tcPr anchor="ctr"/>
                </a:tc>
                <a:tc>
                  <a:txBody>
                    <a:bodyPr/>
                    <a:lstStyle/>
                    <a:p>
                      <a:pPr algn="l"/>
                      <a:r>
                        <a:rPr kumimoji="1" lang="ja-JP" altLang="en-US" sz="1000">
                          <a:latin typeface="+mn-ea"/>
                          <a:ea typeface="+mn-ea"/>
                        </a:rPr>
                        <a:t>サービス事業</a:t>
                      </a:r>
                      <a:br>
                        <a:rPr kumimoji="1" lang="en-US" altLang="ja-JP" sz="1000">
                          <a:latin typeface="+mn-ea"/>
                          <a:ea typeface="+mn-ea"/>
                        </a:rPr>
                      </a:br>
                      <a:r>
                        <a:rPr kumimoji="1" lang="ja-JP" altLang="en-US" sz="1000">
                          <a:latin typeface="+mn-ea"/>
                          <a:ea typeface="+mn-ea"/>
                        </a:rPr>
                        <a:t>に向けた</a:t>
                      </a:r>
                      <a:br>
                        <a:rPr kumimoji="1" lang="en-US" altLang="ja-JP" sz="1000">
                          <a:latin typeface="+mn-ea"/>
                          <a:ea typeface="+mn-ea"/>
                        </a:rPr>
                      </a:br>
                      <a:r>
                        <a:rPr kumimoji="1" lang="ja-JP" altLang="en-US" sz="1000">
                          <a:latin typeface="+mn-ea"/>
                          <a:ea typeface="+mn-ea"/>
                        </a:rPr>
                        <a:t>改革テーマ整理</a:t>
                      </a:r>
                    </a:p>
                  </a:txBody>
                  <a:tcPr anchor="ctr">
                    <a:lnR w="12700" cap="flat" cmpd="sng" algn="ctr">
                      <a:solidFill>
                        <a:schemeClr val="bg1"/>
                      </a:solidFill>
                      <a:prstDash val="solid"/>
                      <a:round/>
                      <a:headEnd type="none" w="med" len="med"/>
                      <a:tailEnd type="none" w="med" len="med"/>
                    </a:lnR>
                  </a:tcPr>
                </a:tc>
                <a:tc>
                  <a:txBody>
                    <a:bodyPr/>
                    <a:lstStyle/>
                    <a:p>
                      <a:pPr algn="l"/>
                      <a:r>
                        <a:rPr kumimoji="1" lang="ja-JP" altLang="en-US" sz="900">
                          <a:latin typeface="+mn-ea"/>
                          <a:ea typeface="+mn-ea"/>
                        </a:rPr>
                        <a:t>再構築した業務プロセス上で必要となる他の変革論点、具体的な施策、目標値の設定</a:t>
                      </a:r>
                    </a:p>
                  </a:txBody>
                  <a:tcPr anchor="ctr">
                    <a:lnL w="12700" cap="flat" cmpd="sng" algn="ctr">
                      <a:solidFill>
                        <a:schemeClr val="bg1"/>
                      </a:solidFill>
                      <a:prstDash val="solid"/>
                      <a:round/>
                      <a:headEnd type="none" w="med" len="med"/>
                      <a:tailEnd type="none" w="med" len="med"/>
                    </a:lnL>
                  </a:tcPr>
                </a:tc>
                <a:tc>
                  <a:txBody>
                    <a:bodyPr/>
                    <a:lstStyle/>
                    <a:p>
                      <a:pPr algn="l"/>
                      <a:r>
                        <a:rPr kumimoji="1" lang="ja-JP" altLang="en-US" sz="900">
                          <a:latin typeface="+mn-ea"/>
                          <a:ea typeface="+mn-ea"/>
                        </a:rPr>
                        <a:t>製造部</a:t>
                      </a:r>
                      <a:endParaRPr kumimoji="1" lang="en-US" altLang="ja-JP" sz="900">
                        <a:latin typeface="+mn-ea"/>
                        <a:ea typeface="+mn-ea"/>
                      </a:endParaRPr>
                    </a:p>
                    <a:p>
                      <a:pPr algn="l"/>
                      <a:r>
                        <a:rPr kumimoji="1" lang="ja-JP" altLang="en-US" sz="900">
                          <a:latin typeface="+mn-ea"/>
                          <a:ea typeface="+mn-ea"/>
                        </a:rPr>
                        <a:t>技術部</a:t>
                      </a:r>
                      <a:endParaRPr kumimoji="1" lang="en-US" altLang="ja-JP" sz="900">
                        <a:latin typeface="+mn-ea"/>
                        <a:ea typeface="+mn-ea"/>
                      </a:endParaRPr>
                    </a:p>
                    <a:p>
                      <a:pPr algn="l"/>
                      <a:r>
                        <a:rPr kumimoji="1" lang="ja-JP" altLang="en-US" sz="900">
                          <a:latin typeface="+mn-ea"/>
                          <a:ea typeface="+mn-ea"/>
                        </a:rPr>
                        <a:t>建設部</a:t>
                      </a:r>
                    </a:p>
                  </a:txBody>
                  <a:tcPr marL="108000" anchor="ctr"/>
                </a:tc>
                <a:extLst>
                  <a:ext uri="{0D108BD9-81ED-4DB2-BD59-A6C34878D82A}">
                    <a16:rowId xmlns:a16="http://schemas.microsoft.com/office/drawing/2014/main" val="1531146334"/>
                  </a:ext>
                </a:extLst>
              </a:tr>
            </a:tbl>
          </a:graphicData>
        </a:graphic>
      </p:graphicFrame>
      <p:sp>
        <p:nvSpPr>
          <p:cNvPr id="7" name="正方形/長方形 6">
            <a:extLst>
              <a:ext uri="{FF2B5EF4-FFF2-40B4-BE49-F238E27FC236}">
                <a16:creationId xmlns:a16="http://schemas.microsoft.com/office/drawing/2014/main" id="{87B97DCD-AF60-4066-98DA-6BDE6756587E}"/>
              </a:ext>
            </a:extLst>
          </p:cNvPr>
          <p:cNvSpPr/>
          <p:nvPr/>
        </p:nvSpPr>
        <p:spPr>
          <a:xfrm>
            <a:off x="178525" y="1594656"/>
            <a:ext cx="4572000" cy="4295953"/>
          </a:xfrm>
          <a:prstGeom prst="rect">
            <a:avLst/>
          </a:prstGeom>
          <a:solidFill>
            <a:schemeClr val="accent3">
              <a:lumMod val="20000"/>
              <a:lumOff val="80000"/>
            </a:schemeClr>
          </a:solidFill>
          <a:ln w="12700" cap="flat" cmpd="sng" algn="ctr">
            <a:noFill/>
            <a:prstDash val="solid"/>
            <a:miter lim="800000"/>
          </a:ln>
          <a:effectLst/>
        </p:spPr>
        <p:txBody>
          <a:bodyPr rtlCol="0" anchor="t"/>
          <a:lstStyle/>
          <a:p>
            <a:pPr lvl="0" defTabSz="694393">
              <a:defRPr/>
            </a:pPr>
            <a:r>
              <a:rPr kumimoji="0" lang="ja-JP" altLang="en-US" sz="1400" b="1" kern="0">
                <a:solidFill>
                  <a:srgbClr val="567783"/>
                </a:solidFill>
                <a:latin typeface="メイリオ"/>
              </a:rPr>
              <a:t>個別検討会</a:t>
            </a:r>
            <a:r>
              <a:rPr kumimoji="0" lang="ja-JP" altLang="en-US" sz="1400" b="1" i="0" u="none" strike="noStrike" kern="0" cap="none" spc="0" normalizeH="0" baseline="0" noProof="0">
                <a:ln>
                  <a:noFill/>
                </a:ln>
                <a:solidFill>
                  <a:srgbClr val="567783"/>
                </a:solidFill>
                <a:effectLst/>
                <a:uLnTx/>
                <a:uFillTx/>
                <a:latin typeface="メイリオ"/>
                <a:ea typeface="メイリオ"/>
                <a:cs typeface="+mn-cs"/>
              </a:rPr>
              <a:t>：</a:t>
            </a:r>
            <a:r>
              <a:rPr kumimoji="0" lang="ja-JP" altLang="en-US" sz="1400" i="0" u="none" strike="noStrike" kern="0" cap="none" spc="0" normalizeH="0" baseline="0" noProof="0">
                <a:ln>
                  <a:noFill/>
                </a:ln>
                <a:solidFill>
                  <a:srgbClr val="567783"/>
                </a:solidFill>
                <a:effectLst/>
                <a:uLnTx/>
                <a:uFillTx/>
                <a:latin typeface="メイリオ"/>
                <a:ea typeface="メイリオ"/>
                <a:cs typeface="+mn-cs"/>
              </a:rPr>
              <a:t>検討テーマに関係する関連部門を対象とする検討会を実施</a:t>
            </a:r>
          </a:p>
        </p:txBody>
      </p:sp>
      <p:sp>
        <p:nvSpPr>
          <p:cNvPr id="42" name="正方形/長方形 41">
            <a:extLst>
              <a:ext uri="{FF2B5EF4-FFF2-40B4-BE49-F238E27FC236}">
                <a16:creationId xmlns:a16="http://schemas.microsoft.com/office/drawing/2014/main" id="{1F9BF9B7-0A14-4B86-9662-A3038D74FFC2}"/>
              </a:ext>
            </a:extLst>
          </p:cNvPr>
          <p:cNvSpPr/>
          <p:nvPr/>
        </p:nvSpPr>
        <p:spPr>
          <a:xfrm>
            <a:off x="296568" y="5474369"/>
            <a:ext cx="4338990" cy="360000"/>
          </a:xfrm>
          <a:prstGeom prst="rect">
            <a:avLst/>
          </a:prstGeom>
          <a:solidFill>
            <a:srgbClr val="FFC000"/>
          </a:solidFill>
          <a:ln w="12700" cap="flat" cmpd="sng" algn="ctr">
            <a:noFill/>
            <a:prstDash val="solid"/>
            <a:miter lim="800000"/>
          </a:ln>
          <a:effectLst/>
        </p:spPr>
        <p:txBody>
          <a:bodyPr rtlCol="0" anchor="ctr"/>
          <a:lstStyle/>
          <a:p>
            <a:pPr marL="0" marR="0" lvl="0" indent="0" algn="ctr" defTabSz="694376" rtl="0" eaLnBrk="1" fontAlgn="auto" latinLnBrk="0" hangingPunct="1">
              <a:lnSpc>
                <a:spcPct val="100000"/>
              </a:lnSpc>
              <a:spcBef>
                <a:spcPts val="0"/>
              </a:spcBef>
              <a:spcAft>
                <a:spcPts val="0"/>
              </a:spcAft>
              <a:buClrTx/>
              <a:buSzTx/>
              <a:buFontTx/>
              <a:buNone/>
              <a:tabLst/>
              <a:defRPr/>
            </a:pPr>
            <a:endParaRPr kumimoji="1" lang="ja-JP" altLang="en-US" sz="1367" b="0" i="0" u="none" strike="noStrike" kern="0" cap="none" spc="0" normalizeH="0" baseline="0" noProof="0">
              <a:ln>
                <a:noFill/>
              </a:ln>
              <a:solidFill>
                <a:srgbClr val="FFFFFF"/>
              </a:solidFill>
              <a:effectLst/>
              <a:uLnTx/>
              <a:uFillTx/>
              <a:latin typeface="Arial"/>
              <a:ea typeface="Meiryo UI"/>
              <a:cs typeface="+mn-cs"/>
            </a:endParaRPr>
          </a:p>
        </p:txBody>
      </p:sp>
      <p:sp>
        <p:nvSpPr>
          <p:cNvPr id="43" name="正方形/長方形 42">
            <a:extLst>
              <a:ext uri="{FF2B5EF4-FFF2-40B4-BE49-F238E27FC236}">
                <a16:creationId xmlns:a16="http://schemas.microsoft.com/office/drawing/2014/main" id="{6F9ABEB4-4E0F-4C04-976D-E9382D71914F}"/>
              </a:ext>
            </a:extLst>
          </p:cNvPr>
          <p:cNvSpPr/>
          <p:nvPr/>
        </p:nvSpPr>
        <p:spPr>
          <a:xfrm>
            <a:off x="296568" y="2900268"/>
            <a:ext cx="4338990" cy="2266955"/>
          </a:xfrm>
          <a:prstGeom prst="rect">
            <a:avLst/>
          </a:prstGeom>
          <a:solidFill>
            <a:srgbClr val="C8DDE6"/>
          </a:solidFill>
          <a:ln w="12700" cap="flat" cmpd="sng" algn="ctr">
            <a:noFill/>
            <a:prstDash val="solid"/>
            <a:miter lim="800000"/>
          </a:ln>
          <a:effectLst/>
        </p:spPr>
        <p:txBody>
          <a:bodyPr rtlCol="0" anchor="ctr"/>
          <a:lstStyle/>
          <a:p>
            <a:pPr marL="0" marR="0" lvl="0" indent="0" algn="ctr" defTabSz="694376" rtl="0" eaLnBrk="1" fontAlgn="auto" latinLnBrk="0" hangingPunct="1">
              <a:lnSpc>
                <a:spcPct val="100000"/>
              </a:lnSpc>
              <a:spcBef>
                <a:spcPts val="0"/>
              </a:spcBef>
              <a:spcAft>
                <a:spcPts val="0"/>
              </a:spcAft>
              <a:buClrTx/>
              <a:buSzTx/>
              <a:buFontTx/>
              <a:buNone/>
              <a:tabLst/>
              <a:defRPr/>
            </a:pPr>
            <a:endParaRPr kumimoji="1" lang="ja-JP" altLang="en-US" sz="1367" b="0" i="0" u="none" strike="noStrike" kern="0" cap="none" spc="0" normalizeH="0" baseline="0" noProof="0">
              <a:ln>
                <a:noFill/>
              </a:ln>
              <a:solidFill>
                <a:srgbClr val="FFFFFF"/>
              </a:solidFill>
              <a:effectLst/>
              <a:uLnTx/>
              <a:uFillTx/>
              <a:latin typeface="Arial"/>
              <a:ea typeface="Meiryo UI"/>
              <a:cs typeface="+mn-cs"/>
            </a:endParaRPr>
          </a:p>
        </p:txBody>
      </p:sp>
      <p:pic>
        <p:nvPicPr>
          <p:cNvPr id="65" name="Picture 2" descr="https://icooon-mono.com/i/icon_14440/icon_144401_64.png">
            <a:extLst>
              <a:ext uri="{FF2B5EF4-FFF2-40B4-BE49-F238E27FC236}">
                <a16:creationId xmlns:a16="http://schemas.microsoft.com/office/drawing/2014/main" id="{2C5C5749-FCAD-4DAC-A872-514CAAD203CE}"/>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88528" y="3449483"/>
            <a:ext cx="282692" cy="269754"/>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https://icooon-mono.com/i/icon_14440/icon_144401_64.png">
            <a:extLst>
              <a:ext uri="{FF2B5EF4-FFF2-40B4-BE49-F238E27FC236}">
                <a16:creationId xmlns:a16="http://schemas.microsoft.com/office/drawing/2014/main" id="{7C8BF915-5B1A-4221-834E-13EB935F5B02}"/>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70129" y="3449483"/>
            <a:ext cx="282692" cy="269754"/>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https://icooon-mono.com/i/icon_14440/icon_144401_64.png">
            <a:extLst>
              <a:ext uri="{FF2B5EF4-FFF2-40B4-BE49-F238E27FC236}">
                <a16:creationId xmlns:a16="http://schemas.microsoft.com/office/drawing/2014/main" id="{23B51114-849D-4ADD-86FD-DC126CD67CC3}"/>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51731" y="3449483"/>
            <a:ext cx="282692" cy="269754"/>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https://icooon-mono.com/i/icon_14440/icon_144401_64.png">
            <a:extLst>
              <a:ext uri="{FF2B5EF4-FFF2-40B4-BE49-F238E27FC236}">
                <a16:creationId xmlns:a16="http://schemas.microsoft.com/office/drawing/2014/main" id="{10A2152A-6D50-4647-9D03-961B17ADBFD1}"/>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33331" y="3449483"/>
            <a:ext cx="282692" cy="269754"/>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https://icooon-mono.com/i/icon_14440/icon_144401_64.png">
            <a:extLst>
              <a:ext uri="{FF2B5EF4-FFF2-40B4-BE49-F238E27FC236}">
                <a16:creationId xmlns:a16="http://schemas.microsoft.com/office/drawing/2014/main" id="{B980FFAA-31D4-41CE-8752-56CD09AD24EB}"/>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14932" y="3449483"/>
            <a:ext cx="282692" cy="269754"/>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https://icooon-mono.com/i/icon_14440/icon_144401_64.png">
            <a:extLst>
              <a:ext uri="{FF2B5EF4-FFF2-40B4-BE49-F238E27FC236}">
                <a16:creationId xmlns:a16="http://schemas.microsoft.com/office/drawing/2014/main" id="{763C38B7-40F4-47DB-8C46-711A1C760935}"/>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996533" y="3455499"/>
            <a:ext cx="282692" cy="269754"/>
          </a:xfrm>
          <a:prstGeom prst="rect">
            <a:avLst/>
          </a:prstGeom>
          <a:noFill/>
          <a:extLst>
            <a:ext uri="{909E8E84-426E-40DD-AFC4-6F175D3DCCD1}">
              <a14:hiddenFill xmlns:a14="http://schemas.microsoft.com/office/drawing/2010/main">
                <a:solidFill>
                  <a:srgbClr val="FFFFFF"/>
                </a:solidFill>
              </a14:hiddenFill>
            </a:ext>
          </a:extLst>
        </p:spPr>
      </p:pic>
      <p:cxnSp>
        <p:nvCxnSpPr>
          <p:cNvPr id="73" name="カギ線コネクタ 29">
            <a:extLst>
              <a:ext uri="{FF2B5EF4-FFF2-40B4-BE49-F238E27FC236}">
                <a16:creationId xmlns:a16="http://schemas.microsoft.com/office/drawing/2014/main" id="{BBB52501-FA78-40B6-99DD-1A6E714F2EED}"/>
              </a:ext>
            </a:extLst>
          </p:cNvPr>
          <p:cNvCxnSpPr>
            <a:cxnSpLocks/>
            <a:stCxn id="100" idx="2"/>
            <a:endCxn id="65" idx="0"/>
          </p:cNvCxnSpPr>
          <p:nvPr/>
        </p:nvCxnSpPr>
        <p:spPr>
          <a:xfrm rot="5400000">
            <a:off x="1836184" y="1622108"/>
            <a:ext cx="721065" cy="2933684"/>
          </a:xfrm>
          <a:prstGeom prst="bentConnector3">
            <a:avLst>
              <a:gd name="adj1" fmla="val 50000"/>
            </a:avLst>
          </a:prstGeom>
          <a:noFill/>
          <a:ln w="12700" cap="flat" cmpd="sng" algn="ctr">
            <a:solidFill>
              <a:srgbClr val="404040">
                <a:lumMod val="60000"/>
                <a:lumOff val="40000"/>
              </a:srgbClr>
            </a:solidFill>
            <a:prstDash val="solid"/>
            <a:miter lim="800000"/>
            <a:headEnd type="triangle"/>
            <a:tailEnd type="triangle"/>
          </a:ln>
          <a:effectLst/>
        </p:spPr>
      </p:cxnSp>
      <p:cxnSp>
        <p:nvCxnSpPr>
          <p:cNvPr id="74" name="カギ線コネクタ 30">
            <a:extLst>
              <a:ext uri="{FF2B5EF4-FFF2-40B4-BE49-F238E27FC236}">
                <a16:creationId xmlns:a16="http://schemas.microsoft.com/office/drawing/2014/main" id="{C7A6E17A-6BC3-4A0B-9D95-FE09CD2B87B7}"/>
              </a:ext>
            </a:extLst>
          </p:cNvPr>
          <p:cNvCxnSpPr>
            <a:cxnSpLocks/>
            <a:stCxn id="100" idx="2"/>
            <a:endCxn id="66" idx="0"/>
          </p:cNvCxnSpPr>
          <p:nvPr/>
        </p:nvCxnSpPr>
        <p:spPr>
          <a:xfrm rot="5400000">
            <a:off x="2176985" y="1962909"/>
            <a:ext cx="721065" cy="2252083"/>
          </a:xfrm>
          <a:prstGeom prst="bentConnector3">
            <a:avLst>
              <a:gd name="adj1" fmla="val 50000"/>
            </a:avLst>
          </a:prstGeom>
          <a:noFill/>
          <a:ln w="12700" cap="flat" cmpd="sng" algn="ctr">
            <a:solidFill>
              <a:srgbClr val="404040">
                <a:lumMod val="60000"/>
                <a:lumOff val="40000"/>
              </a:srgbClr>
            </a:solidFill>
            <a:prstDash val="solid"/>
            <a:miter lim="800000"/>
            <a:headEnd type="triangle"/>
            <a:tailEnd type="triangle"/>
          </a:ln>
          <a:effectLst/>
        </p:spPr>
      </p:cxnSp>
      <p:cxnSp>
        <p:nvCxnSpPr>
          <p:cNvPr id="75" name="カギ線コネクタ 31">
            <a:extLst>
              <a:ext uri="{FF2B5EF4-FFF2-40B4-BE49-F238E27FC236}">
                <a16:creationId xmlns:a16="http://schemas.microsoft.com/office/drawing/2014/main" id="{0098E48C-E371-4CF0-9E82-30D71901CBFF}"/>
              </a:ext>
            </a:extLst>
          </p:cNvPr>
          <p:cNvCxnSpPr>
            <a:cxnSpLocks/>
            <a:stCxn id="100" idx="2"/>
            <a:endCxn id="67" idx="0"/>
          </p:cNvCxnSpPr>
          <p:nvPr/>
        </p:nvCxnSpPr>
        <p:spPr>
          <a:xfrm rot="5400000">
            <a:off x="2517786" y="2303710"/>
            <a:ext cx="721065" cy="1570481"/>
          </a:xfrm>
          <a:prstGeom prst="bentConnector3">
            <a:avLst>
              <a:gd name="adj1" fmla="val 50000"/>
            </a:avLst>
          </a:prstGeom>
          <a:noFill/>
          <a:ln w="12700" cap="flat" cmpd="sng" algn="ctr">
            <a:solidFill>
              <a:srgbClr val="404040">
                <a:lumMod val="60000"/>
                <a:lumOff val="40000"/>
              </a:srgbClr>
            </a:solidFill>
            <a:prstDash val="solid"/>
            <a:miter lim="800000"/>
            <a:headEnd type="triangle"/>
            <a:tailEnd type="triangle"/>
          </a:ln>
          <a:effectLst/>
        </p:spPr>
      </p:cxnSp>
      <p:cxnSp>
        <p:nvCxnSpPr>
          <p:cNvPr id="76" name="カギ線コネクタ 32">
            <a:extLst>
              <a:ext uri="{FF2B5EF4-FFF2-40B4-BE49-F238E27FC236}">
                <a16:creationId xmlns:a16="http://schemas.microsoft.com/office/drawing/2014/main" id="{3D75A52A-E70A-4544-8ED0-004755FF41FE}"/>
              </a:ext>
            </a:extLst>
          </p:cNvPr>
          <p:cNvCxnSpPr>
            <a:cxnSpLocks/>
            <a:stCxn id="100" idx="2"/>
            <a:endCxn id="69" idx="0"/>
          </p:cNvCxnSpPr>
          <p:nvPr/>
        </p:nvCxnSpPr>
        <p:spPr>
          <a:xfrm rot="5400000">
            <a:off x="2858586" y="2644510"/>
            <a:ext cx="721065" cy="888881"/>
          </a:xfrm>
          <a:prstGeom prst="bentConnector3">
            <a:avLst>
              <a:gd name="adj1" fmla="val 50000"/>
            </a:avLst>
          </a:prstGeom>
          <a:noFill/>
          <a:ln w="12700" cap="flat" cmpd="sng" algn="ctr">
            <a:solidFill>
              <a:srgbClr val="404040">
                <a:lumMod val="60000"/>
                <a:lumOff val="40000"/>
              </a:srgbClr>
            </a:solidFill>
            <a:prstDash val="solid"/>
            <a:miter lim="800000"/>
            <a:headEnd type="triangle"/>
            <a:tailEnd type="triangle"/>
          </a:ln>
          <a:effectLst/>
        </p:spPr>
      </p:cxnSp>
      <p:cxnSp>
        <p:nvCxnSpPr>
          <p:cNvPr id="77" name="カギ線コネクタ 33">
            <a:extLst>
              <a:ext uri="{FF2B5EF4-FFF2-40B4-BE49-F238E27FC236}">
                <a16:creationId xmlns:a16="http://schemas.microsoft.com/office/drawing/2014/main" id="{B10CF2C3-CD2A-4E11-A529-4BAA4185C42F}"/>
              </a:ext>
            </a:extLst>
          </p:cNvPr>
          <p:cNvCxnSpPr>
            <a:cxnSpLocks/>
            <a:stCxn id="100" idx="2"/>
            <a:endCxn id="71" idx="0"/>
          </p:cNvCxnSpPr>
          <p:nvPr/>
        </p:nvCxnSpPr>
        <p:spPr>
          <a:xfrm rot="5400000">
            <a:off x="3199386" y="2985310"/>
            <a:ext cx="721065" cy="207280"/>
          </a:xfrm>
          <a:prstGeom prst="bentConnector3">
            <a:avLst>
              <a:gd name="adj1" fmla="val 50000"/>
            </a:avLst>
          </a:prstGeom>
          <a:noFill/>
          <a:ln w="12700" cap="flat" cmpd="sng" algn="ctr">
            <a:solidFill>
              <a:srgbClr val="404040">
                <a:lumMod val="60000"/>
                <a:lumOff val="40000"/>
              </a:srgbClr>
            </a:solidFill>
            <a:prstDash val="solid"/>
            <a:miter lim="800000"/>
            <a:headEnd type="triangle"/>
            <a:tailEnd type="triangle"/>
          </a:ln>
          <a:effectLst/>
        </p:spPr>
      </p:cxnSp>
      <p:cxnSp>
        <p:nvCxnSpPr>
          <p:cNvPr id="78" name="カギ線コネクタ 34">
            <a:extLst>
              <a:ext uri="{FF2B5EF4-FFF2-40B4-BE49-F238E27FC236}">
                <a16:creationId xmlns:a16="http://schemas.microsoft.com/office/drawing/2014/main" id="{D64887AA-5D31-4906-B39E-E3BDA31B787E}"/>
              </a:ext>
            </a:extLst>
          </p:cNvPr>
          <p:cNvCxnSpPr>
            <a:cxnSpLocks/>
            <a:stCxn id="100" idx="2"/>
            <a:endCxn id="72" idx="0"/>
          </p:cNvCxnSpPr>
          <p:nvPr/>
        </p:nvCxnSpPr>
        <p:spPr>
          <a:xfrm rot="16200000" flipH="1">
            <a:off x="3537178" y="2854797"/>
            <a:ext cx="727081" cy="474321"/>
          </a:xfrm>
          <a:prstGeom prst="bentConnector3">
            <a:avLst>
              <a:gd name="adj1" fmla="val 50000"/>
            </a:avLst>
          </a:prstGeom>
          <a:noFill/>
          <a:ln w="12700" cap="flat" cmpd="sng" algn="ctr">
            <a:solidFill>
              <a:srgbClr val="404040">
                <a:lumMod val="60000"/>
                <a:lumOff val="40000"/>
              </a:srgbClr>
            </a:solidFill>
            <a:prstDash val="solid"/>
            <a:miter lim="800000"/>
            <a:headEnd type="triangle"/>
            <a:tailEnd type="triangle"/>
          </a:ln>
          <a:effectLst/>
        </p:spPr>
      </p:cxnSp>
      <p:sp>
        <p:nvSpPr>
          <p:cNvPr id="97" name="正方形/長方形 96">
            <a:extLst>
              <a:ext uri="{FF2B5EF4-FFF2-40B4-BE49-F238E27FC236}">
                <a16:creationId xmlns:a16="http://schemas.microsoft.com/office/drawing/2014/main" id="{11436193-C3E5-4E4F-BAB6-3230B435402E}"/>
              </a:ext>
            </a:extLst>
          </p:cNvPr>
          <p:cNvSpPr/>
          <p:nvPr/>
        </p:nvSpPr>
        <p:spPr>
          <a:xfrm>
            <a:off x="252636" y="2842146"/>
            <a:ext cx="493032" cy="243766"/>
          </a:xfrm>
          <a:prstGeom prst="rect">
            <a:avLst/>
          </a:prstGeom>
          <a:solidFill>
            <a:srgbClr val="6CA6BA"/>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srgbClr val="000000"/>
                </a:solidFill>
                <a:effectLst/>
                <a:uLnTx/>
                <a:uFillTx/>
                <a:latin typeface="Arial"/>
                <a:ea typeface="Meiryo UI"/>
                <a:cs typeface="+mn-cs"/>
              </a:rPr>
              <a:t>各部門</a:t>
            </a:r>
          </a:p>
        </p:txBody>
      </p:sp>
      <p:cxnSp>
        <p:nvCxnSpPr>
          <p:cNvPr id="98" name="カギ線コネクタ 65">
            <a:extLst>
              <a:ext uri="{FF2B5EF4-FFF2-40B4-BE49-F238E27FC236}">
                <a16:creationId xmlns:a16="http://schemas.microsoft.com/office/drawing/2014/main" id="{F62F2C3F-4342-4D44-B66E-0D0EBA59431C}"/>
              </a:ext>
            </a:extLst>
          </p:cNvPr>
          <p:cNvCxnSpPr>
            <a:cxnSpLocks/>
            <a:stCxn id="99" idx="3"/>
            <a:endCxn id="100" idx="1"/>
          </p:cNvCxnSpPr>
          <p:nvPr/>
        </p:nvCxnSpPr>
        <p:spPr>
          <a:xfrm>
            <a:off x="2240568" y="2440418"/>
            <a:ext cx="450990" cy="0"/>
          </a:xfrm>
          <a:prstGeom prst="straightConnector1">
            <a:avLst/>
          </a:prstGeom>
          <a:noFill/>
          <a:ln w="12700" cap="flat" cmpd="sng" algn="ctr">
            <a:solidFill>
              <a:srgbClr val="404040">
                <a:lumMod val="60000"/>
                <a:lumOff val="40000"/>
              </a:srgbClr>
            </a:solidFill>
            <a:prstDash val="solid"/>
            <a:miter lim="800000"/>
            <a:headEnd type="triangle"/>
            <a:tailEnd type="triangle"/>
          </a:ln>
          <a:effectLst/>
        </p:spPr>
      </p:cxnSp>
      <p:sp>
        <p:nvSpPr>
          <p:cNvPr id="99" name="正方形/長方形 98">
            <a:extLst>
              <a:ext uri="{FF2B5EF4-FFF2-40B4-BE49-F238E27FC236}">
                <a16:creationId xmlns:a16="http://schemas.microsoft.com/office/drawing/2014/main" id="{4B316C1F-0B69-40DD-B981-225E9F5FAB00}"/>
              </a:ext>
            </a:extLst>
          </p:cNvPr>
          <p:cNvSpPr/>
          <p:nvPr/>
        </p:nvSpPr>
        <p:spPr>
          <a:xfrm>
            <a:off x="296568" y="2152418"/>
            <a:ext cx="1944000" cy="576000"/>
          </a:xfrm>
          <a:prstGeom prst="rect">
            <a:avLst/>
          </a:prstGeom>
          <a:solidFill>
            <a:srgbClr val="FFFFFF"/>
          </a:solidFill>
          <a:ln w="12700" cap="flat" cmpd="sng" algn="ctr">
            <a:solidFill>
              <a:schemeClr val="accent2"/>
            </a:solidFill>
            <a:prstDash val="solid"/>
            <a:miter lim="800000"/>
          </a:ln>
          <a:effectLst/>
        </p:spPr>
        <p:txBody>
          <a:bodyPr rtlCol="0" anchor="ct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6487"/>
                </a:solidFill>
                <a:effectLst/>
                <a:uLnTx/>
                <a:uFillTx/>
                <a:latin typeface="メイリオ"/>
                <a:ea typeface="メイリオ"/>
                <a:cs typeface="+mn-cs"/>
              </a:rPr>
              <a:t>事務局メンバー</a:t>
            </a:r>
            <a:endParaRPr kumimoji="0" lang="en-US" altLang="ja-JP" sz="1100" b="1" i="0" u="none" strike="noStrike" kern="0" cap="none" spc="0" normalizeH="0" baseline="0" noProof="0">
              <a:ln>
                <a:noFill/>
              </a:ln>
              <a:solidFill>
                <a:srgbClr val="006487"/>
              </a:solidFill>
              <a:effectLst/>
              <a:uLnTx/>
              <a:uFillTx/>
              <a:latin typeface="メイリオ"/>
              <a:ea typeface="メイリオ"/>
              <a:cs typeface="+mn-cs"/>
            </a:endParaRPr>
          </a:p>
          <a:p>
            <a:pPr marL="171450" marR="0" lvl="0" indent="-171450" algn="l" defTabSz="6943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0" i="0" u="none" strike="noStrike" kern="0" cap="none" spc="0" normalizeH="0" baseline="0" noProof="0">
                <a:ln>
                  <a:noFill/>
                </a:ln>
                <a:solidFill>
                  <a:srgbClr val="006487"/>
                </a:solidFill>
                <a:effectLst/>
                <a:uLnTx/>
                <a:uFillTx/>
                <a:latin typeface="メイリオ"/>
                <a:ea typeface="メイリオ"/>
                <a:cs typeface="+mn-cs"/>
              </a:rPr>
              <a:t>部門定例での討議フォローを担う</a:t>
            </a:r>
            <a:endParaRPr kumimoji="0" lang="en-US" altLang="ja-JP" sz="1000" b="0" i="0" u="none" strike="noStrike" kern="0" cap="none" spc="0" normalizeH="0" baseline="0" noProof="0">
              <a:ln>
                <a:noFill/>
              </a:ln>
              <a:solidFill>
                <a:srgbClr val="006487"/>
              </a:solidFill>
              <a:effectLst/>
              <a:uLnTx/>
              <a:uFillTx/>
              <a:latin typeface="メイリオ"/>
              <a:ea typeface="メイリオ"/>
              <a:cs typeface="+mn-cs"/>
            </a:endParaRPr>
          </a:p>
        </p:txBody>
      </p:sp>
      <p:sp>
        <p:nvSpPr>
          <p:cNvPr id="100" name="正方形/長方形 99">
            <a:extLst>
              <a:ext uri="{FF2B5EF4-FFF2-40B4-BE49-F238E27FC236}">
                <a16:creationId xmlns:a16="http://schemas.microsoft.com/office/drawing/2014/main" id="{5F0ABEAC-F0CE-4647-87AC-8D166DA02D44}"/>
              </a:ext>
            </a:extLst>
          </p:cNvPr>
          <p:cNvSpPr/>
          <p:nvPr/>
        </p:nvSpPr>
        <p:spPr>
          <a:xfrm>
            <a:off x="2691558" y="2152418"/>
            <a:ext cx="1944000" cy="576000"/>
          </a:xfrm>
          <a:prstGeom prst="rect">
            <a:avLst/>
          </a:prstGeom>
          <a:solidFill>
            <a:srgbClr val="FFFFFF"/>
          </a:solidFill>
          <a:ln w="12700" cap="flat" cmpd="sng" algn="ctr">
            <a:solidFill>
              <a:schemeClr val="accent2"/>
            </a:solidFill>
            <a:prstDash val="solid"/>
            <a:miter lim="800000"/>
          </a:ln>
          <a:effectLst/>
        </p:spPr>
        <p:txBody>
          <a:bodyPr rtlCol="0" anchor="ct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6487"/>
                </a:solidFill>
                <a:effectLst/>
                <a:uLnTx/>
                <a:uFillTx/>
                <a:latin typeface="メイリオ"/>
                <a:ea typeface="メイリオ"/>
                <a:cs typeface="+mn-cs"/>
              </a:rPr>
              <a:t>各部門企画担当</a:t>
            </a:r>
            <a:endParaRPr kumimoji="0" lang="en-US" altLang="ja-JP" sz="800" b="0" i="0" u="none" strike="noStrike" kern="0" cap="none" spc="0" normalizeH="0" baseline="0" noProof="0">
              <a:ln>
                <a:noFill/>
              </a:ln>
              <a:solidFill>
                <a:srgbClr val="FF0000"/>
              </a:solidFill>
              <a:effectLst/>
              <a:uLnTx/>
              <a:uFillTx/>
              <a:latin typeface="メイリオ"/>
              <a:ea typeface="メイリオ"/>
              <a:cs typeface="+mn-cs"/>
            </a:endParaRPr>
          </a:p>
          <a:p>
            <a:pPr marL="171450" marR="0" lvl="0" indent="-171450" algn="l" defTabSz="69439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00" b="0" i="0" u="none" strike="noStrike" kern="0" cap="none" spc="0" normalizeH="0" baseline="0" noProof="0">
                <a:ln>
                  <a:noFill/>
                </a:ln>
                <a:solidFill>
                  <a:srgbClr val="006487"/>
                </a:solidFill>
                <a:effectLst/>
                <a:uLnTx/>
                <a:uFillTx/>
                <a:latin typeface="メイリオ"/>
                <a:ea typeface="メイリオ"/>
                <a:cs typeface="+mn-cs"/>
              </a:rPr>
              <a:t>One Team</a:t>
            </a:r>
            <a:r>
              <a:rPr kumimoji="0" lang="ja-JP" altLang="en-US" sz="1000" b="0" i="0" u="none" strike="noStrike" kern="0" cap="none" spc="0" normalizeH="0" baseline="0" noProof="0">
                <a:ln>
                  <a:noFill/>
                </a:ln>
                <a:solidFill>
                  <a:srgbClr val="006487"/>
                </a:solidFill>
                <a:effectLst/>
                <a:uLnTx/>
                <a:uFillTx/>
                <a:latin typeface="メイリオ"/>
                <a:ea typeface="メイリオ"/>
                <a:cs typeface="+mn-cs"/>
              </a:rPr>
              <a:t>活動、部門費人員協議会と兼務・連携</a:t>
            </a:r>
          </a:p>
        </p:txBody>
      </p:sp>
      <p:sp>
        <p:nvSpPr>
          <p:cNvPr id="106" name="フローチャート: 組合せ 105">
            <a:extLst>
              <a:ext uri="{FF2B5EF4-FFF2-40B4-BE49-F238E27FC236}">
                <a16:creationId xmlns:a16="http://schemas.microsoft.com/office/drawing/2014/main" id="{DBFF3603-DE4D-405F-999B-09B585C21127}"/>
              </a:ext>
            </a:extLst>
          </p:cNvPr>
          <p:cNvSpPr/>
          <p:nvPr/>
        </p:nvSpPr>
        <p:spPr>
          <a:xfrm>
            <a:off x="1637429" y="5197729"/>
            <a:ext cx="1657268" cy="261360"/>
          </a:xfrm>
          <a:prstGeom prst="flowChartMerge">
            <a:avLst/>
          </a:prstGeom>
          <a:solidFill>
            <a:srgbClr val="C2CEE6"/>
          </a:solidFill>
          <a:ln w="12700" cap="flat" cmpd="sng" algn="ctr">
            <a:noFill/>
            <a:prstDash val="solid"/>
            <a:miter lim="800000"/>
          </a:ln>
          <a:effectLst/>
        </p:spPr>
        <p:txBody>
          <a:bodyPr rtlCol="0" anchor="ctr"/>
          <a:lstStyle/>
          <a:p>
            <a:pPr marL="0" marR="0" lvl="0" indent="0" algn="ctr" defTabSz="694376" rtl="0" eaLnBrk="1" fontAlgn="auto" latinLnBrk="0" hangingPunct="1">
              <a:lnSpc>
                <a:spcPct val="100000"/>
              </a:lnSpc>
              <a:spcBef>
                <a:spcPts val="0"/>
              </a:spcBef>
              <a:spcAft>
                <a:spcPts val="0"/>
              </a:spcAft>
              <a:buClrTx/>
              <a:buSzTx/>
              <a:buFontTx/>
              <a:buNone/>
              <a:tabLst/>
              <a:defRPr/>
            </a:pPr>
            <a:endParaRPr kumimoji="1" lang="ja-JP" altLang="en-US" sz="1367" b="0" i="0" u="none" strike="noStrike" kern="0" cap="none" spc="0" normalizeH="0" baseline="0" noProof="0">
              <a:ln>
                <a:noFill/>
              </a:ln>
              <a:solidFill>
                <a:srgbClr val="FFFFFF"/>
              </a:solidFill>
              <a:effectLst/>
              <a:uLnTx/>
              <a:uFillTx/>
              <a:latin typeface="Arial"/>
              <a:ea typeface="Meiryo UI"/>
              <a:cs typeface="+mn-cs"/>
            </a:endParaRPr>
          </a:p>
        </p:txBody>
      </p:sp>
      <p:sp>
        <p:nvSpPr>
          <p:cNvPr id="107" name="テキスト ボックス 106">
            <a:extLst>
              <a:ext uri="{FF2B5EF4-FFF2-40B4-BE49-F238E27FC236}">
                <a16:creationId xmlns:a16="http://schemas.microsoft.com/office/drawing/2014/main" id="{61B7D796-C67D-448B-B416-54ABBD20AFAC}"/>
              </a:ext>
            </a:extLst>
          </p:cNvPr>
          <p:cNvSpPr txBox="1"/>
          <p:nvPr/>
        </p:nvSpPr>
        <p:spPr>
          <a:xfrm>
            <a:off x="1936110" y="5193146"/>
            <a:ext cx="1059906" cy="253916"/>
          </a:xfrm>
          <a:prstGeom prst="rect">
            <a:avLst/>
          </a:prstGeom>
          <a:noFill/>
        </p:spPr>
        <p:txBody>
          <a:bodyPr wrap="none" rtlCol="0">
            <a:spAutoFit/>
          </a:bodyPr>
          <a:lstStyle/>
          <a:p>
            <a:pPr marL="0" marR="0" lvl="0" indent="0" algn="l" defTabSz="694376" rtl="0" eaLnBrk="1" fontAlgn="auto" latinLnBrk="0" hangingPunct="1">
              <a:lnSpc>
                <a:spcPct val="100000"/>
              </a:lnSpc>
              <a:spcBef>
                <a:spcPts val="0"/>
              </a:spcBef>
              <a:spcAft>
                <a:spcPts val="0"/>
              </a:spcAft>
              <a:buClrTx/>
              <a:buSzTx/>
              <a:buFontTx/>
              <a:buNone/>
              <a:tabLst/>
              <a:defRPr/>
            </a:pPr>
            <a:r>
              <a:rPr kumimoji="1" lang="ja-JP" altLang="en-US" sz="1050" b="0" i="0" u="none" strike="noStrike" kern="0" cap="none" spc="0" normalizeH="0" baseline="0" noProof="0">
                <a:ln>
                  <a:noFill/>
                </a:ln>
                <a:solidFill>
                  <a:srgbClr val="000000"/>
                </a:solidFill>
                <a:effectLst/>
                <a:uLnTx/>
                <a:uFillTx/>
                <a:latin typeface="Arial"/>
                <a:ea typeface="Meiryo UI"/>
                <a:cs typeface="+mn-cs"/>
              </a:rPr>
              <a:t>周知・意見収集</a:t>
            </a:r>
          </a:p>
        </p:txBody>
      </p:sp>
      <p:pic>
        <p:nvPicPr>
          <p:cNvPr id="44" name="図 43">
            <a:extLst>
              <a:ext uri="{FF2B5EF4-FFF2-40B4-BE49-F238E27FC236}">
                <a16:creationId xmlns:a16="http://schemas.microsoft.com/office/drawing/2014/main" id="{645A98C1-21EF-46FB-BD58-F956D5C8AEC0}"/>
              </a:ext>
            </a:extLst>
          </p:cNvPr>
          <p:cNvPicPr>
            <a:picLocks noChangeAspect="1"/>
          </p:cNvPicPr>
          <p:nvPr/>
        </p:nvPicPr>
        <p:blipFill>
          <a:blip r:embed="rId4"/>
          <a:stretch>
            <a:fillRect/>
          </a:stretch>
        </p:blipFill>
        <p:spPr>
          <a:xfrm>
            <a:off x="368394" y="3813054"/>
            <a:ext cx="4180666" cy="1278351"/>
          </a:xfrm>
          <a:prstGeom prst="rect">
            <a:avLst/>
          </a:prstGeom>
        </p:spPr>
      </p:pic>
      <p:grpSp>
        <p:nvGrpSpPr>
          <p:cNvPr id="3" name="グループ化 2">
            <a:extLst>
              <a:ext uri="{FF2B5EF4-FFF2-40B4-BE49-F238E27FC236}">
                <a16:creationId xmlns:a16="http://schemas.microsoft.com/office/drawing/2014/main" id="{477382C3-5EAF-4B00-A30C-28F005C89B82}"/>
              </a:ext>
            </a:extLst>
          </p:cNvPr>
          <p:cNvGrpSpPr/>
          <p:nvPr/>
        </p:nvGrpSpPr>
        <p:grpSpPr>
          <a:xfrm>
            <a:off x="653349" y="5485092"/>
            <a:ext cx="3707874" cy="338554"/>
            <a:chOff x="782641" y="5579304"/>
            <a:chExt cx="3707874" cy="338554"/>
          </a:xfrm>
        </p:grpSpPr>
        <p:sp>
          <p:nvSpPr>
            <p:cNvPr id="45" name="正方形/長方形 44">
              <a:extLst>
                <a:ext uri="{FF2B5EF4-FFF2-40B4-BE49-F238E27FC236}">
                  <a16:creationId xmlns:a16="http://schemas.microsoft.com/office/drawing/2014/main" id="{0683D556-29A1-40E3-A11D-9631BCAD018F}"/>
                </a:ext>
              </a:extLst>
            </p:cNvPr>
            <p:cNvSpPr/>
            <p:nvPr/>
          </p:nvSpPr>
          <p:spPr>
            <a:xfrm>
              <a:off x="782641" y="5623886"/>
              <a:ext cx="966957" cy="249390"/>
            </a:xfrm>
            <a:prstGeom prst="rect">
              <a:avLst/>
            </a:prstGeom>
            <a:solidFill>
              <a:srgbClr val="FFFFFF">
                <a:lumMod val="75000"/>
              </a:srgbClr>
            </a:solidFill>
            <a:ln w="12700" cap="flat" cmpd="sng" algn="ctr">
              <a:solidFill>
                <a:srgbClr val="C2CEE6">
                  <a:shade val="50000"/>
                </a:srgbClr>
              </a:solidFill>
              <a:prstDash val="solid"/>
              <a:miter lim="800000"/>
            </a:ln>
            <a:effectLst/>
          </p:spPr>
          <p:txBody>
            <a:bodyPr vert="horz" rtlCol="0" anchor="ctr"/>
            <a:lstStyle/>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関連部門</a:t>
              </a:r>
              <a:r>
                <a:rPr kumimoji="0" lang="en-US" altLang="ja-JP"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A</a:t>
              </a:r>
              <a:endPar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endParaRPr>
            </a:p>
          </p:txBody>
        </p:sp>
        <p:sp>
          <p:nvSpPr>
            <p:cNvPr id="46" name="テキスト ボックス 45">
              <a:extLst>
                <a:ext uri="{FF2B5EF4-FFF2-40B4-BE49-F238E27FC236}">
                  <a16:creationId xmlns:a16="http://schemas.microsoft.com/office/drawing/2014/main" id="{C412D5A3-5645-4019-BEA5-F954C30F57C4}"/>
                </a:ext>
              </a:extLst>
            </p:cNvPr>
            <p:cNvSpPr txBox="1"/>
            <p:nvPr/>
          </p:nvSpPr>
          <p:spPr>
            <a:xfrm rot="16200000">
              <a:off x="4082711" y="5510054"/>
              <a:ext cx="338554" cy="477054"/>
            </a:xfrm>
            <a:prstGeom prst="rect">
              <a:avLst/>
            </a:prstGeom>
            <a:noFill/>
          </p:spPr>
          <p:txBody>
            <a:bodyPr vert="eaVert" wrap="none" rtlCol="0">
              <a:spAutoFit/>
            </a:bodyPr>
            <a:lstStyle/>
            <a:p>
              <a:pPr marL="0" marR="0" lvl="0" indent="0" algn="l" defTabSz="694393" rtl="0" eaLnBrk="1" fontAlgn="auto" latinLnBrk="0" hangingPunct="1">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srgbClr val="FFFFFF">
                      <a:lumMod val="50000"/>
                    </a:srgbClr>
                  </a:solidFill>
                  <a:effectLst/>
                  <a:uLnTx/>
                  <a:uFillTx/>
                  <a:latin typeface="メイリオ"/>
                  <a:ea typeface="メイリオ"/>
                  <a:cs typeface="+mn-cs"/>
                </a:rPr>
                <a:t>・・・</a:t>
              </a:r>
            </a:p>
          </p:txBody>
        </p:sp>
        <p:sp>
          <p:nvSpPr>
            <p:cNvPr id="47" name="正方形/長方形 46">
              <a:extLst>
                <a:ext uri="{FF2B5EF4-FFF2-40B4-BE49-F238E27FC236}">
                  <a16:creationId xmlns:a16="http://schemas.microsoft.com/office/drawing/2014/main" id="{C3C46ED3-732E-4FF0-BEBB-8E00E58BE9E0}"/>
                </a:ext>
              </a:extLst>
            </p:cNvPr>
            <p:cNvSpPr/>
            <p:nvPr/>
          </p:nvSpPr>
          <p:spPr>
            <a:xfrm>
              <a:off x="1865164" y="5623886"/>
              <a:ext cx="966957" cy="249390"/>
            </a:xfrm>
            <a:prstGeom prst="rect">
              <a:avLst/>
            </a:prstGeom>
            <a:solidFill>
              <a:srgbClr val="FFFFFF">
                <a:lumMod val="75000"/>
              </a:srgbClr>
            </a:solidFill>
            <a:ln w="12700" cap="flat" cmpd="sng" algn="ctr">
              <a:solidFill>
                <a:srgbClr val="C2CEE6">
                  <a:shade val="50000"/>
                </a:srgbClr>
              </a:solidFill>
              <a:prstDash val="solid"/>
              <a:miter lim="800000"/>
            </a:ln>
            <a:effectLst/>
          </p:spPr>
          <p:txBody>
            <a:bodyPr vert="horz" rtlCol="0" anchor="ctr"/>
            <a:lstStyle/>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関連部門</a:t>
              </a:r>
              <a:r>
                <a:rPr kumimoji="0" lang="en-US" altLang="ja-JP"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B</a:t>
              </a:r>
              <a:endPar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endParaRPr>
            </a:p>
          </p:txBody>
        </p:sp>
        <p:sp>
          <p:nvSpPr>
            <p:cNvPr id="48" name="正方形/長方形 47">
              <a:extLst>
                <a:ext uri="{FF2B5EF4-FFF2-40B4-BE49-F238E27FC236}">
                  <a16:creationId xmlns:a16="http://schemas.microsoft.com/office/drawing/2014/main" id="{3B158A72-09D1-48B8-8E74-F14AE594B787}"/>
                </a:ext>
              </a:extLst>
            </p:cNvPr>
            <p:cNvSpPr/>
            <p:nvPr/>
          </p:nvSpPr>
          <p:spPr>
            <a:xfrm>
              <a:off x="2947687" y="5623886"/>
              <a:ext cx="966957" cy="249390"/>
            </a:xfrm>
            <a:prstGeom prst="rect">
              <a:avLst/>
            </a:prstGeom>
            <a:solidFill>
              <a:srgbClr val="FFFFFF">
                <a:lumMod val="75000"/>
              </a:srgbClr>
            </a:solidFill>
            <a:ln w="12700" cap="flat" cmpd="sng" algn="ctr">
              <a:solidFill>
                <a:srgbClr val="C2CEE6">
                  <a:shade val="50000"/>
                </a:srgbClr>
              </a:solidFill>
              <a:prstDash val="solid"/>
              <a:miter lim="800000"/>
            </a:ln>
            <a:effectLst/>
          </p:spPr>
          <p:txBody>
            <a:bodyPr vert="horz" rtlCol="0" anchor="ctr"/>
            <a:lstStyle/>
            <a:p>
              <a:pPr marL="0" marR="0" lvl="0" indent="0" algn="ctr" defTabSz="694393" rtl="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関連部門</a:t>
              </a:r>
              <a:r>
                <a:rPr kumimoji="0" lang="en-US" altLang="ja-JP"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rPr>
                <a:t>C</a:t>
              </a:r>
              <a:endParaRPr kumimoji="0" lang="ja-JP" altLang="en-US" sz="1000" b="0" i="0" u="none" strike="noStrike" kern="0" cap="none" spc="0" normalizeH="0" baseline="0" noProof="0">
                <a:ln>
                  <a:noFill/>
                </a:ln>
                <a:solidFill>
                  <a:srgbClr val="000000">
                    <a:lumMod val="75000"/>
                    <a:lumOff val="25000"/>
                  </a:srgbClr>
                </a:solidFill>
                <a:effectLst/>
                <a:uLnTx/>
                <a:uFillTx/>
                <a:latin typeface="メイリオ"/>
                <a:ea typeface="メイリオ"/>
                <a:cs typeface="+mn-cs"/>
              </a:endParaRPr>
            </a:p>
          </p:txBody>
        </p:sp>
      </p:grpSp>
      <p:cxnSp>
        <p:nvCxnSpPr>
          <p:cNvPr id="5" name="直線矢印コネクタ 4">
            <a:extLst>
              <a:ext uri="{FF2B5EF4-FFF2-40B4-BE49-F238E27FC236}">
                <a16:creationId xmlns:a16="http://schemas.microsoft.com/office/drawing/2014/main" id="{AB668FB4-A633-47AB-809A-BF765CD891BC}"/>
              </a:ext>
            </a:extLst>
          </p:cNvPr>
          <p:cNvCxnSpPr/>
          <p:nvPr/>
        </p:nvCxnSpPr>
        <p:spPr>
          <a:xfrm flipH="1">
            <a:off x="9335589" y="2577737"/>
            <a:ext cx="4005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F3BDBA2B-8DCC-4D05-8361-68FE0FEA0D3F}"/>
              </a:ext>
            </a:extLst>
          </p:cNvPr>
          <p:cNvSpPr txBox="1"/>
          <p:nvPr/>
        </p:nvSpPr>
        <p:spPr>
          <a:xfrm>
            <a:off x="9736183" y="2446602"/>
            <a:ext cx="1384662" cy="430887"/>
          </a:xfrm>
          <a:prstGeom prst="rect">
            <a:avLst/>
          </a:prstGeom>
          <a:noFill/>
        </p:spPr>
        <p:txBody>
          <a:bodyPr wrap="square" rtlCol="0">
            <a:spAutoFit/>
          </a:bodyPr>
          <a:lstStyle/>
          <a:p>
            <a:r>
              <a:rPr kumimoji="1" lang="ja-JP" altLang="en-US" sz="1100"/>
              <a:t>計画部を削除しました</a:t>
            </a:r>
          </a:p>
        </p:txBody>
      </p:sp>
    </p:spTree>
    <p:extLst>
      <p:ext uri="{BB962C8B-B14F-4D97-AF65-F5344CB8AC3E}">
        <p14:creationId xmlns:p14="http://schemas.microsoft.com/office/powerpoint/2010/main" val="146532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55F3B756-E644-4A31-9C3A-0FE0FCDB03CA}"/>
              </a:ext>
            </a:extLst>
          </p:cNvPr>
          <p:cNvSpPr txBox="1">
            <a:spLocks/>
          </p:cNvSpPr>
          <p:nvPr/>
        </p:nvSpPr>
        <p:spPr>
          <a:xfrm>
            <a:off x="178525" y="122035"/>
            <a:ext cx="7419076" cy="349961"/>
          </a:xfrm>
          <a:prstGeom prst="rect">
            <a:avLst/>
          </a:prstGeom>
        </p:spPr>
        <p:txBody>
          <a:bodyPr/>
          <a:lstStyle>
            <a:lvl1pPr algn="l" defTabSz="685800" rtl="0" eaLnBrk="1" latinLnBrk="0" hangingPunct="1">
              <a:lnSpc>
                <a:spcPct val="100000"/>
              </a:lnSpc>
              <a:spcBef>
                <a:spcPct val="0"/>
              </a:spcBef>
              <a:buNone/>
              <a:defRPr kumimoji="1" sz="2200" b="1" kern="1200">
                <a:solidFill>
                  <a:schemeClr val="tx1"/>
                </a:solidFill>
                <a:latin typeface="+mj-ea"/>
                <a:ea typeface="+mj-ea"/>
                <a:cs typeface="メイリオ" pitchFamily="50" charset="-128"/>
              </a:defRPr>
            </a:lvl1pPr>
          </a:lstStyle>
          <a:p>
            <a:r>
              <a:rPr lang="ja-JP" altLang="en-US" sz="2000">
                <a:solidFill>
                  <a:prstClr val="black"/>
                </a:solidFill>
                <a:latin typeface="Meiryo UI" panose="020B0604030504040204" pitchFamily="50" charset="-128"/>
                <a:ea typeface="Meiryo UI" panose="020B0604030504040204" pitchFamily="50" charset="-128"/>
              </a:rPr>
              <a:t>６．</a:t>
            </a:r>
            <a:r>
              <a:rPr lang="ja-JP" altLang="en-US" sz="2000">
                <a:latin typeface="+mn-ea"/>
                <a:ea typeface="+mn-ea"/>
              </a:rPr>
              <a:t>個別検討会について</a:t>
            </a:r>
            <a:r>
              <a:rPr lang="en-US" altLang="ja-JP" sz="2000">
                <a:latin typeface="+mn-ea"/>
                <a:ea typeface="+mn-ea"/>
              </a:rPr>
              <a:t>_</a:t>
            </a:r>
            <a:r>
              <a:rPr lang="ja-JP" altLang="en-US" sz="2000">
                <a:latin typeface="+mn-ea"/>
                <a:ea typeface="+mn-ea"/>
              </a:rPr>
              <a:t>依頼事項</a:t>
            </a:r>
            <a:endParaRPr lang="en-US" altLang="ja-JP" sz="2000">
              <a:latin typeface="+mn-ea"/>
              <a:ea typeface="+mn-ea"/>
            </a:endParaRPr>
          </a:p>
        </p:txBody>
      </p:sp>
      <p:sp>
        <p:nvSpPr>
          <p:cNvPr id="6" name="テキスト プレースホルダー 8">
            <a:extLst>
              <a:ext uri="{FF2B5EF4-FFF2-40B4-BE49-F238E27FC236}">
                <a16:creationId xmlns:a16="http://schemas.microsoft.com/office/drawing/2014/main" id="{A5C0097A-D0AD-4C63-ABC4-99716D5FB78F}"/>
              </a:ext>
            </a:extLst>
          </p:cNvPr>
          <p:cNvSpPr txBox="1">
            <a:spLocks/>
          </p:cNvSpPr>
          <p:nvPr/>
        </p:nvSpPr>
        <p:spPr>
          <a:xfrm>
            <a:off x="178525" y="667939"/>
            <a:ext cx="8786949" cy="464176"/>
          </a:xfrm>
          <a:prstGeom prst="rect">
            <a:avLst/>
          </a:prstGeom>
          <a:solidFill>
            <a:schemeClr val="bg2">
              <a:lumMod val="40000"/>
              <a:lumOff val="60000"/>
            </a:schemeClr>
          </a:solidFill>
        </p:spPr>
        <p:txBody>
          <a:bodyPr/>
          <a:lstStyle>
            <a:lvl1pPr marL="0" indent="0" algn="l" defTabSz="685800" rtl="0" eaLnBrk="1" latinLnBrk="0" hangingPunct="1">
              <a:lnSpc>
                <a:spcPct val="120000"/>
              </a:lnSpc>
              <a:spcBef>
                <a:spcPts val="750"/>
              </a:spcBef>
              <a:buFont typeface="Arial" panose="020B0604020202020204" pitchFamily="34" charset="0"/>
              <a:buNone/>
              <a:defRPr kumimoji="1" sz="1600" kern="1200">
                <a:solidFill>
                  <a:schemeClr val="tx1"/>
                </a:solidFill>
                <a:latin typeface="+mn-ea"/>
                <a:ea typeface="+mn-ea"/>
                <a:cs typeface="メイリオ" pitchFamily="50" charset="-128"/>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342900" marR="0" lvl="0" indent="-342900" algn="l" defTabSz="685800" rtl="0" eaLnBrk="1" fontAlgn="auto" latinLnBrk="0" hangingPunct="1">
              <a:lnSpc>
                <a:spcPct val="120000"/>
              </a:lnSpc>
              <a:spcBef>
                <a:spcPts val="750"/>
              </a:spcBef>
              <a:spcAft>
                <a:spcPts val="0"/>
              </a:spcAft>
              <a:buClrTx/>
              <a:buSzTx/>
              <a:buFont typeface="Wingdings" panose="05000000000000000000" pitchFamily="2" charset="2"/>
              <a:buChar char="n"/>
              <a:tabLst/>
              <a:defRPr/>
            </a:pPr>
            <a:r>
              <a:rPr kumimoji="1" lang="en-US" altLang="ja-JP" sz="1600" b="0" i="0" u="none" strike="noStrike" kern="1200" cap="none" spc="0" normalizeH="0" baseline="0" noProof="0">
                <a:ln>
                  <a:noFill/>
                </a:ln>
                <a:solidFill>
                  <a:srgbClr val="000000"/>
                </a:solidFill>
                <a:effectLst/>
                <a:uLnTx/>
                <a:uFillTx/>
                <a:latin typeface="メイリオ"/>
                <a:ea typeface="メイリオ"/>
              </a:rPr>
              <a:t>5/24(</a:t>
            </a:r>
            <a:r>
              <a:rPr kumimoji="1" lang="ja-JP" altLang="en-US" sz="1600" b="0" i="0" u="none" strike="noStrike" kern="1200" cap="none" spc="0" normalizeH="0" baseline="0" noProof="0">
                <a:ln>
                  <a:noFill/>
                </a:ln>
                <a:solidFill>
                  <a:srgbClr val="000000"/>
                </a:solidFill>
                <a:effectLst/>
                <a:uLnTx/>
                <a:uFillTx/>
                <a:latin typeface="メイリオ"/>
                <a:ea typeface="メイリオ"/>
              </a:rPr>
              <a:t>水</a:t>
            </a:r>
            <a:r>
              <a:rPr kumimoji="1" lang="en-US" altLang="ja-JP" sz="1600" b="0" i="0" u="none" strike="noStrike" kern="1200" cap="none" spc="0" normalizeH="0" baseline="0" noProof="0">
                <a:ln>
                  <a:noFill/>
                </a:ln>
                <a:solidFill>
                  <a:srgbClr val="000000"/>
                </a:solidFill>
                <a:effectLst/>
                <a:uLnTx/>
                <a:uFillTx/>
                <a:latin typeface="メイリオ"/>
                <a:ea typeface="メイリオ"/>
              </a:rPr>
              <a:t>)</a:t>
            </a:r>
            <a:r>
              <a:rPr kumimoji="1" lang="ja-JP" altLang="en-US" sz="1600" b="0" i="0" u="none" strike="noStrike" kern="1200" cap="none" spc="0" normalizeH="0" baseline="0" noProof="0">
                <a:ln>
                  <a:noFill/>
                </a:ln>
                <a:solidFill>
                  <a:srgbClr val="000000"/>
                </a:solidFill>
                <a:effectLst/>
                <a:uLnTx/>
                <a:uFillTx/>
                <a:latin typeface="メイリオ"/>
                <a:ea typeface="メイリオ"/>
              </a:rPr>
              <a:t>に顧客セグメンテーションの検討会を開催する。</a:t>
            </a:r>
            <a:endParaRPr kumimoji="1" lang="en-US" altLang="ja-JP" sz="1600" b="0" i="0" u="none" strike="noStrike" kern="1200" cap="none" spc="0" normalizeH="0" baseline="0" noProof="0">
              <a:ln>
                <a:noFill/>
              </a:ln>
              <a:solidFill>
                <a:srgbClr val="000000"/>
              </a:solidFill>
              <a:effectLst/>
              <a:uLnTx/>
              <a:uFillTx/>
              <a:latin typeface="メイリオ"/>
              <a:ea typeface="メイリオ"/>
            </a:endParaRPr>
          </a:p>
        </p:txBody>
      </p:sp>
      <p:sp>
        <p:nvSpPr>
          <p:cNvPr id="7" name="テキスト ボックス 6">
            <a:extLst>
              <a:ext uri="{FF2B5EF4-FFF2-40B4-BE49-F238E27FC236}">
                <a16:creationId xmlns:a16="http://schemas.microsoft.com/office/drawing/2014/main" id="{56252929-9C10-4EC3-8AD6-E979C7428BCF}"/>
              </a:ext>
            </a:extLst>
          </p:cNvPr>
          <p:cNvSpPr txBox="1"/>
          <p:nvPr/>
        </p:nvSpPr>
        <p:spPr>
          <a:xfrm>
            <a:off x="296092" y="1524000"/>
            <a:ext cx="8669382" cy="3139321"/>
          </a:xfrm>
          <a:prstGeom prst="rect">
            <a:avLst/>
          </a:prstGeom>
          <a:noFill/>
        </p:spPr>
        <p:txBody>
          <a:bodyPr wrap="square" rtlCol="0">
            <a:spAutoFit/>
          </a:bodyPr>
          <a:lstStyle/>
          <a:p>
            <a:r>
              <a:rPr kumimoji="1" lang="en-US" altLang="ja-JP"/>
              <a:t>【</a:t>
            </a:r>
            <a:r>
              <a:rPr kumimoji="1" lang="ja-JP" altLang="en-US"/>
              <a:t>出席部門</a:t>
            </a:r>
            <a:r>
              <a:rPr kumimoji="1" lang="en-US" altLang="ja-JP"/>
              <a:t>】</a:t>
            </a:r>
          </a:p>
          <a:p>
            <a:r>
              <a:rPr lang="ja-JP" altLang="en-US"/>
              <a:t>　・営業部、事業戦</a:t>
            </a:r>
            <a:endParaRPr lang="en-US" altLang="ja-JP"/>
          </a:p>
          <a:p>
            <a:endParaRPr kumimoji="1" lang="en-US" altLang="ja-JP"/>
          </a:p>
          <a:p>
            <a:r>
              <a:rPr lang="en-US" altLang="ja-JP"/>
              <a:t>【</a:t>
            </a:r>
            <a:r>
              <a:rPr lang="ja-JP" altLang="en-US"/>
              <a:t>事前依頼事項</a:t>
            </a:r>
            <a:r>
              <a:rPr lang="en-US" altLang="ja-JP"/>
              <a:t>】</a:t>
            </a:r>
          </a:p>
          <a:p>
            <a:r>
              <a:rPr kumimoji="1" lang="ja-JP" altLang="en-US"/>
              <a:t>　・検討材料として以下データ若しくは資料があれば送付願う。</a:t>
            </a:r>
            <a:r>
              <a:rPr lang="en-US" altLang="ja-JP"/>
              <a:t>(</a:t>
            </a:r>
            <a:r>
              <a:rPr lang="ja-JP" altLang="en-US"/>
              <a:t>既存資料で可</a:t>
            </a:r>
            <a:r>
              <a:rPr lang="en-US" altLang="ja-JP"/>
              <a:t>)</a:t>
            </a:r>
          </a:p>
          <a:p>
            <a:endParaRPr kumimoji="1" lang="en-US" altLang="ja-JP"/>
          </a:p>
          <a:p>
            <a:r>
              <a:rPr kumimoji="1" lang="ja-JP" altLang="en-US"/>
              <a:t>　 ①</a:t>
            </a:r>
            <a:r>
              <a:rPr kumimoji="1" lang="en-US" altLang="ja-JP"/>
              <a:t>VOC</a:t>
            </a:r>
            <a:r>
              <a:rPr kumimoji="1" lang="ja-JP" altLang="en-US"/>
              <a:t>分析資料</a:t>
            </a:r>
            <a:endParaRPr kumimoji="1" lang="en-US" altLang="ja-JP"/>
          </a:p>
          <a:p>
            <a:r>
              <a:rPr lang="ja-JP" altLang="en-US"/>
              <a:t>　 ②顧客リスト（納入製品・種類がわかる様なもの）</a:t>
            </a:r>
            <a:endParaRPr kumimoji="1" lang="en-US" altLang="ja-JP"/>
          </a:p>
          <a:p>
            <a:r>
              <a:rPr lang="ja-JP" altLang="en-US"/>
              <a:t>　 ③顧客別受注実績　</a:t>
            </a:r>
            <a:r>
              <a:rPr lang="en-US" altLang="ja-JP"/>
              <a:t>※</a:t>
            </a:r>
            <a:r>
              <a:rPr lang="ja-JP" altLang="en-US"/>
              <a:t>事前入手済</a:t>
            </a:r>
            <a:endParaRPr lang="en-US" altLang="ja-JP"/>
          </a:p>
          <a:p>
            <a:r>
              <a:rPr lang="ja-JP" altLang="en-US"/>
              <a:t>　 ④製品別受注実績</a:t>
            </a:r>
            <a:endParaRPr lang="en-US" altLang="ja-JP"/>
          </a:p>
          <a:p>
            <a:r>
              <a:rPr lang="ja-JP" altLang="en-US"/>
              <a:t>　 ⑤その他顧客分析資料（機齢データ等、過去分析したものがあれば）　</a:t>
            </a:r>
            <a:endParaRPr lang="en-US" altLang="ja-JP"/>
          </a:p>
        </p:txBody>
      </p:sp>
    </p:spTree>
    <p:extLst>
      <p:ext uri="{BB962C8B-B14F-4D97-AF65-F5344CB8AC3E}">
        <p14:creationId xmlns:p14="http://schemas.microsoft.com/office/powerpoint/2010/main" val="2310437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939179"/>
      </p:ext>
    </p:extLst>
  </p:cSld>
  <p:clrMapOvr>
    <a:masterClrMapping/>
  </p:clrMapOvr>
</p:sld>
</file>

<file path=ppt/theme/theme1.xml><?xml version="1.0" encoding="utf-8"?>
<a:theme xmlns:a="http://schemas.openxmlformats.org/drawingml/2006/main" name="MHI PPT 4:3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2.xml><?xml version="1.0" encoding="utf-8"?>
<a:theme xmlns:a="http://schemas.openxmlformats.org/drawingml/2006/main" name="MHI PPT 4:3_複数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3.xml><?xml version="1.0" encoding="utf-8"?>
<a:theme xmlns:a="http://schemas.openxmlformats.org/drawingml/2006/main" name="3_MHI_ppt_color">
  <a:themeElements>
    <a:clrScheme name="mitsubishi_hic">
      <a:dk1>
        <a:sysClr val="windowText" lastClr="000000"/>
      </a:dk1>
      <a:lt1>
        <a:sysClr val="window" lastClr="FFFFFF"/>
      </a:lt1>
      <a:dk2>
        <a:srgbClr val="44546A"/>
      </a:dk2>
      <a:lt2>
        <a:srgbClr val="E7E6E6"/>
      </a:lt2>
      <a:accent1>
        <a:srgbClr val="063144"/>
      </a:accent1>
      <a:accent2>
        <a:srgbClr val="82A0AA"/>
      </a:accent2>
      <a:accent3>
        <a:srgbClr val="CDA11B"/>
      </a:accent3>
      <a:accent4>
        <a:srgbClr val="2B5831"/>
      </a:accent4>
      <a:accent5>
        <a:srgbClr val="E31F26"/>
      </a:accent5>
      <a:accent6>
        <a:srgbClr val="502D69"/>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90000"/>
            <a:lumOff val="10000"/>
          </a:schemeClr>
        </a:solidFill>
        <a:ln>
          <a:noFill/>
        </a:ln>
      </a:spPr>
      <a:bodyPr rtlCol="0" anchor="ctr"/>
      <a:lstStyle>
        <a:defPPr algn="ctr">
          <a:defRPr kumimoji="1" sz="1600" b="1" dirty="0" smtClean="0">
            <a:solidFill>
              <a:schemeClr val="bg1"/>
            </a:solidFill>
            <a:latin typeface="Meiryo UI" panose="020B0604030504040204" pitchFamily="50" charset="-128"/>
            <a:ea typeface="Meiryo UI" panose="020B0604030504040204" pitchFamily="50" charset="-128"/>
            <a:cs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4.xml><?xml version="1.0" encoding="utf-8"?>
<a:theme xmlns:a="http://schemas.openxmlformats.org/drawingml/2006/main" name="MHI PPT 4:3_Single Company">
  <a:themeElements>
    <a:clrScheme name="ユーザー定義 2">
      <a:dk1>
        <a:srgbClr val="63666A"/>
      </a:dk1>
      <a:lt1>
        <a:sysClr val="window" lastClr="FFFFFF"/>
      </a:lt1>
      <a:dk2>
        <a:srgbClr val="63666A"/>
      </a:dk2>
      <a:lt2>
        <a:srgbClr val="F2F2F2"/>
      </a:lt2>
      <a:accent1>
        <a:srgbClr val="BBBCBC"/>
      </a:accent1>
      <a:accent2>
        <a:srgbClr val="D6001C"/>
      </a:accent2>
      <a:accent3>
        <a:srgbClr val="101820"/>
      </a:accent3>
      <a:accent4>
        <a:srgbClr val="EAAA50"/>
      </a:accent4>
      <a:accent5>
        <a:srgbClr val="0076A8"/>
      </a:accent5>
      <a:accent6>
        <a:srgbClr val="3A913F"/>
      </a:accent6>
      <a:hlink>
        <a:srgbClr val="0076A8"/>
      </a:hlink>
      <a:folHlink>
        <a:srgbClr val="3A913F"/>
      </a:folHlink>
    </a:clrScheme>
    <a:fontScheme name="ユーザー定義 1">
      <a:majorFont>
        <a:latin typeface="Arial"/>
        <a:ea typeface="Arial"/>
        <a:cs typeface=""/>
      </a:majorFont>
      <a:minorFont>
        <a:latin typeface="Arial"/>
        <a:ea typeface="Arial"/>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de45413-f3c8-437a-9222-51ffe8693834">
      <Terms xmlns="http://schemas.microsoft.com/office/infopath/2007/PartnerControls"/>
    </lcf76f155ced4ddcb4097134ff3c332f>
    <TaxCatchAll xmlns="25025a98-4291-4272-986c-16fd9eec3b2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7DCAABFC386384AABE9777CBF2C5E23" ma:contentTypeVersion="14" ma:contentTypeDescription="新しいドキュメントを作成します。" ma:contentTypeScope="" ma:versionID="c9a0764e8400b4d35d6f3dd4e93e6fe3">
  <xsd:schema xmlns:xsd="http://www.w3.org/2001/XMLSchema" xmlns:xs="http://www.w3.org/2001/XMLSchema" xmlns:p="http://schemas.microsoft.com/office/2006/metadata/properties" xmlns:ns2="1de45413-f3c8-437a-9222-51ffe8693834" xmlns:ns3="25025a98-4291-4272-986c-16fd9eec3b25" targetNamespace="http://schemas.microsoft.com/office/2006/metadata/properties" ma:root="true" ma:fieldsID="d434df3139fc3058b049c8e8befdbdbd" ns2:_="" ns3:_="">
    <xsd:import namespace="1de45413-f3c8-437a-9222-51ffe8693834"/>
    <xsd:import namespace="25025a98-4291-4272-986c-16fd9eec3b2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e45413-f3c8-437a-9222-51ffe86938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4f27f6d2-b90d-46ae-b7ea-1d0a9165af30"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025a98-4291-4272-986c-16fd9eec3b2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d836dfe-20b4-4be6-8ee7-87b3c6f3aa03}" ma:internalName="TaxCatchAll" ma:showField="CatchAllData" ma:web="25025a98-4291-4272-986c-16fd9eec3b25">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AF8E2D-F462-4EBC-B1FB-AAC49E2F3AD3}">
  <ds:schemaRefs>
    <ds:schemaRef ds:uri="1de45413-f3c8-437a-9222-51ffe8693834"/>
    <ds:schemaRef ds:uri="25025a98-4291-4272-986c-16fd9eec3b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6B142EB-E97A-4481-9B6F-C10EE41FB2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e45413-f3c8-437a-9222-51ffe8693834"/>
    <ds:schemaRef ds:uri="25025a98-4291-4272-986c-16fd9eec3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C3EDCC-8F6B-4D10-86CF-4BD66D67990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5979</Words>
  <Application>Microsoft Macintosh PowerPoint</Application>
  <PresentationFormat>On-screen Show (4:3)</PresentationFormat>
  <Paragraphs>1000</Paragraphs>
  <Slides>25</Slides>
  <Notes>4</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25</vt:i4>
      </vt:variant>
    </vt:vector>
  </HeadingPairs>
  <TitlesOfParts>
    <vt:vector size="35" baseType="lpstr">
      <vt:lpstr>メイリオ</vt:lpstr>
      <vt:lpstr>Meiryo UI</vt:lpstr>
      <vt:lpstr>游ゴシック</vt:lpstr>
      <vt:lpstr>Arial</vt:lpstr>
      <vt:lpstr>Calibri</vt:lpstr>
      <vt:lpstr>Wingdings</vt:lpstr>
      <vt:lpstr>MHI PPT 4:3_単独会社用</vt:lpstr>
      <vt:lpstr>MHI PPT 4:3_複数会社用</vt:lpstr>
      <vt:lpstr>3_MHI_ppt_color</vt:lpstr>
      <vt:lpstr>MHI PPT 4:3_Single Company</vt:lpstr>
      <vt:lpstr>SPMI事業部 WPプロジェクト （業務プロセス改革）</vt:lpstr>
      <vt:lpstr>PowerPoint Presentation</vt:lpstr>
      <vt:lpstr>アジェンダ</vt:lpstr>
      <vt:lpstr>１．業務プロセス改革を開始するにあたって</vt:lpstr>
      <vt:lpstr>２-1．取組みの背景：厳しい受注計画</vt:lpstr>
      <vt:lpstr>PowerPoint Presentation</vt:lpstr>
      <vt:lpstr>2-3. 取組みの背景：売上・利益・人員固定費計画の見直し</vt:lpstr>
      <vt:lpstr>PowerPoint Presentation</vt:lpstr>
      <vt:lpstr>（参考）社員・再雇用・労派の部門別内訳（～FY24末）</vt:lpstr>
      <vt:lpstr>PowerPoint Presentation</vt:lpstr>
      <vt:lpstr>2-5. 取組みの背景：収益力の強化に向けた取組み</vt:lpstr>
      <vt:lpstr>2-6. 取組みの背景：改革テーマ見直しの必要性</vt:lpstr>
      <vt:lpstr>３．遂行体制_SPMI事業部 アクションプラン遂行体制</vt:lpstr>
      <vt:lpstr>3. 遂行体制_業務プロセス改革詳細</vt:lpstr>
      <vt:lpstr>４. 全体スケジュール</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６．個別検討会について_ 実施イメージ（調整中）</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dc:title>
  <dc:creator>MHI Group</dc:creator>
  <cp:lastModifiedBy>Maruyama, Yuko</cp:lastModifiedBy>
  <cp:revision>3</cp:revision>
  <dcterms:created xsi:type="dcterms:W3CDTF">2016-08-19T23:29:10Z</dcterms:created>
  <dcterms:modified xsi:type="dcterms:W3CDTF">2025-07-30T03:37:23Z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0x01010007DCAABFC386384AABE9777CBF2C5E23</vt:lpwstr>
  </property>
  <property fmtid="{D5CDD505-2E9C-101B-9397-08002B2CF9AE}" pid="3" name="MediaServiceImageTags">
    <vt:lpwstr/>
  </property>
</Properties>
</file>